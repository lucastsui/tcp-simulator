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5" r:id="rId4"/>
  </p:sldMasterIdLst>
  <p:notesMasterIdLst>
    <p:notesMasterId r:id="rId82"/>
  </p:notesMasterIdLst>
  <p:sldIdLst>
    <p:sldId id="256" r:id="rId5"/>
    <p:sldId id="300" r:id="rId6"/>
    <p:sldId id="390" r:id="rId7"/>
    <p:sldId id="358" r:id="rId8"/>
    <p:sldId id="359" r:id="rId9"/>
    <p:sldId id="259" r:id="rId10"/>
    <p:sldId id="260" r:id="rId11"/>
    <p:sldId id="261" r:id="rId12"/>
    <p:sldId id="297" r:id="rId13"/>
    <p:sldId id="298" r:id="rId14"/>
    <p:sldId id="299" r:id="rId15"/>
    <p:sldId id="363" r:id="rId16"/>
    <p:sldId id="263" r:id="rId17"/>
    <p:sldId id="264" r:id="rId18"/>
    <p:sldId id="265" r:id="rId19"/>
    <p:sldId id="295" r:id="rId20"/>
    <p:sldId id="272" r:id="rId21"/>
    <p:sldId id="273" r:id="rId22"/>
    <p:sldId id="345" r:id="rId23"/>
    <p:sldId id="325" r:id="rId24"/>
    <p:sldId id="296" r:id="rId25"/>
    <p:sldId id="344" r:id="rId26"/>
    <p:sldId id="274" r:id="rId27"/>
    <p:sldId id="275" r:id="rId28"/>
    <p:sldId id="276" r:id="rId29"/>
    <p:sldId id="277" r:id="rId30"/>
    <p:sldId id="278" r:id="rId31"/>
    <p:sldId id="346" r:id="rId32"/>
    <p:sldId id="370" r:id="rId33"/>
    <p:sldId id="371" r:id="rId34"/>
    <p:sldId id="350" r:id="rId35"/>
    <p:sldId id="366" r:id="rId36"/>
    <p:sldId id="369" r:id="rId37"/>
    <p:sldId id="367" r:id="rId38"/>
    <p:sldId id="326" r:id="rId39"/>
    <p:sldId id="279" r:id="rId40"/>
    <p:sldId id="280" r:id="rId41"/>
    <p:sldId id="281" r:id="rId42"/>
    <p:sldId id="283" r:id="rId43"/>
    <p:sldId id="282" r:id="rId44"/>
    <p:sldId id="372" r:id="rId45"/>
    <p:sldId id="373" r:id="rId46"/>
    <p:sldId id="374" r:id="rId47"/>
    <p:sldId id="351" r:id="rId48"/>
    <p:sldId id="284" r:id="rId49"/>
    <p:sldId id="391" r:id="rId50"/>
    <p:sldId id="392" r:id="rId51"/>
    <p:sldId id="645" r:id="rId52"/>
    <p:sldId id="287" r:id="rId53"/>
    <p:sldId id="285" r:id="rId54"/>
    <p:sldId id="343" r:id="rId55"/>
    <p:sldId id="257" r:id="rId56"/>
    <p:sldId id="327" r:id="rId57"/>
    <p:sldId id="290" r:id="rId58"/>
    <p:sldId id="291" r:id="rId59"/>
    <p:sldId id="379" r:id="rId60"/>
    <p:sldId id="380" r:id="rId61"/>
    <p:sldId id="381" r:id="rId62"/>
    <p:sldId id="382" r:id="rId63"/>
    <p:sldId id="301" r:id="rId64"/>
    <p:sldId id="302" r:id="rId65"/>
    <p:sldId id="303" r:id="rId66"/>
    <p:sldId id="328" r:id="rId67"/>
    <p:sldId id="304" r:id="rId68"/>
    <p:sldId id="306" r:id="rId69"/>
    <p:sldId id="307" r:id="rId70"/>
    <p:sldId id="308" r:id="rId71"/>
    <p:sldId id="309" r:id="rId72"/>
    <p:sldId id="310" r:id="rId73"/>
    <p:sldId id="311" r:id="rId74"/>
    <p:sldId id="305" r:id="rId75"/>
    <p:sldId id="386" r:id="rId76"/>
    <p:sldId id="387" r:id="rId77"/>
    <p:sldId id="388" r:id="rId78"/>
    <p:sldId id="389" r:id="rId79"/>
    <p:sldId id="317" r:id="rId80"/>
    <p:sldId id="324"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27"/>
  </p:normalViewPr>
  <p:slideViewPr>
    <p:cSldViewPr snapToGrid="0">
      <p:cViewPr varScale="1">
        <p:scale>
          <a:sx n="105" d="100"/>
          <a:sy n="105" d="100"/>
        </p:scale>
        <p:origin x="1288" y="488"/>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9D835-D8B4-3846-9272-7FA8D698068D}" type="datetimeFigureOut">
              <a:rPr lang="en-US" smtClean="0"/>
              <a:t>1/14/26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57B311-E6D4-5D43-8281-1D941FAE7B05}" type="slidenum">
              <a:rPr lang="en-US" smtClean="0"/>
              <a:t>‹#›</a:t>
            </a:fld>
            <a:endParaRPr lang="en-US"/>
          </a:p>
        </p:txBody>
      </p:sp>
    </p:spTree>
    <p:extLst>
      <p:ext uri="{BB962C8B-B14F-4D97-AF65-F5344CB8AC3E}">
        <p14:creationId xmlns:p14="http://schemas.microsoft.com/office/powerpoint/2010/main" val="828681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2813BB0-57D6-F140-ABC8-DB35DF31EF7C}" type="slidenum">
              <a:rPr lang="en-US">
                <a:solidFill>
                  <a:srgbClr val="000000"/>
                </a:solidFill>
              </a:rPr>
              <a:pPr>
                <a:defRPr/>
              </a:pPr>
              <a:t>2</a:t>
            </a:fld>
            <a:endParaRPr lang="en-US">
              <a:solidFill>
                <a:srgbClr val="000000"/>
              </a:solidFill>
            </a:endParaRPr>
          </a:p>
        </p:txBody>
      </p:sp>
      <p:sp>
        <p:nvSpPr>
          <p:cNvPr id="90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9011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03477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863FB3E-221F-2D44-90DD-FFAFF42F7691}"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78178" name="Rectangle 2"/>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781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r>
              <a:rPr lang="en-US">
                <a:cs typeface="+mn-cs"/>
              </a:rPr>
              <a:t>While OSI figured this out by 1985 it wasn</a:t>
            </a:r>
            <a:r>
              <a:rPr lang="ja-JP" altLang="en-US">
                <a:latin typeface="Arial"/>
                <a:cs typeface="+mn-cs"/>
              </a:rPr>
              <a:t>’</a:t>
            </a:r>
            <a:r>
              <a:rPr lang="en-US">
                <a:cs typeface="+mn-cs"/>
              </a:rPr>
              <a:t>t until the web came along that we had an example that the application protocol could be part of many applications and an application might have many application protocols.  Always nice when theory predicts something you find later.</a:t>
            </a:r>
          </a:p>
          <a:p>
            <a:pPr eaLnBrk="1" hangingPunct="1">
              <a:defRPr/>
            </a:pPr>
            <a:endParaRPr lang="en-US">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81E0BF1-1699-2843-AB1E-2EAE4FA0B0D0}"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80226" name="Rectangle 2"/>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802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lvl="1" eaLnBrk="1" hangingPunct="1">
              <a:defRPr/>
            </a:pPr>
            <a:r>
              <a:rPr lang="en-US"/>
              <a:t>Consider a web application using both HTTP and a remote database protocol.</a:t>
            </a:r>
          </a:p>
          <a:p>
            <a:pPr eaLnBrk="1" hangingPunct="1">
              <a:defRPr/>
            </a:pPr>
            <a:endParaRPr lang="en-US">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EB55A4F-04A9-244E-9B85-6BDB20240765}" type="slidenum">
              <a:rPr lang="en-US">
                <a:solidFill>
                  <a:srgbClr val="000000"/>
                </a:solidFill>
              </a:rPr>
              <a:pPr>
                <a:defRPr/>
              </a:pPr>
              <a:t>6</a:t>
            </a:fld>
            <a:endParaRPr lang="en-US">
              <a:solidFill>
                <a:srgbClr val="000000"/>
              </a:solidFill>
            </a:endParaRPr>
          </a:p>
        </p:txBody>
      </p:sp>
      <p:sp>
        <p:nvSpPr>
          <p:cNvPr id="152578"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579"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887442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88DB327-D590-6940-BA3B-A6309F592A59}" type="slidenum">
              <a:rPr lang="en-US">
                <a:solidFill>
                  <a:srgbClr val="000000"/>
                </a:solidFill>
              </a:rPr>
              <a:pPr>
                <a:defRPr/>
              </a:pPr>
              <a:t>7</a:t>
            </a:fld>
            <a:endParaRPr lang="en-US">
              <a:solidFill>
                <a:srgbClr val="000000"/>
              </a:solidFill>
            </a:endParaRPr>
          </a:p>
        </p:txBody>
      </p:sp>
      <p:sp>
        <p:nvSpPr>
          <p:cNvPr id="890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9091" name="Rectangle 3"/>
          <p:cNvSpPr>
            <a:spLocks noGrp="1" noChangeArrowheads="1"/>
          </p:cNvSpPr>
          <p:nvPr>
            <p:ph type="body" idx="1"/>
          </p:nvPr>
        </p:nvSpPr>
        <p:spPr/>
        <p:txBody>
          <a:bodyPr/>
          <a:lstStyle/>
          <a:p>
            <a:pPr eaLnBrk="1" hangingPunct="1">
              <a:defRPr/>
            </a:pPr>
            <a:r>
              <a:rPr lang="en-US">
                <a:cs typeface="+mn-cs"/>
              </a:rPr>
              <a:t>But what does this thing look like in detail.</a:t>
            </a:r>
          </a:p>
        </p:txBody>
      </p:sp>
    </p:spTree>
    <p:extLst>
      <p:ext uri="{BB962C8B-B14F-4D97-AF65-F5344CB8AC3E}">
        <p14:creationId xmlns:p14="http://schemas.microsoft.com/office/powerpoint/2010/main" val="2433603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78AAFC8-B93B-FD4F-B9B7-F5BD77011436}" type="slidenum">
              <a:rPr lang="en-US">
                <a:solidFill>
                  <a:srgbClr val="000000"/>
                </a:solidFill>
              </a:rPr>
              <a:pPr>
                <a:defRPr/>
              </a:pPr>
              <a:t>8</a:t>
            </a:fld>
            <a:endParaRPr lang="en-US">
              <a:solidFill>
                <a:srgbClr val="000000"/>
              </a:solidFill>
            </a:endParaRPr>
          </a:p>
        </p:txBody>
      </p:sp>
      <p:sp>
        <p:nvSpPr>
          <p:cNvPr id="88066"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8067"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768321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670106-4B19-924D-B931-2A7803F890BD}" type="slidenum">
              <a:rPr lang="en-US">
                <a:solidFill>
                  <a:srgbClr val="000000"/>
                </a:solidFill>
              </a:rPr>
              <a:pPr/>
              <a:t>10</a:t>
            </a:fld>
            <a:endParaRPr lang="en-US">
              <a:solidFill>
                <a:srgbClr val="000000"/>
              </a:solidFill>
            </a:endParaRPr>
          </a:p>
        </p:txBody>
      </p:sp>
      <p:sp>
        <p:nvSpPr>
          <p:cNvPr id="614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14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63989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734C048-0E0C-7C47-9E50-C3569D92A691}" type="slidenum">
              <a:rPr lang="en-US">
                <a:solidFill>
                  <a:srgbClr val="000000"/>
                </a:solidFill>
              </a:rPr>
              <a:pPr>
                <a:defRPr/>
              </a:pPr>
              <a:t>11</a:t>
            </a:fld>
            <a:endParaRPr lang="en-US">
              <a:solidFill>
                <a:srgbClr val="000000"/>
              </a:solidFill>
            </a:endParaRPr>
          </a:p>
        </p:txBody>
      </p:sp>
      <p:sp>
        <p:nvSpPr>
          <p:cNvPr id="921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9216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417749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060D799-DB0E-914C-90B2-8EB20E47798A}"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87394" name="Rectangle 2"/>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8739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r>
              <a:rPr lang="en-US">
                <a:cs typeface="+mn-cs"/>
              </a:rPr>
              <a:t>This really comes down to the question of understanding the fundamental nature of data transfer protocols.</a:t>
            </a:r>
          </a:p>
          <a:p>
            <a:pPr eaLnBrk="1" hangingPunct="1">
              <a:defRPr/>
            </a:pPr>
            <a:r>
              <a:rPr lang="en-US">
                <a:cs typeface="+mn-cs"/>
              </a:rPr>
              <a:t>The DoD moved to the protocol they paid for, TCP, while the results of an open process in IFIP produced a different result, CYCLADES TS, which then became TP4.  TCP very much built to the conditions of the mid-1970s. </a:t>
            </a:r>
          </a:p>
          <a:p>
            <a:pPr eaLnBrk="1" hangingPunct="1">
              <a:defRPr/>
            </a:pPr>
            <a:r>
              <a:rPr lang="en-US">
                <a:cs typeface="+mn-cs"/>
              </a:rPr>
              <a:t>Protocols like HDLC and TCP have a lot of similarities.  As do the MAC protocols and IP and mail.</a:t>
            </a:r>
          </a:p>
          <a:p>
            <a:pPr eaLnBrk="1" hangingPunct="1">
              <a:defRPr/>
            </a:pPr>
            <a:r>
              <a:rPr lang="en-US">
                <a:cs typeface="+mn-cs"/>
              </a:rPr>
              <a:t>Click</a:t>
            </a:r>
          </a:p>
          <a:p>
            <a:pPr eaLnBrk="1" hangingPunct="1">
              <a:defRPr/>
            </a:pPr>
            <a:r>
              <a:rPr lang="en-US">
                <a:cs typeface="+mn-cs"/>
              </a:rPr>
              <a:t>This tells us a lot about what the protocol should look like.  Further, for protocols near the media we can expect the characteristics of the media to dominate the choice of policies; for protocols near the applications, applications dominate. Explains why we can do successful data link protocols but have never been satisfied with our transport protocols.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05D5381-A128-A644-932B-B08D47057C3E}" type="slidenum">
              <a:rPr lang="en-US">
                <a:solidFill>
                  <a:srgbClr val="000000"/>
                </a:solidFill>
              </a:rPr>
              <a:pPr>
                <a:defRPr/>
              </a:pPr>
              <a:t>13</a:t>
            </a:fld>
            <a:endParaRPr lang="en-US">
              <a:solidFill>
                <a:srgbClr val="000000"/>
              </a:solidFill>
            </a:endParaRPr>
          </a:p>
        </p:txBody>
      </p:sp>
      <p:sp>
        <p:nvSpPr>
          <p:cNvPr id="931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9318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192760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A5BE77D-B207-184C-83AD-E1D5424AF78C}" type="slidenum">
              <a:rPr lang="en-US">
                <a:solidFill>
                  <a:srgbClr val="000000"/>
                </a:solidFill>
              </a:rPr>
              <a:pPr>
                <a:defRPr/>
              </a:pPr>
              <a:t>14</a:t>
            </a:fld>
            <a:endParaRPr lang="en-US">
              <a:solidFill>
                <a:srgbClr val="000000"/>
              </a:solidFill>
            </a:endParaRPr>
          </a:p>
        </p:txBody>
      </p:sp>
      <p:sp>
        <p:nvSpPr>
          <p:cNvPr id="94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9421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505627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6A24231-0FE0-4844-AF31-A9165A9D4FA5}" type="slidenum">
              <a:rPr lang="en-US">
                <a:solidFill>
                  <a:srgbClr val="000000"/>
                </a:solidFill>
              </a:rPr>
              <a:pPr>
                <a:defRPr/>
              </a:pPr>
              <a:t>15</a:t>
            </a:fld>
            <a:endParaRPr lang="en-US">
              <a:solidFill>
                <a:srgbClr val="000000"/>
              </a:solidFill>
            </a:endParaRPr>
          </a:p>
        </p:txBody>
      </p:sp>
      <p:sp>
        <p:nvSpPr>
          <p:cNvPr id="1894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944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562002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0BEAD4-96AD-BC46-B13A-0FC838C74EC9}" type="slidenum">
              <a:rPr lang="en-US">
                <a:solidFill>
                  <a:srgbClr val="000000"/>
                </a:solidFill>
              </a:rPr>
              <a:pPr/>
              <a:t>16</a:t>
            </a:fld>
            <a:endParaRPr lang="en-US">
              <a:solidFill>
                <a:srgbClr val="000000"/>
              </a:solidFill>
            </a:endParaRPr>
          </a:p>
        </p:txBody>
      </p:sp>
      <p:sp>
        <p:nvSpPr>
          <p:cNvPr id="44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77679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0A43C95-F100-4343-B35C-C7D68D73AD2C}" type="slidenum">
              <a:rPr lang="en-US">
                <a:solidFill>
                  <a:srgbClr val="000000"/>
                </a:solidFill>
              </a:rPr>
              <a:pPr>
                <a:defRPr/>
              </a:pPr>
              <a:t>17</a:t>
            </a:fld>
            <a:endParaRPr lang="en-US">
              <a:solidFill>
                <a:srgbClr val="000000"/>
              </a:solidFill>
            </a:endParaRPr>
          </a:p>
        </p:txBody>
      </p:sp>
      <p:sp>
        <p:nvSpPr>
          <p:cNvPr id="103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0342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543957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783862E-B887-A645-B433-C4843FE126E8}" type="slidenum">
              <a:rPr lang="en-US">
                <a:solidFill>
                  <a:srgbClr val="000000"/>
                </a:solidFill>
              </a:rPr>
              <a:pPr>
                <a:defRPr/>
              </a:pPr>
              <a:t>18</a:t>
            </a:fld>
            <a:endParaRPr lang="en-US">
              <a:solidFill>
                <a:srgbClr val="000000"/>
              </a:solidFill>
            </a:endParaRPr>
          </a:p>
        </p:txBody>
      </p:sp>
      <p:sp>
        <p:nvSpPr>
          <p:cNvPr id="1423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233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995851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B3EEF9-1B1F-DF46-B6B7-1CCD2BC48A49}" type="slidenum">
              <a:rPr lang="en-US">
                <a:solidFill>
                  <a:srgbClr val="000000"/>
                </a:solidFill>
              </a:rPr>
              <a:pPr/>
              <a:t>21</a:t>
            </a:fld>
            <a:endParaRPr lang="en-US">
              <a:solidFill>
                <a:srgbClr val="000000"/>
              </a:solidFill>
            </a:endParaRPr>
          </a:p>
        </p:txBody>
      </p:sp>
      <p:sp>
        <p:nvSpPr>
          <p:cNvPr id="45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0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94324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56485DD-2126-DB46-AAF5-3B3A7DD3E510}" type="slidenum">
              <a:rPr lang="en-US">
                <a:solidFill>
                  <a:srgbClr val="000000"/>
                </a:solidFill>
              </a:rPr>
              <a:pPr>
                <a:defRPr/>
              </a:pPr>
              <a:t>23</a:t>
            </a:fld>
            <a:endParaRPr lang="en-US">
              <a:solidFill>
                <a:srgbClr val="000000"/>
              </a:solidFill>
            </a:endParaRPr>
          </a:p>
        </p:txBody>
      </p:sp>
      <p:sp>
        <p:nvSpPr>
          <p:cNvPr id="1044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0445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793025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62B4D93-1863-9C44-8941-86BE0CD0AC22}" type="slidenum">
              <a:rPr lang="en-US">
                <a:solidFill>
                  <a:srgbClr val="000000"/>
                </a:solidFill>
              </a:rPr>
              <a:pPr>
                <a:defRPr/>
              </a:pPr>
              <a:t>24</a:t>
            </a:fld>
            <a:endParaRPr lang="en-US">
              <a:solidFill>
                <a:srgbClr val="000000"/>
              </a:solidFill>
            </a:endParaRPr>
          </a:p>
        </p:txBody>
      </p:sp>
      <p:sp>
        <p:nvSpPr>
          <p:cNvPr id="1443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4387" name="Rectangle 3"/>
          <p:cNvSpPr>
            <a:spLocks noGrp="1" noChangeArrowheads="1"/>
          </p:cNvSpPr>
          <p:nvPr>
            <p:ph type="body" idx="1"/>
          </p:nvPr>
        </p:nvSpPr>
        <p:spPr/>
        <p:txBody>
          <a:bodyPr/>
          <a:lstStyle/>
          <a:p>
            <a:pPr eaLnBrk="1" hangingPunct="1">
              <a:defRPr/>
            </a:pPr>
            <a:r>
              <a:rPr lang="en-US">
                <a:cs typeface="+mn-cs"/>
              </a:rPr>
              <a:t>Okay, but what if we lost one and we really want it!  And we have to keep the sender from sending faster than we can receive.</a:t>
            </a:r>
          </a:p>
        </p:txBody>
      </p:sp>
    </p:spTree>
    <p:extLst>
      <p:ext uri="{BB962C8B-B14F-4D97-AF65-F5344CB8AC3E}">
        <p14:creationId xmlns:p14="http://schemas.microsoft.com/office/powerpoint/2010/main" val="2451166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FF65840-6A03-5F49-993C-3F2EFA01EAAA}" type="slidenum">
              <a:rPr lang="en-US">
                <a:solidFill>
                  <a:srgbClr val="000000"/>
                </a:solidFill>
              </a:rPr>
              <a:pPr>
                <a:defRPr/>
              </a:pPr>
              <a:t>26</a:t>
            </a:fld>
            <a:endParaRPr lang="en-US">
              <a:solidFill>
                <a:srgbClr val="000000"/>
              </a:solidFill>
            </a:endParaRPr>
          </a:p>
        </p:txBody>
      </p:sp>
      <p:sp>
        <p:nvSpPr>
          <p:cNvPr id="1054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0547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186068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77D891D-DF87-7B43-AF1E-76500E46E566}" type="slidenum">
              <a:rPr lang="en-US">
                <a:solidFill>
                  <a:srgbClr val="000000"/>
                </a:solidFill>
              </a:rPr>
              <a:pPr>
                <a:defRPr/>
              </a:pPr>
              <a:t>27</a:t>
            </a:fld>
            <a:endParaRPr lang="en-US">
              <a:solidFill>
                <a:srgbClr val="000000"/>
              </a:solidFill>
            </a:endParaRPr>
          </a:p>
        </p:txBody>
      </p:sp>
      <p:sp>
        <p:nvSpPr>
          <p:cNvPr id="1075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07523"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274387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06BECF0-93D1-ED4F-920E-C4912EF1B8D3}"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085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547"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C050900-2364-7F43-955D-87B2C5C23043}"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095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9571"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0F2761-EDF0-3C43-BDB2-0DBE82638D4B}"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904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90467"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B58BB9A-9E13-C646-9DB6-E26CF8D26A4C}"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6281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16281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059D08B-578C-6E47-9D0D-4B6A5E551829}"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2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12995"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6C18FFC-3D05-7C4B-AD04-8EED86835B58}"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40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14019"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89721DB-7CF7-D349-B835-E5B382E58465}"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50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15043"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9874131-8729-1C40-B449-FCF87BC65BAA}" type="slidenum">
              <a:rPr lang="en-US">
                <a:solidFill>
                  <a:srgbClr val="000000"/>
                </a:solidFill>
              </a:rPr>
              <a:pPr>
                <a:defRPr/>
              </a:pPr>
              <a:t>36</a:t>
            </a:fld>
            <a:endParaRPr lang="en-US">
              <a:solidFill>
                <a:srgbClr val="000000"/>
              </a:solidFill>
            </a:endParaRPr>
          </a:p>
        </p:txBody>
      </p:sp>
      <p:sp>
        <p:nvSpPr>
          <p:cNvPr id="153602"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03"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6727524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E76C88F-AE1E-D14C-9FE2-74298361A8D4}" type="slidenum">
              <a:rPr lang="en-US">
                <a:solidFill>
                  <a:srgbClr val="000000"/>
                </a:solidFill>
              </a:rPr>
              <a:pPr>
                <a:defRPr/>
              </a:pPr>
              <a:t>37</a:t>
            </a:fld>
            <a:endParaRPr lang="en-US">
              <a:solidFill>
                <a:srgbClr val="000000"/>
              </a:solidFill>
            </a:endParaRPr>
          </a:p>
        </p:txBody>
      </p:sp>
      <p:sp>
        <p:nvSpPr>
          <p:cNvPr id="154626"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627"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114050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E3CE95D-1441-7D4E-BBAE-8CB2205365A0}" type="slidenum">
              <a:rPr lang="en-US">
                <a:solidFill>
                  <a:srgbClr val="000000"/>
                </a:solidFill>
              </a:rPr>
              <a:pPr>
                <a:defRPr/>
              </a:pPr>
              <a:t>38</a:t>
            </a:fld>
            <a:endParaRPr lang="en-US">
              <a:solidFill>
                <a:srgbClr val="000000"/>
              </a:solidFill>
            </a:endParaRPr>
          </a:p>
        </p:txBody>
      </p:sp>
      <p:sp>
        <p:nvSpPr>
          <p:cNvPr id="155650"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651"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6473174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1445465-A51F-F348-B4E4-2A4F70E9B204}" type="slidenum">
              <a:rPr lang="en-US">
                <a:solidFill>
                  <a:srgbClr val="000000"/>
                </a:solidFill>
              </a:rPr>
              <a:pPr>
                <a:defRPr/>
              </a:pPr>
              <a:t>39</a:t>
            </a:fld>
            <a:endParaRPr lang="en-US">
              <a:solidFill>
                <a:srgbClr val="000000"/>
              </a:solidFill>
            </a:endParaRPr>
          </a:p>
        </p:txBody>
      </p:sp>
      <p:sp>
        <p:nvSpPr>
          <p:cNvPr id="192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251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8040304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50F9D78-CCC0-DB42-B0AA-B6B1D8030F34}" type="slidenum">
              <a:rPr lang="en-US">
                <a:solidFill>
                  <a:srgbClr val="000000"/>
                </a:solidFill>
              </a:rPr>
              <a:pPr>
                <a:defRPr/>
              </a:pPr>
              <a:t>40</a:t>
            </a:fld>
            <a:endParaRPr lang="en-US">
              <a:solidFill>
                <a:srgbClr val="000000"/>
              </a:solidFill>
            </a:endParaRPr>
          </a:p>
        </p:txBody>
      </p:sp>
      <p:sp>
        <p:nvSpPr>
          <p:cNvPr id="156674"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675"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333238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35BDEB-2537-FC4D-9F84-8B34872C0E3B}"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70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17091"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EDD9CE5-393B-394F-AE64-48EF33168489}"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81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18115"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C239F29-8100-8043-8DA7-B275BB6E22FB}"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91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19139"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7DFBC04-912E-6741-8433-FF9BFDB98C2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925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92515" name="Rectangle 3"/>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6B49457-F0B9-6B4E-B3CA-45E2DF94E3BE}" type="slidenum">
              <a:rPr lang="en-US">
                <a:solidFill>
                  <a:srgbClr val="000000"/>
                </a:solidFill>
              </a:rPr>
              <a:pPr>
                <a:defRPr/>
              </a:pPr>
              <a:t>45</a:t>
            </a:fld>
            <a:endParaRPr lang="en-US">
              <a:solidFill>
                <a:srgbClr val="000000"/>
              </a:solidFill>
            </a:endParaRPr>
          </a:p>
        </p:txBody>
      </p:sp>
      <p:sp>
        <p:nvSpPr>
          <p:cNvPr id="1576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69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2018788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EB664-4492-A659-B67E-FC68F7B62D46}"/>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065F7AAD-C584-2E76-B146-296307CDA1D3}"/>
              </a:ext>
            </a:extLst>
          </p:cNvPr>
          <p:cNvSpPr>
            <a:spLocks noGrp="1" noChangeArrowheads="1"/>
          </p:cNvSpPr>
          <p:nvPr>
            <p:ph type="sldNum" sz="quarter" idx="5"/>
          </p:nvPr>
        </p:nvSpPr>
        <p:spPr/>
        <p:txBody>
          <a:bodyPr/>
          <a:lstStyle/>
          <a:p>
            <a:pPr>
              <a:defRPr/>
            </a:pPr>
            <a:fld id="{750F9D78-CCC0-DB42-B0AA-B6B1D8030F34}" type="slidenum">
              <a:rPr lang="en-US">
                <a:solidFill>
                  <a:srgbClr val="000000"/>
                </a:solidFill>
              </a:rPr>
              <a:pPr>
                <a:defRPr/>
              </a:pPr>
              <a:t>46</a:t>
            </a:fld>
            <a:endParaRPr lang="en-US">
              <a:solidFill>
                <a:srgbClr val="000000"/>
              </a:solidFill>
            </a:endParaRPr>
          </a:p>
        </p:txBody>
      </p:sp>
      <p:sp>
        <p:nvSpPr>
          <p:cNvPr id="156674" name="Rectangle 1026">
            <a:extLst>
              <a:ext uri="{FF2B5EF4-FFF2-40B4-BE49-F238E27FC236}">
                <a16:creationId xmlns:a16="http://schemas.microsoft.com/office/drawing/2014/main" id="{A38EAA96-9E4A-9BBA-1995-0AE6BE3A122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6675" name="Rectangle 1027">
            <a:extLst>
              <a:ext uri="{FF2B5EF4-FFF2-40B4-BE49-F238E27FC236}">
                <a16:creationId xmlns:a16="http://schemas.microsoft.com/office/drawing/2014/main" id="{57D46F14-16FC-2EEE-0A82-6E45D4718FED}"/>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8451385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2D5AA-AA5C-31B5-586F-6ED524E3B860}"/>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8BB45D4B-4544-7F49-212B-4223FF7D3F18}"/>
              </a:ext>
            </a:extLst>
          </p:cNvPr>
          <p:cNvSpPr>
            <a:spLocks noGrp="1" noChangeArrowheads="1"/>
          </p:cNvSpPr>
          <p:nvPr>
            <p:ph type="sldNum" sz="quarter" idx="5"/>
          </p:nvPr>
        </p:nvSpPr>
        <p:spPr/>
        <p:txBody>
          <a:bodyPr/>
          <a:lstStyle/>
          <a:p>
            <a:pPr>
              <a:defRPr/>
            </a:pPr>
            <a:fld id="{750F9D78-CCC0-DB42-B0AA-B6B1D8030F34}" type="slidenum">
              <a:rPr lang="en-US">
                <a:solidFill>
                  <a:srgbClr val="000000"/>
                </a:solidFill>
              </a:rPr>
              <a:pPr>
                <a:defRPr/>
              </a:pPr>
              <a:t>47</a:t>
            </a:fld>
            <a:endParaRPr lang="en-US">
              <a:solidFill>
                <a:srgbClr val="000000"/>
              </a:solidFill>
            </a:endParaRPr>
          </a:p>
        </p:txBody>
      </p:sp>
      <p:sp>
        <p:nvSpPr>
          <p:cNvPr id="156674" name="Rectangle 1026">
            <a:extLst>
              <a:ext uri="{FF2B5EF4-FFF2-40B4-BE49-F238E27FC236}">
                <a16:creationId xmlns:a16="http://schemas.microsoft.com/office/drawing/2014/main" id="{D14824CD-0F10-B058-E499-62008CF1CAD4}"/>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675" name="Rectangle 1027">
            <a:extLst>
              <a:ext uri="{FF2B5EF4-FFF2-40B4-BE49-F238E27FC236}">
                <a16:creationId xmlns:a16="http://schemas.microsoft.com/office/drawing/2014/main" id="{45AF7EE8-8565-B114-AA44-1C7DF0CD3EB2}"/>
              </a:ext>
            </a:extLst>
          </p:cNvPr>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8948899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15360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51B871B-6F7A-AF4F-B54A-2884CC31EFE5}" type="slidenum">
              <a:rPr lang="en-US">
                <a:solidFill>
                  <a:srgbClr val="000000"/>
                </a:solidFill>
              </a:rPr>
              <a:pPr>
                <a:defRPr/>
              </a:pPr>
              <a:t>49</a:t>
            </a:fld>
            <a:endParaRPr lang="en-US">
              <a:solidFill>
                <a:srgbClr val="000000"/>
              </a:solidFill>
            </a:endParaRPr>
          </a:p>
        </p:txBody>
      </p:sp>
      <p:sp>
        <p:nvSpPr>
          <p:cNvPr id="1136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366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428387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D3AFDA6-0646-704D-84FF-D82539B5B53D}" type="slidenum">
              <a:rPr lang="en-US">
                <a:solidFill>
                  <a:srgbClr val="000000"/>
                </a:solidFill>
              </a:rPr>
              <a:pPr>
                <a:defRPr/>
              </a:pPr>
              <a:t>50</a:t>
            </a:fld>
            <a:endParaRPr lang="en-US">
              <a:solidFill>
                <a:srgbClr val="000000"/>
              </a:solidFill>
            </a:endParaRPr>
          </a:p>
        </p:txBody>
      </p:sp>
      <p:sp>
        <p:nvSpPr>
          <p:cNvPr id="1587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72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0021471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B926BD9-9C9C-6F46-926E-34FB8D17C453}" type="slidenum">
              <a:rPr lang="en-US">
                <a:solidFill>
                  <a:srgbClr val="000000"/>
                </a:solidFill>
              </a:rPr>
              <a:pPr>
                <a:defRPr/>
              </a:pPr>
              <a:t>53</a:t>
            </a:fld>
            <a:endParaRPr lang="en-US">
              <a:solidFill>
                <a:srgbClr val="000000"/>
              </a:solidFill>
            </a:endParaRPr>
          </a:p>
        </p:txBody>
      </p:sp>
      <p:sp>
        <p:nvSpPr>
          <p:cNvPr id="64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4515" name="Rectangle 3"/>
          <p:cNvSpPr>
            <a:spLocks noGrp="1" noChangeArrowheads="1"/>
          </p:cNvSpPr>
          <p:nvPr>
            <p:ph type="body" idx="1"/>
          </p:nvPr>
        </p:nvSpPr>
        <p:spPr/>
        <p:txBody>
          <a:bodyPr/>
          <a:lstStyle/>
          <a:p>
            <a:pPr>
              <a:defRPr/>
            </a:pPr>
            <a:endParaRPr lang="en-US">
              <a:cs typeface="+mn-cs"/>
            </a:endParaRPr>
          </a:p>
        </p:txBody>
      </p:sp>
    </p:spTree>
    <p:extLst>
      <p:ext uri="{BB962C8B-B14F-4D97-AF65-F5344CB8AC3E}">
        <p14:creationId xmlns:p14="http://schemas.microsoft.com/office/powerpoint/2010/main" val="24037425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C76351B-B087-404E-B5F1-09D03F2BA8A9}" type="slidenum">
              <a:rPr lang="en-US">
                <a:solidFill>
                  <a:srgbClr val="000000"/>
                </a:solidFill>
              </a:rPr>
              <a:pPr>
                <a:defRPr/>
              </a:pPr>
              <a:t>54</a:t>
            </a:fld>
            <a:endParaRPr lang="en-US">
              <a:solidFill>
                <a:srgbClr val="000000"/>
              </a:solidFill>
            </a:endParaRPr>
          </a:p>
        </p:txBody>
      </p:sp>
      <p:sp>
        <p:nvSpPr>
          <p:cNvPr id="117762"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7763"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6352577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531E95B-5084-A641-80BC-528DE03CC117}" type="slidenum">
              <a:rPr lang="en-US">
                <a:solidFill>
                  <a:srgbClr val="000000"/>
                </a:solidFill>
              </a:rPr>
              <a:pPr>
                <a:defRPr/>
              </a:pPr>
              <a:t>55</a:t>
            </a:fld>
            <a:endParaRPr lang="en-US">
              <a:solidFill>
                <a:srgbClr val="000000"/>
              </a:solidFill>
            </a:endParaRPr>
          </a:p>
        </p:txBody>
      </p:sp>
      <p:sp>
        <p:nvSpPr>
          <p:cNvPr id="179202" name="Rectangle 1026"/>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9203" name="Rectangle 1027"/>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2853036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ADC5349-06D9-8B47-A343-212D15CFA908}"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094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2109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A422C5-93EF-A943-955D-66ECF092B206}"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0889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20889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4DC059-55D6-0444-B5BC-CB1480B39138}"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0889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20889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63A66CB-6BC7-D04B-970F-AB54BD2B70B6}"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0889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20889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91718E-B291-A34F-B810-C873F346CAA7}" type="slidenum">
              <a:rPr lang="en-US">
                <a:solidFill>
                  <a:srgbClr val="000000"/>
                </a:solidFill>
              </a:rPr>
              <a:pPr/>
              <a:t>60</a:t>
            </a:fld>
            <a:endParaRPr lang="en-US">
              <a:solidFill>
                <a:srgbClr val="000000"/>
              </a:solidFill>
            </a:endParaRPr>
          </a:p>
        </p:txBody>
      </p:sp>
      <p:sp>
        <p:nvSpPr>
          <p:cNvPr id="460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6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950192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C5BEF8-74EF-D34A-AB36-669283B02ACF}" type="slidenum">
              <a:rPr lang="en-US">
                <a:solidFill>
                  <a:srgbClr val="000000"/>
                </a:solidFill>
              </a:rPr>
              <a:pPr/>
              <a:t>61</a:t>
            </a:fld>
            <a:endParaRPr lang="en-US">
              <a:solidFill>
                <a:srgbClr val="000000"/>
              </a:solidFill>
            </a:endParaRPr>
          </a:p>
        </p:txBody>
      </p:sp>
      <p:sp>
        <p:nvSpPr>
          <p:cNvPr id="471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71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969869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769AA9-6CF1-6B45-B58B-E3B970FF3736}" type="slidenum">
              <a:rPr lang="en-US">
                <a:solidFill>
                  <a:srgbClr val="000000"/>
                </a:solidFill>
              </a:rPr>
              <a:pPr/>
              <a:t>62</a:t>
            </a:fld>
            <a:endParaRPr lang="en-US">
              <a:solidFill>
                <a:srgbClr val="000000"/>
              </a:solidFill>
            </a:endParaRPr>
          </a:p>
        </p:txBody>
      </p:sp>
      <p:sp>
        <p:nvSpPr>
          <p:cNvPr id="48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8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044259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0A31F4-B1D6-0B49-84E2-93EDFC14D15F}" type="slidenum">
              <a:rPr lang="en-US">
                <a:solidFill>
                  <a:srgbClr val="000000"/>
                </a:solidFill>
              </a:rPr>
              <a:pPr/>
              <a:t>64</a:t>
            </a:fld>
            <a:endParaRPr lang="en-US">
              <a:solidFill>
                <a:srgbClr val="000000"/>
              </a:solidFill>
            </a:endParaRPr>
          </a:p>
        </p:txBody>
      </p:sp>
      <p:sp>
        <p:nvSpPr>
          <p:cNvPr id="491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1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645854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39A766-983D-314F-AF91-682240A7A6A5}" type="slidenum">
              <a:rPr lang="en-US">
                <a:solidFill>
                  <a:srgbClr val="000000"/>
                </a:solidFill>
              </a:rPr>
              <a:pPr/>
              <a:t>65</a:t>
            </a:fld>
            <a:endParaRPr lang="en-US">
              <a:solidFill>
                <a:srgbClr val="000000"/>
              </a:solidFill>
            </a:endParaRPr>
          </a:p>
        </p:txBody>
      </p:sp>
      <p:sp>
        <p:nvSpPr>
          <p:cNvPr id="512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1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470281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067112-8E65-014B-9D6C-1C38247D4848}" type="slidenum">
              <a:rPr lang="en-US">
                <a:solidFill>
                  <a:srgbClr val="000000"/>
                </a:solidFill>
              </a:rPr>
              <a:pPr/>
              <a:t>66</a:t>
            </a:fld>
            <a:endParaRPr lang="en-US">
              <a:solidFill>
                <a:srgbClr val="000000"/>
              </a:solidFill>
            </a:endParaRPr>
          </a:p>
        </p:txBody>
      </p:sp>
      <p:sp>
        <p:nvSpPr>
          <p:cNvPr id="52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2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69828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AC0EBD-D329-0D4C-B756-288633A2AD0A}" type="slidenum">
              <a:rPr lang="en-US">
                <a:solidFill>
                  <a:srgbClr val="000000"/>
                </a:solidFill>
              </a:rPr>
              <a:pPr/>
              <a:t>67</a:t>
            </a:fld>
            <a:endParaRPr lang="en-US">
              <a:solidFill>
                <a:srgbClr val="000000"/>
              </a:solidFill>
            </a:endParaRPr>
          </a:p>
        </p:txBody>
      </p:sp>
      <p:sp>
        <p:nvSpPr>
          <p:cNvPr id="532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3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783322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FA4E47-0EC9-1A45-BA5E-40CCA909059C}" type="slidenum">
              <a:rPr lang="en-US">
                <a:solidFill>
                  <a:srgbClr val="000000"/>
                </a:solidFill>
              </a:rPr>
              <a:pPr/>
              <a:t>68</a:t>
            </a:fld>
            <a:endParaRPr lang="en-US">
              <a:solidFill>
                <a:srgbClr val="000000"/>
              </a:solidFill>
            </a:endParaRPr>
          </a:p>
        </p:txBody>
      </p:sp>
      <p:sp>
        <p:nvSpPr>
          <p:cNvPr id="54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4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825643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74FE6A-1E19-D945-93D3-056F9A2AED6B}" type="slidenum">
              <a:rPr lang="en-US">
                <a:solidFill>
                  <a:srgbClr val="000000"/>
                </a:solidFill>
              </a:rPr>
              <a:pPr/>
              <a:t>69</a:t>
            </a:fld>
            <a:endParaRPr lang="en-US">
              <a:solidFill>
                <a:srgbClr val="000000"/>
              </a:solidFill>
            </a:endParaRPr>
          </a:p>
        </p:txBody>
      </p:sp>
      <p:sp>
        <p:nvSpPr>
          <p:cNvPr id="552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52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817817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4033A7-7C08-8D4D-B60F-2E8581F2F1FD}" type="slidenum">
              <a:rPr lang="en-US">
                <a:solidFill>
                  <a:srgbClr val="000000"/>
                </a:solidFill>
              </a:rPr>
              <a:pPr/>
              <a:t>70</a:t>
            </a:fld>
            <a:endParaRPr lang="en-US">
              <a:solidFill>
                <a:srgbClr val="000000"/>
              </a:solidFill>
            </a:endParaRPr>
          </a:p>
        </p:txBody>
      </p:sp>
      <p:sp>
        <p:nvSpPr>
          <p:cNvPr id="563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6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96485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5DD663-6AFB-2B41-920D-B61C88B7E5FB}" type="slidenum">
              <a:rPr lang="en-US">
                <a:solidFill>
                  <a:srgbClr val="000000"/>
                </a:solidFill>
              </a:rPr>
              <a:pPr/>
              <a:t>71</a:t>
            </a:fld>
            <a:endParaRPr lang="en-US">
              <a:solidFill>
                <a:srgbClr val="000000"/>
              </a:solidFill>
            </a:endParaRPr>
          </a:p>
        </p:txBody>
      </p:sp>
      <p:sp>
        <p:nvSpPr>
          <p:cNvPr id="501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132007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base" latinLnBrk="0" hangingPunct="1">
              <a:lnSpc>
                <a:spcPct val="100000"/>
              </a:lnSpc>
              <a:spcBef>
                <a:spcPct val="0"/>
              </a:spcBef>
              <a:spcAft>
                <a:spcPct val="0"/>
              </a:spcAft>
              <a:buClrTx/>
              <a:buSzPct val="25000"/>
              <a:buFontTx/>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Pct val="25000"/>
                <a:buFontTx/>
                <a:buNone/>
                <a:tabLst/>
                <a:defRPr/>
              </a:pPr>
              <a:t>72</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42533170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base" latinLnBrk="0" hangingPunct="1">
              <a:lnSpc>
                <a:spcPct val="100000"/>
              </a:lnSpc>
              <a:spcBef>
                <a:spcPct val="0"/>
              </a:spcBef>
              <a:spcAft>
                <a:spcPct val="0"/>
              </a:spcAft>
              <a:buClrTx/>
              <a:buSzPct val="25000"/>
              <a:buFontTx/>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Pct val="25000"/>
                <a:buFontTx/>
                <a:buNone/>
                <a:tabLst/>
                <a:defRPr/>
              </a:pPr>
              <a:t>73</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42533170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base" latinLnBrk="0" hangingPunct="1">
              <a:lnSpc>
                <a:spcPct val="100000"/>
              </a:lnSpc>
              <a:spcBef>
                <a:spcPct val="0"/>
              </a:spcBef>
              <a:spcAft>
                <a:spcPct val="0"/>
              </a:spcAft>
              <a:buClrTx/>
              <a:buSzPct val="25000"/>
              <a:buFontTx/>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Pct val="25000"/>
                <a:buFontTx/>
                <a:buNone/>
                <a:tabLst/>
                <a:defRPr/>
              </a:pPr>
              <a:t>74</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42533170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base" latinLnBrk="0" hangingPunct="1">
              <a:lnSpc>
                <a:spcPct val="100000"/>
              </a:lnSpc>
              <a:spcBef>
                <a:spcPct val="0"/>
              </a:spcBef>
              <a:spcAft>
                <a:spcPct val="0"/>
              </a:spcAft>
              <a:buClrTx/>
              <a:buSzPct val="25000"/>
              <a:buFontTx/>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Pct val="25000"/>
                <a:buFontTx/>
                <a:buNone/>
                <a:tabLst/>
                <a:defRPr/>
              </a:pPr>
              <a:t>75</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42533170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C1EC05-9679-4D4E-9EEE-0146E1BA41AC}" type="slidenum">
              <a:rPr lang="en-US">
                <a:solidFill>
                  <a:srgbClr val="000000"/>
                </a:solidFill>
              </a:rPr>
              <a:pPr/>
              <a:t>76</a:t>
            </a:fld>
            <a:endParaRPr lang="en-US">
              <a:solidFill>
                <a:srgbClr val="000000"/>
              </a:solidFill>
            </a:endParaRPr>
          </a:p>
        </p:txBody>
      </p:sp>
      <p:sp>
        <p:nvSpPr>
          <p:cNvPr id="62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2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34710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5446-5BA8-6FEE-7289-04D175DDD6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8E2A0D-B7D9-4024-E102-367A747A20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D99638-D892-5089-58F6-BE8A939E7DDE}"/>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5" name="Footer Placeholder 4">
            <a:extLst>
              <a:ext uri="{FF2B5EF4-FFF2-40B4-BE49-F238E27FC236}">
                <a16:creationId xmlns:a16="http://schemas.microsoft.com/office/drawing/2014/main" id="{519EDEC4-5A1C-E990-D7E1-34491EE8E3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C47DF0-7BB6-641A-F014-5C0605D35B42}"/>
              </a:ext>
            </a:extLst>
          </p:cNvPr>
          <p:cNvSpPr>
            <a:spLocks noGrp="1"/>
          </p:cNvSpPr>
          <p:nvPr>
            <p:ph type="sldNum" sz="quarter" idx="12"/>
          </p:nvPr>
        </p:nvSpPr>
        <p:spPr/>
        <p:txBody>
          <a:bodyPr/>
          <a:lstStyle/>
          <a:p>
            <a:fld id="{2E33FEC5-9B88-364E-8919-F30B53D360D7}" type="slidenum">
              <a:rPr lang="en-US" smtClean="0"/>
              <a:t>‹#›</a:t>
            </a:fld>
            <a:endParaRPr lang="en-US"/>
          </a:p>
        </p:txBody>
      </p:sp>
      <p:sp>
        <p:nvSpPr>
          <p:cNvPr id="7" name="TextBox 6">
            <a:extLst>
              <a:ext uri="{FF2B5EF4-FFF2-40B4-BE49-F238E27FC236}">
                <a16:creationId xmlns:a16="http://schemas.microsoft.com/office/drawing/2014/main" id="{720B24BA-712B-6DBA-CC76-4A09D370AFF5}"/>
              </a:ext>
            </a:extLst>
          </p:cNvPr>
          <p:cNvSpPr txBox="1"/>
          <p:nvPr userDrawn="1"/>
        </p:nvSpPr>
        <p:spPr>
          <a:xfrm>
            <a:off x="9022080" y="6356350"/>
            <a:ext cx="1524000" cy="369332"/>
          </a:xfrm>
          <a:prstGeom prst="rect">
            <a:avLst/>
          </a:prstGeom>
          <a:solidFill>
            <a:schemeClr val="bg1"/>
          </a:solidFill>
        </p:spPr>
        <p:txBody>
          <a:bodyPr wrap="square" rtlCol="0">
            <a:spAutoFit/>
          </a:bodyPr>
          <a:lstStyle/>
          <a:p>
            <a:r>
              <a:rPr lang="en-US" sz="900" dirty="0"/>
              <a:t>© John Day 2024</a:t>
            </a:r>
          </a:p>
          <a:p>
            <a:r>
              <a:rPr lang="en-US" sz="900" dirty="0"/>
              <a:t>All Rights Reserved</a:t>
            </a:r>
          </a:p>
        </p:txBody>
      </p:sp>
    </p:spTree>
    <p:extLst>
      <p:ext uri="{BB962C8B-B14F-4D97-AF65-F5344CB8AC3E}">
        <p14:creationId xmlns:p14="http://schemas.microsoft.com/office/powerpoint/2010/main" val="4254402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2DCB-F251-2C43-AFF4-283E1ACF9260}"/>
              </a:ext>
            </a:extLst>
          </p:cNvPr>
          <p:cNvSpPr>
            <a:spLocks noGrp="1"/>
          </p:cNvSpPr>
          <p:nvPr>
            <p:ph type="title"/>
          </p:nvPr>
        </p:nvSpPr>
        <p:spPr/>
        <p:txBody>
          <a:bodyPr>
            <a:normAutofit/>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7927E3B8-FBD3-2251-650B-FAD084E12CEF}"/>
              </a:ext>
            </a:extLst>
          </p:cNvPr>
          <p:cNvSpPr>
            <a:spLocks noGrp="1"/>
          </p:cNvSpPr>
          <p:nvPr>
            <p:ph idx="1"/>
          </p:nvPr>
        </p:nvSpPr>
        <p:spPr/>
        <p:txBody>
          <a:bodyPr/>
          <a:lstStyle>
            <a:lvl1pPr>
              <a:defRPr sz="20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600">
                <a:latin typeface="Times New Roman" panose="02020603050405020304" pitchFamily="18" charset="0"/>
                <a:cs typeface="Times New Roman" panose="02020603050405020304" pitchFamily="18" charset="0"/>
              </a:defRPr>
            </a:lvl3pPr>
            <a:lvl4pPr>
              <a:defRPr sz="14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C1AF28-4DFD-E9CE-A545-B31FE7416F36}"/>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DBEAF958-C97C-884A-AAFC-91660A48764D}" type="datetimeFigureOut">
              <a:rPr lang="en-US" smtClean="0"/>
              <a:pPr/>
              <a:t>1/14/26</a:t>
            </a:fld>
            <a:endParaRPr lang="en-US"/>
          </a:p>
        </p:txBody>
      </p:sp>
      <p:sp>
        <p:nvSpPr>
          <p:cNvPr id="5" name="Footer Placeholder 4">
            <a:extLst>
              <a:ext uri="{FF2B5EF4-FFF2-40B4-BE49-F238E27FC236}">
                <a16:creationId xmlns:a16="http://schemas.microsoft.com/office/drawing/2014/main" id="{3A32C2CC-DFC3-A882-A86D-D6A393B77162}"/>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AD5811BF-2029-33BD-A1AA-7621606F044A}"/>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2E33FEC5-9B88-364E-8919-F30B53D360D7}" type="slidenum">
              <a:rPr lang="en-US" smtClean="0"/>
              <a:pPr/>
              <a:t>‹#›</a:t>
            </a:fld>
            <a:endParaRPr lang="en-US"/>
          </a:p>
        </p:txBody>
      </p:sp>
    </p:spTree>
    <p:extLst>
      <p:ext uri="{BB962C8B-B14F-4D97-AF65-F5344CB8AC3E}">
        <p14:creationId xmlns:p14="http://schemas.microsoft.com/office/powerpoint/2010/main" val="389389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EF7F7-DA09-9C11-D2B2-48EB3E1F9D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514C2D-33A4-4026-A83D-9FBC94948E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4E6E8-0DF9-112C-B53C-1E8258F61983}"/>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5" name="Footer Placeholder 4">
            <a:extLst>
              <a:ext uri="{FF2B5EF4-FFF2-40B4-BE49-F238E27FC236}">
                <a16:creationId xmlns:a16="http://schemas.microsoft.com/office/drawing/2014/main" id="{86C76E31-675B-B36A-57A2-1867749B1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21877-B4DD-A6F2-25AA-283068BF9097}"/>
              </a:ext>
            </a:extLst>
          </p:cNvPr>
          <p:cNvSpPr>
            <a:spLocks noGrp="1"/>
          </p:cNvSpPr>
          <p:nvPr>
            <p:ph type="sldNum" sz="quarter" idx="12"/>
          </p:nvPr>
        </p:nvSpPr>
        <p:spPr/>
        <p:txBody>
          <a:bodyPr/>
          <a:lstStyle/>
          <a:p>
            <a:fld id="{2E33FEC5-9B88-364E-8919-F30B53D360D7}" type="slidenum">
              <a:rPr lang="en-US" smtClean="0"/>
              <a:t>‹#›</a:t>
            </a:fld>
            <a:endParaRPr lang="en-US"/>
          </a:p>
        </p:txBody>
      </p:sp>
      <p:sp>
        <p:nvSpPr>
          <p:cNvPr id="7" name="TextBox 6">
            <a:extLst>
              <a:ext uri="{FF2B5EF4-FFF2-40B4-BE49-F238E27FC236}">
                <a16:creationId xmlns:a16="http://schemas.microsoft.com/office/drawing/2014/main" id="{EB2389D1-94D8-14C5-F715-059CB0E10EE9}"/>
              </a:ext>
            </a:extLst>
          </p:cNvPr>
          <p:cNvSpPr txBox="1"/>
          <p:nvPr userDrawn="1"/>
        </p:nvSpPr>
        <p:spPr>
          <a:xfrm>
            <a:off x="8788400" y="6356350"/>
            <a:ext cx="1524000" cy="369332"/>
          </a:xfrm>
          <a:prstGeom prst="rect">
            <a:avLst/>
          </a:prstGeom>
          <a:solidFill>
            <a:schemeClr val="bg1"/>
          </a:solidFill>
        </p:spPr>
        <p:txBody>
          <a:bodyPr wrap="square" rtlCol="0">
            <a:spAutoFit/>
          </a:bodyPr>
          <a:lstStyle/>
          <a:p>
            <a:r>
              <a:rPr lang="en-US" sz="900" dirty="0"/>
              <a:t>© John Day 2022</a:t>
            </a:r>
          </a:p>
          <a:p>
            <a:r>
              <a:rPr lang="en-US" sz="900" dirty="0"/>
              <a:t>All Rights Reserved</a:t>
            </a:r>
          </a:p>
        </p:txBody>
      </p:sp>
    </p:spTree>
    <p:extLst>
      <p:ext uri="{BB962C8B-B14F-4D97-AF65-F5344CB8AC3E}">
        <p14:creationId xmlns:p14="http://schemas.microsoft.com/office/powerpoint/2010/main" val="450208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6ADB6-D3C7-7056-F328-8E56B3996D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E82459-C4F8-3FD8-6479-DC69AAF481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AB247-0909-EE23-0DC2-9687FE51A9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F96B1F-D043-2A74-6A54-3993C57A58E2}"/>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6" name="Footer Placeholder 5">
            <a:extLst>
              <a:ext uri="{FF2B5EF4-FFF2-40B4-BE49-F238E27FC236}">
                <a16:creationId xmlns:a16="http://schemas.microsoft.com/office/drawing/2014/main" id="{2A80417A-46C0-0543-19BC-7EA2C17863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DF6FF7-9EC3-6CE8-32F5-F383C6BAC68C}"/>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369219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FA9CD-50A8-16E8-8754-2E4B961664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641A7A-A52D-E154-90FE-4AF2808ECF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37311A-701A-55E7-2C59-0F63BF7698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774C06-38AC-8D10-998A-84F7630E9A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990C7A-FE5F-C10E-2ECE-BFAB4F6FAC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24E091-2388-368F-CD03-80043E6B7230}"/>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8" name="Footer Placeholder 7">
            <a:extLst>
              <a:ext uri="{FF2B5EF4-FFF2-40B4-BE49-F238E27FC236}">
                <a16:creationId xmlns:a16="http://schemas.microsoft.com/office/drawing/2014/main" id="{9A55B7BB-0667-E5D6-15F7-09B9E7D4CC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EC8CE1-208D-3F09-7E31-CA170415F449}"/>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2431781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36631-58DA-094C-F94E-E6E358F773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FF8A64-A45E-F05B-30F6-6E1E7CC7A775}"/>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4" name="Footer Placeholder 3">
            <a:extLst>
              <a:ext uri="{FF2B5EF4-FFF2-40B4-BE49-F238E27FC236}">
                <a16:creationId xmlns:a16="http://schemas.microsoft.com/office/drawing/2014/main" id="{3BE2A884-2117-8A57-7AD3-F8AEEFB10F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E582C9-D39F-A769-2E3B-9268DB2D7A53}"/>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321860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A40685-2B9B-AA24-BC18-4B16823D8B2B}"/>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3" name="Footer Placeholder 2">
            <a:extLst>
              <a:ext uri="{FF2B5EF4-FFF2-40B4-BE49-F238E27FC236}">
                <a16:creationId xmlns:a16="http://schemas.microsoft.com/office/drawing/2014/main" id="{70D056FE-F97D-2B64-DE5C-2583999C1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3307BD-E689-24AE-6D13-8D7D507106AC}"/>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138408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A1FB-733A-2D99-0026-3A0CFE1212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903C89-EDB0-5CBD-5A7D-FB6BD3396E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B3880D-42B0-3517-8DD3-1FC2098CC2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B8096E-2CF9-5DAE-DE92-4D16F6FA6BAD}"/>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6" name="Footer Placeholder 5">
            <a:extLst>
              <a:ext uri="{FF2B5EF4-FFF2-40B4-BE49-F238E27FC236}">
                <a16:creationId xmlns:a16="http://schemas.microsoft.com/office/drawing/2014/main" id="{352CDB22-AEE4-FCDB-2B89-09804BD7C9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A561FB-55EF-40F1-74B1-AE033E0B8C53}"/>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340423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3F2C-A6A1-893E-7111-95E633C38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188153-33A5-63E7-29D7-82A55DF7BA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D1BB91-23FE-9D96-8088-4798A0FC76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56BFA5-D001-175F-CC57-2E849C3DCE77}"/>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6" name="Footer Placeholder 5">
            <a:extLst>
              <a:ext uri="{FF2B5EF4-FFF2-40B4-BE49-F238E27FC236}">
                <a16:creationId xmlns:a16="http://schemas.microsoft.com/office/drawing/2014/main" id="{CF22BBB8-0B06-FCCA-265F-904C9787D7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5C0065-FF14-1E43-A8D0-C93D6750F736}"/>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3145506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10F4F-F9D8-86A8-0487-8865113BF6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E9B8-11C0-608F-69E1-94284F24E2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944C1A-A4A2-73A9-C96A-13AB22EF9E14}"/>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5" name="Footer Placeholder 4">
            <a:extLst>
              <a:ext uri="{FF2B5EF4-FFF2-40B4-BE49-F238E27FC236}">
                <a16:creationId xmlns:a16="http://schemas.microsoft.com/office/drawing/2014/main" id="{3D2F3AF3-B6FE-4F2B-2019-59FCE3FE69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ED389E-6C65-0786-5DE7-104284126CA7}"/>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3191166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C78F27-20D6-B4D2-2F6B-33C88AF22E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12D90D-6A5A-5212-9061-C49050F5CC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885C26-92CE-81D7-B7BD-424919BC1DE1}"/>
              </a:ext>
            </a:extLst>
          </p:cNvPr>
          <p:cNvSpPr>
            <a:spLocks noGrp="1"/>
          </p:cNvSpPr>
          <p:nvPr>
            <p:ph type="dt" sz="half" idx="10"/>
          </p:nvPr>
        </p:nvSpPr>
        <p:spPr/>
        <p:txBody>
          <a:bodyPr/>
          <a:lstStyle/>
          <a:p>
            <a:fld id="{DBEAF958-C97C-884A-AAFC-91660A48764D}" type="datetimeFigureOut">
              <a:rPr lang="en-US" smtClean="0"/>
              <a:t>1/14/26</a:t>
            </a:fld>
            <a:endParaRPr lang="en-US"/>
          </a:p>
        </p:txBody>
      </p:sp>
      <p:sp>
        <p:nvSpPr>
          <p:cNvPr id="5" name="Footer Placeholder 4">
            <a:extLst>
              <a:ext uri="{FF2B5EF4-FFF2-40B4-BE49-F238E27FC236}">
                <a16:creationId xmlns:a16="http://schemas.microsoft.com/office/drawing/2014/main" id="{F169CCBD-603F-91D6-5629-9D58818FD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2E108C-A619-3814-BD72-CF56CDD8004A}"/>
              </a:ext>
            </a:extLst>
          </p:cNvPr>
          <p:cNvSpPr>
            <a:spLocks noGrp="1"/>
          </p:cNvSpPr>
          <p:nvPr>
            <p:ph type="sldNum" sz="quarter" idx="12"/>
          </p:nvPr>
        </p:nvSpPr>
        <p:spPr/>
        <p:txBody>
          <a:bodyPr/>
          <a:lstStyle/>
          <a:p>
            <a:fld id="{2E33FEC5-9B88-364E-8919-F30B53D360D7}" type="slidenum">
              <a:rPr lang="en-US" smtClean="0"/>
              <a:t>‹#›</a:t>
            </a:fld>
            <a:endParaRPr lang="en-US"/>
          </a:p>
        </p:txBody>
      </p:sp>
    </p:spTree>
    <p:extLst>
      <p:ext uri="{BB962C8B-B14F-4D97-AF65-F5344CB8AC3E}">
        <p14:creationId xmlns:p14="http://schemas.microsoft.com/office/powerpoint/2010/main" val="2704216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9BC2525-5988-454D-949B-D4E2CC742386}" type="slidenum">
              <a:rPr lang="en-US"/>
              <a:pPr>
                <a:defRPr/>
              </a:pPr>
              <a:t>‹#›</a:t>
            </a:fld>
            <a:endParaRPr lang="en-US"/>
          </a:p>
        </p:txBody>
      </p:sp>
    </p:spTree>
    <p:extLst>
      <p:ext uri="{BB962C8B-B14F-4D97-AF65-F5344CB8AC3E}">
        <p14:creationId xmlns:p14="http://schemas.microsoft.com/office/powerpoint/2010/main" val="2410936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525F01E-6653-9142-BB8E-A9EFA6753D36}" type="slidenum">
              <a:rPr lang="en-US"/>
              <a:pPr>
                <a:defRPr/>
              </a:pPr>
              <a:t>‹#›</a:t>
            </a:fld>
            <a:endParaRPr lang="en-US"/>
          </a:p>
        </p:txBody>
      </p:sp>
    </p:spTree>
    <p:extLst>
      <p:ext uri="{BB962C8B-B14F-4D97-AF65-F5344CB8AC3E}">
        <p14:creationId xmlns:p14="http://schemas.microsoft.com/office/powerpoint/2010/main" val="245101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29F7DC5-ADD5-E54B-97E6-786D2D93D7C2}" type="slidenum">
              <a:rPr lang="en-US"/>
              <a:pPr>
                <a:defRPr/>
              </a:pPr>
              <a:t>‹#›</a:t>
            </a:fld>
            <a:endParaRPr lang="en-US"/>
          </a:p>
        </p:txBody>
      </p:sp>
    </p:spTree>
    <p:extLst>
      <p:ext uri="{BB962C8B-B14F-4D97-AF65-F5344CB8AC3E}">
        <p14:creationId xmlns:p14="http://schemas.microsoft.com/office/powerpoint/2010/main" val="2092854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59944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5715000"/>
            <a:ext cx="59944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5BC82FD-1AB8-044E-97B5-1973616F940C}" type="slidenum">
              <a:rPr lang="en-US"/>
              <a:pPr>
                <a:defRPr/>
              </a:pPr>
              <a:t>‹#›</a:t>
            </a:fld>
            <a:endParaRPr lang="en-US"/>
          </a:p>
        </p:txBody>
      </p:sp>
    </p:spTree>
    <p:extLst>
      <p:ext uri="{BB962C8B-B14F-4D97-AF65-F5344CB8AC3E}">
        <p14:creationId xmlns:p14="http://schemas.microsoft.com/office/powerpoint/2010/main" val="3436038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84E464-83D9-CC4A-8E27-88475CEABB2B}" type="slidenum">
              <a:rPr lang="en-US"/>
              <a:pPr>
                <a:defRPr/>
              </a:pPr>
              <a:t>‹#›</a:t>
            </a:fld>
            <a:endParaRPr lang="en-US"/>
          </a:p>
        </p:txBody>
      </p:sp>
    </p:spTree>
    <p:extLst>
      <p:ext uri="{BB962C8B-B14F-4D97-AF65-F5344CB8AC3E}">
        <p14:creationId xmlns:p14="http://schemas.microsoft.com/office/powerpoint/2010/main" val="3104563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8E690E3-6838-CA4E-A4ED-CBE8945F0C52}" type="slidenum">
              <a:rPr lang="en-US"/>
              <a:pPr>
                <a:defRPr/>
              </a:pPr>
              <a:t>‹#›</a:t>
            </a:fld>
            <a:endParaRPr lang="en-US"/>
          </a:p>
        </p:txBody>
      </p:sp>
    </p:spTree>
    <p:extLst>
      <p:ext uri="{BB962C8B-B14F-4D97-AF65-F5344CB8AC3E}">
        <p14:creationId xmlns:p14="http://schemas.microsoft.com/office/powerpoint/2010/main" val="4708628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4A1CC6D7-2D67-C24C-803A-BD3E07C3535D}" type="slidenum">
              <a:rPr lang="en-US"/>
              <a:pPr>
                <a:defRPr/>
              </a:pPr>
              <a:t>‹#›</a:t>
            </a:fld>
            <a:endParaRPr lang="en-US"/>
          </a:p>
        </p:txBody>
      </p:sp>
    </p:spTree>
    <p:extLst>
      <p:ext uri="{BB962C8B-B14F-4D97-AF65-F5344CB8AC3E}">
        <p14:creationId xmlns:p14="http://schemas.microsoft.com/office/powerpoint/2010/main" val="25374878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59E5AF4-DB08-A24C-8943-2CDFFAED3379}" type="slidenum">
              <a:rPr lang="en-US"/>
              <a:pPr>
                <a:defRPr/>
              </a:pPr>
              <a:t>‹#›</a:t>
            </a:fld>
            <a:endParaRPr lang="en-US"/>
          </a:p>
        </p:txBody>
      </p:sp>
    </p:spTree>
    <p:extLst>
      <p:ext uri="{BB962C8B-B14F-4D97-AF65-F5344CB8AC3E}">
        <p14:creationId xmlns:p14="http://schemas.microsoft.com/office/powerpoint/2010/main" val="38620129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3524E87-502C-2A42-AD1D-54EDC9E4B8F1}" type="slidenum">
              <a:rPr lang="en-US"/>
              <a:pPr>
                <a:defRPr/>
              </a:pPr>
              <a:t>‹#›</a:t>
            </a:fld>
            <a:endParaRPr lang="en-US"/>
          </a:p>
        </p:txBody>
      </p:sp>
    </p:spTree>
    <p:extLst>
      <p:ext uri="{BB962C8B-B14F-4D97-AF65-F5344CB8AC3E}">
        <p14:creationId xmlns:p14="http://schemas.microsoft.com/office/powerpoint/2010/main" val="8367744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551CFEA-25C9-DC45-BB9D-BE61E33DFCC8}" type="slidenum">
              <a:rPr lang="en-US"/>
              <a:pPr>
                <a:defRPr/>
              </a:pPr>
              <a:t>‹#›</a:t>
            </a:fld>
            <a:endParaRPr lang="en-US"/>
          </a:p>
        </p:txBody>
      </p:sp>
    </p:spTree>
    <p:extLst>
      <p:ext uri="{BB962C8B-B14F-4D97-AF65-F5344CB8AC3E}">
        <p14:creationId xmlns:p14="http://schemas.microsoft.com/office/powerpoint/2010/main" val="1813832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0"/>
            <a:ext cx="3048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89408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FC4332F-E865-1247-99D2-E18A74C0704E}" type="slidenum">
              <a:rPr lang="en-US"/>
              <a:pPr>
                <a:defRPr/>
              </a:pPr>
              <a:t>‹#›</a:t>
            </a:fld>
            <a:endParaRPr lang="en-US"/>
          </a:p>
        </p:txBody>
      </p:sp>
    </p:spTree>
    <p:extLst>
      <p:ext uri="{BB962C8B-B14F-4D97-AF65-F5344CB8AC3E}">
        <p14:creationId xmlns:p14="http://schemas.microsoft.com/office/powerpoint/2010/main" val="2449459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fontAlgn="auto">
              <a:spcBef>
                <a:spcPts val="0"/>
              </a:spcBef>
              <a:spcAft>
                <a:spcPts val="0"/>
              </a:spcAft>
              <a:defRPr/>
            </a:pPr>
            <a:endParaRPr sz="1800" kern="0" dirty="0">
              <a:solidFill>
                <a:srgbClr val="FFFFFF"/>
              </a:solidFill>
              <a:latin typeface="Arial"/>
              <a:ea typeface="Arial"/>
              <a:cs typeface="Arial"/>
              <a:sym typeface="Arial"/>
            </a:endParaRPr>
          </a:p>
        </p:txBody>
      </p:sp>
      <p:sp>
        <p:nvSpPr>
          <p:cNvPr id="19" name="Shape 19"/>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dirty="0">
              <a:solidFill>
                <a:srgbClr val="000000"/>
              </a:solidFill>
            </a:endParaRPr>
          </a:p>
        </p:txBody>
      </p:sp>
      <p:sp>
        <p:nvSpPr>
          <p:cNvPr id="22" name="Shape 2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dirty="0">
              <a:solidFill>
                <a:srgbClr val="FFFFFF"/>
              </a:solidFill>
            </a:endParaRPr>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defRPr/>
            </a:pPr>
            <a:fld id="{00000000-1234-1234-1234-123412341234}" type="slidenum">
              <a:rPr lang="en-US" sz="900">
                <a:solidFill>
                  <a:srgbClr val="FFFFFF"/>
                </a:solidFill>
              </a:rPr>
              <a:pPr algn="r">
                <a:buSzPct val="25000"/>
                <a:defRPr/>
              </a:pPr>
              <a:t>‹#›</a:t>
            </a:fld>
            <a:endParaRPr lang="en-US" sz="900" dirty="0">
              <a:solidFill>
                <a:srgbClr val="FFFFFF"/>
              </a:solidFill>
            </a:endParaRPr>
          </a:p>
        </p:txBody>
      </p:sp>
    </p:spTree>
    <p:extLst>
      <p:ext uri="{BB962C8B-B14F-4D97-AF65-F5344CB8AC3E}">
        <p14:creationId xmlns:p14="http://schemas.microsoft.com/office/powerpoint/2010/main" val="933427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609600" y="1600201"/>
            <a:ext cx="109728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20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a:p>
          <a:p>
            <a:pPr lvl="1"/>
            <a:endParaRPr lang="en-US" sz="2000" dirty="0"/>
          </a:p>
          <a:p>
            <a:pPr lvl="2"/>
            <a:endParaRPr lang="en-US" dirty="0"/>
          </a:p>
          <a:p>
            <a:pPr lvl="1"/>
            <a:endParaRPr lang="en-US" dirty="0"/>
          </a:p>
          <a:p>
            <a:pPr lvl="2"/>
            <a:endParaRPr dirty="0"/>
          </a:p>
        </p:txBody>
      </p:sp>
      <p:sp>
        <p:nvSpPr>
          <p:cNvPr id="27" name="Shape 27"/>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28" name="Shape 28"/>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29" name="Shape 29"/>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25788923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dirty="0"/>
              <a:t>Edit Master text styles</a:t>
            </a:r>
          </a:p>
        </p:txBody>
      </p:sp>
    </p:spTree>
    <p:extLst>
      <p:ext uri="{BB962C8B-B14F-4D97-AF65-F5344CB8AC3E}">
        <p14:creationId xmlns:p14="http://schemas.microsoft.com/office/powerpoint/2010/main" val="2048917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3" name="Picture Placeholder 2">
            <a:extLst>
              <a:ext uri="{FF2B5EF4-FFF2-40B4-BE49-F238E27FC236}">
                <a16:creationId xmlns:a16="http://schemas.microsoft.com/office/drawing/2014/main" id="{0321E090-1CF7-424F-AB1C-A74C4C5178D1}"/>
              </a:ext>
            </a:extLst>
          </p:cNvPr>
          <p:cNvSpPr>
            <a:spLocks noGrp="1"/>
          </p:cNvSpPr>
          <p:nvPr>
            <p:ph type="pic" sz="quarter" idx="13"/>
          </p:nvPr>
        </p:nvSpPr>
        <p:spPr>
          <a:xfrm>
            <a:off x="609601" y="1600200"/>
            <a:ext cx="5814484" cy="4565650"/>
          </a:xfrm>
        </p:spPr>
        <p:txBody>
          <a:bodyPr/>
          <a:lstStyle/>
          <a:p>
            <a:endParaRPr lang="en-US" dirty="0"/>
          </a:p>
        </p:txBody>
      </p:sp>
      <p:sp>
        <p:nvSpPr>
          <p:cNvPr id="40" name="Shape 40"/>
          <p:cNvSpPr txBox="1">
            <a:spLocks noGrp="1"/>
          </p:cNvSpPr>
          <p:nvPr>
            <p:ph type="body" idx="2"/>
          </p:nvPr>
        </p:nvSpPr>
        <p:spPr>
          <a:xfrm>
            <a:off x="6705600" y="1600200"/>
            <a:ext cx="48768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6705600" y="3200401"/>
            <a:ext cx="48768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125293" y="6165337"/>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43" name="Shape 4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44" name="Shape 4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26494468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pPr algn="r">
                <a:buSzPct val="25000"/>
              </a:pPr>
              <a:t>‹#›</a:t>
            </a:fld>
            <a:endParaRPr lang="en-US" sz="900"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lstStyle/>
          <a:p>
            <a:endParaRPr lang="en-US" dirty="0"/>
          </a:p>
        </p:txBody>
      </p:sp>
    </p:spTree>
    <p:extLst>
      <p:ext uri="{BB962C8B-B14F-4D97-AF65-F5344CB8AC3E}">
        <p14:creationId xmlns:p14="http://schemas.microsoft.com/office/powerpoint/2010/main" val="3787428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609600" y="1481139"/>
            <a:ext cx="5979584"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6923617" y="1481139"/>
            <a:ext cx="4790016" cy="3754437"/>
          </a:xfrm>
        </p:spPr>
        <p:txBody>
          <a:bodyPr/>
          <a:lstStyle/>
          <a:p>
            <a:endParaRPr lang="en-US" dirty="0"/>
          </a:p>
        </p:txBody>
      </p:sp>
      <p:sp>
        <p:nvSpPr>
          <p:cNvPr id="11" name="Text Placeholder 10">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6923617" y="5399089"/>
            <a:ext cx="4790016" cy="490537"/>
          </a:xfrm>
        </p:spPr>
        <p:txBody>
          <a:bodyPr/>
          <a:lstStyle>
            <a:lvl1pPr marL="101600" indent="0">
              <a:buNone/>
              <a:defRPr sz="1200"/>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solidFill>
                <a:srgbClr val="FFFFFF"/>
              </a:solidFill>
            </a:endParaRPr>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algn="r">
              <a:buSzPct val="25000"/>
            </a:pPr>
            <a:fld id="{00000000-1234-1234-1234-123412341234}" type="slidenum">
              <a:rPr lang="en-US" sz="900" smtClean="0">
                <a:solidFill>
                  <a:srgbClr val="FFFFFF"/>
                </a:solidFill>
              </a:rPr>
              <a:pPr algn="r">
                <a:buSzPct val="25000"/>
              </a:pPr>
              <a:t>‹#›</a:t>
            </a:fld>
            <a:endParaRPr lang="en-US" sz="900" dirty="0">
              <a:solidFill>
                <a:srgbClr val="FFFFFF"/>
              </a:solidFil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solidFill>
                <a:srgbClr val="000000">
                  <a:tint val="75000"/>
                </a:srgbClr>
              </a:solidFill>
            </a:endParaRPr>
          </a:p>
        </p:txBody>
      </p:sp>
    </p:spTree>
    <p:extLst>
      <p:ext uri="{BB962C8B-B14F-4D97-AF65-F5344CB8AC3E}">
        <p14:creationId xmlns:p14="http://schemas.microsoft.com/office/powerpoint/2010/main" val="25242027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hasCustomPrompt="1"/>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63" name="Shape 63"/>
          <p:cNvSpPr txBox="1">
            <a:spLocks noGrp="1"/>
          </p:cNvSpPr>
          <p:nvPr>
            <p:ph type="body" idx="1" hasCustomPrompt="1"/>
          </p:nvPr>
        </p:nvSpPr>
        <p:spPr>
          <a:xfrm>
            <a:off x="609600" y="816430"/>
            <a:ext cx="109728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r>
              <a:rPr lang="en-US" dirty="0"/>
              <a:t>Click to add Learning Objective(s)</a:t>
            </a:r>
            <a:endParaRPr dirty="0"/>
          </a:p>
        </p:txBody>
      </p:sp>
      <p:sp>
        <p:nvSpPr>
          <p:cNvPr id="64" name="Shape 64"/>
          <p:cNvSpPr txBox="1">
            <a:spLocks noGrp="1"/>
          </p:cNvSpPr>
          <p:nvPr>
            <p:ph type="body" idx="2"/>
          </p:nvPr>
        </p:nvSpPr>
        <p:spPr>
          <a:xfrm>
            <a:off x="609600" y="1358679"/>
            <a:ext cx="10972800" cy="4767485"/>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20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a:p>
          <a:p>
            <a:pPr lvl="1"/>
            <a:endParaRPr lang="en-US" sz="2000" dirty="0"/>
          </a:p>
          <a:p>
            <a:pPr lvl="2"/>
            <a:endParaRPr dirty="0"/>
          </a:p>
        </p:txBody>
      </p:sp>
      <p:sp>
        <p:nvSpPr>
          <p:cNvPr id="65" name="Shape 65"/>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66" name="Shape 66"/>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67" name="Shape 67"/>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21306013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914400" y="1447801"/>
            <a:ext cx="103632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899583" y="3962400"/>
            <a:ext cx="1039283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72" name="Shape 7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73" name="Shape 7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30170378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77" name="Shape 7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FFFFFF"/>
              </a:solidFill>
            </a:endParaRPr>
          </a:p>
        </p:txBody>
      </p:sp>
      <p:sp>
        <p:nvSpPr>
          <p:cNvPr id="78" name="Shape 7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solidFill>
                  <a:srgbClr val="FFFFFF"/>
                </a:solidFill>
              </a:rPr>
              <a:pPr algn="r">
                <a:buSzPct val="25000"/>
              </a:pPr>
              <a:t>‹#›</a:t>
            </a:fld>
            <a:endParaRPr lang="en-US" sz="900" dirty="0">
              <a:solidFill>
                <a:srgbClr val="FFFFFF"/>
              </a:solidFill>
            </a:endParaRPr>
          </a:p>
        </p:txBody>
      </p:sp>
    </p:spTree>
    <p:extLst>
      <p:ext uri="{BB962C8B-B14F-4D97-AF65-F5344CB8AC3E}">
        <p14:creationId xmlns:p14="http://schemas.microsoft.com/office/powerpoint/2010/main" val="7301563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3977218" y="4359276"/>
            <a:ext cx="4643967"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3977217" y="1681163"/>
            <a:ext cx="4643967"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1077479" y="1681163"/>
            <a:ext cx="2609851"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1096433" y="2643044"/>
            <a:ext cx="2609851"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1096433" y="3613151"/>
            <a:ext cx="2609851"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8972549" y="1681163"/>
            <a:ext cx="2609851"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8972552" y="2651910"/>
            <a:ext cx="2609849"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8972552" y="3613152"/>
            <a:ext cx="2609849" cy="627063"/>
          </a:xfrm>
        </p:spPr>
        <p:txBody>
          <a:bodyPr/>
          <a:lstStyle>
            <a:lvl1pPr marL="101600" indent="0">
              <a:buNone/>
              <a:defRPr/>
            </a:lvl1pPr>
          </a:lstStyle>
          <a:p>
            <a:pPr lvl="0"/>
            <a:r>
              <a:rPr lang="en-US" dirty="0"/>
              <a:t>Label 6</a:t>
            </a:r>
          </a:p>
        </p:txBody>
      </p:sp>
      <p:sp>
        <p:nvSpPr>
          <p:cNvPr id="5" name="Footer Placeholder 4">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solidFill>
                <a:srgbClr val="000000">
                  <a:tint val="75000"/>
                </a:srgbClr>
              </a:solidFill>
            </a:endParaRPr>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algn="r">
              <a:buSzPct val="25000"/>
            </a:pPr>
            <a:fld id="{00000000-1234-1234-1234-123412341234}" type="slidenum">
              <a:rPr lang="en-US" sz="900" smtClean="0">
                <a:solidFill>
                  <a:srgbClr val="FFFFFF"/>
                </a:solidFill>
              </a:rPr>
              <a:pPr algn="r">
                <a:buSzPct val="25000"/>
              </a:pPr>
              <a:t>‹#›</a:t>
            </a:fld>
            <a:endParaRPr lang="en-US" sz="900" dirty="0">
              <a:solidFill>
                <a:srgbClr val="FFFFFF"/>
              </a:solidFill>
            </a:endParaRP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solidFill>
                <a:srgbClr val="FFFFFF"/>
              </a:solidFill>
            </a:endParaRPr>
          </a:p>
        </p:txBody>
      </p:sp>
    </p:spTree>
    <p:extLst>
      <p:ext uri="{BB962C8B-B14F-4D97-AF65-F5344CB8AC3E}">
        <p14:creationId xmlns:p14="http://schemas.microsoft.com/office/powerpoint/2010/main" val="16785568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609602" y="4392614"/>
            <a:ext cx="2809764"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609600" y="1817688"/>
            <a:ext cx="2809765"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3699497" y="1794947"/>
            <a:ext cx="204615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3699497" y="2707482"/>
            <a:ext cx="204615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3699497" y="3597276"/>
            <a:ext cx="204615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6575462" y="4347440"/>
            <a:ext cx="2809764"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6575462" y="1806537"/>
            <a:ext cx="2809764"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9739441" y="1794947"/>
            <a:ext cx="204615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9739439" y="2707481"/>
            <a:ext cx="204615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9739439" y="3579818"/>
            <a:ext cx="2046160" cy="608524"/>
          </a:xfrm>
        </p:spPr>
        <p:txBody>
          <a:bodyPr/>
          <a:lstStyle>
            <a:lvl1pPr marL="101600" indent="0">
              <a:buNone/>
              <a:defRPr/>
            </a:lvl1pPr>
          </a:lstStyle>
          <a:p>
            <a:pPr lvl="0"/>
            <a:r>
              <a:rPr lang="en-US" dirty="0"/>
              <a:t>Label 2.3</a:t>
            </a:r>
          </a:p>
        </p:txBody>
      </p:sp>
      <p:sp>
        <p:nvSpPr>
          <p:cNvPr id="5" name="Footer Placeholder 4">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solidFill>
                <a:srgbClr val="000000">
                  <a:tint val="75000"/>
                </a:srgbClr>
              </a:solidFill>
            </a:endParaRPr>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algn="r">
              <a:buSzPct val="25000"/>
            </a:pPr>
            <a:fld id="{00000000-1234-1234-1234-123412341234}" type="slidenum">
              <a:rPr lang="en-US" sz="900" smtClean="0">
                <a:solidFill>
                  <a:srgbClr val="FFFFFF"/>
                </a:solidFill>
              </a:rPr>
              <a:pPr algn="r">
                <a:buSzPct val="25000"/>
              </a:pPr>
              <a:t>‹#›</a:t>
            </a:fld>
            <a:endParaRPr lang="en-US" sz="900" dirty="0">
              <a:solidFill>
                <a:srgbClr val="FFFFFF"/>
              </a:solidFill>
            </a:endParaRP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solidFill>
                <a:srgbClr val="FFFFFF"/>
              </a:solidFill>
            </a:endParaRPr>
          </a:p>
        </p:txBody>
      </p:sp>
    </p:spTree>
    <p:extLst>
      <p:ext uri="{BB962C8B-B14F-4D97-AF65-F5344CB8AC3E}">
        <p14:creationId xmlns:p14="http://schemas.microsoft.com/office/powerpoint/2010/main" val="29490241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81" name="Shape 81"/>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solidFill>
                <a:srgbClr val="000000"/>
              </a:solidFill>
            </a:endParaRPr>
          </a:p>
        </p:txBody>
      </p:sp>
      <p:sp>
        <p:nvSpPr>
          <p:cNvPr id="82" name="Shape 82"/>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a:pPr algn="r">
                <a:buSzPct val="25000"/>
              </a:pPr>
              <a:t>‹#›</a:t>
            </a:fld>
            <a:endParaRPr lang="en-US" sz="900" dirty="0"/>
          </a:p>
        </p:txBody>
      </p:sp>
    </p:spTree>
    <p:extLst>
      <p:ext uri="{BB962C8B-B14F-4D97-AF65-F5344CB8AC3E}">
        <p14:creationId xmlns:p14="http://schemas.microsoft.com/office/powerpoint/2010/main" val="8224848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C8FD300-93C7-9842-B34B-A72D281C39E9}"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3C3C775-3FE5-C647-814E-28ECBB869E0F}" type="slidenum">
              <a:rPr lang="en-US"/>
              <a:pPr>
                <a:defRPr/>
              </a:pPr>
              <a:t>‹#›</a:t>
            </a:fld>
            <a:endParaRPr lang="en-US"/>
          </a:p>
        </p:txBody>
      </p:sp>
    </p:spTree>
    <p:extLst>
      <p:ext uri="{BB962C8B-B14F-4D97-AF65-F5344CB8AC3E}">
        <p14:creationId xmlns:p14="http://schemas.microsoft.com/office/powerpoint/2010/main" val="37005273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Footer Placeholder 4"/>
          <p:cNvSpPr txBox="1">
            <a:spLocks/>
          </p:cNvSpPr>
          <p:nvPr userDrawn="1"/>
        </p:nvSpPr>
        <p:spPr>
          <a:xfrm>
            <a:off x="0" y="6629400"/>
            <a:ext cx="12192000" cy="228600"/>
          </a:xfrm>
          <a:prstGeom prst="rect">
            <a:avLst/>
          </a:prstGeom>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fontAlgn="base" hangingPunct="1">
              <a:spcBef>
                <a:spcPct val="0"/>
              </a:spcBef>
              <a:spcAft>
                <a:spcPct val="0"/>
              </a:spcAft>
              <a:defRPr/>
            </a:pPr>
            <a:r>
              <a:rPr lang="en-US" sz="1200" i="1" kern="1200">
                <a:solidFill>
                  <a:prstClr val="black"/>
                </a:solidFill>
              </a:rPr>
              <a:t>Computer Networks</a:t>
            </a:r>
            <a:r>
              <a:rPr lang="en-US" sz="1200" kern="1200">
                <a:solidFill>
                  <a:prstClr val="black"/>
                </a:solidFill>
              </a:rPr>
              <a:t>, Fifth Edition by Andrew Tanenbaum and David Wetherall, © Pearson Education-Prentice Hall, 2011</a:t>
            </a:r>
          </a:p>
          <a:p>
            <a:pPr eaLnBrk="1" fontAlgn="base" hangingPunct="1">
              <a:spcBef>
                <a:spcPct val="0"/>
              </a:spcBef>
              <a:spcAft>
                <a:spcPct val="0"/>
              </a:spcAft>
              <a:defRPr/>
            </a:pPr>
            <a:endParaRPr lang="en-US" sz="1200" kern="1200">
              <a:solidFill>
                <a:prstClr val="black"/>
              </a:solidFill>
            </a:endParaRPr>
          </a:p>
        </p:txBody>
      </p:sp>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a:xfrm>
            <a:off x="0" y="6629400"/>
            <a:ext cx="12192000" cy="228600"/>
          </a:xfrm>
        </p:spPr>
        <p:txBody>
          <a:bodyPr/>
          <a:lstStyle>
            <a:lvl1pPr>
              <a:defRPr i="1">
                <a:solidFill>
                  <a:schemeClr val="tx1"/>
                </a:solidFill>
                <a:latin typeface="Arial" charset="0"/>
              </a:defRPr>
            </a:lvl1pPr>
          </a:lstStyle>
          <a:p>
            <a:pPr>
              <a:defRPr/>
            </a:pPr>
            <a:r>
              <a:rPr lang="en-US">
                <a:solidFill>
                  <a:prstClr val="black"/>
                </a:solidFill>
              </a:rPr>
              <a:t>Computer Networks, Fifth Edition by Andrew Tanenbaum and David Wetherall, © Pearson Education-Prentice Hall, 2011</a:t>
            </a:r>
          </a:p>
          <a:p>
            <a:pPr>
              <a:defRPr/>
            </a:pPr>
            <a:endParaRPr lang="en-US">
              <a:solidFill>
                <a:prstClr val="black"/>
              </a:solidFill>
            </a:endParaRPr>
          </a:p>
        </p:txBody>
      </p:sp>
    </p:spTree>
    <p:extLst>
      <p:ext uri="{BB962C8B-B14F-4D97-AF65-F5344CB8AC3E}">
        <p14:creationId xmlns:p14="http://schemas.microsoft.com/office/powerpoint/2010/main" val="21646052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4812938-AC5B-6A4D-B111-12AB697D953A}"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A5D0534-EF16-E34B-84A9-7B2D9D966D70}" type="slidenum">
              <a:rPr lang="en-US"/>
              <a:pPr>
                <a:defRPr/>
              </a:pPr>
              <a:t>‹#›</a:t>
            </a:fld>
            <a:endParaRPr lang="en-US"/>
          </a:p>
        </p:txBody>
      </p:sp>
    </p:spTree>
    <p:extLst>
      <p:ext uri="{BB962C8B-B14F-4D97-AF65-F5344CB8AC3E}">
        <p14:creationId xmlns:p14="http://schemas.microsoft.com/office/powerpoint/2010/main" val="20869501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2F152D3-BE24-9E4E-91AC-371B547643BF}"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7F94F26-CF64-F849-8975-7B3C533EB935}" type="slidenum">
              <a:rPr lang="en-US"/>
              <a:pPr>
                <a:defRPr/>
              </a:pPr>
              <a:t>‹#›</a:t>
            </a:fld>
            <a:endParaRPr lang="en-US"/>
          </a:p>
        </p:txBody>
      </p:sp>
    </p:spTree>
    <p:extLst>
      <p:ext uri="{BB962C8B-B14F-4D97-AF65-F5344CB8AC3E}">
        <p14:creationId xmlns:p14="http://schemas.microsoft.com/office/powerpoint/2010/main" val="35393906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3E1BD79-8CFA-3E40-9C2A-5B64599C1930}" type="datetimeFigureOut">
              <a:rPr lang="en-US"/>
              <a:pPr>
                <a:defRPr/>
              </a:pPr>
              <a:t>1/14/26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6149616-4901-5143-B0ED-B9A9F43E47A8}" type="slidenum">
              <a:rPr lang="en-US"/>
              <a:pPr>
                <a:defRPr/>
              </a:pPr>
              <a:t>‹#›</a:t>
            </a:fld>
            <a:endParaRPr lang="en-US"/>
          </a:p>
        </p:txBody>
      </p:sp>
    </p:spTree>
    <p:extLst>
      <p:ext uri="{BB962C8B-B14F-4D97-AF65-F5344CB8AC3E}">
        <p14:creationId xmlns:p14="http://schemas.microsoft.com/office/powerpoint/2010/main" val="23304718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B31949B-E578-3A4F-9C2D-556281491306}" type="datetimeFigureOut">
              <a:rPr lang="en-US"/>
              <a:pPr>
                <a:defRPr/>
              </a:pPr>
              <a:t>1/14/26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0ED7C2E-7D12-1649-A3EA-62069EE63315}" type="slidenum">
              <a:rPr lang="en-US"/>
              <a:pPr>
                <a:defRPr/>
              </a:pPr>
              <a:t>‹#›</a:t>
            </a:fld>
            <a:endParaRPr lang="en-US"/>
          </a:p>
        </p:txBody>
      </p:sp>
    </p:spTree>
    <p:extLst>
      <p:ext uri="{BB962C8B-B14F-4D97-AF65-F5344CB8AC3E}">
        <p14:creationId xmlns:p14="http://schemas.microsoft.com/office/powerpoint/2010/main" val="36535919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A4C47C5-52AB-3446-8E75-C8047F01F19C}" type="datetimeFigureOut">
              <a:rPr lang="en-US"/>
              <a:pPr>
                <a:defRPr/>
              </a:pPr>
              <a:t>1/14/26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149992C-F5BB-F84F-9B69-23B3EEC249A0}" type="slidenum">
              <a:rPr lang="en-US"/>
              <a:pPr>
                <a:defRPr/>
              </a:pPr>
              <a:t>‹#›</a:t>
            </a:fld>
            <a:endParaRPr lang="en-US"/>
          </a:p>
        </p:txBody>
      </p:sp>
    </p:spTree>
    <p:extLst>
      <p:ext uri="{BB962C8B-B14F-4D97-AF65-F5344CB8AC3E}">
        <p14:creationId xmlns:p14="http://schemas.microsoft.com/office/powerpoint/2010/main" val="230674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B328D7D-9C36-834C-B9A1-AE7EF5DD1BEC}"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C0E3D64-9913-B340-B46B-6D712D265567}" type="slidenum">
              <a:rPr lang="en-US"/>
              <a:pPr>
                <a:defRPr/>
              </a:pPr>
              <a:t>‹#›</a:t>
            </a:fld>
            <a:endParaRPr lang="en-US"/>
          </a:p>
        </p:txBody>
      </p:sp>
    </p:spTree>
    <p:extLst>
      <p:ext uri="{BB962C8B-B14F-4D97-AF65-F5344CB8AC3E}">
        <p14:creationId xmlns:p14="http://schemas.microsoft.com/office/powerpoint/2010/main" val="31261436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4510851-555A-8442-A053-39521EBF58B7}"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7781F4C-7CD8-954B-9A82-435817732C45}" type="slidenum">
              <a:rPr lang="en-US"/>
              <a:pPr>
                <a:defRPr/>
              </a:pPr>
              <a:t>‹#›</a:t>
            </a:fld>
            <a:endParaRPr lang="en-US"/>
          </a:p>
        </p:txBody>
      </p:sp>
    </p:spTree>
    <p:extLst>
      <p:ext uri="{BB962C8B-B14F-4D97-AF65-F5344CB8AC3E}">
        <p14:creationId xmlns:p14="http://schemas.microsoft.com/office/powerpoint/2010/main" val="37791511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8DAD0F8-13D7-E749-92B2-349334226A0D}"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E632E1F-9F76-A146-97E2-E9FD135B1382}" type="slidenum">
              <a:rPr lang="en-US"/>
              <a:pPr>
                <a:defRPr/>
              </a:pPr>
              <a:t>‹#›</a:t>
            </a:fld>
            <a:endParaRPr lang="en-US"/>
          </a:p>
        </p:txBody>
      </p:sp>
    </p:spTree>
    <p:extLst>
      <p:ext uri="{BB962C8B-B14F-4D97-AF65-F5344CB8AC3E}">
        <p14:creationId xmlns:p14="http://schemas.microsoft.com/office/powerpoint/2010/main" val="4954231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67F3B14-630D-4340-9F91-3A617180C0D1}"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DA9EA78-28D4-2640-8795-DE278063EDC7}" type="slidenum">
              <a:rPr lang="en-US"/>
              <a:pPr>
                <a:defRPr/>
              </a:pPr>
              <a:t>‹#›</a:t>
            </a:fld>
            <a:endParaRPr lang="en-US"/>
          </a:p>
        </p:txBody>
      </p:sp>
    </p:spTree>
    <p:extLst>
      <p:ext uri="{BB962C8B-B14F-4D97-AF65-F5344CB8AC3E}">
        <p14:creationId xmlns:p14="http://schemas.microsoft.com/office/powerpoint/2010/main" val="41820143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10972800" cy="1066800"/>
          </a:xfrm>
        </p:spPr>
        <p:txBody>
          <a:bodyPr/>
          <a:lstStyle/>
          <a:p>
            <a:r>
              <a:rPr lang="en-US"/>
              <a:t>Click to edit Master title style</a:t>
            </a:r>
          </a:p>
        </p:txBody>
      </p:sp>
      <p:sp>
        <p:nvSpPr>
          <p:cNvPr id="3" name="Content Placeholder 2"/>
          <p:cNvSpPr>
            <a:spLocks noGrp="1"/>
          </p:cNvSpPr>
          <p:nvPr>
            <p:ph idx="1"/>
          </p:nvPr>
        </p:nvSpPr>
        <p:spPr>
          <a:xfrm>
            <a:off x="1524000" y="1828801"/>
            <a:ext cx="100584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F553548-90E5-A14A-B9CC-F608B4658BB5}"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7F74531-C250-9040-87CC-FF728AD81F09}" type="slidenum">
              <a:rPr lang="en-US"/>
              <a:pPr>
                <a:defRPr/>
              </a:pPr>
              <a:t>‹#›</a:t>
            </a:fld>
            <a:endParaRPr lang="en-US"/>
          </a:p>
        </p:txBody>
      </p:sp>
    </p:spTree>
    <p:extLst>
      <p:ext uri="{BB962C8B-B14F-4D97-AF65-F5344CB8AC3E}">
        <p14:creationId xmlns:p14="http://schemas.microsoft.com/office/powerpoint/2010/main" val="2563945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EDBB41-6C21-268E-DE7B-E8DFBA1F5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56D63F-D887-4596-10D5-4DF3EE899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A47609-9938-13ED-603B-8CB9D64389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EAF958-C97C-884A-AAFC-91660A48764D}" type="datetimeFigureOut">
              <a:rPr lang="en-US" smtClean="0"/>
              <a:t>1/14/26</a:t>
            </a:fld>
            <a:endParaRPr lang="en-US"/>
          </a:p>
        </p:txBody>
      </p:sp>
      <p:sp>
        <p:nvSpPr>
          <p:cNvPr id="5" name="Footer Placeholder 4">
            <a:extLst>
              <a:ext uri="{FF2B5EF4-FFF2-40B4-BE49-F238E27FC236}">
                <a16:creationId xmlns:a16="http://schemas.microsoft.com/office/drawing/2014/main" id="{2D84B7A0-746A-C6DA-9250-4E1C8004B2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589D79-57A1-30F4-11D9-68319A85EB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3FEC5-9B88-364E-8919-F30B53D360D7}" type="slidenum">
              <a:rPr lang="en-US" smtClean="0"/>
              <a:t>‹#›</a:t>
            </a:fld>
            <a:endParaRPr lang="en-US"/>
          </a:p>
        </p:txBody>
      </p:sp>
    </p:spTree>
    <p:extLst>
      <p:ext uri="{BB962C8B-B14F-4D97-AF65-F5344CB8AC3E}">
        <p14:creationId xmlns:p14="http://schemas.microsoft.com/office/powerpoint/2010/main" val="21798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121920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0" y="5715000"/>
            <a:ext cx="12192000" cy="83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0"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l">
              <a:defRPr sz="1400">
                <a:latin typeface="+mn-lt"/>
                <a:cs typeface="+mn-cs"/>
              </a:defRPr>
            </a:lvl1pPr>
          </a:lstStyle>
          <a:p>
            <a:pPr>
              <a:defRPr/>
            </a:pPr>
            <a:endParaRPr lang="en-US"/>
          </a:p>
        </p:txBody>
      </p:sp>
      <p:sp>
        <p:nvSpPr>
          <p:cNvPr id="4101"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400">
                <a:latin typeface="+mn-lt"/>
                <a:cs typeface="+mn-cs"/>
              </a:defRPr>
            </a:lvl1pPr>
          </a:lstStyle>
          <a:p>
            <a:pPr>
              <a:defRPr/>
            </a:pPr>
            <a:endParaRPr lang="en-US"/>
          </a:p>
        </p:txBody>
      </p:sp>
      <p:sp>
        <p:nvSpPr>
          <p:cNvPr id="4102"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400">
                <a:latin typeface="+mn-lt"/>
                <a:cs typeface="+mn-cs"/>
              </a:defRPr>
            </a:lvl1pPr>
          </a:lstStyle>
          <a:p>
            <a:pPr>
              <a:defRPr/>
            </a:pPr>
            <a:fld id="{178FB1A4-B36E-A944-82F6-D159E91C4F72}" type="slidenum">
              <a:rPr lang="en-US"/>
              <a:pPr>
                <a:defRPr/>
              </a:pPr>
              <a:t>‹#›</a:t>
            </a:fld>
            <a:endParaRPr lang="en-US"/>
          </a:p>
        </p:txBody>
      </p:sp>
    </p:spTree>
    <p:extLst>
      <p:ext uri="{BB962C8B-B14F-4D97-AF65-F5344CB8AC3E}">
        <p14:creationId xmlns:p14="http://schemas.microsoft.com/office/powerpoint/2010/main" val="27684848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a:solidFill>
            <a:srgbClr val="FF0000"/>
          </a:solidFill>
          <a:latin typeface="+mj-lt"/>
          <a:ea typeface="+mj-ea"/>
          <a:cs typeface="ＭＳ Ｐゴシック" charset="0"/>
        </a:defRPr>
      </a:lvl1pPr>
      <a:lvl2pPr algn="ctr" rtl="0" eaLnBrk="0" fontAlgn="base" hangingPunct="0">
        <a:spcBef>
          <a:spcPct val="0"/>
        </a:spcBef>
        <a:spcAft>
          <a:spcPct val="0"/>
        </a:spcAft>
        <a:defRPr sz="3200">
          <a:solidFill>
            <a:srgbClr val="FF0000"/>
          </a:solidFill>
          <a:latin typeface="Times New Roman" charset="0"/>
          <a:ea typeface="ＭＳ Ｐゴシック" charset="0"/>
          <a:cs typeface="ＭＳ Ｐゴシック" charset="0"/>
        </a:defRPr>
      </a:lvl2pPr>
      <a:lvl3pPr algn="ctr" rtl="0" eaLnBrk="0" fontAlgn="base" hangingPunct="0">
        <a:spcBef>
          <a:spcPct val="0"/>
        </a:spcBef>
        <a:spcAft>
          <a:spcPct val="0"/>
        </a:spcAft>
        <a:defRPr sz="3200">
          <a:solidFill>
            <a:srgbClr val="FF0000"/>
          </a:solidFill>
          <a:latin typeface="Times New Roman" charset="0"/>
          <a:ea typeface="ＭＳ Ｐゴシック" charset="0"/>
          <a:cs typeface="ＭＳ Ｐゴシック" charset="0"/>
        </a:defRPr>
      </a:lvl3pPr>
      <a:lvl4pPr algn="ctr" rtl="0" eaLnBrk="0" fontAlgn="base" hangingPunct="0">
        <a:spcBef>
          <a:spcPct val="0"/>
        </a:spcBef>
        <a:spcAft>
          <a:spcPct val="0"/>
        </a:spcAft>
        <a:defRPr sz="3200">
          <a:solidFill>
            <a:srgbClr val="FF0000"/>
          </a:solidFill>
          <a:latin typeface="Times New Roman" charset="0"/>
          <a:ea typeface="ＭＳ Ｐゴシック" charset="0"/>
          <a:cs typeface="ＭＳ Ｐゴシック" charset="0"/>
        </a:defRPr>
      </a:lvl4pPr>
      <a:lvl5pPr algn="ctr" rtl="0" eaLnBrk="0" fontAlgn="base" hangingPunct="0">
        <a:spcBef>
          <a:spcPct val="0"/>
        </a:spcBef>
        <a:spcAft>
          <a:spcPct val="0"/>
        </a:spcAft>
        <a:defRPr sz="3200">
          <a:solidFill>
            <a:srgbClr val="FF0000"/>
          </a:solidFill>
          <a:latin typeface="Times New Roman" charset="0"/>
          <a:ea typeface="ＭＳ Ｐゴシック" charset="0"/>
          <a:cs typeface="ＭＳ Ｐゴシック" charset="0"/>
        </a:defRPr>
      </a:lvl5pPr>
      <a:lvl6pPr marL="457200" algn="ctr" rtl="0" fontAlgn="base">
        <a:spcBef>
          <a:spcPct val="0"/>
        </a:spcBef>
        <a:spcAft>
          <a:spcPct val="0"/>
        </a:spcAft>
        <a:defRPr sz="3200">
          <a:solidFill>
            <a:srgbClr val="FF0000"/>
          </a:solidFill>
          <a:latin typeface="Times New Roman" charset="0"/>
          <a:ea typeface="ＭＳ Ｐゴシック" charset="0"/>
        </a:defRPr>
      </a:lvl6pPr>
      <a:lvl7pPr marL="914400" algn="ctr" rtl="0" fontAlgn="base">
        <a:spcBef>
          <a:spcPct val="0"/>
        </a:spcBef>
        <a:spcAft>
          <a:spcPct val="0"/>
        </a:spcAft>
        <a:defRPr sz="3200">
          <a:solidFill>
            <a:srgbClr val="FF0000"/>
          </a:solidFill>
          <a:latin typeface="Times New Roman" charset="0"/>
          <a:ea typeface="ＭＳ Ｐゴシック" charset="0"/>
        </a:defRPr>
      </a:lvl7pPr>
      <a:lvl8pPr marL="1371600" algn="ctr" rtl="0" fontAlgn="base">
        <a:spcBef>
          <a:spcPct val="0"/>
        </a:spcBef>
        <a:spcAft>
          <a:spcPct val="0"/>
        </a:spcAft>
        <a:defRPr sz="3200">
          <a:solidFill>
            <a:srgbClr val="FF0000"/>
          </a:solidFill>
          <a:latin typeface="Times New Roman" charset="0"/>
          <a:ea typeface="ＭＳ Ｐゴシック" charset="0"/>
        </a:defRPr>
      </a:lvl8pPr>
      <a:lvl9pPr marL="1828800" algn="ctr" rtl="0" fontAlgn="base">
        <a:spcBef>
          <a:spcPct val="0"/>
        </a:spcBef>
        <a:spcAft>
          <a:spcPct val="0"/>
        </a:spcAft>
        <a:defRPr sz="3200">
          <a:solidFill>
            <a:srgbClr val="FF0000"/>
          </a:solidFill>
          <a:latin typeface="Times New Roman" charset="0"/>
          <a:ea typeface="ＭＳ Ｐゴシック" charset="0"/>
        </a:defRPr>
      </a:lvl9pPr>
    </p:titleStyle>
    <p:bodyStyle>
      <a:lvl1pPr marL="609600" indent="-609600" algn="l" rtl="0" eaLnBrk="0" fontAlgn="base" hangingPunct="0">
        <a:spcBef>
          <a:spcPct val="20000"/>
        </a:spcBef>
        <a:spcAft>
          <a:spcPct val="0"/>
        </a:spcAft>
        <a:buClr>
          <a:schemeClr val="accent2"/>
        </a:buClr>
        <a:buChar char="•"/>
        <a:defRPr sz="2400">
          <a:solidFill>
            <a:schemeClr val="tx1"/>
          </a:solidFill>
          <a:latin typeface="+mn-lt"/>
          <a:ea typeface="+mn-ea"/>
          <a:cs typeface="ＭＳ Ｐゴシック" charset="0"/>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ea typeface="+mn-ea"/>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ea typeface="+mn-ea"/>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ea typeface="+mn-ea"/>
        </a:defRPr>
      </a:lvl5pPr>
      <a:lvl6pPr marL="2667000" indent="-381000" algn="l" rtl="0" fontAlgn="base">
        <a:spcBef>
          <a:spcPct val="20000"/>
        </a:spcBef>
        <a:spcAft>
          <a:spcPct val="0"/>
        </a:spcAft>
        <a:buClr>
          <a:schemeClr val="accent2"/>
        </a:buClr>
        <a:buChar char="»"/>
        <a:defRPr sz="2000">
          <a:solidFill>
            <a:schemeClr val="tx1"/>
          </a:solidFill>
          <a:latin typeface="+mn-lt"/>
          <a:ea typeface="+mn-ea"/>
        </a:defRPr>
      </a:lvl6pPr>
      <a:lvl7pPr marL="3124200" indent="-381000" algn="l" rtl="0" fontAlgn="base">
        <a:spcBef>
          <a:spcPct val="20000"/>
        </a:spcBef>
        <a:spcAft>
          <a:spcPct val="0"/>
        </a:spcAft>
        <a:buClr>
          <a:schemeClr val="accent2"/>
        </a:buClr>
        <a:buChar char="»"/>
        <a:defRPr sz="2000">
          <a:solidFill>
            <a:schemeClr val="tx1"/>
          </a:solidFill>
          <a:latin typeface="+mn-lt"/>
          <a:ea typeface="+mn-ea"/>
        </a:defRPr>
      </a:lvl7pPr>
      <a:lvl8pPr marL="3581400" indent="-381000" algn="l" rtl="0" fontAlgn="base">
        <a:spcBef>
          <a:spcPct val="20000"/>
        </a:spcBef>
        <a:spcAft>
          <a:spcPct val="0"/>
        </a:spcAft>
        <a:buClr>
          <a:schemeClr val="accent2"/>
        </a:buClr>
        <a:buChar char="»"/>
        <a:defRPr sz="2000">
          <a:solidFill>
            <a:schemeClr val="tx1"/>
          </a:solidFill>
          <a:latin typeface="+mn-lt"/>
          <a:ea typeface="+mn-ea"/>
        </a:defRPr>
      </a:lvl8pPr>
      <a:lvl9pPr marL="4038600" indent="-381000" algn="l" rtl="0" fontAlgn="base">
        <a:spcBef>
          <a:spcPct val="20000"/>
        </a:spcBef>
        <a:spcAft>
          <a:spcPct val="0"/>
        </a:spcAft>
        <a:buClr>
          <a:schemeClr val="accent2"/>
        </a:buClr>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kern="0" dirty="0">
              <a:solidFill>
                <a:srgbClr val="FFFFFF"/>
              </a:solidFill>
            </a:endParaRPr>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kern="0" smtClean="0">
                <a:solidFill>
                  <a:srgbClr val="FFFFFF"/>
                </a:solidFill>
                <a:ea typeface="Arial"/>
                <a:cs typeface="Arial"/>
                <a:sym typeface="Arial"/>
              </a:rPr>
              <a:pPr algn="r">
                <a:buSzPct val="25000"/>
              </a:pPr>
              <a:t>‹#›</a:t>
            </a:fld>
            <a:endParaRPr lang="en-US" sz="900" kern="0" dirty="0">
              <a:solidFill>
                <a:srgbClr val="FFFFFF"/>
              </a:solidFil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591963" y="6429709"/>
            <a:ext cx="1223999" cy="279914"/>
          </a:xfrm>
          <a:prstGeom prst="rect">
            <a:avLst/>
          </a:prstGeom>
          <a:noFill/>
          <a:ln>
            <a:noFill/>
          </a:ln>
        </p:spPr>
      </p:pic>
      <p:sp>
        <p:nvSpPr>
          <p:cNvPr id="16" name="Shape 16"/>
          <p:cNvSpPr txBox="1"/>
          <p:nvPr/>
        </p:nvSpPr>
        <p:spPr>
          <a:xfrm>
            <a:off x="2133601" y="6429344"/>
            <a:ext cx="9550399" cy="200054"/>
          </a:xfrm>
          <a:prstGeom prst="rect">
            <a:avLst/>
          </a:prstGeom>
          <a:noFill/>
          <a:ln>
            <a:noFill/>
          </a:ln>
        </p:spPr>
        <p:txBody>
          <a:bodyPr lIns="91425" tIns="45700" rIns="91425" bIns="45700" anchor="t" anchorCtr="0">
            <a:noAutofit/>
          </a:bodyPr>
          <a:lstStyle/>
          <a:p>
            <a:pPr algn="r" fontAlgn="auto">
              <a:spcBef>
                <a:spcPts val="0"/>
              </a:spcBef>
              <a:spcAft>
                <a:spcPts val="0"/>
              </a:spcAft>
              <a:defRPr/>
            </a:pPr>
            <a:r>
              <a:rPr lang="en-US" altLang="en-US" sz="1200" kern="0" dirty="0">
                <a:solidFill>
                  <a:srgbClr val="000000"/>
                </a:solidFill>
                <a:latin typeface="Verdana"/>
                <a:ea typeface="Verdana" panose="020B0604030504040204" pitchFamily="34" charset="0"/>
                <a:cs typeface="Verdana" panose="020B0604030504040204" pitchFamily="34" charset="0"/>
                <a:sym typeface="Arial"/>
              </a:rPr>
              <a:t>Copyright © 2020, 2011, 2003 Pearson Education, Inc. All Rights Reserved</a:t>
            </a: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609600" y="6028612"/>
            <a:ext cx="109728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kern="0" dirty="0">
              <a:solidFill>
                <a:srgbClr val="000000">
                  <a:tint val="75000"/>
                </a:srgbClr>
              </a:solidFill>
              <a:ea typeface="Arial"/>
              <a:cs typeface="Arial"/>
              <a:sym typeface="Arial"/>
            </a:endParaRPr>
          </a:p>
        </p:txBody>
      </p:sp>
    </p:spTree>
    <p:extLst>
      <p:ext uri="{BB962C8B-B14F-4D97-AF65-F5344CB8AC3E}">
        <p14:creationId xmlns:p14="http://schemas.microsoft.com/office/powerpoint/2010/main" val="1847365173"/>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08000" y="304800"/>
            <a:ext cx="10972800" cy="106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524000" y="1828801"/>
            <a:ext cx="10058400" cy="4297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cs typeface="Arial" charset="0"/>
              </a:defRPr>
            </a:lvl1pPr>
          </a:lstStyle>
          <a:p>
            <a:pPr fontAlgn="base">
              <a:spcBef>
                <a:spcPct val="0"/>
              </a:spcBef>
              <a:spcAft>
                <a:spcPct val="0"/>
              </a:spcAft>
              <a:defRPr/>
            </a:pPr>
            <a:fld id="{7D033DA4-2DEB-674E-BF54-444A5E445EAC}" type="datetimeFigureOut">
              <a:rPr lang="en-US" kern="1200">
                <a:latin typeface="Times" charset="0"/>
                <a:ea typeface="ＭＳ Ｐゴシック" charset="0"/>
              </a:rPr>
              <a:pPr fontAlgn="base">
                <a:spcBef>
                  <a:spcPct val="0"/>
                </a:spcBef>
                <a:spcAft>
                  <a:spcPct val="0"/>
                </a:spcAft>
                <a:defRPr/>
              </a:pPr>
              <a:t>1/14/26</a:t>
            </a:fld>
            <a:endParaRPr lang="en-US" kern="1200">
              <a:latin typeface="Times" charset="0"/>
              <a:ea typeface="ＭＳ Ｐゴシック" charset="0"/>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cs typeface="Arial" charset="0"/>
              </a:defRPr>
            </a:lvl1pPr>
          </a:lstStyle>
          <a:p>
            <a:pPr fontAlgn="base">
              <a:spcBef>
                <a:spcPct val="0"/>
              </a:spcBef>
              <a:spcAft>
                <a:spcPct val="0"/>
              </a:spcAft>
              <a:defRPr/>
            </a:pPr>
            <a:endParaRPr lang="en-US" kern="1200">
              <a:latin typeface="Times" charset="0"/>
              <a:ea typeface="ＭＳ Ｐゴシック" charset="0"/>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fontAlgn="base">
              <a:spcBef>
                <a:spcPct val="0"/>
              </a:spcBef>
              <a:spcAft>
                <a:spcPct val="0"/>
              </a:spcAft>
              <a:defRPr/>
            </a:pPr>
            <a:fld id="{A37A8B47-9AA6-F440-968E-44059B628D67}" type="slidenum">
              <a:rPr lang="en-US" kern="1200">
                <a:latin typeface="Times" charset="0"/>
                <a:ea typeface="ＭＳ Ｐゴシック" charset="0"/>
              </a:rPr>
              <a:pPr fontAlgn="base">
                <a:spcBef>
                  <a:spcPct val="0"/>
                </a:spcBef>
                <a:spcAft>
                  <a:spcPct val="0"/>
                </a:spcAft>
                <a:defRPr/>
              </a:pPr>
              <a:t>‹#›</a:t>
            </a:fld>
            <a:endParaRPr lang="en-US" kern="1200">
              <a:latin typeface="Times" charset="0"/>
              <a:ea typeface="ＭＳ Ｐゴシック" charset="0"/>
            </a:endParaRPr>
          </a:p>
        </p:txBody>
      </p:sp>
      <p:sp>
        <p:nvSpPr>
          <p:cNvPr id="7" name="Footer Placeholder 4"/>
          <p:cNvSpPr txBox="1">
            <a:spLocks/>
          </p:cNvSpPr>
          <p:nvPr userDrawn="1"/>
        </p:nvSpPr>
        <p:spPr>
          <a:xfrm>
            <a:off x="0" y="6629400"/>
            <a:ext cx="12192000" cy="228600"/>
          </a:xfrm>
          <a:prstGeom prst="rect">
            <a:avLst/>
          </a:prstGeom>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fontAlgn="base" hangingPunct="1">
              <a:spcBef>
                <a:spcPct val="0"/>
              </a:spcBef>
              <a:spcAft>
                <a:spcPct val="0"/>
              </a:spcAft>
              <a:defRPr/>
            </a:pPr>
            <a:r>
              <a:rPr lang="en-US" sz="1200" i="1" kern="1200">
                <a:solidFill>
                  <a:prstClr val="black"/>
                </a:solidFill>
                <a:latin typeface="Times" charset="0"/>
              </a:rPr>
              <a:t>Computer Networks</a:t>
            </a:r>
            <a:r>
              <a:rPr lang="en-US" sz="1200" kern="1200">
                <a:solidFill>
                  <a:prstClr val="black"/>
                </a:solidFill>
                <a:latin typeface="Times" charset="0"/>
              </a:rPr>
              <a:t>, Fifth Edition by Andrew Tanenbaum and David Wetherall, © Pearson Education-Prentice Hall, 2011</a:t>
            </a:r>
          </a:p>
          <a:p>
            <a:pPr eaLnBrk="1" fontAlgn="base" hangingPunct="1">
              <a:spcBef>
                <a:spcPct val="0"/>
              </a:spcBef>
              <a:spcAft>
                <a:spcPct val="0"/>
              </a:spcAft>
              <a:defRPr/>
            </a:pPr>
            <a:endParaRPr lang="en-US" sz="1200" kern="1200">
              <a:solidFill>
                <a:prstClr val="black"/>
              </a:solidFill>
              <a:latin typeface="Times" charset="0"/>
            </a:endParaRPr>
          </a:p>
        </p:txBody>
      </p:sp>
    </p:spTree>
    <p:extLst>
      <p:ext uri="{BB962C8B-B14F-4D97-AF65-F5344CB8AC3E}">
        <p14:creationId xmlns:p14="http://schemas.microsoft.com/office/powerpoint/2010/main" val="342649689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txStyles>
    <p:titleStyle>
      <a:lvl1pPr algn="ctr" rtl="0" eaLnBrk="0" fontAlgn="base" hangingPunct="0">
        <a:spcBef>
          <a:spcPct val="0"/>
        </a:spcBef>
        <a:spcAft>
          <a:spcPct val="0"/>
        </a:spcAft>
        <a:defRPr lang="en-US" sz="3600" kern="1200" dirty="0">
          <a:solidFill>
            <a:srgbClr val="FF0000"/>
          </a:solidFill>
          <a:latin typeface="Times" charset="0"/>
          <a:ea typeface="ＭＳ Ｐゴシック" charset="0"/>
          <a:cs typeface="Times New Roman" pitchFamily="18" charset="0"/>
        </a:defRPr>
      </a:lvl1pPr>
      <a:lvl2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2pPr>
      <a:lvl3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3pPr>
      <a:lvl4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4pPr>
      <a:lvl5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5pPr>
      <a:lvl6pPr marL="457200" algn="ctr" rtl="0" fontAlgn="base">
        <a:spcBef>
          <a:spcPct val="0"/>
        </a:spcBef>
        <a:spcAft>
          <a:spcPct val="0"/>
        </a:spcAft>
        <a:defRPr sz="3600">
          <a:solidFill>
            <a:srgbClr val="FF0000"/>
          </a:solidFill>
          <a:latin typeface="Times New Roman" pitchFamily="18" charset="0"/>
          <a:cs typeface="Times New Roman" pitchFamily="18" charset="0"/>
        </a:defRPr>
      </a:lvl6pPr>
      <a:lvl7pPr marL="914400" algn="ctr" rtl="0" fontAlgn="base">
        <a:spcBef>
          <a:spcPct val="0"/>
        </a:spcBef>
        <a:spcAft>
          <a:spcPct val="0"/>
        </a:spcAft>
        <a:defRPr sz="3600">
          <a:solidFill>
            <a:srgbClr val="FF0000"/>
          </a:solidFill>
          <a:latin typeface="Times New Roman" pitchFamily="18" charset="0"/>
          <a:cs typeface="Times New Roman" pitchFamily="18" charset="0"/>
        </a:defRPr>
      </a:lvl7pPr>
      <a:lvl8pPr marL="1371600" algn="ctr" rtl="0" fontAlgn="base">
        <a:spcBef>
          <a:spcPct val="0"/>
        </a:spcBef>
        <a:spcAft>
          <a:spcPct val="0"/>
        </a:spcAft>
        <a:defRPr sz="3600">
          <a:solidFill>
            <a:srgbClr val="FF0000"/>
          </a:solidFill>
          <a:latin typeface="Times New Roman" pitchFamily="18" charset="0"/>
          <a:cs typeface="Times New Roman" pitchFamily="18" charset="0"/>
        </a:defRPr>
      </a:lvl8pPr>
      <a:lvl9pPr marL="1828800" algn="ctr" rtl="0" fontAlgn="base">
        <a:spcBef>
          <a:spcPct val="0"/>
        </a:spcBef>
        <a:spcAft>
          <a:spcPct val="0"/>
        </a:spcAft>
        <a:defRPr sz="3600">
          <a:solidFill>
            <a:srgbClr val="FF0000"/>
          </a:solidFill>
          <a:latin typeface="Times New Roman" pitchFamily="18" charset="0"/>
          <a:cs typeface="Times New Roman" pitchFamily="18" charset="0"/>
        </a:defRPr>
      </a:lvl9pPr>
    </p:titleStyle>
    <p:bodyStyle>
      <a:lvl1pPr marL="342900" indent="-342900" algn="l" rtl="0" eaLnBrk="0" fontAlgn="base" hangingPunct="0">
        <a:spcBef>
          <a:spcPct val="20000"/>
        </a:spcBef>
        <a:spcAft>
          <a:spcPct val="0"/>
        </a:spcAft>
        <a:buClr>
          <a:srgbClr val="0000CC"/>
        </a:buClr>
        <a:buFont typeface="Arial" charset="0"/>
        <a:buChar char="•"/>
        <a:defRPr sz="3200" kern="1200">
          <a:solidFill>
            <a:schemeClr val="tx1"/>
          </a:solidFill>
          <a:latin typeface="Times" charset="0"/>
          <a:ea typeface="ＭＳ Ｐゴシック" charset="0"/>
          <a:cs typeface="Times New Roman" pitchFamily="18"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Times" charset="0"/>
          <a:ea typeface="Times New Roman" charset="0"/>
          <a:cs typeface="Times New Roman" pitchFamily="18"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Times" charset="0"/>
          <a:ea typeface="Times New Roman" charset="0"/>
          <a:cs typeface="Times New Roman" pitchFamily="18"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Times" charset="0"/>
          <a:ea typeface="Times New Roman" charset="0"/>
          <a:cs typeface="Times New Roman" pitchFamily="18"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Times" charset="0"/>
          <a:ea typeface="Times New Roman" charset="0"/>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7.xml"/></Relationships>
</file>

<file path=ppt/slides/_rels/slide74.xml.rels><?xml version="1.0" encoding="UTF-8" standalone="yes"?>
<Relationships xmlns="http://schemas.openxmlformats.org/package/2006/relationships"><Relationship Id="rId3" Type="http://schemas.openxmlformats.org/officeDocument/2006/relationships/hyperlink" Target="https://en.wikipedia.org/wiki/Mathematical_model_of_computation" TargetMode="External"/><Relationship Id="rId2" Type="http://schemas.openxmlformats.org/officeDocument/2006/relationships/notesSlide" Target="../notesSlides/notesSlide63.xml"/><Relationship Id="rId1" Type="http://schemas.openxmlformats.org/officeDocument/2006/relationships/slideLayout" Target="../slideLayouts/slideLayout27.xml"/><Relationship Id="rId5" Type="http://schemas.openxmlformats.org/officeDocument/2006/relationships/hyperlink" Target="https://en.wikipedia.org/wiki/Turing_machine%23cite_note-1" TargetMode="External"/><Relationship Id="rId4" Type="http://schemas.openxmlformats.org/officeDocument/2006/relationships/hyperlink" Target="https://en.wikipedia.org/wiki/Abstract_machine"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92F90-FB0C-A1E9-CC4C-4A19C4143CF9}"/>
              </a:ext>
            </a:extLst>
          </p:cNvPr>
          <p:cNvSpPr>
            <a:spLocks noGrp="1"/>
          </p:cNvSpPr>
          <p:nvPr>
            <p:ph type="ctrTitle"/>
          </p:nvPr>
        </p:nvSpPr>
        <p:spPr/>
        <p:txBody>
          <a:bodyPr>
            <a:normAutofit/>
          </a:bodyPr>
          <a:lstStyle/>
          <a:p>
            <a:r>
              <a:rPr lang="en-US" sz="3600" dirty="0">
                <a:latin typeface="Times New Roman" panose="02020603050405020304" pitchFamily="18" charset="0"/>
                <a:cs typeface="Times New Roman" panose="02020603050405020304" pitchFamily="18" charset="0"/>
              </a:rPr>
              <a:t>The General Theory of</a:t>
            </a:r>
            <a:br>
              <a:rPr lang="en-US" sz="3600" dirty="0">
                <a:latin typeface="Times New Roman" panose="02020603050405020304" pitchFamily="18" charset="0"/>
                <a:cs typeface="Times New Roman" panose="02020603050405020304" pitchFamily="18" charset="0"/>
              </a:rPr>
            </a:br>
            <a:r>
              <a:rPr lang="en-US" sz="3600">
                <a:latin typeface="Times New Roman" panose="02020603050405020304" pitchFamily="18" charset="0"/>
                <a:cs typeface="Times New Roman" panose="02020603050405020304" pitchFamily="18" charset="0"/>
              </a:rPr>
              <a:t>Data Transfer</a:t>
            </a:r>
            <a:endParaRPr lang="en-US"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CA8D95A-8875-E9D7-ED6D-C7340A3AE0B5}"/>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John Day</a:t>
            </a:r>
          </a:p>
          <a:p>
            <a:r>
              <a:rPr lang="en-US" dirty="0">
                <a:latin typeface="Times New Roman" panose="02020603050405020304" pitchFamily="18" charset="0"/>
                <a:cs typeface="Times New Roman" panose="02020603050405020304" pitchFamily="18" charset="0"/>
              </a:rPr>
              <a:t>2024</a:t>
            </a:r>
          </a:p>
        </p:txBody>
      </p:sp>
    </p:spTree>
    <p:extLst>
      <p:ext uri="{BB962C8B-B14F-4D97-AF65-F5344CB8AC3E}">
        <p14:creationId xmlns:p14="http://schemas.microsoft.com/office/powerpoint/2010/main" val="3630185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defRPr/>
            </a:pPr>
            <a:r>
              <a:rPr lang="en-US" dirty="0">
                <a:solidFill>
                  <a:srgbClr val="000000"/>
                </a:solidFill>
                <a:cs typeface="+mj-cs"/>
              </a:rPr>
              <a:t>Two Kinds of Protocol</a:t>
            </a:r>
          </a:p>
        </p:txBody>
      </p:sp>
      <p:sp>
        <p:nvSpPr>
          <p:cNvPr id="52227" name="Rectangle 3"/>
          <p:cNvSpPr>
            <a:spLocks noGrp="1" noChangeArrowheads="1"/>
          </p:cNvSpPr>
          <p:nvPr>
            <p:ph type="body" idx="1"/>
          </p:nvPr>
        </p:nvSpPr>
        <p:spPr>
          <a:xfrm>
            <a:off x="2089150" y="1401764"/>
            <a:ext cx="8013700" cy="4054475"/>
          </a:xfrm>
        </p:spPr>
        <p:txBody>
          <a:bodyPr/>
          <a:lstStyle/>
          <a:p>
            <a:pPr eaLnBrk="1" hangingPunct="1">
              <a:defRPr/>
            </a:pPr>
            <a:r>
              <a:rPr lang="en-US" dirty="0">
                <a:cs typeface="+mn-cs"/>
              </a:rPr>
              <a:t>Two kinds of Protocol</a:t>
            </a:r>
          </a:p>
          <a:p>
            <a:pPr lvl="1" eaLnBrk="1" hangingPunct="1">
              <a:defRPr/>
            </a:pPr>
            <a:r>
              <a:rPr lang="en-US" dirty="0"/>
              <a:t>Application Protocols</a:t>
            </a:r>
          </a:p>
          <a:p>
            <a:pPr lvl="1" eaLnBrk="1" hangingPunct="1">
              <a:defRPr/>
            </a:pPr>
            <a:r>
              <a:rPr lang="en-US" dirty="0"/>
              <a:t>Data Transfer Protocols</a:t>
            </a:r>
          </a:p>
          <a:p>
            <a:pPr eaLnBrk="1" hangingPunct="1">
              <a:defRPr/>
            </a:pPr>
            <a:r>
              <a:rPr lang="en-US" dirty="0">
                <a:cs typeface="+mn-cs"/>
              </a:rPr>
              <a:t>Both are concerned with establishing and maintaining shared state.</a:t>
            </a:r>
          </a:p>
          <a:p>
            <a:pPr lvl="1" eaLnBrk="1" hangingPunct="1">
              <a:defRPr/>
            </a:pPr>
            <a:r>
              <a:rPr lang="en-US" dirty="0"/>
              <a:t>Application Protocols affect the state of objects external to the protocol.</a:t>
            </a:r>
          </a:p>
          <a:p>
            <a:pPr lvl="1" eaLnBrk="1" hangingPunct="1">
              <a:defRPr/>
            </a:pPr>
            <a:r>
              <a:rPr lang="en-US" dirty="0"/>
              <a:t>Data Transfer Protocols affect the state of objects internal to the protocol.</a:t>
            </a:r>
          </a:p>
          <a:p>
            <a:pPr>
              <a:defRPr/>
            </a:pPr>
            <a:r>
              <a:rPr lang="en-US" dirty="0"/>
              <a:t>Application protocols are concerned with performing a small number of fundamental operations remotely on objects external to the protocol.</a:t>
            </a:r>
          </a:p>
          <a:p>
            <a:pPr lvl="1">
              <a:defRPr/>
            </a:pPr>
            <a:r>
              <a:rPr lang="en-US" dirty="0"/>
              <a:t>Covered later.</a:t>
            </a:r>
          </a:p>
          <a:p>
            <a:pPr>
              <a:defRPr/>
            </a:pPr>
            <a:r>
              <a:rPr lang="en-US" dirty="0"/>
              <a:t>Our concern here is data transfer protocols.</a:t>
            </a:r>
          </a:p>
          <a:p>
            <a:pPr eaLnBrk="1" hangingPunct="1">
              <a:defRPr/>
            </a:pPr>
            <a:endParaRPr lang="en-US" dirty="0">
              <a:cs typeface="+mn-cs"/>
            </a:endParaRPr>
          </a:p>
          <a:p>
            <a:pPr eaLnBrk="1" hangingPunct="1">
              <a:defRPr/>
            </a:pPr>
            <a:endParaRPr lang="en-US" dirty="0">
              <a:cs typeface="+mn-cs"/>
            </a:endParaRPr>
          </a:p>
        </p:txBody>
      </p:sp>
      <p:sp>
        <p:nvSpPr>
          <p:cNvPr id="52228"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a:solidFill>
                  <a:srgbClr val="000000"/>
                </a:solidFill>
                <a:latin typeface="Arial"/>
                <a:ea typeface="ＭＳ Ｐゴシック" charset="0"/>
                <a:cs typeface="ＭＳ Ｐゴシック" charset="0"/>
              </a:rPr>
              <a:t>©   John Day, All Rights Reserved, 2009</a:t>
            </a:r>
          </a:p>
        </p:txBody>
      </p:sp>
    </p:spTree>
    <p:extLst>
      <p:ext uri="{BB962C8B-B14F-4D97-AF65-F5344CB8AC3E}">
        <p14:creationId xmlns:p14="http://schemas.microsoft.com/office/powerpoint/2010/main" val="280329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C017-9AAB-8B7C-0536-7F65BE3941B6}"/>
              </a:ext>
            </a:extLst>
          </p:cNvPr>
          <p:cNvSpPr>
            <a:spLocks noGrp="1"/>
          </p:cNvSpPr>
          <p:nvPr>
            <p:ph type="title"/>
          </p:nvPr>
        </p:nvSpPr>
        <p:spPr/>
        <p:txBody>
          <a:bodyPr/>
          <a:lstStyle/>
          <a:p>
            <a:r>
              <a:rPr lang="en-US" dirty="0"/>
              <a:t>The Structure of the Layer</a:t>
            </a:r>
          </a:p>
        </p:txBody>
      </p:sp>
      <p:sp>
        <p:nvSpPr>
          <p:cNvPr id="3" name="Content Placeholder 2">
            <a:extLst>
              <a:ext uri="{FF2B5EF4-FFF2-40B4-BE49-F238E27FC236}">
                <a16:creationId xmlns:a16="http://schemas.microsoft.com/office/drawing/2014/main" id="{B1A83F12-3600-16F7-B7AF-0E3A63F8DA1A}"/>
              </a:ext>
            </a:extLst>
          </p:cNvPr>
          <p:cNvSpPr>
            <a:spLocks noGrp="1"/>
          </p:cNvSpPr>
          <p:nvPr>
            <p:ph idx="1"/>
          </p:nvPr>
        </p:nvSpPr>
        <p:spPr/>
        <p:txBody>
          <a:bodyPr/>
          <a:lstStyle/>
          <a:p>
            <a:r>
              <a:rPr lang="en-US" dirty="0"/>
              <a:t>While much of our focus in a layer will be on the Protocol, it is important to recognize that there is more to a layer than just the protocol.</a:t>
            </a:r>
          </a:p>
          <a:p>
            <a:pPr lvl="2"/>
            <a:r>
              <a:rPr lang="en-US" sz="1800" dirty="0"/>
              <a:t>OSI recognized this by defining (N)-subsystem as the intersection of a system and a layer.</a:t>
            </a:r>
          </a:p>
          <a:p>
            <a:pPr lvl="2"/>
            <a:r>
              <a:rPr lang="en-US" sz="1800" dirty="0"/>
              <a:t>Here we will call it an IPC Process and consider it a Process just like an Application Process, which may or may not be in the kernel of the OS.</a:t>
            </a:r>
          </a:p>
          <a:p>
            <a:pPr lvl="3"/>
            <a:r>
              <a:rPr lang="en-US" sz="1600" dirty="0"/>
              <a:t>An IPC Process has no special properties. The term is merely used to keep the language from being cumbersome when distinguishing Processes in layers doing IPC and Processes elsewhere.</a:t>
            </a:r>
          </a:p>
          <a:p>
            <a:pPr lvl="1"/>
            <a:r>
              <a:rPr lang="en-US" sz="2000" dirty="0"/>
              <a:t>One of the important results from the OSI work came from determining the nature of the bounds of the OSI Model.</a:t>
            </a:r>
          </a:p>
          <a:p>
            <a:pPr lvl="2"/>
            <a:r>
              <a:rPr lang="en-US" sz="1800" dirty="0"/>
              <a:t>The only technical insight of any kind I have ever known to arise from a political turf question.</a:t>
            </a:r>
          </a:p>
          <a:p>
            <a:pPr lvl="3"/>
            <a:r>
              <a:rPr lang="en-US" sz="1600" dirty="0"/>
              <a:t>And this one is </a:t>
            </a:r>
            <a:r>
              <a:rPr lang="en-US" sz="1600"/>
              <a:t>very important. </a:t>
            </a:r>
          </a:p>
        </p:txBody>
      </p:sp>
    </p:spTree>
    <p:extLst>
      <p:ext uri="{BB962C8B-B14F-4D97-AF65-F5344CB8AC3E}">
        <p14:creationId xmlns:p14="http://schemas.microsoft.com/office/powerpoint/2010/main" val="4085924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2209800" y="381000"/>
            <a:ext cx="7772400" cy="1143000"/>
          </a:xfrm>
        </p:spPr>
        <p:txBody>
          <a:bodyPr/>
          <a:lstStyle/>
          <a:p>
            <a:pPr eaLnBrk="1" hangingPunct="1">
              <a:defRPr/>
            </a:pPr>
            <a:r>
              <a:rPr lang="en-US">
                <a:solidFill>
                  <a:schemeClr val="tx1"/>
                </a:solidFill>
                <a:cs typeface="+mj-cs"/>
              </a:rPr>
              <a:t>The Nature of Application Processes</a:t>
            </a:r>
          </a:p>
        </p:txBody>
      </p:sp>
      <p:sp>
        <p:nvSpPr>
          <p:cNvPr id="177155" name="Rectangle 3"/>
          <p:cNvSpPr>
            <a:spLocks noGrp="1" noChangeArrowheads="1"/>
          </p:cNvSpPr>
          <p:nvPr>
            <p:ph type="body" idx="1"/>
          </p:nvPr>
        </p:nvSpPr>
        <p:spPr>
          <a:xfrm>
            <a:off x="2133600" y="1524000"/>
            <a:ext cx="8077200" cy="2438400"/>
          </a:xfrm>
        </p:spPr>
        <p:txBody>
          <a:bodyPr/>
          <a:lstStyle/>
          <a:p>
            <a:pPr marL="342900" indent="-342900" eaLnBrk="1" hangingPunct="1">
              <a:defRPr/>
            </a:pPr>
            <a:r>
              <a:rPr lang="en-US" sz="1800" dirty="0">
                <a:cs typeface="+mn-cs"/>
              </a:rPr>
              <a:t>Was the Application process inside or outside OSI?</a:t>
            </a:r>
          </a:p>
          <a:p>
            <a:pPr marL="742950" lvl="1" indent="-285750" eaLnBrk="1" hangingPunct="1">
              <a:defRPr/>
            </a:pPr>
            <a:r>
              <a:rPr lang="en-US" sz="1600" dirty="0"/>
              <a:t>Why do we care? Partly a turf question, but it turns out to be much more. </a:t>
            </a:r>
          </a:p>
          <a:p>
            <a:pPr marL="342900" indent="-342900" eaLnBrk="1" hangingPunct="1">
              <a:defRPr/>
            </a:pPr>
            <a:endParaRPr lang="en-US" sz="1800" dirty="0">
              <a:cs typeface="+mn-cs"/>
            </a:endParaRPr>
          </a:p>
          <a:p>
            <a:pPr marL="342900" indent="-342900" eaLnBrk="1" hangingPunct="1">
              <a:defRPr/>
            </a:pPr>
            <a:endParaRPr lang="en-US" sz="1800" dirty="0">
              <a:cs typeface="+mn-cs"/>
            </a:endParaRPr>
          </a:p>
          <a:p>
            <a:pPr marL="342900" indent="-342900" eaLnBrk="1" hangingPunct="1">
              <a:defRPr/>
            </a:pPr>
            <a:endParaRPr lang="en-US" sz="1800" dirty="0">
              <a:cs typeface="+mn-cs"/>
            </a:endParaRPr>
          </a:p>
          <a:p>
            <a:pPr marL="342900" indent="-342900" eaLnBrk="1" hangingPunct="1">
              <a:defRPr/>
            </a:pPr>
            <a:endParaRPr lang="en-US" sz="1800" dirty="0">
              <a:cs typeface="+mn-cs"/>
            </a:endParaRPr>
          </a:p>
          <a:p>
            <a:pPr marL="342900" indent="-342900" eaLnBrk="1" hangingPunct="1">
              <a:defRPr/>
            </a:pPr>
            <a:endParaRPr lang="en-US" sz="1800" dirty="0">
              <a:cs typeface="+mn-cs"/>
            </a:endParaRPr>
          </a:p>
          <a:p>
            <a:pPr marL="342900" indent="-342900" eaLnBrk="1" hangingPunct="1">
              <a:defRPr/>
            </a:pPr>
            <a:endParaRPr lang="en-US" sz="1800" dirty="0">
              <a:cs typeface="+mn-cs"/>
            </a:endParaRPr>
          </a:p>
          <a:p>
            <a:pPr marL="742950" lvl="1" indent="-285750" eaLnBrk="1" hangingPunct="1">
              <a:defRPr/>
            </a:pPr>
            <a:r>
              <a:rPr lang="en-US" sz="1600" dirty="0"/>
              <a:t>Answer: The Application is on the line!</a:t>
            </a:r>
          </a:p>
          <a:p>
            <a:pPr marL="1143000" lvl="2" indent="-228600" eaLnBrk="1" hangingPunct="1">
              <a:defRPr/>
            </a:pPr>
            <a:r>
              <a:rPr lang="en-US" sz="1400" dirty="0"/>
              <a:t>What looks like yet another compromise is really a very fundamental result.</a:t>
            </a:r>
          </a:p>
          <a:p>
            <a:pPr marL="742950" lvl="1" indent="-285750" eaLnBrk="1" hangingPunct="1">
              <a:defRPr/>
            </a:pPr>
            <a:r>
              <a:rPr lang="en-US" sz="1600" dirty="0"/>
              <a:t>Otherwise, there is an infinite regress.  Early applications were special cases.</a:t>
            </a:r>
          </a:p>
          <a:p>
            <a:pPr marL="742950" lvl="1" indent="-285750" eaLnBrk="1" hangingPunct="1">
              <a:defRPr/>
            </a:pPr>
            <a:r>
              <a:rPr lang="en-US" sz="1600" dirty="0"/>
              <a:t>The operating system analog wasn</a:t>
            </a:r>
            <a:r>
              <a:rPr lang="en-US" sz="1600" dirty="0">
                <a:latin typeface="Arial"/>
              </a:rPr>
              <a:t>'</a:t>
            </a:r>
            <a:r>
              <a:rPr lang="en-US" sz="1600" dirty="0"/>
              <a:t>t rich enough.</a:t>
            </a:r>
          </a:p>
        </p:txBody>
      </p:sp>
      <p:grpSp>
        <p:nvGrpSpPr>
          <p:cNvPr id="177156" name="Group 4"/>
          <p:cNvGrpSpPr>
            <a:grpSpLocks/>
          </p:cNvGrpSpPr>
          <p:nvPr/>
        </p:nvGrpSpPr>
        <p:grpSpPr bwMode="auto">
          <a:xfrm>
            <a:off x="2552700" y="2286000"/>
            <a:ext cx="7086600" cy="1752600"/>
            <a:chOff x="648" y="1440"/>
            <a:chExt cx="4464" cy="1104"/>
          </a:xfrm>
        </p:grpSpPr>
        <p:grpSp>
          <p:nvGrpSpPr>
            <p:cNvPr id="30730" name="Group 5"/>
            <p:cNvGrpSpPr>
              <a:grpSpLocks/>
            </p:cNvGrpSpPr>
            <p:nvPr/>
          </p:nvGrpSpPr>
          <p:grpSpPr bwMode="auto">
            <a:xfrm>
              <a:off x="4200" y="1728"/>
              <a:ext cx="912" cy="816"/>
              <a:chOff x="4320" y="1872"/>
              <a:chExt cx="912" cy="816"/>
            </a:xfrm>
          </p:grpSpPr>
          <p:sp>
            <p:nvSpPr>
              <p:cNvPr id="177158" name="Oval 6"/>
              <p:cNvSpPr>
                <a:spLocks noChangeArrowheads="1"/>
              </p:cNvSpPr>
              <p:nvPr/>
            </p:nvSpPr>
            <p:spPr bwMode="auto">
              <a:xfrm flipH="1">
                <a:off x="4464" y="1872"/>
                <a:ext cx="288" cy="264"/>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nvGrpSpPr>
              <p:cNvPr id="30738" name="Group 7"/>
              <p:cNvGrpSpPr>
                <a:grpSpLocks/>
              </p:cNvGrpSpPr>
              <p:nvPr/>
            </p:nvGrpSpPr>
            <p:grpSpPr bwMode="auto">
              <a:xfrm>
                <a:off x="4320" y="1872"/>
                <a:ext cx="912" cy="816"/>
                <a:chOff x="1056" y="2400"/>
                <a:chExt cx="912" cy="816"/>
              </a:xfrm>
            </p:grpSpPr>
            <p:sp>
              <p:nvSpPr>
                <p:cNvPr id="177160" name="Rectangle 8"/>
                <p:cNvSpPr>
                  <a:spLocks noChangeArrowheads="1"/>
                </p:cNvSpPr>
                <p:nvPr/>
              </p:nvSpPr>
              <p:spPr bwMode="auto">
                <a:xfrm>
                  <a:off x="1056" y="2400"/>
                  <a:ext cx="912" cy="81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7161" name="Line 9"/>
                <p:cNvSpPr>
                  <a:spLocks noChangeShapeType="1"/>
                </p:cNvSpPr>
                <p:nvPr/>
              </p:nvSpPr>
              <p:spPr bwMode="auto">
                <a:xfrm>
                  <a:off x="1056" y="2688"/>
                  <a:ext cx="91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7162" name="Line 10"/>
                <p:cNvSpPr>
                  <a:spLocks noChangeShapeType="1"/>
                </p:cNvSpPr>
                <p:nvPr/>
              </p:nvSpPr>
              <p:spPr bwMode="auto">
                <a:xfrm>
                  <a:off x="1056" y="2928"/>
                  <a:ext cx="91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nvGrpSpPr>
            <p:cNvPr id="30731" name="Group 11"/>
            <p:cNvGrpSpPr>
              <a:grpSpLocks/>
            </p:cNvGrpSpPr>
            <p:nvPr/>
          </p:nvGrpSpPr>
          <p:grpSpPr bwMode="auto">
            <a:xfrm>
              <a:off x="648" y="1440"/>
              <a:ext cx="912" cy="1104"/>
              <a:chOff x="768" y="1632"/>
              <a:chExt cx="912" cy="1104"/>
            </a:xfrm>
          </p:grpSpPr>
          <p:grpSp>
            <p:nvGrpSpPr>
              <p:cNvPr id="30732" name="Group 12"/>
              <p:cNvGrpSpPr>
                <a:grpSpLocks/>
              </p:cNvGrpSpPr>
              <p:nvPr/>
            </p:nvGrpSpPr>
            <p:grpSpPr bwMode="auto">
              <a:xfrm>
                <a:off x="768" y="1920"/>
                <a:ext cx="912" cy="816"/>
                <a:chOff x="1056" y="2400"/>
                <a:chExt cx="912" cy="816"/>
              </a:xfrm>
            </p:grpSpPr>
            <p:sp>
              <p:nvSpPr>
                <p:cNvPr id="177165" name="Rectangle 13"/>
                <p:cNvSpPr>
                  <a:spLocks noChangeArrowheads="1"/>
                </p:cNvSpPr>
                <p:nvPr/>
              </p:nvSpPr>
              <p:spPr bwMode="auto">
                <a:xfrm>
                  <a:off x="1056" y="2400"/>
                  <a:ext cx="912" cy="81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7166" name="Line 14"/>
                <p:cNvSpPr>
                  <a:spLocks noChangeShapeType="1"/>
                </p:cNvSpPr>
                <p:nvPr/>
              </p:nvSpPr>
              <p:spPr bwMode="auto">
                <a:xfrm>
                  <a:off x="1056" y="2688"/>
                  <a:ext cx="91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7167" name="Line 15"/>
                <p:cNvSpPr>
                  <a:spLocks noChangeShapeType="1"/>
                </p:cNvSpPr>
                <p:nvPr/>
              </p:nvSpPr>
              <p:spPr bwMode="auto">
                <a:xfrm>
                  <a:off x="1056" y="2928"/>
                  <a:ext cx="91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177168" name="Oval 16"/>
              <p:cNvSpPr>
                <a:spLocks noChangeArrowheads="1"/>
              </p:cNvSpPr>
              <p:nvPr/>
            </p:nvSpPr>
            <p:spPr bwMode="auto">
              <a:xfrm flipH="1">
                <a:off x="816" y="1632"/>
                <a:ext cx="288" cy="264"/>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nvGrpSpPr>
          <p:cNvPr id="177169" name="Group 17"/>
          <p:cNvGrpSpPr>
            <a:grpSpLocks/>
          </p:cNvGrpSpPr>
          <p:nvPr/>
        </p:nvGrpSpPr>
        <p:grpSpPr bwMode="auto">
          <a:xfrm>
            <a:off x="5372100" y="2514600"/>
            <a:ext cx="1447800" cy="1524000"/>
            <a:chOff x="2592" y="1776"/>
            <a:chExt cx="912" cy="960"/>
          </a:xfrm>
        </p:grpSpPr>
        <p:grpSp>
          <p:nvGrpSpPr>
            <p:cNvPr id="30725" name="Group 18"/>
            <p:cNvGrpSpPr>
              <a:grpSpLocks/>
            </p:cNvGrpSpPr>
            <p:nvPr/>
          </p:nvGrpSpPr>
          <p:grpSpPr bwMode="auto">
            <a:xfrm>
              <a:off x="2592" y="1920"/>
              <a:ext cx="912" cy="816"/>
              <a:chOff x="1056" y="2400"/>
              <a:chExt cx="912" cy="816"/>
            </a:xfrm>
          </p:grpSpPr>
          <p:sp>
            <p:nvSpPr>
              <p:cNvPr id="177171" name="Rectangle 19"/>
              <p:cNvSpPr>
                <a:spLocks noChangeArrowheads="1"/>
              </p:cNvSpPr>
              <p:nvPr/>
            </p:nvSpPr>
            <p:spPr bwMode="auto">
              <a:xfrm>
                <a:off x="1056" y="2400"/>
                <a:ext cx="912" cy="81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7172" name="Line 20"/>
              <p:cNvSpPr>
                <a:spLocks noChangeShapeType="1"/>
              </p:cNvSpPr>
              <p:nvPr/>
            </p:nvSpPr>
            <p:spPr bwMode="auto">
              <a:xfrm>
                <a:off x="1056" y="2688"/>
                <a:ext cx="91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7173" name="Line 21"/>
              <p:cNvSpPr>
                <a:spLocks noChangeShapeType="1"/>
              </p:cNvSpPr>
              <p:nvPr/>
            </p:nvSpPr>
            <p:spPr bwMode="auto">
              <a:xfrm>
                <a:off x="1056" y="2928"/>
                <a:ext cx="91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177174" name="Oval 22"/>
            <p:cNvSpPr>
              <a:spLocks noChangeArrowheads="1"/>
            </p:cNvSpPr>
            <p:nvPr/>
          </p:nvSpPr>
          <p:spPr bwMode="auto">
            <a:xfrm flipH="1">
              <a:off x="2736" y="1776"/>
              <a:ext cx="288" cy="264"/>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77155">
                                            <p:txEl>
                                              <p:pRg st="0" end="0"/>
                                            </p:txEl>
                                          </p:spTgt>
                                        </p:tgtEl>
                                        <p:attrNameLst>
                                          <p:attrName>style.visibility</p:attrName>
                                        </p:attrNameLst>
                                      </p:cBhvr>
                                      <p:to>
                                        <p:strVal val="visible"/>
                                      </p:to>
                                    </p:set>
                                    <p:animEffect transition="in" filter="fade">
                                      <p:cBhvr>
                                        <p:cTn id="7" dur="1000"/>
                                        <p:tgtEl>
                                          <p:spTgt spid="177155">
                                            <p:txEl>
                                              <p:pRg st="0" end="0"/>
                                            </p:txEl>
                                          </p:spTgt>
                                        </p:tgtEl>
                                      </p:cBhvr>
                                    </p:animEffect>
                                    <p:anim calcmode="lin" valueType="num">
                                      <p:cBhvr>
                                        <p:cTn id="8" dur="1000" fill="hold"/>
                                        <p:tgtEl>
                                          <p:spTgt spid="1771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7155">
                                            <p:txEl>
                                              <p:pRg st="0" end="0"/>
                                            </p:txEl>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77155">
                                            <p:txEl>
                                              <p:pRg st="1" end="1"/>
                                            </p:txEl>
                                          </p:spTgt>
                                        </p:tgtEl>
                                        <p:attrNameLst>
                                          <p:attrName>style.visibility</p:attrName>
                                        </p:attrNameLst>
                                      </p:cBhvr>
                                      <p:to>
                                        <p:strVal val="visible"/>
                                      </p:to>
                                    </p:set>
                                    <p:animEffect transition="in" filter="fade">
                                      <p:cBhvr>
                                        <p:cTn id="12" dur="1000"/>
                                        <p:tgtEl>
                                          <p:spTgt spid="177155">
                                            <p:txEl>
                                              <p:pRg st="1" end="1"/>
                                            </p:txEl>
                                          </p:spTgt>
                                        </p:tgtEl>
                                      </p:cBhvr>
                                    </p:animEffect>
                                    <p:anim calcmode="lin" valueType="num">
                                      <p:cBhvr>
                                        <p:cTn id="13" dur="1000" fill="hold"/>
                                        <p:tgtEl>
                                          <p:spTgt spid="17715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7155">
                                            <p:txEl>
                                              <p:pRg st="1" end="1"/>
                                            </p:txEl>
                                          </p:spTgt>
                                        </p:tgtEl>
                                        <p:attrNameLst>
                                          <p:attrName>ppt_y</p:attrName>
                                        </p:attrNameLst>
                                      </p:cBhvr>
                                      <p:tavLst>
                                        <p:tav tm="0">
                                          <p:val>
                                            <p:strVal val="#ppt_y-.1"/>
                                          </p:val>
                                        </p:tav>
                                        <p:tav tm="100000">
                                          <p:val>
                                            <p:strVal val="#ppt_y"/>
                                          </p:val>
                                        </p:tav>
                                      </p:tavLst>
                                    </p:anim>
                                  </p:childTnLst>
                                </p:cTn>
                              </p:par>
                              <p:par>
                                <p:cTn id="15" presetID="1" presetClass="entr" presetSubtype="0" fill="hold" nodeType="withEffect">
                                  <p:stCondLst>
                                    <p:cond delay="0"/>
                                  </p:stCondLst>
                                  <p:childTnLst>
                                    <p:set>
                                      <p:cBhvr>
                                        <p:cTn id="16" dur="1" fill="hold">
                                          <p:stCondLst>
                                            <p:cond delay="0"/>
                                          </p:stCondLst>
                                        </p:cTn>
                                        <p:tgtEl>
                                          <p:spTgt spid="177156"/>
                                        </p:tgtEl>
                                        <p:attrNameLst>
                                          <p:attrName>style.visibility</p:attrName>
                                        </p:attrNameLst>
                                      </p:cBhvr>
                                      <p:to>
                                        <p:strVal val="visible"/>
                                      </p:to>
                                    </p:set>
                                  </p:childTnLst>
                                </p:cTn>
                              </p:par>
                              <p:par>
                                <p:cTn id="17" presetID="47" presetClass="entr" presetSubtype="0" fill="hold" grpId="0" nodeType="withEffect">
                                  <p:stCondLst>
                                    <p:cond delay="0"/>
                                  </p:stCondLst>
                                  <p:childTnLst>
                                    <p:set>
                                      <p:cBhvr>
                                        <p:cTn id="18" dur="1" fill="hold">
                                          <p:stCondLst>
                                            <p:cond delay="0"/>
                                          </p:stCondLst>
                                        </p:cTn>
                                        <p:tgtEl>
                                          <p:spTgt spid="177155">
                                            <p:txEl>
                                              <p:pRg st="8" end="8"/>
                                            </p:txEl>
                                          </p:spTgt>
                                        </p:tgtEl>
                                        <p:attrNameLst>
                                          <p:attrName>style.visibility</p:attrName>
                                        </p:attrNameLst>
                                      </p:cBhvr>
                                      <p:to>
                                        <p:strVal val="visible"/>
                                      </p:to>
                                    </p:set>
                                    <p:animEffect transition="in" filter="fade">
                                      <p:cBhvr>
                                        <p:cTn id="19" dur="1000"/>
                                        <p:tgtEl>
                                          <p:spTgt spid="177155">
                                            <p:txEl>
                                              <p:pRg st="8" end="8"/>
                                            </p:txEl>
                                          </p:spTgt>
                                        </p:tgtEl>
                                      </p:cBhvr>
                                    </p:animEffect>
                                    <p:anim calcmode="lin" valueType="num">
                                      <p:cBhvr>
                                        <p:cTn id="20" dur="1000" fill="hold"/>
                                        <p:tgtEl>
                                          <p:spTgt spid="177155">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177155">
                                            <p:txEl>
                                              <p:pRg st="8" end="8"/>
                                            </p:txEl>
                                          </p:spTgt>
                                        </p:tgtEl>
                                        <p:attrNameLst>
                                          <p:attrName>ppt_y</p:attrName>
                                        </p:attrNameLst>
                                      </p:cBhvr>
                                      <p:tavLst>
                                        <p:tav tm="0">
                                          <p:val>
                                            <p:strVal val="#ppt_y-.1"/>
                                          </p:val>
                                        </p:tav>
                                        <p:tav tm="100000">
                                          <p:val>
                                            <p:strVal val="#ppt_y"/>
                                          </p:val>
                                        </p:tav>
                                      </p:tavLst>
                                    </p:anim>
                                  </p:childTnLst>
                                </p:cTn>
                              </p:par>
                              <p:par>
                                <p:cTn id="22" presetID="1" presetClass="entr" presetSubtype="0" fill="hold" nodeType="withEffect">
                                  <p:stCondLst>
                                    <p:cond delay="0"/>
                                  </p:stCondLst>
                                  <p:childTnLst>
                                    <p:set>
                                      <p:cBhvr>
                                        <p:cTn id="23" dur="1" fill="hold">
                                          <p:stCondLst>
                                            <p:cond delay="0"/>
                                          </p:stCondLst>
                                        </p:cTn>
                                        <p:tgtEl>
                                          <p:spTgt spid="177169"/>
                                        </p:tgtEl>
                                        <p:attrNameLst>
                                          <p:attrName>style.visibility</p:attrName>
                                        </p:attrNameLst>
                                      </p:cBhvr>
                                      <p:to>
                                        <p:strVal val="visible"/>
                                      </p:to>
                                    </p:set>
                                  </p:childTnLst>
                                </p:cTn>
                              </p:par>
                              <p:par>
                                <p:cTn id="24" presetID="47" presetClass="entr" presetSubtype="0" fill="hold" grpId="0" nodeType="withEffect">
                                  <p:stCondLst>
                                    <p:cond delay="0"/>
                                  </p:stCondLst>
                                  <p:childTnLst>
                                    <p:set>
                                      <p:cBhvr>
                                        <p:cTn id="25" dur="1" fill="hold">
                                          <p:stCondLst>
                                            <p:cond delay="0"/>
                                          </p:stCondLst>
                                        </p:cTn>
                                        <p:tgtEl>
                                          <p:spTgt spid="177155">
                                            <p:txEl>
                                              <p:pRg st="9" end="9"/>
                                            </p:txEl>
                                          </p:spTgt>
                                        </p:tgtEl>
                                        <p:attrNameLst>
                                          <p:attrName>style.visibility</p:attrName>
                                        </p:attrNameLst>
                                      </p:cBhvr>
                                      <p:to>
                                        <p:strVal val="visible"/>
                                      </p:to>
                                    </p:set>
                                    <p:animEffect transition="in" filter="fade">
                                      <p:cBhvr>
                                        <p:cTn id="26" dur="1000"/>
                                        <p:tgtEl>
                                          <p:spTgt spid="177155">
                                            <p:txEl>
                                              <p:pRg st="9" end="9"/>
                                            </p:txEl>
                                          </p:spTgt>
                                        </p:tgtEl>
                                      </p:cBhvr>
                                    </p:animEffect>
                                    <p:anim calcmode="lin" valueType="num">
                                      <p:cBhvr>
                                        <p:cTn id="27" dur="1000" fill="hold"/>
                                        <p:tgtEl>
                                          <p:spTgt spid="177155">
                                            <p:txEl>
                                              <p:pRg st="9" end="9"/>
                                            </p:txEl>
                                          </p:spTgt>
                                        </p:tgtEl>
                                        <p:attrNameLst>
                                          <p:attrName>ppt_x</p:attrName>
                                        </p:attrNameLst>
                                      </p:cBhvr>
                                      <p:tavLst>
                                        <p:tav tm="0">
                                          <p:val>
                                            <p:strVal val="#ppt_x"/>
                                          </p:val>
                                        </p:tav>
                                        <p:tav tm="100000">
                                          <p:val>
                                            <p:strVal val="#ppt_x"/>
                                          </p:val>
                                        </p:tav>
                                      </p:tavLst>
                                    </p:anim>
                                    <p:anim calcmode="lin" valueType="num">
                                      <p:cBhvr>
                                        <p:cTn id="28" dur="1000" fill="hold"/>
                                        <p:tgtEl>
                                          <p:spTgt spid="177155">
                                            <p:txEl>
                                              <p:pRg st="9" end="9"/>
                                            </p:txEl>
                                          </p:spTgt>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177155">
                                            <p:txEl>
                                              <p:pRg st="10" end="10"/>
                                            </p:txEl>
                                          </p:spTgt>
                                        </p:tgtEl>
                                        <p:attrNameLst>
                                          <p:attrName>style.visibility</p:attrName>
                                        </p:attrNameLst>
                                      </p:cBhvr>
                                      <p:to>
                                        <p:strVal val="visible"/>
                                      </p:to>
                                    </p:set>
                                    <p:animEffect transition="in" filter="fade">
                                      <p:cBhvr>
                                        <p:cTn id="31" dur="1000"/>
                                        <p:tgtEl>
                                          <p:spTgt spid="177155">
                                            <p:txEl>
                                              <p:pRg st="10" end="10"/>
                                            </p:txEl>
                                          </p:spTgt>
                                        </p:tgtEl>
                                      </p:cBhvr>
                                    </p:animEffect>
                                    <p:anim calcmode="lin" valueType="num">
                                      <p:cBhvr>
                                        <p:cTn id="32" dur="1000" fill="hold"/>
                                        <p:tgtEl>
                                          <p:spTgt spid="177155">
                                            <p:txEl>
                                              <p:pRg st="10" end="10"/>
                                            </p:txEl>
                                          </p:spTgt>
                                        </p:tgtEl>
                                        <p:attrNameLst>
                                          <p:attrName>ppt_x</p:attrName>
                                        </p:attrNameLst>
                                      </p:cBhvr>
                                      <p:tavLst>
                                        <p:tav tm="0">
                                          <p:val>
                                            <p:strVal val="#ppt_x"/>
                                          </p:val>
                                        </p:tav>
                                        <p:tav tm="100000">
                                          <p:val>
                                            <p:strVal val="#ppt_x"/>
                                          </p:val>
                                        </p:tav>
                                      </p:tavLst>
                                    </p:anim>
                                    <p:anim calcmode="lin" valueType="num">
                                      <p:cBhvr>
                                        <p:cTn id="33" dur="1000" fill="hold"/>
                                        <p:tgtEl>
                                          <p:spTgt spid="177155">
                                            <p:txEl>
                                              <p:pRg st="10" end="10"/>
                                            </p:txEl>
                                          </p:spTgt>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177155">
                                            <p:txEl>
                                              <p:pRg st="11" end="11"/>
                                            </p:txEl>
                                          </p:spTgt>
                                        </p:tgtEl>
                                        <p:attrNameLst>
                                          <p:attrName>style.visibility</p:attrName>
                                        </p:attrNameLst>
                                      </p:cBhvr>
                                      <p:to>
                                        <p:strVal val="visible"/>
                                      </p:to>
                                    </p:set>
                                    <p:animEffect transition="in" filter="fade">
                                      <p:cBhvr>
                                        <p:cTn id="36" dur="1000"/>
                                        <p:tgtEl>
                                          <p:spTgt spid="177155">
                                            <p:txEl>
                                              <p:pRg st="11" end="11"/>
                                            </p:txEl>
                                          </p:spTgt>
                                        </p:tgtEl>
                                      </p:cBhvr>
                                    </p:animEffect>
                                    <p:anim calcmode="lin" valueType="num">
                                      <p:cBhvr>
                                        <p:cTn id="37" dur="1000" fill="hold"/>
                                        <p:tgtEl>
                                          <p:spTgt spid="177155">
                                            <p:txEl>
                                              <p:pRg st="11" end="11"/>
                                            </p:txEl>
                                          </p:spTgt>
                                        </p:tgtEl>
                                        <p:attrNameLst>
                                          <p:attrName>ppt_x</p:attrName>
                                        </p:attrNameLst>
                                      </p:cBhvr>
                                      <p:tavLst>
                                        <p:tav tm="0">
                                          <p:val>
                                            <p:strVal val="#ppt_x"/>
                                          </p:val>
                                        </p:tav>
                                        <p:tav tm="100000">
                                          <p:val>
                                            <p:strVal val="#ppt_x"/>
                                          </p:val>
                                        </p:tav>
                                      </p:tavLst>
                                    </p:anim>
                                    <p:anim calcmode="lin" valueType="num">
                                      <p:cBhvr>
                                        <p:cTn id="38" dur="1000" fill="hold"/>
                                        <p:tgtEl>
                                          <p:spTgt spid="177155">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2209800" y="304800"/>
            <a:ext cx="7772400" cy="1143000"/>
          </a:xfrm>
        </p:spPr>
        <p:txBody>
          <a:bodyPr/>
          <a:lstStyle/>
          <a:p>
            <a:pPr eaLnBrk="1" hangingPunct="1">
              <a:defRPr/>
            </a:pPr>
            <a:r>
              <a:rPr lang="en-US">
                <a:solidFill>
                  <a:schemeClr val="tx1"/>
                </a:solidFill>
                <a:cs typeface="+mj-cs"/>
              </a:rPr>
              <a:t>Structure of an Application Process</a:t>
            </a:r>
            <a:br>
              <a:rPr lang="en-US">
                <a:solidFill>
                  <a:schemeClr val="tx1"/>
                </a:solidFill>
                <a:cs typeface="+mj-cs"/>
              </a:rPr>
            </a:br>
            <a:r>
              <a:rPr lang="en-US" sz="2000">
                <a:solidFill>
                  <a:schemeClr val="tx1"/>
                </a:solidFill>
                <a:cs typeface="+mj-cs"/>
              </a:rPr>
              <a:t>Important Insight</a:t>
            </a:r>
            <a:endParaRPr lang="en-US">
              <a:solidFill>
                <a:schemeClr val="tx1"/>
              </a:solidFill>
              <a:cs typeface="+mj-cs"/>
            </a:endParaRPr>
          </a:p>
        </p:txBody>
      </p:sp>
      <p:sp>
        <p:nvSpPr>
          <p:cNvPr id="179203" name="Rectangle 3"/>
          <p:cNvSpPr>
            <a:spLocks noGrp="1" noChangeArrowheads="1"/>
          </p:cNvSpPr>
          <p:nvPr>
            <p:ph type="body" idx="1"/>
          </p:nvPr>
        </p:nvSpPr>
        <p:spPr>
          <a:xfrm>
            <a:off x="2171700" y="3810000"/>
            <a:ext cx="7848600" cy="1066800"/>
          </a:xfrm>
        </p:spPr>
        <p:txBody>
          <a:bodyPr/>
          <a:lstStyle/>
          <a:p>
            <a:pPr marL="342900" indent="-342900" eaLnBrk="1" hangingPunct="1">
              <a:defRPr/>
            </a:pPr>
            <a:r>
              <a:rPr lang="en-US" sz="1800">
                <a:cs typeface="+mn-cs"/>
              </a:rPr>
              <a:t>An AP can have multiple AEs and multiple instances of multiple AEs as well as  multiple instances of APs.</a:t>
            </a:r>
          </a:p>
          <a:p>
            <a:pPr marL="742950" lvl="1" indent="-285750" eaLnBrk="1" hangingPunct="1">
              <a:defRPr/>
            </a:pPr>
            <a:r>
              <a:rPr lang="en-US" sz="1600"/>
              <a:t>The web was the first example that used this distinction.</a:t>
            </a:r>
          </a:p>
          <a:p>
            <a:pPr marL="742950" lvl="1" indent="-285750" eaLnBrk="1" hangingPunct="1">
              <a:defRPr/>
            </a:pPr>
            <a:r>
              <a:rPr lang="en-US" sz="1600"/>
              <a:t>Multiple users of a social networking site:  Multiple instances an AE, etc.</a:t>
            </a:r>
          </a:p>
          <a:p>
            <a:pPr marL="742950" lvl="1" indent="-285750" eaLnBrk="1" hangingPunct="1">
              <a:defRPr/>
            </a:pPr>
            <a:r>
              <a:rPr lang="en-US" sz="1600"/>
              <a:t>So the AE is just the application protocol? Well,  . . . hold that thought.</a:t>
            </a:r>
          </a:p>
          <a:p>
            <a:pPr marL="742950" lvl="1" indent="-285750" eaLnBrk="1" hangingPunct="1">
              <a:defRPr/>
            </a:pPr>
            <a:endParaRPr lang="en-US" sz="1600"/>
          </a:p>
          <a:p>
            <a:pPr marL="742950" lvl="1" indent="-285750" eaLnBrk="1" hangingPunct="1">
              <a:defRPr/>
            </a:pPr>
            <a:endParaRPr lang="en-US" sz="1600"/>
          </a:p>
          <a:p>
            <a:pPr marL="342900" indent="-342900" eaLnBrk="1" hangingPunct="1">
              <a:defRPr/>
            </a:pPr>
            <a:r>
              <a:rPr lang="en-US" sz="1400">
                <a:cs typeface="+mn-cs"/>
              </a:rPr>
              <a:t>See Chapter 4 of Patterns</a:t>
            </a:r>
          </a:p>
          <a:p>
            <a:pPr marL="742950" lvl="1" indent="-285750" eaLnBrk="1" hangingPunct="1">
              <a:defRPr/>
            </a:pPr>
            <a:endParaRPr lang="en-US" sz="1800"/>
          </a:p>
        </p:txBody>
      </p:sp>
      <p:grpSp>
        <p:nvGrpSpPr>
          <p:cNvPr id="32771" name="Group 4"/>
          <p:cNvGrpSpPr>
            <a:grpSpLocks/>
          </p:cNvGrpSpPr>
          <p:nvPr/>
        </p:nvGrpSpPr>
        <p:grpSpPr bwMode="auto">
          <a:xfrm>
            <a:off x="3276600" y="1524000"/>
            <a:ext cx="4953000" cy="1981200"/>
            <a:chOff x="1104" y="960"/>
            <a:chExt cx="3120" cy="1248"/>
          </a:xfrm>
        </p:grpSpPr>
        <p:sp>
          <p:nvSpPr>
            <p:cNvPr id="179205" name="Oval 5"/>
            <p:cNvSpPr>
              <a:spLocks noChangeArrowheads="1"/>
            </p:cNvSpPr>
            <p:nvPr/>
          </p:nvSpPr>
          <p:spPr bwMode="auto">
            <a:xfrm>
              <a:off x="2400" y="960"/>
              <a:ext cx="1296" cy="1248"/>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9206" name="Text Box 6"/>
            <p:cNvSpPr txBox="1">
              <a:spLocks noChangeArrowheads="1"/>
            </p:cNvSpPr>
            <p:nvPr/>
          </p:nvSpPr>
          <p:spPr bwMode="auto">
            <a:xfrm>
              <a:off x="2827" y="1104"/>
              <a:ext cx="576"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0" fontAlgn="base" hangingPunct="0">
                <a:spcBef>
                  <a:spcPct val="0"/>
                </a:spcBef>
                <a:spcAft>
                  <a:spcPct val="0"/>
                </a:spcAft>
                <a:defRPr/>
              </a:pPr>
              <a:r>
                <a:rPr lang="en-US" sz="1200">
                  <a:solidFill>
                    <a:srgbClr val="000000"/>
                  </a:solidFill>
                  <a:latin typeface="Times" charset="0"/>
                  <a:ea typeface="ＭＳ Ｐゴシック" charset="0"/>
                </a:rPr>
                <a:t>Application</a:t>
              </a:r>
            </a:p>
            <a:p>
              <a:pPr algn="ctr" eaLnBrk="0" fontAlgn="base" hangingPunct="0">
                <a:spcBef>
                  <a:spcPct val="0"/>
                </a:spcBef>
                <a:spcAft>
                  <a:spcPct val="0"/>
                </a:spcAft>
                <a:defRPr/>
              </a:pPr>
              <a:r>
                <a:rPr lang="en-US" sz="1200">
                  <a:solidFill>
                    <a:srgbClr val="000000"/>
                  </a:solidFill>
                  <a:latin typeface="Times" charset="0"/>
                  <a:ea typeface="ＭＳ Ｐゴシック" charset="0"/>
                </a:rPr>
                <a:t>Process</a:t>
              </a:r>
            </a:p>
          </p:txBody>
        </p:sp>
        <p:grpSp>
          <p:nvGrpSpPr>
            <p:cNvPr id="32774" name="Group 7"/>
            <p:cNvGrpSpPr>
              <a:grpSpLocks/>
            </p:cNvGrpSpPr>
            <p:nvPr/>
          </p:nvGrpSpPr>
          <p:grpSpPr bwMode="auto">
            <a:xfrm>
              <a:off x="2496" y="1440"/>
              <a:ext cx="1152" cy="672"/>
              <a:chOff x="2496" y="1440"/>
              <a:chExt cx="1152" cy="672"/>
            </a:xfrm>
          </p:grpSpPr>
          <p:grpSp>
            <p:nvGrpSpPr>
              <p:cNvPr id="32779" name="Group 8"/>
              <p:cNvGrpSpPr>
                <a:grpSpLocks/>
              </p:cNvGrpSpPr>
              <p:nvPr/>
            </p:nvGrpSpPr>
            <p:grpSpPr bwMode="auto">
              <a:xfrm>
                <a:off x="2496" y="1440"/>
                <a:ext cx="576" cy="624"/>
                <a:chOff x="3072" y="1680"/>
                <a:chExt cx="576" cy="624"/>
              </a:xfrm>
            </p:grpSpPr>
            <p:sp>
              <p:nvSpPr>
                <p:cNvPr id="179209" name="Oval 9"/>
                <p:cNvSpPr>
                  <a:spLocks noChangeArrowheads="1"/>
                </p:cNvSpPr>
                <p:nvPr/>
              </p:nvSpPr>
              <p:spPr bwMode="auto">
                <a:xfrm>
                  <a:off x="3168" y="1680"/>
                  <a:ext cx="480" cy="528"/>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9210" name="Oval 10"/>
                <p:cNvSpPr>
                  <a:spLocks noChangeArrowheads="1"/>
                </p:cNvSpPr>
                <p:nvPr/>
              </p:nvSpPr>
              <p:spPr bwMode="auto">
                <a:xfrm>
                  <a:off x="3120" y="1728"/>
                  <a:ext cx="480" cy="528"/>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9211" name="Oval 11"/>
                <p:cNvSpPr>
                  <a:spLocks noChangeArrowheads="1"/>
                </p:cNvSpPr>
                <p:nvPr/>
              </p:nvSpPr>
              <p:spPr bwMode="auto">
                <a:xfrm>
                  <a:off x="3072" y="1776"/>
                  <a:ext cx="480" cy="528"/>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32780" name="Group 12"/>
              <p:cNvGrpSpPr>
                <a:grpSpLocks/>
              </p:cNvGrpSpPr>
              <p:nvPr/>
            </p:nvGrpSpPr>
            <p:grpSpPr bwMode="auto">
              <a:xfrm>
                <a:off x="3072" y="1488"/>
                <a:ext cx="576" cy="624"/>
                <a:chOff x="3072" y="1680"/>
                <a:chExt cx="576" cy="624"/>
              </a:xfrm>
            </p:grpSpPr>
            <p:sp>
              <p:nvSpPr>
                <p:cNvPr id="179213" name="Oval 13"/>
                <p:cNvSpPr>
                  <a:spLocks noChangeArrowheads="1"/>
                </p:cNvSpPr>
                <p:nvPr/>
              </p:nvSpPr>
              <p:spPr bwMode="auto">
                <a:xfrm>
                  <a:off x="3168" y="1680"/>
                  <a:ext cx="480" cy="528"/>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9214" name="Oval 14"/>
                <p:cNvSpPr>
                  <a:spLocks noChangeArrowheads="1"/>
                </p:cNvSpPr>
                <p:nvPr/>
              </p:nvSpPr>
              <p:spPr bwMode="auto">
                <a:xfrm>
                  <a:off x="3120" y="1728"/>
                  <a:ext cx="480" cy="528"/>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9215" name="Oval 15"/>
                <p:cNvSpPr>
                  <a:spLocks noChangeArrowheads="1"/>
                </p:cNvSpPr>
                <p:nvPr/>
              </p:nvSpPr>
              <p:spPr bwMode="auto">
                <a:xfrm>
                  <a:off x="3072" y="1776"/>
                  <a:ext cx="480" cy="528"/>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179216" name="Text Box 16"/>
              <p:cNvSpPr txBox="1">
                <a:spLocks noChangeArrowheads="1"/>
              </p:cNvSpPr>
              <p:nvPr/>
            </p:nvSpPr>
            <p:spPr bwMode="auto">
              <a:xfrm>
                <a:off x="2496" y="1680"/>
                <a:ext cx="528" cy="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fontAlgn="base" hangingPunct="0">
                  <a:spcBef>
                    <a:spcPct val="50000"/>
                  </a:spcBef>
                  <a:spcAft>
                    <a:spcPct val="0"/>
                  </a:spcAft>
                  <a:defRPr/>
                </a:pPr>
                <a:r>
                  <a:rPr lang="en-US" sz="1000">
                    <a:solidFill>
                      <a:srgbClr val="000000"/>
                    </a:solidFill>
                    <a:latin typeface="Times" charset="0"/>
                    <a:ea typeface="ＭＳ Ｐゴシック" charset="0"/>
                  </a:rPr>
                  <a:t>Application Entity</a:t>
                </a:r>
              </a:p>
            </p:txBody>
          </p:sp>
          <p:sp>
            <p:nvSpPr>
              <p:cNvPr id="179217" name="Text Box 17"/>
              <p:cNvSpPr txBox="1">
                <a:spLocks noChangeArrowheads="1"/>
              </p:cNvSpPr>
              <p:nvPr/>
            </p:nvSpPr>
            <p:spPr bwMode="auto">
              <a:xfrm>
                <a:off x="3024" y="1728"/>
                <a:ext cx="528" cy="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fontAlgn="base" hangingPunct="0">
                  <a:spcBef>
                    <a:spcPct val="50000"/>
                  </a:spcBef>
                  <a:spcAft>
                    <a:spcPct val="0"/>
                  </a:spcAft>
                  <a:defRPr/>
                </a:pPr>
                <a:r>
                  <a:rPr lang="en-US" sz="1000">
                    <a:solidFill>
                      <a:srgbClr val="000000"/>
                    </a:solidFill>
                    <a:latin typeface="Times" charset="0"/>
                    <a:ea typeface="ＭＳ Ｐゴシック" charset="0"/>
                  </a:rPr>
                  <a:t>Application Entity</a:t>
                </a:r>
              </a:p>
            </p:txBody>
          </p:sp>
        </p:grpSp>
        <p:grpSp>
          <p:nvGrpSpPr>
            <p:cNvPr id="32775" name="Group 18"/>
            <p:cNvGrpSpPr>
              <a:grpSpLocks/>
            </p:cNvGrpSpPr>
            <p:nvPr/>
          </p:nvGrpSpPr>
          <p:grpSpPr bwMode="auto">
            <a:xfrm>
              <a:off x="1104" y="1200"/>
              <a:ext cx="3120" cy="413"/>
              <a:chOff x="1344" y="1488"/>
              <a:chExt cx="3120" cy="413"/>
            </a:xfrm>
          </p:grpSpPr>
          <p:sp>
            <p:nvSpPr>
              <p:cNvPr id="179219" name="Line 19"/>
              <p:cNvSpPr>
                <a:spLocks noChangeShapeType="1"/>
              </p:cNvSpPr>
              <p:nvPr/>
            </p:nvSpPr>
            <p:spPr bwMode="auto">
              <a:xfrm>
                <a:off x="1392" y="1680"/>
                <a:ext cx="3072"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79220" name="Text Box 20"/>
              <p:cNvSpPr txBox="1">
                <a:spLocks noChangeArrowheads="1"/>
              </p:cNvSpPr>
              <p:nvPr/>
            </p:nvSpPr>
            <p:spPr bwMode="auto">
              <a:xfrm>
                <a:off x="1392" y="1728"/>
                <a:ext cx="900"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rPr>
                  <a:t>Inside the Network</a:t>
                </a:r>
              </a:p>
            </p:txBody>
          </p:sp>
          <p:sp>
            <p:nvSpPr>
              <p:cNvPr id="179221" name="Text Box 21"/>
              <p:cNvSpPr txBox="1">
                <a:spLocks noChangeArrowheads="1"/>
              </p:cNvSpPr>
              <p:nvPr/>
            </p:nvSpPr>
            <p:spPr bwMode="auto">
              <a:xfrm>
                <a:off x="1344" y="1488"/>
                <a:ext cx="96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rPr>
                  <a:t>Outside the Network</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4"/>
          <p:cNvSpPr>
            <a:spLocks noGrp="1" noChangeArrowheads="1"/>
          </p:cNvSpPr>
          <p:nvPr/>
        </p:nvSpPr>
        <p:spPr bwMode="auto">
          <a:xfrm>
            <a:off x="2209800" y="381000"/>
            <a:ext cx="77724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0" fontAlgn="base" hangingPunct="0">
              <a:spcBef>
                <a:spcPct val="0"/>
              </a:spcBef>
              <a:spcAft>
                <a:spcPct val="0"/>
              </a:spcAft>
              <a:defRPr/>
            </a:pPr>
            <a:r>
              <a:rPr lang="en-US" sz="2800" dirty="0">
                <a:solidFill>
                  <a:srgbClr val="000000"/>
                </a:solidFill>
                <a:latin typeface="Times" charset="0"/>
                <a:ea typeface="ＭＳ Ｐゴシック" charset="0"/>
                <a:cs typeface="ＭＳ Ｐゴシック" charset="0"/>
              </a:rPr>
              <a:t>Getting from A to B Reliably</a:t>
            </a:r>
          </a:p>
          <a:p>
            <a:pPr algn="ctr" eaLnBrk="0" fontAlgn="base" hangingPunct="0">
              <a:spcBef>
                <a:spcPct val="0"/>
              </a:spcBef>
              <a:spcAft>
                <a:spcPct val="0"/>
              </a:spcAft>
              <a:defRPr/>
            </a:pPr>
            <a:r>
              <a:rPr lang="en-US" sz="2000" dirty="0">
                <a:solidFill>
                  <a:srgbClr val="000000"/>
                </a:solidFill>
                <a:latin typeface="Times" charset="0"/>
                <a:ea typeface="ＭＳ Ｐゴシック" charset="0"/>
                <a:cs typeface="ＭＳ Ｐゴシック" charset="0"/>
              </a:rPr>
              <a:t>(This lecture is all about this)</a:t>
            </a:r>
          </a:p>
        </p:txBody>
      </p:sp>
      <p:sp>
        <p:nvSpPr>
          <p:cNvPr id="137221" name="Rectangle 5"/>
          <p:cNvSpPr>
            <a:spLocks noGrp="1" noChangeArrowheads="1"/>
          </p:cNvSpPr>
          <p:nvPr/>
        </p:nvSpPr>
        <p:spPr bwMode="auto">
          <a:xfrm>
            <a:off x="2665493" y="1524000"/>
            <a:ext cx="6881112"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0" fontAlgn="base" hangingPunct="0">
              <a:spcBef>
                <a:spcPct val="0"/>
              </a:spcBef>
              <a:spcAft>
                <a:spcPct val="0"/>
              </a:spcAft>
              <a:buFont typeface="Times" charset="0"/>
              <a:buChar char="•"/>
              <a:defRPr/>
            </a:pPr>
            <a:r>
              <a:rPr lang="en-US" sz="2000" dirty="0">
                <a:solidFill>
                  <a:srgbClr val="000000"/>
                </a:solidFill>
                <a:latin typeface="Times" charset="0"/>
                <a:ea typeface="ＭＳ Ｐゴシック" charset="0"/>
                <a:cs typeface="ＭＳ Ｐゴシック" charset="0"/>
              </a:rPr>
              <a:t>We know:</a:t>
            </a:r>
          </a:p>
          <a:p>
            <a:pPr marL="863600" lvl="1" indent="-342900" eaLnBrk="0" fontAlgn="base" hangingPunct="0">
              <a:spcBef>
                <a:spcPct val="0"/>
              </a:spcBef>
              <a:spcAft>
                <a:spcPct val="0"/>
              </a:spcAft>
              <a:buFont typeface="Times" charset="0"/>
              <a:buChar char="•"/>
              <a:defRPr/>
            </a:pPr>
            <a:r>
              <a:rPr lang="en-US" dirty="0">
                <a:solidFill>
                  <a:srgbClr val="000000"/>
                </a:solidFill>
                <a:latin typeface="Times" charset="0"/>
                <a:ea typeface="ＭＳ Ｐゴシック" charset="0"/>
                <a:cs typeface="ＭＳ Ｐゴシック" charset="0"/>
              </a:rPr>
              <a:t>Bad things can happen to messages in transit.  Protection against lost or corrupted messages.  Error Control</a:t>
            </a:r>
          </a:p>
          <a:p>
            <a:pPr marL="1371600" lvl="2" indent="-228600" eaLnBrk="0" fontAlgn="base" hangingPunct="0">
              <a:spcBef>
                <a:spcPct val="0"/>
              </a:spcBef>
              <a:spcAft>
                <a:spcPct val="0"/>
              </a:spcAft>
              <a:buFont typeface="Times" charset="0"/>
              <a:buChar char="•"/>
              <a:defRPr/>
            </a:pPr>
            <a:r>
              <a:rPr lang="en-US" sz="1400" dirty="0">
                <a:solidFill>
                  <a:srgbClr val="000000"/>
                </a:solidFill>
                <a:latin typeface="Times" charset="0"/>
                <a:ea typeface="ＭＳ Ｐゴシック" charset="0"/>
                <a:cs typeface="ＭＳ Ｐゴシック" charset="0"/>
              </a:rPr>
              <a:t>This can be expensive</a:t>
            </a:r>
            <a:endParaRPr lang="en-US" sz="2000" dirty="0">
              <a:solidFill>
                <a:srgbClr val="000000"/>
              </a:solidFill>
              <a:latin typeface="Times" charset="0"/>
              <a:ea typeface="ＭＳ Ｐゴシック" charset="0"/>
              <a:cs typeface="ＭＳ Ｐゴシック" charset="0"/>
            </a:endParaRPr>
          </a:p>
          <a:p>
            <a:pPr marL="863600" lvl="1" indent="-342900" eaLnBrk="0" fontAlgn="base" hangingPunct="0">
              <a:spcBef>
                <a:spcPct val="0"/>
              </a:spcBef>
              <a:spcAft>
                <a:spcPct val="0"/>
              </a:spcAft>
              <a:buFont typeface="Times" charset="0"/>
              <a:buChar char="•"/>
              <a:defRPr/>
            </a:pPr>
            <a:r>
              <a:rPr lang="en-US" dirty="0">
                <a:solidFill>
                  <a:srgbClr val="000000"/>
                </a:solidFill>
                <a:latin typeface="Times" charset="0"/>
                <a:ea typeface="ＭＳ Ｐゴシック" charset="0"/>
                <a:cs typeface="ＭＳ Ｐゴシック" charset="0"/>
              </a:rPr>
              <a:t>Receiver must be able to tell sender, it is going too fast. We need Flow Control, and</a:t>
            </a:r>
          </a:p>
          <a:p>
            <a:pPr marL="863600" lvl="1" indent="-342900" eaLnBrk="0" fontAlgn="base" hangingPunct="0">
              <a:spcBef>
                <a:spcPct val="0"/>
              </a:spcBef>
              <a:spcAft>
                <a:spcPct val="0"/>
              </a:spcAft>
              <a:buFont typeface="Times" charset="0"/>
              <a:buChar char="•"/>
              <a:defRPr/>
            </a:pPr>
            <a:r>
              <a:rPr lang="en-US" dirty="0">
                <a:solidFill>
                  <a:srgbClr val="000000"/>
                </a:solidFill>
                <a:latin typeface="Times" charset="0"/>
                <a:ea typeface="ＭＳ Ｐゴシック" charset="0"/>
                <a:cs typeface="ＭＳ Ｐゴシック" charset="0"/>
              </a:rPr>
              <a:t>We have lost our means of synchronization:</a:t>
            </a:r>
          </a:p>
          <a:p>
            <a:pPr marL="1371600" lvl="2" indent="-228600" eaLnBrk="0" fontAlgn="base" hangingPunct="0">
              <a:spcBef>
                <a:spcPct val="0"/>
              </a:spcBef>
              <a:spcAft>
                <a:spcPct val="0"/>
              </a:spcAft>
              <a:buFont typeface="Times" charset="0"/>
              <a:buChar char="•"/>
              <a:defRPr/>
            </a:pPr>
            <a:r>
              <a:rPr lang="en-US" sz="1600" dirty="0">
                <a:solidFill>
                  <a:srgbClr val="000000"/>
                </a:solidFill>
                <a:latin typeface="Times" charset="0"/>
                <a:ea typeface="ＭＳ Ｐゴシック" charset="0"/>
                <a:cs typeface="ＭＳ Ｐゴシック" charset="0"/>
              </a:rPr>
              <a:t>No common test and set means shared memory can no longer be used</a:t>
            </a:r>
          </a:p>
          <a:p>
            <a:pPr marL="1371600" lvl="2" indent="-228600" eaLnBrk="0" fontAlgn="base" hangingPunct="0">
              <a:spcBef>
                <a:spcPct val="0"/>
              </a:spcBef>
              <a:spcAft>
                <a:spcPct val="0"/>
              </a:spcAft>
              <a:buFont typeface="Times" charset="0"/>
              <a:buChar char="•"/>
              <a:defRPr/>
            </a:pPr>
            <a:r>
              <a:rPr lang="en-US" sz="1600" dirty="0">
                <a:solidFill>
                  <a:srgbClr val="000000"/>
                </a:solidFill>
                <a:latin typeface="Times" charset="0"/>
                <a:ea typeface="ＭＳ Ｐゴシック" charset="0"/>
                <a:cs typeface="ＭＳ Ｐゴシック" charset="0"/>
              </a:rPr>
              <a:t>Must create shared state between two systems. An explicit synchronization mechanism is required.</a:t>
            </a:r>
            <a:r>
              <a:rPr lang="en-US" dirty="0">
                <a:solidFill>
                  <a:srgbClr val="000000"/>
                </a:solidFill>
                <a:latin typeface="Times" charset="0"/>
                <a:ea typeface="ＭＳ Ｐゴシック" charset="0"/>
                <a:cs typeface="ＭＳ Ｐゴシック" charset="0"/>
              </a:rPr>
              <a:t> </a:t>
            </a:r>
            <a:endParaRPr lang="en-US" sz="2000" dirty="0">
              <a:solidFill>
                <a:srgbClr val="000000"/>
              </a:solidFill>
              <a:latin typeface="Times" charset="0"/>
              <a:ea typeface="ＭＳ Ｐゴシック" charset="0"/>
              <a:cs typeface="ＭＳ Ｐゴシック" charset="0"/>
            </a:endParaRPr>
          </a:p>
          <a:p>
            <a:pPr marL="342900" indent="-342900" eaLnBrk="0" fontAlgn="base" hangingPunct="0">
              <a:spcBef>
                <a:spcPct val="0"/>
              </a:spcBef>
              <a:spcAft>
                <a:spcPct val="0"/>
              </a:spcAft>
              <a:buFont typeface="Times" charset="0"/>
              <a:buChar char="•"/>
              <a:defRPr/>
            </a:pPr>
            <a:r>
              <a:rPr lang="en-US" dirty="0">
                <a:solidFill>
                  <a:srgbClr val="000000"/>
                </a:solidFill>
                <a:latin typeface="Times" charset="0"/>
                <a:ea typeface="ＭＳ Ｐゴシック" charset="0"/>
                <a:cs typeface="ＭＳ Ｐゴシック" charset="0"/>
              </a:rPr>
              <a:t>So we need some kind of Protocol for Error and Flow Control.</a:t>
            </a:r>
          </a:p>
          <a:p>
            <a:pPr marL="342900" indent="-342900" eaLnBrk="0" fontAlgn="base" hangingPunct="0">
              <a:spcBef>
                <a:spcPct val="0"/>
              </a:spcBef>
              <a:spcAft>
                <a:spcPct val="0"/>
              </a:spcAft>
              <a:buFont typeface="Times" charset="0"/>
              <a:buChar char="•"/>
              <a:defRPr/>
            </a:pPr>
            <a:endParaRPr lang="en-US" sz="2000" dirty="0">
              <a:solidFill>
                <a:srgbClr val="000000"/>
              </a:solidFill>
              <a:latin typeface="Times" charset="0"/>
              <a:ea typeface="ＭＳ Ｐゴシック" charset="0"/>
              <a:cs typeface="ＭＳ Ｐゴシック" charset="0"/>
            </a:endParaRPr>
          </a:p>
        </p:txBody>
      </p:sp>
      <p:sp>
        <p:nvSpPr>
          <p:cNvPr id="137222" name="Text Box 6"/>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769149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7221">
                                            <p:txEl>
                                              <p:pRg st="0" end="0"/>
                                            </p:txEl>
                                          </p:spTgt>
                                        </p:tgtEl>
                                        <p:attrNameLst>
                                          <p:attrName>style.visibility</p:attrName>
                                        </p:attrNameLst>
                                      </p:cBhvr>
                                      <p:to>
                                        <p:strVal val="visible"/>
                                      </p:to>
                                    </p:set>
                                    <p:anim calcmode="lin" valueType="num">
                                      <p:cBhvr additive="base">
                                        <p:cTn id="7" dur="500" fill="hold"/>
                                        <p:tgtEl>
                                          <p:spTgt spid="13722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722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37221">
                                            <p:txEl>
                                              <p:pRg st="1" end="1"/>
                                            </p:txEl>
                                          </p:spTgt>
                                        </p:tgtEl>
                                        <p:attrNameLst>
                                          <p:attrName>style.visibility</p:attrName>
                                        </p:attrNameLst>
                                      </p:cBhvr>
                                      <p:to>
                                        <p:strVal val="visible"/>
                                      </p:to>
                                    </p:set>
                                    <p:anim calcmode="lin" valueType="num">
                                      <p:cBhvr additive="base">
                                        <p:cTn id="11" dur="500" fill="hold"/>
                                        <p:tgtEl>
                                          <p:spTgt spid="13722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3722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37221">
                                            <p:txEl>
                                              <p:pRg st="2" end="2"/>
                                            </p:txEl>
                                          </p:spTgt>
                                        </p:tgtEl>
                                        <p:attrNameLst>
                                          <p:attrName>style.visibility</p:attrName>
                                        </p:attrNameLst>
                                      </p:cBhvr>
                                      <p:to>
                                        <p:strVal val="visible"/>
                                      </p:to>
                                    </p:set>
                                    <p:anim calcmode="lin" valueType="num">
                                      <p:cBhvr additive="base">
                                        <p:cTn id="15" dur="500" fill="hold"/>
                                        <p:tgtEl>
                                          <p:spTgt spid="13722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3722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37221">
                                            <p:txEl>
                                              <p:pRg st="3" end="3"/>
                                            </p:txEl>
                                          </p:spTgt>
                                        </p:tgtEl>
                                        <p:attrNameLst>
                                          <p:attrName>style.visibility</p:attrName>
                                        </p:attrNameLst>
                                      </p:cBhvr>
                                      <p:to>
                                        <p:strVal val="visible"/>
                                      </p:to>
                                    </p:set>
                                    <p:anim calcmode="lin" valueType="num">
                                      <p:cBhvr additive="base">
                                        <p:cTn id="19" dur="500" fill="hold"/>
                                        <p:tgtEl>
                                          <p:spTgt spid="13722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7221">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37221">
                                            <p:txEl>
                                              <p:pRg st="4" end="4"/>
                                            </p:txEl>
                                          </p:spTgt>
                                        </p:tgtEl>
                                        <p:attrNameLst>
                                          <p:attrName>style.visibility</p:attrName>
                                        </p:attrNameLst>
                                      </p:cBhvr>
                                      <p:to>
                                        <p:strVal val="visible"/>
                                      </p:to>
                                    </p:set>
                                    <p:anim calcmode="lin" valueType="num">
                                      <p:cBhvr additive="base">
                                        <p:cTn id="23" dur="500" fill="hold"/>
                                        <p:tgtEl>
                                          <p:spTgt spid="137221">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37221">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37221">
                                            <p:txEl>
                                              <p:pRg st="5" end="5"/>
                                            </p:txEl>
                                          </p:spTgt>
                                        </p:tgtEl>
                                        <p:attrNameLst>
                                          <p:attrName>style.visibility</p:attrName>
                                        </p:attrNameLst>
                                      </p:cBhvr>
                                      <p:to>
                                        <p:strVal val="visible"/>
                                      </p:to>
                                    </p:set>
                                    <p:anim calcmode="lin" valueType="num">
                                      <p:cBhvr additive="base">
                                        <p:cTn id="27" dur="500" fill="hold"/>
                                        <p:tgtEl>
                                          <p:spTgt spid="137221">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37221">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37221">
                                            <p:txEl>
                                              <p:pRg st="6" end="6"/>
                                            </p:txEl>
                                          </p:spTgt>
                                        </p:tgtEl>
                                        <p:attrNameLst>
                                          <p:attrName>style.visibility</p:attrName>
                                        </p:attrNameLst>
                                      </p:cBhvr>
                                      <p:to>
                                        <p:strVal val="visible"/>
                                      </p:to>
                                    </p:set>
                                    <p:anim calcmode="lin" valueType="num">
                                      <p:cBhvr additive="base">
                                        <p:cTn id="31" dur="500" fill="hold"/>
                                        <p:tgtEl>
                                          <p:spTgt spid="137221">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722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7221">
                                            <p:txEl>
                                              <p:pRg st="7" end="7"/>
                                            </p:txEl>
                                          </p:spTgt>
                                        </p:tgtEl>
                                        <p:attrNameLst>
                                          <p:attrName>style.visibility</p:attrName>
                                        </p:attrNameLst>
                                      </p:cBhvr>
                                      <p:to>
                                        <p:strVal val="visible"/>
                                      </p:to>
                                    </p:set>
                                    <p:anim calcmode="lin" valueType="num">
                                      <p:cBhvr additive="base">
                                        <p:cTn id="37" dur="500" fill="hold"/>
                                        <p:tgtEl>
                                          <p:spTgt spid="137221">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722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1"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p:txBody>
          <a:bodyPr/>
          <a:lstStyle/>
          <a:p>
            <a:pPr eaLnBrk="1" hangingPunct="1">
              <a:defRPr/>
            </a:pPr>
            <a:r>
              <a:rPr lang="en-US" dirty="0">
                <a:solidFill>
                  <a:srgbClr val="000000"/>
                </a:solidFill>
                <a:cs typeface="+mj-cs"/>
              </a:rPr>
              <a:t>Protocol Operation</a:t>
            </a:r>
          </a:p>
        </p:txBody>
      </p:sp>
      <p:sp>
        <p:nvSpPr>
          <p:cNvPr id="53252" name="Line 1028"/>
          <p:cNvSpPr>
            <a:spLocks noChangeShapeType="1"/>
          </p:cNvSpPr>
          <p:nvPr/>
        </p:nvSpPr>
        <p:spPr bwMode="auto">
          <a:xfrm flipV="1">
            <a:off x="2395538" y="2454276"/>
            <a:ext cx="7200900" cy="9525"/>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3" name="Line 1029"/>
          <p:cNvSpPr>
            <a:spLocks noChangeShapeType="1"/>
          </p:cNvSpPr>
          <p:nvPr/>
        </p:nvSpPr>
        <p:spPr bwMode="auto">
          <a:xfrm flipV="1">
            <a:off x="2406650" y="4210051"/>
            <a:ext cx="7200900" cy="9525"/>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4" name="Oval 1030"/>
          <p:cNvSpPr>
            <a:spLocks noChangeArrowheads="1"/>
          </p:cNvSpPr>
          <p:nvPr/>
        </p:nvSpPr>
        <p:spPr bwMode="auto">
          <a:xfrm>
            <a:off x="2955926" y="3035300"/>
            <a:ext cx="1216025" cy="63500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5" name="Oval 1031"/>
          <p:cNvSpPr>
            <a:spLocks noChangeArrowheads="1"/>
          </p:cNvSpPr>
          <p:nvPr/>
        </p:nvSpPr>
        <p:spPr bwMode="auto">
          <a:xfrm>
            <a:off x="7586664" y="2984500"/>
            <a:ext cx="1216025" cy="635000"/>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6" name="Line 1032"/>
          <p:cNvSpPr>
            <a:spLocks noChangeShapeType="1"/>
          </p:cNvSpPr>
          <p:nvPr/>
        </p:nvSpPr>
        <p:spPr bwMode="auto">
          <a:xfrm>
            <a:off x="3397250" y="2076450"/>
            <a:ext cx="0" cy="88265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7" name="Line 1033"/>
          <p:cNvSpPr>
            <a:spLocks noChangeShapeType="1"/>
          </p:cNvSpPr>
          <p:nvPr/>
        </p:nvSpPr>
        <p:spPr bwMode="auto">
          <a:xfrm flipH="1" flipV="1">
            <a:off x="3687763" y="2076451"/>
            <a:ext cx="11112" cy="8620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8" name="Line 1034"/>
          <p:cNvSpPr>
            <a:spLocks noChangeShapeType="1"/>
          </p:cNvSpPr>
          <p:nvPr/>
        </p:nvSpPr>
        <p:spPr bwMode="auto">
          <a:xfrm>
            <a:off x="8023225" y="2078038"/>
            <a:ext cx="0" cy="80645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59" name="Line 1035"/>
          <p:cNvSpPr>
            <a:spLocks noChangeShapeType="1"/>
          </p:cNvSpPr>
          <p:nvPr/>
        </p:nvSpPr>
        <p:spPr bwMode="auto">
          <a:xfrm flipH="1" flipV="1">
            <a:off x="8242300" y="2057401"/>
            <a:ext cx="12700" cy="83026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0" name="Line 1036"/>
          <p:cNvSpPr>
            <a:spLocks noChangeShapeType="1"/>
          </p:cNvSpPr>
          <p:nvPr/>
        </p:nvSpPr>
        <p:spPr bwMode="auto">
          <a:xfrm>
            <a:off x="3430588" y="3841750"/>
            <a:ext cx="0" cy="88265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1" name="Line 1037"/>
          <p:cNvSpPr>
            <a:spLocks noChangeShapeType="1"/>
          </p:cNvSpPr>
          <p:nvPr/>
        </p:nvSpPr>
        <p:spPr bwMode="auto">
          <a:xfrm flipH="1" flipV="1">
            <a:off x="3743326" y="3810001"/>
            <a:ext cx="11113" cy="8620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2" name="Line 1038"/>
          <p:cNvSpPr>
            <a:spLocks noChangeShapeType="1"/>
          </p:cNvSpPr>
          <p:nvPr/>
        </p:nvSpPr>
        <p:spPr bwMode="auto">
          <a:xfrm>
            <a:off x="8101013" y="3789363"/>
            <a:ext cx="0" cy="88265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3" name="Line 1039"/>
          <p:cNvSpPr>
            <a:spLocks noChangeShapeType="1"/>
          </p:cNvSpPr>
          <p:nvPr/>
        </p:nvSpPr>
        <p:spPr bwMode="auto">
          <a:xfrm flipH="1" flipV="1">
            <a:off x="8382001" y="3821113"/>
            <a:ext cx="11113" cy="86201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4" name="Line 1040"/>
          <p:cNvSpPr>
            <a:spLocks noChangeShapeType="1"/>
          </p:cNvSpPr>
          <p:nvPr/>
        </p:nvSpPr>
        <p:spPr bwMode="auto">
          <a:xfrm flipV="1">
            <a:off x="4257676" y="3195639"/>
            <a:ext cx="3078163" cy="2222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5" name="Line 1041"/>
          <p:cNvSpPr>
            <a:spLocks noChangeShapeType="1"/>
          </p:cNvSpPr>
          <p:nvPr/>
        </p:nvSpPr>
        <p:spPr bwMode="auto">
          <a:xfrm flipH="1">
            <a:off x="4279901" y="3497263"/>
            <a:ext cx="3076575" cy="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66" name="Text Box 1042"/>
          <p:cNvSpPr txBox="1">
            <a:spLocks noChangeArrowheads="1"/>
          </p:cNvSpPr>
          <p:nvPr/>
        </p:nvSpPr>
        <p:spPr bwMode="auto">
          <a:xfrm>
            <a:off x="2863167" y="1508126"/>
            <a:ext cx="1585692"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cs typeface="ＭＳ Ｐゴシック" charset="0"/>
              </a:rPr>
              <a:t>(N)-Service Primitives</a:t>
            </a:r>
          </a:p>
        </p:txBody>
      </p:sp>
      <p:sp>
        <p:nvSpPr>
          <p:cNvPr id="53267" name="Text Box 1043"/>
          <p:cNvSpPr txBox="1">
            <a:spLocks noChangeArrowheads="1"/>
          </p:cNvSpPr>
          <p:nvPr/>
        </p:nvSpPr>
        <p:spPr bwMode="auto">
          <a:xfrm>
            <a:off x="7352617" y="1595439"/>
            <a:ext cx="1585692"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cs typeface="ＭＳ Ｐゴシック" charset="0"/>
              </a:rPr>
              <a:t>(N)-Service Primitives</a:t>
            </a:r>
          </a:p>
        </p:txBody>
      </p:sp>
      <p:sp>
        <p:nvSpPr>
          <p:cNvPr id="53268" name="Text Box 1044"/>
          <p:cNvSpPr txBox="1">
            <a:spLocks noChangeArrowheads="1"/>
          </p:cNvSpPr>
          <p:nvPr/>
        </p:nvSpPr>
        <p:spPr bwMode="auto">
          <a:xfrm>
            <a:off x="2702209" y="4762501"/>
            <a:ext cx="1713932"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cs typeface="ＭＳ Ｐゴシック" charset="0"/>
              </a:rPr>
              <a:t>(N-1)-Service Primitives</a:t>
            </a:r>
          </a:p>
        </p:txBody>
      </p:sp>
      <p:sp>
        <p:nvSpPr>
          <p:cNvPr id="53269" name="Text Box 1045"/>
          <p:cNvSpPr txBox="1">
            <a:spLocks noChangeArrowheads="1"/>
          </p:cNvSpPr>
          <p:nvPr/>
        </p:nvSpPr>
        <p:spPr bwMode="auto">
          <a:xfrm>
            <a:off x="7388509" y="4706939"/>
            <a:ext cx="1713932"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cs typeface="ＭＳ Ｐゴシック" charset="0"/>
              </a:rPr>
              <a:t>(N-1)-Service Primitives</a:t>
            </a:r>
          </a:p>
        </p:txBody>
      </p:sp>
      <p:sp>
        <p:nvSpPr>
          <p:cNvPr id="53270" name="Text Box 1046"/>
          <p:cNvSpPr txBox="1">
            <a:spLocks noChangeArrowheads="1"/>
          </p:cNvSpPr>
          <p:nvPr/>
        </p:nvSpPr>
        <p:spPr bwMode="auto">
          <a:xfrm>
            <a:off x="4892236" y="2886076"/>
            <a:ext cx="1699504"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cs typeface="ＭＳ Ｐゴシック" charset="0"/>
              </a:rPr>
              <a:t>(N)-Protocol-Data-Units</a:t>
            </a:r>
          </a:p>
        </p:txBody>
      </p:sp>
      <p:sp>
        <p:nvSpPr>
          <p:cNvPr id="53271" name="Text Box 1047"/>
          <p:cNvSpPr txBox="1">
            <a:spLocks noChangeArrowheads="1"/>
          </p:cNvSpPr>
          <p:nvPr/>
        </p:nvSpPr>
        <p:spPr bwMode="auto">
          <a:xfrm>
            <a:off x="3230564" y="3187701"/>
            <a:ext cx="6572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b="1">
                <a:solidFill>
                  <a:srgbClr val="000000"/>
                </a:solidFill>
                <a:latin typeface="Times" charset="0"/>
                <a:ea typeface="ＭＳ Ｐゴシック" charset="0"/>
                <a:cs typeface="ＭＳ Ｐゴシック" charset="0"/>
              </a:rPr>
              <a:t>Protocol</a:t>
            </a:r>
          </a:p>
          <a:p>
            <a:pPr algn="ctr" fontAlgn="base">
              <a:spcBef>
                <a:spcPct val="0"/>
              </a:spcBef>
              <a:spcAft>
                <a:spcPct val="0"/>
              </a:spcAft>
              <a:defRPr/>
            </a:pPr>
            <a:r>
              <a:rPr lang="en-US" sz="1000" b="1">
                <a:solidFill>
                  <a:srgbClr val="000000"/>
                </a:solidFill>
                <a:latin typeface="Times" charset="0"/>
                <a:ea typeface="ＭＳ Ｐゴシック" charset="0"/>
                <a:cs typeface="ＭＳ Ｐゴシック" charset="0"/>
              </a:rPr>
              <a:t>Machine</a:t>
            </a:r>
          </a:p>
        </p:txBody>
      </p:sp>
      <p:sp>
        <p:nvSpPr>
          <p:cNvPr id="53272" name="Text Box 1048"/>
          <p:cNvSpPr txBox="1">
            <a:spLocks noChangeArrowheads="1"/>
          </p:cNvSpPr>
          <p:nvPr/>
        </p:nvSpPr>
        <p:spPr bwMode="auto">
          <a:xfrm>
            <a:off x="7839076" y="3125789"/>
            <a:ext cx="6572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b="1">
                <a:solidFill>
                  <a:srgbClr val="000000"/>
                </a:solidFill>
                <a:latin typeface="Times" charset="0"/>
                <a:ea typeface="ＭＳ Ｐゴシック" charset="0"/>
                <a:cs typeface="ＭＳ Ｐゴシック" charset="0"/>
              </a:rPr>
              <a:t>Protocol</a:t>
            </a:r>
          </a:p>
          <a:p>
            <a:pPr algn="ctr" fontAlgn="base">
              <a:spcBef>
                <a:spcPct val="0"/>
              </a:spcBef>
              <a:spcAft>
                <a:spcPct val="0"/>
              </a:spcAft>
              <a:defRPr/>
            </a:pPr>
            <a:r>
              <a:rPr lang="en-US" sz="1000" b="1">
                <a:solidFill>
                  <a:srgbClr val="000000"/>
                </a:solidFill>
                <a:latin typeface="Times" charset="0"/>
                <a:ea typeface="ＭＳ Ｐゴシック" charset="0"/>
                <a:cs typeface="ＭＳ Ｐゴシック" charset="0"/>
              </a:rPr>
              <a:t>Machine</a:t>
            </a:r>
          </a:p>
        </p:txBody>
      </p:sp>
      <p:sp>
        <p:nvSpPr>
          <p:cNvPr id="53273" name="Rectangle 1049"/>
          <p:cNvSpPr>
            <a:spLocks noChangeArrowheads="1"/>
          </p:cNvSpPr>
          <p:nvPr/>
        </p:nvSpPr>
        <p:spPr bwMode="auto">
          <a:xfrm>
            <a:off x="3494088" y="1797051"/>
            <a:ext cx="1085850" cy="227013"/>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74" name="Text Box 1050"/>
          <p:cNvSpPr txBox="1">
            <a:spLocks noChangeArrowheads="1"/>
          </p:cNvSpPr>
          <p:nvPr/>
        </p:nvSpPr>
        <p:spPr bwMode="auto">
          <a:xfrm>
            <a:off x="3660581" y="1809751"/>
            <a:ext cx="663964"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cs typeface="ＭＳ Ｐゴシック" charset="0"/>
              </a:rPr>
              <a:t>(N)-SDU</a:t>
            </a:r>
          </a:p>
        </p:txBody>
      </p:sp>
      <p:sp>
        <p:nvSpPr>
          <p:cNvPr id="53276" name="Rectangle 1052"/>
          <p:cNvSpPr>
            <a:spLocks noChangeArrowheads="1"/>
          </p:cNvSpPr>
          <p:nvPr/>
        </p:nvSpPr>
        <p:spPr bwMode="auto">
          <a:xfrm>
            <a:off x="4525964" y="3648075"/>
            <a:ext cx="2562225" cy="27940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77" name="Text Box 1053"/>
          <p:cNvSpPr txBox="1">
            <a:spLocks noChangeArrowheads="1"/>
          </p:cNvSpPr>
          <p:nvPr/>
        </p:nvSpPr>
        <p:spPr bwMode="auto">
          <a:xfrm>
            <a:off x="4519698" y="3670301"/>
            <a:ext cx="606256"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cs typeface="ＭＳ Ｐゴシック" charset="0"/>
              </a:rPr>
              <a:t>(N)-PCI</a:t>
            </a:r>
          </a:p>
        </p:txBody>
      </p:sp>
      <p:sp>
        <p:nvSpPr>
          <p:cNvPr id="53278" name="Line 1054"/>
          <p:cNvSpPr>
            <a:spLocks noChangeShapeType="1"/>
          </p:cNvSpPr>
          <p:nvPr/>
        </p:nvSpPr>
        <p:spPr bwMode="auto">
          <a:xfrm>
            <a:off x="5140325" y="3648076"/>
            <a:ext cx="0" cy="301625"/>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53279" name="Text Box 1055"/>
          <p:cNvSpPr txBox="1">
            <a:spLocks noChangeArrowheads="1"/>
          </p:cNvSpPr>
          <p:nvPr/>
        </p:nvSpPr>
        <p:spPr bwMode="auto">
          <a:xfrm>
            <a:off x="5461863" y="3648076"/>
            <a:ext cx="938077"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cs typeface="ＭＳ Ｐゴシック" charset="0"/>
              </a:rPr>
              <a:t>(N)-User-Data</a:t>
            </a:r>
          </a:p>
        </p:txBody>
      </p:sp>
      <p:sp>
        <p:nvSpPr>
          <p:cNvPr id="53280" name="Text Box 1056"/>
          <p:cNvSpPr txBox="1">
            <a:spLocks noChangeArrowheads="1"/>
          </p:cNvSpPr>
          <p:nvPr/>
        </p:nvSpPr>
        <p:spPr bwMode="auto">
          <a:xfrm>
            <a:off x="4539774" y="3919539"/>
            <a:ext cx="558166"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cs typeface="ＭＳ Ｐゴシック" charset="0"/>
              </a:rPr>
              <a:t>Header</a:t>
            </a:r>
          </a:p>
        </p:txBody>
      </p:sp>
      <p:sp>
        <p:nvSpPr>
          <p:cNvPr id="53281" name="Text Box 1057"/>
          <p:cNvSpPr txBox="1">
            <a:spLocks noChangeArrowheads="1"/>
          </p:cNvSpPr>
          <p:nvPr/>
        </p:nvSpPr>
        <p:spPr bwMode="auto">
          <a:xfrm>
            <a:off x="3053352" y="5080001"/>
            <a:ext cx="6083717" cy="9541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SDU (Service Data Unit), the unit of data whose identity is maintained on delivery</a:t>
            </a:r>
          </a:p>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PDUs are also known as messages, packets, segments, frames, cells, etc.</a:t>
            </a:r>
          </a:p>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While not rigid, the terms are generally used with specific layers.</a:t>
            </a:r>
          </a:p>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PDU stresses that they are really all the same thing.</a:t>
            </a:r>
          </a:p>
        </p:txBody>
      </p:sp>
      <p:sp>
        <p:nvSpPr>
          <p:cNvPr id="53282" name="Line 1058"/>
          <p:cNvSpPr>
            <a:spLocks noChangeShapeType="1"/>
          </p:cNvSpPr>
          <p:nvPr/>
        </p:nvSpPr>
        <p:spPr bwMode="auto">
          <a:xfrm>
            <a:off x="4381500" y="2019300"/>
            <a:ext cx="1346200" cy="16256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2" name="Text Box 4">
            <a:extLst>
              <a:ext uri="{FF2B5EF4-FFF2-40B4-BE49-F238E27FC236}">
                <a16:creationId xmlns:a16="http://schemas.microsoft.com/office/drawing/2014/main" id="{541BAFD1-FE16-3B51-6B89-21CB354DBC78}"/>
              </a:ext>
            </a:extLst>
          </p:cNvPr>
          <p:cNvSpPr txBox="1">
            <a:spLocks noChangeArrowheads="1"/>
          </p:cNvSpPr>
          <p:nvPr/>
        </p:nvSpPr>
        <p:spPr bwMode="auto">
          <a:xfrm>
            <a:off x="8496301" y="6248400"/>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541827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2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dirty="0">
                <a:solidFill>
                  <a:srgbClr val="000000"/>
                </a:solidFill>
                <a:cs typeface="+mj-cs"/>
              </a:rPr>
              <a:t>Two Elements to Every Protocol</a:t>
            </a:r>
          </a:p>
        </p:txBody>
      </p:sp>
      <p:sp>
        <p:nvSpPr>
          <p:cNvPr id="6147" name="Rectangle 3"/>
          <p:cNvSpPr>
            <a:spLocks noGrp="1" noChangeArrowheads="1"/>
          </p:cNvSpPr>
          <p:nvPr>
            <p:ph type="body" idx="1"/>
          </p:nvPr>
        </p:nvSpPr>
        <p:spPr>
          <a:xfrm>
            <a:off x="1366518" y="2023315"/>
            <a:ext cx="7667237" cy="4233789"/>
          </a:xfrm>
        </p:spPr>
        <p:txBody>
          <a:bodyPr/>
          <a:lstStyle/>
          <a:p>
            <a:pPr marL="271463" indent="-271463">
              <a:defRPr/>
            </a:pPr>
            <a:r>
              <a:rPr lang="en-US" dirty="0">
                <a:cs typeface="+mn-cs"/>
              </a:rPr>
              <a:t>Service/Interface Provided to the Layer Above</a:t>
            </a:r>
          </a:p>
          <a:p>
            <a:pPr marL="796925" lvl="1" indent="-300038">
              <a:defRPr/>
            </a:pPr>
            <a:r>
              <a:rPr lang="en-US" dirty="0"/>
              <a:t>The black box view. Abstracts and hides the internal workings of the protocol.</a:t>
            </a:r>
          </a:p>
          <a:p>
            <a:pPr marL="796925" lvl="1" indent="-300038">
              <a:defRPr/>
            </a:pPr>
            <a:r>
              <a:rPr lang="en-US" dirty="0"/>
              <a:t>Services are those characteristics observable by the user of the protocol.</a:t>
            </a:r>
          </a:p>
          <a:p>
            <a:pPr marL="796925" lvl="1" indent="-300038">
              <a:defRPr/>
            </a:pPr>
            <a:r>
              <a:rPr lang="en-US" dirty="0"/>
              <a:t>The Service assumed from the layer below is just as important as the service provided to the layer above.</a:t>
            </a:r>
          </a:p>
          <a:p>
            <a:pPr marL="1177925" lvl="2" indent="-300038">
              <a:defRPr/>
            </a:pPr>
            <a:r>
              <a:rPr lang="en-US" dirty="0"/>
              <a:t>OSI did “Service Definition” as an abstract API, to avoid specifying internal operation of the system.</a:t>
            </a:r>
          </a:p>
          <a:p>
            <a:pPr eaLnBrk="1" hangingPunct="1">
              <a:defRPr/>
            </a:pPr>
            <a:r>
              <a:rPr lang="en-US" dirty="0">
                <a:cs typeface="+mn-cs"/>
              </a:rPr>
              <a:t>Protocol Definition</a:t>
            </a:r>
          </a:p>
          <a:p>
            <a:pPr marL="796925" lvl="1" indent="-300038">
              <a:defRPr/>
            </a:pPr>
            <a:r>
              <a:rPr lang="en-US" dirty="0"/>
              <a:t>Driven by service/interface primitives</a:t>
            </a:r>
          </a:p>
          <a:p>
            <a:pPr marL="796925" lvl="1" indent="-300038">
              <a:defRPr/>
            </a:pPr>
            <a:r>
              <a:rPr lang="en-US" dirty="0"/>
              <a:t>Functions implement the services.</a:t>
            </a:r>
          </a:p>
        </p:txBody>
      </p:sp>
      <p:sp>
        <p:nvSpPr>
          <p:cNvPr id="2" name="Text Box 4">
            <a:extLst>
              <a:ext uri="{FF2B5EF4-FFF2-40B4-BE49-F238E27FC236}">
                <a16:creationId xmlns:a16="http://schemas.microsoft.com/office/drawing/2014/main" id="{EC3849EE-93AB-E358-F879-F37204D0C976}"/>
              </a:ext>
            </a:extLst>
          </p:cNvPr>
          <p:cNvSpPr txBox="1">
            <a:spLocks noChangeArrowheads="1"/>
          </p:cNvSpPr>
          <p:nvPr/>
        </p:nvSpPr>
        <p:spPr bwMode="auto">
          <a:xfrm>
            <a:off x="7785100" y="6182475"/>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854473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The User API</a:t>
            </a:r>
          </a:p>
        </p:txBody>
      </p:sp>
      <p:sp>
        <p:nvSpPr>
          <p:cNvPr id="3" name="Content Placeholder 2"/>
          <p:cNvSpPr>
            <a:spLocks noGrp="1"/>
          </p:cNvSpPr>
          <p:nvPr>
            <p:ph idx="1"/>
          </p:nvPr>
        </p:nvSpPr>
        <p:spPr>
          <a:xfrm>
            <a:off x="2616200" y="1143000"/>
            <a:ext cx="7429500" cy="5080000"/>
          </a:xfrm>
        </p:spPr>
        <p:txBody>
          <a:bodyPr/>
          <a:lstStyle/>
          <a:p>
            <a:pPr marL="317500" indent="-317500"/>
            <a:r>
              <a:rPr lang="en-US" dirty="0"/>
              <a:t>As we saw in the IPC Model,</a:t>
            </a:r>
          </a:p>
          <a:p>
            <a:pPr lvl="1">
              <a:defRPr/>
            </a:pPr>
            <a:r>
              <a:rPr lang="en-US" dirty="0"/>
              <a:t>port-id := Allocate (</a:t>
            </a:r>
            <a:r>
              <a:rPr lang="en-US" dirty="0" err="1"/>
              <a:t>dest</a:t>
            </a:r>
            <a:r>
              <a:rPr lang="en-US" dirty="0"/>
              <a:t>-appl-name, </a:t>
            </a:r>
            <a:r>
              <a:rPr lang="en-US" dirty="0" err="1"/>
              <a:t>sym</a:t>
            </a:r>
            <a:r>
              <a:rPr lang="en-US" dirty="0"/>
              <a:t>/</a:t>
            </a:r>
            <a:r>
              <a:rPr lang="en-US" dirty="0" err="1"/>
              <a:t>asym</a:t>
            </a:r>
            <a:r>
              <a:rPr lang="en-US" dirty="0"/>
              <a:t>, QoS-parameters)</a:t>
            </a:r>
          </a:p>
          <a:p>
            <a:pPr lvl="1">
              <a:defRPr/>
            </a:pPr>
            <a:r>
              <a:rPr lang="en-US" dirty="0"/>
              <a:t>Read (port-id, SDU)</a:t>
            </a:r>
          </a:p>
          <a:p>
            <a:pPr lvl="1">
              <a:defRPr/>
            </a:pPr>
            <a:r>
              <a:rPr lang="en-US" dirty="0"/>
              <a:t>Modify(port-id, sync/async, </a:t>
            </a:r>
            <a:r>
              <a:rPr lang="en-US" dirty="0" err="1"/>
              <a:t>sym</a:t>
            </a:r>
            <a:r>
              <a:rPr lang="en-US" dirty="0"/>
              <a:t>/</a:t>
            </a:r>
            <a:r>
              <a:rPr lang="en-US" dirty="0" err="1"/>
              <a:t>asym</a:t>
            </a:r>
            <a:r>
              <a:rPr lang="en-US" dirty="0"/>
              <a:t>, (</a:t>
            </a:r>
            <a:r>
              <a:rPr lang="en-US" dirty="0" err="1"/>
              <a:t>i</a:t>
            </a:r>
            <a:r>
              <a:rPr lang="en-US" dirty="0"/>
              <a:t>/o), QoS, result)</a:t>
            </a:r>
          </a:p>
          <a:p>
            <a:pPr lvl="1">
              <a:defRPr/>
            </a:pPr>
            <a:r>
              <a:rPr lang="en-US" dirty="0"/>
              <a:t>Write(port-id, SDU)</a:t>
            </a:r>
          </a:p>
          <a:p>
            <a:pPr lvl="1">
              <a:defRPr/>
            </a:pPr>
            <a:r>
              <a:rPr lang="en-US" dirty="0" err="1"/>
              <a:t>Deallocate</a:t>
            </a:r>
            <a:r>
              <a:rPr lang="en-US" dirty="0"/>
              <a:t> (port-id, reason)</a:t>
            </a:r>
          </a:p>
          <a:p>
            <a:pPr marL="317500" indent="-317500"/>
            <a:r>
              <a:rPr lang="en-US" dirty="0"/>
              <a:t>Why Allocate?</a:t>
            </a:r>
          </a:p>
          <a:p>
            <a:pPr marL="698500" lvl="1" indent="-317500"/>
            <a:r>
              <a:rPr lang="en-US" dirty="0"/>
              <a:t>To avoid allusions to anything ‘connection’ like,</a:t>
            </a:r>
          </a:p>
          <a:p>
            <a:pPr marL="698500" lvl="1" indent="-317500"/>
            <a:r>
              <a:rPr lang="en-US" dirty="0"/>
              <a:t>And it really </a:t>
            </a:r>
            <a:r>
              <a:rPr lang="en-US" i="1" dirty="0"/>
              <a:t>is</a:t>
            </a:r>
            <a:r>
              <a:rPr lang="en-US" dirty="0"/>
              <a:t> what we are doing:</a:t>
            </a:r>
          </a:p>
          <a:p>
            <a:pPr marL="698500" lvl="1" indent="-317500"/>
            <a:r>
              <a:rPr lang="en-US" dirty="0"/>
              <a:t>Requesting the </a:t>
            </a:r>
            <a:r>
              <a:rPr lang="en-US" i="1" dirty="0"/>
              <a:t>Allocation</a:t>
            </a:r>
            <a:r>
              <a:rPr lang="en-US" dirty="0"/>
              <a:t> of IPC Resources.</a:t>
            </a:r>
          </a:p>
          <a:p>
            <a:pPr marL="317500" indent="-317500"/>
            <a:r>
              <a:rPr lang="en-US" dirty="0"/>
              <a:t>As we will see, the port-id is not only the only identifier shared between adjacent layers but is crucial to ensuring layer separation.</a:t>
            </a:r>
          </a:p>
          <a:p>
            <a:pPr marL="698500" lvl="1" indent="-317500"/>
            <a:r>
              <a:rPr lang="en-US" dirty="0"/>
              <a:t>Strong layer boundaries are important and more efficient.</a:t>
            </a:r>
          </a:p>
        </p:txBody>
      </p:sp>
      <p:sp>
        <p:nvSpPr>
          <p:cNvPr id="4" name="Text Box 4">
            <a:extLst>
              <a:ext uri="{FF2B5EF4-FFF2-40B4-BE49-F238E27FC236}">
                <a16:creationId xmlns:a16="http://schemas.microsoft.com/office/drawing/2014/main" id="{9BB6EC87-F257-5CBE-934C-9B13BCCF55C4}"/>
              </a:ext>
            </a:extLst>
          </p:cNvPr>
          <p:cNvSpPr txBox="1">
            <a:spLocks noChangeArrowheads="1"/>
          </p:cNvSpPr>
          <p:nvPr/>
        </p:nvSpPr>
        <p:spPr bwMode="auto">
          <a:xfrm>
            <a:off x="8401549" y="6223000"/>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755674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ate Placeholder 3"/>
          <p:cNvSpPr>
            <a:spLocks noGrp="1"/>
          </p:cNvSpPr>
          <p:nvPr>
            <p:ph type="dt" sz="half" idx="10"/>
          </p:nvPr>
        </p:nvSpPr>
        <p:spPr/>
        <p:txBody>
          <a:bodyPr/>
          <a:lstStyle/>
          <a:p>
            <a:r>
              <a:rPr lang="en-US">
                <a:solidFill>
                  <a:srgbClr val="000000"/>
                </a:solidFill>
                <a:latin typeface="Times"/>
              </a:rPr>
              <a:t>10 May 10</a:t>
            </a:r>
          </a:p>
        </p:txBody>
      </p:sp>
      <p:sp>
        <p:nvSpPr>
          <p:cNvPr id="76" name="Slide Number Placeholder 5"/>
          <p:cNvSpPr>
            <a:spLocks noGrp="1"/>
          </p:cNvSpPr>
          <p:nvPr>
            <p:ph type="sldNum" sz="quarter" idx="12"/>
          </p:nvPr>
        </p:nvSpPr>
        <p:spPr/>
        <p:txBody>
          <a:bodyPr/>
          <a:lstStyle/>
          <a:p>
            <a:fld id="{990D632A-C8AD-1548-9A45-F9D946DB9E08}" type="slidenum">
              <a:rPr lang="en-US">
                <a:solidFill>
                  <a:srgbClr val="000000"/>
                </a:solidFill>
                <a:latin typeface="Times"/>
              </a:rPr>
              <a:pPr/>
              <a:t>10</a:t>
            </a:fld>
            <a:endParaRPr lang="en-US">
              <a:solidFill>
                <a:srgbClr val="000000"/>
              </a:solidFill>
              <a:latin typeface="Times"/>
            </a:endParaRPr>
          </a:p>
        </p:txBody>
      </p:sp>
      <p:sp>
        <p:nvSpPr>
          <p:cNvPr id="27650" name="Rectangle 2"/>
          <p:cNvSpPr>
            <a:spLocks noGrp="1" noChangeArrowheads="1"/>
          </p:cNvSpPr>
          <p:nvPr>
            <p:ph type="title"/>
          </p:nvPr>
        </p:nvSpPr>
        <p:spPr>
          <a:xfrm>
            <a:off x="2295525" y="66848"/>
            <a:ext cx="7772400" cy="1143000"/>
          </a:xfrm>
        </p:spPr>
        <p:txBody>
          <a:bodyPr/>
          <a:lstStyle/>
          <a:p>
            <a:r>
              <a:rPr lang="en-US" dirty="0" err="1"/>
              <a:t>QoS</a:t>
            </a:r>
            <a:r>
              <a:rPr lang="en-US" dirty="0"/>
              <a:t> Parameters are mapped to </a:t>
            </a:r>
            <a:r>
              <a:rPr lang="en-US" dirty="0" err="1"/>
              <a:t>QoS</a:t>
            </a:r>
            <a:r>
              <a:rPr lang="en-US" dirty="0"/>
              <a:t> Cubes </a:t>
            </a:r>
          </a:p>
        </p:txBody>
      </p:sp>
      <p:sp>
        <p:nvSpPr>
          <p:cNvPr id="27651" name="Rectangle 3"/>
          <p:cNvSpPr>
            <a:spLocks noGrp="1" noChangeArrowheads="1"/>
          </p:cNvSpPr>
          <p:nvPr>
            <p:ph type="body" idx="1"/>
          </p:nvPr>
        </p:nvSpPr>
        <p:spPr>
          <a:xfrm>
            <a:off x="1999488" y="2452535"/>
            <a:ext cx="7563612" cy="3719666"/>
          </a:xfrm>
        </p:spPr>
        <p:txBody>
          <a:bodyPr>
            <a:normAutofit fontScale="92500" lnSpcReduction="10000"/>
          </a:bodyPr>
          <a:lstStyle/>
          <a:p>
            <a:r>
              <a:rPr lang="en-US" dirty="0"/>
              <a:t>These Systems are not sufficiently sensitive to be able to deliver precise </a:t>
            </a:r>
            <a:r>
              <a:rPr lang="en-US" dirty="0" err="1"/>
              <a:t>QoS</a:t>
            </a:r>
            <a:r>
              <a:rPr lang="en-US" dirty="0"/>
              <a:t> values.  The best that can be done is a range. </a:t>
            </a:r>
          </a:p>
          <a:p>
            <a:pPr lvl="1"/>
            <a:r>
              <a:rPr lang="en-US" sz="1600" dirty="0"/>
              <a:t>These are orthogonal. Trade-offs among QoS-cubes won’t be.</a:t>
            </a:r>
          </a:p>
          <a:p>
            <a:r>
              <a:rPr lang="en-US" dirty="0"/>
              <a:t>Parameters identified are:</a:t>
            </a:r>
          </a:p>
          <a:p>
            <a:pPr lvl="3">
              <a:buFontTx/>
              <a:buNone/>
            </a:pPr>
            <a:r>
              <a:rPr lang="en-US" dirty="0"/>
              <a:t>Average data-rate</a:t>
            </a:r>
          </a:p>
          <a:p>
            <a:pPr lvl="3">
              <a:buFontTx/>
              <a:buNone/>
            </a:pPr>
            <a:r>
              <a:rPr lang="en-US" dirty="0"/>
              <a:t>Average SDU data-rate</a:t>
            </a:r>
          </a:p>
          <a:p>
            <a:pPr lvl="3">
              <a:buFontTx/>
              <a:buNone/>
            </a:pPr>
            <a:r>
              <a:rPr lang="en-US" dirty="0"/>
              <a:t>Peak data-rate-duration</a:t>
            </a:r>
          </a:p>
          <a:p>
            <a:pPr lvl="3">
              <a:buFontTx/>
              <a:buNone/>
            </a:pPr>
            <a:r>
              <a:rPr lang="en-US" dirty="0"/>
              <a:t>Peak SDU bandwidth-duration</a:t>
            </a:r>
          </a:p>
          <a:p>
            <a:pPr lvl="3">
              <a:buFontTx/>
              <a:buNone/>
            </a:pPr>
            <a:r>
              <a:rPr lang="en-US" dirty="0"/>
              <a:t>Burst period</a:t>
            </a:r>
          </a:p>
          <a:p>
            <a:pPr lvl="3">
              <a:buFontTx/>
              <a:buNone/>
            </a:pPr>
            <a:r>
              <a:rPr lang="en-US" dirty="0"/>
              <a:t>Burst duration</a:t>
            </a:r>
          </a:p>
          <a:p>
            <a:r>
              <a:rPr lang="en-US" dirty="0"/>
              <a:t>QoS vs Nature of Service: QoS is what we can change; </a:t>
            </a:r>
            <a:r>
              <a:rPr lang="en-US" dirty="0" err="1"/>
              <a:t>NoS</a:t>
            </a:r>
            <a:r>
              <a:rPr lang="en-US" dirty="0"/>
              <a:t> is what we have to live with!</a:t>
            </a:r>
          </a:p>
          <a:p>
            <a:r>
              <a:rPr lang="en-US" dirty="0"/>
              <a:t>It turns out that each QoS parameter maps to one or unique policies</a:t>
            </a:r>
          </a:p>
          <a:p>
            <a:pPr lvl="1"/>
            <a:r>
              <a:rPr lang="en-US" dirty="0"/>
              <a:t>Effectively orthogonal, what isn’t is trade-off among QoS-cubes.</a:t>
            </a:r>
          </a:p>
        </p:txBody>
      </p:sp>
      <p:grpSp>
        <p:nvGrpSpPr>
          <p:cNvPr id="3" name="Group 2"/>
          <p:cNvGrpSpPr/>
          <p:nvPr/>
        </p:nvGrpSpPr>
        <p:grpSpPr>
          <a:xfrm>
            <a:off x="4572000" y="1158656"/>
            <a:ext cx="3048000" cy="1114425"/>
            <a:chOff x="3124200" y="1524000"/>
            <a:chExt cx="3048000" cy="1114425"/>
          </a:xfrm>
        </p:grpSpPr>
        <p:grpSp>
          <p:nvGrpSpPr>
            <p:cNvPr id="27773" name="Group 125"/>
            <p:cNvGrpSpPr>
              <a:grpSpLocks/>
            </p:cNvGrpSpPr>
            <p:nvPr/>
          </p:nvGrpSpPr>
          <p:grpSpPr bwMode="auto">
            <a:xfrm>
              <a:off x="3124200" y="1828800"/>
              <a:ext cx="762000" cy="657225"/>
              <a:chOff x="1488" y="1200"/>
              <a:chExt cx="1920" cy="1662"/>
            </a:xfrm>
          </p:grpSpPr>
          <p:grpSp>
            <p:nvGrpSpPr>
              <p:cNvPr id="27774" name="Group 126"/>
              <p:cNvGrpSpPr>
                <a:grpSpLocks/>
              </p:cNvGrpSpPr>
              <p:nvPr/>
            </p:nvGrpSpPr>
            <p:grpSpPr bwMode="auto">
              <a:xfrm>
                <a:off x="2016" y="1848"/>
                <a:ext cx="720" cy="624"/>
                <a:chOff x="4512" y="432"/>
                <a:chExt cx="720" cy="624"/>
              </a:xfrm>
            </p:grpSpPr>
            <p:sp>
              <p:nvSpPr>
                <p:cNvPr id="27775" name="Rectangle 127"/>
                <p:cNvSpPr>
                  <a:spLocks noChangeArrowheads="1"/>
                </p:cNvSpPr>
                <p:nvPr/>
              </p:nvSpPr>
              <p:spPr bwMode="auto">
                <a:xfrm>
                  <a:off x="4656" y="432"/>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76" name="Rectangle 128"/>
                <p:cNvSpPr>
                  <a:spLocks noChangeArrowheads="1"/>
                </p:cNvSpPr>
                <p:nvPr/>
              </p:nvSpPr>
              <p:spPr bwMode="auto">
                <a:xfrm>
                  <a:off x="4512" y="624"/>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77" name="Line 129"/>
                <p:cNvSpPr>
                  <a:spLocks noChangeShapeType="1"/>
                </p:cNvSpPr>
                <p:nvPr/>
              </p:nvSpPr>
              <p:spPr bwMode="auto">
                <a:xfrm flipH="1">
                  <a:off x="4512"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78" name="Line 130"/>
                <p:cNvSpPr>
                  <a:spLocks noChangeShapeType="1"/>
                </p:cNvSpPr>
                <p:nvPr/>
              </p:nvSpPr>
              <p:spPr bwMode="auto">
                <a:xfrm flipH="1">
                  <a:off x="5088"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79" name="Line 131"/>
                <p:cNvSpPr>
                  <a:spLocks noChangeShapeType="1"/>
                </p:cNvSpPr>
                <p:nvPr/>
              </p:nvSpPr>
              <p:spPr bwMode="auto">
                <a:xfrm flipH="1">
                  <a:off x="4512" y="864"/>
                  <a:ext cx="192"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0" name="Line 132"/>
                <p:cNvSpPr>
                  <a:spLocks noChangeShapeType="1"/>
                </p:cNvSpPr>
                <p:nvPr/>
              </p:nvSpPr>
              <p:spPr bwMode="auto">
                <a:xfrm flipH="1">
                  <a:off x="5088" y="864"/>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27781" name="Group 133"/>
              <p:cNvGrpSpPr>
                <a:grpSpLocks/>
              </p:cNvGrpSpPr>
              <p:nvPr/>
            </p:nvGrpSpPr>
            <p:grpSpPr bwMode="auto">
              <a:xfrm>
                <a:off x="1488" y="1200"/>
                <a:ext cx="1920" cy="1662"/>
                <a:chOff x="1488" y="1200"/>
                <a:chExt cx="1920" cy="1662"/>
              </a:xfrm>
            </p:grpSpPr>
            <p:sp>
              <p:nvSpPr>
                <p:cNvPr id="27782" name="Rectangle 134"/>
                <p:cNvSpPr>
                  <a:spLocks noChangeArrowheads="1"/>
                </p:cNvSpPr>
                <p:nvPr/>
              </p:nvSpPr>
              <p:spPr bwMode="auto">
                <a:xfrm>
                  <a:off x="1872" y="1200"/>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3" name="Rectangle 135"/>
                <p:cNvSpPr>
                  <a:spLocks noChangeArrowheads="1"/>
                </p:cNvSpPr>
                <p:nvPr/>
              </p:nvSpPr>
              <p:spPr bwMode="auto">
                <a:xfrm>
                  <a:off x="1488" y="1711"/>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4" name="Line 136"/>
                <p:cNvSpPr>
                  <a:spLocks noChangeShapeType="1"/>
                </p:cNvSpPr>
                <p:nvPr/>
              </p:nvSpPr>
              <p:spPr bwMode="auto">
                <a:xfrm flipH="1">
                  <a:off x="1488"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5" name="Line 137"/>
                <p:cNvSpPr>
                  <a:spLocks noChangeShapeType="1"/>
                </p:cNvSpPr>
                <p:nvPr/>
              </p:nvSpPr>
              <p:spPr bwMode="auto">
                <a:xfrm flipH="1">
                  <a:off x="3024"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6" name="Line 138"/>
                <p:cNvSpPr>
                  <a:spLocks noChangeShapeType="1"/>
                </p:cNvSpPr>
                <p:nvPr/>
              </p:nvSpPr>
              <p:spPr bwMode="auto">
                <a:xfrm flipH="1">
                  <a:off x="1488" y="2352"/>
                  <a:ext cx="384" cy="51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7" name="Line 139"/>
                <p:cNvSpPr>
                  <a:spLocks noChangeShapeType="1"/>
                </p:cNvSpPr>
                <p:nvPr/>
              </p:nvSpPr>
              <p:spPr bwMode="auto">
                <a:xfrm flipH="1">
                  <a:off x="3024" y="2351"/>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27788" name="Line 140"/>
              <p:cNvSpPr>
                <a:spLocks noChangeShapeType="1"/>
              </p:cNvSpPr>
              <p:nvPr/>
            </p:nvSpPr>
            <p:spPr bwMode="auto">
              <a:xfrm flipH="1">
                <a:off x="1872" y="2304"/>
                <a:ext cx="288"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89" name="Line 141"/>
              <p:cNvSpPr>
                <a:spLocks noChangeShapeType="1"/>
              </p:cNvSpPr>
              <p:nvPr/>
            </p:nvSpPr>
            <p:spPr bwMode="auto">
              <a:xfrm flipH="1">
                <a:off x="1488" y="2448"/>
                <a:ext cx="528"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0" name="Line 142"/>
              <p:cNvSpPr>
                <a:spLocks noChangeShapeType="1"/>
              </p:cNvSpPr>
              <p:nvPr/>
            </p:nvSpPr>
            <p:spPr bwMode="auto">
              <a:xfrm flipH="1" flipV="1">
                <a:off x="1536" y="1728"/>
                <a:ext cx="480"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1" name="Line 143"/>
              <p:cNvSpPr>
                <a:spLocks noChangeShapeType="1"/>
              </p:cNvSpPr>
              <p:nvPr/>
            </p:nvSpPr>
            <p:spPr bwMode="auto">
              <a:xfrm flipH="1" flipV="1">
                <a:off x="1872" y="1200"/>
                <a:ext cx="288"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2" name="Line 144"/>
              <p:cNvSpPr>
                <a:spLocks noChangeShapeType="1"/>
              </p:cNvSpPr>
              <p:nvPr/>
            </p:nvSpPr>
            <p:spPr bwMode="auto">
              <a:xfrm flipV="1">
                <a:off x="2688" y="1200"/>
                <a:ext cx="720"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3" name="Line 145"/>
              <p:cNvSpPr>
                <a:spLocks noChangeShapeType="1"/>
              </p:cNvSpPr>
              <p:nvPr/>
            </p:nvSpPr>
            <p:spPr bwMode="auto">
              <a:xfrm>
                <a:off x="2736" y="2304"/>
                <a:ext cx="672"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4" name="Line 146"/>
              <p:cNvSpPr>
                <a:spLocks noChangeShapeType="1"/>
              </p:cNvSpPr>
              <p:nvPr/>
            </p:nvSpPr>
            <p:spPr bwMode="auto">
              <a:xfrm>
                <a:off x="2592" y="2448"/>
                <a:ext cx="432"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5" name="Line 147"/>
              <p:cNvSpPr>
                <a:spLocks noChangeShapeType="1"/>
              </p:cNvSpPr>
              <p:nvPr/>
            </p:nvSpPr>
            <p:spPr bwMode="auto">
              <a:xfrm flipV="1">
                <a:off x="2592" y="1728"/>
                <a:ext cx="432"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27796" name="Group 148"/>
            <p:cNvGrpSpPr>
              <a:grpSpLocks/>
            </p:cNvGrpSpPr>
            <p:nvPr/>
          </p:nvGrpSpPr>
          <p:grpSpPr bwMode="auto">
            <a:xfrm>
              <a:off x="4191000" y="1524000"/>
              <a:ext cx="762000" cy="657225"/>
              <a:chOff x="1488" y="1200"/>
              <a:chExt cx="1920" cy="1662"/>
            </a:xfrm>
          </p:grpSpPr>
          <p:grpSp>
            <p:nvGrpSpPr>
              <p:cNvPr id="27797" name="Group 149"/>
              <p:cNvGrpSpPr>
                <a:grpSpLocks/>
              </p:cNvGrpSpPr>
              <p:nvPr/>
            </p:nvGrpSpPr>
            <p:grpSpPr bwMode="auto">
              <a:xfrm>
                <a:off x="2016" y="1848"/>
                <a:ext cx="720" cy="624"/>
                <a:chOff x="4512" y="432"/>
                <a:chExt cx="720" cy="624"/>
              </a:xfrm>
            </p:grpSpPr>
            <p:sp>
              <p:nvSpPr>
                <p:cNvPr id="27798" name="Rectangle 150"/>
                <p:cNvSpPr>
                  <a:spLocks noChangeArrowheads="1"/>
                </p:cNvSpPr>
                <p:nvPr/>
              </p:nvSpPr>
              <p:spPr bwMode="auto">
                <a:xfrm>
                  <a:off x="4656" y="432"/>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799" name="Rectangle 151"/>
                <p:cNvSpPr>
                  <a:spLocks noChangeArrowheads="1"/>
                </p:cNvSpPr>
                <p:nvPr/>
              </p:nvSpPr>
              <p:spPr bwMode="auto">
                <a:xfrm>
                  <a:off x="4512" y="624"/>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0" name="Line 152"/>
                <p:cNvSpPr>
                  <a:spLocks noChangeShapeType="1"/>
                </p:cNvSpPr>
                <p:nvPr/>
              </p:nvSpPr>
              <p:spPr bwMode="auto">
                <a:xfrm flipH="1">
                  <a:off x="4512"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1" name="Line 153"/>
                <p:cNvSpPr>
                  <a:spLocks noChangeShapeType="1"/>
                </p:cNvSpPr>
                <p:nvPr/>
              </p:nvSpPr>
              <p:spPr bwMode="auto">
                <a:xfrm flipH="1">
                  <a:off x="5088"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2" name="Line 154"/>
                <p:cNvSpPr>
                  <a:spLocks noChangeShapeType="1"/>
                </p:cNvSpPr>
                <p:nvPr/>
              </p:nvSpPr>
              <p:spPr bwMode="auto">
                <a:xfrm flipH="1">
                  <a:off x="4512" y="864"/>
                  <a:ext cx="192"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3" name="Line 155"/>
                <p:cNvSpPr>
                  <a:spLocks noChangeShapeType="1"/>
                </p:cNvSpPr>
                <p:nvPr/>
              </p:nvSpPr>
              <p:spPr bwMode="auto">
                <a:xfrm flipH="1">
                  <a:off x="5088" y="864"/>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27804" name="Group 156"/>
              <p:cNvGrpSpPr>
                <a:grpSpLocks/>
              </p:cNvGrpSpPr>
              <p:nvPr/>
            </p:nvGrpSpPr>
            <p:grpSpPr bwMode="auto">
              <a:xfrm>
                <a:off x="1488" y="1200"/>
                <a:ext cx="1920" cy="1662"/>
                <a:chOff x="1488" y="1200"/>
                <a:chExt cx="1920" cy="1662"/>
              </a:xfrm>
            </p:grpSpPr>
            <p:sp>
              <p:nvSpPr>
                <p:cNvPr id="27805" name="Rectangle 157"/>
                <p:cNvSpPr>
                  <a:spLocks noChangeArrowheads="1"/>
                </p:cNvSpPr>
                <p:nvPr/>
              </p:nvSpPr>
              <p:spPr bwMode="auto">
                <a:xfrm>
                  <a:off x="1872" y="1200"/>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6" name="Rectangle 158"/>
                <p:cNvSpPr>
                  <a:spLocks noChangeArrowheads="1"/>
                </p:cNvSpPr>
                <p:nvPr/>
              </p:nvSpPr>
              <p:spPr bwMode="auto">
                <a:xfrm>
                  <a:off x="1488" y="1711"/>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7" name="Line 159"/>
                <p:cNvSpPr>
                  <a:spLocks noChangeShapeType="1"/>
                </p:cNvSpPr>
                <p:nvPr/>
              </p:nvSpPr>
              <p:spPr bwMode="auto">
                <a:xfrm flipH="1">
                  <a:off x="1488"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8" name="Line 160"/>
                <p:cNvSpPr>
                  <a:spLocks noChangeShapeType="1"/>
                </p:cNvSpPr>
                <p:nvPr/>
              </p:nvSpPr>
              <p:spPr bwMode="auto">
                <a:xfrm flipH="1">
                  <a:off x="3024"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09" name="Line 161"/>
                <p:cNvSpPr>
                  <a:spLocks noChangeShapeType="1"/>
                </p:cNvSpPr>
                <p:nvPr/>
              </p:nvSpPr>
              <p:spPr bwMode="auto">
                <a:xfrm flipH="1">
                  <a:off x="1488" y="2352"/>
                  <a:ext cx="384" cy="51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0" name="Line 162"/>
                <p:cNvSpPr>
                  <a:spLocks noChangeShapeType="1"/>
                </p:cNvSpPr>
                <p:nvPr/>
              </p:nvSpPr>
              <p:spPr bwMode="auto">
                <a:xfrm flipH="1">
                  <a:off x="3024" y="2351"/>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27811" name="Line 163"/>
              <p:cNvSpPr>
                <a:spLocks noChangeShapeType="1"/>
              </p:cNvSpPr>
              <p:nvPr/>
            </p:nvSpPr>
            <p:spPr bwMode="auto">
              <a:xfrm flipH="1">
                <a:off x="1872" y="2304"/>
                <a:ext cx="288"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2" name="Line 164"/>
              <p:cNvSpPr>
                <a:spLocks noChangeShapeType="1"/>
              </p:cNvSpPr>
              <p:nvPr/>
            </p:nvSpPr>
            <p:spPr bwMode="auto">
              <a:xfrm flipH="1">
                <a:off x="1488" y="2448"/>
                <a:ext cx="528"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3" name="Line 165"/>
              <p:cNvSpPr>
                <a:spLocks noChangeShapeType="1"/>
              </p:cNvSpPr>
              <p:nvPr/>
            </p:nvSpPr>
            <p:spPr bwMode="auto">
              <a:xfrm flipH="1" flipV="1">
                <a:off x="1536" y="1728"/>
                <a:ext cx="480"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4" name="Line 166"/>
              <p:cNvSpPr>
                <a:spLocks noChangeShapeType="1"/>
              </p:cNvSpPr>
              <p:nvPr/>
            </p:nvSpPr>
            <p:spPr bwMode="auto">
              <a:xfrm flipH="1" flipV="1">
                <a:off x="1872" y="1200"/>
                <a:ext cx="288"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5" name="Line 167"/>
              <p:cNvSpPr>
                <a:spLocks noChangeShapeType="1"/>
              </p:cNvSpPr>
              <p:nvPr/>
            </p:nvSpPr>
            <p:spPr bwMode="auto">
              <a:xfrm flipV="1">
                <a:off x="2688" y="1200"/>
                <a:ext cx="720"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6" name="Line 168"/>
              <p:cNvSpPr>
                <a:spLocks noChangeShapeType="1"/>
              </p:cNvSpPr>
              <p:nvPr/>
            </p:nvSpPr>
            <p:spPr bwMode="auto">
              <a:xfrm>
                <a:off x="2736" y="2304"/>
                <a:ext cx="672"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7" name="Line 169"/>
              <p:cNvSpPr>
                <a:spLocks noChangeShapeType="1"/>
              </p:cNvSpPr>
              <p:nvPr/>
            </p:nvSpPr>
            <p:spPr bwMode="auto">
              <a:xfrm>
                <a:off x="2592" y="2448"/>
                <a:ext cx="432"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18" name="Line 170"/>
              <p:cNvSpPr>
                <a:spLocks noChangeShapeType="1"/>
              </p:cNvSpPr>
              <p:nvPr/>
            </p:nvSpPr>
            <p:spPr bwMode="auto">
              <a:xfrm flipV="1">
                <a:off x="2592" y="1728"/>
                <a:ext cx="432"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27819" name="Group 171"/>
            <p:cNvGrpSpPr>
              <a:grpSpLocks/>
            </p:cNvGrpSpPr>
            <p:nvPr/>
          </p:nvGrpSpPr>
          <p:grpSpPr bwMode="auto">
            <a:xfrm>
              <a:off x="5410200" y="1981200"/>
              <a:ext cx="762000" cy="657225"/>
              <a:chOff x="1488" y="1200"/>
              <a:chExt cx="1920" cy="1662"/>
            </a:xfrm>
          </p:grpSpPr>
          <p:grpSp>
            <p:nvGrpSpPr>
              <p:cNvPr id="27820" name="Group 172"/>
              <p:cNvGrpSpPr>
                <a:grpSpLocks/>
              </p:cNvGrpSpPr>
              <p:nvPr/>
            </p:nvGrpSpPr>
            <p:grpSpPr bwMode="auto">
              <a:xfrm>
                <a:off x="2016" y="1848"/>
                <a:ext cx="720" cy="624"/>
                <a:chOff x="4512" y="432"/>
                <a:chExt cx="720" cy="624"/>
              </a:xfrm>
            </p:grpSpPr>
            <p:sp>
              <p:nvSpPr>
                <p:cNvPr id="27821" name="Rectangle 173"/>
                <p:cNvSpPr>
                  <a:spLocks noChangeArrowheads="1"/>
                </p:cNvSpPr>
                <p:nvPr/>
              </p:nvSpPr>
              <p:spPr bwMode="auto">
                <a:xfrm>
                  <a:off x="4656" y="432"/>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22" name="Rectangle 174"/>
                <p:cNvSpPr>
                  <a:spLocks noChangeArrowheads="1"/>
                </p:cNvSpPr>
                <p:nvPr/>
              </p:nvSpPr>
              <p:spPr bwMode="auto">
                <a:xfrm>
                  <a:off x="4512" y="624"/>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23" name="Line 175"/>
                <p:cNvSpPr>
                  <a:spLocks noChangeShapeType="1"/>
                </p:cNvSpPr>
                <p:nvPr/>
              </p:nvSpPr>
              <p:spPr bwMode="auto">
                <a:xfrm flipH="1">
                  <a:off x="4512"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24" name="Line 176"/>
                <p:cNvSpPr>
                  <a:spLocks noChangeShapeType="1"/>
                </p:cNvSpPr>
                <p:nvPr/>
              </p:nvSpPr>
              <p:spPr bwMode="auto">
                <a:xfrm flipH="1">
                  <a:off x="5088"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25" name="Line 177"/>
                <p:cNvSpPr>
                  <a:spLocks noChangeShapeType="1"/>
                </p:cNvSpPr>
                <p:nvPr/>
              </p:nvSpPr>
              <p:spPr bwMode="auto">
                <a:xfrm flipH="1">
                  <a:off x="4512" y="864"/>
                  <a:ext cx="192"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26" name="Line 178"/>
                <p:cNvSpPr>
                  <a:spLocks noChangeShapeType="1"/>
                </p:cNvSpPr>
                <p:nvPr/>
              </p:nvSpPr>
              <p:spPr bwMode="auto">
                <a:xfrm flipH="1">
                  <a:off x="5088" y="864"/>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27827" name="Group 179"/>
              <p:cNvGrpSpPr>
                <a:grpSpLocks/>
              </p:cNvGrpSpPr>
              <p:nvPr/>
            </p:nvGrpSpPr>
            <p:grpSpPr bwMode="auto">
              <a:xfrm>
                <a:off x="1488" y="1200"/>
                <a:ext cx="1920" cy="1662"/>
                <a:chOff x="1488" y="1200"/>
                <a:chExt cx="1920" cy="1662"/>
              </a:xfrm>
            </p:grpSpPr>
            <p:sp>
              <p:nvSpPr>
                <p:cNvPr id="27828" name="Rectangle 180"/>
                <p:cNvSpPr>
                  <a:spLocks noChangeArrowheads="1"/>
                </p:cNvSpPr>
                <p:nvPr/>
              </p:nvSpPr>
              <p:spPr bwMode="auto">
                <a:xfrm>
                  <a:off x="1872" y="1200"/>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29" name="Rectangle 181"/>
                <p:cNvSpPr>
                  <a:spLocks noChangeArrowheads="1"/>
                </p:cNvSpPr>
                <p:nvPr/>
              </p:nvSpPr>
              <p:spPr bwMode="auto">
                <a:xfrm>
                  <a:off x="1488" y="1711"/>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0" name="Line 182"/>
                <p:cNvSpPr>
                  <a:spLocks noChangeShapeType="1"/>
                </p:cNvSpPr>
                <p:nvPr/>
              </p:nvSpPr>
              <p:spPr bwMode="auto">
                <a:xfrm flipH="1">
                  <a:off x="1488"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1" name="Line 183"/>
                <p:cNvSpPr>
                  <a:spLocks noChangeShapeType="1"/>
                </p:cNvSpPr>
                <p:nvPr/>
              </p:nvSpPr>
              <p:spPr bwMode="auto">
                <a:xfrm flipH="1">
                  <a:off x="3024"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2" name="Line 184"/>
                <p:cNvSpPr>
                  <a:spLocks noChangeShapeType="1"/>
                </p:cNvSpPr>
                <p:nvPr/>
              </p:nvSpPr>
              <p:spPr bwMode="auto">
                <a:xfrm flipH="1">
                  <a:off x="1488" y="2352"/>
                  <a:ext cx="384" cy="51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3" name="Line 185"/>
                <p:cNvSpPr>
                  <a:spLocks noChangeShapeType="1"/>
                </p:cNvSpPr>
                <p:nvPr/>
              </p:nvSpPr>
              <p:spPr bwMode="auto">
                <a:xfrm flipH="1">
                  <a:off x="3024" y="2351"/>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27834" name="Line 186"/>
              <p:cNvSpPr>
                <a:spLocks noChangeShapeType="1"/>
              </p:cNvSpPr>
              <p:nvPr/>
            </p:nvSpPr>
            <p:spPr bwMode="auto">
              <a:xfrm flipH="1">
                <a:off x="1872" y="2304"/>
                <a:ext cx="288"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5" name="Line 187"/>
              <p:cNvSpPr>
                <a:spLocks noChangeShapeType="1"/>
              </p:cNvSpPr>
              <p:nvPr/>
            </p:nvSpPr>
            <p:spPr bwMode="auto">
              <a:xfrm flipH="1">
                <a:off x="1488" y="2448"/>
                <a:ext cx="528"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6" name="Line 188"/>
              <p:cNvSpPr>
                <a:spLocks noChangeShapeType="1"/>
              </p:cNvSpPr>
              <p:nvPr/>
            </p:nvSpPr>
            <p:spPr bwMode="auto">
              <a:xfrm flipH="1" flipV="1">
                <a:off x="1536" y="1728"/>
                <a:ext cx="480"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7" name="Line 189"/>
              <p:cNvSpPr>
                <a:spLocks noChangeShapeType="1"/>
              </p:cNvSpPr>
              <p:nvPr/>
            </p:nvSpPr>
            <p:spPr bwMode="auto">
              <a:xfrm flipH="1" flipV="1">
                <a:off x="1872" y="1200"/>
                <a:ext cx="288"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8" name="Line 190"/>
              <p:cNvSpPr>
                <a:spLocks noChangeShapeType="1"/>
              </p:cNvSpPr>
              <p:nvPr/>
            </p:nvSpPr>
            <p:spPr bwMode="auto">
              <a:xfrm flipV="1">
                <a:off x="2688" y="1200"/>
                <a:ext cx="720"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39" name="Line 191"/>
              <p:cNvSpPr>
                <a:spLocks noChangeShapeType="1"/>
              </p:cNvSpPr>
              <p:nvPr/>
            </p:nvSpPr>
            <p:spPr bwMode="auto">
              <a:xfrm>
                <a:off x="2736" y="2304"/>
                <a:ext cx="672"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40" name="Line 192"/>
              <p:cNvSpPr>
                <a:spLocks noChangeShapeType="1"/>
              </p:cNvSpPr>
              <p:nvPr/>
            </p:nvSpPr>
            <p:spPr bwMode="auto">
              <a:xfrm>
                <a:off x="2592" y="2448"/>
                <a:ext cx="432"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7841" name="Line 193"/>
              <p:cNvSpPr>
                <a:spLocks noChangeShapeType="1"/>
              </p:cNvSpPr>
              <p:nvPr/>
            </p:nvSpPr>
            <p:spPr bwMode="auto">
              <a:xfrm flipV="1">
                <a:off x="2592" y="1728"/>
                <a:ext cx="432"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sp>
        <p:nvSpPr>
          <p:cNvPr id="27843" name="Rectangle 195"/>
          <p:cNvSpPr>
            <a:spLocks noChangeArrowheads="1"/>
          </p:cNvSpPr>
          <p:nvPr/>
        </p:nvSpPr>
        <p:spPr bwMode="auto">
          <a:xfrm>
            <a:off x="5720556" y="3210667"/>
            <a:ext cx="2274888" cy="181588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marL="342900" lvl="3" fontAlgn="base">
              <a:spcBef>
                <a:spcPct val="20000"/>
              </a:spcBef>
              <a:spcAft>
                <a:spcPct val="0"/>
              </a:spcAft>
            </a:pPr>
            <a:r>
              <a:rPr lang="en-US" sz="1400" dirty="0">
                <a:solidFill>
                  <a:srgbClr val="000000"/>
                </a:solidFill>
                <a:latin typeface="Times" charset="0"/>
                <a:ea typeface="ＭＳ Ｐゴシック" charset="0"/>
                <a:cs typeface="ＭＳ Ｐゴシック" charset="0"/>
              </a:rPr>
              <a:t>Undetected bit error rate</a:t>
            </a:r>
          </a:p>
          <a:p>
            <a:pPr marL="342900" lvl="3" fontAlgn="base">
              <a:spcBef>
                <a:spcPct val="20000"/>
              </a:spcBef>
              <a:spcAft>
                <a:spcPct val="0"/>
              </a:spcAft>
            </a:pPr>
            <a:r>
              <a:rPr lang="en-US" sz="1400" dirty="0">
                <a:solidFill>
                  <a:srgbClr val="000000"/>
                </a:solidFill>
                <a:latin typeface="Times" charset="0"/>
                <a:ea typeface="ＭＳ Ｐゴシック" charset="0"/>
                <a:cs typeface="ＭＳ Ｐゴシック" charset="0"/>
              </a:rPr>
              <a:t>Partial Delivery</a:t>
            </a:r>
          </a:p>
          <a:p>
            <a:pPr marL="342900" lvl="3" fontAlgn="base">
              <a:spcBef>
                <a:spcPct val="20000"/>
              </a:spcBef>
              <a:spcAft>
                <a:spcPct val="0"/>
              </a:spcAft>
            </a:pPr>
            <a:r>
              <a:rPr lang="en-US" sz="1400" dirty="0">
                <a:solidFill>
                  <a:srgbClr val="000000"/>
                </a:solidFill>
                <a:latin typeface="Times" charset="0"/>
                <a:ea typeface="ＭＳ Ｐゴシック" charset="0"/>
                <a:cs typeface="ＭＳ Ｐゴシック" charset="0"/>
              </a:rPr>
              <a:t>Order</a:t>
            </a:r>
          </a:p>
          <a:p>
            <a:pPr marL="342900" lvl="3" fontAlgn="base">
              <a:spcBef>
                <a:spcPct val="20000"/>
              </a:spcBef>
              <a:spcAft>
                <a:spcPct val="0"/>
              </a:spcAft>
            </a:pPr>
            <a:r>
              <a:rPr lang="en-US" sz="1400" dirty="0">
                <a:solidFill>
                  <a:srgbClr val="000000"/>
                </a:solidFill>
                <a:latin typeface="Times" charset="0"/>
                <a:ea typeface="ＭＳ Ｐゴシック" charset="0"/>
                <a:cs typeface="ＭＳ Ｐゴシック" charset="0"/>
              </a:rPr>
              <a:t>Max allowable gap in SDUs</a:t>
            </a:r>
          </a:p>
          <a:p>
            <a:pPr marL="342900" lvl="3" fontAlgn="base">
              <a:spcBef>
                <a:spcPct val="20000"/>
              </a:spcBef>
              <a:spcAft>
                <a:spcPct val="0"/>
              </a:spcAft>
            </a:pPr>
            <a:r>
              <a:rPr lang="en-US" sz="1400" dirty="0">
                <a:solidFill>
                  <a:srgbClr val="000000"/>
                </a:solidFill>
                <a:latin typeface="Times" charset="0"/>
                <a:ea typeface="ＭＳ Ｐゴシック" charset="0"/>
                <a:cs typeface="ＭＳ Ｐゴシック" charset="0"/>
              </a:rPr>
              <a:t>Delay</a:t>
            </a:r>
          </a:p>
          <a:p>
            <a:pPr marL="342900" lvl="3" fontAlgn="base">
              <a:spcBef>
                <a:spcPct val="20000"/>
              </a:spcBef>
              <a:spcAft>
                <a:spcPct val="0"/>
              </a:spcAft>
            </a:pPr>
            <a:r>
              <a:rPr lang="en-US" sz="1400" dirty="0">
                <a:solidFill>
                  <a:srgbClr val="000000"/>
                </a:solidFill>
                <a:latin typeface="Times" charset="0"/>
                <a:ea typeface="ＭＳ Ｐゴシック" charset="0"/>
                <a:cs typeface="ＭＳ Ｐゴシック" charset="0"/>
              </a:rPr>
              <a:t>Jitter</a:t>
            </a:r>
          </a:p>
        </p:txBody>
      </p:sp>
      <p:sp>
        <p:nvSpPr>
          <p:cNvPr id="2" name="Text Box 4">
            <a:extLst>
              <a:ext uri="{FF2B5EF4-FFF2-40B4-BE49-F238E27FC236}">
                <a16:creationId xmlns:a16="http://schemas.microsoft.com/office/drawing/2014/main" id="{DA5272E6-84DB-D74C-A142-A3F8616934D7}"/>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033570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defRPr/>
            </a:pPr>
            <a:r>
              <a:rPr lang="en-US" dirty="0">
                <a:solidFill>
                  <a:srgbClr val="000000"/>
                </a:solidFill>
                <a:cs typeface="+mj-cs"/>
              </a:rPr>
              <a:t>A Few Comments</a:t>
            </a:r>
          </a:p>
        </p:txBody>
      </p:sp>
      <p:sp>
        <p:nvSpPr>
          <p:cNvPr id="55299" name="Rectangle 3"/>
          <p:cNvSpPr>
            <a:spLocks noGrp="1" noChangeArrowheads="1"/>
          </p:cNvSpPr>
          <p:nvPr>
            <p:ph type="body" idx="1"/>
          </p:nvPr>
        </p:nvSpPr>
        <p:spPr>
          <a:xfrm>
            <a:off x="2698751" y="1377950"/>
            <a:ext cx="7681913" cy="4527550"/>
          </a:xfrm>
        </p:spPr>
        <p:txBody>
          <a:bodyPr/>
          <a:lstStyle/>
          <a:p>
            <a:pPr marL="317500" indent="-317500">
              <a:defRPr/>
            </a:pPr>
            <a:r>
              <a:rPr lang="en-US" dirty="0">
                <a:cs typeface="+mn-cs"/>
              </a:rPr>
              <a:t>What, No Listen?</a:t>
            </a:r>
          </a:p>
          <a:p>
            <a:pPr marL="698500" lvl="1" indent="-317500">
              <a:defRPr/>
            </a:pPr>
            <a:r>
              <a:rPr lang="en-US" dirty="0">
                <a:cs typeface="+mn-cs"/>
              </a:rPr>
              <a:t>No, why should a process have to be running before an allocate request?</a:t>
            </a:r>
          </a:p>
          <a:p>
            <a:pPr marL="698500" lvl="1" indent="-317500">
              <a:defRPr/>
            </a:pPr>
            <a:r>
              <a:rPr lang="en-US" dirty="0">
                <a:cs typeface="+mn-cs"/>
              </a:rPr>
              <a:t>It doesn’t have to be in an OS.</a:t>
            </a:r>
          </a:p>
          <a:p>
            <a:pPr marL="317500" indent="-317500">
              <a:defRPr/>
            </a:pPr>
            <a:r>
              <a:rPr lang="en-US" dirty="0">
                <a:cs typeface="+mn-cs"/>
              </a:rPr>
              <a:t>Stream </a:t>
            </a:r>
            <a:r>
              <a:rPr lang="en-US" dirty="0" err="1">
                <a:cs typeface="+mn-cs"/>
              </a:rPr>
              <a:t>vs</a:t>
            </a:r>
            <a:r>
              <a:rPr lang="en-US" dirty="0">
                <a:cs typeface="+mn-cs"/>
              </a:rPr>
              <a:t> Record </a:t>
            </a:r>
            <a:r>
              <a:rPr lang="en-US" dirty="0" err="1">
                <a:cs typeface="+mn-cs"/>
              </a:rPr>
              <a:t>vs</a:t>
            </a:r>
            <a:r>
              <a:rPr lang="en-US" dirty="0">
                <a:cs typeface="+mn-cs"/>
              </a:rPr>
              <a:t> Idempotent (SDUs)</a:t>
            </a:r>
          </a:p>
          <a:p>
            <a:pPr marL="342900" indent="-342900">
              <a:defRPr/>
            </a:pPr>
            <a:r>
              <a:rPr lang="en-US" dirty="0">
                <a:cs typeface="+mn-cs"/>
              </a:rPr>
              <a:t>Connection/connectionless is not a service but a function.</a:t>
            </a:r>
          </a:p>
          <a:p>
            <a:pPr marL="635000" lvl="1" indent="-241300">
              <a:defRPr/>
            </a:pPr>
            <a:r>
              <a:rPr lang="en-US" dirty="0"/>
              <a:t>The distinction should not be visible across the layer boundary.</a:t>
            </a:r>
          </a:p>
          <a:p>
            <a:pPr marL="635000" lvl="1" indent="-241300">
              <a:defRPr/>
            </a:pPr>
            <a:endParaRPr lang="en-US" sz="1800" dirty="0"/>
          </a:p>
          <a:p>
            <a:pPr marL="292100" indent="-292100">
              <a:defRPr/>
            </a:pPr>
            <a:r>
              <a:rPr lang="en-US" dirty="0"/>
              <a:t>As you can tell, I am a firm believer that terminology makes a difference.  Try to think in terms of the terminology. </a:t>
            </a:r>
          </a:p>
          <a:p>
            <a:pPr marL="673100" lvl="1" indent="-292100">
              <a:defRPr/>
            </a:pPr>
            <a:r>
              <a:rPr lang="en-US" dirty="0"/>
              <a:t>Don’t translate to what you know. It just keeps in your familiar box.  </a:t>
            </a:r>
          </a:p>
          <a:p>
            <a:pPr marL="673100" lvl="1" indent="-292100">
              <a:defRPr/>
            </a:pPr>
            <a:r>
              <a:rPr lang="en-US" dirty="0"/>
              <a:t>You will miss opportunities to have new insights and it is likely wrong.</a:t>
            </a:r>
          </a:p>
        </p:txBody>
      </p:sp>
      <p:sp>
        <p:nvSpPr>
          <p:cNvPr id="55300"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55301" name="Rectangle 5"/>
          <p:cNvSpPr>
            <a:spLocks noChangeArrowheads="1"/>
          </p:cNvSpPr>
          <p:nvPr/>
        </p:nvSpPr>
        <p:spPr bwMode="auto">
          <a:xfrm>
            <a:off x="12861925" y="927101"/>
            <a:ext cx="184150"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2254407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2362200" y="304800"/>
            <a:ext cx="7772400" cy="1143000"/>
          </a:xfrm>
        </p:spPr>
        <p:txBody>
          <a:bodyPr/>
          <a:lstStyle/>
          <a:p>
            <a:pPr eaLnBrk="1" hangingPunct="1">
              <a:defRPr/>
            </a:pPr>
            <a:r>
              <a:rPr lang="en-US" dirty="0">
                <a:solidFill>
                  <a:schemeClr val="tx1"/>
                </a:solidFill>
                <a:cs typeface="+mj-cs"/>
              </a:rPr>
              <a:t>The Structure of Data Transfer Protocols</a:t>
            </a:r>
          </a:p>
        </p:txBody>
      </p:sp>
      <p:sp>
        <p:nvSpPr>
          <p:cNvPr id="186371" name="Rectangle 3"/>
          <p:cNvSpPr>
            <a:spLocks noGrp="1" noChangeArrowheads="1"/>
          </p:cNvSpPr>
          <p:nvPr>
            <p:ph type="body" idx="1"/>
          </p:nvPr>
        </p:nvSpPr>
        <p:spPr>
          <a:xfrm>
            <a:off x="2286000" y="1600199"/>
            <a:ext cx="7580312" cy="4769069"/>
          </a:xfrm>
        </p:spPr>
        <p:txBody>
          <a:bodyPr/>
          <a:lstStyle/>
          <a:p>
            <a:pPr marL="342900" indent="-342900" eaLnBrk="1" hangingPunct="1">
              <a:defRPr/>
            </a:pPr>
            <a:r>
              <a:rPr lang="en-US" sz="1800" dirty="0">
                <a:cs typeface="+mn-cs"/>
              </a:rPr>
              <a:t>There seemed to be two kinds of protocols:</a:t>
            </a:r>
          </a:p>
          <a:p>
            <a:pPr marL="742950" lvl="1" indent="-285750" eaLnBrk="1" hangingPunct="1">
              <a:defRPr/>
            </a:pPr>
            <a:r>
              <a:rPr lang="en-US" sz="1400" dirty="0"/>
              <a:t>Error and Flow Control and Relaying/Multiplexing</a:t>
            </a:r>
          </a:p>
          <a:p>
            <a:pPr marL="742950" lvl="1" indent="-285750" eaLnBrk="1" hangingPunct="1">
              <a:defRPr/>
            </a:pPr>
            <a:r>
              <a:rPr lang="en-US" sz="1400" dirty="0"/>
              <a:t>And they alternate in the architecture</a:t>
            </a:r>
          </a:p>
          <a:p>
            <a:pPr marL="742950" lvl="1" indent="-285750" eaLnBrk="1" hangingPunct="1">
              <a:defRPr/>
            </a:pPr>
            <a:r>
              <a:rPr lang="en-US" sz="1400" dirty="0"/>
              <a:t>That was what we were doing, but it wasn’t what the problem was saying</a:t>
            </a:r>
          </a:p>
          <a:p>
            <a:pPr marL="742950" lvl="1" indent="-285750" eaLnBrk="1" hangingPunct="1">
              <a:defRPr/>
            </a:pPr>
            <a:endParaRPr lang="en-US" sz="1400" dirty="0"/>
          </a:p>
          <a:p>
            <a:pPr marL="742950" lvl="1" indent="-285750" eaLnBrk="1" hangingPunct="1">
              <a:defRPr/>
            </a:pPr>
            <a:endParaRPr lang="en-US" sz="1400" dirty="0"/>
          </a:p>
          <a:p>
            <a:pPr marL="742950" lvl="1" indent="-285750" eaLnBrk="1" hangingPunct="1">
              <a:defRPr/>
            </a:pPr>
            <a:endParaRPr lang="en-US" sz="1800" dirty="0"/>
          </a:p>
          <a:p>
            <a:pPr marL="342900" indent="-342900" eaLnBrk="1" hangingPunct="1">
              <a:defRPr/>
            </a:pPr>
            <a:r>
              <a:rPr lang="en-US" sz="1800" dirty="0">
                <a:cs typeface="+mn-cs"/>
              </a:rPr>
              <a:t>What happens if we separate mechanism and policy?</a:t>
            </a:r>
          </a:p>
          <a:p>
            <a:pPr marL="742950" lvl="1" indent="-285750" eaLnBrk="1" hangingPunct="1">
              <a:defRPr/>
            </a:pPr>
            <a:r>
              <a:rPr lang="en-US" sz="1400" dirty="0"/>
              <a:t>Two kinds of mechanisms:</a:t>
            </a:r>
          </a:p>
          <a:p>
            <a:pPr marL="1085850" lvl="2" indent="-228600" eaLnBrk="1" hangingPunct="1">
              <a:defRPr/>
            </a:pPr>
            <a:r>
              <a:rPr lang="en-US" sz="1200" dirty="0"/>
              <a:t>Tight-Bound:  Those that must be associated with the Transfer PDU</a:t>
            </a:r>
          </a:p>
          <a:p>
            <a:pPr marL="1085850" lvl="2" indent="-228600" eaLnBrk="1" hangingPunct="1">
              <a:defRPr/>
            </a:pPr>
            <a:r>
              <a:rPr lang="en-US" sz="1200" dirty="0"/>
              <a:t>Loosely-Bound:  Those that don</a:t>
            </a:r>
            <a:r>
              <a:rPr lang="en-US" sz="1200" dirty="0">
                <a:latin typeface="Arial"/>
              </a:rPr>
              <a:t>’</a:t>
            </a:r>
            <a:r>
              <a:rPr lang="en-US" sz="1200" dirty="0"/>
              <a:t>t have to be.</a:t>
            </a:r>
          </a:p>
          <a:p>
            <a:pPr marL="1085850" lvl="2" indent="-228600" eaLnBrk="1" hangingPunct="1">
              <a:defRPr/>
            </a:pPr>
            <a:r>
              <a:rPr lang="en-US" sz="1200" dirty="0"/>
              <a:t>the two are only loosely coupled through a state vector.</a:t>
            </a:r>
          </a:p>
          <a:p>
            <a:pPr marL="704850" lvl="1" indent="-228600" eaLnBrk="1" hangingPunct="1">
              <a:defRPr/>
            </a:pPr>
            <a:r>
              <a:rPr lang="en-US" sz="1400" dirty="0"/>
              <a:t>Relaying must be distinct from SDU Protection and Multiplexing</a:t>
            </a:r>
          </a:p>
          <a:p>
            <a:pPr marL="1085850" lvl="2" indent="-228600" eaLnBrk="1" hangingPunct="1">
              <a:defRPr/>
            </a:pPr>
            <a:r>
              <a:rPr lang="en-US" sz="1200" dirty="0"/>
              <a:t>One SDU Protection and Multiplexing task per (N-1)-port</a:t>
            </a:r>
          </a:p>
          <a:p>
            <a:pPr marL="1085850" lvl="2" indent="-228600" eaLnBrk="1" hangingPunct="1">
              <a:defRPr/>
            </a:pPr>
            <a:r>
              <a:rPr lang="en-US" sz="1200" dirty="0"/>
              <a:t>One Relaying Task per IPC Process</a:t>
            </a:r>
          </a:p>
          <a:p>
            <a:pPr marL="704850" lvl="1" indent="-228600" eaLnBrk="1" hangingPunct="1">
              <a:defRPr/>
            </a:pPr>
            <a:r>
              <a:rPr lang="en-US" sz="1400" dirty="0"/>
              <a:t>Delimiting and Packing SDUs into User-Data are not part of the Protocol</a:t>
            </a:r>
          </a:p>
          <a:p>
            <a:pPr marL="323850" indent="-228600" eaLnBrk="1" hangingPunct="1">
              <a:defRPr/>
            </a:pPr>
            <a:r>
              <a:rPr lang="en-US" sz="1800" dirty="0"/>
              <a:t>Implies a very different structure for protocols and their implementations</a:t>
            </a:r>
          </a:p>
          <a:p>
            <a:pPr marL="1219200" lvl="2" indent="-228600" eaLnBrk="1" hangingPunct="1">
              <a:defRPr/>
            </a:pPr>
            <a:r>
              <a:rPr lang="en-US" sz="1400" dirty="0"/>
              <a:t>Right, they split TCP in the wrong direction</a:t>
            </a:r>
          </a:p>
          <a:p>
            <a:pPr marL="1600200" lvl="3" indent="-228600" eaLnBrk="1" hangingPunct="1">
              <a:defRPr/>
            </a:pPr>
            <a:endParaRPr lang="en-US" sz="1400" dirty="0"/>
          </a:p>
        </p:txBody>
      </p:sp>
      <p:grpSp>
        <p:nvGrpSpPr>
          <p:cNvPr id="186372" name="Group 4"/>
          <p:cNvGrpSpPr>
            <a:grpSpLocks/>
          </p:cNvGrpSpPr>
          <p:nvPr/>
        </p:nvGrpSpPr>
        <p:grpSpPr bwMode="auto">
          <a:xfrm>
            <a:off x="2970212" y="2752165"/>
            <a:ext cx="3278188" cy="685800"/>
            <a:chOff x="1968" y="2496"/>
            <a:chExt cx="2065" cy="432"/>
          </a:xfrm>
        </p:grpSpPr>
        <p:grpSp>
          <p:nvGrpSpPr>
            <p:cNvPr id="26638" name="Group 5"/>
            <p:cNvGrpSpPr>
              <a:grpSpLocks/>
            </p:cNvGrpSpPr>
            <p:nvPr/>
          </p:nvGrpSpPr>
          <p:grpSpPr bwMode="auto">
            <a:xfrm>
              <a:off x="2628" y="2496"/>
              <a:ext cx="504" cy="432"/>
              <a:chOff x="4761" y="11524"/>
              <a:chExt cx="1260" cy="1080"/>
            </a:xfrm>
          </p:grpSpPr>
          <p:sp>
            <p:nvSpPr>
              <p:cNvPr id="26641" name="Rectangle 6"/>
              <p:cNvSpPr>
                <a:spLocks noChangeArrowheads="1"/>
              </p:cNvSpPr>
              <p:nvPr/>
            </p:nvSpPr>
            <p:spPr bwMode="auto">
              <a:xfrm>
                <a:off x="5121" y="11524"/>
                <a:ext cx="180" cy="1080"/>
              </a:xfrm>
              <a:prstGeom prst="rect">
                <a:avLst/>
              </a:prstGeom>
              <a:solidFill>
                <a:srgbClr val="FFFFFF"/>
              </a:solidFill>
              <a:ln w="9525">
                <a:solidFill>
                  <a:srgbClr val="000000"/>
                </a:solidFill>
                <a:miter lim="800000"/>
                <a:headEnd/>
                <a:tailEnd/>
              </a:ln>
            </p:spPr>
            <p:txBody>
              <a:bodyP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26642" name="Oval 7"/>
              <p:cNvSpPr>
                <a:spLocks noChangeArrowheads="1"/>
              </p:cNvSpPr>
              <p:nvPr/>
            </p:nvSpPr>
            <p:spPr bwMode="auto">
              <a:xfrm>
                <a:off x="4761" y="11524"/>
                <a:ext cx="360" cy="1080"/>
              </a:xfrm>
              <a:prstGeom prst="ellipse">
                <a:avLst/>
              </a:prstGeom>
              <a:solidFill>
                <a:srgbClr val="FFFFFF"/>
              </a:solidFill>
              <a:ln w="9525">
                <a:solidFill>
                  <a:srgbClr val="000000"/>
                </a:solidFill>
                <a:round/>
                <a:headEnd/>
                <a:tailEnd/>
              </a:ln>
            </p:spPr>
            <p:txBody>
              <a:bodyP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26643" name="Oval 8"/>
              <p:cNvSpPr>
                <a:spLocks noChangeArrowheads="1"/>
              </p:cNvSpPr>
              <p:nvPr/>
            </p:nvSpPr>
            <p:spPr bwMode="auto">
              <a:xfrm>
                <a:off x="5301" y="11524"/>
                <a:ext cx="720" cy="1080"/>
              </a:xfrm>
              <a:prstGeom prst="ellipse">
                <a:avLst/>
              </a:prstGeom>
              <a:solidFill>
                <a:srgbClr val="FFFFFF"/>
              </a:solidFill>
              <a:ln w="9525">
                <a:solidFill>
                  <a:srgbClr val="000000"/>
                </a:solidFill>
                <a:round/>
                <a:headEnd/>
                <a:tailEnd/>
              </a:ln>
            </p:spPr>
            <p:txBody>
              <a:bodyP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sp>
          <p:nvSpPr>
            <p:cNvPr id="26639" name="Text Box 9"/>
            <p:cNvSpPr txBox="1">
              <a:spLocks noChangeArrowheads="1"/>
            </p:cNvSpPr>
            <p:nvPr/>
          </p:nvSpPr>
          <p:spPr bwMode="auto">
            <a:xfrm>
              <a:off x="1968" y="2592"/>
              <a:ext cx="671" cy="2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fontAlgn="base">
                <a:spcBef>
                  <a:spcPct val="0"/>
                </a:spcBef>
                <a:spcAft>
                  <a:spcPct val="0"/>
                </a:spcAft>
              </a:pPr>
              <a:r>
                <a:rPr lang="en-US" sz="1200" dirty="0">
                  <a:solidFill>
                    <a:srgbClr val="000000"/>
                  </a:solidFill>
                  <a:latin typeface="Times" charset="0"/>
                </a:rPr>
                <a:t>Tightly-bound</a:t>
              </a:r>
            </a:p>
            <a:p>
              <a:pPr algn="ctr" fontAlgn="base">
                <a:spcBef>
                  <a:spcPct val="0"/>
                </a:spcBef>
                <a:spcAft>
                  <a:spcPct val="0"/>
                </a:spcAft>
              </a:pPr>
              <a:r>
                <a:rPr lang="en-US" sz="1200" dirty="0">
                  <a:solidFill>
                    <a:srgbClr val="000000"/>
                  </a:solidFill>
                  <a:latin typeface="Times" charset="0"/>
                </a:rPr>
                <a:t>(pipelined)</a:t>
              </a:r>
            </a:p>
          </p:txBody>
        </p:sp>
        <p:sp>
          <p:nvSpPr>
            <p:cNvPr id="26640" name="Text Box 10"/>
            <p:cNvSpPr txBox="1">
              <a:spLocks noChangeArrowheads="1"/>
            </p:cNvSpPr>
            <p:nvPr/>
          </p:nvSpPr>
          <p:spPr bwMode="auto">
            <a:xfrm>
              <a:off x="3164" y="2592"/>
              <a:ext cx="869" cy="29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fontAlgn="base">
                <a:spcBef>
                  <a:spcPct val="0"/>
                </a:spcBef>
                <a:spcAft>
                  <a:spcPct val="0"/>
                </a:spcAft>
              </a:pPr>
              <a:r>
                <a:rPr lang="en-US" sz="1200">
                  <a:solidFill>
                    <a:srgbClr val="000000"/>
                  </a:solidFill>
                  <a:latin typeface="Times" charset="0"/>
                </a:rPr>
                <a:t>Loosely-bound</a:t>
              </a:r>
            </a:p>
            <a:p>
              <a:pPr algn="ctr" fontAlgn="base">
                <a:spcBef>
                  <a:spcPct val="0"/>
                </a:spcBef>
                <a:spcAft>
                  <a:spcPct val="0"/>
                </a:spcAft>
              </a:pPr>
              <a:r>
                <a:rPr lang="en-US" sz="1200">
                  <a:solidFill>
                    <a:srgbClr val="000000"/>
                  </a:solidFill>
                  <a:latin typeface="Times" charset="0"/>
                </a:rPr>
                <a:t>(Policy processing)</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fade">
                                      <p:cBhvr>
                                        <p:cTn id="7" dur="1000"/>
                                        <p:tgtEl>
                                          <p:spTgt spid="186371">
                                            <p:txEl>
                                              <p:pRg st="0" end="0"/>
                                            </p:txEl>
                                          </p:spTgt>
                                        </p:tgtEl>
                                      </p:cBhvr>
                                    </p:animEffect>
                                    <p:anim calcmode="lin" valueType="num">
                                      <p:cBhvr>
                                        <p:cTn id="8" dur="1000" fill="hold"/>
                                        <p:tgtEl>
                                          <p:spTgt spid="1863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63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6371">
                                            <p:txEl>
                                              <p:pRg st="1" end="1"/>
                                            </p:txEl>
                                          </p:spTgt>
                                        </p:tgtEl>
                                        <p:attrNameLst>
                                          <p:attrName>style.visibility</p:attrName>
                                        </p:attrNameLst>
                                      </p:cBhvr>
                                      <p:to>
                                        <p:strVal val="visible"/>
                                      </p:to>
                                    </p:set>
                                    <p:animEffect transition="in" filter="fade">
                                      <p:cBhvr>
                                        <p:cTn id="12" dur="1000"/>
                                        <p:tgtEl>
                                          <p:spTgt spid="186371">
                                            <p:txEl>
                                              <p:pRg st="1" end="1"/>
                                            </p:txEl>
                                          </p:spTgt>
                                        </p:tgtEl>
                                      </p:cBhvr>
                                    </p:animEffect>
                                    <p:anim calcmode="lin" valueType="num">
                                      <p:cBhvr>
                                        <p:cTn id="13" dur="1000" fill="hold"/>
                                        <p:tgtEl>
                                          <p:spTgt spid="1863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8637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6371">
                                            <p:txEl>
                                              <p:pRg st="2" end="2"/>
                                            </p:txEl>
                                          </p:spTgt>
                                        </p:tgtEl>
                                        <p:attrNameLst>
                                          <p:attrName>style.visibility</p:attrName>
                                        </p:attrNameLst>
                                      </p:cBhvr>
                                      <p:to>
                                        <p:strVal val="visible"/>
                                      </p:to>
                                    </p:set>
                                    <p:animEffect transition="in" filter="fade">
                                      <p:cBhvr>
                                        <p:cTn id="17" dur="1000"/>
                                        <p:tgtEl>
                                          <p:spTgt spid="186371">
                                            <p:txEl>
                                              <p:pRg st="2" end="2"/>
                                            </p:txEl>
                                          </p:spTgt>
                                        </p:tgtEl>
                                      </p:cBhvr>
                                    </p:animEffect>
                                    <p:anim calcmode="lin" valueType="num">
                                      <p:cBhvr>
                                        <p:cTn id="18" dur="1000" fill="hold"/>
                                        <p:tgtEl>
                                          <p:spTgt spid="1863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8637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86371">
                                            <p:txEl>
                                              <p:pRg st="3" end="3"/>
                                            </p:txEl>
                                          </p:spTgt>
                                        </p:tgtEl>
                                        <p:attrNameLst>
                                          <p:attrName>style.visibility</p:attrName>
                                        </p:attrNameLst>
                                      </p:cBhvr>
                                      <p:to>
                                        <p:strVal val="visible"/>
                                      </p:to>
                                    </p:set>
                                    <p:animEffect transition="in" filter="fade">
                                      <p:cBhvr>
                                        <p:cTn id="22" dur="1000"/>
                                        <p:tgtEl>
                                          <p:spTgt spid="186371">
                                            <p:txEl>
                                              <p:pRg st="3" end="3"/>
                                            </p:txEl>
                                          </p:spTgt>
                                        </p:tgtEl>
                                      </p:cBhvr>
                                    </p:animEffect>
                                    <p:anim calcmode="lin" valueType="num">
                                      <p:cBhvr>
                                        <p:cTn id="23" dur="1000" fill="hold"/>
                                        <p:tgtEl>
                                          <p:spTgt spid="18637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863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86371">
                                            <p:txEl>
                                              <p:pRg st="7" end="7"/>
                                            </p:txEl>
                                          </p:spTgt>
                                        </p:tgtEl>
                                        <p:attrNameLst>
                                          <p:attrName>style.visibility</p:attrName>
                                        </p:attrNameLst>
                                      </p:cBhvr>
                                      <p:to>
                                        <p:strVal val="visible"/>
                                      </p:to>
                                    </p:set>
                                    <p:animEffect transition="in" filter="fade">
                                      <p:cBhvr>
                                        <p:cTn id="29" dur="1000"/>
                                        <p:tgtEl>
                                          <p:spTgt spid="186371">
                                            <p:txEl>
                                              <p:pRg st="7" end="7"/>
                                            </p:txEl>
                                          </p:spTgt>
                                        </p:tgtEl>
                                      </p:cBhvr>
                                    </p:animEffect>
                                    <p:anim calcmode="lin" valueType="num">
                                      <p:cBhvr>
                                        <p:cTn id="30" dur="1000" fill="hold"/>
                                        <p:tgtEl>
                                          <p:spTgt spid="186371">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186371">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86371">
                                            <p:txEl>
                                              <p:pRg st="8" end="8"/>
                                            </p:txEl>
                                          </p:spTgt>
                                        </p:tgtEl>
                                        <p:attrNameLst>
                                          <p:attrName>style.visibility</p:attrName>
                                        </p:attrNameLst>
                                      </p:cBhvr>
                                      <p:to>
                                        <p:strVal val="visible"/>
                                      </p:to>
                                    </p:set>
                                    <p:animEffect transition="in" filter="fade">
                                      <p:cBhvr>
                                        <p:cTn id="34" dur="1000"/>
                                        <p:tgtEl>
                                          <p:spTgt spid="186371">
                                            <p:txEl>
                                              <p:pRg st="8" end="8"/>
                                            </p:txEl>
                                          </p:spTgt>
                                        </p:tgtEl>
                                      </p:cBhvr>
                                    </p:animEffect>
                                    <p:anim calcmode="lin" valueType="num">
                                      <p:cBhvr>
                                        <p:cTn id="35" dur="1000" fill="hold"/>
                                        <p:tgtEl>
                                          <p:spTgt spid="186371">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186371">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6371">
                                            <p:txEl>
                                              <p:pRg st="9" end="9"/>
                                            </p:txEl>
                                          </p:spTgt>
                                        </p:tgtEl>
                                        <p:attrNameLst>
                                          <p:attrName>style.visibility</p:attrName>
                                        </p:attrNameLst>
                                      </p:cBhvr>
                                      <p:to>
                                        <p:strVal val="visible"/>
                                      </p:to>
                                    </p:set>
                                    <p:animEffect transition="in" filter="fade">
                                      <p:cBhvr>
                                        <p:cTn id="39" dur="1000"/>
                                        <p:tgtEl>
                                          <p:spTgt spid="186371">
                                            <p:txEl>
                                              <p:pRg st="9" end="9"/>
                                            </p:txEl>
                                          </p:spTgt>
                                        </p:tgtEl>
                                      </p:cBhvr>
                                    </p:animEffect>
                                    <p:anim calcmode="lin" valueType="num">
                                      <p:cBhvr>
                                        <p:cTn id="40" dur="1000" fill="hold"/>
                                        <p:tgtEl>
                                          <p:spTgt spid="186371">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186371">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86371">
                                            <p:txEl>
                                              <p:pRg st="10" end="10"/>
                                            </p:txEl>
                                          </p:spTgt>
                                        </p:tgtEl>
                                        <p:attrNameLst>
                                          <p:attrName>style.visibility</p:attrName>
                                        </p:attrNameLst>
                                      </p:cBhvr>
                                      <p:to>
                                        <p:strVal val="visible"/>
                                      </p:to>
                                    </p:set>
                                    <p:animEffect transition="in" filter="fade">
                                      <p:cBhvr>
                                        <p:cTn id="44" dur="1000"/>
                                        <p:tgtEl>
                                          <p:spTgt spid="186371">
                                            <p:txEl>
                                              <p:pRg st="10" end="10"/>
                                            </p:txEl>
                                          </p:spTgt>
                                        </p:tgtEl>
                                      </p:cBhvr>
                                    </p:animEffect>
                                    <p:anim calcmode="lin" valueType="num">
                                      <p:cBhvr>
                                        <p:cTn id="45" dur="1000" fill="hold"/>
                                        <p:tgtEl>
                                          <p:spTgt spid="186371">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186371">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86371">
                                            <p:txEl>
                                              <p:pRg st="11" end="11"/>
                                            </p:txEl>
                                          </p:spTgt>
                                        </p:tgtEl>
                                        <p:attrNameLst>
                                          <p:attrName>style.visibility</p:attrName>
                                        </p:attrNameLst>
                                      </p:cBhvr>
                                      <p:to>
                                        <p:strVal val="visible"/>
                                      </p:to>
                                    </p:set>
                                    <p:animEffect transition="in" filter="fade">
                                      <p:cBhvr>
                                        <p:cTn id="49" dur="1000"/>
                                        <p:tgtEl>
                                          <p:spTgt spid="186371">
                                            <p:txEl>
                                              <p:pRg st="11" end="11"/>
                                            </p:txEl>
                                          </p:spTgt>
                                        </p:tgtEl>
                                      </p:cBhvr>
                                    </p:animEffect>
                                    <p:anim calcmode="lin" valueType="num">
                                      <p:cBhvr>
                                        <p:cTn id="50" dur="1000" fill="hold"/>
                                        <p:tgtEl>
                                          <p:spTgt spid="186371">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186371">
                                            <p:txEl>
                                              <p:pRg st="11" end="11"/>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86371">
                                            <p:txEl>
                                              <p:pRg st="12" end="12"/>
                                            </p:txEl>
                                          </p:spTgt>
                                        </p:tgtEl>
                                        <p:attrNameLst>
                                          <p:attrName>style.visibility</p:attrName>
                                        </p:attrNameLst>
                                      </p:cBhvr>
                                      <p:to>
                                        <p:strVal val="visible"/>
                                      </p:to>
                                    </p:set>
                                    <p:animEffect transition="in" filter="fade">
                                      <p:cBhvr>
                                        <p:cTn id="54" dur="1000"/>
                                        <p:tgtEl>
                                          <p:spTgt spid="186371">
                                            <p:txEl>
                                              <p:pRg st="12" end="12"/>
                                            </p:txEl>
                                          </p:spTgt>
                                        </p:tgtEl>
                                      </p:cBhvr>
                                    </p:animEffect>
                                    <p:anim calcmode="lin" valueType="num">
                                      <p:cBhvr>
                                        <p:cTn id="55" dur="1000" fill="hold"/>
                                        <p:tgtEl>
                                          <p:spTgt spid="186371">
                                            <p:txEl>
                                              <p:pRg st="12" end="12"/>
                                            </p:txEl>
                                          </p:spTgt>
                                        </p:tgtEl>
                                        <p:attrNameLst>
                                          <p:attrName>ppt_x</p:attrName>
                                        </p:attrNameLst>
                                      </p:cBhvr>
                                      <p:tavLst>
                                        <p:tav tm="0">
                                          <p:val>
                                            <p:strVal val="#ppt_x"/>
                                          </p:val>
                                        </p:tav>
                                        <p:tav tm="100000">
                                          <p:val>
                                            <p:strVal val="#ppt_x"/>
                                          </p:val>
                                        </p:tav>
                                      </p:tavLst>
                                    </p:anim>
                                    <p:anim calcmode="lin" valueType="num">
                                      <p:cBhvr>
                                        <p:cTn id="56" dur="1000" fill="hold"/>
                                        <p:tgtEl>
                                          <p:spTgt spid="186371">
                                            <p:txEl>
                                              <p:pRg st="12" end="12"/>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86371">
                                            <p:txEl>
                                              <p:pRg st="13" end="13"/>
                                            </p:txEl>
                                          </p:spTgt>
                                        </p:tgtEl>
                                        <p:attrNameLst>
                                          <p:attrName>style.visibility</p:attrName>
                                        </p:attrNameLst>
                                      </p:cBhvr>
                                      <p:to>
                                        <p:strVal val="visible"/>
                                      </p:to>
                                    </p:set>
                                    <p:animEffect transition="in" filter="fade">
                                      <p:cBhvr>
                                        <p:cTn id="59" dur="1000"/>
                                        <p:tgtEl>
                                          <p:spTgt spid="186371">
                                            <p:txEl>
                                              <p:pRg st="13" end="13"/>
                                            </p:txEl>
                                          </p:spTgt>
                                        </p:tgtEl>
                                      </p:cBhvr>
                                    </p:animEffect>
                                    <p:anim calcmode="lin" valueType="num">
                                      <p:cBhvr>
                                        <p:cTn id="60" dur="1000" fill="hold"/>
                                        <p:tgtEl>
                                          <p:spTgt spid="186371">
                                            <p:txEl>
                                              <p:pRg st="13" end="13"/>
                                            </p:txEl>
                                          </p:spTgt>
                                        </p:tgtEl>
                                        <p:attrNameLst>
                                          <p:attrName>ppt_x</p:attrName>
                                        </p:attrNameLst>
                                      </p:cBhvr>
                                      <p:tavLst>
                                        <p:tav tm="0">
                                          <p:val>
                                            <p:strVal val="#ppt_x"/>
                                          </p:val>
                                        </p:tav>
                                        <p:tav tm="100000">
                                          <p:val>
                                            <p:strVal val="#ppt_x"/>
                                          </p:val>
                                        </p:tav>
                                      </p:tavLst>
                                    </p:anim>
                                    <p:anim calcmode="lin" valueType="num">
                                      <p:cBhvr>
                                        <p:cTn id="61" dur="1000" fill="hold"/>
                                        <p:tgtEl>
                                          <p:spTgt spid="186371">
                                            <p:txEl>
                                              <p:pRg st="13" end="13"/>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86371">
                                            <p:txEl>
                                              <p:pRg st="14" end="14"/>
                                            </p:txEl>
                                          </p:spTgt>
                                        </p:tgtEl>
                                        <p:attrNameLst>
                                          <p:attrName>style.visibility</p:attrName>
                                        </p:attrNameLst>
                                      </p:cBhvr>
                                      <p:to>
                                        <p:strVal val="visible"/>
                                      </p:to>
                                    </p:set>
                                    <p:animEffect transition="in" filter="fade">
                                      <p:cBhvr>
                                        <p:cTn id="64" dur="1000"/>
                                        <p:tgtEl>
                                          <p:spTgt spid="186371">
                                            <p:txEl>
                                              <p:pRg st="14" end="14"/>
                                            </p:txEl>
                                          </p:spTgt>
                                        </p:tgtEl>
                                      </p:cBhvr>
                                    </p:animEffect>
                                    <p:anim calcmode="lin" valueType="num">
                                      <p:cBhvr>
                                        <p:cTn id="65" dur="1000" fill="hold"/>
                                        <p:tgtEl>
                                          <p:spTgt spid="186371">
                                            <p:txEl>
                                              <p:pRg st="14" end="14"/>
                                            </p:txEl>
                                          </p:spTgt>
                                        </p:tgtEl>
                                        <p:attrNameLst>
                                          <p:attrName>ppt_x</p:attrName>
                                        </p:attrNameLst>
                                      </p:cBhvr>
                                      <p:tavLst>
                                        <p:tav tm="0">
                                          <p:val>
                                            <p:strVal val="#ppt_x"/>
                                          </p:val>
                                        </p:tav>
                                        <p:tav tm="100000">
                                          <p:val>
                                            <p:strVal val="#ppt_x"/>
                                          </p:val>
                                        </p:tav>
                                      </p:tavLst>
                                    </p:anim>
                                    <p:anim calcmode="lin" valueType="num">
                                      <p:cBhvr>
                                        <p:cTn id="66" dur="1000" fill="hold"/>
                                        <p:tgtEl>
                                          <p:spTgt spid="186371">
                                            <p:txEl>
                                              <p:pRg st="14" end="14"/>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86371">
                                            <p:txEl>
                                              <p:pRg st="15" end="15"/>
                                            </p:txEl>
                                          </p:spTgt>
                                        </p:tgtEl>
                                        <p:attrNameLst>
                                          <p:attrName>style.visibility</p:attrName>
                                        </p:attrNameLst>
                                      </p:cBhvr>
                                      <p:to>
                                        <p:strVal val="visible"/>
                                      </p:to>
                                    </p:set>
                                    <p:animEffect transition="in" filter="fade">
                                      <p:cBhvr>
                                        <p:cTn id="69" dur="1000"/>
                                        <p:tgtEl>
                                          <p:spTgt spid="186371">
                                            <p:txEl>
                                              <p:pRg st="15" end="15"/>
                                            </p:txEl>
                                          </p:spTgt>
                                        </p:tgtEl>
                                      </p:cBhvr>
                                    </p:animEffect>
                                    <p:anim calcmode="lin" valueType="num">
                                      <p:cBhvr>
                                        <p:cTn id="70" dur="1000" fill="hold"/>
                                        <p:tgtEl>
                                          <p:spTgt spid="186371">
                                            <p:txEl>
                                              <p:pRg st="15" end="15"/>
                                            </p:txEl>
                                          </p:spTgt>
                                        </p:tgtEl>
                                        <p:attrNameLst>
                                          <p:attrName>ppt_x</p:attrName>
                                        </p:attrNameLst>
                                      </p:cBhvr>
                                      <p:tavLst>
                                        <p:tav tm="0">
                                          <p:val>
                                            <p:strVal val="#ppt_x"/>
                                          </p:val>
                                        </p:tav>
                                        <p:tav tm="100000">
                                          <p:val>
                                            <p:strVal val="#ppt_x"/>
                                          </p:val>
                                        </p:tav>
                                      </p:tavLst>
                                    </p:anim>
                                    <p:anim calcmode="lin" valueType="num">
                                      <p:cBhvr>
                                        <p:cTn id="71" dur="1000" fill="hold"/>
                                        <p:tgtEl>
                                          <p:spTgt spid="186371">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186371">
                                            <p:txEl>
                                              <p:pRg st="16" end="16"/>
                                            </p:txEl>
                                          </p:spTgt>
                                        </p:tgtEl>
                                        <p:attrNameLst>
                                          <p:attrName>style.visibility</p:attrName>
                                        </p:attrNameLst>
                                      </p:cBhvr>
                                      <p:to>
                                        <p:strVal val="visible"/>
                                      </p:to>
                                    </p:set>
                                    <p:animEffect transition="in" filter="fade">
                                      <p:cBhvr>
                                        <p:cTn id="76" dur="1000"/>
                                        <p:tgtEl>
                                          <p:spTgt spid="186371">
                                            <p:txEl>
                                              <p:pRg st="16" end="16"/>
                                            </p:txEl>
                                          </p:spTgt>
                                        </p:tgtEl>
                                      </p:cBhvr>
                                    </p:animEffect>
                                    <p:anim calcmode="lin" valueType="num">
                                      <p:cBhvr>
                                        <p:cTn id="77" dur="1000" fill="hold"/>
                                        <p:tgtEl>
                                          <p:spTgt spid="186371">
                                            <p:txEl>
                                              <p:pRg st="16" end="16"/>
                                            </p:txEl>
                                          </p:spTgt>
                                        </p:tgtEl>
                                        <p:attrNameLst>
                                          <p:attrName>ppt_x</p:attrName>
                                        </p:attrNameLst>
                                      </p:cBhvr>
                                      <p:tavLst>
                                        <p:tav tm="0">
                                          <p:val>
                                            <p:strVal val="#ppt_x"/>
                                          </p:val>
                                        </p:tav>
                                        <p:tav tm="100000">
                                          <p:val>
                                            <p:strVal val="#ppt_x"/>
                                          </p:val>
                                        </p:tav>
                                      </p:tavLst>
                                    </p:anim>
                                    <p:anim calcmode="lin" valueType="num">
                                      <p:cBhvr>
                                        <p:cTn id="78" dur="1000" fill="hold"/>
                                        <p:tgtEl>
                                          <p:spTgt spid="186371">
                                            <p:txEl>
                                              <p:pRg st="16" end="16"/>
                                            </p:txEl>
                                          </p:spTgt>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86371">
                                            <p:txEl>
                                              <p:pRg st="17" end="17"/>
                                            </p:txEl>
                                          </p:spTgt>
                                        </p:tgtEl>
                                        <p:attrNameLst>
                                          <p:attrName>style.visibility</p:attrName>
                                        </p:attrNameLst>
                                      </p:cBhvr>
                                      <p:to>
                                        <p:strVal val="visible"/>
                                      </p:to>
                                    </p:set>
                                    <p:animEffect transition="in" filter="fade">
                                      <p:cBhvr>
                                        <p:cTn id="81" dur="1000"/>
                                        <p:tgtEl>
                                          <p:spTgt spid="186371">
                                            <p:txEl>
                                              <p:pRg st="17" end="17"/>
                                            </p:txEl>
                                          </p:spTgt>
                                        </p:tgtEl>
                                      </p:cBhvr>
                                    </p:animEffect>
                                    <p:anim calcmode="lin" valueType="num">
                                      <p:cBhvr>
                                        <p:cTn id="82" dur="1000" fill="hold"/>
                                        <p:tgtEl>
                                          <p:spTgt spid="186371">
                                            <p:txEl>
                                              <p:pRg st="17" end="17"/>
                                            </p:txEl>
                                          </p:spTgt>
                                        </p:tgtEl>
                                        <p:attrNameLst>
                                          <p:attrName>ppt_x</p:attrName>
                                        </p:attrNameLst>
                                      </p:cBhvr>
                                      <p:tavLst>
                                        <p:tav tm="0">
                                          <p:val>
                                            <p:strVal val="#ppt_x"/>
                                          </p:val>
                                        </p:tav>
                                        <p:tav tm="100000">
                                          <p:val>
                                            <p:strVal val="#ppt_x"/>
                                          </p:val>
                                        </p:tav>
                                      </p:tavLst>
                                    </p:anim>
                                    <p:anim calcmode="lin" valueType="num">
                                      <p:cBhvr>
                                        <p:cTn id="83" dur="1000" fill="hold"/>
                                        <p:tgtEl>
                                          <p:spTgt spid="186371">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42" presetClass="entr" presetSubtype="0" fill="hold" nodeType="clickEffect">
                                  <p:stCondLst>
                                    <p:cond delay="0"/>
                                  </p:stCondLst>
                                  <p:childTnLst>
                                    <p:set>
                                      <p:cBhvr>
                                        <p:cTn id="87" dur="1" fill="hold">
                                          <p:stCondLst>
                                            <p:cond delay="0"/>
                                          </p:stCondLst>
                                        </p:cTn>
                                        <p:tgtEl>
                                          <p:spTgt spid="186372"/>
                                        </p:tgtEl>
                                        <p:attrNameLst>
                                          <p:attrName>style.visibility</p:attrName>
                                        </p:attrNameLst>
                                      </p:cBhvr>
                                      <p:to>
                                        <p:strVal val="visible"/>
                                      </p:to>
                                    </p:set>
                                    <p:animEffect transition="in" filter="fade">
                                      <p:cBhvr>
                                        <p:cTn id="88" dur="1000"/>
                                        <p:tgtEl>
                                          <p:spTgt spid="186372"/>
                                        </p:tgtEl>
                                      </p:cBhvr>
                                    </p:animEffect>
                                    <p:anim calcmode="lin" valueType="num">
                                      <p:cBhvr>
                                        <p:cTn id="89" dur="1000" fill="hold"/>
                                        <p:tgtEl>
                                          <p:spTgt spid="186372"/>
                                        </p:tgtEl>
                                        <p:attrNameLst>
                                          <p:attrName>ppt_x</p:attrName>
                                        </p:attrNameLst>
                                      </p:cBhvr>
                                      <p:tavLst>
                                        <p:tav tm="0">
                                          <p:val>
                                            <p:strVal val="#ppt_x"/>
                                          </p:val>
                                        </p:tav>
                                        <p:tav tm="100000">
                                          <p:val>
                                            <p:strVal val="#ppt_x"/>
                                          </p:val>
                                        </p:tav>
                                      </p:tavLst>
                                    </p:anim>
                                    <p:anim calcmode="lin" valueType="num">
                                      <p:cBhvr>
                                        <p:cTn id="90" dur="1000" fill="hold"/>
                                        <p:tgtEl>
                                          <p:spTgt spid="1863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en-US" dirty="0">
                <a:solidFill>
                  <a:srgbClr val="000000"/>
                </a:solidFill>
                <a:cs typeface="+mj-cs"/>
              </a:rPr>
              <a:t>Functions of Data Transfer: (1)</a:t>
            </a:r>
          </a:p>
        </p:txBody>
      </p:sp>
      <p:sp>
        <p:nvSpPr>
          <p:cNvPr id="54275" name="Rectangle 3"/>
          <p:cNvSpPr>
            <a:spLocks noGrp="1" noChangeArrowheads="1"/>
          </p:cNvSpPr>
          <p:nvPr>
            <p:ph type="body" idx="1"/>
          </p:nvPr>
        </p:nvSpPr>
        <p:spPr>
          <a:xfrm>
            <a:off x="2438401" y="1528764"/>
            <a:ext cx="7624763" cy="2947987"/>
          </a:xfrm>
        </p:spPr>
        <p:txBody>
          <a:bodyPr>
            <a:normAutofit/>
          </a:bodyPr>
          <a:lstStyle/>
          <a:p>
            <a:pPr marL="266700" indent="-266700">
              <a:defRPr/>
            </a:pPr>
            <a:r>
              <a:rPr lang="en-US" dirty="0">
                <a:cs typeface="+mn-cs"/>
              </a:rPr>
              <a:t>For roughly 50 years, we have been designing data communication protocols.</a:t>
            </a:r>
          </a:p>
          <a:p>
            <a:pPr marL="266700" indent="-266700">
              <a:defRPr/>
            </a:pPr>
            <a:r>
              <a:rPr lang="en-US" dirty="0">
                <a:cs typeface="+mn-cs"/>
              </a:rPr>
              <a:t>In that time a small set of functions have been found to be useful. No new functions have appeared for decades.</a:t>
            </a:r>
          </a:p>
          <a:p>
            <a:pPr marL="266700" indent="-266700">
              <a:defRPr/>
            </a:pPr>
            <a:r>
              <a:rPr lang="en-US" dirty="0">
                <a:cs typeface="+mn-cs"/>
              </a:rPr>
              <a:t>What we have seen is the same mechanisms with different policies.</a:t>
            </a:r>
          </a:p>
          <a:p>
            <a:pPr marL="749300" lvl="1" indent="-254000">
              <a:buFontTx/>
              <a:buChar char="•"/>
              <a:defRPr/>
            </a:pPr>
            <a:r>
              <a:rPr lang="en-US" dirty="0"/>
              <a:t>Separating mechanism and policy is going to prove important.</a:t>
            </a:r>
          </a:p>
          <a:p>
            <a:pPr marL="0" indent="0">
              <a:buNone/>
              <a:defRPr/>
            </a:pPr>
            <a:endParaRPr lang="en-US" dirty="0">
              <a:cs typeface="+mn-cs"/>
            </a:endParaRPr>
          </a:p>
        </p:txBody>
      </p:sp>
      <p:sp>
        <p:nvSpPr>
          <p:cNvPr id="54276"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231553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defRPr/>
            </a:pPr>
            <a:r>
              <a:rPr lang="en-US" dirty="0">
                <a:solidFill>
                  <a:srgbClr val="000000"/>
                </a:solidFill>
                <a:cs typeface="+mj-cs"/>
              </a:rPr>
              <a:t>Functions of Data Transfer (2)</a:t>
            </a:r>
          </a:p>
        </p:txBody>
      </p:sp>
      <p:sp>
        <p:nvSpPr>
          <p:cNvPr id="56323" name="Rectangle 3"/>
          <p:cNvSpPr>
            <a:spLocks noGrp="1" noChangeArrowheads="1"/>
          </p:cNvSpPr>
          <p:nvPr>
            <p:ph type="body" idx="1"/>
          </p:nvPr>
        </p:nvSpPr>
        <p:spPr>
          <a:xfrm>
            <a:off x="2661018" y="3756026"/>
            <a:ext cx="7003682" cy="2736849"/>
          </a:xfrm>
        </p:spPr>
        <p:txBody>
          <a:bodyPr>
            <a:normAutofit fontScale="92500"/>
          </a:bodyPr>
          <a:lstStyle/>
          <a:p>
            <a:pPr indent="-317500">
              <a:defRPr/>
            </a:pPr>
            <a:r>
              <a:rPr lang="en-US" sz="1800" dirty="0">
                <a:cs typeface="+mn-cs"/>
              </a:rPr>
              <a:t>Mapping SDUs to PDU-User Data </a:t>
            </a:r>
            <a:r>
              <a:rPr lang="en-US" sz="1600" dirty="0">
                <a:cs typeface="+mn-cs"/>
              </a:rPr>
              <a:t>(not part of the (N)-Protocol)</a:t>
            </a:r>
          </a:p>
          <a:p>
            <a:pPr lvl="1" indent="-317500">
              <a:defRPr/>
            </a:pPr>
            <a:r>
              <a:rPr lang="en-US" sz="1600" dirty="0">
                <a:cs typeface="+mn-cs"/>
              </a:rPr>
              <a:t>Delimiting – Marking the boundaries of an SDU, so we can find them again.</a:t>
            </a:r>
          </a:p>
          <a:p>
            <a:pPr lvl="1" indent="-317500">
              <a:defRPr/>
            </a:pPr>
            <a:r>
              <a:rPr lang="en-US" sz="1600" dirty="0">
                <a:cs typeface="+mn-cs"/>
              </a:rPr>
              <a:t>Fragmentation/Reassembly; Combining/Separation – Last Step of Delimiting (un)mapping SDUs to the User-Data fields of PDUs</a:t>
            </a:r>
          </a:p>
          <a:p>
            <a:pPr indent="-317500">
              <a:defRPr/>
            </a:pPr>
            <a:r>
              <a:rPr lang="en-US" sz="1800" dirty="0">
                <a:cs typeface="+mn-cs"/>
              </a:rPr>
              <a:t>Ordering/Sequencing – Putting the PDUs in order, or putting sequence  numbers on them for sending</a:t>
            </a:r>
          </a:p>
          <a:p>
            <a:pPr eaLnBrk="1" hangingPunct="1">
              <a:defRPr/>
            </a:pPr>
            <a:r>
              <a:rPr lang="en-US" sz="1800" dirty="0"/>
              <a:t>SDU Protection </a:t>
            </a:r>
            <a:r>
              <a:rPr lang="en-US" sz="1700" dirty="0"/>
              <a:t>(not part of the (N)-Protocol, determined by the (N-1)-layer)</a:t>
            </a:r>
          </a:p>
          <a:p>
            <a:pPr lvl="1">
              <a:defRPr/>
            </a:pPr>
            <a:r>
              <a:rPr lang="en-US" sz="1600" dirty="0"/>
              <a:t>Data Corruption Detection/Correction – Making sure that the bits in the packet are correct (within some probability)</a:t>
            </a:r>
          </a:p>
          <a:p>
            <a:pPr eaLnBrk="1" hangingPunct="1">
              <a:defRPr/>
            </a:pPr>
            <a:endParaRPr lang="en-US" sz="1800" dirty="0">
              <a:cs typeface="+mn-cs"/>
            </a:endParaRPr>
          </a:p>
        </p:txBody>
      </p:sp>
      <p:sp>
        <p:nvSpPr>
          <p:cNvPr id="56324"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2" name="TextBox 1"/>
          <p:cNvSpPr txBox="1"/>
          <p:nvPr/>
        </p:nvSpPr>
        <p:spPr>
          <a:xfrm>
            <a:off x="4064000" y="2781300"/>
            <a:ext cx="1219200" cy="400050"/>
          </a:xfrm>
          <a:prstGeom prst="rect">
            <a:avLst/>
          </a:prstGeom>
          <a:noFill/>
          <a:ln>
            <a:solidFill>
              <a:schemeClr val="tx1"/>
            </a:solidFill>
          </a:ln>
        </p:spPr>
        <p:txBody>
          <a:bodyPr>
            <a:spAutoFit/>
          </a:bodyPr>
          <a:lstStyle/>
          <a:p>
            <a:pPr algn="ctr" fontAlgn="base">
              <a:spcBef>
                <a:spcPct val="0"/>
              </a:spcBef>
              <a:spcAft>
                <a:spcPct val="0"/>
              </a:spcAft>
              <a:defRPr/>
            </a:pPr>
            <a:r>
              <a:rPr lang="en-US" sz="1000" dirty="0">
                <a:solidFill>
                  <a:srgbClr val="000000"/>
                </a:solidFill>
                <a:latin typeface="Times New Roman"/>
                <a:ea typeface="ＭＳ Ｐゴシック" charset="0"/>
                <a:cs typeface="ＭＳ Ｐゴシック" charset="0"/>
              </a:rPr>
              <a:t>Data Corruption Detection</a:t>
            </a:r>
          </a:p>
        </p:txBody>
      </p:sp>
      <p:cxnSp>
        <p:nvCxnSpPr>
          <p:cNvPr id="4" name="Straight Connector 3"/>
          <p:cNvCxnSpPr/>
          <p:nvPr/>
        </p:nvCxnSpPr>
        <p:spPr bwMode="auto">
          <a:xfrm flipV="1">
            <a:off x="3238500" y="3238500"/>
            <a:ext cx="5854700" cy="25400"/>
          </a:xfrm>
          <a:prstGeom prst="line">
            <a:avLst/>
          </a:prstGeom>
          <a:ln w="28575" cmpd="sng">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5" name="TextBox 4"/>
          <p:cNvSpPr txBox="1">
            <a:spLocks noChangeArrowheads="1"/>
          </p:cNvSpPr>
          <p:nvPr/>
        </p:nvSpPr>
        <p:spPr bwMode="auto">
          <a:xfrm>
            <a:off x="4064000" y="2489200"/>
            <a:ext cx="1206500" cy="254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Ordering</a:t>
            </a:r>
          </a:p>
        </p:txBody>
      </p:sp>
      <p:sp>
        <p:nvSpPr>
          <p:cNvPr id="6" name="TextBox 5"/>
          <p:cNvSpPr txBox="1">
            <a:spLocks noChangeArrowheads="1"/>
          </p:cNvSpPr>
          <p:nvPr/>
        </p:nvSpPr>
        <p:spPr bwMode="auto">
          <a:xfrm>
            <a:off x="4051300" y="2222501"/>
            <a:ext cx="1206500" cy="246063"/>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Frag/Reassemb</a:t>
            </a:r>
          </a:p>
        </p:txBody>
      </p:sp>
      <p:sp>
        <p:nvSpPr>
          <p:cNvPr id="7" name="TextBox 6"/>
          <p:cNvSpPr txBox="1">
            <a:spLocks noChangeArrowheads="1"/>
          </p:cNvSpPr>
          <p:nvPr/>
        </p:nvSpPr>
        <p:spPr bwMode="auto">
          <a:xfrm>
            <a:off x="4038600" y="1968501"/>
            <a:ext cx="1231900" cy="246063"/>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Delimiting</a:t>
            </a:r>
          </a:p>
        </p:txBody>
      </p:sp>
      <p:cxnSp>
        <p:nvCxnSpPr>
          <p:cNvPr id="9" name="Straight Arrow Connector 8"/>
          <p:cNvCxnSpPr/>
          <p:nvPr/>
        </p:nvCxnSpPr>
        <p:spPr bwMode="auto">
          <a:xfrm>
            <a:off x="4508500" y="3200400"/>
            <a:ext cx="0" cy="4572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3" name="Straight Arrow Connector 12"/>
          <p:cNvCxnSpPr/>
          <p:nvPr/>
        </p:nvCxnSpPr>
        <p:spPr bwMode="auto">
          <a:xfrm flipH="1" flipV="1">
            <a:off x="4876800" y="3238500"/>
            <a:ext cx="12700" cy="381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9" name="Straight Connector 18"/>
          <p:cNvCxnSpPr/>
          <p:nvPr/>
        </p:nvCxnSpPr>
        <p:spPr bwMode="auto">
          <a:xfrm flipV="1">
            <a:off x="2844800" y="1727200"/>
            <a:ext cx="5854700" cy="25400"/>
          </a:xfrm>
          <a:prstGeom prst="line">
            <a:avLst/>
          </a:prstGeom>
          <a:ln w="28575" cmpd="sng">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bwMode="auto">
          <a:xfrm>
            <a:off x="4483100" y="1485900"/>
            <a:ext cx="0" cy="4572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21" name="Straight Arrow Connector 20"/>
          <p:cNvCxnSpPr/>
          <p:nvPr/>
        </p:nvCxnSpPr>
        <p:spPr bwMode="auto">
          <a:xfrm flipH="1" flipV="1">
            <a:off x="4889500" y="1536700"/>
            <a:ext cx="12700" cy="381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3390019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32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32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32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32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P spid="2" grpId="0" animBg="1"/>
      <p:bldP spid="5" grpId="0" animBg="1"/>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838200" y="-82549"/>
            <a:ext cx="10515600" cy="1325563"/>
          </a:xfrm>
        </p:spPr>
        <p:txBody>
          <a:bodyPr/>
          <a:lstStyle/>
          <a:p>
            <a:pPr eaLnBrk="1" hangingPunct="1">
              <a:defRPr/>
            </a:pPr>
            <a:r>
              <a:rPr lang="en-US" dirty="0">
                <a:solidFill>
                  <a:srgbClr val="000000"/>
                </a:solidFill>
                <a:cs typeface="+mj-cs"/>
              </a:rPr>
              <a:t>Functions of Data Transfer (3)</a:t>
            </a:r>
          </a:p>
        </p:txBody>
      </p:sp>
      <p:sp>
        <p:nvSpPr>
          <p:cNvPr id="188419" name="Rectangle 3"/>
          <p:cNvSpPr>
            <a:spLocks noGrp="1" noChangeArrowheads="1"/>
          </p:cNvSpPr>
          <p:nvPr>
            <p:ph type="body" idx="1"/>
          </p:nvPr>
        </p:nvSpPr>
        <p:spPr>
          <a:xfrm>
            <a:off x="2446797" y="3293456"/>
            <a:ext cx="7804150" cy="2857500"/>
          </a:xfrm>
        </p:spPr>
        <p:txBody>
          <a:bodyPr/>
          <a:lstStyle/>
          <a:p>
            <a:pPr marL="342900" indent="-317500">
              <a:defRPr/>
            </a:pPr>
            <a:r>
              <a:rPr lang="en-US" sz="1800" dirty="0">
                <a:cs typeface="+mn-cs"/>
              </a:rPr>
              <a:t>Lost and Duplicate Detection – Recovering from Loss due to Congestion or error bursts,</a:t>
            </a:r>
            <a:r>
              <a:rPr lang="en-US" sz="1800" dirty="0"/>
              <a:t> Detecting</a:t>
            </a:r>
            <a:r>
              <a:rPr lang="en-US" sz="1800" dirty="0">
                <a:cs typeface="+mn-cs"/>
              </a:rPr>
              <a:t> loss of entire PDUs, or duplicates due to retransmission.</a:t>
            </a:r>
          </a:p>
          <a:p>
            <a:pPr marL="342900" indent="-317500">
              <a:defRPr/>
            </a:pPr>
            <a:r>
              <a:rPr lang="en-US" sz="1800" dirty="0">
                <a:cs typeface="+mn-cs"/>
              </a:rPr>
              <a:t>Retransmission Control (Acknowledgement) – Recovering from lost PDUs.</a:t>
            </a:r>
          </a:p>
          <a:p>
            <a:pPr marL="342900" indent="-317500">
              <a:defRPr/>
            </a:pPr>
            <a:r>
              <a:rPr lang="en-US" sz="1800" dirty="0">
                <a:cs typeface="+mn-cs"/>
              </a:rPr>
              <a:t>Flow Control – Keeping the sender from over-running the receiver, using either a Sliding Window or Rate-based.</a:t>
            </a:r>
          </a:p>
          <a:p>
            <a:pPr marL="342900" indent="-317500">
              <a:defRPr/>
            </a:pPr>
            <a:r>
              <a:rPr lang="en-US" sz="1800" dirty="0">
                <a:cs typeface="+mn-cs"/>
              </a:rPr>
              <a:t>Synchronization – Ensuring that the sender and receiver maintain consistent state relative to each other.</a:t>
            </a:r>
          </a:p>
          <a:p>
            <a:pPr marL="342900" indent="-317500">
              <a:defRPr/>
            </a:pPr>
            <a:r>
              <a:rPr lang="en-US" sz="1800" dirty="0">
                <a:cs typeface="+mn-cs"/>
              </a:rPr>
              <a:t>Allocation/Deallocation – Allocating/Deallocating port-ids and creating the mapping to connection-endpoint-ids. (Discussed in next lecture.)</a:t>
            </a:r>
          </a:p>
        </p:txBody>
      </p:sp>
      <p:sp>
        <p:nvSpPr>
          <p:cNvPr id="188420"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grpSp>
        <p:nvGrpSpPr>
          <p:cNvPr id="9" name="Group 8">
            <a:extLst>
              <a:ext uri="{FF2B5EF4-FFF2-40B4-BE49-F238E27FC236}">
                <a16:creationId xmlns:a16="http://schemas.microsoft.com/office/drawing/2014/main" id="{C6F6F188-2E0F-BDBB-59C0-0A149195076B}"/>
              </a:ext>
            </a:extLst>
          </p:cNvPr>
          <p:cNvGrpSpPr/>
          <p:nvPr/>
        </p:nvGrpSpPr>
        <p:grpSpPr>
          <a:xfrm>
            <a:off x="2292611" y="865348"/>
            <a:ext cx="6008886" cy="2252502"/>
            <a:chOff x="2292611" y="865348"/>
            <a:chExt cx="6008886" cy="2252502"/>
          </a:xfrm>
        </p:grpSpPr>
        <p:sp>
          <p:nvSpPr>
            <p:cNvPr id="5" name="TextBox 4"/>
            <p:cNvSpPr txBox="1"/>
            <p:nvPr/>
          </p:nvSpPr>
          <p:spPr>
            <a:xfrm>
              <a:off x="3987800" y="2260600"/>
              <a:ext cx="1219200" cy="400050"/>
            </a:xfrm>
            <a:prstGeom prst="rect">
              <a:avLst/>
            </a:prstGeom>
            <a:noFill/>
            <a:ln>
              <a:solidFill>
                <a:schemeClr val="tx1"/>
              </a:solidFill>
            </a:ln>
          </p:spPr>
          <p:txBody>
            <a:bodyPr>
              <a:spAutoFit/>
            </a:bodyPr>
            <a:lstStyle/>
            <a:p>
              <a:pPr algn="ctr" fontAlgn="base">
                <a:spcBef>
                  <a:spcPct val="0"/>
                </a:spcBef>
                <a:spcAft>
                  <a:spcPct val="0"/>
                </a:spcAft>
                <a:defRPr/>
              </a:pPr>
              <a:r>
                <a:rPr lang="en-US" sz="1000" dirty="0">
                  <a:solidFill>
                    <a:srgbClr val="000000"/>
                  </a:solidFill>
                  <a:latin typeface="Times New Roman"/>
                  <a:ea typeface="ＭＳ Ｐゴシック" charset="0"/>
                  <a:cs typeface="ＭＳ Ｐゴシック" charset="0"/>
                </a:rPr>
                <a:t>Data Corruption Detection</a:t>
              </a:r>
            </a:p>
          </p:txBody>
        </p:sp>
        <p:cxnSp>
          <p:nvCxnSpPr>
            <p:cNvPr id="6" name="Straight Connector 5"/>
            <p:cNvCxnSpPr/>
            <p:nvPr/>
          </p:nvCxnSpPr>
          <p:spPr bwMode="auto">
            <a:xfrm flipV="1">
              <a:off x="2446797" y="2806342"/>
              <a:ext cx="5854700" cy="25400"/>
            </a:xfrm>
            <a:prstGeom prst="line">
              <a:avLst/>
            </a:prstGeom>
            <a:ln w="28575" cmpd="sng">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34822" name="TextBox 6"/>
            <p:cNvSpPr txBox="1">
              <a:spLocks noChangeArrowheads="1"/>
            </p:cNvSpPr>
            <p:nvPr/>
          </p:nvSpPr>
          <p:spPr bwMode="auto">
            <a:xfrm>
              <a:off x="3987800" y="1968500"/>
              <a:ext cx="1206500" cy="254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Ordering</a:t>
              </a:r>
            </a:p>
          </p:txBody>
        </p:sp>
        <p:sp>
          <p:nvSpPr>
            <p:cNvPr id="34823" name="TextBox 7"/>
            <p:cNvSpPr txBox="1">
              <a:spLocks noChangeArrowheads="1"/>
            </p:cNvSpPr>
            <p:nvPr/>
          </p:nvSpPr>
          <p:spPr bwMode="auto">
            <a:xfrm>
              <a:off x="3975100" y="1701801"/>
              <a:ext cx="1206500" cy="246063"/>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Frag/Reassemb</a:t>
              </a:r>
            </a:p>
          </p:txBody>
        </p:sp>
        <p:sp>
          <p:nvSpPr>
            <p:cNvPr id="34824" name="TextBox 8"/>
            <p:cNvSpPr txBox="1">
              <a:spLocks noChangeArrowheads="1"/>
            </p:cNvSpPr>
            <p:nvPr/>
          </p:nvSpPr>
          <p:spPr bwMode="auto">
            <a:xfrm>
              <a:off x="3962400" y="1447801"/>
              <a:ext cx="1231900" cy="246063"/>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Delimiting</a:t>
              </a:r>
            </a:p>
          </p:txBody>
        </p:sp>
        <p:cxnSp>
          <p:nvCxnSpPr>
            <p:cNvPr id="10" name="Straight Arrow Connector 9"/>
            <p:cNvCxnSpPr/>
            <p:nvPr/>
          </p:nvCxnSpPr>
          <p:spPr bwMode="auto">
            <a:xfrm>
              <a:off x="4417512" y="2660650"/>
              <a:ext cx="0" cy="4572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1" name="Straight Arrow Connector 10"/>
            <p:cNvCxnSpPr/>
            <p:nvPr/>
          </p:nvCxnSpPr>
          <p:spPr bwMode="auto">
            <a:xfrm flipH="1" flipV="1">
              <a:off x="4802212" y="2661008"/>
              <a:ext cx="12700" cy="381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2" name="Straight Connector 11"/>
            <p:cNvCxnSpPr/>
            <p:nvPr/>
          </p:nvCxnSpPr>
          <p:spPr bwMode="auto">
            <a:xfrm flipV="1">
              <a:off x="2292611" y="1068548"/>
              <a:ext cx="5854700" cy="25400"/>
            </a:xfrm>
            <a:prstGeom prst="line">
              <a:avLst/>
            </a:prstGeom>
            <a:ln w="28575" cmpd="sng">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3" name="Straight Arrow Connector 12"/>
            <p:cNvCxnSpPr/>
            <p:nvPr/>
          </p:nvCxnSpPr>
          <p:spPr bwMode="auto">
            <a:xfrm>
              <a:off x="4417512" y="865348"/>
              <a:ext cx="0" cy="4572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4" name="Straight Arrow Connector 13"/>
            <p:cNvCxnSpPr/>
            <p:nvPr/>
          </p:nvCxnSpPr>
          <p:spPr bwMode="auto">
            <a:xfrm flipH="1" flipV="1">
              <a:off x="4787900" y="878048"/>
              <a:ext cx="12700" cy="381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nvGrpSpPr>
            <p:cNvPr id="3" name="Group 2">
              <a:extLst>
                <a:ext uri="{FF2B5EF4-FFF2-40B4-BE49-F238E27FC236}">
                  <a16:creationId xmlns:a16="http://schemas.microsoft.com/office/drawing/2014/main" id="{0B751D9A-A6A6-AE97-6EF8-98600B8E87E4}"/>
                </a:ext>
              </a:extLst>
            </p:cNvPr>
            <p:cNvGrpSpPr/>
            <p:nvPr/>
          </p:nvGrpSpPr>
          <p:grpSpPr>
            <a:xfrm>
              <a:off x="5559299" y="1682628"/>
              <a:ext cx="1117683" cy="662000"/>
              <a:chOff x="5867319" y="1798624"/>
              <a:chExt cx="1117683" cy="662000"/>
            </a:xfrm>
          </p:grpSpPr>
          <p:sp>
            <p:nvSpPr>
              <p:cNvPr id="34837" name="Oval 1"/>
              <p:cNvSpPr>
                <a:spLocks noChangeArrowheads="1"/>
              </p:cNvSpPr>
              <p:nvPr/>
            </p:nvSpPr>
            <p:spPr bwMode="auto">
              <a:xfrm>
                <a:off x="5867319" y="1798624"/>
                <a:ext cx="1117683" cy="662000"/>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pPr algn="ctr" fontAlgn="base">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4838" name="TextBox 2"/>
              <p:cNvSpPr txBox="1">
                <a:spLocks noChangeArrowheads="1"/>
              </p:cNvSpPr>
              <p:nvPr/>
            </p:nvSpPr>
            <p:spPr bwMode="auto">
              <a:xfrm flipH="1">
                <a:off x="6067434" y="1852667"/>
                <a:ext cx="806268"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dirty="0">
                    <a:solidFill>
                      <a:srgbClr val="000000"/>
                    </a:solidFill>
                  </a:rPr>
                  <a:t>Re-</a:t>
                </a:r>
                <a:r>
                  <a:rPr lang="en-US" dirty="0" err="1">
                    <a:solidFill>
                      <a:srgbClr val="000000"/>
                    </a:solidFill>
                  </a:rPr>
                  <a:t>xmsn</a:t>
                </a:r>
                <a:r>
                  <a:rPr lang="en-US" dirty="0">
                    <a:solidFill>
                      <a:srgbClr val="000000"/>
                    </a:solidFill>
                  </a:rPr>
                  <a:t> and Flow Control</a:t>
                </a:r>
              </a:p>
            </p:txBody>
          </p:sp>
        </p:grpSp>
        <p:grpSp>
          <p:nvGrpSpPr>
            <p:cNvPr id="32" name="Group 31"/>
            <p:cNvGrpSpPr>
              <a:grpSpLocks/>
            </p:cNvGrpSpPr>
            <p:nvPr/>
          </p:nvGrpSpPr>
          <p:grpSpPr bwMode="auto">
            <a:xfrm>
              <a:off x="2651211" y="1693864"/>
              <a:ext cx="1168400" cy="508000"/>
              <a:chOff x="5130798" y="2146300"/>
              <a:chExt cx="1168401" cy="507365"/>
            </a:xfrm>
          </p:grpSpPr>
          <p:sp>
            <p:nvSpPr>
              <p:cNvPr id="34833" name="TextBox 32"/>
              <p:cNvSpPr txBox="1">
                <a:spLocks noChangeArrowheads="1"/>
              </p:cNvSpPr>
              <p:nvPr/>
            </p:nvSpPr>
            <p:spPr bwMode="auto">
              <a:xfrm flipH="1">
                <a:off x="5130798" y="2173922"/>
                <a:ext cx="116840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ea typeface="ＭＳ Ｐゴシック" charset="0"/>
                    <a:cs typeface="ＭＳ Ｐゴシック" charset="0"/>
                  </a:defRPr>
                </a:lvl1pPr>
                <a:lvl2pPr marL="742950" indent="-285750" eaLnBrk="0" hangingPunct="0">
                  <a:defRPr sz="1000">
                    <a:solidFill>
                      <a:schemeClr val="tx1"/>
                    </a:solidFill>
                    <a:latin typeface="Arial" charset="0"/>
                    <a:ea typeface="ＭＳ Ｐゴシック" charset="0"/>
                  </a:defRPr>
                </a:lvl2pPr>
                <a:lvl3pPr marL="1143000" indent="-228600" eaLnBrk="0" hangingPunct="0">
                  <a:defRPr sz="1000">
                    <a:solidFill>
                      <a:schemeClr val="tx1"/>
                    </a:solidFill>
                    <a:latin typeface="Arial" charset="0"/>
                    <a:ea typeface="ＭＳ Ｐゴシック" charset="0"/>
                  </a:defRPr>
                </a:lvl3pPr>
                <a:lvl4pPr marL="1600200" indent="-228600" eaLnBrk="0" hangingPunct="0">
                  <a:defRPr sz="1000">
                    <a:solidFill>
                      <a:schemeClr val="tx1"/>
                    </a:solidFill>
                    <a:latin typeface="Arial" charset="0"/>
                    <a:ea typeface="ＭＳ Ｐゴシック" charset="0"/>
                  </a:defRPr>
                </a:lvl4pPr>
                <a:lvl5pPr marL="2057400" indent="-228600" eaLnBrk="0" hangingPunct="0">
                  <a:defRPr sz="1000">
                    <a:solidFill>
                      <a:schemeClr val="tx1"/>
                    </a:solidFill>
                    <a:latin typeface="Arial" charset="0"/>
                    <a:ea typeface="ＭＳ Ｐゴシック" charset="0"/>
                  </a:defRPr>
                </a:lvl5pPr>
                <a:lvl6pPr marL="2514600" indent="-228600" algn="ctr" eaLnBrk="0" fontAlgn="base" hangingPunct="0">
                  <a:spcBef>
                    <a:spcPct val="0"/>
                  </a:spcBef>
                  <a:spcAft>
                    <a:spcPct val="0"/>
                  </a:spcAft>
                  <a:defRPr sz="1000">
                    <a:solidFill>
                      <a:schemeClr val="tx1"/>
                    </a:solidFill>
                    <a:latin typeface="Arial" charset="0"/>
                    <a:ea typeface="ＭＳ Ｐゴシック" charset="0"/>
                  </a:defRPr>
                </a:lvl6pPr>
                <a:lvl7pPr marL="2971800" indent="-228600" algn="ctr" eaLnBrk="0" fontAlgn="base" hangingPunct="0">
                  <a:spcBef>
                    <a:spcPct val="0"/>
                  </a:spcBef>
                  <a:spcAft>
                    <a:spcPct val="0"/>
                  </a:spcAft>
                  <a:defRPr sz="1000">
                    <a:solidFill>
                      <a:schemeClr val="tx1"/>
                    </a:solidFill>
                    <a:latin typeface="Arial" charset="0"/>
                    <a:ea typeface="ＭＳ Ｐゴシック" charset="0"/>
                  </a:defRPr>
                </a:lvl7pPr>
                <a:lvl8pPr marL="3429000" indent="-228600" algn="ctr" eaLnBrk="0" fontAlgn="base" hangingPunct="0">
                  <a:spcBef>
                    <a:spcPct val="0"/>
                  </a:spcBef>
                  <a:spcAft>
                    <a:spcPct val="0"/>
                  </a:spcAft>
                  <a:defRPr sz="1000">
                    <a:solidFill>
                      <a:schemeClr val="tx1"/>
                    </a:solidFill>
                    <a:latin typeface="Arial" charset="0"/>
                    <a:ea typeface="ＭＳ Ｐゴシック" charset="0"/>
                  </a:defRPr>
                </a:lvl8pPr>
                <a:lvl9pPr marL="3886200" indent="-228600" algn="ctr" eaLnBrk="0" fontAlgn="base" hangingPunct="0">
                  <a:spcBef>
                    <a:spcPct val="0"/>
                  </a:spcBef>
                  <a:spcAft>
                    <a:spcPct val="0"/>
                  </a:spcAft>
                  <a:defRPr sz="1000">
                    <a:solidFill>
                      <a:schemeClr val="tx1"/>
                    </a:solidFill>
                    <a:latin typeface="Arial" charset="0"/>
                    <a:ea typeface="ＭＳ Ｐゴシック" charset="0"/>
                  </a:defRPr>
                </a:lvl9pPr>
              </a:lstStyle>
              <a:p>
                <a:pPr algn="ctr" eaLnBrk="1" fontAlgn="base" hangingPunct="1">
                  <a:spcBef>
                    <a:spcPct val="0"/>
                  </a:spcBef>
                  <a:spcAft>
                    <a:spcPct val="0"/>
                  </a:spcAft>
                </a:pPr>
                <a:r>
                  <a:rPr lang="en-US">
                    <a:solidFill>
                      <a:srgbClr val="000000"/>
                    </a:solidFill>
                  </a:rPr>
                  <a:t>Allocation</a:t>
                </a:r>
              </a:p>
              <a:p>
                <a:pPr algn="ctr" eaLnBrk="1" fontAlgn="base" hangingPunct="1">
                  <a:spcBef>
                    <a:spcPct val="0"/>
                  </a:spcBef>
                  <a:spcAft>
                    <a:spcPct val="0"/>
                  </a:spcAft>
                </a:pPr>
                <a:r>
                  <a:rPr lang="en-US">
                    <a:solidFill>
                      <a:srgbClr val="000000"/>
                    </a:solidFill>
                  </a:rPr>
                  <a:t>Synchronization</a:t>
                </a:r>
              </a:p>
            </p:txBody>
          </p:sp>
          <p:sp>
            <p:nvSpPr>
              <p:cNvPr id="34834" name="Oval 33"/>
              <p:cNvSpPr>
                <a:spLocks noChangeArrowheads="1"/>
              </p:cNvSpPr>
              <p:nvPr/>
            </p:nvSpPr>
            <p:spPr bwMode="auto">
              <a:xfrm>
                <a:off x="5183757" y="2146300"/>
                <a:ext cx="1102743" cy="507365"/>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lstStyle/>
              <a:p>
                <a:pPr algn="ctr" fontAlgn="base">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2" name="Rectangle 1">
              <a:extLst>
                <a:ext uri="{FF2B5EF4-FFF2-40B4-BE49-F238E27FC236}">
                  <a16:creationId xmlns:a16="http://schemas.microsoft.com/office/drawing/2014/main" id="{3825EFDD-B824-1392-10D9-BDE4AFDECE74}"/>
                </a:ext>
              </a:extLst>
            </p:cNvPr>
            <p:cNvSpPr/>
            <p:nvPr/>
          </p:nvSpPr>
          <p:spPr>
            <a:xfrm>
              <a:off x="5374147" y="1570832"/>
              <a:ext cx="150312" cy="10397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0FC027-29B7-F8C5-7BCC-0805B8D125C9}"/>
                </a:ext>
              </a:extLst>
            </p:cNvPr>
            <p:cNvSpPr txBox="1"/>
            <p:nvPr/>
          </p:nvSpPr>
          <p:spPr>
            <a:xfrm>
              <a:off x="5155504" y="1130241"/>
              <a:ext cx="587597" cy="461665"/>
            </a:xfrm>
            <a:prstGeom prst="rect">
              <a:avLst/>
            </a:prstGeom>
            <a:noFill/>
          </p:spPr>
          <p:txBody>
            <a:bodyPr wrap="none" rtlCol="0">
              <a:spAutoFit/>
            </a:bodyPr>
            <a:lstStyle/>
            <a:p>
              <a:pPr algn="ctr"/>
              <a:r>
                <a:rPr lang="en-US" sz="1200" dirty="0">
                  <a:latin typeface="Times New Roman" panose="02020603050405020304" pitchFamily="18" charset="0"/>
                  <a:cs typeface="Times New Roman" panose="02020603050405020304" pitchFamily="18" charset="0"/>
                </a:rPr>
                <a:t>State</a:t>
              </a:r>
            </a:p>
            <a:p>
              <a:pPr algn="ctr"/>
              <a:r>
                <a:rPr lang="en-US" sz="1200" dirty="0">
                  <a:latin typeface="Times New Roman" panose="02020603050405020304" pitchFamily="18" charset="0"/>
                  <a:cs typeface="Times New Roman" panose="02020603050405020304" pitchFamily="18" charset="0"/>
                </a:rPr>
                <a:t>Vector</a:t>
              </a:r>
            </a:p>
          </p:txBody>
        </p:sp>
        <p:cxnSp>
          <p:nvCxnSpPr>
            <p:cNvPr id="7" name="Straight Arrow Connector 6">
              <a:extLst>
                <a:ext uri="{FF2B5EF4-FFF2-40B4-BE49-F238E27FC236}">
                  <a16:creationId xmlns:a16="http://schemas.microsoft.com/office/drawing/2014/main" id="{CF60FF99-C945-2140-F4B7-434C676A12A9}"/>
                </a:ext>
              </a:extLst>
            </p:cNvPr>
            <p:cNvCxnSpPr/>
            <p:nvPr/>
          </p:nvCxnSpPr>
          <p:spPr bwMode="auto">
            <a:xfrm>
              <a:off x="5972048" y="2615484"/>
              <a:ext cx="0" cy="4572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8" name="Straight Arrow Connector 7">
              <a:extLst>
                <a:ext uri="{FF2B5EF4-FFF2-40B4-BE49-F238E27FC236}">
                  <a16:creationId xmlns:a16="http://schemas.microsoft.com/office/drawing/2014/main" id="{E8526B7E-BC68-EEE6-111A-592A1235D263}"/>
                </a:ext>
              </a:extLst>
            </p:cNvPr>
            <p:cNvCxnSpPr/>
            <p:nvPr/>
          </p:nvCxnSpPr>
          <p:spPr bwMode="auto">
            <a:xfrm flipH="1" flipV="1">
              <a:off x="6356748" y="2615842"/>
              <a:ext cx="12700" cy="3810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spTree>
    <p:extLst>
      <p:ext uri="{BB962C8B-B14F-4D97-AF65-F5344CB8AC3E}">
        <p14:creationId xmlns:p14="http://schemas.microsoft.com/office/powerpoint/2010/main" val="25260478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8419">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8419">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8419">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88419">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8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7A863092-A983-AD41-97F3-D1AD921D9732}" type="slidenum">
              <a:rPr lang="en-US">
                <a:solidFill>
                  <a:srgbClr val="000000"/>
                </a:solidFill>
                <a:latin typeface="Times"/>
              </a:rPr>
              <a:pPr/>
              <a:t>16</a:t>
            </a:fld>
            <a:endParaRPr lang="en-US">
              <a:solidFill>
                <a:srgbClr val="000000"/>
              </a:solidFill>
              <a:latin typeface="Times"/>
            </a:endParaRPr>
          </a:p>
        </p:txBody>
      </p:sp>
      <p:sp>
        <p:nvSpPr>
          <p:cNvPr id="9218" name="Rectangle 2"/>
          <p:cNvSpPr>
            <a:spLocks noGrp="1" noChangeArrowheads="1"/>
          </p:cNvSpPr>
          <p:nvPr>
            <p:ph type="title"/>
          </p:nvPr>
        </p:nvSpPr>
        <p:spPr>
          <a:xfrm>
            <a:off x="2209800" y="508000"/>
            <a:ext cx="7772400" cy="1143000"/>
          </a:xfrm>
        </p:spPr>
        <p:txBody>
          <a:bodyPr/>
          <a:lstStyle/>
          <a:p>
            <a:r>
              <a:rPr lang="en-US" dirty="0"/>
              <a:t>Delimiting</a:t>
            </a:r>
          </a:p>
        </p:txBody>
      </p:sp>
      <p:sp>
        <p:nvSpPr>
          <p:cNvPr id="9219" name="Rectangle 3"/>
          <p:cNvSpPr>
            <a:spLocks noGrp="1" noChangeArrowheads="1"/>
          </p:cNvSpPr>
          <p:nvPr>
            <p:ph type="body" idx="1"/>
          </p:nvPr>
        </p:nvSpPr>
        <p:spPr>
          <a:xfrm>
            <a:off x="2209800" y="1511300"/>
            <a:ext cx="7772400" cy="4114800"/>
          </a:xfrm>
        </p:spPr>
        <p:txBody>
          <a:bodyPr>
            <a:normAutofit lnSpcReduction="10000"/>
          </a:bodyPr>
          <a:lstStyle/>
          <a:p>
            <a:r>
              <a:rPr lang="en-US" dirty="0"/>
              <a:t>Marks the Bounds of SDUs to ensure that the service maintains their identity on delivery.  </a:t>
            </a:r>
          </a:p>
          <a:p>
            <a:pPr lvl="1"/>
            <a:r>
              <a:rPr lang="en-US" dirty="0"/>
              <a:t>IPC may fragment or combine SDUs but will deliver same SDUs to the destination.</a:t>
            </a:r>
          </a:p>
          <a:p>
            <a:pPr lvl="1"/>
            <a:r>
              <a:rPr lang="en-US" dirty="0"/>
              <a:t>To provide a stream-oriented API, the entire flow is a single SDU and early delivery is allowed.</a:t>
            </a:r>
          </a:p>
          <a:p>
            <a:r>
              <a:rPr lang="en-US" dirty="0"/>
              <a:t>External and Internal Delimiting are possible.</a:t>
            </a:r>
          </a:p>
          <a:p>
            <a:r>
              <a:rPr lang="en-US" dirty="0"/>
              <a:t>While this is entirely policy, we have a policy that efficiently does everything:</a:t>
            </a:r>
          </a:p>
          <a:p>
            <a:pPr lvl="2"/>
            <a:r>
              <a:rPr lang="en-US" sz="1200" dirty="0">
                <a:latin typeface="+mn-lt"/>
                <a:cs typeface="+mn-cs"/>
              </a:rPr>
              <a:t>&lt;User-Data&gt; ::= &lt;</a:t>
            </a:r>
            <a:r>
              <a:rPr lang="en-US" sz="1200" dirty="0" err="1">
                <a:latin typeface="+mn-lt"/>
                <a:cs typeface="+mn-cs"/>
              </a:rPr>
              <a:t>lastFragment</a:t>
            </a:r>
            <a:r>
              <a:rPr lang="en-US" sz="1200" dirty="0">
                <a:latin typeface="+mn-lt"/>
                <a:cs typeface="+mn-cs"/>
              </a:rPr>
              <a:t>&gt; | &lt;</a:t>
            </a:r>
            <a:r>
              <a:rPr lang="en-US" sz="1200" dirty="0" err="1">
                <a:latin typeface="+mn-lt"/>
                <a:cs typeface="+mn-cs"/>
              </a:rPr>
              <a:t>midFragment</a:t>
            </a:r>
            <a:r>
              <a:rPr lang="en-US" sz="1200" dirty="0">
                <a:latin typeface="+mn-lt"/>
                <a:cs typeface="+mn-cs"/>
              </a:rPr>
              <a:t>&gt; | &lt;</a:t>
            </a:r>
            <a:r>
              <a:rPr lang="en-US" sz="1200" dirty="0" err="1">
                <a:latin typeface="+mn-lt"/>
                <a:cs typeface="+mn-cs"/>
              </a:rPr>
              <a:t>firstFragment</a:t>
            </a:r>
            <a:r>
              <a:rPr lang="en-US" sz="1200" dirty="0">
                <a:latin typeface="+mn-lt"/>
                <a:cs typeface="+mn-cs"/>
              </a:rPr>
              <a:t>&gt; | &lt;</a:t>
            </a:r>
            <a:r>
              <a:rPr lang="en-US" sz="1200" dirty="0" err="1">
                <a:latin typeface="+mn-lt"/>
                <a:cs typeface="+mn-cs"/>
              </a:rPr>
              <a:t>SDUData</a:t>
            </a:r>
            <a:r>
              <a:rPr lang="en-US" sz="1200" dirty="0">
                <a:latin typeface="+mn-lt"/>
                <a:cs typeface="+mn-cs"/>
              </a:rPr>
              <a:t>&gt;</a:t>
            </a:r>
          </a:p>
          <a:p>
            <a:pPr lvl="2"/>
            <a:r>
              <a:rPr lang="en-US" sz="1200" dirty="0">
                <a:latin typeface="+mn-lt"/>
                <a:cs typeface="+mn-cs"/>
              </a:rPr>
              <a:t>&lt;</a:t>
            </a:r>
            <a:r>
              <a:rPr lang="en-US" sz="1200" dirty="0" err="1">
                <a:latin typeface="+mn-lt"/>
                <a:cs typeface="+mn-cs"/>
              </a:rPr>
              <a:t>PDUdata</a:t>
            </a:r>
            <a:r>
              <a:rPr lang="en-US" sz="1200" dirty="0">
                <a:latin typeface="+mn-lt"/>
                <a:cs typeface="+mn-cs"/>
              </a:rPr>
              <a:t>&gt; ::= &lt;Data&gt;  |  [ &lt;Length&gt;&lt; </a:t>
            </a:r>
            <a:r>
              <a:rPr lang="en-US" sz="1200" dirty="0" err="1">
                <a:latin typeface="+mn-lt"/>
                <a:cs typeface="+mn-cs"/>
              </a:rPr>
              <a:t>lastFragment</a:t>
            </a:r>
            <a:r>
              <a:rPr lang="en-US" sz="1200" dirty="0">
                <a:latin typeface="+mn-lt"/>
                <a:cs typeface="+mn-cs"/>
              </a:rPr>
              <a:t> &gt; ]  (&lt;Length&gt; &lt;</a:t>
            </a:r>
            <a:r>
              <a:rPr lang="en-US" sz="1200" dirty="0" err="1">
                <a:latin typeface="+mn-lt"/>
                <a:cs typeface="+mn-cs"/>
              </a:rPr>
              <a:t>SDUdata</a:t>
            </a:r>
            <a:r>
              <a:rPr lang="en-US" sz="1200" dirty="0">
                <a:latin typeface="+mn-lt"/>
                <a:cs typeface="+mn-cs"/>
              </a:rPr>
              <a:t>&gt;)*  [ &lt; Length &gt;&lt; </a:t>
            </a:r>
            <a:r>
              <a:rPr lang="en-US" sz="1200" dirty="0" err="1">
                <a:latin typeface="+mn-lt"/>
                <a:cs typeface="+mn-cs"/>
              </a:rPr>
              <a:t>firstFragment</a:t>
            </a:r>
            <a:r>
              <a:rPr lang="en-US" sz="1200" dirty="0">
                <a:latin typeface="+mn-lt"/>
                <a:cs typeface="+mn-cs"/>
              </a:rPr>
              <a:t> &gt; ]</a:t>
            </a:r>
          </a:p>
          <a:p>
            <a:pPr lvl="2"/>
            <a:r>
              <a:rPr lang="en-US" sz="1200" dirty="0">
                <a:latin typeface="+mn-lt"/>
                <a:cs typeface="+mn-cs"/>
              </a:rPr>
              <a:t>&lt;</a:t>
            </a:r>
            <a:r>
              <a:rPr lang="en-US" sz="1200" dirty="0" err="1">
                <a:latin typeface="+mn-lt"/>
                <a:cs typeface="+mn-cs"/>
              </a:rPr>
              <a:t>UserDataField</a:t>
            </a:r>
            <a:r>
              <a:rPr lang="en-US" sz="1200" dirty="0">
                <a:latin typeface="+mn-lt"/>
                <a:cs typeface="+mn-cs"/>
              </a:rPr>
              <a:t>&gt; ::= &lt;</a:t>
            </a:r>
            <a:r>
              <a:rPr lang="en-US" sz="1200" dirty="0" err="1">
                <a:latin typeface="+mn-lt"/>
                <a:cs typeface="+mn-cs"/>
              </a:rPr>
              <a:t>SDUDelimiterFlags</a:t>
            </a:r>
            <a:r>
              <a:rPr lang="en-US" sz="1200" dirty="0">
                <a:latin typeface="+mn-lt"/>
                <a:cs typeface="+mn-cs"/>
              </a:rPr>
              <a:t>&gt; [&lt;</a:t>
            </a:r>
            <a:r>
              <a:rPr lang="en-US" sz="1200" dirty="0" err="1">
                <a:latin typeface="+mn-lt"/>
                <a:cs typeface="+mn-cs"/>
              </a:rPr>
              <a:t>SDUSequenceNumber</a:t>
            </a:r>
            <a:r>
              <a:rPr lang="en-US" sz="1200" dirty="0">
                <a:latin typeface="+mn-lt"/>
                <a:cs typeface="+mn-cs"/>
              </a:rPr>
              <a:t> &gt;]  [ &lt;</a:t>
            </a:r>
            <a:r>
              <a:rPr lang="en-US" sz="1200" dirty="0" err="1">
                <a:latin typeface="+mn-lt"/>
                <a:cs typeface="+mn-cs"/>
              </a:rPr>
              <a:t>PDUdata</a:t>
            </a:r>
            <a:r>
              <a:rPr lang="en-US" sz="1200" dirty="0">
                <a:latin typeface="+mn-lt"/>
                <a:cs typeface="+mn-cs"/>
              </a:rPr>
              <a:t>&gt; ]</a:t>
            </a:r>
          </a:p>
          <a:p>
            <a:pPr lvl="1"/>
            <a:r>
              <a:rPr lang="en-US" dirty="0">
                <a:solidFill>
                  <a:schemeClr val="tx1"/>
                </a:solidFill>
                <a:latin typeface="+mn-lt"/>
                <a:ea typeface="+mn-ea"/>
                <a:cs typeface="+mn-cs"/>
              </a:rPr>
              <a:t> </a:t>
            </a:r>
            <a:r>
              <a:rPr lang="en-US" sz="1600" dirty="0">
                <a:cs typeface="+mn-cs"/>
              </a:rPr>
              <a:t>For details, see the RINA General Delimiting Policy Specification.</a:t>
            </a:r>
          </a:p>
          <a:p>
            <a:pPr lvl="1"/>
            <a:r>
              <a:rPr lang="en-US" sz="1600" dirty="0">
                <a:cs typeface="+mn-cs"/>
              </a:rPr>
              <a:t>Note that is defined as a descriptor for the User-Data, not as part of the protocol.</a:t>
            </a:r>
          </a:p>
          <a:p>
            <a:endParaRPr lang="en-US" sz="1600" dirty="0"/>
          </a:p>
        </p:txBody>
      </p:sp>
      <p:sp>
        <p:nvSpPr>
          <p:cNvPr id="2" name="Text Box 4">
            <a:extLst>
              <a:ext uri="{FF2B5EF4-FFF2-40B4-BE49-F238E27FC236}">
                <a16:creationId xmlns:a16="http://schemas.microsoft.com/office/drawing/2014/main" id="{5CAAEE4E-BF61-A37C-337D-BBD67ED94923}"/>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898859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26"/>
          <p:cNvSpPr>
            <a:spLocks noGrp="1" noChangeArrowheads="1"/>
          </p:cNvSpPr>
          <p:nvPr>
            <p:ph type="title"/>
          </p:nvPr>
        </p:nvSpPr>
        <p:spPr/>
        <p:txBody>
          <a:bodyPr/>
          <a:lstStyle/>
          <a:p>
            <a:pPr eaLnBrk="1" hangingPunct="1">
              <a:defRPr/>
            </a:pPr>
            <a:r>
              <a:rPr lang="en-US" dirty="0">
                <a:solidFill>
                  <a:srgbClr val="000000"/>
                </a:solidFill>
                <a:cs typeface="+mj-cs"/>
              </a:rPr>
              <a:t>Packaging Functions (1)</a:t>
            </a:r>
          </a:p>
        </p:txBody>
      </p:sp>
      <p:sp>
        <p:nvSpPr>
          <p:cNvPr id="65539" name="Rectangle 1027"/>
          <p:cNvSpPr>
            <a:spLocks noGrp="1" noChangeArrowheads="1"/>
          </p:cNvSpPr>
          <p:nvPr>
            <p:ph type="body" idx="1"/>
          </p:nvPr>
        </p:nvSpPr>
        <p:spPr>
          <a:xfrm>
            <a:off x="1567542" y="1384300"/>
            <a:ext cx="8431325" cy="2870200"/>
          </a:xfrm>
        </p:spPr>
        <p:txBody>
          <a:bodyPr>
            <a:normAutofit fontScale="85000" lnSpcReduction="10000"/>
          </a:bodyPr>
          <a:lstStyle/>
          <a:p>
            <a:pPr marL="342900" indent="-317500">
              <a:defRPr/>
            </a:pPr>
            <a:r>
              <a:rPr lang="en-US" sz="2600" dirty="0">
                <a:cs typeface="+mn-cs"/>
              </a:rPr>
              <a:t>Fragmentation/Reassembl</a:t>
            </a:r>
            <a:r>
              <a:rPr lang="en-US" sz="2900" dirty="0">
                <a:cs typeface="+mn-cs"/>
              </a:rPr>
              <a:t>y</a:t>
            </a:r>
          </a:p>
          <a:p>
            <a:pPr marL="749300" lvl="1" indent="-304800">
              <a:defRPr/>
            </a:pPr>
            <a:r>
              <a:rPr lang="en-US" sz="2100" dirty="0"/>
              <a:t>Big SDUs into smaller PDUs</a:t>
            </a:r>
          </a:p>
          <a:p>
            <a:pPr marL="1333500" lvl="2">
              <a:defRPr/>
            </a:pPr>
            <a:r>
              <a:rPr lang="en-US" sz="2100" dirty="0"/>
              <a:t>In a well-formed architecture, Max PDU size is a property of the Layer, so</a:t>
            </a:r>
          </a:p>
          <a:p>
            <a:pPr lvl="1" eaLnBrk="1" hangingPunct="1">
              <a:defRPr/>
            </a:pPr>
            <a:r>
              <a:rPr lang="en-US" sz="2100" dirty="0"/>
              <a:t>To fit buffer constraints of hardware or more likely error probability, i.e. the longer a PDU the more likely an error and hence a re-transmission.</a:t>
            </a:r>
          </a:p>
          <a:p>
            <a:pPr lvl="1" eaLnBrk="1" hangingPunct="1">
              <a:defRPr/>
            </a:pPr>
            <a:r>
              <a:rPr lang="en-US" sz="2100" dirty="0"/>
              <a:t>Generally, encoded with the Sequence Number and a More Bit.</a:t>
            </a:r>
          </a:p>
          <a:p>
            <a:pPr marL="1333500" lvl="2">
              <a:defRPr/>
            </a:pPr>
            <a:r>
              <a:rPr lang="en-US" sz="1900" dirty="0"/>
              <a:t>More on this later.</a:t>
            </a:r>
          </a:p>
          <a:p>
            <a:pPr marL="342900" indent="-342900">
              <a:defRPr/>
            </a:pPr>
            <a:r>
              <a:rPr lang="en-US" sz="2400" dirty="0"/>
              <a:t>Adds to the PCI a More or Last Fragment bit to indicate last Fragment, and a field to place the fragment within the SDU, e.g. count or offset.</a:t>
            </a:r>
          </a:p>
        </p:txBody>
      </p:sp>
      <p:sp>
        <p:nvSpPr>
          <p:cNvPr id="65540" name="Rectangle 1028"/>
          <p:cNvSpPr>
            <a:spLocks noChangeArrowheads="1"/>
          </p:cNvSpPr>
          <p:nvPr/>
        </p:nvSpPr>
        <p:spPr bwMode="auto">
          <a:xfrm>
            <a:off x="2514600" y="4406900"/>
            <a:ext cx="27559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cs typeface="ＭＳ Ｐゴシック" charset="0"/>
              </a:rPr>
              <a:t>SDU</a:t>
            </a:r>
          </a:p>
        </p:txBody>
      </p:sp>
      <p:sp>
        <p:nvSpPr>
          <p:cNvPr id="65543" name="Rectangle 1031"/>
          <p:cNvSpPr>
            <a:spLocks noChangeArrowheads="1"/>
          </p:cNvSpPr>
          <p:nvPr/>
        </p:nvSpPr>
        <p:spPr bwMode="auto">
          <a:xfrm>
            <a:off x="7086600" y="4406900"/>
            <a:ext cx="2298700" cy="2921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cs typeface="ＭＳ Ｐゴシック" charset="0"/>
              </a:rPr>
              <a:t>SDU</a:t>
            </a:r>
          </a:p>
        </p:txBody>
      </p:sp>
      <p:grpSp>
        <p:nvGrpSpPr>
          <p:cNvPr id="3" name="Group 1051"/>
          <p:cNvGrpSpPr>
            <a:grpSpLocks/>
          </p:cNvGrpSpPr>
          <p:nvPr/>
        </p:nvGrpSpPr>
        <p:grpSpPr bwMode="auto">
          <a:xfrm>
            <a:off x="1790700" y="5562600"/>
            <a:ext cx="8610600" cy="241300"/>
            <a:chOff x="208" y="2904"/>
            <a:chExt cx="5424" cy="152"/>
          </a:xfrm>
          <a:solidFill>
            <a:srgbClr val="00B0F0"/>
          </a:solidFill>
        </p:grpSpPr>
        <p:grpSp>
          <p:nvGrpSpPr>
            <p:cNvPr id="65548" name="Group 1035"/>
            <p:cNvGrpSpPr>
              <a:grpSpLocks/>
            </p:cNvGrpSpPr>
            <p:nvPr/>
          </p:nvGrpSpPr>
          <p:grpSpPr bwMode="auto">
            <a:xfrm>
              <a:off x="208" y="2904"/>
              <a:ext cx="720" cy="152"/>
              <a:chOff x="600" y="2672"/>
              <a:chExt cx="720" cy="152"/>
            </a:xfrm>
            <a:grpFill/>
          </p:grpSpPr>
          <p:sp>
            <p:nvSpPr>
              <p:cNvPr id="65544" name="Rectangle 1032"/>
              <p:cNvSpPr>
                <a:spLocks noChangeArrowheads="1"/>
              </p:cNvSpPr>
              <p:nvPr/>
            </p:nvSpPr>
            <p:spPr bwMode="auto">
              <a:xfrm>
                <a:off x="600" y="2672"/>
                <a:ext cx="720" cy="152"/>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65545" name="Line 1033"/>
              <p:cNvSpPr>
                <a:spLocks noChangeShapeType="1"/>
              </p:cNvSpPr>
              <p:nvPr/>
            </p:nvSpPr>
            <p:spPr bwMode="auto">
              <a:xfrm>
                <a:off x="768" y="2672"/>
                <a:ext cx="0" cy="144"/>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5549" name="Group 1036"/>
            <p:cNvGrpSpPr>
              <a:grpSpLocks/>
            </p:cNvGrpSpPr>
            <p:nvPr/>
          </p:nvGrpSpPr>
          <p:grpSpPr bwMode="auto">
            <a:xfrm>
              <a:off x="1088" y="2904"/>
              <a:ext cx="720" cy="152"/>
              <a:chOff x="600" y="2672"/>
              <a:chExt cx="720" cy="152"/>
            </a:xfrm>
            <a:grpFill/>
          </p:grpSpPr>
          <p:sp>
            <p:nvSpPr>
              <p:cNvPr id="4" name="Rectangle 1037"/>
              <p:cNvSpPr>
                <a:spLocks noChangeArrowheads="1"/>
              </p:cNvSpPr>
              <p:nvPr/>
            </p:nvSpPr>
            <p:spPr bwMode="auto">
              <a:xfrm>
                <a:off x="600" y="2672"/>
                <a:ext cx="720" cy="152"/>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5" name="Line 1038"/>
              <p:cNvSpPr>
                <a:spLocks noChangeShapeType="1"/>
              </p:cNvSpPr>
              <p:nvPr/>
            </p:nvSpPr>
            <p:spPr bwMode="auto">
              <a:xfrm>
                <a:off x="768" y="2672"/>
                <a:ext cx="0" cy="144"/>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5550" name="Group 1039"/>
            <p:cNvGrpSpPr>
              <a:grpSpLocks/>
            </p:cNvGrpSpPr>
            <p:nvPr/>
          </p:nvGrpSpPr>
          <p:grpSpPr bwMode="auto">
            <a:xfrm>
              <a:off x="2032" y="2904"/>
              <a:ext cx="720" cy="152"/>
              <a:chOff x="600" y="2672"/>
              <a:chExt cx="720" cy="152"/>
            </a:xfrm>
            <a:grpFill/>
          </p:grpSpPr>
          <p:sp>
            <p:nvSpPr>
              <p:cNvPr id="6" name="Rectangle 1040"/>
              <p:cNvSpPr>
                <a:spLocks noChangeArrowheads="1"/>
              </p:cNvSpPr>
              <p:nvPr/>
            </p:nvSpPr>
            <p:spPr bwMode="auto">
              <a:xfrm>
                <a:off x="600" y="2672"/>
                <a:ext cx="720" cy="152"/>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7" name="Line 1041"/>
              <p:cNvSpPr>
                <a:spLocks noChangeShapeType="1"/>
              </p:cNvSpPr>
              <p:nvPr/>
            </p:nvSpPr>
            <p:spPr bwMode="auto">
              <a:xfrm>
                <a:off x="768" y="2672"/>
                <a:ext cx="0" cy="144"/>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5551" name="Group 1042"/>
            <p:cNvGrpSpPr>
              <a:grpSpLocks/>
            </p:cNvGrpSpPr>
            <p:nvPr/>
          </p:nvGrpSpPr>
          <p:grpSpPr bwMode="auto">
            <a:xfrm>
              <a:off x="3104" y="2904"/>
              <a:ext cx="720" cy="152"/>
              <a:chOff x="600" y="2672"/>
              <a:chExt cx="720" cy="152"/>
            </a:xfrm>
            <a:grpFill/>
          </p:grpSpPr>
          <p:sp>
            <p:nvSpPr>
              <p:cNvPr id="65555" name="Rectangle 1043"/>
              <p:cNvSpPr>
                <a:spLocks noChangeArrowheads="1"/>
              </p:cNvSpPr>
              <p:nvPr/>
            </p:nvSpPr>
            <p:spPr bwMode="auto">
              <a:xfrm>
                <a:off x="600" y="2672"/>
                <a:ext cx="720" cy="152"/>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65556" name="Line 1044"/>
              <p:cNvSpPr>
                <a:spLocks noChangeShapeType="1"/>
              </p:cNvSpPr>
              <p:nvPr/>
            </p:nvSpPr>
            <p:spPr bwMode="auto">
              <a:xfrm>
                <a:off x="768" y="2672"/>
                <a:ext cx="0" cy="144"/>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5552" name="Group 1045"/>
            <p:cNvGrpSpPr>
              <a:grpSpLocks/>
            </p:cNvGrpSpPr>
            <p:nvPr/>
          </p:nvGrpSpPr>
          <p:grpSpPr bwMode="auto">
            <a:xfrm>
              <a:off x="4040" y="2904"/>
              <a:ext cx="720" cy="152"/>
              <a:chOff x="600" y="2672"/>
              <a:chExt cx="720" cy="152"/>
            </a:xfrm>
            <a:grpFill/>
          </p:grpSpPr>
          <p:sp>
            <p:nvSpPr>
              <p:cNvPr id="65558" name="Rectangle 1046"/>
              <p:cNvSpPr>
                <a:spLocks noChangeArrowheads="1"/>
              </p:cNvSpPr>
              <p:nvPr/>
            </p:nvSpPr>
            <p:spPr bwMode="auto">
              <a:xfrm>
                <a:off x="600" y="2672"/>
                <a:ext cx="720" cy="152"/>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65559" name="Line 1047"/>
              <p:cNvSpPr>
                <a:spLocks noChangeShapeType="1"/>
              </p:cNvSpPr>
              <p:nvPr/>
            </p:nvSpPr>
            <p:spPr bwMode="auto">
              <a:xfrm>
                <a:off x="768" y="2672"/>
                <a:ext cx="0" cy="144"/>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5553" name="Group 1048"/>
            <p:cNvGrpSpPr>
              <a:grpSpLocks/>
            </p:cNvGrpSpPr>
            <p:nvPr/>
          </p:nvGrpSpPr>
          <p:grpSpPr bwMode="auto">
            <a:xfrm>
              <a:off x="4912" y="2904"/>
              <a:ext cx="720" cy="152"/>
              <a:chOff x="600" y="2672"/>
              <a:chExt cx="720" cy="152"/>
            </a:xfrm>
            <a:grpFill/>
          </p:grpSpPr>
          <p:sp>
            <p:nvSpPr>
              <p:cNvPr id="65561" name="Rectangle 1049"/>
              <p:cNvSpPr>
                <a:spLocks noChangeArrowheads="1"/>
              </p:cNvSpPr>
              <p:nvPr/>
            </p:nvSpPr>
            <p:spPr bwMode="auto">
              <a:xfrm>
                <a:off x="600" y="2672"/>
                <a:ext cx="720" cy="152"/>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65562" name="Line 1050"/>
              <p:cNvSpPr>
                <a:spLocks noChangeShapeType="1"/>
              </p:cNvSpPr>
              <p:nvPr/>
            </p:nvSpPr>
            <p:spPr bwMode="auto">
              <a:xfrm>
                <a:off x="768" y="2672"/>
                <a:ext cx="0" cy="144"/>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sp>
        <p:nvSpPr>
          <p:cNvPr id="65567" name="AutoShape 1055"/>
          <p:cNvSpPr>
            <a:spLocks noChangeArrowheads="1"/>
          </p:cNvSpPr>
          <p:nvPr/>
        </p:nvSpPr>
        <p:spPr bwMode="auto">
          <a:xfrm>
            <a:off x="3022600" y="48260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5568" name="AutoShape 1056"/>
          <p:cNvSpPr>
            <a:spLocks noChangeArrowheads="1"/>
          </p:cNvSpPr>
          <p:nvPr/>
        </p:nvSpPr>
        <p:spPr bwMode="auto">
          <a:xfrm>
            <a:off x="8737600" y="48514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5569" name="AutoShape 1057"/>
          <p:cNvSpPr>
            <a:spLocks noChangeArrowheads="1"/>
          </p:cNvSpPr>
          <p:nvPr/>
        </p:nvSpPr>
        <p:spPr bwMode="auto">
          <a:xfrm>
            <a:off x="7480300" y="48387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5570" name="AutoShape 1058"/>
          <p:cNvSpPr>
            <a:spLocks noChangeArrowheads="1"/>
          </p:cNvSpPr>
          <p:nvPr/>
        </p:nvSpPr>
        <p:spPr bwMode="auto">
          <a:xfrm>
            <a:off x="4165600" y="48133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5571" name="Text Box 1059"/>
          <p:cNvSpPr txBox="1">
            <a:spLocks noChangeArrowheads="1"/>
          </p:cNvSpPr>
          <p:nvPr/>
        </p:nvSpPr>
        <p:spPr bwMode="auto">
          <a:xfrm>
            <a:off x="7772400" y="63373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902031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837407" y="53180"/>
            <a:ext cx="10515600" cy="1325563"/>
          </a:xfrm>
        </p:spPr>
        <p:txBody>
          <a:bodyPr/>
          <a:lstStyle/>
          <a:p>
            <a:pPr eaLnBrk="1" hangingPunct="1">
              <a:defRPr/>
            </a:pPr>
            <a:r>
              <a:rPr lang="en-US" dirty="0">
                <a:solidFill>
                  <a:srgbClr val="000000"/>
                </a:solidFill>
                <a:cs typeface="+mj-cs"/>
              </a:rPr>
              <a:t>Packaging Functions (2)</a:t>
            </a:r>
          </a:p>
        </p:txBody>
      </p:sp>
      <p:sp>
        <p:nvSpPr>
          <p:cNvPr id="141315" name="Rectangle 3"/>
          <p:cNvSpPr>
            <a:spLocks noGrp="1" noChangeArrowheads="1"/>
          </p:cNvSpPr>
          <p:nvPr>
            <p:ph type="body" idx="1"/>
          </p:nvPr>
        </p:nvSpPr>
        <p:spPr>
          <a:xfrm>
            <a:off x="1912939" y="3340100"/>
            <a:ext cx="8364537" cy="2516188"/>
          </a:xfrm>
        </p:spPr>
        <p:txBody>
          <a:bodyPr/>
          <a:lstStyle/>
          <a:p>
            <a:pPr marL="317500" indent="-317500">
              <a:defRPr/>
            </a:pPr>
            <a:r>
              <a:rPr lang="en-US" sz="1800">
                <a:cs typeface="+mn-cs"/>
              </a:rPr>
              <a:t>Combining/Separation - Little SDUs into a PDU.  </a:t>
            </a:r>
          </a:p>
          <a:p>
            <a:pPr marL="711200" lvl="1" indent="-279400">
              <a:defRPr/>
            </a:pPr>
            <a:r>
              <a:rPr lang="en-US" sz="1600"/>
              <a:t>Done for transmission efficiency, but must be concerned about delay.</a:t>
            </a:r>
          </a:p>
          <a:p>
            <a:pPr marL="1079500" lvl="2" indent="-254000">
              <a:defRPr/>
            </a:pPr>
            <a:r>
              <a:rPr lang="en-US" sz="1400"/>
              <a:t>Fewer PDUs to look at in the relaying.</a:t>
            </a:r>
            <a:endParaRPr lang="en-US" sz="1800"/>
          </a:p>
          <a:p>
            <a:pPr marL="711200" lvl="1" indent="-279400">
              <a:defRPr/>
            </a:pPr>
            <a:r>
              <a:rPr lang="en-US" sz="1600"/>
              <a:t>Implementation is basically a delimiting problem. </a:t>
            </a:r>
          </a:p>
          <a:p>
            <a:pPr marL="1079500" lvl="2" indent="-254000">
              <a:defRPr/>
            </a:pPr>
            <a:r>
              <a:rPr lang="en-US" sz="1400"/>
              <a:t>Length fields preferred. Possibly a sequence of lengths pointing to each concatenated SDU.</a:t>
            </a:r>
          </a:p>
          <a:p>
            <a:pPr marL="711200" lvl="1" indent="-279400">
              <a:defRPr/>
            </a:pPr>
            <a:r>
              <a:rPr lang="en-US" sz="1600"/>
              <a:t>Not Done in IP Networks mainly because of  historical reasons and delay (low density traffic).  An artifact of not pursuing connectionless.</a:t>
            </a:r>
          </a:p>
          <a:p>
            <a:pPr marL="711200" lvl="1" indent="-279400">
              <a:defRPr/>
            </a:pPr>
            <a:r>
              <a:rPr lang="en-US" sz="1600"/>
              <a:t>Two methods: 1) chain of &lt;length, SDU&gt;  </a:t>
            </a:r>
          </a:p>
          <a:p>
            <a:pPr marL="711200" lvl="1" indent="-279400">
              <a:defRPr/>
            </a:pPr>
            <a:r>
              <a:rPr lang="en-US" sz="1600"/>
              <a:t>or 2) table of pointers into the data: &lt;offset 1, . . ., offset n&gt;&lt;data 1&gt;&lt;data 2&gt;  . . .&lt;data n&gt;</a:t>
            </a:r>
          </a:p>
        </p:txBody>
      </p:sp>
      <p:sp>
        <p:nvSpPr>
          <p:cNvPr id="141316" name="Rectangle 4"/>
          <p:cNvSpPr>
            <a:spLocks noChangeArrowheads="1"/>
          </p:cNvSpPr>
          <p:nvPr/>
        </p:nvSpPr>
        <p:spPr bwMode="auto">
          <a:xfrm>
            <a:off x="2819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0" name="Rectangle 8"/>
          <p:cNvSpPr>
            <a:spLocks noChangeArrowheads="1"/>
          </p:cNvSpPr>
          <p:nvPr/>
        </p:nvSpPr>
        <p:spPr bwMode="auto">
          <a:xfrm>
            <a:off x="3454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1" name="Rectangle 9"/>
          <p:cNvSpPr>
            <a:spLocks noChangeArrowheads="1"/>
          </p:cNvSpPr>
          <p:nvPr/>
        </p:nvSpPr>
        <p:spPr bwMode="auto">
          <a:xfrm>
            <a:off x="4089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2" name="Rectangle 10"/>
          <p:cNvSpPr>
            <a:spLocks noChangeArrowheads="1"/>
          </p:cNvSpPr>
          <p:nvPr/>
        </p:nvSpPr>
        <p:spPr bwMode="auto">
          <a:xfrm>
            <a:off x="4724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3" name="Rectangle 11"/>
          <p:cNvSpPr>
            <a:spLocks noChangeArrowheads="1"/>
          </p:cNvSpPr>
          <p:nvPr/>
        </p:nvSpPr>
        <p:spPr bwMode="auto">
          <a:xfrm>
            <a:off x="5359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4" name="Rectangle 12"/>
          <p:cNvSpPr>
            <a:spLocks noChangeArrowheads="1"/>
          </p:cNvSpPr>
          <p:nvPr/>
        </p:nvSpPr>
        <p:spPr bwMode="auto">
          <a:xfrm>
            <a:off x="5994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5" name="Rectangle 13"/>
          <p:cNvSpPr>
            <a:spLocks noChangeArrowheads="1"/>
          </p:cNvSpPr>
          <p:nvPr/>
        </p:nvSpPr>
        <p:spPr bwMode="auto">
          <a:xfrm>
            <a:off x="6629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6" name="Rectangle 14"/>
          <p:cNvSpPr>
            <a:spLocks noChangeArrowheads="1"/>
          </p:cNvSpPr>
          <p:nvPr/>
        </p:nvSpPr>
        <p:spPr bwMode="auto">
          <a:xfrm>
            <a:off x="7264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sp>
        <p:nvSpPr>
          <p:cNvPr id="141327" name="Rectangle 15"/>
          <p:cNvSpPr>
            <a:spLocks noChangeArrowheads="1"/>
          </p:cNvSpPr>
          <p:nvPr/>
        </p:nvSpPr>
        <p:spPr bwMode="auto">
          <a:xfrm>
            <a:off x="7899400" y="1358900"/>
            <a:ext cx="457200" cy="279400"/>
          </a:xfrm>
          <a:prstGeom prst="rect">
            <a:avLst/>
          </a:prstGeom>
          <a:solidFill>
            <a:srgbClr val="00B05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SDU</a:t>
            </a:r>
            <a:endParaRPr lang="en-US" sz="1000">
              <a:solidFill>
                <a:srgbClr val="000000"/>
              </a:solidFill>
              <a:latin typeface="Arial" charset="0"/>
              <a:ea typeface="ＭＳ Ｐゴシック" charset="0"/>
              <a:cs typeface="ＭＳ Ｐゴシック" charset="0"/>
            </a:endParaRPr>
          </a:p>
        </p:txBody>
      </p:sp>
      <p:grpSp>
        <p:nvGrpSpPr>
          <p:cNvPr id="67596" name="Group 19"/>
          <p:cNvGrpSpPr>
            <a:grpSpLocks/>
          </p:cNvGrpSpPr>
          <p:nvPr/>
        </p:nvGrpSpPr>
        <p:grpSpPr bwMode="auto">
          <a:xfrm>
            <a:off x="2476500" y="2540000"/>
            <a:ext cx="2006600" cy="279400"/>
            <a:chOff x="800" y="1448"/>
            <a:chExt cx="1264" cy="176"/>
          </a:xfrm>
          <a:solidFill>
            <a:srgbClr val="00B0F0"/>
          </a:solidFill>
        </p:grpSpPr>
        <p:sp>
          <p:nvSpPr>
            <p:cNvPr id="141328" name="Rectangle 16"/>
            <p:cNvSpPr>
              <a:spLocks noChangeArrowheads="1"/>
            </p:cNvSpPr>
            <p:nvPr/>
          </p:nvSpPr>
          <p:spPr bwMode="auto">
            <a:xfrm>
              <a:off x="800" y="1448"/>
              <a:ext cx="1264" cy="168"/>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141329" name="Line 17"/>
            <p:cNvSpPr>
              <a:spLocks noChangeShapeType="1"/>
            </p:cNvSpPr>
            <p:nvPr/>
          </p:nvSpPr>
          <p:spPr bwMode="auto">
            <a:xfrm>
              <a:off x="936" y="1456"/>
              <a:ext cx="0" cy="168"/>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7597" name="Group 20"/>
          <p:cNvGrpSpPr>
            <a:grpSpLocks/>
          </p:cNvGrpSpPr>
          <p:nvPr/>
        </p:nvGrpSpPr>
        <p:grpSpPr bwMode="auto">
          <a:xfrm>
            <a:off x="4737100" y="2565400"/>
            <a:ext cx="2006600" cy="279400"/>
            <a:chOff x="800" y="1448"/>
            <a:chExt cx="1264" cy="176"/>
          </a:xfrm>
          <a:solidFill>
            <a:srgbClr val="00B0F0"/>
          </a:solidFill>
        </p:grpSpPr>
        <p:sp>
          <p:nvSpPr>
            <p:cNvPr id="141333" name="Rectangle 21"/>
            <p:cNvSpPr>
              <a:spLocks noChangeArrowheads="1"/>
            </p:cNvSpPr>
            <p:nvPr/>
          </p:nvSpPr>
          <p:spPr bwMode="auto">
            <a:xfrm>
              <a:off x="800" y="1448"/>
              <a:ext cx="1264" cy="168"/>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141334" name="Line 22"/>
            <p:cNvSpPr>
              <a:spLocks noChangeShapeType="1"/>
            </p:cNvSpPr>
            <p:nvPr/>
          </p:nvSpPr>
          <p:spPr bwMode="auto">
            <a:xfrm>
              <a:off x="936" y="1456"/>
              <a:ext cx="0" cy="168"/>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67598" name="Group 23"/>
          <p:cNvGrpSpPr>
            <a:grpSpLocks/>
          </p:cNvGrpSpPr>
          <p:nvPr/>
        </p:nvGrpSpPr>
        <p:grpSpPr bwMode="auto">
          <a:xfrm>
            <a:off x="6985000" y="2552700"/>
            <a:ext cx="2006600" cy="279400"/>
            <a:chOff x="800" y="1448"/>
            <a:chExt cx="1264" cy="176"/>
          </a:xfrm>
          <a:solidFill>
            <a:srgbClr val="00B0F0"/>
          </a:solidFill>
        </p:grpSpPr>
        <p:sp>
          <p:nvSpPr>
            <p:cNvPr id="141336" name="Rectangle 24"/>
            <p:cNvSpPr>
              <a:spLocks noChangeArrowheads="1"/>
            </p:cNvSpPr>
            <p:nvPr/>
          </p:nvSpPr>
          <p:spPr bwMode="auto">
            <a:xfrm>
              <a:off x="800" y="1448"/>
              <a:ext cx="1264" cy="168"/>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b="1">
                  <a:solidFill>
                    <a:srgbClr val="000000"/>
                  </a:solidFill>
                  <a:latin typeface="Arial" charset="0"/>
                  <a:ea typeface="ＭＳ Ｐゴシック" charset="0"/>
                  <a:cs typeface="ＭＳ Ｐゴシック" charset="0"/>
                </a:rPr>
                <a:t>PDU</a:t>
              </a:r>
              <a:endParaRPr lang="en-US" sz="1000">
                <a:solidFill>
                  <a:srgbClr val="000000"/>
                </a:solidFill>
                <a:latin typeface="Arial" charset="0"/>
                <a:ea typeface="ＭＳ Ｐゴシック" charset="0"/>
                <a:cs typeface="ＭＳ Ｐゴシック" charset="0"/>
              </a:endParaRPr>
            </a:p>
          </p:txBody>
        </p:sp>
        <p:sp>
          <p:nvSpPr>
            <p:cNvPr id="141337" name="Line 25"/>
            <p:cNvSpPr>
              <a:spLocks noChangeShapeType="1"/>
            </p:cNvSpPr>
            <p:nvPr/>
          </p:nvSpPr>
          <p:spPr bwMode="auto">
            <a:xfrm>
              <a:off x="936" y="1456"/>
              <a:ext cx="0" cy="168"/>
            </a:xfrm>
            <a:prstGeom prst="line">
              <a:avLst/>
            </a:prstGeom>
            <a:grp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41338" name="AutoShape 26"/>
          <p:cNvSpPr>
            <a:spLocks noChangeArrowheads="1"/>
          </p:cNvSpPr>
          <p:nvPr/>
        </p:nvSpPr>
        <p:spPr bwMode="auto">
          <a:xfrm>
            <a:off x="3263900" y="18161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1339" name="AutoShape 27"/>
          <p:cNvSpPr>
            <a:spLocks noChangeArrowheads="1"/>
          </p:cNvSpPr>
          <p:nvPr/>
        </p:nvSpPr>
        <p:spPr bwMode="auto">
          <a:xfrm>
            <a:off x="5422900" y="18415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1340" name="AutoShape 28"/>
          <p:cNvSpPr>
            <a:spLocks noChangeArrowheads="1"/>
          </p:cNvSpPr>
          <p:nvPr/>
        </p:nvSpPr>
        <p:spPr bwMode="auto">
          <a:xfrm>
            <a:off x="7581900" y="1866900"/>
            <a:ext cx="673100" cy="6223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1341" name="Text Box 29"/>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029024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07C46-0609-7310-471F-4303EE7EEFCC}"/>
              </a:ext>
            </a:extLst>
          </p:cNvPr>
          <p:cNvSpPr>
            <a:spLocks noGrp="1"/>
          </p:cNvSpPr>
          <p:nvPr>
            <p:ph type="title"/>
          </p:nvPr>
        </p:nvSpPr>
        <p:spPr>
          <a:xfrm>
            <a:off x="838200" y="171487"/>
            <a:ext cx="10515600" cy="1325563"/>
          </a:xfrm>
        </p:spPr>
        <p:txBody>
          <a:bodyPr/>
          <a:lstStyle/>
          <a:p>
            <a:r>
              <a:rPr lang="en-US" dirty="0"/>
              <a:t>General Delimiting Policy</a:t>
            </a:r>
          </a:p>
        </p:txBody>
      </p:sp>
      <p:sp>
        <p:nvSpPr>
          <p:cNvPr id="3" name="Content Placeholder 2">
            <a:extLst>
              <a:ext uri="{FF2B5EF4-FFF2-40B4-BE49-F238E27FC236}">
                <a16:creationId xmlns:a16="http://schemas.microsoft.com/office/drawing/2014/main" id="{DED17E79-A4D6-D9ED-8879-6C5D76FFB6CE}"/>
              </a:ext>
            </a:extLst>
          </p:cNvPr>
          <p:cNvSpPr>
            <a:spLocks noGrp="1"/>
          </p:cNvSpPr>
          <p:nvPr>
            <p:ph idx="1"/>
          </p:nvPr>
        </p:nvSpPr>
        <p:spPr>
          <a:xfrm>
            <a:off x="838200" y="1405829"/>
            <a:ext cx="10515600" cy="4351338"/>
          </a:xfrm>
        </p:spPr>
        <p:txBody>
          <a:bodyPr>
            <a:normAutofit fontScale="92500" lnSpcReduction="20000"/>
          </a:bodyPr>
          <a:lstStyle/>
          <a:p>
            <a:r>
              <a:rPr lang="en-GB" dirty="0"/>
              <a:t>This is a completely general approach to both delimiting SDUs and encoding the packing of the User-Data Field.</a:t>
            </a:r>
          </a:p>
          <a:p>
            <a:r>
              <a:rPr lang="en-GB" dirty="0"/>
              <a:t>The User Data field of an EFCP Transfer PDU may contain SDU fragments, entire SDUs, or prescribed combinations of the two.  The User Data Field syntax is:</a:t>
            </a:r>
            <a:endParaRPr lang="en-US" dirty="0"/>
          </a:p>
          <a:p>
            <a:pPr lvl="1"/>
            <a:r>
              <a:rPr lang="en-GB" sz="1900" dirty="0"/>
              <a:t>&lt;Data&gt; ::= &lt;</a:t>
            </a:r>
            <a:r>
              <a:rPr lang="en-GB" sz="1900" dirty="0" err="1"/>
              <a:t>lastFragment</a:t>
            </a:r>
            <a:r>
              <a:rPr lang="en-GB" sz="1900" dirty="0"/>
              <a:t>&gt; | &lt;</a:t>
            </a:r>
            <a:r>
              <a:rPr lang="en-GB" sz="1900" dirty="0" err="1"/>
              <a:t>midFragment</a:t>
            </a:r>
            <a:r>
              <a:rPr lang="en-GB" sz="1900" dirty="0"/>
              <a:t>&gt; | &lt;</a:t>
            </a:r>
            <a:r>
              <a:rPr lang="en-GB" sz="1900" dirty="0" err="1"/>
              <a:t>firstFragment</a:t>
            </a:r>
            <a:r>
              <a:rPr lang="en-GB" sz="1900" dirty="0"/>
              <a:t>&gt; | &lt;</a:t>
            </a:r>
            <a:r>
              <a:rPr lang="en-GB" sz="1900" dirty="0" err="1"/>
              <a:t>SDUData</a:t>
            </a:r>
            <a:r>
              <a:rPr lang="en-GB" sz="1900" dirty="0"/>
              <a:t>&gt;</a:t>
            </a:r>
            <a:endParaRPr lang="en-US" sz="1900" dirty="0"/>
          </a:p>
          <a:p>
            <a:pPr lvl="1"/>
            <a:r>
              <a:rPr lang="en-GB" sz="1900" dirty="0"/>
              <a:t>&lt;</a:t>
            </a:r>
            <a:r>
              <a:rPr lang="en-GB" sz="1900" dirty="0" err="1"/>
              <a:t>PDUdata</a:t>
            </a:r>
            <a:r>
              <a:rPr lang="en-GB" sz="1900" dirty="0"/>
              <a:t>&gt; ::= &lt;Data&gt;  |  [ &lt;Length&gt;&lt; </a:t>
            </a:r>
            <a:r>
              <a:rPr lang="en-GB" sz="1900" dirty="0" err="1"/>
              <a:t>lastFragment</a:t>
            </a:r>
            <a:r>
              <a:rPr lang="en-GB" sz="1900" dirty="0"/>
              <a:t> &gt; ]  (&lt;Length&gt; &lt;</a:t>
            </a:r>
            <a:r>
              <a:rPr lang="en-GB" sz="1900" dirty="0" err="1"/>
              <a:t>SDUdata</a:t>
            </a:r>
            <a:r>
              <a:rPr lang="en-GB" sz="1900" dirty="0"/>
              <a:t>&gt;)*  [ &lt; Length &gt;&lt; </a:t>
            </a:r>
            <a:r>
              <a:rPr lang="en-GB" sz="1900" dirty="0" err="1"/>
              <a:t>firstFragment</a:t>
            </a:r>
            <a:r>
              <a:rPr lang="en-GB" sz="1900" dirty="0"/>
              <a:t> &gt; ]</a:t>
            </a:r>
            <a:endParaRPr lang="en-US" sz="1900" dirty="0"/>
          </a:p>
          <a:p>
            <a:pPr lvl="1"/>
            <a:r>
              <a:rPr lang="en-GB" sz="1900" dirty="0"/>
              <a:t>&lt;</a:t>
            </a:r>
            <a:r>
              <a:rPr lang="en-GB" sz="1900" dirty="0" err="1"/>
              <a:t>UserDataField</a:t>
            </a:r>
            <a:r>
              <a:rPr lang="en-GB" sz="1900" dirty="0"/>
              <a:t>&gt; ::= &lt;</a:t>
            </a:r>
            <a:r>
              <a:rPr lang="en-GB" sz="1900" dirty="0" err="1"/>
              <a:t>SDUDelimiterFlags</a:t>
            </a:r>
            <a:r>
              <a:rPr lang="en-GB" sz="1900" dirty="0"/>
              <a:t>&gt; [&lt;</a:t>
            </a:r>
            <a:r>
              <a:rPr lang="en-GB" sz="1900" dirty="0" err="1"/>
              <a:t>SDUSequenceNumber</a:t>
            </a:r>
            <a:r>
              <a:rPr lang="en-GB" sz="1900" dirty="0"/>
              <a:t> &gt;]  [ &lt;</a:t>
            </a:r>
            <a:r>
              <a:rPr lang="en-GB" sz="1900" dirty="0" err="1"/>
              <a:t>PDUdata</a:t>
            </a:r>
            <a:r>
              <a:rPr lang="en-GB" sz="1900" dirty="0"/>
              <a:t>&gt; ]</a:t>
            </a:r>
            <a:endParaRPr lang="en-US" sz="1900" dirty="0"/>
          </a:p>
          <a:p>
            <a:r>
              <a:rPr lang="en-GB" dirty="0"/>
              <a:t>This syntax has the following properties:</a:t>
            </a:r>
            <a:endParaRPr lang="en-US" dirty="0"/>
          </a:p>
          <a:p>
            <a:pPr lvl="1"/>
            <a:r>
              <a:rPr lang="en-GB" sz="1900" dirty="0"/>
              <a:t>The </a:t>
            </a:r>
            <a:r>
              <a:rPr lang="en-GB" sz="1900" dirty="0" err="1"/>
              <a:t>SDUSequenceNumber</a:t>
            </a:r>
            <a:r>
              <a:rPr lang="en-GB" sz="1900" dirty="0"/>
              <a:t> may or may not be present in the PDU.  </a:t>
            </a:r>
            <a:endParaRPr lang="en-US" sz="1900" dirty="0"/>
          </a:p>
          <a:p>
            <a:pPr lvl="1"/>
            <a:r>
              <a:rPr lang="en-GB" sz="1900" dirty="0"/>
              <a:t>The syntax of </a:t>
            </a:r>
            <a:r>
              <a:rPr lang="en-GB" sz="1900" dirty="0" err="1"/>
              <a:t>PDUdata</a:t>
            </a:r>
            <a:r>
              <a:rPr lang="en-GB" sz="1900" dirty="0"/>
              <a:t> permits the Length field to be omitted if the PDU contains a single SDU or fragment.  The </a:t>
            </a:r>
            <a:r>
              <a:rPr lang="en-GB" sz="1900" dirty="0" err="1"/>
              <a:t>SDUDelimiterFlags</a:t>
            </a:r>
            <a:r>
              <a:rPr lang="en-GB" sz="1900" dirty="0"/>
              <a:t> field described below determines the type of the Data content in this case.</a:t>
            </a:r>
            <a:endParaRPr lang="en-US" sz="1900" dirty="0"/>
          </a:p>
          <a:p>
            <a:pPr lvl="1"/>
            <a:r>
              <a:rPr lang="en-GB" sz="1900" dirty="0"/>
              <a:t>If more than one SDU or fragment is present, the Length fields in conjunction with the </a:t>
            </a:r>
            <a:r>
              <a:rPr lang="en-GB" sz="1900" dirty="0" err="1"/>
              <a:t>SDUDelimiterFlags</a:t>
            </a:r>
            <a:r>
              <a:rPr lang="en-GB" sz="1900" dirty="0"/>
              <a:t> field described below must be used to parse the </a:t>
            </a:r>
            <a:r>
              <a:rPr lang="en-GB" sz="1900" dirty="0" err="1"/>
              <a:t>PDUdata</a:t>
            </a:r>
            <a:r>
              <a:rPr lang="en-GB" sz="1900" dirty="0"/>
              <a:t> into its component fragments or SDUs. </a:t>
            </a:r>
          </a:p>
          <a:p>
            <a:r>
              <a:rPr lang="en-GB" dirty="0"/>
              <a:t>For additional detail, see General Delimiting Procedure in the original RINA specs.</a:t>
            </a:r>
            <a:endParaRPr lang="en-US" dirty="0"/>
          </a:p>
          <a:p>
            <a:endParaRPr lang="en-US" dirty="0"/>
          </a:p>
        </p:txBody>
      </p:sp>
    </p:spTree>
    <p:extLst>
      <p:ext uri="{BB962C8B-B14F-4D97-AF65-F5344CB8AC3E}">
        <p14:creationId xmlns:p14="http://schemas.microsoft.com/office/powerpoint/2010/main" val="981437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Note on Packaging</a:t>
            </a:r>
          </a:p>
        </p:txBody>
      </p:sp>
      <p:sp>
        <p:nvSpPr>
          <p:cNvPr id="3" name="Content Placeholder 2"/>
          <p:cNvSpPr>
            <a:spLocks noGrp="1"/>
          </p:cNvSpPr>
          <p:nvPr>
            <p:ph idx="1"/>
          </p:nvPr>
        </p:nvSpPr>
        <p:spPr>
          <a:xfrm>
            <a:off x="1199407" y="1581439"/>
            <a:ext cx="7668491" cy="3156816"/>
          </a:xfrm>
        </p:spPr>
        <p:txBody>
          <a:bodyPr/>
          <a:lstStyle/>
          <a:p>
            <a:pPr marL="317500" indent="-317500"/>
            <a:r>
              <a:rPr lang="en-US" dirty="0"/>
              <a:t>Notice it is all in terms of mapping SDUs to PDUs.</a:t>
            </a:r>
          </a:p>
          <a:p>
            <a:pPr marL="317500" indent="-317500"/>
            <a:r>
              <a:rPr lang="en-US" dirty="0"/>
              <a:t>No mapping of PDUs to PDUs.</a:t>
            </a:r>
          </a:p>
          <a:p>
            <a:pPr marL="317500" indent="-317500"/>
            <a:r>
              <a:rPr lang="en-US" dirty="0"/>
              <a:t>Max PDU Size is a Characteristic of the Layer.</a:t>
            </a:r>
          </a:p>
          <a:p>
            <a:pPr marL="317500" indent="-317500"/>
            <a:r>
              <a:rPr lang="en-US" dirty="0"/>
              <a:t>PDUs move between layers of the same rank by relaying at the layer above.</a:t>
            </a:r>
          </a:p>
          <a:p>
            <a:pPr marL="317500" indent="-317500"/>
            <a:r>
              <a:rPr lang="en-US" dirty="0"/>
              <a:t>As we found too many times, protocol translation is not a good idea.</a:t>
            </a:r>
          </a:p>
          <a:p>
            <a:endParaRPr lang="en-US" dirty="0"/>
          </a:p>
        </p:txBody>
      </p:sp>
      <p:sp>
        <p:nvSpPr>
          <p:cNvPr id="4" name="Text Box 4">
            <a:extLst>
              <a:ext uri="{FF2B5EF4-FFF2-40B4-BE49-F238E27FC236}">
                <a16:creationId xmlns:a16="http://schemas.microsoft.com/office/drawing/2014/main" id="{712D8E39-8B65-660F-0E64-85A719B5A8B1}"/>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966665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1BC8BB70-B820-2244-AC2B-959F142C1A1C}" type="slidenum">
              <a:rPr lang="en-US">
                <a:solidFill>
                  <a:srgbClr val="000000"/>
                </a:solidFill>
                <a:latin typeface="Times"/>
              </a:rPr>
              <a:pPr/>
              <a:t>21</a:t>
            </a:fld>
            <a:endParaRPr lang="en-US">
              <a:solidFill>
                <a:srgbClr val="000000"/>
              </a:solidFill>
              <a:latin typeface="Times"/>
            </a:endParaRPr>
          </a:p>
        </p:txBody>
      </p:sp>
      <p:sp>
        <p:nvSpPr>
          <p:cNvPr id="10242" name="Rectangle 2"/>
          <p:cNvSpPr>
            <a:spLocks noGrp="1" noChangeArrowheads="1"/>
          </p:cNvSpPr>
          <p:nvPr>
            <p:ph type="title"/>
          </p:nvPr>
        </p:nvSpPr>
        <p:spPr/>
        <p:txBody>
          <a:bodyPr/>
          <a:lstStyle/>
          <a:p>
            <a:r>
              <a:rPr lang="en-US"/>
              <a:t>SDU Protection</a:t>
            </a:r>
          </a:p>
        </p:txBody>
      </p:sp>
      <p:sp>
        <p:nvSpPr>
          <p:cNvPr id="10243" name="Rectangle 3"/>
          <p:cNvSpPr>
            <a:spLocks noGrp="1" noChangeArrowheads="1"/>
          </p:cNvSpPr>
          <p:nvPr>
            <p:ph type="body" idx="1"/>
          </p:nvPr>
        </p:nvSpPr>
        <p:spPr>
          <a:xfrm>
            <a:off x="838200" y="1835899"/>
            <a:ext cx="10515600" cy="4351338"/>
          </a:xfrm>
        </p:spPr>
        <p:txBody>
          <a:bodyPr/>
          <a:lstStyle/>
          <a:p>
            <a:r>
              <a:rPr lang="en-US" dirty="0"/>
              <a:t>SDU Protection is also entirely policy and may include:</a:t>
            </a:r>
          </a:p>
          <a:p>
            <a:pPr lvl="1"/>
            <a:r>
              <a:rPr lang="en-US" dirty="0"/>
              <a:t>Data Corruption Protection (CRCs or FECs)</a:t>
            </a:r>
          </a:p>
          <a:p>
            <a:pPr lvl="1"/>
            <a:r>
              <a:rPr lang="en-US" dirty="0"/>
              <a:t>Time to Live</a:t>
            </a:r>
          </a:p>
          <a:p>
            <a:pPr lvl="1"/>
            <a:r>
              <a:rPr lang="en-US" dirty="0"/>
              <a:t>Integrity and Confidentiality (encryption)</a:t>
            </a:r>
          </a:p>
          <a:p>
            <a:pPr lvl="2"/>
            <a:r>
              <a:rPr lang="en-US" dirty="0"/>
              <a:t>Below we will explore why the heavy duty mechanisms of </a:t>
            </a:r>
            <a:r>
              <a:rPr lang="en-US" dirty="0" err="1"/>
              <a:t>IPsec</a:t>
            </a:r>
            <a:r>
              <a:rPr lang="en-US" dirty="0"/>
              <a:t> like solutions are not required.</a:t>
            </a:r>
          </a:p>
          <a:p>
            <a:pPr lvl="1"/>
            <a:r>
              <a:rPr lang="en-US" dirty="0"/>
              <a:t>Compression - not really protection but this is the right place for it</a:t>
            </a:r>
          </a:p>
          <a:p>
            <a:pPr lvl="1"/>
            <a:endParaRPr lang="en-US" dirty="0"/>
          </a:p>
        </p:txBody>
      </p:sp>
      <p:sp>
        <p:nvSpPr>
          <p:cNvPr id="2" name="Text Box 4">
            <a:extLst>
              <a:ext uri="{FF2B5EF4-FFF2-40B4-BE49-F238E27FC236}">
                <a16:creationId xmlns:a16="http://schemas.microsoft.com/office/drawing/2014/main" id="{595C035A-4F3E-83CE-1B2C-95FD061458FE}"/>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253262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A5228-365F-A57F-1075-B0F475DD5FBC}"/>
              </a:ext>
            </a:extLst>
          </p:cNvPr>
          <p:cNvSpPr>
            <a:spLocks noGrp="1"/>
          </p:cNvSpPr>
          <p:nvPr>
            <p:ph type="title"/>
          </p:nvPr>
        </p:nvSpPr>
        <p:spPr/>
        <p:txBody>
          <a:bodyPr/>
          <a:lstStyle/>
          <a:p>
            <a:r>
              <a:rPr lang="en-US" dirty="0"/>
              <a:t>Nota Bene</a:t>
            </a:r>
          </a:p>
        </p:txBody>
      </p:sp>
      <p:sp>
        <p:nvSpPr>
          <p:cNvPr id="3" name="Content Placeholder 2">
            <a:extLst>
              <a:ext uri="{FF2B5EF4-FFF2-40B4-BE49-F238E27FC236}">
                <a16:creationId xmlns:a16="http://schemas.microsoft.com/office/drawing/2014/main" id="{598D951C-94C9-C5B1-F786-E9858444F76A}"/>
              </a:ext>
            </a:extLst>
          </p:cNvPr>
          <p:cNvSpPr>
            <a:spLocks noGrp="1"/>
          </p:cNvSpPr>
          <p:nvPr>
            <p:ph idx="1"/>
          </p:nvPr>
        </p:nvSpPr>
        <p:spPr/>
        <p:txBody>
          <a:bodyPr/>
          <a:lstStyle/>
          <a:p>
            <a:r>
              <a:rPr lang="en-US" dirty="0"/>
              <a:t>Neither Delimiting nor SDU Protection are strictly speaking part of the protocol.</a:t>
            </a:r>
          </a:p>
          <a:p>
            <a:pPr lvl="1"/>
            <a:r>
              <a:rPr lang="en-US" dirty="0"/>
              <a:t>Delimiting defines the structure of User-Data</a:t>
            </a:r>
          </a:p>
          <a:p>
            <a:pPr lvl="1"/>
            <a:r>
              <a:rPr lang="en-US" dirty="0"/>
              <a:t>SDU Protection is determined by the properties of the (N-1)-Layer.</a:t>
            </a:r>
          </a:p>
          <a:p>
            <a:pPr lvl="2"/>
            <a:r>
              <a:rPr lang="en-US" dirty="0"/>
              <a:t>This implies that the SDU Protection Policy must be the same at both ends of the (N-1)-Flow.</a:t>
            </a:r>
          </a:p>
          <a:p>
            <a:r>
              <a:rPr lang="en-US" dirty="0"/>
              <a:t>Further this implies that Data Transfer functions are stateless.</a:t>
            </a:r>
          </a:p>
          <a:p>
            <a:pPr lvl="1"/>
            <a:r>
              <a:rPr lang="en-US" dirty="0"/>
              <a:t>Allocation requires state be maintained</a:t>
            </a:r>
          </a:p>
          <a:p>
            <a:pPr lvl="1"/>
            <a:r>
              <a:rPr lang="en-US" dirty="0"/>
              <a:t>Data Transfer Control (feedback mechanisms) are soft state in that they only maintain state as long as there is traffic. If no traffic for 2 or 3 (MPL + A + R), any state is no longer relevant and must be cleared when there is more traffic to send.</a:t>
            </a:r>
          </a:p>
        </p:txBody>
      </p:sp>
      <p:sp>
        <p:nvSpPr>
          <p:cNvPr id="5" name="Text Box 36">
            <a:extLst>
              <a:ext uri="{FF2B5EF4-FFF2-40B4-BE49-F238E27FC236}">
                <a16:creationId xmlns:a16="http://schemas.microsoft.com/office/drawing/2014/main" id="{12FA2373-58EC-AC50-5C52-C53BA14D3037}"/>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a:t>
            </a:r>
            <a:r>
              <a:rPr lang="en-US" sz="1000" u="sng" dirty="0">
                <a:solidFill>
                  <a:srgbClr val="000000"/>
                </a:solidFill>
                <a:latin typeface="Arial"/>
                <a:ea typeface="ＭＳ Ｐゴシック" charset="0"/>
                <a:cs typeface="ＭＳ Ｐゴシック" charset="0"/>
              </a:rPr>
              <a:t>22</a:t>
            </a:r>
            <a:endParaRPr lang="en-US" sz="1000" dirty="0">
              <a:solidFill>
                <a:srgbClr val="000000"/>
              </a:solidFill>
              <a:latin typeface="Arial"/>
              <a:ea typeface="ＭＳ Ｐゴシック" charset="0"/>
              <a:cs typeface="ＭＳ Ｐゴシック" charset="0"/>
            </a:endParaRPr>
          </a:p>
        </p:txBody>
      </p:sp>
    </p:spTree>
    <p:extLst>
      <p:ext uri="{BB962C8B-B14F-4D97-AF65-F5344CB8AC3E}">
        <p14:creationId xmlns:p14="http://schemas.microsoft.com/office/powerpoint/2010/main" val="1342097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defRPr/>
            </a:pPr>
            <a:r>
              <a:rPr lang="en-US" dirty="0">
                <a:solidFill>
                  <a:srgbClr val="000000"/>
                </a:solidFill>
                <a:cs typeface="+mj-cs"/>
              </a:rPr>
              <a:t>More Useful Mechanisms</a:t>
            </a:r>
          </a:p>
        </p:txBody>
      </p:sp>
      <p:sp>
        <p:nvSpPr>
          <p:cNvPr id="64515" name="Rectangle 3"/>
          <p:cNvSpPr>
            <a:spLocks noGrp="1" noChangeArrowheads="1"/>
          </p:cNvSpPr>
          <p:nvPr>
            <p:ph type="body" idx="1"/>
          </p:nvPr>
        </p:nvSpPr>
        <p:spPr>
          <a:xfrm>
            <a:off x="1405660" y="1824017"/>
            <a:ext cx="8067675" cy="2463800"/>
          </a:xfrm>
        </p:spPr>
        <p:txBody>
          <a:bodyPr>
            <a:normAutofit fontScale="92500" lnSpcReduction="20000"/>
          </a:bodyPr>
          <a:lstStyle/>
          <a:p>
            <a:pPr eaLnBrk="1" hangingPunct="1">
              <a:defRPr/>
            </a:pPr>
            <a:r>
              <a:rPr lang="en-US" sz="2200" dirty="0">
                <a:cs typeface="+mn-cs"/>
              </a:rPr>
              <a:t>Ordering</a:t>
            </a:r>
          </a:p>
          <a:p>
            <a:pPr lvl="1" eaLnBrk="1" hangingPunct="1">
              <a:defRPr/>
            </a:pPr>
            <a:r>
              <a:rPr lang="en-US" sz="1900" dirty="0"/>
              <a:t>Use Sequence numbers</a:t>
            </a:r>
          </a:p>
          <a:p>
            <a:pPr lvl="2" eaLnBrk="1" hangingPunct="1">
              <a:defRPr/>
            </a:pPr>
            <a:r>
              <a:rPr lang="en-US" sz="1700" dirty="0"/>
              <a:t>Must be careful about initial value and roll-over.</a:t>
            </a:r>
          </a:p>
          <a:p>
            <a:pPr lvl="2" eaLnBrk="1" hangingPunct="1">
              <a:defRPr/>
            </a:pPr>
            <a:r>
              <a:rPr lang="en-US" sz="1700" dirty="0"/>
              <a:t>Byte sequencing vs PDU sequencing</a:t>
            </a:r>
          </a:p>
          <a:p>
            <a:pPr lvl="1" eaLnBrk="1" hangingPunct="1">
              <a:defRPr/>
            </a:pPr>
            <a:r>
              <a:rPr lang="en-US" sz="1900" dirty="0"/>
              <a:t>Some Applications may be use more complex ordering schemes relative to multiple flows.</a:t>
            </a:r>
          </a:p>
          <a:p>
            <a:pPr lvl="2" eaLnBrk="1" hangingPunct="1">
              <a:defRPr/>
            </a:pPr>
            <a:r>
              <a:rPr lang="en-US" sz="1700" dirty="0"/>
              <a:t>Partial ordering, total ordering, etc.</a:t>
            </a:r>
          </a:p>
          <a:p>
            <a:pPr eaLnBrk="1" hangingPunct="1">
              <a:defRPr/>
            </a:pPr>
            <a:r>
              <a:rPr lang="en-US" sz="2200" dirty="0">
                <a:cs typeface="+mn-cs"/>
              </a:rPr>
              <a:t>Lost and Duplicate Detection</a:t>
            </a:r>
          </a:p>
          <a:p>
            <a:pPr lvl="1" eaLnBrk="1" hangingPunct="1">
              <a:defRPr/>
            </a:pPr>
            <a:r>
              <a:rPr lang="en-US" sz="1900" dirty="0"/>
              <a:t>Use the Sequence Numbers to detect duplicates and gaps</a:t>
            </a:r>
          </a:p>
        </p:txBody>
      </p:sp>
      <p:sp>
        <p:nvSpPr>
          <p:cNvPr id="64516"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205315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defRPr/>
            </a:pPr>
            <a:r>
              <a:rPr lang="en-US" dirty="0">
                <a:solidFill>
                  <a:srgbClr val="000000"/>
                </a:solidFill>
                <a:cs typeface="+mj-cs"/>
              </a:rPr>
              <a:t>Data Transfer Protocol</a:t>
            </a:r>
            <a:br>
              <a:rPr lang="en-US" dirty="0">
                <a:solidFill>
                  <a:srgbClr val="000000"/>
                </a:solidFill>
                <a:cs typeface="+mj-cs"/>
              </a:rPr>
            </a:br>
            <a:r>
              <a:rPr lang="en-US" sz="2000" dirty="0">
                <a:solidFill>
                  <a:srgbClr val="000000"/>
                </a:solidFill>
                <a:cs typeface="+mj-cs"/>
              </a:rPr>
              <a:t>What We Have So Far</a:t>
            </a:r>
            <a:endParaRPr lang="en-US" dirty="0">
              <a:solidFill>
                <a:srgbClr val="000000"/>
              </a:solidFill>
              <a:cs typeface="+mj-cs"/>
            </a:endParaRPr>
          </a:p>
        </p:txBody>
      </p:sp>
      <p:sp>
        <p:nvSpPr>
          <p:cNvPr id="143363" name="Rectangle 3"/>
          <p:cNvSpPr>
            <a:spLocks noGrp="1" noChangeArrowheads="1"/>
          </p:cNvSpPr>
          <p:nvPr>
            <p:ph type="body" idx="1"/>
          </p:nvPr>
        </p:nvSpPr>
        <p:spPr>
          <a:xfrm>
            <a:off x="2291938" y="5479315"/>
            <a:ext cx="8443356" cy="1013559"/>
          </a:xfrm>
        </p:spPr>
        <p:txBody>
          <a:bodyPr>
            <a:normAutofit fontScale="92500"/>
          </a:bodyPr>
          <a:lstStyle/>
          <a:p>
            <a:pPr marL="292100" indent="-292100">
              <a:defRPr/>
            </a:pPr>
            <a:r>
              <a:rPr lang="en-US" dirty="0">
                <a:cs typeface="+mn-cs"/>
              </a:rPr>
              <a:t>SDUs must be delimited when they appear so that we can maintain their identity.</a:t>
            </a:r>
          </a:p>
          <a:p>
            <a:pPr lvl="1">
              <a:defRPr/>
            </a:pPr>
            <a:r>
              <a:rPr lang="en-US" sz="1900" dirty="0"/>
              <a:t>That means that the last thing done to them before they come to us from below is delimiting as well.</a:t>
            </a:r>
          </a:p>
        </p:txBody>
      </p:sp>
      <p:sp>
        <p:nvSpPr>
          <p:cNvPr id="143365" name="Text Box 5"/>
          <p:cNvSpPr txBox="1">
            <a:spLocks noChangeArrowheads="1"/>
          </p:cNvSpPr>
          <p:nvPr/>
        </p:nvSpPr>
        <p:spPr bwMode="auto">
          <a:xfrm>
            <a:off x="4668838" y="4086226"/>
            <a:ext cx="2533650" cy="31432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Data Corruption Detection</a:t>
            </a:r>
          </a:p>
        </p:txBody>
      </p:sp>
      <p:sp>
        <p:nvSpPr>
          <p:cNvPr id="143372" name="Text Box 12"/>
          <p:cNvSpPr txBox="1">
            <a:spLocks noChangeArrowheads="1"/>
          </p:cNvSpPr>
          <p:nvPr/>
        </p:nvSpPr>
        <p:spPr bwMode="auto">
          <a:xfrm>
            <a:off x="5086350" y="2138364"/>
            <a:ext cx="1697038" cy="31432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Delimiting</a:t>
            </a:r>
          </a:p>
        </p:txBody>
      </p:sp>
      <p:sp>
        <p:nvSpPr>
          <p:cNvPr id="143373" name="Text Box 13"/>
          <p:cNvSpPr txBox="1">
            <a:spLocks noChangeArrowheads="1"/>
          </p:cNvSpPr>
          <p:nvPr/>
        </p:nvSpPr>
        <p:spPr bwMode="auto">
          <a:xfrm>
            <a:off x="4838701" y="2616201"/>
            <a:ext cx="2193925" cy="31432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Fragmentation/Reassembly</a:t>
            </a:r>
          </a:p>
        </p:txBody>
      </p:sp>
      <p:sp>
        <p:nvSpPr>
          <p:cNvPr id="143374" name="Text Box 14"/>
          <p:cNvSpPr txBox="1">
            <a:spLocks noChangeArrowheads="1"/>
          </p:cNvSpPr>
          <p:nvPr/>
        </p:nvSpPr>
        <p:spPr bwMode="auto">
          <a:xfrm>
            <a:off x="4870451" y="3616326"/>
            <a:ext cx="2130425" cy="31432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Ordering</a:t>
            </a:r>
          </a:p>
        </p:txBody>
      </p:sp>
      <p:sp>
        <p:nvSpPr>
          <p:cNvPr id="143375" name="Text Box 15"/>
          <p:cNvSpPr txBox="1">
            <a:spLocks noChangeArrowheads="1"/>
          </p:cNvSpPr>
          <p:nvPr/>
        </p:nvSpPr>
        <p:spPr bwMode="auto">
          <a:xfrm>
            <a:off x="4794251" y="3184526"/>
            <a:ext cx="2282825" cy="31432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Lost and Duplicate Detection</a:t>
            </a:r>
          </a:p>
        </p:txBody>
      </p:sp>
      <p:grpSp>
        <p:nvGrpSpPr>
          <p:cNvPr id="71688" name="Group 23"/>
          <p:cNvGrpSpPr>
            <a:grpSpLocks/>
          </p:cNvGrpSpPr>
          <p:nvPr/>
        </p:nvGrpSpPr>
        <p:grpSpPr bwMode="auto">
          <a:xfrm>
            <a:off x="3219450" y="4394200"/>
            <a:ext cx="6134100" cy="876300"/>
            <a:chOff x="1068" y="2768"/>
            <a:chExt cx="3864" cy="552"/>
          </a:xfrm>
        </p:grpSpPr>
        <p:sp>
          <p:nvSpPr>
            <p:cNvPr id="143379" name="Line 19"/>
            <p:cNvSpPr>
              <a:spLocks noChangeShapeType="1"/>
            </p:cNvSpPr>
            <p:nvPr/>
          </p:nvSpPr>
          <p:spPr bwMode="auto">
            <a:xfrm>
              <a:off x="1068" y="3096"/>
              <a:ext cx="3864" cy="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3380" name="AutoShape 20"/>
            <p:cNvSpPr>
              <a:spLocks noChangeArrowheads="1"/>
            </p:cNvSpPr>
            <p:nvPr/>
          </p:nvSpPr>
          <p:spPr bwMode="auto">
            <a:xfrm>
              <a:off x="3000" y="2768"/>
              <a:ext cx="112" cy="544"/>
            </a:xfrm>
            <a:prstGeom prst="upArrow">
              <a:avLst>
                <a:gd name="adj1" fmla="val 50000"/>
                <a:gd name="adj2" fmla="val 121429"/>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3381" name="AutoShape 21"/>
            <p:cNvSpPr>
              <a:spLocks noChangeArrowheads="1"/>
            </p:cNvSpPr>
            <p:nvPr/>
          </p:nvSpPr>
          <p:spPr bwMode="auto">
            <a:xfrm>
              <a:off x="2672" y="2792"/>
              <a:ext cx="104" cy="528"/>
            </a:xfrm>
            <a:prstGeom prst="downArrow">
              <a:avLst>
                <a:gd name="adj1" fmla="val 50000"/>
                <a:gd name="adj2" fmla="val 126923"/>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71689" name="Group 24"/>
          <p:cNvGrpSpPr>
            <a:grpSpLocks/>
          </p:cNvGrpSpPr>
          <p:nvPr/>
        </p:nvGrpSpPr>
        <p:grpSpPr bwMode="auto">
          <a:xfrm>
            <a:off x="3194050" y="1219200"/>
            <a:ext cx="6134100" cy="876300"/>
            <a:chOff x="1068" y="2768"/>
            <a:chExt cx="3864" cy="552"/>
          </a:xfrm>
        </p:grpSpPr>
        <p:sp>
          <p:nvSpPr>
            <p:cNvPr id="143385" name="Line 25"/>
            <p:cNvSpPr>
              <a:spLocks noChangeShapeType="1"/>
            </p:cNvSpPr>
            <p:nvPr/>
          </p:nvSpPr>
          <p:spPr bwMode="auto">
            <a:xfrm>
              <a:off x="1068" y="3096"/>
              <a:ext cx="3864" cy="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3386" name="AutoShape 26"/>
            <p:cNvSpPr>
              <a:spLocks noChangeArrowheads="1"/>
            </p:cNvSpPr>
            <p:nvPr/>
          </p:nvSpPr>
          <p:spPr bwMode="auto">
            <a:xfrm>
              <a:off x="3000" y="2768"/>
              <a:ext cx="112" cy="544"/>
            </a:xfrm>
            <a:prstGeom prst="upArrow">
              <a:avLst>
                <a:gd name="adj1" fmla="val 50000"/>
                <a:gd name="adj2" fmla="val 121429"/>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3387" name="AutoShape 27"/>
            <p:cNvSpPr>
              <a:spLocks noChangeArrowheads="1"/>
            </p:cNvSpPr>
            <p:nvPr/>
          </p:nvSpPr>
          <p:spPr bwMode="auto">
            <a:xfrm>
              <a:off x="2672" y="2792"/>
              <a:ext cx="104" cy="528"/>
            </a:xfrm>
            <a:prstGeom prst="downArrow">
              <a:avLst>
                <a:gd name="adj1" fmla="val 50000"/>
                <a:gd name="adj2" fmla="val 126923"/>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43388" name="Text Box 28"/>
          <p:cNvSpPr txBox="1">
            <a:spLocks noChangeArrowheads="1"/>
          </p:cNvSpPr>
          <p:nvPr/>
        </p:nvSpPr>
        <p:spPr bwMode="auto">
          <a:xfrm>
            <a:off x="7807326" y="3043239"/>
            <a:ext cx="2036763"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fontAlgn="base">
              <a:spcBef>
                <a:spcPct val="20000"/>
              </a:spcBef>
              <a:spcAft>
                <a:spcPct val="0"/>
              </a:spcAft>
              <a:buClr>
                <a:srgbClr val="3333CC"/>
              </a:buClr>
              <a:defRPr/>
            </a:pPr>
            <a:r>
              <a:rPr lang="en-US" sz="1200">
                <a:solidFill>
                  <a:srgbClr val="000000"/>
                </a:solidFill>
                <a:latin typeface="Times New Roman" charset="0"/>
                <a:ea typeface="ＭＳ Ｐゴシック" charset="0"/>
                <a:cs typeface="ＭＳ Ｐゴシック" charset="0"/>
              </a:rPr>
              <a:t>The only state we need to keep track of is the sequence number: last_sent, last_rcv</a:t>
            </a:r>
          </a:p>
          <a:p>
            <a:pPr algn="ctr" fontAlgn="base">
              <a:spcBef>
                <a:spcPct val="0"/>
              </a:spcBef>
              <a:spcAft>
                <a:spcPct val="0"/>
              </a:spcAft>
              <a:defRPr/>
            </a:pPr>
            <a:endParaRPr lang="en-US" sz="1200">
              <a:solidFill>
                <a:srgbClr val="000000"/>
              </a:solidFill>
              <a:latin typeface="Arial" charset="0"/>
              <a:ea typeface="ＭＳ Ｐゴシック" charset="0"/>
              <a:cs typeface="ＭＳ Ｐゴシック" charset="0"/>
            </a:endParaRPr>
          </a:p>
        </p:txBody>
      </p:sp>
      <p:sp>
        <p:nvSpPr>
          <p:cNvPr id="143389" name="Text Box 29"/>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952735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7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37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3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5" grpId="0" animBg="1"/>
      <p:bldP spid="143372" grpId="0" animBg="1"/>
      <p:bldP spid="143373" grpId="0" animBg="1"/>
      <p:bldP spid="143374" grpId="0" animBg="1"/>
      <p:bldP spid="14337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rgbClr val="000000"/>
                </a:solidFill>
              </a:rPr>
              <a:t>What Might a PDU Look Like?</a:t>
            </a:r>
            <a:br>
              <a:rPr lang="en-US" dirty="0">
                <a:solidFill>
                  <a:srgbClr val="000000"/>
                </a:solidFill>
              </a:rPr>
            </a:br>
            <a:r>
              <a:rPr lang="en-US" sz="2000" dirty="0">
                <a:solidFill>
                  <a:srgbClr val="000000"/>
                </a:solidFill>
              </a:rPr>
              <a:t>(so far)</a:t>
            </a:r>
          </a:p>
        </p:txBody>
      </p:sp>
      <p:sp>
        <p:nvSpPr>
          <p:cNvPr id="3" name="Content Placeholder 2"/>
          <p:cNvSpPr>
            <a:spLocks noGrp="1"/>
          </p:cNvSpPr>
          <p:nvPr>
            <p:ph idx="1"/>
          </p:nvPr>
        </p:nvSpPr>
        <p:spPr>
          <a:xfrm>
            <a:off x="3203099" y="3414632"/>
            <a:ext cx="5871051" cy="2334712"/>
          </a:xfrm>
        </p:spPr>
        <p:txBody>
          <a:bodyPr>
            <a:normAutofit fontScale="92500" lnSpcReduction="20000"/>
          </a:bodyPr>
          <a:lstStyle/>
          <a:p>
            <a:pPr marL="266700" indent="-266700">
              <a:defRPr/>
            </a:pPr>
            <a:r>
              <a:rPr lang="en-US" dirty="0"/>
              <a:t>First, the usual things we need:</a:t>
            </a:r>
          </a:p>
          <a:p>
            <a:pPr marL="266700" indent="-266700">
              <a:defRPr/>
            </a:pPr>
            <a:r>
              <a:rPr lang="en-US" dirty="0"/>
              <a:t>The CRC to ensure the bits are not corrupted. </a:t>
            </a:r>
          </a:p>
          <a:p>
            <a:pPr marL="723900" lvl="1" indent="-266700">
              <a:defRPr/>
            </a:pPr>
            <a:r>
              <a:rPr lang="en-US" dirty="0"/>
              <a:t>Must be done first or can’t trust the bits to go further.</a:t>
            </a:r>
          </a:p>
          <a:p>
            <a:pPr marL="190500" indent="-266700">
              <a:defRPr/>
            </a:pPr>
            <a:r>
              <a:rPr lang="en-US" dirty="0"/>
              <a:t>Type of PDU, and Version of the Protocol, Length</a:t>
            </a:r>
          </a:p>
          <a:p>
            <a:pPr marL="266700" indent="-266700">
              <a:defRPr/>
            </a:pPr>
            <a:r>
              <a:rPr lang="en-US" dirty="0"/>
              <a:t>Flags and Sequence Number for Ordering </a:t>
            </a:r>
          </a:p>
          <a:p>
            <a:pPr marL="266700" indent="-266700">
              <a:defRPr/>
            </a:pPr>
            <a:r>
              <a:rPr lang="en-US" dirty="0"/>
              <a:t>O, and the User Data.</a:t>
            </a:r>
          </a:p>
          <a:p>
            <a:pPr marL="266700" indent="-266700">
              <a:defRPr/>
            </a:pPr>
            <a:r>
              <a:rPr lang="en-US" dirty="0"/>
              <a:t>The fixed length fields facilitate parsing.</a:t>
            </a:r>
          </a:p>
          <a:p>
            <a:pPr marL="266700" indent="-266700">
              <a:defRPr/>
            </a:pPr>
            <a:endParaRPr lang="en-US" dirty="0"/>
          </a:p>
        </p:txBody>
      </p:sp>
      <p:sp>
        <p:nvSpPr>
          <p:cNvPr id="6" name="Text Box 4">
            <a:extLst>
              <a:ext uri="{FF2B5EF4-FFF2-40B4-BE49-F238E27FC236}">
                <a16:creationId xmlns:a16="http://schemas.microsoft.com/office/drawing/2014/main" id="{6DA8CEA8-3236-DA3A-E503-453BCB07503B}"/>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cxnSp>
        <p:nvCxnSpPr>
          <p:cNvPr id="8" name="Straight Connector 7"/>
          <p:cNvCxnSpPr/>
          <p:nvPr/>
        </p:nvCxnSpPr>
        <p:spPr bwMode="auto">
          <a:xfrm>
            <a:off x="3572092" y="2654299"/>
            <a:ext cx="0" cy="33813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8" name="TextBox 17"/>
          <p:cNvSpPr txBox="1"/>
          <p:nvPr/>
        </p:nvSpPr>
        <p:spPr bwMode="auto">
          <a:xfrm>
            <a:off x="5051642" y="2657474"/>
            <a:ext cx="2101844" cy="338554"/>
          </a:xfrm>
          <a:prstGeom prst="rect">
            <a:avLst/>
          </a:prstGeom>
          <a:noFill/>
          <a:ln>
            <a:solidFill>
              <a:srgbClr val="000000"/>
            </a:solidFill>
          </a:ln>
        </p:spPr>
        <p:txBody>
          <a:bodyPr wrap="square">
            <a:spAutoFit/>
          </a:bodyPr>
          <a:lstStyle/>
          <a:p>
            <a:pPr fontAlgn="base">
              <a:spcBef>
                <a:spcPct val="0"/>
              </a:spcBef>
              <a:spcAft>
                <a:spcPct val="0"/>
              </a:spcAft>
              <a:defRPr/>
            </a:pPr>
            <a:r>
              <a:rPr lang="en-US" sz="1600" dirty="0">
                <a:solidFill>
                  <a:srgbClr val="000000"/>
                </a:solidFill>
                <a:latin typeface="Times New Roman"/>
                <a:ea typeface="ＭＳ Ｐゴシック" charset="0"/>
                <a:cs typeface="ＭＳ Ｐゴシック" charset="0"/>
              </a:rPr>
              <a:t>Flags   Sequence Num  </a:t>
            </a:r>
          </a:p>
        </p:txBody>
      </p:sp>
      <p:cxnSp>
        <p:nvCxnSpPr>
          <p:cNvPr id="19" name="Straight Connector 18"/>
          <p:cNvCxnSpPr/>
          <p:nvPr/>
        </p:nvCxnSpPr>
        <p:spPr bwMode="auto">
          <a:xfrm>
            <a:off x="5661696" y="2654299"/>
            <a:ext cx="0" cy="3683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25" name="TextBox 24"/>
          <p:cNvSpPr txBox="1"/>
          <p:nvPr/>
        </p:nvSpPr>
        <p:spPr>
          <a:xfrm>
            <a:off x="7153486" y="2653222"/>
            <a:ext cx="2199023" cy="338554"/>
          </a:xfrm>
          <a:prstGeom prst="rect">
            <a:avLst/>
          </a:prstGeom>
          <a:noFill/>
          <a:ln>
            <a:solidFill>
              <a:srgbClr val="000000"/>
            </a:solidFill>
          </a:ln>
        </p:spPr>
        <p:txBody>
          <a:bodyPr wrap="square">
            <a:spAutoFit/>
          </a:bodyPr>
          <a:lstStyle/>
          <a:p>
            <a:pPr algn="ctr" fontAlgn="base">
              <a:spcBef>
                <a:spcPct val="0"/>
              </a:spcBef>
              <a:spcAft>
                <a:spcPct val="0"/>
              </a:spcAft>
              <a:defRPr/>
            </a:pPr>
            <a:r>
              <a:rPr lang="en-US" sz="1600" dirty="0">
                <a:solidFill>
                  <a:srgbClr val="000000"/>
                </a:solidFill>
                <a:latin typeface="Times New Roman"/>
                <a:ea typeface="ＭＳ Ｐゴシック" charset="0"/>
                <a:cs typeface="ＭＳ Ｐゴシック" charset="0"/>
              </a:rPr>
              <a:t>User-Data</a:t>
            </a:r>
          </a:p>
        </p:txBody>
      </p:sp>
      <p:grpSp>
        <p:nvGrpSpPr>
          <p:cNvPr id="7" name="Group 6">
            <a:extLst>
              <a:ext uri="{FF2B5EF4-FFF2-40B4-BE49-F238E27FC236}">
                <a16:creationId xmlns:a16="http://schemas.microsoft.com/office/drawing/2014/main" id="{C0A55C09-B976-D597-85FD-D2CFC7496CD6}"/>
              </a:ext>
            </a:extLst>
          </p:cNvPr>
          <p:cNvGrpSpPr/>
          <p:nvPr/>
        </p:nvGrpSpPr>
        <p:grpSpPr>
          <a:xfrm>
            <a:off x="3057742" y="2654299"/>
            <a:ext cx="1993900" cy="338137"/>
            <a:chOff x="3057742" y="2654299"/>
            <a:chExt cx="1993900" cy="338137"/>
          </a:xfrm>
        </p:grpSpPr>
        <p:sp>
          <p:nvSpPr>
            <p:cNvPr id="4" name="TextBox 3"/>
            <p:cNvSpPr txBox="1"/>
            <p:nvPr/>
          </p:nvSpPr>
          <p:spPr>
            <a:xfrm>
              <a:off x="3057742" y="2654299"/>
              <a:ext cx="1028700" cy="338137"/>
            </a:xfrm>
            <a:prstGeom prst="rect">
              <a:avLst/>
            </a:prstGeom>
            <a:noFill/>
            <a:ln>
              <a:solidFill>
                <a:srgbClr val="000000"/>
              </a:solidFill>
            </a:ln>
          </p:spPr>
          <p:txBody>
            <a:bodyPr>
              <a:spAutoFit/>
            </a:bodyPr>
            <a:lstStyle/>
            <a:p>
              <a:pPr fontAlgn="base">
                <a:spcBef>
                  <a:spcPct val="0"/>
                </a:spcBef>
                <a:spcAft>
                  <a:spcPct val="0"/>
                </a:spcAft>
                <a:defRPr/>
              </a:pPr>
              <a:r>
                <a:rPr lang="en-US" sz="1600" dirty="0">
                  <a:solidFill>
                    <a:srgbClr val="000000"/>
                  </a:solidFill>
                  <a:latin typeface="Times New Roman"/>
                  <a:ea typeface="ＭＳ Ｐゴシック" charset="0"/>
                  <a:cs typeface="ＭＳ Ｐゴシック" charset="0"/>
                </a:rPr>
                <a:t>Type  Ver.</a:t>
              </a:r>
            </a:p>
          </p:txBody>
        </p:sp>
        <p:sp>
          <p:nvSpPr>
            <p:cNvPr id="26" name="TextBox 25"/>
            <p:cNvSpPr txBox="1"/>
            <p:nvPr/>
          </p:nvSpPr>
          <p:spPr>
            <a:xfrm>
              <a:off x="4099142" y="2654299"/>
              <a:ext cx="952500" cy="338137"/>
            </a:xfrm>
            <a:prstGeom prst="rect">
              <a:avLst/>
            </a:prstGeom>
            <a:noFill/>
            <a:ln>
              <a:solidFill>
                <a:srgbClr val="000000"/>
              </a:solidFill>
            </a:ln>
          </p:spPr>
          <p:txBody>
            <a:bodyPr>
              <a:spAutoFit/>
            </a:bodyPr>
            <a:lstStyle/>
            <a:p>
              <a:pPr algn="ctr" fontAlgn="base">
                <a:spcBef>
                  <a:spcPct val="0"/>
                </a:spcBef>
                <a:spcAft>
                  <a:spcPct val="0"/>
                </a:spcAft>
                <a:defRPr/>
              </a:pPr>
              <a:r>
                <a:rPr lang="en-US" sz="1600" dirty="0">
                  <a:solidFill>
                    <a:srgbClr val="000000"/>
                  </a:solidFill>
                  <a:latin typeface="Times New Roman"/>
                  <a:ea typeface="ＭＳ Ｐゴシック" charset="0"/>
                  <a:cs typeface="ＭＳ Ｐゴシック" charset="0"/>
                </a:rPr>
                <a:t>Length</a:t>
              </a:r>
            </a:p>
          </p:txBody>
        </p:sp>
      </p:grpSp>
      <p:sp>
        <p:nvSpPr>
          <p:cNvPr id="5" name="TextBox 4">
            <a:extLst>
              <a:ext uri="{FF2B5EF4-FFF2-40B4-BE49-F238E27FC236}">
                <a16:creationId xmlns:a16="http://schemas.microsoft.com/office/drawing/2014/main" id="{C3EE7E53-7B6D-0788-D26A-66B16FACD0E2}"/>
              </a:ext>
            </a:extLst>
          </p:cNvPr>
          <p:cNvSpPr txBox="1"/>
          <p:nvPr/>
        </p:nvSpPr>
        <p:spPr>
          <a:xfrm>
            <a:off x="2345388" y="2648228"/>
            <a:ext cx="702832" cy="307777"/>
          </a:xfrm>
          <a:prstGeom prst="rect">
            <a:avLst/>
          </a:prstGeom>
          <a:noFill/>
          <a:ln w="12700">
            <a:noFill/>
          </a:ln>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CRC</a:t>
            </a:r>
          </a:p>
        </p:txBody>
      </p:sp>
      <p:sp>
        <p:nvSpPr>
          <p:cNvPr id="9" name="Rectangle 8">
            <a:extLst>
              <a:ext uri="{FF2B5EF4-FFF2-40B4-BE49-F238E27FC236}">
                <a16:creationId xmlns:a16="http://schemas.microsoft.com/office/drawing/2014/main" id="{A0C38C36-7770-0E0E-8C1C-2AE5057A0B71}"/>
              </a:ext>
            </a:extLst>
          </p:cNvPr>
          <p:cNvSpPr/>
          <p:nvPr/>
        </p:nvSpPr>
        <p:spPr>
          <a:xfrm>
            <a:off x="2354900" y="2653222"/>
            <a:ext cx="702830" cy="3381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76055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8" grpId="0" animBg="1"/>
      <p:bldP spid="25" grpId="0" animBg="1"/>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524000" y="144463"/>
            <a:ext cx="9144000" cy="1455737"/>
          </a:xfrm>
        </p:spPr>
        <p:txBody>
          <a:bodyPr/>
          <a:lstStyle/>
          <a:p>
            <a:pPr eaLnBrk="1" hangingPunct="1">
              <a:defRPr/>
            </a:pPr>
            <a:r>
              <a:rPr lang="en-US" dirty="0">
                <a:solidFill>
                  <a:srgbClr val="000000"/>
                </a:solidFill>
                <a:cs typeface="+mj-cs"/>
              </a:rPr>
              <a:t>More Useful Mechanisms:</a:t>
            </a:r>
            <a:br>
              <a:rPr lang="en-US" dirty="0">
                <a:solidFill>
                  <a:srgbClr val="000000"/>
                </a:solidFill>
                <a:cs typeface="+mj-cs"/>
              </a:rPr>
            </a:br>
            <a:r>
              <a:rPr lang="en-US" sz="2400" dirty="0">
                <a:solidFill>
                  <a:srgbClr val="000000"/>
                </a:solidFill>
                <a:cs typeface="+mj-cs"/>
              </a:rPr>
              <a:t>Data Transfer Control</a:t>
            </a:r>
            <a:br>
              <a:rPr lang="en-US" dirty="0">
                <a:solidFill>
                  <a:srgbClr val="000000"/>
                </a:solidFill>
                <a:cs typeface="+mj-cs"/>
              </a:rPr>
            </a:br>
            <a:r>
              <a:rPr lang="en-US" sz="2000" dirty="0">
                <a:solidFill>
                  <a:srgbClr val="000000"/>
                </a:solidFill>
                <a:cs typeface="+mj-cs"/>
              </a:rPr>
              <a:t>(feedback mechanisms)</a:t>
            </a:r>
          </a:p>
        </p:txBody>
      </p:sp>
      <p:sp>
        <p:nvSpPr>
          <p:cNvPr id="66563" name="Rectangle 3"/>
          <p:cNvSpPr>
            <a:spLocks noGrp="1" noChangeArrowheads="1"/>
          </p:cNvSpPr>
          <p:nvPr>
            <p:ph type="body" idx="1"/>
          </p:nvPr>
        </p:nvSpPr>
        <p:spPr>
          <a:xfrm>
            <a:off x="1922464" y="1790700"/>
            <a:ext cx="7883525" cy="3752850"/>
          </a:xfrm>
        </p:spPr>
        <p:txBody>
          <a:bodyPr/>
          <a:lstStyle/>
          <a:p>
            <a:pPr eaLnBrk="1" hangingPunct="1">
              <a:defRPr/>
            </a:pPr>
            <a:r>
              <a:rPr lang="en-US" dirty="0">
                <a:cs typeface="+mn-cs"/>
              </a:rPr>
              <a:t>Lost and Duplicate Detection</a:t>
            </a:r>
          </a:p>
          <a:p>
            <a:pPr lvl="1" eaLnBrk="1" hangingPunct="1">
              <a:defRPr/>
            </a:pPr>
            <a:r>
              <a:rPr lang="en-US" dirty="0">
                <a:cs typeface="+mn-cs"/>
              </a:rPr>
              <a:t>Sequence Number</a:t>
            </a:r>
          </a:p>
          <a:p>
            <a:pPr eaLnBrk="1" hangingPunct="1">
              <a:defRPr/>
            </a:pPr>
            <a:r>
              <a:rPr lang="en-US" dirty="0">
                <a:cs typeface="+mn-cs"/>
              </a:rPr>
              <a:t>Retransmission Control </a:t>
            </a:r>
            <a:r>
              <a:rPr lang="en-US" sz="1200" dirty="0">
                <a:cs typeface="+mn-cs"/>
              </a:rPr>
              <a:t>(really)</a:t>
            </a:r>
          </a:p>
          <a:p>
            <a:pPr lvl="1" eaLnBrk="1" hangingPunct="1">
              <a:defRPr/>
            </a:pPr>
            <a:r>
              <a:rPr lang="en-US" dirty="0"/>
              <a:t>Acknowledgement</a:t>
            </a:r>
          </a:p>
          <a:p>
            <a:pPr lvl="1" eaLnBrk="1" hangingPunct="1">
              <a:defRPr/>
            </a:pPr>
            <a:r>
              <a:rPr lang="en-US" dirty="0"/>
              <a:t>Negative Acknowledgement</a:t>
            </a:r>
          </a:p>
          <a:p>
            <a:pPr eaLnBrk="1" hangingPunct="1">
              <a:defRPr/>
            </a:pPr>
            <a:r>
              <a:rPr lang="en-US" dirty="0">
                <a:cs typeface="+mn-cs"/>
              </a:rPr>
              <a:t>Flow Control</a:t>
            </a:r>
          </a:p>
          <a:p>
            <a:pPr lvl="1" eaLnBrk="1" hangingPunct="1">
              <a:defRPr/>
            </a:pPr>
            <a:r>
              <a:rPr lang="en-US" dirty="0"/>
              <a:t>Start-Stop (window of 1)</a:t>
            </a:r>
          </a:p>
          <a:p>
            <a:pPr lvl="1" eaLnBrk="1" hangingPunct="1">
              <a:defRPr/>
            </a:pPr>
            <a:r>
              <a:rPr lang="en-US" dirty="0"/>
              <a:t>Credit-based</a:t>
            </a:r>
          </a:p>
          <a:p>
            <a:pPr lvl="2" eaLnBrk="1" hangingPunct="1">
              <a:defRPr/>
            </a:pPr>
            <a:r>
              <a:rPr lang="en-US" dirty="0"/>
              <a:t>Fixed Window</a:t>
            </a:r>
          </a:p>
          <a:p>
            <a:pPr lvl="2" eaLnBrk="1" hangingPunct="1">
              <a:defRPr/>
            </a:pPr>
            <a:r>
              <a:rPr lang="en-US" dirty="0"/>
              <a:t>Dynamic Window</a:t>
            </a:r>
          </a:p>
          <a:p>
            <a:pPr lvl="1" eaLnBrk="1" hangingPunct="1">
              <a:defRPr/>
            </a:pPr>
            <a:r>
              <a:rPr lang="en-US" dirty="0"/>
              <a:t>Rate-based (Timer-based)</a:t>
            </a:r>
          </a:p>
        </p:txBody>
      </p:sp>
      <p:sp>
        <p:nvSpPr>
          <p:cNvPr id="66565" name="Text Box 5"/>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966716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defRPr/>
            </a:pPr>
            <a:r>
              <a:rPr lang="en-US" dirty="0">
                <a:solidFill>
                  <a:srgbClr val="000000"/>
                </a:solidFill>
                <a:cs typeface="+mj-cs"/>
              </a:rPr>
              <a:t>Sliding Window Operation</a:t>
            </a:r>
          </a:p>
        </p:txBody>
      </p:sp>
      <p:sp>
        <p:nvSpPr>
          <p:cNvPr id="67587" name="Rectangle 3"/>
          <p:cNvSpPr>
            <a:spLocks noGrp="1" noChangeArrowheads="1"/>
          </p:cNvSpPr>
          <p:nvPr>
            <p:ph type="body" idx="1"/>
          </p:nvPr>
        </p:nvSpPr>
        <p:spPr>
          <a:xfrm>
            <a:off x="1905000" y="3959226"/>
            <a:ext cx="8458200" cy="2327274"/>
          </a:xfrm>
        </p:spPr>
        <p:txBody>
          <a:bodyPr/>
          <a:lstStyle/>
          <a:p>
            <a:pPr marL="266700" indent="-266700">
              <a:defRPr/>
            </a:pPr>
            <a:r>
              <a:rPr lang="en-US" dirty="0">
                <a:cs typeface="+mn-cs"/>
              </a:rPr>
              <a:t>The Sliding Window brings together Ordering, Lost and Duplicate Detection, Acknowledgement/Retransmission and Flow Control</a:t>
            </a:r>
          </a:p>
          <a:p>
            <a:pPr marL="1016000" lvl="2" indent="-304800">
              <a:defRPr/>
            </a:pPr>
            <a:r>
              <a:rPr lang="en-US" dirty="0"/>
              <a:t>Pair of windows required for each direction.</a:t>
            </a:r>
          </a:p>
          <a:p>
            <a:pPr marL="254000" indent="-304800">
              <a:defRPr/>
            </a:pPr>
            <a:r>
              <a:rPr lang="en-US" dirty="0"/>
              <a:t>However, the Retransmission and Flow Control mechanisms are independent.</a:t>
            </a:r>
          </a:p>
          <a:p>
            <a:pPr marL="635000" lvl="1" indent="-304800">
              <a:defRPr/>
            </a:pPr>
            <a:r>
              <a:rPr lang="en-US" sz="1600" dirty="0"/>
              <a:t>Retransmission Control only manipulates the left window edge.</a:t>
            </a:r>
          </a:p>
          <a:p>
            <a:pPr marL="635000" lvl="1" indent="-304800">
              <a:defRPr/>
            </a:pPr>
            <a:r>
              <a:rPr lang="en-US" sz="1600" dirty="0"/>
              <a:t>Flow Control only manipulates the right window edge.</a:t>
            </a:r>
          </a:p>
          <a:p>
            <a:pPr marL="635000" lvl="1" indent="-304800">
              <a:defRPr/>
            </a:pPr>
            <a:r>
              <a:rPr lang="en-US" sz="1600" dirty="0"/>
              <a:t>Any linkage between the two is in the </a:t>
            </a:r>
            <a:r>
              <a:rPr lang="en-US" sz="1600" i="1" dirty="0"/>
              <a:t>policy</a:t>
            </a:r>
          </a:p>
        </p:txBody>
      </p:sp>
      <p:grpSp>
        <p:nvGrpSpPr>
          <p:cNvPr id="2" name="Group 1"/>
          <p:cNvGrpSpPr/>
          <p:nvPr/>
        </p:nvGrpSpPr>
        <p:grpSpPr>
          <a:xfrm>
            <a:off x="1989138" y="1101726"/>
            <a:ext cx="8475662" cy="2695575"/>
            <a:chOff x="465138" y="1763713"/>
            <a:chExt cx="8475662" cy="2695575"/>
          </a:xfrm>
        </p:grpSpPr>
        <p:sp>
          <p:nvSpPr>
            <p:cNvPr id="67588" name="Line 4"/>
            <p:cNvSpPr>
              <a:spLocks noChangeShapeType="1"/>
            </p:cNvSpPr>
            <p:nvPr/>
          </p:nvSpPr>
          <p:spPr bwMode="auto">
            <a:xfrm>
              <a:off x="969963" y="3425825"/>
              <a:ext cx="2260600"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89" name="Line 5"/>
            <p:cNvSpPr>
              <a:spLocks noChangeShapeType="1"/>
            </p:cNvSpPr>
            <p:nvPr/>
          </p:nvSpPr>
          <p:spPr bwMode="auto">
            <a:xfrm>
              <a:off x="1447800" y="2667000"/>
              <a:ext cx="1588" cy="938213"/>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0" name="Line 6"/>
            <p:cNvSpPr>
              <a:spLocks noChangeShapeType="1"/>
            </p:cNvSpPr>
            <p:nvPr/>
          </p:nvSpPr>
          <p:spPr bwMode="auto">
            <a:xfrm flipH="1">
              <a:off x="2552700" y="2655888"/>
              <a:ext cx="7938" cy="9144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1" name="Line 7"/>
            <p:cNvSpPr>
              <a:spLocks noChangeShapeType="1"/>
            </p:cNvSpPr>
            <p:nvPr/>
          </p:nvSpPr>
          <p:spPr bwMode="auto">
            <a:xfrm>
              <a:off x="1084263" y="2500313"/>
              <a:ext cx="373062" cy="34448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2" name="Line 8"/>
            <p:cNvSpPr>
              <a:spLocks noChangeShapeType="1"/>
            </p:cNvSpPr>
            <p:nvPr/>
          </p:nvSpPr>
          <p:spPr bwMode="auto">
            <a:xfrm flipH="1">
              <a:off x="2614613" y="2325688"/>
              <a:ext cx="471487" cy="34925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3" name="Line 9"/>
            <p:cNvSpPr>
              <a:spLocks noChangeShapeType="1"/>
            </p:cNvSpPr>
            <p:nvPr/>
          </p:nvSpPr>
          <p:spPr bwMode="auto">
            <a:xfrm flipH="1" flipV="1">
              <a:off x="1487488" y="2763838"/>
              <a:ext cx="1046162" cy="0"/>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02" name="Text Box 18"/>
            <p:cNvSpPr txBox="1">
              <a:spLocks noChangeArrowheads="1"/>
            </p:cNvSpPr>
            <p:nvPr/>
          </p:nvSpPr>
          <p:spPr bwMode="auto">
            <a:xfrm>
              <a:off x="1206500" y="4090988"/>
              <a:ext cx="17208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400" b="1">
                  <a:solidFill>
                    <a:srgbClr val="000000"/>
                  </a:solidFill>
                  <a:latin typeface="Times" charset="0"/>
                  <a:ea typeface="ＭＳ Ｐゴシック" charset="0"/>
                  <a:cs typeface="ＭＳ Ｐゴシック" charset="0"/>
                </a:rPr>
                <a:t>Sender</a:t>
              </a:r>
            </a:p>
          </p:txBody>
        </p:sp>
        <p:sp>
          <p:nvSpPr>
            <p:cNvPr id="67604" name="Text Box 20"/>
            <p:cNvSpPr txBox="1">
              <a:spLocks noChangeArrowheads="1"/>
            </p:cNvSpPr>
            <p:nvPr/>
          </p:nvSpPr>
          <p:spPr bwMode="auto">
            <a:xfrm>
              <a:off x="712788" y="3827463"/>
              <a:ext cx="7858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Times" charset="0"/>
                  <a:ea typeface="ＭＳ Ｐゴシック" charset="0"/>
                  <a:cs typeface="ＭＳ Ｐゴシック" charset="0"/>
                </a:rPr>
                <a:t>Next PDU to Send</a:t>
              </a:r>
            </a:p>
          </p:txBody>
        </p:sp>
        <p:sp>
          <p:nvSpPr>
            <p:cNvPr id="67605" name="Text Box 21"/>
            <p:cNvSpPr txBox="1">
              <a:spLocks noChangeArrowheads="1"/>
            </p:cNvSpPr>
            <p:nvPr/>
          </p:nvSpPr>
          <p:spPr bwMode="auto">
            <a:xfrm>
              <a:off x="1301750" y="1763713"/>
              <a:ext cx="1249363"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Times" charset="0"/>
                  <a:ea typeface="ＭＳ Ｐゴシック" charset="0"/>
                  <a:cs typeface="ＭＳ Ｐゴシック" charset="0"/>
                </a:rPr>
                <a:t>Credit Rcvd</a:t>
              </a:r>
            </a:p>
          </p:txBody>
        </p:sp>
        <p:sp>
          <p:nvSpPr>
            <p:cNvPr id="67606" name="Line 22"/>
            <p:cNvSpPr>
              <a:spLocks noChangeShapeType="1"/>
            </p:cNvSpPr>
            <p:nvPr/>
          </p:nvSpPr>
          <p:spPr bwMode="auto">
            <a:xfrm flipH="1">
              <a:off x="1893888" y="2024063"/>
              <a:ext cx="227012" cy="7413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07" name="Text Box 23"/>
            <p:cNvSpPr txBox="1">
              <a:spLocks noChangeArrowheads="1"/>
            </p:cNvSpPr>
            <p:nvPr/>
          </p:nvSpPr>
          <p:spPr bwMode="auto">
            <a:xfrm>
              <a:off x="2862263" y="2011363"/>
              <a:ext cx="1195387"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Times" charset="0"/>
                  <a:ea typeface="ＭＳ Ｐゴシック" charset="0"/>
                  <a:cs typeface="ＭＳ Ｐゴシック" charset="0"/>
                </a:rPr>
                <a:t>Highest # PDU Should Send</a:t>
              </a:r>
            </a:p>
          </p:txBody>
        </p:sp>
        <p:sp>
          <p:nvSpPr>
            <p:cNvPr id="67596" name="Line 12"/>
            <p:cNvSpPr>
              <a:spLocks noChangeShapeType="1"/>
            </p:cNvSpPr>
            <p:nvPr/>
          </p:nvSpPr>
          <p:spPr bwMode="auto">
            <a:xfrm>
              <a:off x="6073775" y="3459163"/>
              <a:ext cx="2260600" cy="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7" name="Line 13"/>
            <p:cNvSpPr>
              <a:spLocks noChangeShapeType="1"/>
            </p:cNvSpPr>
            <p:nvPr/>
          </p:nvSpPr>
          <p:spPr bwMode="auto">
            <a:xfrm flipH="1">
              <a:off x="6553200" y="2743200"/>
              <a:ext cx="0" cy="89535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8" name="Line 14"/>
            <p:cNvSpPr>
              <a:spLocks noChangeShapeType="1"/>
            </p:cNvSpPr>
            <p:nvPr/>
          </p:nvSpPr>
          <p:spPr bwMode="auto">
            <a:xfrm flipH="1">
              <a:off x="7656513" y="2689225"/>
              <a:ext cx="7937" cy="9144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599" name="Line 15"/>
            <p:cNvSpPr>
              <a:spLocks noChangeShapeType="1"/>
            </p:cNvSpPr>
            <p:nvPr/>
          </p:nvSpPr>
          <p:spPr bwMode="auto">
            <a:xfrm>
              <a:off x="5997575" y="2724150"/>
              <a:ext cx="563563" cy="15398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00" name="Line 16"/>
            <p:cNvSpPr>
              <a:spLocks noChangeShapeType="1"/>
            </p:cNvSpPr>
            <p:nvPr/>
          </p:nvSpPr>
          <p:spPr bwMode="auto">
            <a:xfrm flipH="1">
              <a:off x="7718425" y="2359025"/>
              <a:ext cx="471488" cy="34925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01" name="Line 17"/>
            <p:cNvSpPr>
              <a:spLocks noChangeShapeType="1"/>
            </p:cNvSpPr>
            <p:nvPr/>
          </p:nvSpPr>
          <p:spPr bwMode="auto">
            <a:xfrm flipH="1" flipV="1">
              <a:off x="6591300" y="2797175"/>
              <a:ext cx="1046163" cy="0"/>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03" name="Text Box 19"/>
            <p:cNvSpPr txBox="1">
              <a:spLocks noChangeArrowheads="1"/>
            </p:cNvSpPr>
            <p:nvPr/>
          </p:nvSpPr>
          <p:spPr bwMode="auto">
            <a:xfrm>
              <a:off x="5908675" y="4154488"/>
              <a:ext cx="2411413"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400" b="1">
                  <a:solidFill>
                    <a:srgbClr val="000000"/>
                  </a:solidFill>
                  <a:latin typeface="Times" charset="0"/>
                  <a:ea typeface="ＭＳ Ｐゴシック" charset="0"/>
                  <a:cs typeface="ＭＳ Ｐゴシック" charset="0"/>
                </a:rPr>
                <a:t>Receiver</a:t>
              </a:r>
            </a:p>
          </p:txBody>
        </p:sp>
        <p:sp>
          <p:nvSpPr>
            <p:cNvPr id="67608" name="Text Box 24"/>
            <p:cNvSpPr txBox="1">
              <a:spLocks noChangeArrowheads="1"/>
            </p:cNvSpPr>
            <p:nvPr/>
          </p:nvSpPr>
          <p:spPr bwMode="auto">
            <a:xfrm>
              <a:off x="5349875" y="2508250"/>
              <a:ext cx="1087438"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Times" charset="0"/>
                  <a:ea typeface="ＭＳ Ｐゴシック" charset="0"/>
                  <a:cs typeface="ＭＳ Ｐゴシック" charset="0"/>
                </a:rPr>
                <a:t>Last PDU rcvd</a:t>
              </a:r>
            </a:p>
          </p:txBody>
        </p:sp>
        <p:sp>
          <p:nvSpPr>
            <p:cNvPr id="67609" name="Text Box 25"/>
            <p:cNvSpPr txBox="1">
              <a:spLocks noChangeArrowheads="1"/>
            </p:cNvSpPr>
            <p:nvPr/>
          </p:nvSpPr>
          <p:spPr bwMode="auto">
            <a:xfrm>
              <a:off x="5717640" y="3165475"/>
              <a:ext cx="734496"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cs typeface="ＭＳ Ｐゴシック" charset="0"/>
                </a:rPr>
                <a:t>Duplicates</a:t>
              </a:r>
            </a:p>
          </p:txBody>
        </p:sp>
        <p:sp>
          <p:nvSpPr>
            <p:cNvPr id="67610" name="Text Box 26"/>
            <p:cNvSpPr txBox="1">
              <a:spLocks noChangeArrowheads="1"/>
            </p:cNvSpPr>
            <p:nvPr/>
          </p:nvSpPr>
          <p:spPr bwMode="auto">
            <a:xfrm>
              <a:off x="6275388" y="2182813"/>
              <a:ext cx="1668462"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Times" charset="0"/>
                  <a:ea typeface="ＭＳ Ｐゴシック" charset="0"/>
                  <a:cs typeface="ＭＳ Ｐゴシック" charset="0"/>
                </a:rPr>
                <a:t>Acceptable PDUs</a:t>
              </a:r>
            </a:p>
          </p:txBody>
        </p:sp>
        <p:sp>
          <p:nvSpPr>
            <p:cNvPr id="67611" name="Text Box 27"/>
            <p:cNvSpPr txBox="1">
              <a:spLocks noChangeArrowheads="1"/>
            </p:cNvSpPr>
            <p:nvPr/>
          </p:nvSpPr>
          <p:spPr bwMode="auto">
            <a:xfrm>
              <a:off x="8004175" y="2057400"/>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Times" charset="0"/>
                  <a:ea typeface="ＭＳ Ｐゴシック" charset="0"/>
                  <a:cs typeface="ＭＳ Ｐゴシック" charset="0"/>
                </a:rPr>
                <a:t>Seq#</a:t>
              </a:r>
              <a:r>
                <a:rPr lang="ja-JP" altLang="en-US" sz="1000">
                  <a:solidFill>
                    <a:srgbClr val="000000"/>
                  </a:solidFill>
                  <a:latin typeface="Arial"/>
                  <a:ea typeface="ＭＳ Ｐゴシック" charset="0"/>
                  <a:cs typeface="ＭＳ Ｐゴシック" charset="0"/>
                </a:rPr>
                <a:t>’</a:t>
              </a:r>
              <a:r>
                <a:rPr lang="en-US" sz="1000">
                  <a:solidFill>
                    <a:srgbClr val="000000"/>
                  </a:solidFill>
                  <a:latin typeface="Times" charset="0"/>
                  <a:ea typeface="ＭＳ Ｐゴシック" charset="0"/>
                  <a:cs typeface="ＭＳ Ｐゴシック" charset="0"/>
                </a:rPr>
                <a:t>s &gt; May Discard</a:t>
              </a:r>
            </a:p>
          </p:txBody>
        </p:sp>
        <p:sp>
          <p:nvSpPr>
            <p:cNvPr id="67614" name="Line 30"/>
            <p:cNvSpPr>
              <a:spLocks noChangeShapeType="1"/>
            </p:cNvSpPr>
            <p:nvPr/>
          </p:nvSpPr>
          <p:spPr bwMode="auto">
            <a:xfrm>
              <a:off x="1752600" y="3048000"/>
              <a:ext cx="0" cy="5334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15" name="Text Box 31"/>
            <p:cNvSpPr txBox="1">
              <a:spLocks noChangeArrowheads="1"/>
            </p:cNvSpPr>
            <p:nvPr/>
          </p:nvSpPr>
          <p:spPr bwMode="auto">
            <a:xfrm>
              <a:off x="465138" y="2324100"/>
              <a:ext cx="6715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Arial" charset="0"/>
                  <a:ea typeface="ＭＳ Ｐゴシック" charset="0"/>
                  <a:cs typeface="ＭＳ Ｐゴシック" charset="0"/>
                </a:rPr>
                <a:t>Last Ack</a:t>
              </a:r>
            </a:p>
            <a:p>
              <a:pPr algn="ctr" fontAlgn="base">
                <a:spcBef>
                  <a:spcPct val="0"/>
                </a:spcBef>
                <a:spcAft>
                  <a:spcPct val="0"/>
                </a:spcAft>
                <a:defRPr/>
              </a:pPr>
              <a:r>
                <a:rPr lang="en-US" sz="1000">
                  <a:solidFill>
                    <a:srgbClr val="000000"/>
                  </a:solidFill>
                  <a:latin typeface="Arial" charset="0"/>
                  <a:ea typeface="ＭＳ Ｐゴシック" charset="0"/>
                  <a:cs typeface="ＭＳ Ｐゴシック" charset="0"/>
                </a:rPr>
                <a:t>Rcvd</a:t>
              </a:r>
            </a:p>
          </p:txBody>
        </p:sp>
        <p:sp>
          <p:nvSpPr>
            <p:cNvPr id="67616" name="Line 32"/>
            <p:cNvSpPr>
              <a:spLocks noChangeShapeType="1"/>
            </p:cNvSpPr>
            <p:nvPr/>
          </p:nvSpPr>
          <p:spPr bwMode="auto">
            <a:xfrm flipH="1" flipV="1">
              <a:off x="1981200" y="3200400"/>
              <a:ext cx="330200" cy="5969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17" name="Line 33"/>
            <p:cNvSpPr>
              <a:spLocks noChangeShapeType="1"/>
            </p:cNvSpPr>
            <p:nvPr/>
          </p:nvSpPr>
          <p:spPr bwMode="auto">
            <a:xfrm>
              <a:off x="1752600" y="3175000"/>
              <a:ext cx="787400" cy="0"/>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18" name="Line 34"/>
            <p:cNvSpPr>
              <a:spLocks noChangeShapeType="1"/>
            </p:cNvSpPr>
            <p:nvPr/>
          </p:nvSpPr>
          <p:spPr bwMode="auto">
            <a:xfrm flipV="1">
              <a:off x="1346200" y="3429000"/>
              <a:ext cx="406400" cy="4699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7619" name="Text Box 35"/>
            <p:cNvSpPr txBox="1">
              <a:spLocks noChangeArrowheads="1"/>
            </p:cNvSpPr>
            <p:nvPr/>
          </p:nvSpPr>
          <p:spPr bwMode="auto">
            <a:xfrm>
              <a:off x="2205038" y="3746500"/>
              <a:ext cx="86201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Arial" charset="0"/>
                  <a:ea typeface="ＭＳ Ｐゴシック" charset="0"/>
                  <a:cs typeface="ＭＳ Ｐゴシック" charset="0"/>
                </a:rPr>
                <a:t># PDUs can</a:t>
              </a:r>
            </a:p>
            <a:p>
              <a:pPr algn="ctr" fontAlgn="base">
                <a:spcBef>
                  <a:spcPct val="0"/>
                </a:spcBef>
                <a:spcAft>
                  <a:spcPct val="0"/>
                </a:spcAft>
                <a:defRPr/>
              </a:pPr>
              <a:r>
                <a:rPr lang="en-US" sz="1000">
                  <a:solidFill>
                    <a:srgbClr val="000000"/>
                  </a:solidFill>
                  <a:latin typeface="Arial" charset="0"/>
                  <a:ea typeface="ＭＳ Ｐゴシック" charset="0"/>
                  <a:cs typeface="ＭＳ Ｐゴシック" charset="0"/>
                </a:rPr>
                <a:t>Send</a:t>
              </a:r>
            </a:p>
          </p:txBody>
        </p:sp>
      </p:grpSp>
      <p:sp>
        <p:nvSpPr>
          <p:cNvPr id="67620" name="Text Box 36"/>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a:t>
            </a:r>
            <a:r>
              <a:rPr lang="en-US" sz="1000" u="sng" dirty="0">
                <a:solidFill>
                  <a:srgbClr val="000000"/>
                </a:solidFill>
                <a:latin typeface="Arial"/>
                <a:ea typeface="ＭＳ Ｐゴシック" charset="0"/>
                <a:cs typeface="ＭＳ Ｐゴシック" charset="0"/>
              </a:rPr>
              <a:t>22</a:t>
            </a:r>
            <a:endParaRPr lang="en-US" sz="1000" dirty="0">
              <a:solidFill>
                <a:srgbClr val="000000"/>
              </a:solidFill>
              <a:latin typeface="Arial"/>
              <a:ea typeface="ＭＳ Ｐゴシック" charset="0"/>
              <a:cs typeface="ＭＳ Ｐゴシック" charset="0"/>
            </a:endParaRPr>
          </a:p>
        </p:txBody>
      </p:sp>
    </p:spTree>
    <p:extLst>
      <p:ext uri="{BB962C8B-B14F-4D97-AF65-F5344CB8AC3E}">
        <p14:creationId xmlns:p14="http://schemas.microsoft.com/office/powerpoint/2010/main" val="1891968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501900" y="0"/>
            <a:ext cx="6959600" cy="1206500"/>
          </a:xfrm>
        </p:spPr>
        <p:txBody>
          <a:bodyPr/>
          <a:lstStyle/>
          <a:p>
            <a:pPr eaLnBrk="1" hangingPunct="1">
              <a:defRPr/>
            </a:pPr>
            <a:r>
              <a:rPr lang="en-US">
                <a:solidFill>
                  <a:schemeClr val="tx1"/>
                </a:solidFill>
                <a:cs typeface="+mj-cs"/>
              </a:rPr>
              <a:t>Synchronization </a:t>
            </a:r>
          </a:p>
        </p:txBody>
      </p:sp>
      <p:sp>
        <p:nvSpPr>
          <p:cNvPr id="59395" name="Rectangle 3"/>
          <p:cNvSpPr>
            <a:spLocks noGrp="1" noChangeArrowheads="1"/>
          </p:cNvSpPr>
          <p:nvPr>
            <p:ph type="body" idx="1"/>
          </p:nvPr>
        </p:nvSpPr>
        <p:spPr>
          <a:xfrm>
            <a:off x="2395538" y="1357314"/>
            <a:ext cx="8013700" cy="3679825"/>
          </a:xfrm>
        </p:spPr>
        <p:txBody>
          <a:bodyPr/>
          <a:lstStyle/>
          <a:p>
            <a:pPr eaLnBrk="1" hangingPunct="1">
              <a:defRPr/>
            </a:pPr>
            <a:r>
              <a:rPr lang="en-US" dirty="0">
                <a:cs typeface="+mn-cs"/>
              </a:rPr>
              <a:t>These last two functions are feedback functions.  They require more robust shared state. </a:t>
            </a:r>
          </a:p>
          <a:p>
            <a:pPr lvl="1" eaLnBrk="1" hangingPunct="1">
              <a:buFontTx/>
              <a:buChar char="•"/>
              <a:defRPr/>
            </a:pPr>
            <a:r>
              <a:rPr lang="en-US" dirty="0"/>
              <a:t>Source and destination must be on the same page.</a:t>
            </a:r>
          </a:p>
          <a:p>
            <a:pPr eaLnBrk="1" hangingPunct="1">
              <a:defRPr/>
            </a:pPr>
            <a:r>
              <a:rPr lang="en-US" dirty="0">
                <a:cs typeface="+mn-cs"/>
              </a:rPr>
              <a:t>What is Synchronized?</a:t>
            </a:r>
          </a:p>
          <a:p>
            <a:pPr lvl="1" eaLnBrk="1" hangingPunct="1">
              <a:defRPr/>
            </a:pPr>
            <a:r>
              <a:rPr lang="en-US" dirty="0"/>
              <a:t>The operation of the sliding window.</a:t>
            </a:r>
          </a:p>
          <a:p>
            <a:pPr marL="1562100" lvl="2" eaLnBrk="1" hangingPunct="1">
              <a:defRPr/>
            </a:pPr>
            <a:r>
              <a:rPr lang="en-US" sz="1600" dirty="0"/>
              <a:t>Last Ack Received</a:t>
            </a:r>
          </a:p>
          <a:p>
            <a:pPr marL="1562100" lvl="2" eaLnBrk="1" hangingPunct="1">
              <a:defRPr/>
            </a:pPr>
            <a:r>
              <a:rPr lang="en-US" sz="1600" dirty="0"/>
              <a:t>Last Seq # </a:t>
            </a:r>
            <a:r>
              <a:rPr lang="en-US" sz="1600" dirty="0" err="1"/>
              <a:t>ack’ed</a:t>
            </a:r>
            <a:endParaRPr lang="en-US" sz="1600" dirty="0"/>
          </a:p>
          <a:p>
            <a:pPr marL="1562100" lvl="2" eaLnBrk="1" hangingPunct="1">
              <a:defRPr/>
            </a:pPr>
            <a:r>
              <a:rPr lang="en-US" sz="1600" dirty="0"/>
              <a:t>Next Seq # that can be sent</a:t>
            </a:r>
          </a:p>
          <a:p>
            <a:pPr marL="1562100" lvl="2" eaLnBrk="1" hangingPunct="1">
              <a:defRPr/>
            </a:pPr>
            <a:r>
              <a:rPr lang="en-US" sz="1600" dirty="0"/>
              <a:t>Next Seq # expected</a:t>
            </a:r>
            <a:endParaRPr lang="en-US" dirty="0"/>
          </a:p>
          <a:p>
            <a:pPr lvl="1" eaLnBrk="1" hangingPunct="1">
              <a:defRPr/>
            </a:pPr>
            <a:r>
              <a:rPr lang="en-US" dirty="0"/>
              <a:t>Initial PCI values,</a:t>
            </a:r>
          </a:p>
          <a:p>
            <a:pPr marL="1562100" lvl="2" eaLnBrk="1" hangingPunct="1">
              <a:defRPr/>
            </a:pPr>
            <a:r>
              <a:rPr lang="en-US" sz="1600" dirty="0"/>
              <a:t>Sequence numbers, </a:t>
            </a:r>
          </a:p>
          <a:p>
            <a:pPr marL="1562100" lvl="2" eaLnBrk="1" hangingPunct="1">
              <a:defRPr/>
            </a:pPr>
            <a:r>
              <a:rPr lang="en-US" sz="1600" dirty="0"/>
              <a:t>initial credit etc.</a:t>
            </a:r>
            <a:endParaRPr lang="en-US" dirty="0"/>
          </a:p>
          <a:p>
            <a:pPr lvl="1" eaLnBrk="1" hangingPunct="1">
              <a:defRPr/>
            </a:pPr>
            <a:r>
              <a:rPr lang="en-US" dirty="0"/>
              <a:t>max PDU size, etc.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en-US">
                <a:cs typeface="+mj-cs"/>
              </a:rPr>
              <a:t>Explicit Synchronization Mechanisms</a:t>
            </a:r>
          </a:p>
        </p:txBody>
      </p:sp>
      <p:sp>
        <p:nvSpPr>
          <p:cNvPr id="61443" name="Rectangle 3"/>
          <p:cNvSpPr>
            <a:spLocks noGrp="1" noChangeArrowheads="1"/>
          </p:cNvSpPr>
          <p:nvPr>
            <p:ph type="body" idx="1"/>
          </p:nvPr>
        </p:nvSpPr>
        <p:spPr>
          <a:xfrm>
            <a:off x="2373314" y="1152525"/>
            <a:ext cx="7551737" cy="3538538"/>
          </a:xfrm>
        </p:spPr>
        <p:txBody>
          <a:bodyPr/>
          <a:lstStyle/>
          <a:p>
            <a:pPr eaLnBrk="1" hangingPunct="1">
              <a:defRPr/>
            </a:pPr>
            <a:r>
              <a:rPr lang="en-US" dirty="0">
                <a:cs typeface="+mn-cs"/>
              </a:rPr>
              <a:t>No explicit synchronization, </a:t>
            </a:r>
          </a:p>
          <a:p>
            <a:pPr lvl="2" eaLnBrk="1" hangingPunct="1">
              <a:defRPr/>
            </a:pPr>
            <a:r>
              <a:rPr lang="en-US" sz="1600" dirty="0"/>
              <a:t>i.e., enrollment state is sufficient.</a:t>
            </a:r>
          </a:p>
          <a:p>
            <a:pPr eaLnBrk="1" hangingPunct="1">
              <a:defRPr/>
            </a:pPr>
            <a:r>
              <a:rPr lang="en-US" dirty="0">
                <a:cs typeface="+mn-cs"/>
              </a:rPr>
              <a:t>The 2-way handshake: Request/Response</a:t>
            </a:r>
          </a:p>
          <a:p>
            <a:pPr lvl="1" eaLnBrk="1" hangingPunct="1">
              <a:defRPr/>
            </a:pPr>
            <a:r>
              <a:rPr lang="en-US" sz="1800" dirty="0"/>
              <a:t>Used when lower layer is very reliable</a:t>
            </a:r>
          </a:p>
          <a:p>
            <a:pPr lvl="1" eaLnBrk="1" hangingPunct="1">
              <a:defRPr/>
            </a:pPr>
            <a:r>
              <a:rPr lang="en-US" sz="1800" dirty="0"/>
              <a:t>Or when correct operation of the sender independent of the state of the receiver, i.e. no feedback mechanisms.</a:t>
            </a:r>
          </a:p>
          <a:p>
            <a:pPr eaLnBrk="1" hangingPunct="1">
              <a:defRPr/>
            </a:pPr>
            <a:r>
              <a:rPr lang="en-US" dirty="0">
                <a:cs typeface="+mn-cs"/>
              </a:rPr>
              <a:t>The 3-way handshake used when there is feedback and the potential for lost messages.</a:t>
            </a:r>
          </a:p>
        </p:txBody>
      </p:sp>
      <p:sp>
        <p:nvSpPr>
          <p:cNvPr id="61444" name="Line 4"/>
          <p:cNvSpPr>
            <a:spLocks noChangeShapeType="1"/>
          </p:cNvSpPr>
          <p:nvPr/>
        </p:nvSpPr>
        <p:spPr bwMode="auto">
          <a:xfrm>
            <a:off x="4806950" y="4691064"/>
            <a:ext cx="2465388" cy="441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61445" name="Line 5"/>
          <p:cNvSpPr>
            <a:spLocks noChangeShapeType="1"/>
          </p:cNvSpPr>
          <p:nvPr/>
        </p:nvSpPr>
        <p:spPr bwMode="auto">
          <a:xfrm flipH="1">
            <a:off x="4840288" y="5294314"/>
            <a:ext cx="2443162" cy="2682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61446" name="Line 6"/>
          <p:cNvSpPr>
            <a:spLocks noChangeShapeType="1"/>
          </p:cNvSpPr>
          <p:nvPr/>
        </p:nvSpPr>
        <p:spPr bwMode="auto">
          <a:xfrm>
            <a:off x="4883151" y="5681663"/>
            <a:ext cx="2409825" cy="387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61447" name="Text Box 7"/>
          <p:cNvSpPr txBox="1">
            <a:spLocks noChangeArrowheads="1"/>
          </p:cNvSpPr>
          <p:nvPr/>
        </p:nvSpPr>
        <p:spPr bwMode="auto">
          <a:xfrm>
            <a:off x="3829050" y="4551364"/>
            <a:ext cx="979488"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200" b="1">
                <a:solidFill>
                  <a:srgbClr val="000000"/>
                </a:solidFill>
                <a:latin typeface="Times" charset="0"/>
                <a:ea typeface="ＭＳ Ｐゴシック" charset="0"/>
              </a:rPr>
              <a:t>Sender</a:t>
            </a:r>
          </a:p>
        </p:txBody>
      </p:sp>
      <p:sp>
        <p:nvSpPr>
          <p:cNvPr id="61448" name="Text Box 8"/>
          <p:cNvSpPr txBox="1">
            <a:spLocks noChangeArrowheads="1"/>
          </p:cNvSpPr>
          <p:nvPr/>
        </p:nvSpPr>
        <p:spPr bwMode="auto">
          <a:xfrm>
            <a:off x="7229475" y="4476750"/>
            <a:ext cx="136683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200" b="1">
                <a:solidFill>
                  <a:srgbClr val="000000"/>
                </a:solidFill>
                <a:latin typeface="Times" charset="0"/>
                <a:ea typeface="ＭＳ Ｐゴシック" charset="0"/>
              </a:rPr>
              <a:t>Receiver</a:t>
            </a:r>
          </a:p>
        </p:txBody>
      </p:sp>
      <p:sp>
        <p:nvSpPr>
          <p:cNvPr id="61449" name="Text Box 9"/>
          <p:cNvSpPr txBox="1">
            <a:spLocks noChangeArrowheads="1"/>
          </p:cNvSpPr>
          <p:nvPr/>
        </p:nvSpPr>
        <p:spPr bwMode="auto">
          <a:xfrm>
            <a:off x="5698863" y="4606926"/>
            <a:ext cx="349776" cy="246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rPr>
              <a:t>req</a:t>
            </a:r>
          </a:p>
        </p:txBody>
      </p:sp>
      <p:sp>
        <p:nvSpPr>
          <p:cNvPr id="61450" name="Text Box 10"/>
          <p:cNvSpPr txBox="1">
            <a:spLocks noChangeArrowheads="1"/>
          </p:cNvSpPr>
          <p:nvPr/>
        </p:nvSpPr>
        <p:spPr bwMode="auto">
          <a:xfrm>
            <a:off x="5503360" y="5208589"/>
            <a:ext cx="399468" cy="246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rPr>
              <a:t>resp</a:t>
            </a:r>
          </a:p>
        </p:txBody>
      </p:sp>
      <p:sp>
        <p:nvSpPr>
          <p:cNvPr id="61451" name="Text Box 11"/>
          <p:cNvSpPr txBox="1">
            <a:spLocks noChangeArrowheads="1"/>
          </p:cNvSpPr>
          <p:nvPr/>
        </p:nvSpPr>
        <p:spPr bwMode="auto">
          <a:xfrm>
            <a:off x="5727506" y="5595939"/>
            <a:ext cx="663964" cy="246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000">
                <a:solidFill>
                  <a:srgbClr val="000000"/>
                </a:solidFill>
                <a:latin typeface="Times" charset="0"/>
                <a:ea typeface="ＭＳ Ｐゴシック" charset="0"/>
              </a:rPr>
              <a:t>Resp-ack</a:t>
            </a:r>
          </a:p>
        </p:txBody>
      </p:sp>
      <p:grpSp>
        <p:nvGrpSpPr>
          <p:cNvPr id="61454" name="Group 14"/>
          <p:cNvGrpSpPr>
            <a:grpSpLocks/>
          </p:cNvGrpSpPr>
          <p:nvPr/>
        </p:nvGrpSpPr>
        <p:grpSpPr bwMode="auto">
          <a:xfrm>
            <a:off x="4229100" y="850900"/>
            <a:ext cx="4254500" cy="4292600"/>
            <a:chOff x="1264" y="520"/>
            <a:chExt cx="2680" cy="2704"/>
          </a:xfrm>
        </p:grpSpPr>
        <p:sp>
          <p:nvSpPr>
            <p:cNvPr id="61452" name="Oval 12"/>
            <p:cNvSpPr>
              <a:spLocks noChangeArrowheads="1"/>
            </p:cNvSpPr>
            <p:nvPr/>
          </p:nvSpPr>
          <p:spPr bwMode="auto">
            <a:xfrm>
              <a:off x="1264" y="520"/>
              <a:ext cx="2680" cy="2704"/>
            </a:xfrm>
            <a:prstGeom prst="ellipse">
              <a:avLst/>
            </a:prstGeom>
            <a:noFill/>
            <a:ln w="76200">
              <a:solidFill>
                <a:srgbClr val="FF33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61453" name="Line 13"/>
            <p:cNvSpPr>
              <a:spLocks noChangeShapeType="1"/>
            </p:cNvSpPr>
            <p:nvPr/>
          </p:nvSpPr>
          <p:spPr bwMode="auto">
            <a:xfrm flipV="1">
              <a:off x="1408" y="1184"/>
              <a:ext cx="2320" cy="1312"/>
            </a:xfrm>
            <a:prstGeom prst="line">
              <a:avLst/>
            </a:prstGeom>
            <a:noFill/>
            <a:ln w="7620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eaLnBrk="1" hangingPunct="1">
              <a:defRPr/>
            </a:pPr>
            <a:r>
              <a:rPr lang="en-US">
                <a:solidFill>
                  <a:schemeClr val="tx1"/>
                </a:solidFill>
                <a:cs typeface="+mj-cs"/>
              </a:rPr>
              <a:t>Allocation and Synchronization</a:t>
            </a:r>
          </a:p>
        </p:txBody>
      </p:sp>
      <p:sp>
        <p:nvSpPr>
          <p:cNvPr id="157699" name="Rectangle 3"/>
          <p:cNvSpPr>
            <a:spLocks noGrp="1" noChangeArrowheads="1"/>
          </p:cNvSpPr>
          <p:nvPr>
            <p:ph type="body" idx="1"/>
          </p:nvPr>
        </p:nvSpPr>
        <p:spPr>
          <a:xfrm>
            <a:off x="2241550" y="4165600"/>
            <a:ext cx="7708900" cy="1790700"/>
          </a:xfrm>
        </p:spPr>
        <p:txBody>
          <a:bodyPr/>
          <a:lstStyle/>
          <a:p>
            <a:pPr eaLnBrk="1" hangingPunct="1">
              <a:defRPr/>
            </a:pPr>
            <a:r>
              <a:rPr lang="en-US">
                <a:cs typeface="+mn-cs"/>
              </a:rPr>
              <a:t>Traditionally we saw it as part of the protocol.</a:t>
            </a:r>
          </a:p>
          <a:p>
            <a:pPr lvl="1" eaLnBrk="1" hangingPunct="1">
              <a:defRPr/>
            </a:pPr>
            <a:r>
              <a:rPr lang="en-US"/>
              <a:t>Connections were thought to look like this.</a:t>
            </a:r>
          </a:p>
          <a:p>
            <a:pPr lvl="1" eaLnBrk="1" hangingPunct="1">
              <a:defRPr/>
            </a:pPr>
            <a:r>
              <a:rPr lang="en-US"/>
              <a:t>The protocol had some sort of </a:t>
            </a:r>
            <a:r>
              <a:rPr lang="ja-JP" altLang="en-US">
                <a:latin typeface="Arial"/>
              </a:rPr>
              <a:t>“</a:t>
            </a:r>
            <a:r>
              <a:rPr lang="en-US"/>
              <a:t>connect</a:t>
            </a:r>
            <a:r>
              <a:rPr lang="ja-JP" altLang="en-US">
                <a:latin typeface="Arial"/>
              </a:rPr>
              <a:t>”</a:t>
            </a:r>
            <a:r>
              <a:rPr lang="en-US"/>
              <a:t> PDU.</a:t>
            </a:r>
          </a:p>
          <a:p>
            <a:pPr lvl="2" eaLnBrk="1" hangingPunct="1">
              <a:defRPr/>
            </a:pPr>
            <a:r>
              <a:rPr lang="en-US" sz="1800"/>
              <a:t>Once again we were skipping steps.</a:t>
            </a:r>
          </a:p>
        </p:txBody>
      </p:sp>
      <p:sp>
        <p:nvSpPr>
          <p:cNvPr id="157700" name="Line 4"/>
          <p:cNvSpPr>
            <a:spLocks noChangeShapeType="1"/>
          </p:cNvSpPr>
          <p:nvPr/>
        </p:nvSpPr>
        <p:spPr bwMode="auto">
          <a:xfrm>
            <a:off x="2882900" y="2057400"/>
            <a:ext cx="65532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57701" name="Line 5"/>
          <p:cNvSpPr>
            <a:spLocks noChangeShapeType="1"/>
          </p:cNvSpPr>
          <p:nvPr/>
        </p:nvSpPr>
        <p:spPr bwMode="auto">
          <a:xfrm>
            <a:off x="2819400" y="3530600"/>
            <a:ext cx="65532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57702" name="Oval 6"/>
          <p:cNvSpPr>
            <a:spLocks noChangeArrowheads="1"/>
          </p:cNvSpPr>
          <p:nvPr/>
        </p:nvSpPr>
        <p:spPr bwMode="auto">
          <a:xfrm>
            <a:off x="3594100" y="1993900"/>
            <a:ext cx="406400" cy="1651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57703" name="Oval 7"/>
          <p:cNvSpPr>
            <a:spLocks noChangeArrowheads="1"/>
          </p:cNvSpPr>
          <p:nvPr/>
        </p:nvSpPr>
        <p:spPr bwMode="auto">
          <a:xfrm>
            <a:off x="8674100" y="1968500"/>
            <a:ext cx="406400" cy="1651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57704" name="Oval 8"/>
          <p:cNvSpPr>
            <a:spLocks noChangeArrowheads="1"/>
          </p:cNvSpPr>
          <p:nvPr/>
        </p:nvSpPr>
        <p:spPr bwMode="auto">
          <a:xfrm>
            <a:off x="3556000" y="2451100"/>
            <a:ext cx="584200" cy="5969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57705" name="Oval 9"/>
          <p:cNvSpPr>
            <a:spLocks noChangeArrowheads="1"/>
          </p:cNvSpPr>
          <p:nvPr/>
        </p:nvSpPr>
        <p:spPr bwMode="auto">
          <a:xfrm>
            <a:off x="8382000" y="2476500"/>
            <a:ext cx="584200" cy="596900"/>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157711" name="Freeform 15"/>
          <p:cNvSpPr>
            <a:spLocks/>
          </p:cNvSpPr>
          <p:nvPr/>
        </p:nvSpPr>
        <p:spPr bwMode="auto">
          <a:xfrm>
            <a:off x="3835400" y="2070101"/>
            <a:ext cx="4979988" cy="790575"/>
          </a:xfrm>
          <a:custGeom>
            <a:avLst/>
            <a:gdLst>
              <a:gd name="T0" fmla="*/ 0 w 3137"/>
              <a:gd name="T1" fmla="*/ 8 h 498"/>
              <a:gd name="T2" fmla="*/ 56 w 3137"/>
              <a:gd name="T3" fmla="*/ 352 h 498"/>
              <a:gd name="T4" fmla="*/ 88 w 3137"/>
              <a:gd name="T5" fmla="*/ 424 h 498"/>
              <a:gd name="T6" fmla="*/ 296 w 3137"/>
              <a:gd name="T7" fmla="*/ 480 h 498"/>
              <a:gd name="T8" fmla="*/ 1071 w 3137"/>
              <a:gd name="T9" fmla="*/ 484 h 498"/>
              <a:gd name="T10" fmla="*/ 1568 w 3137"/>
              <a:gd name="T11" fmla="*/ 496 h 498"/>
              <a:gd name="T12" fmla="*/ 2328 w 3137"/>
              <a:gd name="T13" fmla="*/ 496 h 498"/>
              <a:gd name="T14" fmla="*/ 2568 w 3137"/>
              <a:gd name="T15" fmla="*/ 488 h 498"/>
              <a:gd name="T16" fmla="*/ 2920 w 3137"/>
              <a:gd name="T17" fmla="*/ 464 h 498"/>
              <a:gd name="T18" fmla="*/ 3016 w 3137"/>
              <a:gd name="T19" fmla="*/ 432 h 498"/>
              <a:gd name="T20" fmla="*/ 3080 w 3137"/>
              <a:gd name="T21" fmla="*/ 328 h 498"/>
              <a:gd name="T22" fmla="*/ 3112 w 3137"/>
              <a:gd name="T23" fmla="*/ 224 h 498"/>
              <a:gd name="T24" fmla="*/ 3128 w 3137"/>
              <a:gd name="T25" fmla="*/ 136 h 498"/>
              <a:gd name="T26" fmla="*/ 3136 w 3137"/>
              <a:gd name="T27" fmla="*/ 0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37" h="498">
                <a:moveTo>
                  <a:pt x="0" y="8"/>
                </a:moveTo>
                <a:cubicBezTo>
                  <a:pt x="7" y="124"/>
                  <a:pt x="19" y="241"/>
                  <a:pt x="56" y="352"/>
                </a:cubicBezTo>
                <a:cubicBezTo>
                  <a:pt x="63" y="373"/>
                  <a:pt x="68" y="407"/>
                  <a:pt x="88" y="424"/>
                </a:cubicBezTo>
                <a:cubicBezTo>
                  <a:pt x="136" y="464"/>
                  <a:pt x="237" y="471"/>
                  <a:pt x="296" y="480"/>
                </a:cubicBezTo>
                <a:cubicBezTo>
                  <a:pt x="460" y="490"/>
                  <a:pt x="859" y="481"/>
                  <a:pt x="1071" y="484"/>
                </a:cubicBezTo>
                <a:cubicBezTo>
                  <a:pt x="1283" y="487"/>
                  <a:pt x="1359" y="494"/>
                  <a:pt x="1568" y="496"/>
                </a:cubicBezTo>
                <a:cubicBezTo>
                  <a:pt x="1830" y="489"/>
                  <a:pt x="2066" y="481"/>
                  <a:pt x="2328" y="496"/>
                </a:cubicBezTo>
                <a:cubicBezTo>
                  <a:pt x="2485" y="498"/>
                  <a:pt x="2469" y="493"/>
                  <a:pt x="2568" y="488"/>
                </a:cubicBezTo>
                <a:cubicBezTo>
                  <a:pt x="2667" y="483"/>
                  <a:pt x="2845" y="473"/>
                  <a:pt x="2920" y="464"/>
                </a:cubicBezTo>
                <a:cubicBezTo>
                  <a:pt x="2938" y="462"/>
                  <a:pt x="3003" y="446"/>
                  <a:pt x="3016" y="432"/>
                </a:cubicBezTo>
                <a:cubicBezTo>
                  <a:pt x="3048" y="394"/>
                  <a:pt x="3049" y="368"/>
                  <a:pt x="3080" y="328"/>
                </a:cubicBezTo>
                <a:cubicBezTo>
                  <a:pt x="3088" y="293"/>
                  <a:pt x="3106" y="258"/>
                  <a:pt x="3112" y="224"/>
                </a:cubicBezTo>
                <a:cubicBezTo>
                  <a:pt x="3114" y="208"/>
                  <a:pt x="3123" y="153"/>
                  <a:pt x="3128" y="136"/>
                </a:cubicBezTo>
                <a:cubicBezTo>
                  <a:pt x="3137" y="99"/>
                  <a:pt x="3134" y="28"/>
                  <a:pt x="3136"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idx="4294967295"/>
          </p:nvPr>
        </p:nvSpPr>
        <p:spPr/>
        <p:txBody>
          <a:bodyPr/>
          <a:lstStyle/>
          <a:p>
            <a:pPr eaLnBrk="1" hangingPunct="1">
              <a:defRPr/>
            </a:pPr>
            <a:r>
              <a:rPr lang="en-US">
                <a:solidFill>
                  <a:schemeClr val="tx1"/>
                </a:solidFill>
                <a:cs typeface="+mj-cs"/>
              </a:rPr>
              <a:t>There Was Always the Question</a:t>
            </a:r>
          </a:p>
        </p:txBody>
      </p:sp>
      <p:sp>
        <p:nvSpPr>
          <p:cNvPr id="161795" name="Rectangle 3"/>
          <p:cNvSpPr>
            <a:spLocks noGrp="1" noChangeArrowheads="1"/>
          </p:cNvSpPr>
          <p:nvPr>
            <p:ph type="body" idx="4294967295"/>
          </p:nvPr>
        </p:nvSpPr>
        <p:spPr>
          <a:xfrm>
            <a:off x="2482850" y="2679701"/>
            <a:ext cx="7226300" cy="1763713"/>
          </a:xfrm>
        </p:spPr>
        <p:txBody>
          <a:bodyPr/>
          <a:lstStyle/>
          <a:p>
            <a:pPr marL="342900" indent="-342900" eaLnBrk="1" hangingPunct="1">
              <a:defRPr/>
            </a:pPr>
            <a:r>
              <a:rPr lang="en-US" sz="1800" dirty="0">
                <a:cs typeface="+mn-cs"/>
              </a:rPr>
              <a:t>Do two simultaneous requests create one, two, or no connections?</a:t>
            </a:r>
          </a:p>
          <a:p>
            <a:pPr marL="742950" lvl="1" indent="-285750" eaLnBrk="1" hangingPunct="1">
              <a:defRPr/>
            </a:pPr>
            <a:r>
              <a:rPr lang="en-US" sz="1600" dirty="0"/>
              <a:t>TCP is symmetrical (always a good property) and creates one.</a:t>
            </a:r>
          </a:p>
          <a:p>
            <a:pPr marL="1143000" lvl="2" indent="-228600" eaLnBrk="1" hangingPunct="1">
              <a:defRPr/>
            </a:pPr>
            <a:r>
              <a:rPr lang="en-US" sz="1400" dirty="0"/>
              <a:t>The connection is port-id to port-id.</a:t>
            </a:r>
          </a:p>
          <a:p>
            <a:pPr marL="742950" lvl="1" indent="-285750" eaLnBrk="1" hangingPunct="1">
              <a:defRPr/>
            </a:pPr>
            <a:r>
              <a:rPr lang="en-US" sz="1600" dirty="0"/>
              <a:t>European proposals were asymmetrical: either two or an error and none.</a:t>
            </a:r>
          </a:p>
          <a:p>
            <a:pPr marL="1143000" lvl="2" indent="-228600" eaLnBrk="1" hangingPunct="1">
              <a:defRPr/>
            </a:pPr>
            <a:r>
              <a:rPr lang="en-US" sz="1400" dirty="0"/>
              <a:t>The connection is requesting application to requested application.</a:t>
            </a:r>
          </a:p>
          <a:p>
            <a:pPr marL="342900" indent="-342900" eaLnBrk="1" hangingPunct="1">
              <a:defRPr/>
            </a:pPr>
            <a:r>
              <a:rPr lang="en-US" sz="1800" dirty="0">
                <a:cs typeface="+mn-cs"/>
              </a:rPr>
              <a:t>Answer: (they are both right)</a:t>
            </a:r>
          </a:p>
          <a:p>
            <a:pPr marL="742950" lvl="1" indent="-285750" eaLnBrk="1" hangingPunct="1">
              <a:defRPr/>
            </a:pPr>
            <a:r>
              <a:rPr lang="en-US" sz="1600" dirty="0"/>
              <a:t>The service </a:t>
            </a:r>
            <a:r>
              <a:rPr lang="en-US" sz="1600" i="1" dirty="0"/>
              <a:t>request</a:t>
            </a:r>
            <a:r>
              <a:rPr lang="en-US" sz="1600" dirty="0"/>
              <a:t> for allocation </a:t>
            </a:r>
            <a:r>
              <a:rPr lang="en-US" sz="1600" i="1" dirty="0"/>
              <a:t>is</a:t>
            </a:r>
            <a:r>
              <a:rPr lang="en-US" sz="1600" dirty="0"/>
              <a:t> asymmetrical.</a:t>
            </a:r>
          </a:p>
          <a:p>
            <a:pPr marL="1143000" lvl="2" indent="-228600" eaLnBrk="1" hangingPunct="1">
              <a:defRPr/>
            </a:pPr>
            <a:r>
              <a:rPr lang="en-US" sz="1400" dirty="0"/>
              <a:t>One side has to initiate communication with an application!</a:t>
            </a:r>
          </a:p>
          <a:p>
            <a:pPr marL="742950" lvl="1" indent="-285750" eaLnBrk="1" hangingPunct="1">
              <a:defRPr/>
            </a:pPr>
            <a:r>
              <a:rPr lang="en-US" sz="1600" dirty="0"/>
              <a:t>But the protocol interaction is symmetrical.</a:t>
            </a:r>
          </a:p>
          <a:p>
            <a:pPr marL="1123950" lvl="2" indent="-285750" eaLnBrk="1" hangingPunct="1">
              <a:defRPr/>
            </a:pPr>
            <a:r>
              <a:rPr lang="en-US" sz="1400" dirty="0"/>
              <a:t>One connection can only result, if both sides pick the same CEP-ids.</a:t>
            </a:r>
          </a:p>
          <a:p>
            <a:pPr marL="342900" indent="-342900" eaLnBrk="1" hangingPunct="1">
              <a:defRPr/>
            </a:pPr>
            <a:r>
              <a:rPr lang="en-US" sz="1800" dirty="0">
                <a:cs typeface="+mn-cs"/>
              </a:rPr>
              <a:t>The connection is between entities and a binding to the user.</a:t>
            </a:r>
          </a:p>
          <a:p>
            <a:pPr marL="342900" indent="-342900" eaLnBrk="1" hangingPunct="1">
              <a:defRPr/>
            </a:pPr>
            <a:r>
              <a:rPr lang="en-US" sz="1800" dirty="0">
                <a:cs typeface="+mn-cs"/>
              </a:rPr>
              <a:t>But More Importantly,</a:t>
            </a:r>
          </a:p>
        </p:txBody>
      </p:sp>
      <p:grpSp>
        <p:nvGrpSpPr>
          <p:cNvPr id="86019" name="Group 11"/>
          <p:cNvGrpSpPr>
            <a:grpSpLocks/>
          </p:cNvGrpSpPr>
          <p:nvPr/>
        </p:nvGrpSpPr>
        <p:grpSpPr bwMode="auto">
          <a:xfrm>
            <a:off x="2971800" y="1206500"/>
            <a:ext cx="5943600" cy="1143000"/>
            <a:chOff x="912" y="760"/>
            <a:chExt cx="3744" cy="720"/>
          </a:xfrm>
        </p:grpSpPr>
        <p:sp>
          <p:nvSpPr>
            <p:cNvPr id="86020" name="Line 4"/>
            <p:cNvSpPr>
              <a:spLocks noChangeShapeType="1"/>
            </p:cNvSpPr>
            <p:nvPr/>
          </p:nvSpPr>
          <p:spPr bwMode="auto">
            <a:xfrm>
              <a:off x="912" y="1048"/>
              <a:ext cx="3744"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86021" name="Line 5"/>
            <p:cNvSpPr>
              <a:spLocks noChangeShapeType="1"/>
            </p:cNvSpPr>
            <p:nvPr/>
          </p:nvSpPr>
          <p:spPr bwMode="auto">
            <a:xfrm>
              <a:off x="912" y="1480"/>
              <a:ext cx="3744"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86022" name="Oval 6"/>
            <p:cNvSpPr>
              <a:spLocks noChangeArrowheads="1"/>
            </p:cNvSpPr>
            <p:nvPr/>
          </p:nvSpPr>
          <p:spPr bwMode="auto">
            <a:xfrm>
              <a:off x="1344" y="1144"/>
              <a:ext cx="432"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endParaRPr>
            </a:p>
          </p:txBody>
        </p:sp>
        <p:sp>
          <p:nvSpPr>
            <p:cNvPr id="86023" name="Oval 7"/>
            <p:cNvSpPr>
              <a:spLocks noChangeArrowheads="1"/>
            </p:cNvSpPr>
            <p:nvPr/>
          </p:nvSpPr>
          <p:spPr bwMode="auto">
            <a:xfrm>
              <a:off x="3696" y="1096"/>
              <a:ext cx="432"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endParaRPr>
            </a:p>
          </p:txBody>
        </p:sp>
        <p:sp>
          <p:nvSpPr>
            <p:cNvPr id="86024" name="AutoShape 8"/>
            <p:cNvSpPr>
              <a:spLocks noChangeArrowheads="1"/>
            </p:cNvSpPr>
            <p:nvPr/>
          </p:nvSpPr>
          <p:spPr bwMode="auto">
            <a:xfrm>
              <a:off x="1440" y="760"/>
              <a:ext cx="240" cy="240"/>
            </a:xfrm>
            <a:prstGeom prst="downArrow">
              <a:avLst>
                <a:gd name="adj1" fmla="val 50000"/>
                <a:gd name="adj2" fmla="val 25000"/>
              </a:avLst>
            </a:prstGeom>
            <a:solidFill>
              <a:schemeClr val="accent1"/>
            </a:solidFill>
            <a:ln w="9525">
              <a:solidFill>
                <a:schemeClr val="tx1"/>
              </a:solidFill>
              <a:miter lim="800000"/>
              <a:headEnd/>
              <a:tailEnd/>
            </a:ln>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endParaRPr>
            </a:p>
          </p:txBody>
        </p:sp>
        <p:sp>
          <p:nvSpPr>
            <p:cNvPr id="86025" name="AutoShape 9"/>
            <p:cNvSpPr>
              <a:spLocks noChangeArrowheads="1"/>
            </p:cNvSpPr>
            <p:nvPr/>
          </p:nvSpPr>
          <p:spPr bwMode="auto">
            <a:xfrm>
              <a:off x="3744" y="760"/>
              <a:ext cx="240" cy="240"/>
            </a:xfrm>
            <a:prstGeom prst="downArrow">
              <a:avLst>
                <a:gd name="adj1" fmla="val 50000"/>
                <a:gd name="adj2" fmla="val 25000"/>
              </a:avLst>
            </a:prstGeom>
            <a:solidFill>
              <a:schemeClr val="accent1"/>
            </a:solidFill>
            <a:ln w="9525">
              <a:solidFill>
                <a:schemeClr val="tx1"/>
              </a:solidFill>
              <a:miter lim="800000"/>
              <a:headEnd/>
              <a:tailEnd/>
            </a:ln>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endParaRPr>
            </a:p>
          </p:txBody>
        </p:sp>
        <p:sp>
          <p:nvSpPr>
            <p:cNvPr id="86026" name="Line 10"/>
            <p:cNvSpPr>
              <a:spLocks noChangeShapeType="1"/>
            </p:cNvSpPr>
            <p:nvPr/>
          </p:nvSpPr>
          <p:spPr bwMode="auto">
            <a:xfrm>
              <a:off x="1920" y="1288"/>
              <a:ext cx="1632" cy="0"/>
            </a:xfrm>
            <a:prstGeom prst="line">
              <a:avLst/>
            </a:prstGeom>
            <a:noFill/>
            <a:ln w="57150">
              <a:solidFill>
                <a:schemeClr val="accent2"/>
              </a:solidFill>
              <a:round/>
              <a:headEnd type="triangle" w="med" len="med"/>
              <a:tailEnd type="triangle" w="med" len="me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179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179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179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179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179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179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179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179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1795">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1795">
                                            <p:txEl>
                                              <p:pRg st="10" end="1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17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2349500" y="203200"/>
            <a:ext cx="7861300" cy="1308100"/>
          </a:xfrm>
        </p:spPr>
        <p:txBody>
          <a:bodyPr/>
          <a:lstStyle/>
          <a:p>
            <a:pPr eaLnBrk="1" hangingPunct="1">
              <a:defRPr/>
            </a:pPr>
            <a:r>
              <a:rPr lang="en-US">
                <a:solidFill>
                  <a:schemeClr val="tx1"/>
                </a:solidFill>
                <a:cs typeface="+mj-cs"/>
              </a:rPr>
              <a:t>Packet Switching Creates New Questions</a:t>
            </a:r>
          </a:p>
        </p:txBody>
      </p:sp>
      <p:sp>
        <p:nvSpPr>
          <p:cNvPr id="200707" name="Rectangle 3"/>
          <p:cNvSpPr>
            <a:spLocks noGrp="1" noChangeArrowheads="1"/>
          </p:cNvSpPr>
          <p:nvPr>
            <p:ph type="body" idx="1"/>
          </p:nvPr>
        </p:nvSpPr>
        <p:spPr>
          <a:xfrm>
            <a:off x="2006656" y="3836987"/>
            <a:ext cx="8598262" cy="2395645"/>
          </a:xfrm>
        </p:spPr>
        <p:txBody>
          <a:bodyPr/>
          <a:lstStyle/>
          <a:p>
            <a:pPr eaLnBrk="1" hangingPunct="1">
              <a:defRPr/>
            </a:pPr>
            <a:r>
              <a:rPr lang="en-US" sz="2000" dirty="0">
                <a:cs typeface="+mn-cs"/>
              </a:rPr>
              <a:t>With Data Comm, communication was point to point. The time for a PDU to arrive was the propagation time.  The problem is nearly deterministic.</a:t>
            </a:r>
          </a:p>
          <a:p>
            <a:pPr eaLnBrk="1" hangingPunct="1">
              <a:defRPr/>
            </a:pPr>
            <a:r>
              <a:rPr lang="en-US" sz="2000" dirty="0">
                <a:cs typeface="+mn-cs"/>
              </a:rPr>
              <a:t>With Networking, the relays introduce delay, and it is more variable.</a:t>
            </a:r>
          </a:p>
          <a:p>
            <a:pPr eaLnBrk="1" hangingPunct="1">
              <a:defRPr/>
            </a:pPr>
            <a:r>
              <a:rPr lang="en-US" sz="2000" dirty="0">
                <a:cs typeface="+mn-cs"/>
              </a:rPr>
              <a:t>The performance of the protocol is going to be heavily influenced by the variation.</a:t>
            </a:r>
          </a:p>
        </p:txBody>
      </p:sp>
      <p:grpSp>
        <p:nvGrpSpPr>
          <p:cNvPr id="73731" name="Group 4"/>
          <p:cNvGrpSpPr>
            <a:grpSpLocks/>
          </p:cNvGrpSpPr>
          <p:nvPr/>
        </p:nvGrpSpPr>
        <p:grpSpPr bwMode="auto">
          <a:xfrm>
            <a:off x="3352800" y="1752600"/>
            <a:ext cx="4953000" cy="1676400"/>
            <a:chOff x="1320" y="1008"/>
            <a:chExt cx="3120" cy="1056"/>
          </a:xfrm>
        </p:grpSpPr>
        <p:sp>
          <p:nvSpPr>
            <p:cNvPr id="73732" name="Oval 5"/>
            <p:cNvSpPr>
              <a:spLocks noChangeArrowheads="1"/>
            </p:cNvSpPr>
            <p:nvPr/>
          </p:nvSpPr>
          <p:spPr bwMode="auto">
            <a:xfrm>
              <a:off x="1320" y="1296"/>
              <a:ext cx="528" cy="480"/>
            </a:xfrm>
            <a:prstGeom prst="ellipse">
              <a:avLst/>
            </a:prstGeom>
            <a:solidFill>
              <a:schemeClr val="accent1"/>
            </a:solidFill>
            <a:ln w="9525">
              <a:solidFill>
                <a:schemeClr val="tx1"/>
              </a:solidFill>
              <a:round/>
              <a:headEnd/>
              <a:tailEnd/>
            </a:ln>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33" name="Oval 6"/>
            <p:cNvSpPr>
              <a:spLocks noChangeArrowheads="1"/>
            </p:cNvSpPr>
            <p:nvPr/>
          </p:nvSpPr>
          <p:spPr bwMode="auto">
            <a:xfrm>
              <a:off x="3912" y="1296"/>
              <a:ext cx="528" cy="480"/>
            </a:xfrm>
            <a:prstGeom prst="ellipse">
              <a:avLst/>
            </a:prstGeom>
            <a:solidFill>
              <a:schemeClr val="accent1"/>
            </a:solidFill>
            <a:ln w="9525">
              <a:solidFill>
                <a:schemeClr val="tx1"/>
              </a:solidFill>
              <a:round/>
              <a:headEnd/>
              <a:tailEnd/>
            </a:ln>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34" name="Line 7"/>
            <p:cNvSpPr>
              <a:spLocks noChangeShapeType="1"/>
            </p:cNvSpPr>
            <p:nvPr/>
          </p:nvSpPr>
          <p:spPr bwMode="auto">
            <a:xfrm>
              <a:off x="1848" y="1488"/>
              <a:ext cx="2064"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35" name="Line 8"/>
            <p:cNvSpPr>
              <a:spLocks noChangeShapeType="1"/>
            </p:cNvSpPr>
            <p:nvPr/>
          </p:nvSpPr>
          <p:spPr bwMode="auto">
            <a:xfrm>
              <a:off x="1848" y="1584"/>
              <a:ext cx="2064" cy="0"/>
            </a:xfrm>
            <a:prstGeom prst="line">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nvGrpSpPr>
            <p:cNvPr id="73736" name="Group 9"/>
            <p:cNvGrpSpPr>
              <a:grpSpLocks/>
            </p:cNvGrpSpPr>
            <p:nvPr/>
          </p:nvGrpSpPr>
          <p:grpSpPr bwMode="auto">
            <a:xfrm>
              <a:off x="2568" y="1248"/>
              <a:ext cx="864" cy="144"/>
              <a:chOff x="2568" y="1248"/>
              <a:chExt cx="864" cy="144"/>
            </a:xfrm>
          </p:grpSpPr>
          <p:sp>
            <p:nvSpPr>
              <p:cNvPr id="73749" name="Rectangle 10"/>
              <p:cNvSpPr>
                <a:spLocks noChangeArrowheads="1"/>
              </p:cNvSpPr>
              <p:nvPr/>
            </p:nvSpPr>
            <p:spPr bwMode="auto">
              <a:xfrm>
                <a:off x="2568" y="1248"/>
                <a:ext cx="864" cy="144"/>
              </a:xfrm>
              <a:prstGeom prst="rect">
                <a:avLst/>
              </a:prstGeom>
              <a:noFill/>
              <a:ln w="9525">
                <a:solidFill>
                  <a:schemeClr val="tx1"/>
                </a:solidFill>
                <a:miter lim="800000"/>
                <a:headEnd/>
                <a:tailEnd/>
              </a:ln>
              <a:extLst>
                <a:ext uri="{909E8E84-426E-40dd-AFC4-6F175D3DCCD1}">
                  <a14:hiddenFill xmlns:a14="http://schemas.microsoft.com/office/drawing/2010/main" xmlns="">
                    <a:solidFill>
                      <a:schemeClr val="accent1"/>
                    </a:solidFill>
                  </a14:hiddenFill>
                </a:ext>
              </a:extLst>
            </p:spPr>
            <p:txBody>
              <a:bodyPr wrap="none" anchor="ctr"/>
              <a:lstStyle/>
              <a:p>
                <a:pPr eaLnBrk="0" fontAlgn="base" hangingPunct="0">
                  <a:spcBef>
                    <a:spcPct val="0"/>
                  </a:spcBef>
                  <a:spcAft>
                    <a:spcPct val="0"/>
                  </a:spcAft>
                </a:pPr>
                <a:r>
                  <a:rPr lang="en-US" sz="1200">
                    <a:solidFill>
                      <a:srgbClr val="000000"/>
                    </a:solidFill>
                    <a:latin typeface="Times" charset="0"/>
                    <a:ea typeface="ＭＳ Ｐゴシック" charset="0"/>
                  </a:rPr>
                  <a:t>PCI        Data</a:t>
                </a:r>
              </a:p>
            </p:txBody>
          </p:sp>
          <p:sp>
            <p:nvSpPr>
              <p:cNvPr id="73750" name="Line 11"/>
              <p:cNvSpPr>
                <a:spLocks noChangeShapeType="1"/>
              </p:cNvSpPr>
              <p:nvPr/>
            </p:nvSpPr>
            <p:spPr bwMode="auto">
              <a:xfrm>
                <a:off x="2880" y="1248"/>
                <a:ext cx="0" cy="14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73737" name="Group 12"/>
            <p:cNvGrpSpPr>
              <a:grpSpLocks/>
            </p:cNvGrpSpPr>
            <p:nvPr/>
          </p:nvGrpSpPr>
          <p:grpSpPr bwMode="auto">
            <a:xfrm>
              <a:off x="1512" y="1008"/>
              <a:ext cx="144" cy="288"/>
              <a:chOff x="1632" y="1392"/>
              <a:chExt cx="144" cy="288"/>
            </a:xfrm>
          </p:grpSpPr>
          <p:sp>
            <p:nvSpPr>
              <p:cNvPr id="73747" name="Line 13"/>
              <p:cNvSpPr>
                <a:spLocks noChangeShapeType="1"/>
              </p:cNvSpPr>
              <p:nvPr/>
            </p:nvSpPr>
            <p:spPr bwMode="auto">
              <a:xfrm>
                <a:off x="1632" y="139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48" name="Line 14"/>
              <p:cNvSpPr>
                <a:spLocks noChangeShapeType="1"/>
              </p:cNvSpPr>
              <p:nvPr/>
            </p:nvSpPr>
            <p:spPr bwMode="auto">
              <a:xfrm>
                <a:off x="1776" y="1392"/>
                <a:ext cx="0" cy="288"/>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73738" name="Group 15"/>
            <p:cNvGrpSpPr>
              <a:grpSpLocks/>
            </p:cNvGrpSpPr>
            <p:nvPr/>
          </p:nvGrpSpPr>
          <p:grpSpPr bwMode="auto">
            <a:xfrm>
              <a:off x="4104" y="1008"/>
              <a:ext cx="144" cy="288"/>
              <a:chOff x="1632" y="1392"/>
              <a:chExt cx="144" cy="288"/>
            </a:xfrm>
          </p:grpSpPr>
          <p:sp>
            <p:nvSpPr>
              <p:cNvPr id="73745" name="Line 16"/>
              <p:cNvSpPr>
                <a:spLocks noChangeShapeType="1"/>
              </p:cNvSpPr>
              <p:nvPr/>
            </p:nvSpPr>
            <p:spPr bwMode="auto">
              <a:xfrm>
                <a:off x="1632" y="139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46" name="Line 17"/>
              <p:cNvSpPr>
                <a:spLocks noChangeShapeType="1"/>
              </p:cNvSpPr>
              <p:nvPr/>
            </p:nvSpPr>
            <p:spPr bwMode="auto">
              <a:xfrm>
                <a:off x="1776" y="1392"/>
                <a:ext cx="0" cy="288"/>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73739" name="Group 18"/>
            <p:cNvGrpSpPr>
              <a:grpSpLocks/>
            </p:cNvGrpSpPr>
            <p:nvPr/>
          </p:nvGrpSpPr>
          <p:grpSpPr bwMode="auto">
            <a:xfrm>
              <a:off x="1512" y="1776"/>
              <a:ext cx="144" cy="288"/>
              <a:chOff x="1632" y="1392"/>
              <a:chExt cx="144" cy="288"/>
            </a:xfrm>
          </p:grpSpPr>
          <p:sp>
            <p:nvSpPr>
              <p:cNvPr id="73743" name="Line 19"/>
              <p:cNvSpPr>
                <a:spLocks noChangeShapeType="1"/>
              </p:cNvSpPr>
              <p:nvPr/>
            </p:nvSpPr>
            <p:spPr bwMode="auto">
              <a:xfrm>
                <a:off x="1632" y="139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44" name="Line 20"/>
              <p:cNvSpPr>
                <a:spLocks noChangeShapeType="1"/>
              </p:cNvSpPr>
              <p:nvPr/>
            </p:nvSpPr>
            <p:spPr bwMode="auto">
              <a:xfrm>
                <a:off x="1776" y="1392"/>
                <a:ext cx="0" cy="288"/>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73740" name="Group 21"/>
            <p:cNvGrpSpPr>
              <a:grpSpLocks/>
            </p:cNvGrpSpPr>
            <p:nvPr/>
          </p:nvGrpSpPr>
          <p:grpSpPr bwMode="auto">
            <a:xfrm>
              <a:off x="4104" y="1776"/>
              <a:ext cx="144" cy="288"/>
              <a:chOff x="1632" y="1392"/>
              <a:chExt cx="144" cy="288"/>
            </a:xfrm>
          </p:grpSpPr>
          <p:sp>
            <p:nvSpPr>
              <p:cNvPr id="73741" name="Line 22"/>
              <p:cNvSpPr>
                <a:spLocks noChangeShapeType="1"/>
              </p:cNvSpPr>
              <p:nvPr/>
            </p:nvSpPr>
            <p:spPr bwMode="auto">
              <a:xfrm>
                <a:off x="1632" y="139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3742" name="Line 23"/>
              <p:cNvSpPr>
                <a:spLocks noChangeShapeType="1"/>
              </p:cNvSpPr>
              <p:nvPr/>
            </p:nvSpPr>
            <p:spPr bwMode="auto">
              <a:xfrm>
                <a:off x="1776" y="1392"/>
                <a:ext cx="0" cy="288"/>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2298700" y="0"/>
            <a:ext cx="6972300" cy="1168400"/>
          </a:xfrm>
        </p:spPr>
        <p:txBody>
          <a:bodyPr/>
          <a:lstStyle/>
          <a:p>
            <a:pPr eaLnBrk="1" hangingPunct="1">
              <a:defRPr/>
            </a:pPr>
            <a:r>
              <a:rPr lang="en-US">
                <a:solidFill>
                  <a:schemeClr val="tx1"/>
                </a:solidFill>
                <a:cs typeface="+mj-cs"/>
              </a:rPr>
              <a:t>Remember at This Point</a:t>
            </a:r>
          </a:p>
        </p:txBody>
      </p:sp>
      <p:grpSp>
        <p:nvGrpSpPr>
          <p:cNvPr id="203781" name="Group 5"/>
          <p:cNvGrpSpPr>
            <a:grpSpLocks/>
          </p:cNvGrpSpPr>
          <p:nvPr/>
        </p:nvGrpSpPr>
        <p:grpSpPr bwMode="auto">
          <a:xfrm>
            <a:off x="5373689" y="3340100"/>
            <a:ext cx="1444625" cy="1062038"/>
            <a:chOff x="577" y="1293"/>
            <a:chExt cx="534" cy="485"/>
          </a:xfrm>
        </p:grpSpPr>
        <p:sp>
          <p:nvSpPr>
            <p:cNvPr id="75783" name="Oval 6"/>
            <p:cNvSpPr>
              <a:spLocks noChangeArrowheads="1"/>
            </p:cNvSpPr>
            <p:nvPr/>
          </p:nvSpPr>
          <p:spPr bwMode="auto">
            <a:xfrm>
              <a:off x="823" y="1368"/>
              <a:ext cx="288" cy="320"/>
            </a:xfrm>
            <a:prstGeom prst="ellipse">
              <a:avLst/>
            </a:prstGeom>
            <a:solidFill>
              <a:schemeClr val="accent1"/>
            </a:solidFill>
            <a:ln w="9525">
              <a:solidFill>
                <a:schemeClr val="tx1"/>
              </a:solidFill>
              <a:round/>
              <a:headEnd/>
              <a:tailEnd/>
            </a:ln>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75784" name="Oval 7"/>
            <p:cNvSpPr>
              <a:spLocks noChangeArrowheads="1"/>
            </p:cNvSpPr>
            <p:nvPr/>
          </p:nvSpPr>
          <p:spPr bwMode="auto">
            <a:xfrm>
              <a:off x="577" y="1293"/>
              <a:ext cx="110" cy="485"/>
            </a:xfrm>
            <a:prstGeom prst="ellipse">
              <a:avLst/>
            </a:prstGeom>
            <a:solidFill>
              <a:schemeClr val="accent1"/>
            </a:solidFill>
            <a:ln w="9525">
              <a:solidFill>
                <a:schemeClr val="tx1"/>
              </a:solidFill>
              <a:round/>
              <a:headEnd/>
              <a:tailEnd/>
            </a:ln>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203784" name="Rectangle 8"/>
            <p:cNvSpPr>
              <a:spLocks noChangeArrowheads="1"/>
            </p:cNvSpPr>
            <p:nvPr/>
          </p:nvSpPr>
          <p:spPr bwMode="auto">
            <a:xfrm>
              <a:off x="735" y="1304"/>
              <a:ext cx="48" cy="44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3797" name="Oval 21"/>
          <p:cNvSpPr>
            <a:spLocks noChangeArrowheads="1"/>
          </p:cNvSpPr>
          <p:nvPr/>
        </p:nvSpPr>
        <p:spPr bwMode="auto">
          <a:xfrm>
            <a:off x="5689600" y="1778000"/>
            <a:ext cx="812800" cy="7493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3798" name="Text Box 22"/>
          <p:cNvSpPr txBox="1">
            <a:spLocks noChangeArrowheads="1"/>
          </p:cNvSpPr>
          <p:nvPr/>
        </p:nvSpPr>
        <p:spPr bwMode="auto">
          <a:xfrm>
            <a:off x="3592513" y="1268414"/>
            <a:ext cx="502285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fontAlgn="base">
              <a:spcBef>
                <a:spcPct val="50000"/>
              </a:spcBef>
              <a:spcAft>
                <a:spcPct val="0"/>
              </a:spcAft>
              <a:defRPr/>
            </a:pPr>
            <a:r>
              <a:rPr lang="en-US" sz="2000">
                <a:solidFill>
                  <a:srgbClr val="000000"/>
                </a:solidFill>
                <a:latin typeface="Times" charset="0"/>
                <a:ea typeface="ＭＳ Ｐゴシック" charset="0"/>
              </a:rPr>
              <a:t>A Protocol is Viewed as a single State Machine</a:t>
            </a:r>
          </a:p>
        </p:txBody>
      </p:sp>
      <p:sp>
        <p:nvSpPr>
          <p:cNvPr id="203799" name="Text Box 23"/>
          <p:cNvSpPr txBox="1">
            <a:spLocks noChangeArrowheads="1"/>
          </p:cNvSpPr>
          <p:nvPr/>
        </p:nvSpPr>
        <p:spPr bwMode="auto">
          <a:xfrm>
            <a:off x="3810000" y="2786064"/>
            <a:ext cx="45720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fontAlgn="base">
              <a:spcBef>
                <a:spcPct val="50000"/>
              </a:spcBef>
              <a:spcAft>
                <a:spcPct val="0"/>
              </a:spcAft>
              <a:defRPr/>
            </a:pPr>
            <a:r>
              <a:rPr lang="en-US" sz="2000">
                <a:solidFill>
                  <a:srgbClr val="000000"/>
                </a:solidFill>
                <a:latin typeface="Times" charset="0"/>
                <a:ea typeface="ＭＳ Ｐゴシック" charset="0"/>
              </a:rPr>
              <a:t>Not as two loosely coupled State Machines</a:t>
            </a:r>
          </a:p>
        </p:txBody>
      </p:sp>
      <p:sp>
        <p:nvSpPr>
          <p:cNvPr id="203800" name="Text Box 24"/>
          <p:cNvSpPr txBox="1">
            <a:spLocks noChangeArrowheads="1"/>
          </p:cNvSpPr>
          <p:nvPr/>
        </p:nvSpPr>
        <p:spPr bwMode="auto">
          <a:xfrm>
            <a:off x="3790950" y="4722814"/>
            <a:ext cx="4610100" cy="70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algn="ctr" fontAlgn="base">
              <a:spcBef>
                <a:spcPct val="50000"/>
              </a:spcBef>
              <a:spcAft>
                <a:spcPct val="0"/>
              </a:spcAft>
              <a:defRPr/>
            </a:pPr>
            <a:r>
              <a:rPr lang="en-US" sz="2000">
                <a:solidFill>
                  <a:srgbClr val="000000"/>
                </a:solidFill>
                <a:latin typeface="Times" charset="0"/>
                <a:ea typeface="ＭＳ Ｐゴシック" charset="0"/>
              </a:rPr>
              <a:t>It is not clear that feedback is the primary reason for synchronization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7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379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379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378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97" grpId="0" animBg="1"/>
      <p:bldP spid="203798" grpId="0"/>
      <p:bldP spid="203799" grpId="0"/>
      <p:bldP spid="20380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2209800" y="254000"/>
            <a:ext cx="7772400" cy="1143000"/>
          </a:xfrm>
        </p:spPr>
        <p:txBody>
          <a:bodyPr/>
          <a:lstStyle/>
          <a:p>
            <a:pPr eaLnBrk="1" hangingPunct="1">
              <a:defRPr/>
            </a:pPr>
            <a:r>
              <a:rPr lang="en-US">
                <a:solidFill>
                  <a:schemeClr val="tx1"/>
                </a:solidFill>
                <a:cs typeface="+mj-cs"/>
              </a:rPr>
              <a:t>Are Timers Required?</a:t>
            </a:r>
            <a:endParaRPr lang="en-US">
              <a:cs typeface="+mj-cs"/>
            </a:endParaRPr>
          </a:p>
        </p:txBody>
      </p:sp>
      <p:sp>
        <p:nvSpPr>
          <p:cNvPr id="201731" name="Rectangle 3"/>
          <p:cNvSpPr>
            <a:spLocks noGrp="1" noChangeArrowheads="1"/>
          </p:cNvSpPr>
          <p:nvPr>
            <p:ph type="body" idx="1"/>
          </p:nvPr>
        </p:nvSpPr>
        <p:spPr>
          <a:xfrm>
            <a:off x="2209800" y="1397000"/>
            <a:ext cx="8268148" cy="4089400"/>
          </a:xfrm>
        </p:spPr>
        <p:txBody>
          <a:bodyPr/>
          <a:lstStyle/>
          <a:p>
            <a:pPr eaLnBrk="1" hangingPunct="1">
              <a:defRPr/>
            </a:pPr>
            <a:r>
              <a:rPr lang="en-US" sz="2000" dirty="0">
                <a:cs typeface="+mn-cs"/>
              </a:rPr>
              <a:t>Would be nice if they weren</a:t>
            </a:r>
            <a:r>
              <a:rPr lang="en-US" sz="2000" dirty="0">
                <a:latin typeface="Arial"/>
                <a:cs typeface="+mn-cs"/>
              </a:rPr>
              <a:t>’</a:t>
            </a:r>
            <a:r>
              <a:rPr lang="en-US" sz="2000" dirty="0">
                <a:cs typeface="+mn-cs"/>
              </a:rPr>
              <a:t>t.  Is there a sequence of PDUs that can be exchanged without using timers, that ensures the correct operation of the protocol?  Especially for reliable data transfer.</a:t>
            </a:r>
          </a:p>
          <a:p>
            <a:pPr lvl="1" eaLnBrk="1" hangingPunct="1">
              <a:defRPr/>
            </a:pPr>
            <a:r>
              <a:rPr lang="en-US" sz="1800" dirty="0"/>
              <a:t>Remember the rationale for data networks is that they have special requirements that voice networks do not have and cannot efficiently support.</a:t>
            </a:r>
          </a:p>
          <a:p>
            <a:pPr eaLnBrk="1" hangingPunct="1">
              <a:defRPr/>
            </a:pPr>
            <a:r>
              <a:rPr lang="en-US" sz="2000" dirty="0">
                <a:cs typeface="+mn-cs"/>
              </a:rPr>
              <a:t>Dag </a:t>
            </a:r>
            <a:r>
              <a:rPr lang="en-US" sz="2000" dirty="0" err="1">
                <a:cs typeface="+mn-cs"/>
              </a:rPr>
              <a:t>Belnes</a:t>
            </a:r>
            <a:r>
              <a:rPr lang="en-US" sz="2000" dirty="0">
                <a:cs typeface="+mn-cs"/>
              </a:rPr>
              <a:t>, 1976, </a:t>
            </a:r>
            <a:r>
              <a:rPr lang="ja-JP" altLang="en-US" sz="2000" dirty="0">
                <a:latin typeface="Arial"/>
                <a:cs typeface="+mn-cs"/>
              </a:rPr>
              <a:t>“</a:t>
            </a:r>
            <a:r>
              <a:rPr lang="en-US" sz="2000" dirty="0">
                <a:cs typeface="+mn-cs"/>
              </a:rPr>
              <a:t>Single Message Communication</a:t>
            </a:r>
            <a:r>
              <a:rPr lang="ja-JP" altLang="en-US" sz="2000" dirty="0">
                <a:latin typeface="Arial"/>
                <a:cs typeface="+mn-cs"/>
              </a:rPr>
              <a:t>”</a:t>
            </a:r>
            <a:r>
              <a:rPr lang="en-US" sz="2000" dirty="0">
                <a:cs typeface="+mn-cs"/>
              </a:rPr>
              <a:t> confirms it for the extreme case, a 5-message exchange is required as long as there are no system failures.</a:t>
            </a:r>
          </a:p>
          <a:p>
            <a:pPr eaLnBrk="1" hangingPunct="1">
              <a:defRPr/>
            </a:pPr>
            <a:r>
              <a:rPr lang="en-US" sz="2000" dirty="0">
                <a:cs typeface="+mn-cs"/>
              </a:rPr>
              <a:t>Carl Sunshine, 1975, </a:t>
            </a:r>
            <a:r>
              <a:rPr lang="ja-JP" altLang="en-US" sz="2000" dirty="0">
                <a:latin typeface="Arial"/>
                <a:cs typeface="+mn-cs"/>
              </a:rPr>
              <a:t>“</a:t>
            </a:r>
            <a:r>
              <a:rPr lang="en-US" sz="2000" dirty="0" err="1">
                <a:cs typeface="+mn-cs"/>
              </a:rPr>
              <a:t>Interprocess</a:t>
            </a:r>
            <a:r>
              <a:rPr lang="en-US" sz="2000" dirty="0">
                <a:cs typeface="+mn-cs"/>
              </a:rPr>
              <a:t> Communication Protocols for </a:t>
            </a:r>
            <a:r>
              <a:rPr lang="en-US" sz="2000" dirty="0" err="1">
                <a:cs typeface="+mn-cs"/>
              </a:rPr>
              <a:t>Comptuer</a:t>
            </a:r>
            <a:r>
              <a:rPr lang="en-US" sz="2000" dirty="0">
                <a:cs typeface="+mn-cs"/>
              </a:rPr>
              <a:t> Networks,</a:t>
            </a:r>
            <a:r>
              <a:rPr lang="ja-JP" altLang="en-US" sz="2000" dirty="0">
                <a:latin typeface="Arial"/>
                <a:cs typeface="+mn-cs"/>
              </a:rPr>
              <a:t>”</a:t>
            </a:r>
            <a:r>
              <a:rPr lang="en-US" sz="2000" dirty="0">
                <a:cs typeface="+mn-cs"/>
              </a:rPr>
              <a:t> PhD thesis, proposes the 3-way handshake, which is used in TCP.</a:t>
            </a:r>
          </a:p>
          <a:p>
            <a:pPr lvl="1" eaLnBrk="1" hangingPunct="1">
              <a:defRPr/>
            </a:pPr>
            <a:r>
              <a:rPr lang="en-US" sz="1800" dirty="0"/>
              <a:t>Same as </a:t>
            </a:r>
            <a:r>
              <a:rPr lang="en-US" sz="1800" dirty="0" err="1"/>
              <a:t>Belnes</a:t>
            </a:r>
            <a:r>
              <a:rPr lang="ja-JP" altLang="en-US" sz="1800" dirty="0">
                <a:latin typeface="Arial"/>
              </a:rPr>
              <a:t>’</a:t>
            </a:r>
            <a:r>
              <a:rPr lang="en-US" sz="1800" dirty="0"/>
              <a:t> result but more messages</a:t>
            </a:r>
            <a:r>
              <a:rPr lang="en-US" dirty="0"/>
              <a:t>.</a:t>
            </a:r>
          </a:p>
          <a:p>
            <a:pPr eaLnBrk="1" hangingPunct="1">
              <a:defRPr/>
            </a:pPr>
            <a:r>
              <a:rPr lang="en-US" sz="2000" dirty="0"/>
              <a:t>Phil Merlin, 1975, </a:t>
            </a:r>
            <a:r>
              <a:rPr lang="ja-JP" altLang="en-US" sz="2000" dirty="0">
                <a:latin typeface="Arial"/>
              </a:rPr>
              <a:t>“</a:t>
            </a:r>
            <a:r>
              <a:rPr lang="en-US" sz="2000" dirty="0"/>
              <a:t>Recoverability of Communications Protocols</a:t>
            </a:r>
            <a:r>
              <a:rPr lang="ja-JP" altLang="en-US" sz="2000" dirty="0">
                <a:latin typeface="Arial"/>
              </a:rPr>
              <a:t>”</a:t>
            </a:r>
            <a:r>
              <a:rPr lang="en-US" sz="2000" dirty="0"/>
              <a:t> shows that timers are necessary.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17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173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173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173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17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solidFill>
                  <a:srgbClr val="000000"/>
                </a:solidFill>
              </a:rPr>
              <a:t>This Adds Data Transfer Control PDUs</a:t>
            </a:r>
          </a:p>
        </p:txBody>
      </p:sp>
      <p:sp>
        <p:nvSpPr>
          <p:cNvPr id="3" name="Content Placeholder 2"/>
          <p:cNvSpPr>
            <a:spLocks noGrp="1"/>
          </p:cNvSpPr>
          <p:nvPr>
            <p:ph idx="1"/>
          </p:nvPr>
        </p:nvSpPr>
        <p:spPr>
          <a:xfrm>
            <a:off x="1893101" y="1093623"/>
            <a:ext cx="7785100" cy="5041900"/>
          </a:xfrm>
        </p:spPr>
        <p:txBody>
          <a:bodyPr>
            <a:normAutofit lnSpcReduction="10000"/>
          </a:bodyPr>
          <a:lstStyle/>
          <a:p>
            <a:pPr marL="342900" indent="-342900"/>
            <a:r>
              <a:rPr lang="en-US" dirty="0"/>
              <a:t>Generally, one would have one or two PDUs to carry feedback information.</a:t>
            </a:r>
          </a:p>
          <a:p>
            <a:pPr marL="723900" lvl="1" indent="-342900"/>
            <a:r>
              <a:rPr lang="en-US" dirty="0"/>
              <a:t>Left Window Edge – signifying will not request re-transmission of any PDUs with sequence number less than or equal this value.</a:t>
            </a:r>
          </a:p>
          <a:p>
            <a:pPr marL="723900" lvl="1" indent="-342900"/>
            <a:r>
              <a:rPr lang="en-US" dirty="0"/>
              <a:t>Credit – sender can send PDUs ≤ Right Window Edge</a:t>
            </a:r>
          </a:p>
          <a:p>
            <a:pPr marL="1181100" lvl="2" indent="-342900"/>
            <a:r>
              <a:rPr lang="en-US" dirty="0"/>
              <a:t>Where Right Window Edge = Left Window Edge + Credit.</a:t>
            </a:r>
          </a:p>
          <a:p>
            <a:pPr marL="1181100" lvl="2" indent="-342900"/>
            <a:r>
              <a:rPr lang="en-US" dirty="0"/>
              <a:t>When Retransmission Control is not present, Control PDUs are sent to update the Left Window Edge, but there is no further action.</a:t>
            </a:r>
          </a:p>
          <a:p>
            <a:pPr marL="342900" indent="-342900"/>
            <a:r>
              <a:rPr lang="en-US" dirty="0"/>
              <a:t>Experience has shown that a “Selective </a:t>
            </a:r>
            <a:r>
              <a:rPr lang="en-US" dirty="0" err="1"/>
              <a:t>Nack</a:t>
            </a:r>
            <a:r>
              <a:rPr lang="en-US" dirty="0"/>
              <a:t>” PDU is useful for forcing early retransmission of PDUs where there is a large bandwidth delay product on the flow.</a:t>
            </a:r>
          </a:p>
          <a:p>
            <a:pPr marL="342900" indent="-342900"/>
            <a:r>
              <a:rPr lang="en-US" dirty="0"/>
              <a:t>Why not combine into one PDU type!? Piggyback </a:t>
            </a:r>
            <a:r>
              <a:rPr lang="en-US" dirty="0" err="1"/>
              <a:t>Acks</a:t>
            </a:r>
            <a:r>
              <a:rPr lang="en-US" dirty="0"/>
              <a:t>!</a:t>
            </a:r>
          </a:p>
          <a:p>
            <a:pPr marL="723900" lvl="1" indent="-342900"/>
            <a:r>
              <a:rPr lang="en-US" sz="1600" dirty="0"/>
              <a:t>Data Transfer and Data Transfer Control are virtually independent.</a:t>
            </a:r>
          </a:p>
          <a:p>
            <a:pPr marL="723900" lvl="1" indent="-342900"/>
            <a:r>
              <a:rPr lang="en-US" sz="1600" dirty="0"/>
              <a:t>Piggybacking </a:t>
            </a:r>
            <a:r>
              <a:rPr lang="en-US" sz="1600" dirty="0" err="1"/>
              <a:t>Acks</a:t>
            </a:r>
            <a:r>
              <a:rPr lang="en-US" sz="1600" dirty="0"/>
              <a:t> saved considerable bandwidth when character-at-a-time echoing of Telnet by </a:t>
            </a:r>
            <a:r>
              <a:rPr lang="en-US" sz="1600" dirty="0" err="1"/>
              <a:t>Tenex</a:t>
            </a:r>
            <a:r>
              <a:rPr lang="en-US" sz="1600" dirty="0"/>
              <a:t> was the dominate system on the Net. Today the savings is minimal compared to the overhead and that retransmission is often not required.</a:t>
            </a:r>
          </a:p>
          <a:p>
            <a:pPr marL="723900" lvl="1" indent="-342900"/>
            <a:r>
              <a:rPr lang="en-US" sz="1600" dirty="0"/>
              <a:t>Traffic traces show that lone </a:t>
            </a:r>
            <a:r>
              <a:rPr lang="en-US" sz="1600" dirty="0" err="1"/>
              <a:t>acks</a:t>
            </a:r>
            <a:r>
              <a:rPr lang="en-US" sz="1600" dirty="0"/>
              <a:t> are quite common. Traffic today isn’t as symmetrical and where it is, incurs too much delay to wait for the response.</a:t>
            </a:r>
          </a:p>
          <a:p>
            <a:pPr marL="1104900" lvl="2" indent="-342900"/>
            <a:endParaRPr lang="en-US" sz="2200" dirty="0"/>
          </a:p>
        </p:txBody>
      </p:sp>
      <p:sp>
        <p:nvSpPr>
          <p:cNvPr id="6" name="Text Box 36">
            <a:extLst>
              <a:ext uri="{FF2B5EF4-FFF2-40B4-BE49-F238E27FC236}">
                <a16:creationId xmlns:a16="http://schemas.microsoft.com/office/drawing/2014/main" id="{4175CB68-0A08-3406-F18C-628A2D97996A}"/>
              </a:ext>
            </a:extLst>
          </p:cNvPr>
          <p:cNvSpPr txBox="1">
            <a:spLocks noChangeArrowheads="1"/>
          </p:cNvSpPr>
          <p:nvPr/>
        </p:nvSpPr>
        <p:spPr bwMode="auto">
          <a:xfrm>
            <a:off x="8011473" y="6248400"/>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a:t>
            </a:r>
            <a:r>
              <a:rPr lang="en-US" sz="1000" u="sng" dirty="0">
                <a:solidFill>
                  <a:srgbClr val="000000"/>
                </a:solidFill>
                <a:latin typeface="Arial"/>
                <a:ea typeface="ＭＳ Ｐゴシック" charset="0"/>
                <a:cs typeface="ＭＳ Ｐゴシック" charset="0"/>
              </a:rPr>
              <a:t>22</a:t>
            </a:r>
            <a:endParaRPr lang="en-US" sz="1000" dirty="0">
              <a:solidFill>
                <a:srgbClr val="000000"/>
              </a:solidFill>
              <a:latin typeface="Arial"/>
              <a:ea typeface="ＭＳ Ｐゴシック" charset="0"/>
              <a:cs typeface="ＭＳ Ｐゴシック" charset="0"/>
            </a:endParaRPr>
          </a:p>
        </p:txBody>
      </p:sp>
    </p:spTree>
    <p:extLst>
      <p:ext uri="{BB962C8B-B14F-4D97-AF65-F5344CB8AC3E}">
        <p14:creationId xmlns:p14="http://schemas.microsoft.com/office/powerpoint/2010/main" val="58422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defRPr/>
            </a:pPr>
            <a:r>
              <a:rPr lang="en-US" dirty="0">
                <a:solidFill>
                  <a:srgbClr val="000000"/>
                </a:solidFill>
                <a:cs typeface="+mj-cs"/>
              </a:rPr>
              <a:t>Feedback Mechanisms Require Synchronization</a:t>
            </a:r>
          </a:p>
        </p:txBody>
      </p:sp>
      <p:sp>
        <p:nvSpPr>
          <p:cNvPr id="145411" name="Rectangle 3"/>
          <p:cNvSpPr>
            <a:spLocks noGrp="1" noChangeArrowheads="1"/>
          </p:cNvSpPr>
          <p:nvPr>
            <p:ph type="body" idx="1"/>
          </p:nvPr>
        </p:nvSpPr>
        <p:spPr>
          <a:xfrm>
            <a:off x="1968500" y="1422400"/>
            <a:ext cx="8483600" cy="4737100"/>
          </a:xfrm>
        </p:spPr>
        <p:txBody>
          <a:bodyPr/>
          <a:lstStyle/>
          <a:p>
            <a:pPr marL="342900" indent="-317500">
              <a:defRPr/>
            </a:pPr>
            <a:r>
              <a:rPr lang="en-US" dirty="0">
                <a:cs typeface="+mn-cs"/>
              </a:rPr>
              <a:t>Most of you were taught that synchronization for reliable data transfer required a 3-way Handshake. </a:t>
            </a:r>
          </a:p>
          <a:p>
            <a:pPr marL="863600" lvl="1" indent="-317500">
              <a:defRPr/>
            </a:pPr>
            <a:r>
              <a:rPr lang="en-US" dirty="0"/>
              <a:t>It is totally irrelevant.</a:t>
            </a:r>
          </a:p>
          <a:p>
            <a:pPr marL="342900" indent="-317500">
              <a:defRPr/>
            </a:pPr>
            <a:r>
              <a:rPr lang="en-US" dirty="0">
                <a:cs typeface="+mn-cs"/>
              </a:rPr>
              <a:t>Handshakes are Mere Hand-Waving!</a:t>
            </a:r>
          </a:p>
          <a:p>
            <a:pPr marL="368300" indent="-342900">
              <a:buFont typeface="Arial"/>
              <a:buChar char="•"/>
              <a:defRPr/>
            </a:pPr>
            <a:r>
              <a:rPr lang="en-US" dirty="0"/>
              <a:t>The Wizard of Oz:  Abracadabra! Hocus-Pocus! </a:t>
            </a:r>
            <a:r>
              <a:rPr lang="en-US" dirty="0" err="1"/>
              <a:t>Alla-Kazam</a:t>
            </a:r>
            <a:r>
              <a:rPr lang="en-US" dirty="0"/>
              <a:t>!  Synchronize!</a:t>
            </a:r>
          </a:p>
          <a:p>
            <a:pPr marL="368300" indent="-342900">
              <a:buFont typeface="Arial"/>
              <a:buChar char="•"/>
              <a:defRPr/>
            </a:pPr>
            <a:r>
              <a:rPr lang="en-US" dirty="0"/>
              <a:t>What is Behind the Hand-waving is</a:t>
            </a:r>
          </a:p>
          <a:p>
            <a:pPr marL="723900" lvl="3" indent="-317500">
              <a:buFont typeface="Lucida Grande"/>
              <a:buChar char="-"/>
              <a:defRPr/>
            </a:pPr>
            <a:r>
              <a:rPr lang="en-US" sz="1800" dirty="0"/>
              <a:t>Much simpler, more subtle, and much deeper.</a:t>
            </a:r>
          </a:p>
        </p:txBody>
      </p:sp>
      <p:sp>
        <p:nvSpPr>
          <p:cNvPr id="145412"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a:solidFill>
                  <a:srgbClr val="000000"/>
                </a:solidFill>
                <a:latin typeface="Arial"/>
                <a:ea typeface="ＭＳ Ｐゴシック" charset="0"/>
                <a:cs typeface="ＭＳ Ｐゴシック" charset="0"/>
              </a:rPr>
              <a:t>©   John Day, All Rights Reserved, 2009</a:t>
            </a:r>
          </a:p>
        </p:txBody>
      </p:sp>
    </p:spTree>
    <p:extLst>
      <p:ext uri="{BB962C8B-B14F-4D97-AF65-F5344CB8AC3E}">
        <p14:creationId xmlns:p14="http://schemas.microsoft.com/office/powerpoint/2010/main" val="4240902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4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41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54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541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54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5411">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p:bldP spid="14541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1746250" y="-40620"/>
            <a:ext cx="8699500" cy="1181100"/>
          </a:xfrm>
        </p:spPr>
        <p:txBody>
          <a:bodyPr>
            <a:normAutofit/>
          </a:bodyPr>
          <a:lstStyle/>
          <a:p>
            <a:pPr eaLnBrk="1" hangingPunct="1">
              <a:defRPr/>
            </a:pPr>
            <a:r>
              <a:rPr lang="en-US" dirty="0">
                <a:solidFill>
                  <a:srgbClr val="000000"/>
                </a:solidFill>
                <a:cs typeface="+mj-cs"/>
              </a:rPr>
              <a:t>Fundamental Theorem of Data Transfer</a:t>
            </a:r>
          </a:p>
        </p:txBody>
      </p:sp>
      <p:sp>
        <p:nvSpPr>
          <p:cNvPr id="146435" name="Rectangle 3"/>
          <p:cNvSpPr>
            <a:spLocks noGrp="1" noChangeArrowheads="1"/>
          </p:cNvSpPr>
          <p:nvPr>
            <p:ph type="body" idx="1"/>
          </p:nvPr>
        </p:nvSpPr>
        <p:spPr>
          <a:xfrm>
            <a:off x="1962150" y="1270000"/>
            <a:ext cx="8267700" cy="4559300"/>
          </a:xfrm>
        </p:spPr>
        <p:txBody>
          <a:bodyPr/>
          <a:lstStyle/>
          <a:p>
            <a:pPr eaLnBrk="1" hangingPunct="1">
              <a:defRPr/>
            </a:pPr>
            <a:r>
              <a:rPr lang="en-US" dirty="0">
                <a:cs typeface="+mn-cs"/>
              </a:rPr>
              <a:t>In 1978, Richard Watson made a remarkable discovery. </a:t>
            </a:r>
          </a:p>
          <a:p>
            <a:pPr eaLnBrk="1" hangingPunct="1">
              <a:defRPr/>
            </a:pPr>
            <a:r>
              <a:rPr lang="en-US" dirty="0">
                <a:cs typeface="+mn-cs"/>
              </a:rPr>
              <a:t>The </a:t>
            </a:r>
            <a:r>
              <a:rPr lang="en-US" i="1" dirty="0"/>
              <a:t>necessary and sufficient </a:t>
            </a:r>
            <a:r>
              <a:rPr lang="en-US" dirty="0"/>
              <a:t>conditions for </a:t>
            </a:r>
            <a:r>
              <a:rPr lang="en-US" dirty="0">
                <a:cs typeface="+mn-cs"/>
              </a:rPr>
              <a:t>Synchronization of Reliable Data Transfer is to bound three timers:</a:t>
            </a:r>
          </a:p>
          <a:p>
            <a:pPr marL="1257300" lvl="1">
              <a:defRPr/>
            </a:pPr>
            <a:r>
              <a:rPr lang="en-US" dirty="0"/>
              <a:t>MPL - Maximum Packet Lifetime</a:t>
            </a:r>
          </a:p>
          <a:p>
            <a:pPr marL="1257300" lvl="1">
              <a:defRPr/>
            </a:pPr>
            <a:r>
              <a:rPr lang="en-US" dirty="0"/>
              <a:t>A - Maximum Hold Time before </a:t>
            </a:r>
            <a:r>
              <a:rPr lang="en-US" dirty="0" err="1"/>
              <a:t>Ack</a:t>
            </a:r>
            <a:endParaRPr lang="en-US" dirty="0"/>
          </a:p>
          <a:p>
            <a:pPr marL="1257300" lvl="1">
              <a:defRPr/>
            </a:pPr>
            <a:r>
              <a:rPr lang="en-US" dirty="0"/>
              <a:t>R - Maximum Time to Re-try</a:t>
            </a:r>
          </a:p>
          <a:p>
            <a:pPr marL="635000">
              <a:defRPr/>
            </a:pPr>
            <a:r>
              <a:rPr lang="en-US" dirty="0">
                <a:cs typeface="+mn-cs"/>
              </a:rPr>
              <a:t>Assumes all connections exist all the time and always have</a:t>
            </a:r>
          </a:p>
          <a:p>
            <a:pPr eaLnBrk="1" hangingPunct="1">
              <a:defRPr/>
            </a:pPr>
            <a:r>
              <a:rPr lang="en-US" dirty="0">
                <a:cs typeface="+mn-cs"/>
              </a:rPr>
              <a:t>A state vector is merely a cache of information on recently active connections.</a:t>
            </a:r>
          </a:p>
          <a:p>
            <a:pPr eaLnBrk="1" hangingPunct="1">
              <a:defRPr/>
            </a:pPr>
            <a:r>
              <a:rPr lang="en-US" dirty="0">
                <a:cs typeface="+mn-cs"/>
              </a:rPr>
              <a:t>No traffic for </a:t>
            </a:r>
            <a:r>
              <a:rPr lang="en-US" dirty="0"/>
              <a:t>2</a:t>
            </a:r>
            <a:r>
              <a:rPr lang="en-US" dirty="0">
                <a:sym typeface="Symbol" charset="0"/>
              </a:rPr>
              <a:t></a:t>
            </a:r>
            <a:r>
              <a:rPr lang="en-US" dirty="0"/>
              <a:t>t or 3</a:t>
            </a:r>
            <a:r>
              <a:rPr lang="en-US" dirty="0">
                <a:sym typeface="Symbol" charset="0"/>
              </a:rPr>
              <a:t></a:t>
            </a:r>
            <a:r>
              <a:rPr lang="en-US" dirty="0"/>
              <a:t>t </a:t>
            </a:r>
            <a:r>
              <a:rPr lang="en-US" dirty="0">
                <a:cs typeface="+mn-cs"/>
              </a:rPr>
              <a:t>discard the state vector, </a:t>
            </a:r>
          </a:p>
          <a:p>
            <a:pPr lvl="1" eaLnBrk="1" hangingPunct="1">
              <a:defRPr/>
            </a:pPr>
            <a:r>
              <a:rPr lang="en-US" sz="1600" dirty="0">
                <a:cs typeface="+mn-cs"/>
              </a:rPr>
              <a:t>Where </a:t>
            </a:r>
            <a:r>
              <a:rPr lang="en-US" sz="1600" dirty="0">
                <a:sym typeface="Symbol" charset="0"/>
              </a:rPr>
              <a:t></a:t>
            </a:r>
            <a:r>
              <a:rPr lang="en-US" sz="1600" dirty="0"/>
              <a:t>t</a:t>
            </a:r>
            <a:r>
              <a:rPr lang="en-US" sz="1600" dirty="0">
                <a:cs typeface="+mn-cs"/>
              </a:rPr>
              <a:t> </a:t>
            </a:r>
            <a:r>
              <a:rPr lang="en-US" sz="1600" dirty="0"/>
              <a:t>= (MPL+A+R) </a:t>
            </a:r>
            <a:endParaRPr lang="en-US" sz="1600" dirty="0">
              <a:cs typeface="+mn-cs"/>
            </a:endParaRPr>
          </a:p>
        </p:txBody>
      </p:sp>
      <p:sp>
        <p:nvSpPr>
          <p:cNvPr id="146436" name="Text Box 4"/>
          <p:cNvSpPr txBox="1">
            <a:spLocks noChangeArrowheads="1"/>
          </p:cNvSpPr>
          <p:nvPr/>
        </p:nvSpPr>
        <p:spPr bwMode="auto">
          <a:xfrm>
            <a:off x="2714625" y="5753101"/>
            <a:ext cx="6597650"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6437" name="Text Box 5"/>
          <p:cNvSpPr txBox="1">
            <a:spLocks noChangeArrowheads="1"/>
          </p:cNvSpPr>
          <p:nvPr/>
        </p:nvSpPr>
        <p:spPr bwMode="auto">
          <a:xfrm>
            <a:off x="3454400" y="5194300"/>
            <a:ext cx="4749800"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fontAlgn="base">
              <a:spcBef>
                <a:spcPct val="50000"/>
              </a:spcBef>
              <a:spcAft>
                <a:spcPct val="0"/>
              </a:spcAft>
              <a:defRPr/>
            </a:pPr>
            <a:r>
              <a:rPr lang="en-US" sz="1400" dirty="0">
                <a:solidFill>
                  <a:srgbClr val="000000"/>
                </a:solidFill>
                <a:latin typeface="Times" charset="0"/>
                <a:ea typeface="ＭＳ Ｐゴシック" charset="0"/>
                <a:cs typeface="ＭＳ Ｐゴシック" charset="0"/>
              </a:rPr>
              <a:t>TCP bounds MPL explicitly but assumes the other two are bounded, achieves less reliability</a:t>
            </a:r>
          </a:p>
        </p:txBody>
      </p:sp>
      <p:sp>
        <p:nvSpPr>
          <p:cNvPr id="146438" name="Text Box 6"/>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a:solidFill>
                  <a:srgbClr val="000000"/>
                </a:solidFill>
                <a:latin typeface="Arial"/>
                <a:ea typeface="ＭＳ Ｐゴシック" charset="0"/>
                <a:cs typeface="ＭＳ Ｐゴシック" charset="0"/>
              </a:rPr>
              <a:t>©   John Day, All Rights Reserved, 2009</a:t>
            </a:r>
          </a:p>
        </p:txBody>
      </p:sp>
    </p:spTree>
    <p:extLst>
      <p:ext uri="{BB962C8B-B14F-4D97-AF65-F5344CB8AC3E}">
        <p14:creationId xmlns:p14="http://schemas.microsoft.com/office/powerpoint/2010/main" val="296695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643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64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64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643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643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6435">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643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6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709109" y="61912"/>
            <a:ext cx="10515600" cy="1325563"/>
          </a:xfrm>
        </p:spPr>
        <p:txBody>
          <a:bodyPr/>
          <a:lstStyle/>
          <a:p>
            <a:pPr eaLnBrk="1" hangingPunct="1">
              <a:defRPr/>
            </a:pPr>
            <a:r>
              <a:rPr lang="en-US" dirty="0">
                <a:solidFill>
                  <a:srgbClr val="000000"/>
                </a:solidFill>
                <a:cs typeface="+mj-cs"/>
              </a:rPr>
              <a:t>This Exposes a Flaw</a:t>
            </a:r>
          </a:p>
        </p:txBody>
      </p:sp>
      <p:sp>
        <p:nvSpPr>
          <p:cNvPr id="149507" name="Rectangle 3"/>
          <p:cNvSpPr>
            <a:spLocks noGrp="1" noChangeArrowheads="1"/>
          </p:cNvSpPr>
          <p:nvPr>
            <p:ph type="body" idx="1"/>
          </p:nvPr>
        </p:nvSpPr>
        <p:spPr>
          <a:xfrm>
            <a:off x="2178050" y="3962400"/>
            <a:ext cx="7835900" cy="2451100"/>
          </a:xfrm>
        </p:spPr>
        <p:txBody>
          <a:bodyPr>
            <a:normAutofit lnSpcReduction="10000"/>
          </a:bodyPr>
          <a:lstStyle/>
          <a:p>
            <a:pPr eaLnBrk="1" hangingPunct="1">
              <a:defRPr/>
            </a:pPr>
            <a:r>
              <a:rPr lang="en-US" dirty="0">
                <a:cs typeface="+mn-cs"/>
              </a:rPr>
              <a:t>In the Internet, a connection starts at sender</a:t>
            </a:r>
            <a:r>
              <a:rPr lang="en-US" dirty="0">
                <a:latin typeface="Arial"/>
                <a:cs typeface="+mn-cs"/>
              </a:rPr>
              <a:t>’</a:t>
            </a:r>
            <a:r>
              <a:rPr lang="en-US" dirty="0">
                <a:cs typeface="+mn-cs"/>
              </a:rPr>
              <a:t>s port and goes to the destination</a:t>
            </a:r>
            <a:r>
              <a:rPr lang="en-US" dirty="0">
                <a:latin typeface="Arial"/>
                <a:cs typeface="+mn-cs"/>
              </a:rPr>
              <a:t>’</a:t>
            </a:r>
            <a:r>
              <a:rPr lang="en-US" dirty="0">
                <a:cs typeface="+mn-cs"/>
              </a:rPr>
              <a:t>s port.</a:t>
            </a:r>
          </a:p>
          <a:p>
            <a:pPr marL="1257300" lvl="1">
              <a:defRPr/>
            </a:pPr>
            <a:r>
              <a:rPr lang="en-US" dirty="0"/>
              <a:t>This is what connect/disconnect does.</a:t>
            </a:r>
          </a:p>
          <a:p>
            <a:pPr eaLnBrk="1" hangingPunct="1">
              <a:defRPr/>
            </a:pPr>
            <a:r>
              <a:rPr lang="en-US" dirty="0">
                <a:cs typeface="+mn-cs"/>
              </a:rPr>
              <a:t>This combines port allocation and synchronization</a:t>
            </a:r>
          </a:p>
          <a:p>
            <a:pPr eaLnBrk="1" hangingPunct="1">
              <a:defRPr/>
            </a:pPr>
            <a:r>
              <a:rPr lang="en-US" dirty="0">
                <a:cs typeface="+mn-cs"/>
              </a:rPr>
              <a:t>What Watson is saying when he assumes: </a:t>
            </a:r>
          </a:p>
          <a:p>
            <a:pPr marL="1257300" lvl="1">
              <a:defRPr/>
            </a:pPr>
            <a:r>
              <a:rPr lang="en-US" dirty="0"/>
              <a:t> all connections exist all the time.</a:t>
            </a:r>
          </a:p>
          <a:p>
            <a:pPr eaLnBrk="1" hangingPunct="1">
              <a:defRPr/>
            </a:pPr>
            <a:r>
              <a:rPr lang="en-US" dirty="0">
                <a:cs typeface="+mn-cs"/>
              </a:rPr>
              <a:t>Is that Port Allocation and Synchronization are distinct.</a:t>
            </a:r>
          </a:p>
        </p:txBody>
      </p:sp>
      <p:grpSp>
        <p:nvGrpSpPr>
          <p:cNvPr id="2" name="Group 1">
            <a:extLst>
              <a:ext uri="{FF2B5EF4-FFF2-40B4-BE49-F238E27FC236}">
                <a16:creationId xmlns:a16="http://schemas.microsoft.com/office/drawing/2014/main" id="{27E88C63-255F-5438-150D-DE777D603D06}"/>
              </a:ext>
            </a:extLst>
          </p:cNvPr>
          <p:cNvGrpSpPr/>
          <p:nvPr/>
        </p:nvGrpSpPr>
        <p:grpSpPr>
          <a:xfrm>
            <a:off x="2095711" y="1038226"/>
            <a:ext cx="7213389" cy="2543175"/>
            <a:chOff x="2095711" y="1038226"/>
            <a:chExt cx="7213389" cy="2543175"/>
          </a:xfrm>
        </p:grpSpPr>
        <p:grpSp>
          <p:nvGrpSpPr>
            <p:cNvPr id="149545" name="Group 41"/>
            <p:cNvGrpSpPr>
              <a:grpSpLocks/>
            </p:cNvGrpSpPr>
            <p:nvPr/>
          </p:nvGrpSpPr>
          <p:grpSpPr bwMode="auto">
            <a:xfrm>
              <a:off x="4025900" y="2273301"/>
              <a:ext cx="4673600" cy="1165225"/>
              <a:chOff x="1576" y="1432"/>
              <a:chExt cx="2944" cy="734"/>
            </a:xfrm>
          </p:grpSpPr>
          <p:sp>
            <p:nvSpPr>
              <p:cNvPr id="149530" name="Freeform 26"/>
              <p:cNvSpPr>
                <a:spLocks/>
              </p:cNvSpPr>
              <p:nvPr/>
            </p:nvSpPr>
            <p:spPr bwMode="auto">
              <a:xfrm>
                <a:off x="1576" y="1432"/>
                <a:ext cx="520" cy="512"/>
              </a:xfrm>
              <a:custGeom>
                <a:avLst/>
                <a:gdLst>
                  <a:gd name="T0" fmla="*/ 40 w 520"/>
                  <a:gd name="T1" fmla="*/ 0 h 512"/>
                  <a:gd name="T2" fmla="*/ 56 w 520"/>
                  <a:gd name="T3" fmla="*/ 400 h 512"/>
                  <a:gd name="T4" fmla="*/ 376 w 520"/>
                  <a:gd name="T5" fmla="*/ 496 h 512"/>
                  <a:gd name="T6" fmla="*/ 520 w 520"/>
                  <a:gd name="T7" fmla="*/ 496 h 512"/>
                </a:gdLst>
                <a:ahLst/>
                <a:cxnLst>
                  <a:cxn ang="0">
                    <a:pos x="T0" y="T1"/>
                  </a:cxn>
                  <a:cxn ang="0">
                    <a:pos x="T2" y="T3"/>
                  </a:cxn>
                  <a:cxn ang="0">
                    <a:pos x="T4" y="T5"/>
                  </a:cxn>
                  <a:cxn ang="0">
                    <a:pos x="T6" y="T7"/>
                  </a:cxn>
                </a:cxnLst>
                <a:rect l="0" t="0" r="r" b="b"/>
                <a:pathLst>
                  <a:path w="520" h="512">
                    <a:moveTo>
                      <a:pt x="40" y="0"/>
                    </a:moveTo>
                    <a:cubicBezTo>
                      <a:pt x="20" y="158"/>
                      <a:pt x="0" y="317"/>
                      <a:pt x="56" y="400"/>
                    </a:cubicBezTo>
                    <a:cubicBezTo>
                      <a:pt x="112" y="483"/>
                      <a:pt x="299" y="480"/>
                      <a:pt x="376" y="496"/>
                    </a:cubicBezTo>
                    <a:cubicBezTo>
                      <a:pt x="453" y="512"/>
                      <a:pt x="500" y="495"/>
                      <a:pt x="520" y="496"/>
                    </a:cubicBezTo>
                  </a:path>
                </a:pathLst>
              </a:custGeom>
              <a:noFill/>
              <a:ln w="57150" cmpd="sng">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31" name="Freeform 27"/>
              <p:cNvSpPr>
                <a:spLocks/>
              </p:cNvSpPr>
              <p:nvPr/>
            </p:nvSpPr>
            <p:spPr bwMode="auto">
              <a:xfrm flipH="1">
                <a:off x="4000" y="1480"/>
                <a:ext cx="520" cy="512"/>
              </a:xfrm>
              <a:custGeom>
                <a:avLst/>
                <a:gdLst>
                  <a:gd name="T0" fmla="*/ 40 w 520"/>
                  <a:gd name="T1" fmla="*/ 0 h 512"/>
                  <a:gd name="T2" fmla="*/ 56 w 520"/>
                  <a:gd name="T3" fmla="*/ 400 h 512"/>
                  <a:gd name="T4" fmla="*/ 376 w 520"/>
                  <a:gd name="T5" fmla="*/ 496 h 512"/>
                  <a:gd name="T6" fmla="*/ 520 w 520"/>
                  <a:gd name="T7" fmla="*/ 496 h 512"/>
                </a:gdLst>
                <a:ahLst/>
                <a:cxnLst>
                  <a:cxn ang="0">
                    <a:pos x="T0" y="T1"/>
                  </a:cxn>
                  <a:cxn ang="0">
                    <a:pos x="T2" y="T3"/>
                  </a:cxn>
                  <a:cxn ang="0">
                    <a:pos x="T4" y="T5"/>
                  </a:cxn>
                  <a:cxn ang="0">
                    <a:pos x="T6" y="T7"/>
                  </a:cxn>
                </a:cxnLst>
                <a:rect l="0" t="0" r="r" b="b"/>
                <a:pathLst>
                  <a:path w="520" h="512">
                    <a:moveTo>
                      <a:pt x="40" y="0"/>
                    </a:moveTo>
                    <a:cubicBezTo>
                      <a:pt x="20" y="158"/>
                      <a:pt x="0" y="317"/>
                      <a:pt x="56" y="400"/>
                    </a:cubicBezTo>
                    <a:cubicBezTo>
                      <a:pt x="112" y="483"/>
                      <a:pt x="299" y="480"/>
                      <a:pt x="376" y="496"/>
                    </a:cubicBezTo>
                    <a:cubicBezTo>
                      <a:pt x="453" y="512"/>
                      <a:pt x="500" y="495"/>
                      <a:pt x="520" y="496"/>
                    </a:cubicBezTo>
                  </a:path>
                </a:pathLst>
              </a:custGeom>
              <a:noFill/>
              <a:ln w="57150" cmpd="sng">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33" name="Line 29"/>
              <p:cNvSpPr>
                <a:spLocks noChangeShapeType="1"/>
              </p:cNvSpPr>
              <p:nvPr/>
            </p:nvSpPr>
            <p:spPr bwMode="auto">
              <a:xfrm>
                <a:off x="2056" y="1928"/>
                <a:ext cx="1976" cy="48"/>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44" name="Text Box 40"/>
              <p:cNvSpPr txBox="1">
                <a:spLocks noChangeArrowheads="1"/>
              </p:cNvSpPr>
              <p:nvPr/>
            </p:nvSpPr>
            <p:spPr bwMode="auto">
              <a:xfrm>
                <a:off x="2484" y="1974"/>
                <a:ext cx="976"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(N)-connection</a:t>
                </a:r>
              </a:p>
            </p:txBody>
          </p:sp>
        </p:grpSp>
        <p:sp>
          <p:nvSpPr>
            <p:cNvPr id="149511" name="Line 7"/>
            <p:cNvSpPr>
              <a:spLocks noChangeShapeType="1"/>
            </p:cNvSpPr>
            <p:nvPr/>
          </p:nvSpPr>
          <p:spPr bwMode="auto">
            <a:xfrm>
              <a:off x="8648700" y="1828801"/>
              <a:ext cx="0" cy="3810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12" name="Line 8"/>
            <p:cNvSpPr>
              <a:spLocks noChangeShapeType="1"/>
            </p:cNvSpPr>
            <p:nvPr/>
          </p:nvSpPr>
          <p:spPr bwMode="auto">
            <a:xfrm>
              <a:off x="4051300" y="1828801"/>
              <a:ext cx="0" cy="3810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13" name="Line 9"/>
            <p:cNvSpPr>
              <a:spLocks noChangeShapeType="1"/>
            </p:cNvSpPr>
            <p:nvPr/>
          </p:nvSpPr>
          <p:spPr bwMode="auto">
            <a:xfrm flipV="1">
              <a:off x="3009900" y="2247901"/>
              <a:ext cx="6172200"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14" name="Oval 10"/>
            <p:cNvSpPr>
              <a:spLocks noChangeArrowheads="1"/>
            </p:cNvSpPr>
            <p:nvPr/>
          </p:nvSpPr>
          <p:spPr bwMode="auto">
            <a:xfrm>
              <a:off x="3708400" y="1143001"/>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15" name="Oval 11"/>
            <p:cNvSpPr>
              <a:spLocks noChangeArrowheads="1"/>
            </p:cNvSpPr>
            <p:nvPr/>
          </p:nvSpPr>
          <p:spPr bwMode="auto">
            <a:xfrm>
              <a:off x="8305800" y="1143001"/>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16" name="Oval 12"/>
            <p:cNvSpPr>
              <a:spLocks noChangeArrowheads="1"/>
            </p:cNvSpPr>
            <p:nvPr/>
          </p:nvSpPr>
          <p:spPr bwMode="auto">
            <a:xfrm>
              <a:off x="3670300" y="2133601"/>
              <a:ext cx="762000" cy="228600"/>
            </a:xfrm>
            <a:prstGeom prst="ellipse">
              <a:avLst/>
            </a:prstGeom>
            <a:solidFill>
              <a:srgbClr val="99CCCC"/>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17" name="Oval 13"/>
            <p:cNvSpPr>
              <a:spLocks noChangeArrowheads="1"/>
            </p:cNvSpPr>
            <p:nvPr/>
          </p:nvSpPr>
          <p:spPr bwMode="auto">
            <a:xfrm>
              <a:off x="8267700" y="2133601"/>
              <a:ext cx="762000" cy="228600"/>
            </a:xfrm>
            <a:prstGeom prst="ellipse">
              <a:avLst/>
            </a:prstGeom>
            <a:solidFill>
              <a:srgbClr val="99CCCC"/>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24" name="Oval 20"/>
            <p:cNvSpPr>
              <a:spLocks noChangeArrowheads="1"/>
            </p:cNvSpPr>
            <p:nvPr/>
          </p:nvSpPr>
          <p:spPr bwMode="auto">
            <a:xfrm>
              <a:off x="3708400" y="2654301"/>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25" name="Oval 21"/>
            <p:cNvSpPr>
              <a:spLocks noChangeArrowheads="1"/>
            </p:cNvSpPr>
            <p:nvPr/>
          </p:nvSpPr>
          <p:spPr bwMode="auto">
            <a:xfrm>
              <a:off x="8305800" y="2616201"/>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26" name="Line 22"/>
            <p:cNvSpPr>
              <a:spLocks noChangeShapeType="1"/>
            </p:cNvSpPr>
            <p:nvPr/>
          </p:nvSpPr>
          <p:spPr bwMode="auto">
            <a:xfrm>
              <a:off x="4051300" y="2273301"/>
              <a:ext cx="0" cy="3810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27" name="Line 23"/>
            <p:cNvSpPr>
              <a:spLocks noChangeShapeType="1"/>
            </p:cNvSpPr>
            <p:nvPr/>
          </p:nvSpPr>
          <p:spPr bwMode="auto">
            <a:xfrm>
              <a:off x="8648700" y="2260601"/>
              <a:ext cx="0" cy="3810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34" name="Text Box 30"/>
            <p:cNvSpPr txBox="1">
              <a:spLocks noChangeArrowheads="1"/>
            </p:cNvSpPr>
            <p:nvPr/>
          </p:nvSpPr>
          <p:spPr bwMode="auto">
            <a:xfrm>
              <a:off x="5734050" y="1038226"/>
              <a:ext cx="1192213"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(N+1)-entities</a:t>
              </a:r>
            </a:p>
          </p:txBody>
        </p:sp>
        <p:sp>
          <p:nvSpPr>
            <p:cNvPr id="149535" name="Text Box 31"/>
            <p:cNvSpPr txBox="1">
              <a:spLocks noChangeArrowheads="1"/>
            </p:cNvSpPr>
            <p:nvPr/>
          </p:nvSpPr>
          <p:spPr bwMode="auto">
            <a:xfrm>
              <a:off x="5880100" y="2384426"/>
              <a:ext cx="10033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(N)-entities</a:t>
              </a:r>
            </a:p>
          </p:txBody>
        </p:sp>
        <p:sp>
          <p:nvSpPr>
            <p:cNvPr id="149536" name="Text Box 32"/>
            <p:cNvSpPr txBox="1">
              <a:spLocks noChangeArrowheads="1"/>
            </p:cNvSpPr>
            <p:nvPr/>
          </p:nvSpPr>
          <p:spPr bwMode="auto">
            <a:xfrm>
              <a:off x="5832475" y="1660526"/>
              <a:ext cx="102393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(N)-address</a:t>
              </a:r>
            </a:p>
          </p:txBody>
        </p:sp>
        <p:sp>
          <p:nvSpPr>
            <p:cNvPr id="149537" name="Line 33"/>
            <p:cNvSpPr>
              <a:spLocks noChangeShapeType="1"/>
            </p:cNvSpPr>
            <p:nvPr/>
          </p:nvSpPr>
          <p:spPr bwMode="auto">
            <a:xfrm>
              <a:off x="3009900" y="3568701"/>
              <a:ext cx="6299200" cy="127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38" name="Line 34"/>
            <p:cNvSpPr>
              <a:spLocks noChangeShapeType="1"/>
            </p:cNvSpPr>
            <p:nvPr/>
          </p:nvSpPr>
          <p:spPr bwMode="auto">
            <a:xfrm flipH="1">
              <a:off x="4368800" y="1219201"/>
              <a:ext cx="1435100" cy="3429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39" name="Line 35"/>
            <p:cNvSpPr>
              <a:spLocks noChangeShapeType="1"/>
            </p:cNvSpPr>
            <p:nvPr/>
          </p:nvSpPr>
          <p:spPr bwMode="auto">
            <a:xfrm>
              <a:off x="6934200" y="1219201"/>
              <a:ext cx="1346200" cy="2921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40" name="Line 36"/>
            <p:cNvSpPr>
              <a:spLocks noChangeShapeType="1"/>
            </p:cNvSpPr>
            <p:nvPr/>
          </p:nvSpPr>
          <p:spPr bwMode="auto">
            <a:xfrm flipH="1">
              <a:off x="4330700" y="1803401"/>
              <a:ext cx="1536700" cy="3302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41" name="Line 37"/>
            <p:cNvSpPr>
              <a:spLocks noChangeShapeType="1"/>
            </p:cNvSpPr>
            <p:nvPr/>
          </p:nvSpPr>
          <p:spPr bwMode="auto">
            <a:xfrm>
              <a:off x="6769100" y="1841501"/>
              <a:ext cx="1536700" cy="3429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42" name="Line 38"/>
            <p:cNvSpPr>
              <a:spLocks noChangeShapeType="1"/>
            </p:cNvSpPr>
            <p:nvPr/>
          </p:nvSpPr>
          <p:spPr bwMode="auto">
            <a:xfrm flipH="1">
              <a:off x="4343400" y="2527301"/>
              <a:ext cx="1536700" cy="3302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43" name="Line 39"/>
            <p:cNvSpPr>
              <a:spLocks noChangeShapeType="1"/>
            </p:cNvSpPr>
            <p:nvPr/>
          </p:nvSpPr>
          <p:spPr bwMode="auto">
            <a:xfrm>
              <a:off x="6781800" y="2527301"/>
              <a:ext cx="1536700" cy="3429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47" name="Text Box 43"/>
            <p:cNvSpPr txBox="1">
              <a:spLocks noChangeArrowheads="1"/>
            </p:cNvSpPr>
            <p:nvPr/>
          </p:nvSpPr>
          <p:spPr bwMode="auto">
            <a:xfrm>
              <a:off x="3897312" y="1937436"/>
              <a:ext cx="341313"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fontAlgn="base">
                <a:spcBef>
                  <a:spcPct val="0"/>
                </a:spcBef>
                <a:spcAft>
                  <a:spcPct val="0"/>
                </a:spcAft>
                <a:defRPr/>
              </a:pPr>
              <a:r>
                <a:rPr lang="en-US" sz="3600" dirty="0">
                  <a:solidFill>
                    <a:srgbClr val="000000"/>
                  </a:solidFill>
                  <a:latin typeface="Times" charset="0"/>
                  <a:ea typeface="ＭＳ Ｐゴシック" charset="0"/>
                  <a:cs typeface="ＭＳ Ｐゴシック" charset="0"/>
                </a:rPr>
                <a:t>•</a:t>
              </a:r>
            </a:p>
          </p:txBody>
        </p:sp>
        <p:sp>
          <p:nvSpPr>
            <p:cNvPr id="149548" name="Text Box 44"/>
            <p:cNvSpPr txBox="1">
              <a:spLocks noChangeArrowheads="1"/>
            </p:cNvSpPr>
            <p:nvPr/>
          </p:nvSpPr>
          <p:spPr bwMode="auto">
            <a:xfrm>
              <a:off x="8464550" y="1954213"/>
              <a:ext cx="344488"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3600">
                  <a:solidFill>
                    <a:srgbClr val="000000"/>
                  </a:solidFill>
                  <a:latin typeface="Times" charset="0"/>
                  <a:ea typeface="ＭＳ Ｐゴシック" charset="0"/>
                  <a:cs typeface="ＭＳ Ｐゴシック" charset="0"/>
                </a:rPr>
                <a:t>•</a:t>
              </a:r>
            </a:p>
          </p:txBody>
        </p:sp>
        <p:sp>
          <p:nvSpPr>
            <p:cNvPr id="149549" name="Line 45"/>
            <p:cNvSpPr>
              <a:spLocks noChangeShapeType="1"/>
            </p:cNvSpPr>
            <p:nvPr/>
          </p:nvSpPr>
          <p:spPr bwMode="auto">
            <a:xfrm flipH="1" flipV="1">
              <a:off x="3022600" y="1841500"/>
              <a:ext cx="977900" cy="317500"/>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49550" name="Text Box 46"/>
            <p:cNvSpPr txBox="1">
              <a:spLocks noChangeArrowheads="1"/>
            </p:cNvSpPr>
            <p:nvPr/>
          </p:nvSpPr>
          <p:spPr bwMode="auto">
            <a:xfrm>
              <a:off x="2095711" y="1470025"/>
              <a:ext cx="1072730" cy="7386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Connection-</a:t>
              </a:r>
            </a:p>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Endpoint</a:t>
              </a:r>
            </a:p>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(port-id)</a:t>
              </a:r>
            </a:p>
          </p:txBody>
        </p:sp>
      </p:grpSp>
      <p:sp>
        <p:nvSpPr>
          <p:cNvPr id="149551" name="Text Box 47"/>
          <p:cNvSpPr txBox="1">
            <a:spLocks noChangeArrowheads="1"/>
          </p:cNvSpPr>
          <p:nvPr/>
        </p:nvSpPr>
        <p:spPr bwMode="auto">
          <a:xfrm>
            <a:off x="7785100" y="6435726"/>
            <a:ext cx="2578100" cy="246221"/>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5892530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950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950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950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950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9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838200" y="-97682"/>
            <a:ext cx="10515600" cy="1325563"/>
          </a:xfrm>
        </p:spPr>
        <p:txBody>
          <a:bodyPr/>
          <a:lstStyle/>
          <a:p>
            <a:pPr eaLnBrk="1" hangingPunct="1">
              <a:defRPr/>
            </a:pPr>
            <a:r>
              <a:rPr lang="en-US" dirty="0">
                <a:solidFill>
                  <a:srgbClr val="000000"/>
                </a:solidFill>
                <a:cs typeface="+mj-cs"/>
              </a:rPr>
              <a:t>Port Allocation and Synchronization</a:t>
            </a:r>
          </a:p>
        </p:txBody>
      </p:sp>
      <p:sp>
        <p:nvSpPr>
          <p:cNvPr id="191491" name="Rectangle 3"/>
          <p:cNvSpPr>
            <a:spLocks noGrp="1" noChangeArrowheads="1"/>
          </p:cNvSpPr>
          <p:nvPr>
            <p:ph type="body" idx="1"/>
          </p:nvPr>
        </p:nvSpPr>
        <p:spPr>
          <a:xfrm>
            <a:off x="1816100" y="4181573"/>
            <a:ext cx="8559800" cy="2247900"/>
          </a:xfrm>
        </p:spPr>
        <p:txBody>
          <a:bodyPr>
            <a:normAutofit fontScale="92500" lnSpcReduction="10000"/>
          </a:bodyPr>
          <a:lstStyle/>
          <a:p>
            <a:pPr marL="685800" indent="-317500">
              <a:defRPr/>
            </a:pPr>
            <a:r>
              <a:rPr lang="en-US" sz="1800" dirty="0">
                <a:cs typeface="+mn-cs"/>
              </a:rPr>
              <a:t>Port Allocation is a Management Exchange to Allocate Ports at Each End.</a:t>
            </a:r>
          </a:p>
          <a:p>
            <a:pPr marL="685800" indent="-317500">
              <a:defRPr/>
            </a:pPr>
            <a:r>
              <a:rPr lang="en-US" sz="1800" dirty="0">
                <a:cs typeface="+mn-cs"/>
              </a:rPr>
              <a:t>Since Synchronization is based only on bounding 3 timers, once ports are allocated simply start sending. </a:t>
            </a:r>
          </a:p>
          <a:p>
            <a:pPr marL="1092200" lvl="1" indent="-292100">
              <a:defRPr/>
            </a:pPr>
            <a:r>
              <a:rPr lang="en-US" sz="1600" dirty="0"/>
              <a:t>The first PDU in the each new sequence sets a flag that delta-t calls the Data Run Flag.</a:t>
            </a:r>
          </a:p>
          <a:p>
            <a:pPr marL="685800" indent="-317500">
              <a:defRPr/>
            </a:pPr>
            <a:r>
              <a:rPr lang="en-US" sz="1800" dirty="0">
                <a:cs typeface="+mn-cs"/>
              </a:rPr>
              <a:t>If no traffic for 2</a:t>
            </a:r>
            <a:r>
              <a:rPr lang="en-US" sz="1800" dirty="0">
                <a:sym typeface="Symbol" charset="0"/>
              </a:rPr>
              <a:t></a:t>
            </a:r>
            <a:r>
              <a:rPr lang="en-US" sz="1800" dirty="0"/>
              <a:t>t</a:t>
            </a:r>
            <a:r>
              <a:rPr lang="en-US" sz="1800" dirty="0">
                <a:cs typeface="+mn-cs"/>
              </a:rPr>
              <a:t> or 3</a:t>
            </a:r>
            <a:r>
              <a:rPr lang="en-US" sz="1800" dirty="0">
                <a:cs typeface="+mn-cs"/>
                <a:sym typeface="Symbol" charset="0"/>
              </a:rPr>
              <a:t></a:t>
            </a:r>
            <a:r>
              <a:rPr lang="en-US" sz="1800" dirty="0">
                <a:cs typeface="+mn-cs"/>
              </a:rPr>
              <a:t>t then discard the state.</a:t>
            </a:r>
          </a:p>
          <a:p>
            <a:pPr marL="1092200" lvl="1" indent="-292100">
              <a:defRPr/>
            </a:pPr>
            <a:r>
              <a:rPr lang="en-US" sz="1600" dirty="0"/>
              <a:t>The ports remain allocated even though there is no synchronization state in place.</a:t>
            </a:r>
          </a:p>
          <a:p>
            <a:pPr marL="685800" indent="-317500">
              <a:defRPr/>
            </a:pPr>
            <a:r>
              <a:rPr lang="en-US" sz="1800" dirty="0">
                <a:cs typeface="+mn-cs"/>
              </a:rPr>
              <a:t>When all is completed, a management operation deletes the ports.</a:t>
            </a:r>
          </a:p>
          <a:p>
            <a:pPr marL="1092200" lvl="1" indent="-292100">
              <a:defRPr/>
            </a:pPr>
            <a:r>
              <a:rPr lang="en-US" sz="1600" dirty="0"/>
              <a:t>Synchronization state will disappear naturally after 2</a:t>
            </a:r>
            <a:r>
              <a:rPr lang="en-US" sz="1600" dirty="0">
                <a:sym typeface="Symbol" charset="0"/>
              </a:rPr>
              <a:t></a:t>
            </a:r>
            <a:r>
              <a:rPr lang="en-US" sz="1600" dirty="0"/>
              <a:t>t or 3</a:t>
            </a:r>
            <a:r>
              <a:rPr lang="en-US" sz="1600" dirty="0">
                <a:sym typeface="Symbol" charset="0"/>
              </a:rPr>
              <a:t></a:t>
            </a:r>
            <a:r>
              <a:rPr lang="en-US" sz="1600" dirty="0"/>
              <a:t>t</a:t>
            </a:r>
          </a:p>
        </p:txBody>
      </p:sp>
      <p:grpSp>
        <p:nvGrpSpPr>
          <p:cNvPr id="191492" name="Group 4"/>
          <p:cNvGrpSpPr>
            <a:grpSpLocks/>
          </p:cNvGrpSpPr>
          <p:nvPr/>
        </p:nvGrpSpPr>
        <p:grpSpPr bwMode="auto">
          <a:xfrm>
            <a:off x="4076700" y="1816100"/>
            <a:ext cx="4635500" cy="1308100"/>
            <a:chOff x="1600" y="1144"/>
            <a:chExt cx="2928" cy="960"/>
          </a:xfrm>
        </p:grpSpPr>
        <p:sp>
          <p:nvSpPr>
            <p:cNvPr id="191493" name="Line 5"/>
            <p:cNvSpPr>
              <a:spLocks noChangeShapeType="1"/>
            </p:cNvSpPr>
            <p:nvPr/>
          </p:nvSpPr>
          <p:spPr bwMode="auto">
            <a:xfrm>
              <a:off x="1600" y="1144"/>
              <a:ext cx="0"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494" name="Line 6"/>
            <p:cNvSpPr>
              <a:spLocks noChangeShapeType="1"/>
            </p:cNvSpPr>
            <p:nvPr/>
          </p:nvSpPr>
          <p:spPr bwMode="auto">
            <a:xfrm>
              <a:off x="4496" y="1144"/>
              <a:ext cx="32"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191495" name="Group 7"/>
          <p:cNvGrpSpPr>
            <a:grpSpLocks/>
          </p:cNvGrpSpPr>
          <p:nvPr/>
        </p:nvGrpSpPr>
        <p:grpSpPr bwMode="auto">
          <a:xfrm>
            <a:off x="3962400" y="1698626"/>
            <a:ext cx="4813300" cy="1063625"/>
            <a:chOff x="1536" y="1070"/>
            <a:chExt cx="3032" cy="670"/>
          </a:xfrm>
        </p:grpSpPr>
        <p:grpSp>
          <p:nvGrpSpPr>
            <p:cNvPr id="97298" name="Group 8"/>
            <p:cNvGrpSpPr>
              <a:grpSpLocks/>
            </p:cNvGrpSpPr>
            <p:nvPr/>
          </p:nvGrpSpPr>
          <p:grpSpPr bwMode="auto">
            <a:xfrm>
              <a:off x="1536" y="1352"/>
              <a:ext cx="3032" cy="388"/>
              <a:chOff x="1536" y="1352"/>
              <a:chExt cx="3032" cy="388"/>
            </a:xfrm>
          </p:grpSpPr>
          <p:grpSp>
            <p:nvGrpSpPr>
              <p:cNvPr id="97302" name="Group 9"/>
              <p:cNvGrpSpPr>
                <a:grpSpLocks/>
              </p:cNvGrpSpPr>
              <p:nvPr/>
            </p:nvGrpSpPr>
            <p:grpSpPr bwMode="auto">
              <a:xfrm>
                <a:off x="1760" y="1470"/>
                <a:ext cx="2552" cy="270"/>
                <a:chOff x="1760" y="1470"/>
                <a:chExt cx="2552" cy="270"/>
              </a:xfrm>
            </p:grpSpPr>
            <p:sp>
              <p:nvSpPr>
                <p:cNvPr id="191498" name="Rectangle 10"/>
                <p:cNvSpPr>
                  <a:spLocks noChangeArrowheads="1"/>
                </p:cNvSpPr>
                <p:nvPr/>
              </p:nvSpPr>
              <p:spPr bwMode="auto">
                <a:xfrm>
                  <a:off x="1760"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499" name="Rectangle 11"/>
                <p:cNvSpPr>
                  <a:spLocks noChangeArrowheads="1"/>
                </p:cNvSpPr>
                <p:nvPr/>
              </p:nvSpPr>
              <p:spPr bwMode="auto">
                <a:xfrm>
                  <a:off x="3928"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00" name="Line 12"/>
                <p:cNvSpPr>
                  <a:spLocks noChangeShapeType="1"/>
                </p:cNvSpPr>
                <p:nvPr/>
              </p:nvSpPr>
              <p:spPr bwMode="auto">
                <a:xfrm>
                  <a:off x="2144" y="1640"/>
                  <a:ext cx="177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01" name="Text Box 13"/>
                <p:cNvSpPr txBox="1">
                  <a:spLocks noChangeArrowheads="1"/>
                </p:cNvSpPr>
                <p:nvPr/>
              </p:nvSpPr>
              <p:spPr bwMode="auto">
                <a:xfrm>
                  <a:off x="2679" y="1470"/>
                  <a:ext cx="80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 Allocation</a:t>
                  </a:r>
                </a:p>
              </p:txBody>
            </p:sp>
          </p:grpSp>
          <p:sp>
            <p:nvSpPr>
              <p:cNvPr id="191502" name="Oval 14"/>
              <p:cNvSpPr>
                <a:spLocks noChangeArrowheads="1"/>
              </p:cNvSpPr>
              <p:nvPr/>
            </p:nvSpPr>
            <p:spPr bwMode="auto">
              <a:xfrm>
                <a:off x="1536" y="1352"/>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03" name="Oval 15"/>
              <p:cNvSpPr>
                <a:spLocks noChangeArrowheads="1"/>
              </p:cNvSpPr>
              <p:nvPr/>
            </p:nvSpPr>
            <p:spPr bwMode="auto">
              <a:xfrm>
                <a:off x="4432" y="1352"/>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91504" name="Text Box 16"/>
            <p:cNvSpPr txBox="1">
              <a:spLocks noChangeArrowheads="1"/>
            </p:cNvSpPr>
            <p:nvPr/>
          </p:nvSpPr>
          <p:spPr bwMode="auto">
            <a:xfrm>
              <a:off x="2670" y="1070"/>
              <a:ext cx="427"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Port-id</a:t>
              </a:r>
            </a:p>
          </p:txBody>
        </p:sp>
        <p:sp>
          <p:nvSpPr>
            <p:cNvPr id="191505" name="Line 17"/>
            <p:cNvSpPr>
              <a:spLocks noChangeShapeType="1"/>
            </p:cNvSpPr>
            <p:nvPr/>
          </p:nvSpPr>
          <p:spPr bwMode="auto">
            <a:xfrm flipH="1">
              <a:off x="1680" y="1192"/>
              <a:ext cx="992" cy="17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06" name="Line 18"/>
            <p:cNvSpPr>
              <a:spLocks noChangeShapeType="1"/>
            </p:cNvSpPr>
            <p:nvPr/>
          </p:nvSpPr>
          <p:spPr bwMode="auto">
            <a:xfrm>
              <a:off x="3112" y="1168"/>
              <a:ext cx="1272" cy="21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5" name="Group 4">
            <a:extLst>
              <a:ext uri="{FF2B5EF4-FFF2-40B4-BE49-F238E27FC236}">
                <a16:creationId xmlns:a16="http://schemas.microsoft.com/office/drawing/2014/main" id="{60882CF6-C634-3901-F794-F6C91875CA6A}"/>
              </a:ext>
            </a:extLst>
          </p:cNvPr>
          <p:cNvGrpSpPr/>
          <p:nvPr/>
        </p:nvGrpSpPr>
        <p:grpSpPr>
          <a:xfrm>
            <a:off x="2946400" y="1143000"/>
            <a:ext cx="6299200" cy="2870200"/>
            <a:chOff x="2946400" y="1143000"/>
            <a:chExt cx="6299200" cy="2870200"/>
          </a:xfrm>
        </p:grpSpPr>
        <p:sp>
          <p:nvSpPr>
            <p:cNvPr id="191508" name="Line 20"/>
            <p:cNvSpPr>
              <a:spLocks noChangeShapeType="1"/>
            </p:cNvSpPr>
            <p:nvPr/>
          </p:nvSpPr>
          <p:spPr bwMode="auto">
            <a:xfrm flipV="1">
              <a:off x="3009900" y="2247900"/>
              <a:ext cx="6172200"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09" name="Oval 21"/>
            <p:cNvSpPr>
              <a:spLocks noChangeArrowheads="1"/>
            </p:cNvSpPr>
            <p:nvPr/>
          </p:nvSpPr>
          <p:spPr bwMode="auto">
            <a:xfrm>
              <a:off x="3708400" y="11430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10" name="Oval 22"/>
            <p:cNvSpPr>
              <a:spLocks noChangeArrowheads="1"/>
            </p:cNvSpPr>
            <p:nvPr/>
          </p:nvSpPr>
          <p:spPr bwMode="auto">
            <a:xfrm>
              <a:off x="8305800" y="11430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11" name="Line 23"/>
            <p:cNvSpPr>
              <a:spLocks noChangeShapeType="1"/>
            </p:cNvSpPr>
            <p:nvPr/>
          </p:nvSpPr>
          <p:spPr bwMode="auto">
            <a:xfrm>
              <a:off x="2946400" y="4000500"/>
              <a:ext cx="6299200" cy="127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12" name="Oval 24"/>
            <p:cNvSpPr>
              <a:spLocks noChangeArrowheads="1"/>
            </p:cNvSpPr>
            <p:nvPr/>
          </p:nvSpPr>
          <p:spPr bwMode="auto">
            <a:xfrm>
              <a:off x="3784600" y="31496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13" name="Oval 25"/>
            <p:cNvSpPr>
              <a:spLocks noChangeArrowheads="1"/>
            </p:cNvSpPr>
            <p:nvPr/>
          </p:nvSpPr>
          <p:spPr bwMode="auto">
            <a:xfrm>
              <a:off x="8394700" y="31496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191514" name="Group 26"/>
          <p:cNvGrpSpPr>
            <a:grpSpLocks/>
          </p:cNvGrpSpPr>
          <p:nvPr/>
        </p:nvGrpSpPr>
        <p:grpSpPr bwMode="auto">
          <a:xfrm>
            <a:off x="2497139" y="2657476"/>
            <a:ext cx="6062663" cy="860425"/>
            <a:chOff x="613" y="1674"/>
            <a:chExt cx="3819" cy="542"/>
          </a:xfrm>
        </p:grpSpPr>
        <p:sp>
          <p:nvSpPr>
            <p:cNvPr id="191515" name="Line 27"/>
            <p:cNvSpPr>
              <a:spLocks noChangeShapeType="1"/>
            </p:cNvSpPr>
            <p:nvPr/>
          </p:nvSpPr>
          <p:spPr bwMode="auto">
            <a:xfrm flipV="1">
              <a:off x="1776" y="2200"/>
              <a:ext cx="265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16" name="Text Box 28"/>
            <p:cNvSpPr txBox="1">
              <a:spLocks noChangeArrowheads="1"/>
            </p:cNvSpPr>
            <p:nvPr/>
          </p:nvSpPr>
          <p:spPr bwMode="auto">
            <a:xfrm>
              <a:off x="2650" y="1984"/>
              <a:ext cx="850"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Synchronization</a:t>
              </a:r>
            </a:p>
          </p:txBody>
        </p:sp>
        <p:sp>
          <p:nvSpPr>
            <p:cNvPr id="191517" name="Line 29"/>
            <p:cNvSpPr>
              <a:spLocks noChangeShapeType="1"/>
            </p:cNvSpPr>
            <p:nvPr/>
          </p:nvSpPr>
          <p:spPr bwMode="auto">
            <a:xfrm>
              <a:off x="1200" y="1896"/>
              <a:ext cx="544" cy="32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91518" name="Text Box 30"/>
            <p:cNvSpPr txBox="1">
              <a:spLocks noChangeArrowheads="1"/>
            </p:cNvSpPr>
            <p:nvPr/>
          </p:nvSpPr>
          <p:spPr bwMode="auto">
            <a:xfrm>
              <a:off x="613" y="1674"/>
              <a:ext cx="6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Connection</a:t>
              </a:r>
            </a:p>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Endpoint</a:t>
              </a:r>
            </a:p>
          </p:txBody>
        </p:sp>
      </p:grpSp>
      <p:sp>
        <p:nvSpPr>
          <p:cNvPr id="191519" name="Text Box 31"/>
          <p:cNvSpPr txBox="1">
            <a:spLocks noChangeArrowheads="1"/>
          </p:cNvSpPr>
          <p:nvPr/>
        </p:nvSpPr>
        <p:spPr bwMode="auto">
          <a:xfrm>
            <a:off x="7899400" y="6613526"/>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2" name="TextBox 1"/>
          <p:cNvSpPr txBox="1"/>
          <p:nvPr/>
        </p:nvSpPr>
        <p:spPr>
          <a:xfrm>
            <a:off x="6414294" y="985451"/>
            <a:ext cx="1879600" cy="276999"/>
          </a:xfrm>
          <a:prstGeom prst="rect">
            <a:avLst/>
          </a:prstGeom>
          <a:noFill/>
        </p:spPr>
        <p:txBody>
          <a:bodyPr wrap="square" rtlCol="0">
            <a:spAutoFit/>
          </a:bodyPr>
          <a:lstStyle/>
          <a:p>
            <a:r>
              <a:rPr lang="en-US" sz="1200" dirty="0"/>
              <a:t>To Distinguish the concepts</a:t>
            </a:r>
          </a:p>
        </p:txBody>
      </p:sp>
      <p:sp>
        <p:nvSpPr>
          <p:cNvPr id="3" name="Rectangle 2"/>
          <p:cNvSpPr/>
          <p:nvPr/>
        </p:nvSpPr>
        <p:spPr>
          <a:xfrm>
            <a:off x="6464300" y="1206232"/>
            <a:ext cx="1803400" cy="646331"/>
          </a:xfrm>
          <a:prstGeom prst="rect">
            <a:avLst/>
          </a:prstGeom>
        </p:spPr>
        <p:txBody>
          <a:bodyPr wrap="square">
            <a:spAutoFit/>
          </a:bodyPr>
          <a:lstStyle/>
          <a:p>
            <a:r>
              <a:rPr lang="en-US" sz="1200" dirty="0"/>
              <a:t>We refer to the relation </a:t>
            </a:r>
            <a:r>
              <a:rPr lang="en-US" sz="1200" dirty="0" err="1"/>
              <a:t>btwn</a:t>
            </a:r>
            <a:r>
              <a:rPr lang="en-US" sz="1200" dirty="0"/>
              <a:t> port-ids as seen above the layer as a </a:t>
            </a:r>
            <a:r>
              <a:rPr lang="en-US" sz="1200" b="1" i="1" dirty="0"/>
              <a:t>Flow </a:t>
            </a:r>
          </a:p>
        </p:txBody>
      </p:sp>
      <p:sp>
        <p:nvSpPr>
          <p:cNvPr id="4" name="TextBox 3"/>
          <p:cNvSpPr txBox="1"/>
          <p:nvPr/>
        </p:nvSpPr>
        <p:spPr>
          <a:xfrm>
            <a:off x="8775699" y="2419353"/>
            <a:ext cx="2009916" cy="646331"/>
          </a:xfrm>
          <a:prstGeom prst="rect">
            <a:avLst/>
          </a:prstGeom>
          <a:noFill/>
        </p:spPr>
        <p:txBody>
          <a:bodyPr wrap="square" rtlCol="0">
            <a:spAutoFit/>
          </a:bodyPr>
          <a:lstStyle/>
          <a:p>
            <a:r>
              <a:rPr lang="en-US" sz="1200" dirty="0"/>
              <a:t>And the relation between the Protocol Machines as a </a:t>
            </a:r>
            <a:r>
              <a:rPr lang="en-US" sz="1200" b="1" i="1" dirty="0"/>
              <a:t>Connection</a:t>
            </a:r>
            <a:r>
              <a:rPr lang="en-US" sz="1200" dirty="0"/>
              <a:t>, with feedback.</a:t>
            </a:r>
          </a:p>
        </p:txBody>
      </p:sp>
    </p:spTree>
    <p:extLst>
      <p:ext uri="{BB962C8B-B14F-4D97-AF65-F5344CB8AC3E}">
        <p14:creationId xmlns:p14="http://schemas.microsoft.com/office/powerpoint/2010/main" val="3783374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1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149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149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149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149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1491">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9149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9151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9149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P spid="2" grpId="0"/>
      <p:bldP spid="3"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1026"/>
          <p:cNvSpPr>
            <a:spLocks noGrp="1" noChangeArrowheads="1"/>
          </p:cNvSpPr>
          <p:nvPr>
            <p:ph type="title"/>
          </p:nvPr>
        </p:nvSpPr>
        <p:spPr>
          <a:xfrm>
            <a:off x="838200" y="-53973"/>
            <a:ext cx="10515600" cy="1325563"/>
          </a:xfrm>
        </p:spPr>
        <p:txBody>
          <a:bodyPr/>
          <a:lstStyle/>
          <a:p>
            <a:pPr eaLnBrk="1" hangingPunct="1">
              <a:defRPr/>
            </a:pPr>
            <a:r>
              <a:rPr lang="en-US" dirty="0">
                <a:solidFill>
                  <a:srgbClr val="000000"/>
                </a:solidFill>
                <a:cs typeface="+mj-cs"/>
              </a:rPr>
              <a:t>The Theorem Says Separate the Two</a:t>
            </a:r>
          </a:p>
        </p:txBody>
      </p:sp>
      <p:sp>
        <p:nvSpPr>
          <p:cNvPr id="150531" name="Rectangle 1027"/>
          <p:cNvSpPr>
            <a:spLocks noGrp="1" noChangeArrowheads="1"/>
          </p:cNvSpPr>
          <p:nvPr>
            <p:ph type="body" idx="1"/>
          </p:nvPr>
        </p:nvSpPr>
        <p:spPr>
          <a:xfrm>
            <a:off x="1816100" y="4089400"/>
            <a:ext cx="8559800" cy="2247900"/>
          </a:xfrm>
        </p:spPr>
        <p:txBody>
          <a:bodyPr>
            <a:normAutofit lnSpcReduction="10000"/>
          </a:bodyPr>
          <a:lstStyle/>
          <a:p>
            <a:pPr eaLnBrk="1" hangingPunct="1">
              <a:defRPr/>
            </a:pPr>
            <a:r>
              <a:rPr lang="en-US" sz="1800" dirty="0">
                <a:cs typeface="+mn-cs"/>
              </a:rPr>
              <a:t>Instead Theorem implies a different sequence</a:t>
            </a:r>
            <a:r>
              <a:rPr lang="en-US" sz="1600" dirty="0">
                <a:cs typeface="+mn-cs"/>
              </a:rPr>
              <a:t>:</a:t>
            </a:r>
          </a:p>
          <a:p>
            <a:pPr lvl="1" eaLnBrk="1" hangingPunct="1">
              <a:defRPr/>
            </a:pPr>
            <a:r>
              <a:rPr lang="en-US" sz="1600" dirty="0"/>
              <a:t>Ports are allocated</a:t>
            </a:r>
          </a:p>
          <a:p>
            <a:pPr lvl="1" eaLnBrk="1" hangingPunct="1">
              <a:defRPr/>
            </a:pPr>
            <a:r>
              <a:rPr lang="en-US" sz="1600" dirty="0"/>
              <a:t>Then protocol machines create synchronization (shared state)</a:t>
            </a:r>
          </a:p>
          <a:p>
            <a:pPr lvl="1" eaLnBrk="1" hangingPunct="1">
              <a:defRPr/>
            </a:pPr>
            <a:r>
              <a:rPr lang="en-US" sz="1600" dirty="0"/>
              <a:t>And connection-end points are bound to the port-ids.</a:t>
            </a:r>
          </a:p>
          <a:p>
            <a:pPr eaLnBrk="1" hangingPunct="1">
              <a:defRPr/>
            </a:pPr>
            <a:r>
              <a:rPr lang="en-US" sz="1800" dirty="0">
                <a:cs typeface="+mn-cs"/>
              </a:rPr>
              <a:t>Not conflating the two has significant implications</a:t>
            </a:r>
            <a:r>
              <a:rPr lang="en-US" sz="1600" dirty="0">
                <a:cs typeface="+mn-cs"/>
              </a:rPr>
              <a:t>.</a:t>
            </a:r>
          </a:p>
          <a:p>
            <a:pPr lvl="1" eaLnBrk="1" hangingPunct="1">
              <a:defRPr/>
            </a:pPr>
            <a:r>
              <a:rPr lang="en-US" sz="1600" dirty="0"/>
              <a:t>No traffic for 2</a:t>
            </a:r>
            <a:r>
              <a:rPr lang="en-US" sz="1600" dirty="0">
                <a:sym typeface="Symbol" charset="0"/>
              </a:rPr>
              <a:t></a:t>
            </a:r>
            <a:r>
              <a:rPr lang="en-US" sz="1600" dirty="0"/>
              <a:t>t or 3</a:t>
            </a:r>
            <a:r>
              <a:rPr lang="en-US" sz="1600" dirty="0">
                <a:sym typeface="Symbol" charset="0"/>
              </a:rPr>
              <a:t></a:t>
            </a:r>
            <a:r>
              <a:rPr lang="en-US" sz="1600" dirty="0"/>
              <a:t>t, connection disappears, but ports remain allocated</a:t>
            </a:r>
          </a:p>
          <a:p>
            <a:pPr lvl="1" eaLnBrk="1" hangingPunct="1">
              <a:defRPr/>
            </a:pPr>
            <a:r>
              <a:rPr lang="en-US" sz="1600" dirty="0"/>
              <a:t>Bindings are local; many security attacks found in TCP no longer work</a:t>
            </a:r>
          </a:p>
          <a:p>
            <a:pPr lvl="1" eaLnBrk="1" hangingPunct="1">
              <a:defRPr/>
            </a:pPr>
            <a:r>
              <a:rPr lang="en-US" sz="1600" dirty="0"/>
              <a:t>Multiple </a:t>
            </a:r>
            <a:r>
              <a:rPr lang="en-US" sz="1600" i="1" dirty="0"/>
              <a:t>connections</a:t>
            </a:r>
            <a:r>
              <a:rPr lang="en-US" sz="1600" dirty="0"/>
              <a:t> can be bound to the same ports; providing security is simpler.</a:t>
            </a:r>
          </a:p>
        </p:txBody>
      </p:sp>
      <p:grpSp>
        <p:nvGrpSpPr>
          <p:cNvPr id="2" name="Group 1">
            <a:extLst>
              <a:ext uri="{FF2B5EF4-FFF2-40B4-BE49-F238E27FC236}">
                <a16:creationId xmlns:a16="http://schemas.microsoft.com/office/drawing/2014/main" id="{44B2D4E8-BA5E-EEE6-17A5-00196845345F}"/>
              </a:ext>
            </a:extLst>
          </p:cNvPr>
          <p:cNvGrpSpPr/>
          <p:nvPr/>
        </p:nvGrpSpPr>
        <p:grpSpPr>
          <a:xfrm>
            <a:off x="2497139" y="1133573"/>
            <a:ext cx="6748461" cy="2870200"/>
            <a:chOff x="2497139" y="1143000"/>
            <a:chExt cx="6748461" cy="2870200"/>
          </a:xfrm>
        </p:grpSpPr>
        <p:grpSp>
          <p:nvGrpSpPr>
            <p:cNvPr id="150557" name="Group 1053"/>
            <p:cNvGrpSpPr>
              <a:grpSpLocks/>
            </p:cNvGrpSpPr>
            <p:nvPr/>
          </p:nvGrpSpPr>
          <p:grpSpPr bwMode="auto">
            <a:xfrm>
              <a:off x="4076700" y="1816100"/>
              <a:ext cx="4635500" cy="1308100"/>
              <a:chOff x="1600" y="1144"/>
              <a:chExt cx="2928" cy="960"/>
            </a:xfrm>
          </p:grpSpPr>
          <p:sp>
            <p:nvSpPr>
              <p:cNvPr id="150547" name="Line 1043"/>
              <p:cNvSpPr>
                <a:spLocks noChangeShapeType="1"/>
              </p:cNvSpPr>
              <p:nvPr/>
            </p:nvSpPr>
            <p:spPr bwMode="auto">
              <a:xfrm>
                <a:off x="1600" y="1144"/>
                <a:ext cx="0"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8" name="Line 1044"/>
              <p:cNvSpPr>
                <a:spLocks noChangeShapeType="1"/>
              </p:cNvSpPr>
              <p:nvPr/>
            </p:nvSpPr>
            <p:spPr bwMode="auto">
              <a:xfrm>
                <a:off x="4496" y="1144"/>
                <a:ext cx="32"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150568" name="Group 1064"/>
            <p:cNvGrpSpPr>
              <a:grpSpLocks/>
            </p:cNvGrpSpPr>
            <p:nvPr/>
          </p:nvGrpSpPr>
          <p:grpSpPr bwMode="auto">
            <a:xfrm>
              <a:off x="3962400" y="1698626"/>
              <a:ext cx="4813300" cy="1063625"/>
              <a:chOff x="1536" y="1070"/>
              <a:chExt cx="3032" cy="670"/>
            </a:xfrm>
          </p:grpSpPr>
          <p:grpSp>
            <p:nvGrpSpPr>
              <p:cNvPr id="95250" name="Group 1060"/>
              <p:cNvGrpSpPr>
                <a:grpSpLocks/>
              </p:cNvGrpSpPr>
              <p:nvPr/>
            </p:nvGrpSpPr>
            <p:grpSpPr bwMode="auto">
              <a:xfrm>
                <a:off x="1536" y="1352"/>
                <a:ext cx="3032" cy="388"/>
                <a:chOff x="1536" y="1352"/>
                <a:chExt cx="3032" cy="388"/>
              </a:xfrm>
            </p:grpSpPr>
            <p:grpSp>
              <p:nvGrpSpPr>
                <p:cNvPr id="95254" name="Group 1056"/>
                <p:cNvGrpSpPr>
                  <a:grpSpLocks/>
                </p:cNvGrpSpPr>
                <p:nvPr/>
              </p:nvGrpSpPr>
              <p:grpSpPr bwMode="auto">
                <a:xfrm>
                  <a:off x="1760" y="1470"/>
                  <a:ext cx="2552" cy="270"/>
                  <a:chOff x="1760" y="1470"/>
                  <a:chExt cx="2552" cy="270"/>
                </a:xfrm>
              </p:grpSpPr>
              <p:sp>
                <p:nvSpPr>
                  <p:cNvPr id="150554" name="Rectangle 1050"/>
                  <p:cNvSpPr>
                    <a:spLocks noChangeArrowheads="1"/>
                  </p:cNvSpPr>
                  <p:nvPr/>
                </p:nvSpPr>
                <p:spPr bwMode="auto">
                  <a:xfrm>
                    <a:off x="1760"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5" name="Rectangle 1051"/>
                  <p:cNvSpPr>
                    <a:spLocks noChangeArrowheads="1"/>
                  </p:cNvSpPr>
                  <p:nvPr/>
                </p:nvSpPr>
                <p:spPr bwMode="auto">
                  <a:xfrm>
                    <a:off x="3928"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6" name="Line 1052"/>
                  <p:cNvSpPr>
                    <a:spLocks noChangeShapeType="1"/>
                  </p:cNvSpPr>
                  <p:nvPr/>
                </p:nvSpPr>
                <p:spPr bwMode="auto">
                  <a:xfrm>
                    <a:off x="2144" y="1640"/>
                    <a:ext cx="177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8" name="Text Box 1054"/>
                  <p:cNvSpPr txBox="1">
                    <a:spLocks noChangeArrowheads="1"/>
                  </p:cNvSpPr>
                  <p:nvPr/>
                </p:nvSpPr>
                <p:spPr bwMode="auto">
                  <a:xfrm>
                    <a:off x="2679" y="1470"/>
                    <a:ext cx="80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 Allocation</a:t>
                    </a:r>
                  </a:p>
                </p:txBody>
              </p:sp>
            </p:grpSp>
            <p:sp>
              <p:nvSpPr>
                <p:cNvPr id="150562" name="Oval 1058"/>
                <p:cNvSpPr>
                  <a:spLocks noChangeArrowheads="1"/>
                </p:cNvSpPr>
                <p:nvPr/>
              </p:nvSpPr>
              <p:spPr bwMode="auto">
                <a:xfrm>
                  <a:off x="1536" y="1352"/>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63" name="Oval 1059"/>
                <p:cNvSpPr>
                  <a:spLocks noChangeArrowheads="1"/>
                </p:cNvSpPr>
                <p:nvPr/>
              </p:nvSpPr>
              <p:spPr bwMode="auto">
                <a:xfrm>
                  <a:off x="4432" y="1352"/>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50565" name="Text Box 1061"/>
              <p:cNvSpPr txBox="1">
                <a:spLocks noChangeArrowheads="1"/>
              </p:cNvSpPr>
              <p:nvPr/>
            </p:nvSpPr>
            <p:spPr bwMode="auto">
              <a:xfrm>
                <a:off x="2670" y="1070"/>
                <a:ext cx="427"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Port-id</a:t>
                </a:r>
              </a:p>
            </p:txBody>
          </p:sp>
          <p:sp>
            <p:nvSpPr>
              <p:cNvPr id="150566" name="Line 1062"/>
              <p:cNvSpPr>
                <a:spLocks noChangeShapeType="1"/>
              </p:cNvSpPr>
              <p:nvPr/>
            </p:nvSpPr>
            <p:spPr bwMode="auto">
              <a:xfrm flipH="1">
                <a:off x="1680" y="1192"/>
                <a:ext cx="992" cy="17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67" name="Line 1063"/>
              <p:cNvSpPr>
                <a:spLocks noChangeShapeType="1"/>
              </p:cNvSpPr>
              <p:nvPr/>
            </p:nvSpPr>
            <p:spPr bwMode="auto">
              <a:xfrm>
                <a:off x="3112" y="1168"/>
                <a:ext cx="1272" cy="21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50535" name="Line 1031"/>
            <p:cNvSpPr>
              <a:spLocks noChangeShapeType="1"/>
            </p:cNvSpPr>
            <p:nvPr/>
          </p:nvSpPr>
          <p:spPr bwMode="auto">
            <a:xfrm flipV="1">
              <a:off x="3009900" y="2247900"/>
              <a:ext cx="6172200"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36" name="Oval 1032"/>
            <p:cNvSpPr>
              <a:spLocks noChangeArrowheads="1"/>
            </p:cNvSpPr>
            <p:nvPr/>
          </p:nvSpPr>
          <p:spPr bwMode="auto">
            <a:xfrm>
              <a:off x="3708400" y="11430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37" name="Oval 1033"/>
            <p:cNvSpPr>
              <a:spLocks noChangeArrowheads="1"/>
            </p:cNvSpPr>
            <p:nvPr/>
          </p:nvSpPr>
          <p:spPr bwMode="auto">
            <a:xfrm>
              <a:off x="8305800" y="11430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4" name="Line 1040"/>
            <p:cNvSpPr>
              <a:spLocks noChangeShapeType="1"/>
            </p:cNvSpPr>
            <p:nvPr/>
          </p:nvSpPr>
          <p:spPr bwMode="auto">
            <a:xfrm>
              <a:off x="2946400" y="4000500"/>
              <a:ext cx="6299200" cy="127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0" name="Oval 1036"/>
            <p:cNvSpPr>
              <a:spLocks noChangeArrowheads="1"/>
            </p:cNvSpPr>
            <p:nvPr/>
          </p:nvSpPr>
          <p:spPr bwMode="auto">
            <a:xfrm>
              <a:off x="3784600" y="31496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1" name="Oval 1037"/>
            <p:cNvSpPr>
              <a:spLocks noChangeArrowheads="1"/>
            </p:cNvSpPr>
            <p:nvPr/>
          </p:nvSpPr>
          <p:spPr bwMode="auto">
            <a:xfrm>
              <a:off x="8394700" y="3149600"/>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nvGrpSpPr>
            <p:cNvPr id="150574" name="Group 1070"/>
            <p:cNvGrpSpPr>
              <a:grpSpLocks/>
            </p:cNvGrpSpPr>
            <p:nvPr/>
          </p:nvGrpSpPr>
          <p:grpSpPr bwMode="auto">
            <a:xfrm>
              <a:off x="2497139" y="2657476"/>
              <a:ext cx="6062663" cy="860425"/>
              <a:chOff x="613" y="1674"/>
              <a:chExt cx="3819" cy="542"/>
            </a:xfrm>
          </p:grpSpPr>
          <p:sp>
            <p:nvSpPr>
              <p:cNvPr id="150546" name="Line 1042"/>
              <p:cNvSpPr>
                <a:spLocks noChangeShapeType="1"/>
              </p:cNvSpPr>
              <p:nvPr/>
            </p:nvSpPr>
            <p:spPr bwMode="auto">
              <a:xfrm flipV="1">
                <a:off x="1776" y="2200"/>
                <a:ext cx="265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9" name="Text Box 1055"/>
              <p:cNvSpPr txBox="1">
                <a:spLocks noChangeArrowheads="1"/>
              </p:cNvSpPr>
              <p:nvPr/>
            </p:nvSpPr>
            <p:spPr bwMode="auto">
              <a:xfrm>
                <a:off x="2650" y="1984"/>
                <a:ext cx="850"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Synchronization</a:t>
                </a:r>
              </a:p>
            </p:txBody>
          </p:sp>
          <p:sp>
            <p:nvSpPr>
              <p:cNvPr id="150569" name="Line 1065"/>
              <p:cNvSpPr>
                <a:spLocks noChangeShapeType="1"/>
              </p:cNvSpPr>
              <p:nvPr/>
            </p:nvSpPr>
            <p:spPr bwMode="auto">
              <a:xfrm>
                <a:off x="1200" y="1896"/>
                <a:ext cx="544" cy="32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70" name="Text Box 1066"/>
              <p:cNvSpPr txBox="1">
                <a:spLocks noChangeArrowheads="1"/>
              </p:cNvSpPr>
              <p:nvPr/>
            </p:nvSpPr>
            <p:spPr bwMode="auto">
              <a:xfrm>
                <a:off x="613" y="1674"/>
                <a:ext cx="638" cy="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Connection</a:t>
                </a:r>
              </a:p>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Endpoint</a:t>
                </a:r>
              </a:p>
            </p:txBody>
          </p:sp>
        </p:grpSp>
      </p:grpSp>
      <p:sp>
        <p:nvSpPr>
          <p:cNvPr id="150575" name="Text Box 1071"/>
          <p:cNvSpPr txBox="1">
            <a:spLocks noChangeArrowheads="1"/>
          </p:cNvSpPr>
          <p:nvPr/>
        </p:nvSpPr>
        <p:spPr bwMode="auto">
          <a:xfrm>
            <a:off x="7899400" y="6613526"/>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971604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05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05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53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053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053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053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05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2425700" y="0"/>
            <a:ext cx="7632700" cy="1219200"/>
          </a:xfrm>
        </p:spPr>
        <p:txBody>
          <a:bodyPr/>
          <a:lstStyle/>
          <a:p>
            <a:pPr eaLnBrk="1" hangingPunct="1">
              <a:defRPr/>
            </a:pPr>
            <a:r>
              <a:rPr lang="en-US">
                <a:solidFill>
                  <a:schemeClr val="tx1"/>
                </a:solidFill>
                <a:cs typeface="+mj-cs"/>
              </a:rPr>
              <a:t>Why Does It Work?</a:t>
            </a:r>
            <a:br>
              <a:rPr lang="en-US">
                <a:solidFill>
                  <a:schemeClr val="tx1"/>
                </a:solidFill>
                <a:cs typeface="+mj-cs"/>
              </a:rPr>
            </a:br>
            <a:r>
              <a:rPr lang="en-US" sz="2400">
                <a:solidFill>
                  <a:schemeClr val="tx1"/>
                </a:solidFill>
                <a:cs typeface="+mj-cs"/>
              </a:rPr>
              <a:t>First the Requirements</a:t>
            </a:r>
            <a:endParaRPr lang="en-US">
              <a:solidFill>
                <a:schemeClr val="tx1"/>
              </a:solidFill>
              <a:cs typeface="+mj-cs"/>
            </a:endParaRPr>
          </a:p>
        </p:txBody>
      </p:sp>
      <p:sp>
        <p:nvSpPr>
          <p:cNvPr id="204803" name="Rectangle 3"/>
          <p:cNvSpPr>
            <a:spLocks noGrp="1" noChangeArrowheads="1"/>
          </p:cNvSpPr>
          <p:nvPr>
            <p:ph type="body" idx="1"/>
          </p:nvPr>
        </p:nvSpPr>
        <p:spPr>
          <a:xfrm>
            <a:off x="2228850" y="1346200"/>
            <a:ext cx="7734300" cy="4927600"/>
          </a:xfrm>
        </p:spPr>
        <p:txBody>
          <a:bodyPr/>
          <a:lstStyle/>
          <a:p>
            <a:pPr eaLnBrk="1" hangingPunct="1">
              <a:defRPr/>
            </a:pPr>
            <a:r>
              <a:rPr lang="en-US" dirty="0">
                <a:cs typeface="+mn-cs"/>
              </a:rPr>
              <a:t>Open and Duplication</a:t>
            </a:r>
          </a:p>
          <a:p>
            <a:pPr lvl="1" eaLnBrk="1" hangingPunct="1">
              <a:defRPr/>
            </a:pPr>
            <a:r>
              <a:rPr lang="en-US" dirty="0"/>
              <a:t>O1:  If no connection exists, then no PDU from a previously closed connection should open a connection.</a:t>
            </a:r>
          </a:p>
          <a:p>
            <a:pPr lvl="1" eaLnBrk="1" hangingPunct="1">
              <a:defRPr/>
            </a:pPr>
            <a:r>
              <a:rPr lang="en-US" dirty="0"/>
              <a:t>O2:  If a connection exists, then no PDU from a previous connection should be accepted.</a:t>
            </a:r>
          </a:p>
          <a:p>
            <a:pPr lvl="1" eaLnBrk="1" hangingPunct="1">
              <a:defRPr/>
            </a:pPr>
            <a:r>
              <a:rPr lang="en-US" dirty="0"/>
              <a:t>O3:  If a connection exists, then no duplicates from the current connection should be accepted.</a:t>
            </a:r>
          </a:p>
          <a:p>
            <a:pPr eaLnBrk="1" hangingPunct="1">
              <a:defRPr/>
            </a:pPr>
            <a:r>
              <a:rPr lang="en-US" dirty="0">
                <a:cs typeface="+mn-cs"/>
              </a:rPr>
              <a:t>Close</a:t>
            </a:r>
          </a:p>
          <a:p>
            <a:pPr lvl="1" eaLnBrk="1" hangingPunct="1">
              <a:defRPr/>
            </a:pPr>
            <a:r>
              <a:rPr lang="en-US" dirty="0"/>
              <a:t>C1:  A receiving side must not close until it has received all of the sender</a:t>
            </a:r>
            <a:r>
              <a:rPr lang="en-US" dirty="0">
                <a:latin typeface="Arial"/>
              </a:rPr>
              <a:t>’</a:t>
            </a:r>
            <a:r>
              <a:rPr lang="en-US" dirty="0"/>
              <a:t>s retransmissions.</a:t>
            </a:r>
          </a:p>
          <a:p>
            <a:pPr lvl="1" eaLnBrk="1" hangingPunct="1">
              <a:defRPr/>
            </a:pPr>
            <a:r>
              <a:rPr lang="en-US" dirty="0"/>
              <a:t>C2:  Sending side must not close until it has received all </a:t>
            </a:r>
            <a:r>
              <a:rPr lang="en-US" dirty="0" err="1"/>
              <a:t>acks</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0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0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0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2705100" y="177800"/>
            <a:ext cx="6781800" cy="1168400"/>
          </a:xfrm>
        </p:spPr>
        <p:txBody>
          <a:bodyPr/>
          <a:lstStyle/>
          <a:p>
            <a:pPr eaLnBrk="1" hangingPunct="1">
              <a:defRPr/>
            </a:pPr>
            <a:r>
              <a:rPr lang="en-US">
                <a:solidFill>
                  <a:schemeClr val="tx1"/>
                </a:solidFill>
                <a:cs typeface="+mj-cs"/>
              </a:rPr>
              <a:t>Perfect Error Control is Possible</a:t>
            </a:r>
            <a:br>
              <a:rPr lang="en-US">
                <a:solidFill>
                  <a:schemeClr val="tx1"/>
                </a:solidFill>
                <a:cs typeface="+mj-cs"/>
              </a:rPr>
            </a:br>
            <a:r>
              <a:rPr lang="en-US" sz="2400">
                <a:solidFill>
                  <a:schemeClr val="tx1"/>
                </a:solidFill>
                <a:cs typeface="+mj-cs"/>
              </a:rPr>
              <a:t>If and only if</a:t>
            </a:r>
            <a:endParaRPr lang="en-US">
              <a:solidFill>
                <a:schemeClr val="tx1"/>
              </a:solidFill>
              <a:cs typeface="+mj-cs"/>
            </a:endParaRPr>
          </a:p>
        </p:txBody>
      </p:sp>
      <p:sp>
        <p:nvSpPr>
          <p:cNvPr id="205827" name="Rectangle 3"/>
          <p:cNvSpPr>
            <a:spLocks noGrp="1" noChangeArrowheads="1"/>
          </p:cNvSpPr>
          <p:nvPr>
            <p:ph type="body" idx="1"/>
          </p:nvPr>
        </p:nvSpPr>
        <p:spPr>
          <a:xfrm>
            <a:off x="2324100" y="1384300"/>
            <a:ext cx="7543800" cy="2044700"/>
          </a:xfrm>
        </p:spPr>
        <p:txBody>
          <a:bodyPr/>
          <a:lstStyle/>
          <a:p>
            <a:pPr marL="342900" indent="-317500" eaLnBrk="1" hangingPunct="1">
              <a:defRPr/>
            </a:pPr>
            <a:r>
              <a:rPr lang="en-US" dirty="0">
                <a:cs typeface="+mn-cs"/>
              </a:rPr>
              <a:t>Three Assurance Conditions are met:</a:t>
            </a:r>
          </a:p>
          <a:p>
            <a:pPr marL="685800" lvl="1" indent="-228600" eaLnBrk="1" hangingPunct="1">
              <a:defRPr/>
            </a:pPr>
            <a:r>
              <a:rPr lang="en-US" dirty="0"/>
              <a:t>A1:  An identifier </a:t>
            </a:r>
            <a:r>
              <a:rPr lang="en-US" sz="1600" dirty="0"/>
              <a:t>(sequence number, SN)</a:t>
            </a:r>
            <a:r>
              <a:rPr lang="en-US" dirty="0"/>
              <a:t> of an information unit used for assurance is never reused, while one or more copies </a:t>
            </a:r>
            <a:r>
              <a:rPr lang="en-US" sz="1600" dirty="0"/>
              <a:t>(duplicates)</a:t>
            </a:r>
            <a:r>
              <a:rPr lang="en-US" dirty="0"/>
              <a:t> of that unit or its </a:t>
            </a:r>
            <a:r>
              <a:rPr lang="en-US" dirty="0" err="1"/>
              <a:t>Ack</a:t>
            </a:r>
            <a:r>
              <a:rPr lang="en-US" dirty="0"/>
              <a:t> exist.</a:t>
            </a:r>
          </a:p>
          <a:p>
            <a:pPr marL="685800" lvl="1" indent="-228600" eaLnBrk="1" hangingPunct="1">
              <a:defRPr/>
            </a:pPr>
            <a:r>
              <a:rPr lang="en-US" dirty="0"/>
              <a:t>A2:  The assurance state or redundant information maintained at each end is never lost or damaged.</a:t>
            </a:r>
          </a:p>
          <a:p>
            <a:pPr marL="685800" lvl="1" indent="-228600" eaLnBrk="1" hangingPunct="1">
              <a:defRPr/>
            </a:pPr>
            <a:r>
              <a:rPr lang="en-US" dirty="0"/>
              <a:t>A3:   The assurance control information transmitted between each end is itself perfectly error controlled.</a:t>
            </a:r>
          </a:p>
          <a:p>
            <a:pPr marL="685800" lvl="1" indent="-228600" eaLnBrk="1" hangingPunct="1">
              <a:defRPr/>
            </a:pPr>
            <a:endParaRPr lang="en-US" dirty="0"/>
          </a:p>
          <a:p>
            <a:pPr marL="342900" indent="-317500" eaLnBrk="1" hangingPunct="1">
              <a:defRPr/>
            </a:pPr>
            <a:r>
              <a:rPr lang="en-US" dirty="0">
                <a:cs typeface="+mn-cs"/>
              </a:rPr>
              <a:t>To satisfy these, it becomes clear that explicit or implicit bounds must exist on MPL, A, and R.</a:t>
            </a:r>
          </a:p>
          <a:p>
            <a:pPr marL="342900" indent="-317500" eaLnBrk="1" hangingPunct="1">
              <a:defRPr/>
            </a:pPr>
            <a:r>
              <a:rPr lang="en-US" sz="2000" dirty="0">
                <a:cs typeface="+mn-cs"/>
              </a:rPr>
              <a:t>Or </a:t>
            </a:r>
            <a:r>
              <a:rPr lang="en-US" sz="2000" b="1" i="1" dirty="0">
                <a:cs typeface="+mn-cs"/>
              </a:rPr>
              <a:t>NEVER </a:t>
            </a:r>
            <a:r>
              <a:rPr lang="en-US" sz="2000" dirty="0">
                <a:cs typeface="+mn-cs"/>
              </a:rPr>
              <a:t>reuse a connection-endpoint-id or sequence number.</a:t>
            </a:r>
          </a:p>
          <a:p>
            <a:pPr marL="723900" lvl="1" indent="-317500" eaLnBrk="1" hangingPunct="1">
              <a:defRPr/>
            </a:pPr>
            <a:r>
              <a:rPr lang="en-US" sz="1600" dirty="0">
                <a:cs typeface="+mn-cs"/>
              </a:rPr>
              <a:t>And that is a very long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8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58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582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582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582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58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1873250" y="215900"/>
            <a:ext cx="8445500" cy="1168400"/>
          </a:xfrm>
        </p:spPr>
        <p:txBody>
          <a:bodyPr/>
          <a:lstStyle/>
          <a:p>
            <a:pPr eaLnBrk="1" hangingPunct="1">
              <a:defRPr/>
            </a:pPr>
            <a:r>
              <a:rPr lang="en-US">
                <a:solidFill>
                  <a:schemeClr val="tx1"/>
                </a:solidFill>
                <a:cs typeface="+mj-cs"/>
              </a:rPr>
              <a:t>Thinking about It</a:t>
            </a:r>
          </a:p>
        </p:txBody>
      </p:sp>
      <p:sp>
        <p:nvSpPr>
          <p:cNvPr id="206851" name="Rectangle 3"/>
          <p:cNvSpPr>
            <a:spLocks noGrp="1" noChangeArrowheads="1"/>
          </p:cNvSpPr>
          <p:nvPr>
            <p:ph type="body" idx="1"/>
          </p:nvPr>
        </p:nvSpPr>
        <p:spPr>
          <a:xfrm>
            <a:off x="2235200" y="1346200"/>
            <a:ext cx="7708900" cy="4483100"/>
          </a:xfrm>
        </p:spPr>
        <p:txBody>
          <a:bodyPr/>
          <a:lstStyle/>
          <a:p>
            <a:pPr marL="292100" indent="-266700" eaLnBrk="1" hangingPunct="1">
              <a:defRPr/>
            </a:pPr>
            <a:r>
              <a:rPr lang="en-US" sz="2000" dirty="0">
                <a:cs typeface="+mn-cs"/>
              </a:rPr>
              <a:t>A1 implies O2 and this condition on the SN</a:t>
            </a:r>
            <a:endParaRPr lang="en-US" dirty="0">
              <a:cs typeface="+mn-cs"/>
            </a:endParaRPr>
          </a:p>
          <a:p>
            <a:pPr marL="800100" lvl="1" indent="-342900" eaLnBrk="1" hangingPunct="1">
              <a:defRPr/>
            </a:pPr>
            <a:r>
              <a:rPr lang="en-US" sz="1800" dirty="0"/>
              <a:t>2</a:t>
            </a:r>
            <a:r>
              <a:rPr lang="en-US" sz="1800" baseline="30000" dirty="0"/>
              <a:t>n</a:t>
            </a:r>
            <a:r>
              <a:rPr lang="en-US" sz="1800" dirty="0"/>
              <a:t> &gt; 2(MPL + R + A)T  where T is the transmission rate</a:t>
            </a:r>
          </a:p>
          <a:p>
            <a:pPr marL="800100" lvl="1" indent="-342900" eaLnBrk="1" hangingPunct="1">
              <a:defRPr/>
            </a:pPr>
            <a:r>
              <a:rPr lang="en-US" sz="1800" dirty="0"/>
              <a:t>Everything being </a:t>
            </a:r>
            <a:r>
              <a:rPr lang="en-US" sz="1800" dirty="0" err="1"/>
              <a:t>ack’ed</a:t>
            </a:r>
            <a:r>
              <a:rPr lang="en-US" sz="1800" dirty="0"/>
              <a:t> is not enough, dups could still exist.</a:t>
            </a:r>
            <a:endParaRPr lang="en-US" dirty="0"/>
          </a:p>
          <a:p>
            <a:pPr marL="292100" indent="-266700" eaLnBrk="1" hangingPunct="1">
              <a:defRPr/>
            </a:pPr>
            <a:r>
              <a:rPr lang="en-US" sz="2000" dirty="0">
                <a:latin typeface="Times" charset="0"/>
                <a:cs typeface="+mn-cs"/>
              </a:rPr>
              <a:t>Recovery after a crash, state has been lost, for perfect assurance</a:t>
            </a:r>
          </a:p>
          <a:p>
            <a:pPr marL="800100" lvl="1" indent="-342900" eaLnBrk="1" hangingPunct="1">
              <a:defRPr/>
            </a:pPr>
            <a:r>
              <a:rPr lang="en-US" sz="1800" dirty="0">
                <a:latin typeface="Times" charset="0"/>
              </a:rPr>
              <a:t>Sending Recovery Interval &gt; 3(MPL + R + A)</a:t>
            </a:r>
          </a:p>
          <a:p>
            <a:pPr marL="800100" lvl="1" indent="-342900" eaLnBrk="1" hangingPunct="1">
              <a:defRPr/>
            </a:pPr>
            <a:r>
              <a:rPr lang="en-US" sz="1800" dirty="0">
                <a:latin typeface="Times" charset="0"/>
              </a:rPr>
              <a:t>Receiving Recovery Interval &gt; 2(MPL + R + A)</a:t>
            </a:r>
          </a:p>
          <a:p>
            <a:pPr marL="1181100" lvl="2" indent="-342900" eaLnBrk="1" hangingPunct="1">
              <a:defRPr/>
            </a:pPr>
            <a:r>
              <a:rPr lang="en-US" sz="1600" dirty="0">
                <a:latin typeface="Times" charset="0"/>
              </a:rPr>
              <a:t>This is the time state must be maintained after the last SN sent.</a:t>
            </a:r>
          </a:p>
          <a:p>
            <a:pPr marL="292100" indent="-266700" eaLnBrk="1" hangingPunct="1">
              <a:defRPr/>
            </a:pPr>
            <a:r>
              <a:rPr lang="en-US" sz="2000" dirty="0">
                <a:latin typeface="Times" charset="0"/>
                <a:cs typeface="+mn-cs"/>
              </a:rPr>
              <a:t>TCP: SYN and FIN in the sequence number space, Delta-t has a Data Run Flag (DRF) which implies all previous packets have been </a:t>
            </a:r>
            <a:r>
              <a:rPr lang="en-US" sz="2000" dirty="0" err="1">
                <a:latin typeface="Times" charset="0"/>
                <a:cs typeface="+mn-cs"/>
              </a:rPr>
              <a:t>ack’ed</a:t>
            </a:r>
            <a:r>
              <a:rPr lang="en-US" sz="2000" dirty="0">
                <a:latin typeface="Times" charset="0"/>
                <a:cs typeface="+mn-cs"/>
              </a:rPr>
              <a:t>.  </a:t>
            </a:r>
          </a:p>
          <a:p>
            <a:pPr marL="673100" lvl="1" indent="-266700" eaLnBrk="1" hangingPunct="1">
              <a:defRPr/>
            </a:pPr>
            <a:r>
              <a:rPr lang="en-US" sz="1600" dirty="0">
                <a:latin typeface="Times" charset="0"/>
                <a:cs typeface="+mn-cs"/>
              </a:rPr>
              <a:t>There is a 3-way exchange, but the reason it works is because the timers are bounded, not because the messages are exchanged.</a:t>
            </a:r>
          </a:p>
          <a:p>
            <a:pPr marL="292100" indent="-266700" eaLnBrk="1" hangingPunct="1">
              <a:defRPr/>
            </a:pPr>
            <a:r>
              <a:rPr lang="en-US" sz="2000" dirty="0">
                <a:latin typeface="Times" charset="0"/>
                <a:cs typeface="+mn-cs"/>
              </a:rPr>
              <a:t>If no data after 2(MPL+R+A), then discard the state vector.  When there is more data to send set DRF and start sending.</a:t>
            </a:r>
          </a:p>
          <a:p>
            <a:pPr marL="292100" indent="-266700" eaLnBrk="1" hangingPunct="1">
              <a:defRPr/>
            </a:pPr>
            <a:r>
              <a:rPr lang="en-US" sz="2000" dirty="0">
                <a:latin typeface="Times" charset="0"/>
                <a:cs typeface="+mn-cs"/>
              </a:rPr>
              <a:t>Delta-t is more robust (</a:t>
            </a:r>
            <a:r>
              <a:rPr lang="en-US" sz="2000" dirty="0" err="1">
                <a:latin typeface="Times" charset="0"/>
                <a:cs typeface="+mn-cs"/>
              </a:rPr>
              <a:t>Matta</a:t>
            </a:r>
            <a:r>
              <a:rPr lang="en-US" sz="2000" dirty="0">
                <a:latin typeface="Times" charset="0"/>
                <a:cs typeface="+mn-cs"/>
              </a:rPr>
              <a:t>, 2009) and more secure (</a:t>
            </a:r>
            <a:r>
              <a:rPr lang="en-US" sz="2000" dirty="0" err="1">
                <a:solidFill>
                  <a:srgbClr val="000000"/>
                </a:solidFill>
                <a:latin typeface="Times" charset="0"/>
                <a:cs typeface="+mn-cs"/>
              </a:rPr>
              <a:t>Boddapati</a:t>
            </a:r>
            <a:r>
              <a:rPr lang="en-US" sz="2000" dirty="0">
                <a:solidFill>
                  <a:srgbClr val="000000"/>
                </a:solidFill>
                <a:latin typeface="Times" charset="0"/>
                <a:cs typeface="+mn-cs"/>
              </a:rPr>
              <a:t>, 2010).</a:t>
            </a:r>
            <a:endParaRPr lang="en-US" sz="2000" dirty="0">
              <a:latin typeface="Times" charset="0"/>
              <a:cs typeface="+mn-cs"/>
            </a:endParaRPr>
          </a:p>
          <a:p>
            <a:pPr marL="800100" lvl="1" indent="-342900" eaLnBrk="1" hangingPunct="1">
              <a:defRPr/>
            </a:pPr>
            <a:endParaRPr lang="en-US" sz="1800" dirty="0">
              <a:latin typeface="Times"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68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68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685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68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685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6851">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685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6851">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6851">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685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2819400" y="469900"/>
            <a:ext cx="6540500" cy="977900"/>
          </a:xfrm>
        </p:spPr>
        <p:txBody>
          <a:bodyPr/>
          <a:lstStyle/>
          <a:p>
            <a:pPr eaLnBrk="1" hangingPunct="1">
              <a:defRPr/>
            </a:pPr>
            <a:r>
              <a:rPr lang="en-US">
                <a:solidFill>
                  <a:schemeClr val="tx1"/>
                </a:solidFill>
                <a:cs typeface="+mj-cs"/>
              </a:rPr>
              <a:t>So What about Disconnect?</a:t>
            </a:r>
          </a:p>
        </p:txBody>
      </p:sp>
      <p:sp>
        <p:nvSpPr>
          <p:cNvPr id="163843" name="Rectangle 3"/>
          <p:cNvSpPr>
            <a:spLocks noGrp="1" noChangeArrowheads="1"/>
          </p:cNvSpPr>
          <p:nvPr>
            <p:ph type="body" idx="1"/>
          </p:nvPr>
        </p:nvSpPr>
        <p:spPr>
          <a:xfrm>
            <a:off x="2387600" y="1701800"/>
            <a:ext cx="7861300" cy="952500"/>
          </a:xfrm>
        </p:spPr>
        <p:txBody>
          <a:bodyPr/>
          <a:lstStyle/>
          <a:p>
            <a:pPr marL="342900" indent="-342900" eaLnBrk="1" hangingPunct="1">
              <a:defRPr/>
            </a:pPr>
            <a:r>
              <a:rPr lang="en-US" dirty="0">
                <a:cs typeface="+mn-cs"/>
              </a:rPr>
              <a:t>Synchronization simply disappears after 2</a:t>
            </a:r>
            <a:r>
              <a:rPr lang="en-US" dirty="0">
                <a:latin typeface="Symbol" charset="2"/>
                <a:cs typeface="Symbol" charset="2"/>
              </a:rPr>
              <a:t>D</a:t>
            </a:r>
            <a:r>
              <a:rPr lang="en-US" dirty="0">
                <a:cs typeface="+mn-cs"/>
              </a:rPr>
              <a:t>T.</a:t>
            </a:r>
          </a:p>
          <a:p>
            <a:pPr marL="863600" lvl="1" indent="-228600" eaLnBrk="1" hangingPunct="1">
              <a:defRPr/>
            </a:pPr>
            <a:r>
              <a:rPr lang="en-US" dirty="0"/>
              <a:t>In TCP, after the FINs, must wait 120 sec. The FINs are pointless</a:t>
            </a:r>
          </a:p>
          <a:p>
            <a:pPr marL="863600" lvl="1" indent="-228600" eaLnBrk="1" hangingPunct="1">
              <a:defRPr/>
            </a:pPr>
            <a:r>
              <a:rPr lang="en-US" dirty="0"/>
              <a:t>In a good protocol, synchronization may be lost and re-established many times over the lifetime of an allocation.</a:t>
            </a:r>
          </a:p>
          <a:p>
            <a:pPr marL="863600" lvl="1" indent="-228600" eaLnBrk="1" hangingPunct="1">
              <a:defRPr/>
            </a:pPr>
            <a:endParaRPr lang="en-US" dirty="0"/>
          </a:p>
          <a:p>
            <a:pPr marL="342900" indent="-342900" eaLnBrk="1" hangingPunct="1">
              <a:defRPr/>
            </a:pPr>
            <a:r>
              <a:rPr lang="en-US" dirty="0">
                <a:cs typeface="+mn-cs"/>
              </a:rPr>
              <a:t>There must be explicit </a:t>
            </a:r>
            <a:r>
              <a:rPr lang="en-US" dirty="0" err="1">
                <a:cs typeface="+mn-cs"/>
              </a:rPr>
              <a:t>deallocation</a:t>
            </a:r>
            <a:r>
              <a:rPr lang="en-US" dirty="0">
                <a:cs typeface="+mn-cs"/>
              </a:rPr>
              <a:t> of the ports eventually.</a:t>
            </a:r>
          </a:p>
          <a:p>
            <a:pPr marL="863600" lvl="1" indent="-228600" eaLnBrk="1" hangingPunct="1">
              <a:defRPr/>
            </a:pPr>
            <a:r>
              <a:rPr lang="en-US" dirty="0"/>
              <a:t>This is a management function</a:t>
            </a:r>
          </a:p>
          <a:p>
            <a:pPr marL="863600" lvl="1" indent="-228600" eaLnBrk="1" hangingPunct="1">
              <a:defRPr/>
            </a:pPr>
            <a:endParaRPr lang="en-US" dirty="0"/>
          </a:p>
          <a:p>
            <a:pPr marL="863600" lvl="1" indent="-228600" eaLnBrk="1" hangingPunct="1">
              <a:defRPr/>
            </a:pPr>
            <a:endParaRPr lang="en-US" dirty="0"/>
          </a:p>
          <a:p>
            <a:pPr marL="863600" lvl="1" indent="-228600" eaLnBrk="1" hangingPunct="1">
              <a:defRPr/>
            </a:pPr>
            <a:endParaRPr lang="en-US" dirty="0"/>
          </a:p>
          <a:p>
            <a:pPr marL="342900" indent="-342900" eaLnBrk="1" hangingPunct="1">
              <a:defRPr/>
            </a:pPr>
            <a:r>
              <a:rPr lang="en-US" dirty="0">
                <a:cs typeface="+mn-cs"/>
              </a:rPr>
              <a:t>But before we move on. . . </a:t>
            </a:r>
          </a:p>
          <a:p>
            <a:pPr marL="863600" lvl="1" indent="-228600" eaLnBrk="1" hangingPunct="1">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38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p:cNvSpPr>
            <a:spLocks noGrp="1" noChangeArrowheads="1"/>
          </p:cNvSpPr>
          <p:nvPr>
            <p:ph type="title"/>
          </p:nvPr>
        </p:nvSpPr>
        <p:spPr>
          <a:xfrm>
            <a:off x="1993900" y="342900"/>
            <a:ext cx="8369300" cy="1143000"/>
          </a:xfrm>
        </p:spPr>
        <p:txBody>
          <a:bodyPr/>
          <a:lstStyle/>
          <a:p>
            <a:pPr eaLnBrk="1" hangingPunct="1">
              <a:defRPr/>
            </a:pPr>
            <a:r>
              <a:rPr lang="en-US" sz="3600" dirty="0">
                <a:cs typeface="+mj-cs"/>
              </a:rPr>
              <a:t>But the Theorem Implies an Even More</a:t>
            </a:r>
            <a:br>
              <a:rPr lang="en-US" sz="3600" dirty="0">
                <a:cs typeface="+mj-cs"/>
              </a:rPr>
            </a:br>
            <a:r>
              <a:rPr lang="en-US" sz="3600" dirty="0">
                <a:cs typeface="+mj-cs"/>
              </a:rPr>
              <a:t>Fundamental Result</a:t>
            </a:r>
          </a:p>
        </p:txBody>
      </p:sp>
      <p:sp>
        <p:nvSpPr>
          <p:cNvPr id="147459" name="Rectangle 1027"/>
          <p:cNvSpPr>
            <a:spLocks noGrp="1" noChangeArrowheads="1"/>
          </p:cNvSpPr>
          <p:nvPr>
            <p:ph type="body" idx="1"/>
          </p:nvPr>
        </p:nvSpPr>
        <p:spPr>
          <a:xfrm>
            <a:off x="2387600" y="1971676"/>
            <a:ext cx="7734300" cy="3819525"/>
          </a:xfrm>
        </p:spPr>
        <p:txBody>
          <a:bodyPr/>
          <a:lstStyle/>
          <a:p>
            <a:pPr marL="317500" indent="-317500">
              <a:defRPr/>
            </a:pPr>
            <a:r>
              <a:rPr lang="en-US" sz="2800" dirty="0">
                <a:cs typeface="+mn-cs"/>
              </a:rPr>
              <a:t>It defines the bounds of networking.</a:t>
            </a:r>
          </a:p>
          <a:p>
            <a:pPr marL="317500" indent="-317500">
              <a:defRPr/>
            </a:pPr>
            <a:r>
              <a:rPr lang="en-US" sz="2800" dirty="0">
                <a:cs typeface="+mn-cs"/>
              </a:rPr>
              <a:t>It is IPC (networking), if MPL can be bounded.</a:t>
            </a:r>
          </a:p>
          <a:p>
            <a:pPr marL="317500" indent="-317500">
              <a:defRPr/>
            </a:pPr>
            <a:r>
              <a:rPr lang="en-US" sz="2800" dirty="0">
                <a:cs typeface="+mn-cs"/>
              </a:rPr>
              <a:t>If MPL can not be bounded, it is remote storage.</a:t>
            </a:r>
          </a:p>
          <a:p>
            <a:pPr marL="1282700" lvl="1">
              <a:defRPr/>
            </a:pPr>
            <a:r>
              <a:rPr lang="en-US" sz="2000" dirty="0"/>
              <a:t> it</a:t>
            </a:r>
            <a:r>
              <a:rPr lang="en-US" sz="2000" dirty="0">
                <a:latin typeface="Arial"/>
              </a:rPr>
              <a:t>’</a:t>
            </a:r>
            <a:r>
              <a:rPr lang="en-US" sz="2000" dirty="0"/>
              <a:t>s a file transfer</a:t>
            </a:r>
          </a:p>
          <a:p>
            <a:pPr marL="1054100" lvl="1" indent="0">
              <a:buNone/>
              <a:defRPr/>
            </a:pPr>
            <a:endParaRPr lang="en-US" sz="2400" dirty="0"/>
          </a:p>
          <a:p>
            <a:pPr marL="825500">
              <a:defRPr/>
            </a:pPr>
            <a:endParaRPr lang="en-US" sz="2600" dirty="0"/>
          </a:p>
        </p:txBody>
      </p:sp>
      <p:sp>
        <p:nvSpPr>
          <p:cNvPr id="147460" name="Text Box 1028"/>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2" name="TextBox 1">
            <a:extLst>
              <a:ext uri="{FF2B5EF4-FFF2-40B4-BE49-F238E27FC236}">
                <a16:creationId xmlns:a16="http://schemas.microsoft.com/office/drawing/2014/main" id="{933B75EE-C198-41B3-D17F-93CDCA0580B4}"/>
              </a:ext>
            </a:extLst>
          </p:cNvPr>
          <p:cNvSpPr txBox="1"/>
          <p:nvPr/>
        </p:nvSpPr>
        <p:spPr>
          <a:xfrm>
            <a:off x="1635162" y="4303059"/>
            <a:ext cx="1001363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	The Student should pause here to consider Module 2 – Lecture 2a – Watson’s Theorem</a:t>
            </a:r>
          </a:p>
        </p:txBody>
      </p:sp>
    </p:spTree>
    <p:extLst>
      <p:ext uri="{BB962C8B-B14F-4D97-AF65-F5344CB8AC3E}">
        <p14:creationId xmlns:p14="http://schemas.microsoft.com/office/powerpoint/2010/main" val="1377391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4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745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74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9AF06-E89C-D3E1-AC9C-4FBC147FB8B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1EBB059-74B0-B0A3-D47A-66863A3077C1}"/>
              </a:ext>
            </a:extLst>
          </p:cNvPr>
          <p:cNvGrpSpPr/>
          <p:nvPr/>
        </p:nvGrpSpPr>
        <p:grpSpPr>
          <a:xfrm>
            <a:off x="3816350" y="3120292"/>
            <a:ext cx="5295900" cy="685800"/>
            <a:chOff x="3784600" y="3140173"/>
            <a:chExt cx="5295900" cy="685800"/>
          </a:xfrm>
        </p:grpSpPr>
        <p:sp>
          <p:nvSpPr>
            <p:cNvPr id="5" name="Oval 1036">
              <a:extLst>
                <a:ext uri="{FF2B5EF4-FFF2-40B4-BE49-F238E27FC236}">
                  <a16:creationId xmlns:a16="http://schemas.microsoft.com/office/drawing/2014/main" id="{D535DC64-A0D0-900B-B5EE-4843632F9F9D}"/>
                </a:ext>
              </a:extLst>
            </p:cNvPr>
            <p:cNvSpPr>
              <a:spLocks noChangeArrowheads="1"/>
            </p:cNvSpPr>
            <p:nvPr/>
          </p:nvSpPr>
          <p:spPr bwMode="auto">
            <a:xfrm>
              <a:off x="3784600" y="3140173"/>
              <a:ext cx="685800" cy="685800"/>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 name="Oval 1037">
              <a:extLst>
                <a:ext uri="{FF2B5EF4-FFF2-40B4-BE49-F238E27FC236}">
                  <a16:creationId xmlns:a16="http://schemas.microsoft.com/office/drawing/2014/main" id="{D985F8C6-A891-5CB0-9AB4-3C086785261F}"/>
                </a:ext>
              </a:extLst>
            </p:cNvPr>
            <p:cNvSpPr>
              <a:spLocks noChangeArrowheads="1"/>
            </p:cNvSpPr>
            <p:nvPr/>
          </p:nvSpPr>
          <p:spPr bwMode="auto">
            <a:xfrm>
              <a:off x="8394700" y="3140173"/>
              <a:ext cx="685800" cy="685800"/>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7" name="Line 1042">
              <a:extLst>
                <a:ext uri="{FF2B5EF4-FFF2-40B4-BE49-F238E27FC236}">
                  <a16:creationId xmlns:a16="http://schemas.microsoft.com/office/drawing/2014/main" id="{0AD9AD4D-A50F-7905-BE28-8AEA34F6F0BD}"/>
                </a:ext>
              </a:extLst>
            </p:cNvPr>
            <p:cNvSpPr>
              <a:spLocks noChangeShapeType="1"/>
            </p:cNvSpPr>
            <p:nvPr/>
          </p:nvSpPr>
          <p:spPr bwMode="auto">
            <a:xfrm flipV="1">
              <a:off x="4343402" y="3483074"/>
              <a:ext cx="4216400" cy="127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8" name="Text Box 1055">
              <a:extLst>
                <a:ext uri="{FF2B5EF4-FFF2-40B4-BE49-F238E27FC236}">
                  <a16:creationId xmlns:a16="http://schemas.microsoft.com/office/drawing/2014/main" id="{9BDD2F8D-66B2-3460-46AF-3BEA54102D78}"/>
                </a:ext>
              </a:extLst>
            </p:cNvPr>
            <p:cNvSpPr txBox="1">
              <a:spLocks noChangeArrowheads="1"/>
            </p:cNvSpPr>
            <p:nvPr/>
          </p:nvSpPr>
          <p:spPr bwMode="auto">
            <a:xfrm>
              <a:off x="5961371" y="3140174"/>
              <a:ext cx="88838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New QoS</a:t>
              </a:r>
            </a:p>
          </p:txBody>
        </p:sp>
      </p:grpSp>
      <p:sp>
        <p:nvSpPr>
          <p:cNvPr id="150530" name="Rectangle 1026">
            <a:extLst>
              <a:ext uri="{FF2B5EF4-FFF2-40B4-BE49-F238E27FC236}">
                <a16:creationId xmlns:a16="http://schemas.microsoft.com/office/drawing/2014/main" id="{79EA2E39-A484-50FF-1DDE-F9815833328F}"/>
              </a:ext>
            </a:extLst>
          </p:cNvPr>
          <p:cNvSpPr>
            <a:spLocks noGrp="1" noChangeArrowheads="1"/>
          </p:cNvSpPr>
          <p:nvPr>
            <p:ph type="title"/>
          </p:nvPr>
        </p:nvSpPr>
        <p:spPr>
          <a:xfrm>
            <a:off x="838200" y="-53973"/>
            <a:ext cx="10515600" cy="1325563"/>
          </a:xfrm>
        </p:spPr>
        <p:txBody>
          <a:bodyPr/>
          <a:lstStyle/>
          <a:p>
            <a:pPr eaLnBrk="1" hangingPunct="1">
              <a:defRPr/>
            </a:pPr>
            <a:r>
              <a:rPr lang="en-US" dirty="0">
                <a:solidFill>
                  <a:srgbClr val="000000"/>
                </a:solidFill>
                <a:cs typeface="+mj-cs"/>
              </a:rPr>
              <a:t>Modifying QoS on a Flow</a:t>
            </a:r>
          </a:p>
        </p:txBody>
      </p:sp>
      <p:sp>
        <p:nvSpPr>
          <p:cNvPr id="150531" name="Rectangle 1027">
            <a:extLst>
              <a:ext uri="{FF2B5EF4-FFF2-40B4-BE49-F238E27FC236}">
                <a16:creationId xmlns:a16="http://schemas.microsoft.com/office/drawing/2014/main" id="{3F73B7F3-B381-E479-9155-63466C19A875}"/>
              </a:ext>
            </a:extLst>
          </p:cNvPr>
          <p:cNvSpPr>
            <a:spLocks noGrp="1" noChangeArrowheads="1"/>
          </p:cNvSpPr>
          <p:nvPr>
            <p:ph type="body" idx="1"/>
          </p:nvPr>
        </p:nvSpPr>
        <p:spPr>
          <a:xfrm>
            <a:off x="1832797" y="4985478"/>
            <a:ext cx="8526406" cy="1410248"/>
          </a:xfrm>
        </p:spPr>
        <p:txBody>
          <a:bodyPr>
            <a:normAutofit lnSpcReduction="10000"/>
          </a:bodyPr>
          <a:lstStyle/>
          <a:p>
            <a:pPr eaLnBrk="1" hangingPunct="1">
              <a:defRPr/>
            </a:pPr>
            <a:r>
              <a:rPr lang="en-US" sz="1800" dirty="0">
                <a:cs typeface="+mn-cs"/>
              </a:rPr>
              <a:t>Modifying the QoS on a Flow is Simple:</a:t>
            </a:r>
          </a:p>
          <a:p>
            <a:pPr lvl="1">
              <a:defRPr/>
            </a:pPr>
            <a:r>
              <a:rPr lang="en-US" sz="1400" dirty="0"/>
              <a:t>Allocate a New Connection and bind it to the same Port-ids.</a:t>
            </a:r>
          </a:p>
          <a:p>
            <a:pPr lvl="1">
              <a:defRPr/>
            </a:pPr>
            <a:r>
              <a:rPr lang="en-US" sz="1400" dirty="0"/>
              <a:t>Depending on the Synch/</a:t>
            </a:r>
            <a:r>
              <a:rPr lang="en-US" sz="1400" dirty="0" err="1"/>
              <a:t>Asynch</a:t>
            </a:r>
            <a:r>
              <a:rPr lang="en-US" sz="1400" dirty="0"/>
              <a:t> parameter, if Synch unbind the Current Connection and start using the New Connection. If </a:t>
            </a:r>
            <a:r>
              <a:rPr lang="en-US" sz="1400" dirty="0" err="1"/>
              <a:t>Asynch</a:t>
            </a:r>
            <a:r>
              <a:rPr lang="en-US" sz="1400" dirty="0"/>
              <a:t>, wait for all PDUs to be received on the Current Connection, unbind it from the port-ids and then start using the New Connection</a:t>
            </a:r>
          </a:p>
          <a:p>
            <a:pPr lvl="1">
              <a:defRPr/>
            </a:pPr>
            <a:r>
              <a:rPr lang="en-US" sz="1400" dirty="0"/>
              <a:t>After 2 or 3∆t, the Current Connection can be discarded.</a:t>
            </a:r>
          </a:p>
        </p:txBody>
      </p:sp>
      <p:grpSp>
        <p:nvGrpSpPr>
          <p:cNvPr id="150557" name="Group 1053">
            <a:extLst>
              <a:ext uri="{FF2B5EF4-FFF2-40B4-BE49-F238E27FC236}">
                <a16:creationId xmlns:a16="http://schemas.microsoft.com/office/drawing/2014/main" id="{B820B0F9-E162-EA64-35E7-77169C06FDAF}"/>
              </a:ext>
            </a:extLst>
          </p:cNvPr>
          <p:cNvGrpSpPr>
            <a:grpSpLocks/>
          </p:cNvGrpSpPr>
          <p:nvPr/>
        </p:nvGrpSpPr>
        <p:grpSpPr bwMode="auto">
          <a:xfrm>
            <a:off x="4076700" y="1806673"/>
            <a:ext cx="4635500" cy="1308100"/>
            <a:chOff x="1600" y="1144"/>
            <a:chExt cx="2928" cy="960"/>
          </a:xfrm>
        </p:grpSpPr>
        <p:sp>
          <p:nvSpPr>
            <p:cNvPr id="150547" name="Line 1043">
              <a:extLst>
                <a:ext uri="{FF2B5EF4-FFF2-40B4-BE49-F238E27FC236}">
                  <a16:creationId xmlns:a16="http://schemas.microsoft.com/office/drawing/2014/main" id="{AACC003D-9CE3-EC1A-3316-1FC2D204F60B}"/>
                </a:ext>
              </a:extLst>
            </p:cNvPr>
            <p:cNvSpPr>
              <a:spLocks noChangeShapeType="1"/>
            </p:cNvSpPr>
            <p:nvPr/>
          </p:nvSpPr>
          <p:spPr bwMode="auto">
            <a:xfrm>
              <a:off x="1600" y="1144"/>
              <a:ext cx="0"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8" name="Line 1044">
              <a:extLst>
                <a:ext uri="{FF2B5EF4-FFF2-40B4-BE49-F238E27FC236}">
                  <a16:creationId xmlns:a16="http://schemas.microsoft.com/office/drawing/2014/main" id="{45FEA1E9-111D-0E02-DCEB-EDB7165DCBB4}"/>
                </a:ext>
              </a:extLst>
            </p:cNvPr>
            <p:cNvSpPr>
              <a:spLocks noChangeShapeType="1"/>
            </p:cNvSpPr>
            <p:nvPr/>
          </p:nvSpPr>
          <p:spPr bwMode="auto">
            <a:xfrm>
              <a:off x="4496" y="1144"/>
              <a:ext cx="32"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grpSp>
        <p:nvGrpSpPr>
          <p:cNvPr id="150568" name="Group 1064">
            <a:extLst>
              <a:ext uri="{FF2B5EF4-FFF2-40B4-BE49-F238E27FC236}">
                <a16:creationId xmlns:a16="http://schemas.microsoft.com/office/drawing/2014/main" id="{423A8940-B823-A5E6-EA34-6F2AE1307D80}"/>
              </a:ext>
            </a:extLst>
          </p:cNvPr>
          <p:cNvGrpSpPr>
            <a:grpSpLocks/>
          </p:cNvGrpSpPr>
          <p:nvPr/>
        </p:nvGrpSpPr>
        <p:grpSpPr bwMode="auto">
          <a:xfrm>
            <a:off x="3962400" y="1689199"/>
            <a:ext cx="4813300" cy="1063625"/>
            <a:chOff x="1536" y="1070"/>
            <a:chExt cx="3032" cy="670"/>
          </a:xfrm>
        </p:grpSpPr>
        <p:grpSp>
          <p:nvGrpSpPr>
            <p:cNvPr id="95250" name="Group 1060">
              <a:extLst>
                <a:ext uri="{FF2B5EF4-FFF2-40B4-BE49-F238E27FC236}">
                  <a16:creationId xmlns:a16="http://schemas.microsoft.com/office/drawing/2014/main" id="{33871581-3C31-DA24-011F-7227F875C602}"/>
                </a:ext>
              </a:extLst>
            </p:cNvPr>
            <p:cNvGrpSpPr>
              <a:grpSpLocks/>
            </p:cNvGrpSpPr>
            <p:nvPr/>
          </p:nvGrpSpPr>
          <p:grpSpPr bwMode="auto">
            <a:xfrm>
              <a:off x="1536" y="1352"/>
              <a:ext cx="3032" cy="388"/>
              <a:chOff x="1536" y="1352"/>
              <a:chExt cx="3032" cy="388"/>
            </a:xfrm>
          </p:grpSpPr>
          <p:grpSp>
            <p:nvGrpSpPr>
              <p:cNvPr id="95254" name="Group 1056">
                <a:extLst>
                  <a:ext uri="{FF2B5EF4-FFF2-40B4-BE49-F238E27FC236}">
                    <a16:creationId xmlns:a16="http://schemas.microsoft.com/office/drawing/2014/main" id="{4E742219-D32B-B702-AB72-A1FAB7210086}"/>
                  </a:ext>
                </a:extLst>
              </p:cNvPr>
              <p:cNvGrpSpPr>
                <a:grpSpLocks/>
              </p:cNvGrpSpPr>
              <p:nvPr/>
            </p:nvGrpSpPr>
            <p:grpSpPr bwMode="auto">
              <a:xfrm>
                <a:off x="1760" y="1470"/>
                <a:ext cx="2552" cy="270"/>
                <a:chOff x="1760" y="1470"/>
                <a:chExt cx="2552" cy="270"/>
              </a:xfrm>
            </p:grpSpPr>
            <p:sp>
              <p:nvSpPr>
                <p:cNvPr id="150554" name="Rectangle 1050">
                  <a:extLst>
                    <a:ext uri="{FF2B5EF4-FFF2-40B4-BE49-F238E27FC236}">
                      <a16:creationId xmlns:a16="http://schemas.microsoft.com/office/drawing/2014/main" id="{E780D68F-78E5-ED2F-F597-A7C623B305D2}"/>
                    </a:ext>
                  </a:extLst>
                </p:cNvPr>
                <p:cNvSpPr>
                  <a:spLocks noChangeArrowheads="1"/>
                </p:cNvSpPr>
                <p:nvPr/>
              </p:nvSpPr>
              <p:spPr bwMode="auto">
                <a:xfrm>
                  <a:off x="1760"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5" name="Rectangle 1051">
                  <a:extLst>
                    <a:ext uri="{FF2B5EF4-FFF2-40B4-BE49-F238E27FC236}">
                      <a16:creationId xmlns:a16="http://schemas.microsoft.com/office/drawing/2014/main" id="{4F3D1172-A7D8-3DC2-9067-588356281D08}"/>
                    </a:ext>
                  </a:extLst>
                </p:cNvPr>
                <p:cNvSpPr>
                  <a:spLocks noChangeArrowheads="1"/>
                </p:cNvSpPr>
                <p:nvPr/>
              </p:nvSpPr>
              <p:spPr bwMode="auto">
                <a:xfrm>
                  <a:off x="3928"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6" name="Line 1052">
                  <a:extLst>
                    <a:ext uri="{FF2B5EF4-FFF2-40B4-BE49-F238E27FC236}">
                      <a16:creationId xmlns:a16="http://schemas.microsoft.com/office/drawing/2014/main" id="{DA3A9717-EB25-B5FD-024B-B7674C80E30B}"/>
                    </a:ext>
                  </a:extLst>
                </p:cNvPr>
                <p:cNvSpPr>
                  <a:spLocks noChangeShapeType="1"/>
                </p:cNvSpPr>
                <p:nvPr/>
              </p:nvSpPr>
              <p:spPr bwMode="auto">
                <a:xfrm>
                  <a:off x="2144" y="1640"/>
                  <a:ext cx="1776" cy="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8" name="Text Box 1054">
                  <a:extLst>
                    <a:ext uri="{FF2B5EF4-FFF2-40B4-BE49-F238E27FC236}">
                      <a16:creationId xmlns:a16="http://schemas.microsoft.com/office/drawing/2014/main" id="{65914035-F765-D792-5359-C68DD45D6FF4}"/>
                    </a:ext>
                  </a:extLst>
                </p:cNvPr>
                <p:cNvSpPr txBox="1">
                  <a:spLocks noChangeArrowheads="1"/>
                </p:cNvSpPr>
                <p:nvPr/>
              </p:nvSpPr>
              <p:spPr bwMode="auto">
                <a:xfrm>
                  <a:off x="2679" y="1470"/>
                  <a:ext cx="80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 Allocation</a:t>
                  </a:r>
                </a:p>
              </p:txBody>
            </p:sp>
          </p:grpSp>
          <p:sp>
            <p:nvSpPr>
              <p:cNvPr id="150562" name="Oval 1058">
                <a:extLst>
                  <a:ext uri="{FF2B5EF4-FFF2-40B4-BE49-F238E27FC236}">
                    <a16:creationId xmlns:a16="http://schemas.microsoft.com/office/drawing/2014/main" id="{0CA09FB4-F70D-0E98-379B-A7542DD49C33}"/>
                  </a:ext>
                </a:extLst>
              </p:cNvPr>
              <p:cNvSpPr>
                <a:spLocks noChangeArrowheads="1"/>
              </p:cNvSpPr>
              <p:nvPr/>
            </p:nvSpPr>
            <p:spPr bwMode="auto">
              <a:xfrm>
                <a:off x="1536" y="1352"/>
                <a:ext cx="136" cy="12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63" name="Oval 1059">
                <a:extLst>
                  <a:ext uri="{FF2B5EF4-FFF2-40B4-BE49-F238E27FC236}">
                    <a16:creationId xmlns:a16="http://schemas.microsoft.com/office/drawing/2014/main" id="{D988DD8C-4E4F-84F7-3927-D2699E7791ED}"/>
                  </a:ext>
                </a:extLst>
              </p:cNvPr>
              <p:cNvSpPr>
                <a:spLocks noChangeArrowheads="1"/>
              </p:cNvSpPr>
              <p:nvPr/>
            </p:nvSpPr>
            <p:spPr bwMode="auto">
              <a:xfrm>
                <a:off x="4432" y="1352"/>
                <a:ext cx="136" cy="12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50565" name="Text Box 1061">
              <a:extLst>
                <a:ext uri="{FF2B5EF4-FFF2-40B4-BE49-F238E27FC236}">
                  <a16:creationId xmlns:a16="http://schemas.microsoft.com/office/drawing/2014/main" id="{9E8FADB5-6DF4-32DF-5508-9587FCFC30D6}"/>
                </a:ext>
              </a:extLst>
            </p:cNvPr>
            <p:cNvSpPr txBox="1">
              <a:spLocks noChangeArrowheads="1"/>
            </p:cNvSpPr>
            <p:nvPr/>
          </p:nvSpPr>
          <p:spPr bwMode="auto">
            <a:xfrm>
              <a:off x="2670" y="1070"/>
              <a:ext cx="42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Port-id</a:t>
              </a:r>
            </a:p>
          </p:txBody>
        </p:sp>
        <p:sp>
          <p:nvSpPr>
            <p:cNvPr id="150566" name="Line 1062">
              <a:extLst>
                <a:ext uri="{FF2B5EF4-FFF2-40B4-BE49-F238E27FC236}">
                  <a16:creationId xmlns:a16="http://schemas.microsoft.com/office/drawing/2014/main" id="{2059CE97-042A-869A-ACC5-E92E780E2A12}"/>
                </a:ext>
              </a:extLst>
            </p:cNvPr>
            <p:cNvSpPr>
              <a:spLocks noChangeShapeType="1"/>
            </p:cNvSpPr>
            <p:nvPr/>
          </p:nvSpPr>
          <p:spPr bwMode="auto">
            <a:xfrm flipH="1">
              <a:off x="1680" y="1192"/>
              <a:ext cx="992" cy="1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67" name="Line 1063">
              <a:extLst>
                <a:ext uri="{FF2B5EF4-FFF2-40B4-BE49-F238E27FC236}">
                  <a16:creationId xmlns:a16="http://schemas.microsoft.com/office/drawing/2014/main" id="{33891FA3-3BDB-394B-62A7-1DDB3D3AA279}"/>
                </a:ext>
              </a:extLst>
            </p:cNvPr>
            <p:cNvSpPr>
              <a:spLocks noChangeShapeType="1"/>
            </p:cNvSpPr>
            <p:nvPr/>
          </p:nvSpPr>
          <p:spPr bwMode="auto">
            <a:xfrm>
              <a:off x="3112" y="1168"/>
              <a:ext cx="1272" cy="2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50535" name="Line 1031">
            <a:extLst>
              <a:ext uri="{FF2B5EF4-FFF2-40B4-BE49-F238E27FC236}">
                <a16:creationId xmlns:a16="http://schemas.microsoft.com/office/drawing/2014/main" id="{B5F2039B-E8BE-69FF-5341-59DE435CDC80}"/>
              </a:ext>
            </a:extLst>
          </p:cNvPr>
          <p:cNvSpPr>
            <a:spLocks noChangeShapeType="1"/>
          </p:cNvSpPr>
          <p:nvPr/>
        </p:nvSpPr>
        <p:spPr bwMode="auto">
          <a:xfrm flipV="1">
            <a:off x="3009900" y="2238473"/>
            <a:ext cx="6172200"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36" name="Oval 1032">
            <a:extLst>
              <a:ext uri="{FF2B5EF4-FFF2-40B4-BE49-F238E27FC236}">
                <a16:creationId xmlns:a16="http://schemas.microsoft.com/office/drawing/2014/main" id="{509C3202-3E72-C13B-0B16-53E361CE88D6}"/>
              </a:ext>
            </a:extLst>
          </p:cNvPr>
          <p:cNvSpPr>
            <a:spLocks noChangeArrowheads="1"/>
          </p:cNvSpPr>
          <p:nvPr/>
        </p:nvSpPr>
        <p:spPr bwMode="auto">
          <a:xfrm>
            <a:off x="3708400" y="1133573"/>
            <a:ext cx="685800" cy="685800"/>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37" name="Oval 1033">
            <a:extLst>
              <a:ext uri="{FF2B5EF4-FFF2-40B4-BE49-F238E27FC236}">
                <a16:creationId xmlns:a16="http://schemas.microsoft.com/office/drawing/2014/main" id="{34B1FCBF-B203-AF8A-8F35-E8CC710DB96C}"/>
              </a:ext>
            </a:extLst>
          </p:cNvPr>
          <p:cNvSpPr>
            <a:spLocks noChangeArrowheads="1"/>
          </p:cNvSpPr>
          <p:nvPr/>
        </p:nvSpPr>
        <p:spPr bwMode="auto">
          <a:xfrm>
            <a:off x="8305800" y="1133573"/>
            <a:ext cx="685800" cy="685800"/>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4" name="Line 1040">
            <a:extLst>
              <a:ext uri="{FF2B5EF4-FFF2-40B4-BE49-F238E27FC236}">
                <a16:creationId xmlns:a16="http://schemas.microsoft.com/office/drawing/2014/main" id="{CA5276E0-BCFE-55E1-BFAF-E94A264416CA}"/>
              </a:ext>
            </a:extLst>
          </p:cNvPr>
          <p:cNvSpPr>
            <a:spLocks noChangeShapeType="1"/>
          </p:cNvSpPr>
          <p:nvPr/>
        </p:nvSpPr>
        <p:spPr bwMode="auto">
          <a:xfrm>
            <a:off x="3187700" y="4591053"/>
            <a:ext cx="6299200" cy="127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dirty="0">
              <a:solidFill>
                <a:srgbClr val="000000"/>
              </a:solidFill>
              <a:latin typeface="Arial" charset="0"/>
              <a:ea typeface="ＭＳ Ｐゴシック" charset="0"/>
              <a:cs typeface="ＭＳ Ｐゴシック" charset="0"/>
            </a:endParaRPr>
          </a:p>
        </p:txBody>
      </p:sp>
      <p:grpSp>
        <p:nvGrpSpPr>
          <p:cNvPr id="3" name="Group 2">
            <a:extLst>
              <a:ext uri="{FF2B5EF4-FFF2-40B4-BE49-F238E27FC236}">
                <a16:creationId xmlns:a16="http://schemas.microsoft.com/office/drawing/2014/main" id="{554200BA-2F93-0525-0ECF-0146E3348FD1}"/>
              </a:ext>
            </a:extLst>
          </p:cNvPr>
          <p:cNvGrpSpPr/>
          <p:nvPr/>
        </p:nvGrpSpPr>
        <p:grpSpPr>
          <a:xfrm>
            <a:off x="3813140" y="3605262"/>
            <a:ext cx="5295900" cy="685800"/>
            <a:chOff x="3784600" y="3140173"/>
            <a:chExt cx="5295900" cy="685800"/>
          </a:xfrm>
        </p:grpSpPr>
        <p:sp>
          <p:nvSpPr>
            <p:cNvPr id="150540" name="Oval 1036">
              <a:extLst>
                <a:ext uri="{FF2B5EF4-FFF2-40B4-BE49-F238E27FC236}">
                  <a16:creationId xmlns:a16="http://schemas.microsoft.com/office/drawing/2014/main" id="{13CA5DBE-98E8-A09C-4F29-CCFE95F9001A}"/>
                </a:ext>
              </a:extLst>
            </p:cNvPr>
            <p:cNvSpPr>
              <a:spLocks noChangeArrowheads="1"/>
            </p:cNvSpPr>
            <p:nvPr/>
          </p:nvSpPr>
          <p:spPr bwMode="auto">
            <a:xfrm>
              <a:off x="3784600" y="3140173"/>
              <a:ext cx="685800" cy="685800"/>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1" name="Oval 1037">
              <a:extLst>
                <a:ext uri="{FF2B5EF4-FFF2-40B4-BE49-F238E27FC236}">
                  <a16:creationId xmlns:a16="http://schemas.microsoft.com/office/drawing/2014/main" id="{1269F38B-FB92-7035-4A13-62DC5C2AD49D}"/>
                </a:ext>
              </a:extLst>
            </p:cNvPr>
            <p:cNvSpPr>
              <a:spLocks noChangeArrowheads="1"/>
            </p:cNvSpPr>
            <p:nvPr/>
          </p:nvSpPr>
          <p:spPr bwMode="auto">
            <a:xfrm>
              <a:off x="8394700" y="3140173"/>
              <a:ext cx="685800" cy="685800"/>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6" name="Line 1042">
              <a:extLst>
                <a:ext uri="{FF2B5EF4-FFF2-40B4-BE49-F238E27FC236}">
                  <a16:creationId xmlns:a16="http://schemas.microsoft.com/office/drawing/2014/main" id="{2371322F-60EE-2C54-5691-A887FCDF9B4A}"/>
                </a:ext>
              </a:extLst>
            </p:cNvPr>
            <p:cNvSpPr>
              <a:spLocks noChangeShapeType="1"/>
            </p:cNvSpPr>
            <p:nvPr/>
          </p:nvSpPr>
          <p:spPr bwMode="auto">
            <a:xfrm flipV="1">
              <a:off x="4343402" y="3483074"/>
              <a:ext cx="4216400" cy="127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9" name="Text Box 1055">
              <a:extLst>
                <a:ext uri="{FF2B5EF4-FFF2-40B4-BE49-F238E27FC236}">
                  <a16:creationId xmlns:a16="http://schemas.microsoft.com/office/drawing/2014/main" id="{CA2E5C98-2BAD-2D72-F157-E709FA848933}"/>
                </a:ext>
              </a:extLst>
            </p:cNvPr>
            <p:cNvSpPr txBox="1">
              <a:spLocks noChangeArrowheads="1"/>
            </p:cNvSpPr>
            <p:nvPr/>
          </p:nvSpPr>
          <p:spPr bwMode="auto">
            <a:xfrm>
              <a:off x="5857177" y="3140174"/>
              <a:ext cx="109677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Current QoS</a:t>
              </a:r>
            </a:p>
          </p:txBody>
        </p:sp>
      </p:grpSp>
      <p:sp>
        <p:nvSpPr>
          <p:cNvPr id="150575" name="Text Box 1071">
            <a:extLst>
              <a:ext uri="{FF2B5EF4-FFF2-40B4-BE49-F238E27FC236}">
                <a16:creationId xmlns:a16="http://schemas.microsoft.com/office/drawing/2014/main" id="{9CDE31CD-95EC-5ADA-D0C3-0DED6AD7C577}"/>
              </a:ext>
            </a:extLst>
          </p:cNvPr>
          <p:cNvSpPr txBox="1">
            <a:spLocks noChangeArrowheads="1"/>
          </p:cNvSpPr>
          <p:nvPr/>
        </p:nvSpPr>
        <p:spPr bwMode="auto">
          <a:xfrm>
            <a:off x="7899400" y="6613526"/>
            <a:ext cx="2578100" cy="244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128448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53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053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0531">
                                            <p:txEl>
                                              <p:pRg st="3" end="3"/>
                                            </p:txEl>
                                          </p:spTgt>
                                        </p:tgtEl>
                                        <p:attrNameLst>
                                          <p:attrName>style.visibility</p:attrName>
                                        </p:attrNameLst>
                                      </p:cBhvr>
                                      <p:to>
                                        <p:strVal val="visible"/>
                                      </p:to>
                                    </p:set>
                                  </p:childTnLst>
                                </p:cTn>
                              </p:par>
                              <p:par>
                                <p:cTn id="21" presetID="10" presetClass="exit" presetSubtype="0" fill="hold" nodeType="withEffect">
                                  <p:stCondLst>
                                    <p:cond delay="0"/>
                                  </p:stCondLst>
                                  <p:childTnLst>
                                    <p:animEffect transition="out" filter="fade">
                                      <p:cBhvr>
                                        <p:cTn id="22" dur="500"/>
                                        <p:tgtEl>
                                          <p:spTgt spid="3"/>
                                        </p:tgtEl>
                                      </p:cBhvr>
                                    </p:animEffect>
                                    <p:set>
                                      <p:cBhvr>
                                        <p:cTn id="23"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1FC1-07C8-FDEE-AB0C-8E258CAF998D}"/>
            </a:ext>
          </a:extLst>
        </p:cNvPr>
        <p:cNvGrpSpPr/>
        <p:nvPr/>
      </p:nvGrpSpPr>
      <p:grpSpPr>
        <a:xfrm>
          <a:off x="0" y="0"/>
          <a:ext cx="0" cy="0"/>
          <a:chOff x="0" y="0"/>
          <a:chExt cx="0" cy="0"/>
        </a:xfrm>
      </p:grpSpPr>
      <p:sp>
        <p:nvSpPr>
          <p:cNvPr id="150530" name="Rectangle 1026">
            <a:extLst>
              <a:ext uri="{FF2B5EF4-FFF2-40B4-BE49-F238E27FC236}">
                <a16:creationId xmlns:a16="http://schemas.microsoft.com/office/drawing/2014/main" id="{508AE549-01E4-D05E-6F0F-35AB7450E4A0}"/>
              </a:ext>
            </a:extLst>
          </p:cNvPr>
          <p:cNvSpPr>
            <a:spLocks noGrp="1" noChangeArrowheads="1"/>
          </p:cNvSpPr>
          <p:nvPr>
            <p:ph type="title"/>
          </p:nvPr>
        </p:nvSpPr>
        <p:spPr>
          <a:xfrm>
            <a:off x="838200" y="-53973"/>
            <a:ext cx="10515600" cy="1325563"/>
          </a:xfrm>
        </p:spPr>
        <p:txBody>
          <a:bodyPr/>
          <a:lstStyle/>
          <a:p>
            <a:pPr eaLnBrk="1" hangingPunct="1">
              <a:defRPr/>
            </a:pPr>
            <a:r>
              <a:rPr lang="en-US" dirty="0">
                <a:solidFill>
                  <a:srgbClr val="000000"/>
                </a:solidFill>
                <a:cs typeface="+mj-cs"/>
              </a:rPr>
              <a:t>Allocating a Flow with Different QoS</a:t>
            </a:r>
            <a:br>
              <a:rPr lang="en-US" dirty="0">
                <a:solidFill>
                  <a:srgbClr val="000000"/>
                </a:solidFill>
                <a:cs typeface="+mj-cs"/>
              </a:rPr>
            </a:br>
            <a:r>
              <a:rPr lang="en-US" sz="2400" dirty="0">
                <a:solidFill>
                  <a:srgbClr val="000000"/>
                </a:solidFill>
                <a:cs typeface="+mj-cs"/>
              </a:rPr>
              <a:t>in Each Direction</a:t>
            </a:r>
          </a:p>
        </p:txBody>
      </p:sp>
      <p:sp>
        <p:nvSpPr>
          <p:cNvPr id="150531" name="Rectangle 1027">
            <a:extLst>
              <a:ext uri="{FF2B5EF4-FFF2-40B4-BE49-F238E27FC236}">
                <a16:creationId xmlns:a16="http://schemas.microsoft.com/office/drawing/2014/main" id="{0607A6ED-5017-B011-7C2A-BD05E27D7779}"/>
              </a:ext>
            </a:extLst>
          </p:cNvPr>
          <p:cNvSpPr>
            <a:spLocks noGrp="1" noChangeArrowheads="1"/>
          </p:cNvSpPr>
          <p:nvPr>
            <p:ph type="body" idx="1"/>
          </p:nvPr>
        </p:nvSpPr>
        <p:spPr>
          <a:xfrm>
            <a:off x="1832797" y="4985478"/>
            <a:ext cx="8526406" cy="1410248"/>
          </a:xfrm>
        </p:spPr>
        <p:txBody>
          <a:bodyPr>
            <a:normAutofit/>
          </a:bodyPr>
          <a:lstStyle/>
          <a:p>
            <a:pPr eaLnBrk="1" hangingPunct="1">
              <a:defRPr/>
            </a:pPr>
            <a:r>
              <a:rPr lang="en-US" sz="1800" dirty="0">
                <a:cs typeface="+mn-cs"/>
              </a:rPr>
              <a:t>Allocating a Flow with different QoS in each direction:</a:t>
            </a:r>
          </a:p>
          <a:p>
            <a:pPr lvl="1">
              <a:defRPr/>
            </a:pPr>
            <a:r>
              <a:rPr lang="en-US" sz="1400" dirty="0"/>
              <a:t>The Allocate API specifies two QoS parameter lists for input and output</a:t>
            </a:r>
          </a:p>
          <a:p>
            <a:pPr lvl="1">
              <a:defRPr/>
            </a:pPr>
            <a:r>
              <a:rPr lang="en-US" sz="1400" dirty="0"/>
              <a:t>Create two connections both bound to the same port-ids. </a:t>
            </a:r>
          </a:p>
          <a:p>
            <a:pPr lvl="1">
              <a:defRPr/>
            </a:pPr>
            <a:r>
              <a:rPr lang="en-US" sz="1400" dirty="0"/>
              <a:t>Writes send data on the </a:t>
            </a:r>
            <a:r>
              <a:rPr lang="en-US" sz="1400"/>
              <a:t>outgoing connection; </a:t>
            </a:r>
            <a:r>
              <a:rPr lang="en-US" sz="1400" dirty="0"/>
              <a:t>Reads receive data on the incoming connection.</a:t>
            </a:r>
          </a:p>
          <a:p>
            <a:pPr lvl="1">
              <a:defRPr/>
            </a:pPr>
            <a:r>
              <a:rPr lang="en-US" sz="1400" dirty="0"/>
              <a:t>The same parameters can be used to modify QoS on either connection or both.</a:t>
            </a:r>
          </a:p>
          <a:p>
            <a:pPr lvl="1">
              <a:defRPr/>
            </a:pPr>
            <a:endParaRPr lang="en-US" sz="1400" dirty="0"/>
          </a:p>
        </p:txBody>
      </p:sp>
      <p:grpSp>
        <p:nvGrpSpPr>
          <p:cNvPr id="95250" name="Group 1060">
            <a:extLst>
              <a:ext uri="{FF2B5EF4-FFF2-40B4-BE49-F238E27FC236}">
                <a16:creationId xmlns:a16="http://schemas.microsoft.com/office/drawing/2014/main" id="{A7FF2006-D23C-69F6-A0CD-A3B04C70F7E3}"/>
              </a:ext>
            </a:extLst>
          </p:cNvPr>
          <p:cNvGrpSpPr>
            <a:grpSpLocks/>
          </p:cNvGrpSpPr>
          <p:nvPr/>
        </p:nvGrpSpPr>
        <p:grpSpPr bwMode="auto">
          <a:xfrm>
            <a:off x="3962400" y="2136874"/>
            <a:ext cx="4813300" cy="615950"/>
            <a:chOff x="1536" y="1352"/>
            <a:chExt cx="3032" cy="388"/>
          </a:xfrm>
        </p:grpSpPr>
        <p:grpSp>
          <p:nvGrpSpPr>
            <p:cNvPr id="95254" name="Group 1056">
              <a:extLst>
                <a:ext uri="{FF2B5EF4-FFF2-40B4-BE49-F238E27FC236}">
                  <a16:creationId xmlns:a16="http://schemas.microsoft.com/office/drawing/2014/main" id="{FB2CD3FE-CB54-B66C-0BE9-C775136C951D}"/>
                </a:ext>
              </a:extLst>
            </p:cNvPr>
            <p:cNvGrpSpPr>
              <a:grpSpLocks/>
            </p:cNvGrpSpPr>
            <p:nvPr/>
          </p:nvGrpSpPr>
          <p:grpSpPr bwMode="auto">
            <a:xfrm>
              <a:off x="1760" y="1470"/>
              <a:ext cx="2552" cy="270"/>
              <a:chOff x="1760" y="1470"/>
              <a:chExt cx="2552" cy="270"/>
            </a:xfrm>
          </p:grpSpPr>
          <p:sp>
            <p:nvSpPr>
              <p:cNvPr id="150554" name="Rectangle 1050">
                <a:extLst>
                  <a:ext uri="{FF2B5EF4-FFF2-40B4-BE49-F238E27FC236}">
                    <a16:creationId xmlns:a16="http://schemas.microsoft.com/office/drawing/2014/main" id="{6EF2795A-65FD-B6EA-5C25-7FD9D2DAD58D}"/>
                  </a:ext>
                </a:extLst>
              </p:cNvPr>
              <p:cNvSpPr>
                <a:spLocks noChangeArrowheads="1"/>
              </p:cNvSpPr>
              <p:nvPr/>
            </p:nvSpPr>
            <p:spPr bwMode="auto">
              <a:xfrm>
                <a:off x="1760"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5" name="Rectangle 1051">
                <a:extLst>
                  <a:ext uri="{FF2B5EF4-FFF2-40B4-BE49-F238E27FC236}">
                    <a16:creationId xmlns:a16="http://schemas.microsoft.com/office/drawing/2014/main" id="{8F08960F-9413-94EC-1392-5F1704967A3D}"/>
                  </a:ext>
                </a:extLst>
              </p:cNvPr>
              <p:cNvSpPr>
                <a:spLocks noChangeArrowheads="1"/>
              </p:cNvSpPr>
              <p:nvPr/>
            </p:nvSpPr>
            <p:spPr bwMode="auto">
              <a:xfrm>
                <a:off x="3928"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6" name="Line 1052">
                <a:extLst>
                  <a:ext uri="{FF2B5EF4-FFF2-40B4-BE49-F238E27FC236}">
                    <a16:creationId xmlns:a16="http://schemas.microsoft.com/office/drawing/2014/main" id="{8949D936-4F39-C8E0-427E-BA7D686B84DC}"/>
                  </a:ext>
                </a:extLst>
              </p:cNvPr>
              <p:cNvSpPr>
                <a:spLocks noChangeShapeType="1"/>
              </p:cNvSpPr>
              <p:nvPr/>
            </p:nvSpPr>
            <p:spPr bwMode="auto">
              <a:xfrm>
                <a:off x="2144" y="1640"/>
                <a:ext cx="1776" cy="8"/>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8" name="Text Box 1054">
                <a:extLst>
                  <a:ext uri="{FF2B5EF4-FFF2-40B4-BE49-F238E27FC236}">
                    <a16:creationId xmlns:a16="http://schemas.microsoft.com/office/drawing/2014/main" id="{1EB618AD-674B-8F1C-D284-EAD77FC0B4FC}"/>
                  </a:ext>
                </a:extLst>
              </p:cNvPr>
              <p:cNvSpPr txBox="1">
                <a:spLocks noChangeArrowheads="1"/>
              </p:cNvSpPr>
              <p:nvPr/>
            </p:nvSpPr>
            <p:spPr bwMode="auto">
              <a:xfrm>
                <a:off x="2679" y="1470"/>
                <a:ext cx="80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srgbClr val="000000"/>
                    </a:solidFill>
                    <a:latin typeface="Times" charset="0"/>
                    <a:ea typeface="ＭＳ Ｐゴシック" charset="0"/>
                    <a:cs typeface="ＭＳ Ｐゴシック" charset="0"/>
                  </a:rPr>
                  <a:t>Port Allocation</a:t>
                </a:r>
              </a:p>
            </p:txBody>
          </p:sp>
        </p:grpSp>
        <p:sp>
          <p:nvSpPr>
            <p:cNvPr id="150562" name="Oval 1058">
              <a:extLst>
                <a:ext uri="{FF2B5EF4-FFF2-40B4-BE49-F238E27FC236}">
                  <a16:creationId xmlns:a16="http://schemas.microsoft.com/office/drawing/2014/main" id="{66D7606F-13C2-CC7E-6D2F-5E05A2F2B815}"/>
                </a:ext>
              </a:extLst>
            </p:cNvPr>
            <p:cNvSpPr>
              <a:spLocks noChangeArrowheads="1"/>
            </p:cNvSpPr>
            <p:nvPr/>
          </p:nvSpPr>
          <p:spPr bwMode="auto">
            <a:xfrm>
              <a:off x="1536" y="1352"/>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63" name="Oval 1059">
              <a:extLst>
                <a:ext uri="{FF2B5EF4-FFF2-40B4-BE49-F238E27FC236}">
                  <a16:creationId xmlns:a16="http://schemas.microsoft.com/office/drawing/2014/main" id="{4C3E2852-1C59-0297-BD21-AC4795679C9E}"/>
                </a:ext>
              </a:extLst>
            </p:cNvPr>
            <p:cNvSpPr>
              <a:spLocks noChangeArrowheads="1"/>
            </p:cNvSpPr>
            <p:nvPr/>
          </p:nvSpPr>
          <p:spPr bwMode="auto">
            <a:xfrm>
              <a:off x="4432" y="1352"/>
              <a:ext cx="136" cy="12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
        <p:nvSpPr>
          <p:cNvPr id="150535" name="Line 1031">
            <a:extLst>
              <a:ext uri="{FF2B5EF4-FFF2-40B4-BE49-F238E27FC236}">
                <a16:creationId xmlns:a16="http://schemas.microsoft.com/office/drawing/2014/main" id="{CFEE8DC4-8E85-50B5-8A63-EDAC3D4AEE2C}"/>
              </a:ext>
            </a:extLst>
          </p:cNvPr>
          <p:cNvSpPr>
            <a:spLocks noChangeShapeType="1"/>
          </p:cNvSpPr>
          <p:nvPr/>
        </p:nvSpPr>
        <p:spPr bwMode="auto">
          <a:xfrm flipV="1">
            <a:off x="3009900" y="2238473"/>
            <a:ext cx="6172200"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36" name="Oval 1032">
            <a:extLst>
              <a:ext uri="{FF2B5EF4-FFF2-40B4-BE49-F238E27FC236}">
                <a16:creationId xmlns:a16="http://schemas.microsoft.com/office/drawing/2014/main" id="{C8C0A262-3A08-AF2C-CDD3-0E21688D9B21}"/>
              </a:ext>
            </a:extLst>
          </p:cNvPr>
          <p:cNvSpPr>
            <a:spLocks noChangeArrowheads="1"/>
          </p:cNvSpPr>
          <p:nvPr/>
        </p:nvSpPr>
        <p:spPr bwMode="auto">
          <a:xfrm>
            <a:off x="3727450" y="1207381"/>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37" name="Oval 1033">
            <a:extLst>
              <a:ext uri="{FF2B5EF4-FFF2-40B4-BE49-F238E27FC236}">
                <a16:creationId xmlns:a16="http://schemas.microsoft.com/office/drawing/2014/main" id="{26EABEFE-4A19-C6D7-0BA7-A73757834563}"/>
              </a:ext>
            </a:extLst>
          </p:cNvPr>
          <p:cNvSpPr>
            <a:spLocks noChangeArrowheads="1"/>
          </p:cNvSpPr>
          <p:nvPr/>
        </p:nvSpPr>
        <p:spPr bwMode="auto">
          <a:xfrm>
            <a:off x="8305800" y="1133573"/>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75" name="Text Box 1071">
            <a:extLst>
              <a:ext uri="{FF2B5EF4-FFF2-40B4-BE49-F238E27FC236}">
                <a16:creationId xmlns:a16="http://schemas.microsoft.com/office/drawing/2014/main" id="{0E4E2AA8-E3F1-6427-1D43-DB599220FAE8}"/>
              </a:ext>
            </a:extLst>
          </p:cNvPr>
          <p:cNvSpPr txBox="1">
            <a:spLocks noChangeArrowheads="1"/>
          </p:cNvSpPr>
          <p:nvPr/>
        </p:nvSpPr>
        <p:spPr bwMode="auto">
          <a:xfrm>
            <a:off x="7899400" y="6613526"/>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2" name="TextBox 1">
            <a:extLst>
              <a:ext uri="{FF2B5EF4-FFF2-40B4-BE49-F238E27FC236}">
                <a16:creationId xmlns:a16="http://schemas.microsoft.com/office/drawing/2014/main" id="{B0B03FDD-AC7F-174A-6225-5D22CD2A41FC}"/>
              </a:ext>
            </a:extLst>
          </p:cNvPr>
          <p:cNvSpPr txBox="1"/>
          <p:nvPr/>
        </p:nvSpPr>
        <p:spPr>
          <a:xfrm>
            <a:off x="4205698" y="1828904"/>
            <a:ext cx="3510898"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Allocate(</a:t>
            </a:r>
            <a:r>
              <a:rPr lang="en-US" sz="1200" dirty="0" err="1">
                <a:latin typeface="Times New Roman" panose="02020603050405020304" pitchFamily="18" charset="0"/>
                <a:cs typeface="Times New Roman" panose="02020603050405020304" pitchFamily="18" charset="0"/>
              </a:rPr>
              <a:t>dest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src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sym</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asym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i</a:t>
            </a:r>
            <a:r>
              <a:rPr lang="en-US" sz="1200" dirty="0">
                <a:latin typeface="Times New Roman" panose="02020603050405020304" pitchFamily="18" charset="0"/>
                <a:cs typeface="Times New Roman" panose="02020603050405020304" pitchFamily="18" charset="0"/>
              </a:rPr>
              <a:t>/o, QoS-1, QoS-2, etc.)</a:t>
            </a:r>
          </a:p>
        </p:txBody>
      </p:sp>
      <p:grpSp>
        <p:nvGrpSpPr>
          <p:cNvPr id="19" name="Group 18">
            <a:extLst>
              <a:ext uri="{FF2B5EF4-FFF2-40B4-BE49-F238E27FC236}">
                <a16:creationId xmlns:a16="http://schemas.microsoft.com/office/drawing/2014/main" id="{FA96D8D6-7067-E2C0-1E5C-46DEDBD33EF6}"/>
              </a:ext>
            </a:extLst>
          </p:cNvPr>
          <p:cNvGrpSpPr/>
          <p:nvPr/>
        </p:nvGrpSpPr>
        <p:grpSpPr>
          <a:xfrm>
            <a:off x="3116740" y="1798680"/>
            <a:ext cx="6558572" cy="2805073"/>
            <a:chOff x="3116740" y="1798680"/>
            <a:chExt cx="6558572" cy="2805073"/>
          </a:xfrm>
        </p:grpSpPr>
        <p:sp>
          <p:nvSpPr>
            <p:cNvPr id="150547" name="Line 1043">
              <a:extLst>
                <a:ext uri="{FF2B5EF4-FFF2-40B4-BE49-F238E27FC236}">
                  <a16:creationId xmlns:a16="http://schemas.microsoft.com/office/drawing/2014/main" id="{3E11CA51-A6D0-8950-5E6C-79EF9FADB647}"/>
                </a:ext>
              </a:extLst>
            </p:cNvPr>
            <p:cNvSpPr>
              <a:spLocks noChangeShapeType="1"/>
            </p:cNvSpPr>
            <p:nvPr/>
          </p:nvSpPr>
          <p:spPr bwMode="auto">
            <a:xfrm flipH="1">
              <a:off x="3530462" y="2236081"/>
              <a:ext cx="491002" cy="911202"/>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8" name="Line 1044">
              <a:extLst>
                <a:ext uri="{FF2B5EF4-FFF2-40B4-BE49-F238E27FC236}">
                  <a16:creationId xmlns:a16="http://schemas.microsoft.com/office/drawing/2014/main" id="{9EB8E3F5-CB6D-3DB0-F527-5D088AB70757}"/>
                </a:ext>
              </a:extLst>
            </p:cNvPr>
            <p:cNvSpPr>
              <a:spLocks noChangeShapeType="1"/>
            </p:cNvSpPr>
            <p:nvPr/>
          </p:nvSpPr>
          <p:spPr bwMode="auto">
            <a:xfrm>
              <a:off x="8665995" y="2153408"/>
              <a:ext cx="643105" cy="1001867"/>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4" name="Line 1040">
              <a:extLst>
                <a:ext uri="{FF2B5EF4-FFF2-40B4-BE49-F238E27FC236}">
                  <a16:creationId xmlns:a16="http://schemas.microsoft.com/office/drawing/2014/main" id="{01259038-523D-1FF8-6652-FDD42282126C}"/>
                </a:ext>
              </a:extLst>
            </p:cNvPr>
            <p:cNvSpPr>
              <a:spLocks noChangeShapeType="1"/>
            </p:cNvSpPr>
            <p:nvPr/>
          </p:nvSpPr>
          <p:spPr bwMode="auto">
            <a:xfrm>
              <a:off x="3187700" y="4591053"/>
              <a:ext cx="6299200" cy="1270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dirty="0">
                <a:solidFill>
                  <a:srgbClr val="000000"/>
                </a:solidFill>
                <a:latin typeface="Arial" charset="0"/>
                <a:ea typeface="ＭＳ Ｐゴシック" charset="0"/>
                <a:cs typeface="ＭＳ Ｐゴシック" charset="0"/>
              </a:endParaRPr>
            </a:p>
          </p:txBody>
        </p:sp>
        <p:grpSp>
          <p:nvGrpSpPr>
            <p:cNvPr id="16" name="Group 15">
              <a:extLst>
                <a:ext uri="{FF2B5EF4-FFF2-40B4-BE49-F238E27FC236}">
                  <a16:creationId xmlns:a16="http://schemas.microsoft.com/office/drawing/2014/main" id="{E549B7E7-ACE4-F028-004A-72E34B78A69E}"/>
                </a:ext>
              </a:extLst>
            </p:cNvPr>
            <p:cNvGrpSpPr/>
            <p:nvPr/>
          </p:nvGrpSpPr>
          <p:grpSpPr>
            <a:xfrm>
              <a:off x="3116740" y="3112367"/>
              <a:ext cx="6558572" cy="1178695"/>
              <a:chOff x="3116740" y="3112367"/>
              <a:chExt cx="6558572" cy="1178695"/>
            </a:xfrm>
          </p:grpSpPr>
          <p:sp>
            <p:nvSpPr>
              <p:cNvPr id="5" name="Oval 1036">
                <a:extLst>
                  <a:ext uri="{FF2B5EF4-FFF2-40B4-BE49-F238E27FC236}">
                    <a16:creationId xmlns:a16="http://schemas.microsoft.com/office/drawing/2014/main" id="{79C5FF23-1563-D6F2-8416-0993B46612A2}"/>
                  </a:ext>
                </a:extLst>
              </p:cNvPr>
              <p:cNvSpPr>
                <a:spLocks noChangeArrowheads="1"/>
              </p:cNvSpPr>
              <p:nvPr/>
            </p:nvSpPr>
            <p:spPr bwMode="auto">
              <a:xfrm>
                <a:off x="3116740" y="3112367"/>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6" name="Oval 1037">
                <a:extLst>
                  <a:ext uri="{FF2B5EF4-FFF2-40B4-BE49-F238E27FC236}">
                    <a16:creationId xmlns:a16="http://schemas.microsoft.com/office/drawing/2014/main" id="{A58562D9-C5DF-EBEA-A122-FC51A1DE353C}"/>
                  </a:ext>
                </a:extLst>
              </p:cNvPr>
              <p:cNvSpPr>
                <a:spLocks noChangeArrowheads="1"/>
              </p:cNvSpPr>
              <p:nvPr/>
            </p:nvSpPr>
            <p:spPr bwMode="auto">
              <a:xfrm>
                <a:off x="8989512" y="3120292"/>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8" name="Text Box 1055">
                <a:extLst>
                  <a:ext uri="{FF2B5EF4-FFF2-40B4-BE49-F238E27FC236}">
                    <a16:creationId xmlns:a16="http://schemas.microsoft.com/office/drawing/2014/main" id="{AFE78125-10A9-A8E1-B6CB-A6E812D11991}"/>
                  </a:ext>
                </a:extLst>
              </p:cNvPr>
              <p:cNvSpPr txBox="1">
                <a:spLocks noChangeArrowheads="1"/>
              </p:cNvSpPr>
              <p:nvPr/>
            </p:nvSpPr>
            <p:spPr bwMode="auto">
              <a:xfrm>
                <a:off x="5816793" y="3120293"/>
                <a:ext cx="124104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Outgoing-QoS</a:t>
                </a:r>
              </a:p>
            </p:txBody>
          </p:sp>
          <p:sp>
            <p:nvSpPr>
              <p:cNvPr id="150540" name="Oval 1036">
                <a:extLst>
                  <a:ext uri="{FF2B5EF4-FFF2-40B4-BE49-F238E27FC236}">
                    <a16:creationId xmlns:a16="http://schemas.microsoft.com/office/drawing/2014/main" id="{0CCD9E5C-AA10-AE7A-70B6-1D627367BBB4}"/>
                  </a:ext>
                </a:extLst>
              </p:cNvPr>
              <p:cNvSpPr>
                <a:spLocks noChangeArrowheads="1"/>
              </p:cNvSpPr>
              <p:nvPr/>
            </p:nvSpPr>
            <p:spPr bwMode="auto">
              <a:xfrm>
                <a:off x="3813140" y="3605262"/>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41" name="Oval 1037">
                <a:extLst>
                  <a:ext uri="{FF2B5EF4-FFF2-40B4-BE49-F238E27FC236}">
                    <a16:creationId xmlns:a16="http://schemas.microsoft.com/office/drawing/2014/main" id="{3D03ACE9-A620-E863-8D1F-F206A25A4281}"/>
                  </a:ext>
                </a:extLst>
              </p:cNvPr>
              <p:cNvSpPr>
                <a:spLocks noChangeArrowheads="1"/>
              </p:cNvSpPr>
              <p:nvPr/>
            </p:nvSpPr>
            <p:spPr bwMode="auto">
              <a:xfrm>
                <a:off x="8423240" y="3605262"/>
                <a:ext cx="685800" cy="685800"/>
              </a:xfrm>
              <a:prstGeom prst="ellipse">
                <a:avLst/>
              </a:prstGeom>
              <a:solidFill>
                <a:srgbClr val="00B05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50559" name="Text Box 1055">
                <a:extLst>
                  <a:ext uri="{FF2B5EF4-FFF2-40B4-BE49-F238E27FC236}">
                    <a16:creationId xmlns:a16="http://schemas.microsoft.com/office/drawing/2014/main" id="{6DF51505-5437-8327-6424-239FE07B789A}"/>
                  </a:ext>
                </a:extLst>
              </p:cNvPr>
              <p:cNvSpPr txBox="1">
                <a:spLocks noChangeArrowheads="1"/>
              </p:cNvSpPr>
              <p:nvPr/>
            </p:nvSpPr>
            <p:spPr bwMode="auto">
              <a:xfrm>
                <a:off x="5766295" y="3605263"/>
                <a:ext cx="1335623"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dirty="0">
                    <a:solidFill>
                      <a:srgbClr val="000000"/>
                    </a:solidFill>
                    <a:latin typeface="Times" charset="0"/>
                    <a:ea typeface="ＭＳ Ｐゴシック" charset="0"/>
                    <a:cs typeface="ＭＳ Ｐゴシック" charset="0"/>
                  </a:rPr>
                  <a:t>Incoming-QOS </a:t>
                </a:r>
              </a:p>
            </p:txBody>
          </p:sp>
          <p:cxnSp>
            <p:nvCxnSpPr>
              <p:cNvPr id="10" name="Straight Arrow Connector 9">
                <a:extLst>
                  <a:ext uri="{FF2B5EF4-FFF2-40B4-BE49-F238E27FC236}">
                    <a16:creationId xmlns:a16="http://schemas.microsoft.com/office/drawing/2014/main" id="{F8805777-615D-8BDD-1AF7-AE3E7417A1BE}"/>
                  </a:ext>
                </a:extLst>
              </p:cNvPr>
              <p:cNvCxnSpPr>
                <a:stCxn id="5" idx="6"/>
                <a:endCxn id="6" idx="2"/>
              </p:cNvCxnSpPr>
              <p:nvPr/>
            </p:nvCxnSpPr>
            <p:spPr>
              <a:xfrm>
                <a:off x="3802540" y="3455267"/>
                <a:ext cx="5186972" cy="79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0C54EAA-064C-2B5F-187F-61E1C4E5C8A0}"/>
                  </a:ext>
                </a:extLst>
              </p:cNvPr>
              <p:cNvCxnSpPr>
                <a:stCxn id="150541" idx="2"/>
                <a:endCxn id="150540" idx="6"/>
              </p:cNvCxnSpPr>
              <p:nvPr/>
            </p:nvCxnSpPr>
            <p:spPr>
              <a:xfrm flipH="1">
                <a:off x="4498940" y="3948162"/>
                <a:ext cx="39243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Line 1043">
              <a:extLst>
                <a:ext uri="{FF2B5EF4-FFF2-40B4-BE49-F238E27FC236}">
                  <a16:creationId xmlns:a16="http://schemas.microsoft.com/office/drawing/2014/main" id="{F2B4B5CD-7313-1C74-3502-054F588B9105}"/>
                </a:ext>
              </a:extLst>
            </p:cNvPr>
            <p:cNvSpPr>
              <a:spLocks noChangeShapeType="1"/>
            </p:cNvSpPr>
            <p:nvPr/>
          </p:nvSpPr>
          <p:spPr bwMode="auto">
            <a:xfrm>
              <a:off x="4115604" y="1862422"/>
              <a:ext cx="46990" cy="1742840"/>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sp>
          <p:nvSpPr>
            <p:cNvPr id="18" name="Line 1044">
              <a:extLst>
                <a:ext uri="{FF2B5EF4-FFF2-40B4-BE49-F238E27FC236}">
                  <a16:creationId xmlns:a16="http://schemas.microsoft.com/office/drawing/2014/main" id="{86355E0F-C836-89C7-72BE-BA013253B1DA}"/>
                </a:ext>
              </a:extLst>
            </p:cNvPr>
            <p:cNvSpPr>
              <a:spLocks noChangeShapeType="1"/>
            </p:cNvSpPr>
            <p:nvPr/>
          </p:nvSpPr>
          <p:spPr bwMode="auto">
            <a:xfrm>
              <a:off x="8624632" y="1798680"/>
              <a:ext cx="175086" cy="1806581"/>
            </a:xfrm>
            <a:prstGeom prst="line">
              <a:avLst/>
            </a:prstGeom>
            <a:noFill/>
            <a:ln w="28575">
              <a:solidFill>
                <a:schemeClr val="tx1"/>
              </a:solidFill>
              <a:prstDash val="dash"/>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cs typeface="ＭＳ Ｐゴシック" charset="0"/>
              </a:endParaRPr>
            </a:p>
          </p:txBody>
        </p:sp>
      </p:grpSp>
    </p:spTree>
    <p:extLst>
      <p:ext uri="{BB962C8B-B14F-4D97-AF65-F5344CB8AC3E}">
        <p14:creationId xmlns:p14="http://schemas.microsoft.com/office/powerpoint/2010/main" val="3416874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5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053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0531">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0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uiExpand="1" build="p"/>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p:cNvSpPr>
          <p:nvPr>
            <p:ph type="title" idx="4294967295"/>
          </p:nvPr>
        </p:nvSpPr>
        <p:spPr/>
        <p:txBody>
          <a:bodyPr/>
          <a:lstStyle/>
          <a:p>
            <a:pPr algn="l"/>
            <a:r>
              <a:rPr lang="en-US" sz="3200" dirty="0">
                <a:solidFill>
                  <a:srgbClr val="007FA3"/>
                </a:solidFill>
                <a:latin typeface="Times New Roman" charset="0"/>
              </a:rPr>
              <a:t>Also Simplifies Layer Sec</a:t>
            </a:r>
            <a:r>
              <a:rPr lang="en-US" dirty="0">
                <a:solidFill>
                  <a:srgbClr val="007FA3"/>
                </a:solidFill>
                <a:latin typeface="Times New Roman" charset="0"/>
              </a:rPr>
              <a:t>urity</a:t>
            </a:r>
            <a:endParaRPr dirty="0">
              <a:solidFill>
                <a:srgbClr val="007FA3"/>
              </a:solidFill>
              <a:latin typeface="Times New Roman" charset="0"/>
            </a:endParaRPr>
          </a:p>
        </p:txBody>
      </p:sp>
      <p:sp>
        <p:nvSpPr>
          <p:cNvPr id="152579" name="Rectangle 3"/>
          <p:cNvSpPr>
            <a:spLocks noGrp="1"/>
          </p:cNvSpPr>
          <p:nvPr>
            <p:ph type="body" idx="4294967295"/>
          </p:nvPr>
        </p:nvSpPr>
        <p:spPr>
          <a:xfrm>
            <a:off x="1816100" y="4089400"/>
            <a:ext cx="8559800" cy="2247900"/>
          </a:xfrm>
        </p:spPr>
        <p:txBody>
          <a:bodyPr/>
          <a:lstStyle/>
          <a:p>
            <a:pPr marL="266700" indent="-266700">
              <a:buFont typeface="Times" charset="0"/>
              <a:buChar char="•"/>
            </a:pPr>
            <a:r>
              <a:rPr lang="en-US" sz="2000" dirty="0">
                <a:latin typeface="Times New Roman" charset="0"/>
              </a:rPr>
              <a:t>The problem: sequence numbers should not repeat with same connection-ids.</a:t>
            </a:r>
          </a:p>
          <a:p>
            <a:pPr marL="266700" indent="-266700">
              <a:buFont typeface="Times" charset="0"/>
              <a:buChar char="•"/>
            </a:pPr>
            <a:r>
              <a:rPr lang="en-US" sz="2000" dirty="0">
                <a:latin typeface="Times New Roman" charset="0"/>
              </a:rPr>
              <a:t>But with delta-t port allocation and synchronization are independent.</a:t>
            </a:r>
          </a:p>
          <a:p>
            <a:pPr marL="723900" lvl="1" indent="-342900">
              <a:buFont typeface="Times" charset="0"/>
              <a:buChar char="•"/>
            </a:pPr>
            <a:r>
              <a:rPr lang="en-US" sz="1800" dirty="0">
                <a:latin typeface="Times"/>
                <a:cs typeface="Times"/>
              </a:rPr>
              <a:t>Port-ids are not the connection-endpoint-ids carried in protocol.</a:t>
            </a:r>
          </a:p>
          <a:p>
            <a:pPr marL="266700" indent="-266700">
              <a:buFont typeface="Times" charset="0"/>
              <a:buChar char="•"/>
            </a:pPr>
            <a:r>
              <a:rPr lang="en-US" sz="2000" dirty="0">
                <a:latin typeface="Times New Roman" charset="0"/>
              </a:rPr>
              <a:t>Create new connection with different connection-endpoint-ids bound to the same ports.</a:t>
            </a:r>
          </a:p>
          <a:p>
            <a:pPr marL="266700" indent="-266700">
              <a:buFont typeface="Times" charset="0"/>
              <a:buChar char="•"/>
            </a:pPr>
            <a:r>
              <a:rPr lang="en-US" sz="2000" dirty="0">
                <a:latin typeface="Times New Roman" charset="0"/>
              </a:rPr>
              <a:t>SDU Protection encrypts the result.  QED</a:t>
            </a:r>
          </a:p>
        </p:txBody>
      </p:sp>
      <p:grpSp>
        <p:nvGrpSpPr>
          <p:cNvPr id="72707" name="Group 4"/>
          <p:cNvGrpSpPr>
            <a:grpSpLocks/>
          </p:cNvGrpSpPr>
          <p:nvPr/>
        </p:nvGrpSpPr>
        <p:grpSpPr bwMode="auto">
          <a:xfrm>
            <a:off x="4076700" y="1816100"/>
            <a:ext cx="4635500" cy="1308100"/>
            <a:chOff x="1600" y="1144"/>
            <a:chExt cx="2928" cy="960"/>
          </a:xfrm>
        </p:grpSpPr>
        <p:sp>
          <p:nvSpPr>
            <p:cNvPr id="152581" name="Line 5"/>
            <p:cNvSpPr>
              <a:spLocks noChangeShapeType="1"/>
            </p:cNvSpPr>
            <p:nvPr/>
          </p:nvSpPr>
          <p:spPr bwMode="auto">
            <a:xfrm>
              <a:off x="1600" y="1144"/>
              <a:ext cx="0"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82" name="Line 6"/>
            <p:cNvSpPr>
              <a:spLocks noChangeShapeType="1"/>
            </p:cNvSpPr>
            <p:nvPr/>
          </p:nvSpPr>
          <p:spPr bwMode="auto">
            <a:xfrm>
              <a:off x="4496" y="1144"/>
              <a:ext cx="32" cy="960"/>
            </a:xfrm>
            <a:prstGeom prst="line">
              <a:avLst/>
            </a:prstGeom>
            <a:noFill/>
            <a:ln w="28575">
              <a:solidFill>
                <a:schemeClr val="tx1"/>
              </a:solidFill>
              <a:prstDash val="dash"/>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grpSp>
        <p:nvGrpSpPr>
          <p:cNvPr id="72708" name="Group 7"/>
          <p:cNvGrpSpPr>
            <a:grpSpLocks/>
          </p:cNvGrpSpPr>
          <p:nvPr/>
        </p:nvGrpSpPr>
        <p:grpSpPr bwMode="auto">
          <a:xfrm>
            <a:off x="3962400" y="1698626"/>
            <a:ext cx="4813300" cy="1063625"/>
            <a:chOff x="1536" y="1070"/>
            <a:chExt cx="3032" cy="670"/>
          </a:xfrm>
        </p:grpSpPr>
        <p:grpSp>
          <p:nvGrpSpPr>
            <p:cNvPr id="72731" name="Group 8"/>
            <p:cNvGrpSpPr>
              <a:grpSpLocks/>
            </p:cNvGrpSpPr>
            <p:nvPr/>
          </p:nvGrpSpPr>
          <p:grpSpPr bwMode="auto">
            <a:xfrm>
              <a:off x="1536" y="1352"/>
              <a:ext cx="3032" cy="388"/>
              <a:chOff x="1536" y="1352"/>
              <a:chExt cx="3032" cy="388"/>
            </a:xfrm>
          </p:grpSpPr>
          <p:grpSp>
            <p:nvGrpSpPr>
              <p:cNvPr id="72735" name="Group 9"/>
              <p:cNvGrpSpPr>
                <a:grpSpLocks/>
              </p:cNvGrpSpPr>
              <p:nvPr/>
            </p:nvGrpSpPr>
            <p:grpSpPr bwMode="auto">
              <a:xfrm>
                <a:off x="1760" y="1470"/>
                <a:ext cx="2552" cy="270"/>
                <a:chOff x="1760" y="1470"/>
                <a:chExt cx="2552" cy="270"/>
              </a:xfrm>
            </p:grpSpPr>
            <p:sp>
              <p:nvSpPr>
                <p:cNvPr id="152586" name="Rectangle 10"/>
                <p:cNvSpPr>
                  <a:spLocks noChangeArrowheads="1"/>
                </p:cNvSpPr>
                <p:nvPr/>
              </p:nvSpPr>
              <p:spPr bwMode="auto">
                <a:xfrm>
                  <a:off x="1760"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87" name="Rectangle 11"/>
                <p:cNvSpPr>
                  <a:spLocks noChangeArrowheads="1"/>
                </p:cNvSpPr>
                <p:nvPr/>
              </p:nvSpPr>
              <p:spPr bwMode="auto">
                <a:xfrm>
                  <a:off x="3928" y="1524"/>
                  <a:ext cx="384" cy="21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88" name="Line 12"/>
                <p:cNvSpPr>
                  <a:spLocks noChangeShapeType="1"/>
                </p:cNvSpPr>
                <p:nvPr/>
              </p:nvSpPr>
              <p:spPr bwMode="auto">
                <a:xfrm>
                  <a:off x="2144" y="1640"/>
                  <a:ext cx="1776" cy="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89" name="Text Box 13"/>
                <p:cNvSpPr txBox="1">
                  <a:spLocks noChangeArrowheads="1"/>
                </p:cNvSpPr>
                <p:nvPr/>
              </p:nvSpPr>
              <p:spPr bwMode="auto">
                <a:xfrm>
                  <a:off x="2679" y="1470"/>
                  <a:ext cx="80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Port Allocation</a:t>
                  </a:r>
                </a:p>
              </p:txBody>
            </p:sp>
          </p:grpSp>
          <p:sp>
            <p:nvSpPr>
              <p:cNvPr id="152590" name="Oval 14"/>
              <p:cNvSpPr>
                <a:spLocks noChangeArrowheads="1"/>
              </p:cNvSpPr>
              <p:nvPr/>
            </p:nvSpPr>
            <p:spPr bwMode="auto">
              <a:xfrm>
                <a:off x="1536" y="1352"/>
                <a:ext cx="136" cy="12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91" name="Oval 15"/>
              <p:cNvSpPr>
                <a:spLocks noChangeArrowheads="1"/>
              </p:cNvSpPr>
              <p:nvPr/>
            </p:nvSpPr>
            <p:spPr bwMode="auto">
              <a:xfrm>
                <a:off x="4432" y="1352"/>
                <a:ext cx="136" cy="12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sp>
          <p:nvSpPr>
            <p:cNvPr id="152592" name="Text Box 16"/>
            <p:cNvSpPr txBox="1">
              <a:spLocks noChangeArrowheads="1"/>
            </p:cNvSpPr>
            <p:nvPr/>
          </p:nvSpPr>
          <p:spPr bwMode="auto">
            <a:xfrm>
              <a:off x="2670" y="1070"/>
              <a:ext cx="42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Port-id</a:t>
              </a:r>
            </a:p>
          </p:txBody>
        </p:sp>
        <p:sp>
          <p:nvSpPr>
            <p:cNvPr id="152593" name="Line 17"/>
            <p:cNvSpPr>
              <a:spLocks noChangeShapeType="1"/>
            </p:cNvSpPr>
            <p:nvPr/>
          </p:nvSpPr>
          <p:spPr bwMode="auto">
            <a:xfrm flipH="1">
              <a:off x="1680" y="1192"/>
              <a:ext cx="992" cy="1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94" name="Line 18"/>
            <p:cNvSpPr>
              <a:spLocks noChangeShapeType="1"/>
            </p:cNvSpPr>
            <p:nvPr/>
          </p:nvSpPr>
          <p:spPr bwMode="auto">
            <a:xfrm>
              <a:off x="3112" y="1168"/>
              <a:ext cx="1272" cy="2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sp>
        <p:nvSpPr>
          <p:cNvPr id="152596" name="Line 20"/>
          <p:cNvSpPr>
            <a:spLocks noChangeShapeType="1"/>
          </p:cNvSpPr>
          <p:nvPr/>
        </p:nvSpPr>
        <p:spPr bwMode="auto">
          <a:xfrm flipV="1">
            <a:off x="3009900" y="2247900"/>
            <a:ext cx="6172200"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597" name="Oval 21"/>
          <p:cNvSpPr>
            <a:spLocks noChangeArrowheads="1"/>
          </p:cNvSpPr>
          <p:nvPr/>
        </p:nvSpPr>
        <p:spPr bwMode="auto">
          <a:xfrm>
            <a:off x="3822700" y="1435100"/>
            <a:ext cx="457200" cy="393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2000">
                <a:solidFill>
                  <a:prstClr val="black"/>
                </a:solidFill>
                <a:latin typeface="Arial" charset="0"/>
                <a:ea typeface="ＭＳ Ｐゴシック" charset="0"/>
                <a:cs typeface="Arial" charset="0"/>
                <a:sym typeface="Arial"/>
              </a:rPr>
              <a:t>              </a:t>
            </a:r>
          </a:p>
        </p:txBody>
      </p:sp>
      <p:sp>
        <p:nvSpPr>
          <p:cNvPr id="152607" name="Text Box 31"/>
          <p:cNvSpPr txBox="1">
            <a:spLocks noChangeArrowheads="1"/>
          </p:cNvSpPr>
          <p:nvPr/>
        </p:nvSpPr>
        <p:spPr bwMode="auto">
          <a:xfrm>
            <a:off x="7797800" y="6416676"/>
            <a:ext cx="2578100" cy="244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a:solidFill>
                  <a:prstClr val="black"/>
                </a:solidFill>
                <a:latin typeface="Helvetica" charset="0"/>
                <a:ea typeface="ＭＳ Ｐゴシック" charset="0"/>
                <a:cs typeface="Arial" charset="0"/>
                <a:sym typeface="Arial"/>
              </a:rPr>
              <a:t>©   John Day, All Rights Reserved, 2009</a:t>
            </a:r>
          </a:p>
        </p:txBody>
      </p:sp>
      <p:sp>
        <p:nvSpPr>
          <p:cNvPr id="152608" name="Oval 32"/>
          <p:cNvSpPr>
            <a:spLocks noChangeArrowheads="1"/>
          </p:cNvSpPr>
          <p:nvPr/>
        </p:nvSpPr>
        <p:spPr bwMode="auto">
          <a:xfrm>
            <a:off x="8432800" y="1435100"/>
            <a:ext cx="457200" cy="393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2000">
                <a:solidFill>
                  <a:prstClr val="black"/>
                </a:solidFill>
                <a:latin typeface="Arial" charset="0"/>
                <a:ea typeface="ＭＳ Ｐゴシック" charset="0"/>
                <a:cs typeface="Arial" charset="0"/>
                <a:sym typeface="Arial"/>
              </a:rPr>
              <a:t>              </a:t>
            </a:r>
          </a:p>
        </p:txBody>
      </p:sp>
      <p:sp>
        <p:nvSpPr>
          <p:cNvPr id="152604" name="Text Box 28"/>
          <p:cNvSpPr txBox="1">
            <a:spLocks noChangeArrowheads="1"/>
          </p:cNvSpPr>
          <p:nvPr/>
        </p:nvSpPr>
        <p:spPr bwMode="auto">
          <a:xfrm>
            <a:off x="5730876" y="2717800"/>
            <a:ext cx="13493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Synchronization</a:t>
            </a:r>
          </a:p>
        </p:txBody>
      </p:sp>
      <p:sp>
        <p:nvSpPr>
          <p:cNvPr id="152599" name="Line 23"/>
          <p:cNvSpPr>
            <a:spLocks noChangeShapeType="1"/>
          </p:cNvSpPr>
          <p:nvPr/>
        </p:nvSpPr>
        <p:spPr bwMode="auto">
          <a:xfrm>
            <a:off x="2578100" y="4140200"/>
            <a:ext cx="6299200" cy="1270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nvGrpSpPr>
          <p:cNvPr id="152623" name="Group 47"/>
          <p:cNvGrpSpPr>
            <a:grpSpLocks/>
          </p:cNvGrpSpPr>
          <p:nvPr/>
        </p:nvGrpSpPr>
        <p:grpSpPr bwMode="auto">
          <a:xfrm>
            <a:off x="3733800" y="3162300"/>
            <a:ext cx="5143500" cy="609600"/>
            <a:chOff x="1392" y="1992"/>
            <a:chExt cx="3240" cy="384"/>
          </a:xfrm>
        </p:grpSpPr>
        <p:grpSp>
          <p:nvGrpSpPr>
            <p:cNvPr id="72723" name="Group 40"/>
            <p:cNvGrpSpPr>
              <a:grpSpLocks/>
            </p:cNvGrpSpPr>
            <p:nvPr/>
          </p:nvGrpSpPr>
          <p:grpSpPr bwMode="auto">
            <a:xfrm>
              <a:off x="1472" y="1992"/>
              <a:ext cx="3160" cy="256"/>
              <a:chOff x="1544" y="2032"/>
              <a:chExt cx="3160" cy="256"/>
            </a:xfrm>
          </p:grpSpPr>
          <p:sp>
            <p:nvSpPr>
              <p:cNvPr id="152617" name="Oval 41"/>
              <p:cNvSpPr>
                <a:spLocks noChangeArrowheads="1"/>
              </p:cNvSpPr>
              <p:nvPr/>
            </p:nvSpPr>
            <p:spPr bwMode="auto">
              <a:xfrm>
                <a:off x="1544" y="2032"/>
                <a:ext cx="272"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18" name="Oval 42"/>
              <p:cNvSpPr>
                <a:spLocks noChangeArrowheads="1"/>
              </p:cNvSpPr>
              <p:nvPr/>
            </p:nvSpPr>
            <p:spPr bwMode="auto">
              <a:xfrm>
                <a:off x="4432" y="2032"/>
                <a:ext cx="272"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19" name="Line 43"/>
              <p:cNvSpPr>
                <a:spLocks noChangeShapeType="1"/>
              </p:cNvSpPr>
              <p:nvPr/>
            </p:nvSpPr>
            <p:spPr bwMode="auto">
              <a:xfrm flipV="1">
                <a:off x="1776" y="2144"/>
                <a:ext cx="2656" cy="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grpSp>
          <p:nvGrpSpPr>
            <p:cNvPr id="72724" name="Group 36"/>
            <p:cNvGrpSpPr>
              <a:grpSpLocks/>
            </p:cNvGrpSpPr>
            <p:nvPr/>
          </p:nvGrpSpPr>
          <p:grpSpPr bwMode="auto">
            <a:xfrm>
              <a:off x="1392" y="2120"/>
              <a:ext cx="3160" cy="256"/>
              <a:chOff x="1544" y="2032"/>
              <a:chExt cx="3160" cy="256"/>
            </a:xfrm>
          </p:grpSpPr>
          <p:sp>
            <p:nvSpPr>
              <p:cNvPr id="152613" name="Oval 37"/>
              <p:cNvSpPr>
                <a:spLocks noChangeArrowheads="1"/>
              </p:cNvSpPr>
              <p:nvPr/>
            </p:nvSpPr>
            <p:spPr bwMode="auto">
              <a:xfrm>
                <a:off x="1544" y="2032"/>
                <a:ext cx="272"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14" name="Oval 38"/>
              <p:cNvSpPr>
                <a:spLocks noChangeArrowheads="1"/>
              </p:cNvSpPr>
              <p:nvPr/>
            </p:nvSpPr>
            <p:spPr bwMode="auto">
              <a:xfrm>
                <a:off x="4432" y="2032"/>
                <a:ext cx="272"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15" name="Line 39"/>
              <p:cNvSpPr>
                <a:spLocks noChangeShapeType="1"/>
              </p:cNvSpPr>
              <p:nvPr/>
            </p:nvSpPr>
            <p:spPr bwMode="auto">
              <a:xfrm flipV="1">
                <a:off x="1776" y="2144"/>
                <a:ext cx="2656" cy="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grpSp>
      <p:grpSp>
        <p:nvGrpSpPr>
          <p:cNvPr id="72716" name="Group 35"/>
          <p:cNvGrpSpPr>
            <a:grpSpLocks/>
          </p:cNvGrpSpPr>
          <p:nvPr/>
        </p:nvGrpSpPr>
        <p:grpSpPr bwMode="auto">
          <a:xfrm>
            <a:off x="3606800" y="3568700"/>
            <a:ext cx="5016500" cy="406400"/>
            <a:chOff x="1544" y="2032"/>
            <a:chExt cx="3160" cy="256"/>
          </a:xfrm>
        </p:grpSpPr>
        <p:sp>
          <p:nvSpPr>
            <p:cNvPr id="152609" name="Oval 33"/>
            <p:cNvSpPr>
              <a:spLocks noChangeArrowheads="1"/>
            </p:cNvSpPr>
            <p:nvPr/>
          </p:nvSpPr>
          <p:spPr bwMode="auto">
            <a:xfrm>
              <a:off x="1544" y="2032"/>
              <a:ext cx="272"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10" name="Oval 34"/>
            <p:cNvSpPr>
              <a:spLocks noChangeArrowheads="1"/>
            </p:cNvSpPr>
            <p:nvPr/>
          </p:nvSpPr>
          <p:spPr bwMode="auto">
            <a:xfrm>
              <a:off x="4432" y="2032"/>
              <a:ext cx="272"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03" name="Line 27"/>
            <p:cNvSpPr>
              <a:spLocks noChangeShapeType="1"/>
            </p:cNvSpPr>
            <p:nvPr/>
          </p:nvSpPr>
          <p:spPr bwMode="auto">
            <a:xfrm flipV="1">
              <a:off x="1776" y="2144"/>
              <a:ext cx="2656" cy="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grpSp>
      <p:grpSp>
        <p:nvGrpSpPr>
          <p:cNvPr id="72717" name="Group 45"/>
          <p:cNvGrpSpPr>
            <a:grpSpLocks/>
          </p:cNvGrpSpPr>
          <p:nvPr/>
        </p:nvGrpSpPr>
        <p:grpSpPr bwMode="auto">
          <a:xfrm>
            <a:off x="2509839" y="2581276"/>
            <a:ext cx="1566863" cy="1139825"/>
            <a:chOff x="613" y="1618"/>
            <a:chExt cx="987" cy="718"/>
          </a:xfrm>
        </p:grpSpPr>
        <p:sp>
          <p:nvSpPr>
            <p:cNvPr id="152605" name="Line 29"/>
            <p:cNvSpPr>
              <a:spLocks noChangeShapeType="1"/>
            </p:cNvSpPr>
            <p:nvPr/>
          </p:nvSpPr>
          <p:spPr bwMode="auto">
            <a:xfrm>
              <a:off x="1024" y="1896"/>
              <a:ext cx="576" cy="4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1400">
                <a:solidFill>
                  <a:prstClr val="black"/>
                </a:solidFill>
                <a:latin typeface="Times" charset="0"/>
                <a:ea typeface="ＭＳ Ｐゴシック" charset="0"/>
                <a:cs typeface="Arial" charset="0"/>
                <a:sym typeface="Arial"/>
              </a:endParaRPr>
            </a:p>
          </p:txBody>
        </p:sp>
        <p:sp>
          <p:nvSpPr>
            <p:cNvPr id="152606" name="Text Box 30"/>
            <p:cNvSpPr txBox="1">
              <a:spLocks noChangeArrowheads="1"/>
            </p:cNvSpPr>
            <p:nvPr/>
          </p:nvSpPr>
          <p:spPr bwMode="auto">
            <a:xfrm>
              <a:off x="613" y="1618"/>
              <a:ext cx="638"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Connection</a:t>
              </a:r>
            </a:p>
            <a:p>
              <a:pPr algn="ctr" fontAlgn="base">
                <a:spcBef>
                  <a:spcPct val="0"/>
                </a:spcBef>
                <a:spcAft>
                  <a:spcPct val="0"/>
                </a:spcAft>
                <a:defRPr/>
              </a:pPr>
              <a:r>
                <a:rPr lang="en-US" sz="1400">
                  <a:solidFill>
                    <a:prstClr val="black"/>
                  </a:solidFill>
                  <a:latin typeface="Times" charset="0"/>
                  <a:ea typeface="ＭＳ Ｐゴシック" charset="0"/>
                  <a:cs typeface="Arial" charset="0"/>
                  <a:sym typeface="Arial"/>
                </a:rPr>
                <a:t>Endpoint</a:t>
              </a:r>
            </a:p>
          </p:txBody>
        </p:sp>
      </p:grpSp>
      <p:cxnSp>
        <p:nvCxnSpPr>
          <p:cNvPr id="2" name="Straight Connector 1">
            <a:extLst>
              <a:ext uri="{FF2B5EF4-FFF2-40B4-BE49-F238E27FC236}">
                <a16:creationId xmlns:a16="http://schemas.microsoft.com/office/drawing/2014/main" id="{6C5E7786-3D0B-FD56-EE58-34E39968BB9D}"/>
              </a:ext>
            </a:extLst>
          </p:cNvPr>
          <p:cNvCxnSpPr/>
          <p:nvPr/>
        </p:nvCxnSpPr>
        <p:spPr>
          <a:xfrm>
            <a:off x="2059578" y="6766560"/>
            <a:ext cx="8125823"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25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257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257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262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25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6"/>
          <p:cNvSpPr>
            <a:spLocks noGrp="1" noChangeArrowheads="1"/>
          </p:cNvSpPr>
          <p:nvPr>
            <p:ph type="title"/>
          </p:nvPr>
        </p:nvSpPr>
        <p:spPr>
          <a:xfrm>
            <a:off x="838200" y="127618"/>
            <a:ext cx="10515600" cy="1325563"/>
          </a:xfrm>
        </p:spPr>
        <p:txBody>
          <a:bodyPr/>
          <a:lstStyle/>
          <a:p>
            <a:pPr eaLnBrk="1" hangingPunct="1">
              <a:defRPr/>
            </a:pPr>
            <a:r>
              <a:rPr lang="en-US" dirty="0">
                <a:solidFill>
                  <a:srgbClr val="000000"/>
                </a:solidFill>
                <a:cs typeface="+mj-cs"/>
              </a:rPr>
              <a:t>Three Kinds of Mechanisms</a:t>
            </a:r>
          </a:p>
        </p:txBody>
      </p:sp>
      <p:sp>
        <p:nvSpPr>
          <p:cNvPr id="84995" name="Rectangle 1027"/>
          <p:cNvSpPr>
            <a:spLocks noGrp="1" noChangeArrowheads="1"/>
          </p:cNvSpPr>
          <p:nvPr>
            <p:ph type="body" idx="1"/>
          </p:nvPr>
        </p:nvSpPr>
        <p:spPr>
          <a:xfrm>
            <a:off x="1971304" y="1142999"/>
            <a:ext cx="8417296" cy="5162797"/>
          </a:xfrm>
        </p:spPr>
        <p:txBody>
          <a:bodyPr/>
          <a:lstStyle/>
          <a:p>
            <a:pPr marL="292100" indent="-266700">
              <a:defRPr/>
            </a:pPr>
            <a:r>
              <a:rPr lang="en-US" b="1" dirty="0">
                <a:cs typeface="+mn-cs"/>
              </a:rPr>
              <a:t>Tightly Bound Mechanisms</a:t>
            </a:r>
          </a:p>
          <a:p>
            <a:pPr lvl="1" indent="-304800">
              <a:defRPr/>
            </a:pPr>
            <a:r>
              <a:rPr lang="en-US" dirty="0"/>
              <a:t>Those that Must be with the Transfer PDU</a:t>
            </a:r>
          </a:p>
          <a:p>
            <a:pPr marL="1028700" lvl="2">
              <a:defRPr/>
            </a:pPr>
            <a:r>
              <a:rPr lang="en-US" dirty="0"/>
              <a:t>Sequencing, Fragmentation, etc.</a:t>
            </a:r>
          </a:p>
          <a:p>
            <a:pPr lvl="1" indent="-304800">
              <a:defRPr/>
            </a:pPr>
            <a:r>
              <a:rPr lang="en-US" dirty="0"/>
              <a:t>Policy is imposed by the </a:t>
            </a:r>
            <a:r>
              <a:rPr lang="en-US" i="1" dirty="0"/>
              <a:t>Sender</a:t>
            </a:r>
            <a:endParaRPr lang="en-US" dirty="0"/>
          </a:p>
          <a:p>
            <a:pPr marL="266700" indent="-266700">
              <a:defRPr/>
            </a:pPr>
            <a:r>
              <a:rPr lang="en-US" b="1" dirty="0">
                <a:cs typeface="+mn-cs"/>
              </a:rPr>
              <a:t>Loosely Bound Mechanisms</a:t>
            </a:r>
          </a:p>
          <a:p>
            <a:pPr lvl="1">
              <a:defRPr/>
            </a:pPr>
            <a:r>
              <a:rPr lang="en-US" dirty="0"/>
              <a:t>Those that Don</a:t>
            </a:r>
            <a:r>
              <a:rPr lang="en-US" dirty="0">
                <a:latin typeface="Arial"/>
              </a:rPr>
              <a:t>’</a:t>
            </a:r>
            <a:r>
              <a:rPr lang="en-US" dirty="0"/>
              <a:t>t Have to be with the Transfer PDU</a:t>
            </a:r>
          </a:p>
          <a:p>
            <a:pPr marL="1028700" lvl="2">
              <a:defRPr/>
            </a:pPr>
            <a:r>
              <a:rPr lang="en-US" dirty="0"/>
              <a:t>Retransmission Control and Flow Control</a:t>
            </a:r>
          </a:p>
          <a:p>
            <a:pPr lvl="1">
              <a:defRPr/>
            </a:pPr>
            <a:r>
              <a:rPr lang="en-US" dirty="0"/>
              <a:t>Policy is imposed by the </a:t>
            </a:r>
            <a:r>
              <a:rPr lang="en-US" i="1" dirty="0"/>
              <a:t>Receiver</a:t>
            </a:r>
            <a:endParaRPr lang="en-US" dirty="0"/>
          </a:p>
          <a:p>
            <a:pPr marL="317500" indent="-317500">
              <a:defRPr/>
            </a:pPr>
            <a:r>
              <a:rPr lang="en-US" b="1" dirty="0">
                <a:cs typeface="+mn-cs"/>
              </a:rPr>
              <a:t>Ubiquitous Mechanisms </a:t>
            </a:r>
            <a:r>
              <a:rPr lang="en-US" sz="1600" dirty="0">
                <a:cs typeface="+mn-cs"/>
              </a:rPr>
              <a:t>(Very Tightly Bound) ;-)</a:t>
            </a:r>
          </a:p>
          <a:p>
            <a:pPr lvl="1">
              <a:defRPr/>
            </a:pPr>
            <a:r>
              <a:rPr lang="en-US" dirty="0"/>
              <a:t>Those that have to be with all PDUs</a:t>
            </a:r>
          </a:p>
          <a:p>
            <a:pPr marL="1028700" lvl="2">
              <a:defRPr/>
            </a:pPr>
            <a:r>
              <a:rPr lang="en-US" dirty="0"/>
              <a:t>Delimiting, including fragmentation/reassembly, CRCs</a:t>
            </a:r>
          </a:p>
        </p:txBody>
      </p:sp>
      <p:sp>
        <p:nvSpPr>
          <p:cNvPr id="84996" name="Text Box 1028"/>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9977991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dissolve">
                                      <p:cBhvr>
                                        <p:cTn id="7" dur="500"/>
                                        <p:tgtEl>
                                          <p:spTgt spid="8499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4995">
                                            <p:txEl>
                                              <p:pRg st="1" end="1"/>
                                            </p:txEl>
                                          </p:spTgt>
                                        </p:tgtEl>
                                        <p:attrNameLst>
                                          <p:attrName>style.visibility</p:attrName>
                                        </p:attrNameLst>
                                      </p:cBhvr>
                                      <p:to>
                                        <p:strVal val="visible"/>
                                      </p:to>
                                    </p:set>
                                    <p:animEffect transition="in" filter="dissolve">
                                      <p:cBhvr>
                                        <p:cTn id="10" dur="500"/>
                                        <p:tgtEl>
                                          <p:spTgt spid="84995">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4995">
                                            <p:txEl>
                                              <p:pRg st="2" end="2"/>
                                            </p:txEl>
                                          </p:spTgt>
                                        </p:tgtEl>
                                        <p:attrNameLst>
                                          <p:attrName>style.visibility</p:attrName>
                                        </p:attrNameLst>
                                      </p:cBhvr>
                                      <p:to>
                                        <p:strVal val="visible"/>
                                      </p:to>
                                    </p:set>
                                    <p:animEffect transition="in" filter="dissolve">
                                      <p:cBhvr>
                                        <p:cTn id="13" dur="500"/>
                                        <p:tgtEl>
                                          <p:spTgt spid="8499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4995">
                                            <p:txEl>
                                              <p:pRg st="4" end="4"/>
                                            </p:txEl>
                                          </p:spTgt>
                                        </p:tgtEl>
                                        <p:attrNameLst>
                                          <p:attrName>style.visibility</p:attrName>
                                        </p:attrNameLst>
                                      </p:cBhvr>
                                      <p:to>
                                        <p:strVal val="visible"/>
                                      </p:to>
                                    </p:set>
                                    <p:animEffect transition="in" filter="dissolve">
                                      <p:cBhvr>
                                        <p:cTn id="18" dur="500"/>
                                        <p:tgtEl>
                                          <p:spTgt spid="84995">
                                            <p:txEl>
                                              <p:pRg st="4" end="4"/>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84995">
                                            <p:txEl>
                                              <p:pRg st="5" end="5"/>
                                            </p:txEl>
                                          </p:spTgt>
                                        </p:tgtEl>
                                        <p:attrNameLst>
                                          <p:attrName>style.visibility</p:attrName>
                                        </p:attrNameLst>
                                      </p:cBhvr>
                                      <p:to>
                                        <p:strVal val="visible"/>
                                      </p:to>
                                    </p:set>
                                    <p:animEffect transition="in" filter="dissolve">
                                      <p:cBhvr>
                                        <p:cTn id="21" dur="500"/>
                                        <p:tgtEl>
                                          <p:spTgt spid="84995">
                                            <p:txEl>
                                              <p:pRg st="5" end="5"/>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84995">
                                            <p:txEl>
                                              <p:pRg st="6" end="6"/>
                                            </p:txEl>
                                          </p:spTgt>
                                        </p:tgtEl>
                                        <p:attrNameLst>
                                          <p:attrName>style.visibility</p:attrName>
                                        </p:attrNameLst>
                                      </p:cBhvr>
                                      <p:to>
                                        <p:strVal val="visible"/>
                                      </p:to>
                                    </p:set>
                                    <p:animEffect transition="in" filter="dissolve">
                                      <p:cBhvr>
                                        <p:cTn id="24" dur="500"/>
                                        <p:tgtEl>
                                          <p:spTgt spid="84995">
                                            <p:txEl>
                                              <p:pRg st="6" end="6"/>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84995">
                                            <p:txEl>
                                              <p:pRg st="3" end="3"/>
                                            </p:txEl>
                                          </p:spTgt>
                                        </p:tgtEl>
                                        <p:attrNameLst>
                                          <p:attrName>style.visibility</p:attrName>
                                        </p:attrNameLst>
                                      </p:cBhvr>
                                      <p:to>
                                        <p:strVal val="visible"/>
                                      </p:to>
                                    </p:set>
                                    <p:animEffect transition="in" filter="dissolve">
                                      <p:cBhvr>
                                        <p:cTn id="27" dur="500"/>
                                        <p:tgtEl>
                                          <p:spTgt spid="84995">
                                            <p:txEl>
                                              <p:pRg st="3" end="3"/>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84995">
                                            <p:txEl>
                                              <p:pRg st="7" end="7"/>
                                            </p:txEl>
                                          </p:spTgt>
                                        </p:tgtEl>
                                        <p:attrNameLst>
                                          <p:attrName>style.visibility</p:attrName>
                                        </p:attrNameLst>
                                      </p:cBhvr>
                                      <p:to>
                                        <p:strVal val="visible"/>
                                      </p:to>
                                    </p:set>
                                    <p:animEffect transition="in" filter="dissolve">
                                      <p:cBhvr>
                                        <p:cTn id="30" dur="500"/>
                                        <p:tgtEl>
                                          <p:spTgt spid="84995">
                                            <p:txEl>
                                              <p:pRg st="7" end="7"/>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84995">
                                            <p:txEl>
                                              <p:pRg st="8" end="8"/>
                                            </p:txEl>
                                          </p:spTgt>
                                        </p:tgtEl>
                                        <p:attrNameLst>
                                          <p:attrName>style.visibility</p:attrName>
                                        </p:attrNameLst>
                                      </p:cBhvr>
                                      <p:to>
                                        <p:strVal val="visible"/>
                                      </p:to>
                                    </p:set>
                                    <p:animEffect transition="in" filter="dissolve">
                                      <p:cBhvr>
                                        <p:cTn id="35" dur="500"/>
                                        <p:tgtEl>
                                          <p:spTgt spid="84995">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84995">
                                            <p:txEl>
                                              <p:pRg st="9" end="9"/>
                                            </p:txEl>
                                          </p:spTgt>
                                        </p:tgtEl>
                                        <p:attrNameLst>
                                          <p:attrName>style.visibility</p:attrName>
                                        </p:attrNameLst>
                                      </p:cBhvr>
                                      <p:to>
                                        <p:strVal val="visible"/>
                                      </p:to>
                                    </p:set>
                                    <p:animEffect transition="in" filter="dissolve">
                                      <p:cBhvr>
                                        <p:cTn id="38" dur="500"/>
                                        <p:tgtEl>
                                          <p:spTgt spid="84995">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84995">
                                            <p:txEl>
                                              <p:pRg st="10" end="10"/>
                                            </p:txEl>
                                          </p:spTgt>
                                        </p:tgtEl>
                                        <p:attrNameLst>
                                          <p:attrName>style.visibility</p:attrName>
                                        </p:attrNameLst>
                                      </p:cBhvr>
                                      <p:to>
                                        <p:strVal val="visible"/>
                                      </p:to>
                                    </p:set>
                                    <p:animEffect transition="in" filter="dissolve">
                                      <p:cBhvr>
                                        <p:cTn id="41" dur="500"/>
                                        <p:tgtEl>
                                          <p:spTgt spid="849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838200" y="97003"/>
            <a:ext cx="10515600" cy="1325563"/>
          </a:xfrm>
        </p:spPr>
        <p:txBody>
          <a:bodyPr/>
          <a:lstStyle/>
          <a:p>
            <a:pPr eaLnBrk="1" hangingPunct="1">
              <a:defRPr/>
            </a:pPr>
            <a:r>
              <a:rPr lang="en-US" dirty="0">
                <a:solidFill>
                  <a:srgbClr val="000000"/>
                </a:solidFill>
                <a:cs typeface="+mj-cs"/>
              </a:rPr>
              <a:t>What We Have Learned</a:t>
            </a:r>
          </a:p>
        </p:txBody>
      </p:sp>
      <p:sp>
        <p:nvSpPr>
          <p:cNvPr id="148483" name="Rectangle 3"/>
          <p:cNvSpPr>
            <a:spLocks noGrp="1" noChangeArrowheads="1"/>
          </p:cNvSpPr>
          <p:nvPr>
            <p:ph type="body" idx="1"/>
          </p:nvPr>
        </p:nvSpPr>
        <p:spPr>
          <a:xfrm>
            <a:off x="1282261" y="1301834"/>
            <a:ext cx="8178413" cy="4300180"/>
          </a:xfrm>
        </p:spPr>
        <p:txBody>
          <a:bodyPr>
            <a:normAutofit/>
          </a:bodyPr>
          <a:lstStyle/>
          <a:p>
            <a:pPr marL="241300" indent="-241300">
              <a:defRPr/>
            </a:pPr>
            <a:r>
              <a:rPr lang="en-US" dirty="0">
                <a:cs typeface="+mn-cs"/>
              </a:rPr>
              <a:t>The Semantics of </a:t>
            </a:r>
            <a:r>
              <a:rPr lang="en-US" dirty="0" err="1">
                <a:cs typeface="+mn-cs"/>
              </a:rPr>
              <a:t>Ack</a:t>
            </a:r>
            <a:endParaRPr lang="en-US" dirty="0">
              <a:cs typeface="+mn-cs"/>
            </a:endParaRPr>
          </a:p>
          <a:p>
            <a:pPr marL="635000" lvl="1">
              <a:defRPr/>
            </a:pPr>
            <a:r>
              <a:rPr lang="en-US" dirty="0"/>
              <a:t>Not going to be re-transmitted</a:t>
            </a:r>
          </a:p>
          <a:p>
            <a:pPr marL="241300" indent="-241300">
              <a:defRPr/>
            </a:pPr>
            <a:r>
              <a:rPr lang="en-US" dirty="0">
                <a:cs typeface="+mn-cs"/>
              </a:rPr>
              <a:t>Selective Ack, ack some but not all.* </a:t>
            </a:r>
          </a:p>
          <a:p>
            <a:pPr marL="635000" lvl="1" indent="-241300">
              <a:defRPr/>
            </a:pPr>
            <a:r>
              <a:rPr lang="en-US" dirty="0"/>
              <a:t>Can reduce retransmissions with a large bandwidth/delay product.</a:t>
            </a:r>
          </a:p>
          <a:p>
            <a:pPr marL="241300" indent="-241300">
              <a:defRPr/>
            </a:pPr>
            <a:r>
              <a:rPr lang="en-US" dirty="0">
                <a:cs typeface="+mn-cs"/>
              </a:rPr>
              <a:t>Selective </a:t>
            </a:r>
            <a:r>
              <a:rPr lang="en-US" dirty="0" err="1">
                <a:cs typeface="+mn-cs"/>
              </a:rPr>
              <a:t>Nack</a:t>
            </a:r>
            <a:r>
              <a:rPr lang="en-US" dirty="0">
                <a:cs typeface="+mn-cs"/>
              </a:rPr>
              <a:t> forces a retransmission.* </a:t>
            </a:r>
          </a:p>
          <a:p>
            <a:pPr marL="635000" lvl="1" indent="-241300">
              <a:defRPr/>
            </a:pPr>
            <a:r>
              <a:rPr lang="en-US" dirty="0"/>
              <a:t>still requires </a:t>
            </a:r>
            <a:r>
              <a:rPr lang="en-US" dirty="0" err="1"/>
              <a:t>Ack</a:t>
            </a:r>
            <a:r>
              <a:rPr lang="en-US" dirty="0"/>
              <a:t> and Greatly increases A</a:t>
            </a:r>
          </a:p>
          <a:p>
            <a:pPr marL="241300" indent="-241300">
              <a:defRPr/>
            </a:pPr>
            <a:r>
              <a:rPr lang="en-US" dirty="0">
                <a:cs typeface="+mn-cs"/>
              </a:rPr>
              <a:t>Bounding A, defines the range of effective </a:t>
            </a:r>
            <a:r>
              <a:rPr lang="en-US" dirty="0" err="1">
                <a:cs typeface="+mn-cs"/>
              </a:rPr>
              <a:t>Ack</a:t>
            </a:r>
            <a:r>
              <a:rPr lang="en-US" dirty="0">
                <a:cs typeface="+mn-cs"/>
              </a:rPr>
              <a:t> and </a:t>
            </a:r>
            <a:r>
              <a:rPr lang="en-US" dirty="0" err="1">
                <a:cs typeface="+mn-cs"/>
              </a:rPr>
              <a:t>Nack</a:t>
            </a:r>
            <a:r>
              <a:rPr lang="en-US" dirty="0">
                <a:cs typeface="+mn-cs"/>
              </a:rPr>
              <a:t> policies</a:t>
            </a:r>
          </a:p>
          <a:p>
            <a:pPr marL="635000" lvl="1" indent="-241300">
              <a:defRPr/>
            </a:pPr>
            <a:r>
              <a:rPr lang="en-US" dirty="0"/>
              <a:t>Larger A increases RTT and MPL.</a:t>
            </a:r>
          </a:p>
          <a:p>
            <a:pPr marL="635000" lvl="1" indent="-241300">
              <a:defRPr/>
            </a:pPr>
            <a:r>
              <a:rPr lang="en-US" dirty="0"/>
              <a:t>There are uses for large A, checkpoint recovery.</a:t>
            </a:r>
          </a:p>
          <a:p>
            <a:pPr marL="635000" lvl="1" indent="-241300">
              <a:defRPr/>
            </a:pPr>
            <a:r>
              <a:rPr lang="en-US" dirty="0"/>
              <a:t>The A timer is also, how long to wait for late arriving PDUs</a:t>
            </a:r>
          </a:p>
          <a:p>
            <a:pPr marL="254000" indent="-241300">
              <a:defRPr/>
            </a:pPr>
            <a:r>
              <a:rPr lang="en-US" dirty="0"/>
              <a:t>Congestion control can be exercised selectively by changing the number of buffers, an EFCP flow thinks it has.</a:t>
            </a:r>
          </a:p>
        </p:txBody>
      </p:sp>
      <p:sp>
        <p:nvSpPr>
          <p:cNvPr id="148484" name="Text Box 4"/>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3" name="TextBox 2">
            <a:extLst>
              <a:ext uri="{FF2B5EF4-FFF2-40B4-BE49-F238E27FC236}">
                <a16:creationId xmlns:a16="http://schemas.microsoft.com/office/drawing/2014/main" id="{183F70E9-6876-6F6D-0169-D764A354DA5F}"/>
              </a:ext>
            </a:extLst>
          </p:cNvPr>
          <p:cNvSpPr txBox="1"/>
          <p:nvPr/>
        </p:nvSpPr>
        <p:spPr>
          <a:xfrm>
            <a:off x="7421667" y="5341204"/>
            <a:ext cx="4078014" cy="830997"/>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 No one has investigated what this impact either in terms of how much larger A must be or its impact on timeouts or performance. is, nor if current definitions are viable given Watson’s theorem.</a:t>
            </a:r>
          </a:p>
        </p:txBody>
      </p:sp>
    </p:spTree>
    <p:extLst>
      <p:ext uri="{BB962C8B-B14F-4D97-AF65-F5344CB8AC3E}">
        <p14:creationId xmlns:p14="http://schemas.microsoft.com/office/powerpoint/2010/main" val="317213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84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84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84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848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848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848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848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848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848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84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31D3-DA79-CE3D-0D01-2B64CC7DAE5E}"/>
              </a:ext>
            </a:extLst>
          </p:cNvPr>
          <p:cNvSpPr>
            <a:spLocks noGrp="1"/>
          </p:cNvSpPr>
          <p:nvPr>
            <p:ph type="title"/>
          </p:nvPr>
        </p:nvSpPr>
        <p:spPr/>
        <p:txBody>
          <a:bodyPr/>
          <a:lstStyle/>
          <a:p>
            <a:r>
              <a:rPr lang="en-US" dirty="0"/>
              <a:t>What We Might Have Missed</a:t>
            </a:r>
          </a:p>
        </p:txBody>
      </p:sp>
      <p:sp>
        <p:nvSpPr>
          <p:cNvPr id="3" name="Content Placeholder 2">
            <a:extLst>
              <a:ext uri="{FF2B5EF4-FFF2-40B4-BE49-F238E27FC236}">
                <a16:creationId xmlns:a16="http://schemas.microsoft.com/office/drawing/2014/main" id="{39EB48AE-3AC5-D1CF-6AE3-2A37DF7AEC7B}"/>
              </a:ext>
            </a:extLst>
          </p:cNvPr>
          <p:cNvSpPr>
            <a:spLocks noGrp="1"/>
          </p:cNvSpPr>
          <p:nvPr>
            <p:ph idx="1"/>
          </p:nvPr>
        </p:nvSpPr>
        <p:spPr>
          <a:xfrm>
            <a:off x="838200" y="1825625"/>
            <a:ext cx="8720579" cy="4169822"/>
          </a:xfrm>
        </p:spPr>
        <p:txBody>
          <a:bodyPr/>
          <a:lstStyle/>
          <a:p>
            <a:r>
              <a:rPr lang="en-US" dirty="0"/>
              <a:t>It would seem a simple matter for real-time QoS flows that do not require reliability to simply drop the feedback mechanisms.</a:t>
            </a:r>
          </a:p>
          <a:p>
            <a:r>
              <a:rPr lang="en-US" dirty="0"/>
              <a:t>And it would be possible.</a:t>
            </a:r>
          </a:p>
          <a:p>
            <a:r>
              <a:rPr lang="en-US" dirty="0"/>
              <a:t>But is it a good idea?</a:t>
            </a:r>
          </a:p>
          <a:p>
            <a:r>
              <a:rPr lang="en-US" dirty="0"/>
              <a:t>To provide the ability to counter DoS attacks, there should not be any flows in a network that are not flow controlled.</a:t>
            </a:r>
          </a:p>
          <a:p>
            <a:pPr lvl="1"/>
            <a:r>
              <a:rPr lang="en-US" dirty="0"/>
              <a:t>Always extend generous Credit so the data can flow without interruption or use rate-based flow control.</a:t>
            </a:r>
          </a:p>
          <a:p>
            <a:pPr lvl="1"/>
            <a:r>
              <a:rPr lang="en-US" dirty="0"/>
              <a:t>But have the means to slow down the flow for congestion avoidance or to counter DoS attacks.</a:t>
            </a:r>
          </a:p>
          <a:p>
            <a:pPr lvl="1"/>
            <a:r>
              <a:rPr lang="en-US" dirty="0"/>
              <a:t>Flow control does not imply perfect reliability or integrity.</a:t>
            </a:r>
          </a:p>
        </p:txBody>
      </p:sp>
      <p:sp>
        <p:nvSpPr>
          <p:cNvPr id="4" name="Text Box 1028">
            <a:extLst>
              <a:ext uri="{FF2B5EF4-FFF2-40B4-BE49-F238E27FC236}">
                <a16:creationId xmlns:a16="http://schemas.microsoft.com/office/drawing/2014/main" id="{43E7AB85-362B-CD16-B2B8-0284A4F3DA30}"/>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0249253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244BF74-46E8-0EF6-793D-2A4B490204F6}"/>
              </a:ext>
            </a:extLst>
          </p:cNvPr>
          <p:cNvSpPr>
            <a:spLocks noChangeArrowheads="1"/>
          </p:cNvSpPr>
          <p:nvPr/>
        </p:nvSpPr>
        <p:spPr bwMode="auto">
          <a:xfrm>
            <a:off x="2082800" y="311150"/>
            <a:ext cx="7772400" cy="622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defRPr/>
            </a:pPr>
            <a:endParaRPr lang="en-US" altLang="en-US" sz="3200" dirty="0">
              <a:solidFill>
                <a:srgbClr val="000000"/>
              </a:solidFill>
              <a:latin typeface="Times" charset="0"/>
              <a:ea typeface="ＭＳ Ｐゴシック" charset="0"/>
              <a:cs typeface="ＭＳ Ｐゴシック" charset="0"/>
            </a:endParaRPr>
          </a:p>
        </p:txBody>
      </p:sp>
      <p:sp>
        <p:nvSpPr>
          <p:cNvPr id="3075" name="Rectangle 3">
            <a:extLst>
              <a:ext uri="{FF2B5EF4-FFF2-40B4-BE49-F238E27FC236}">
                <a16:creationId xmlns:a16="http://schemas.microsoft.com/office/drawing/2014/main" id="{092EC405-9AA8-C50D-8C05-84ED88F8D044}"/>
              </a:ext>
            </a:extLst>
          </p:cNvPr>
          <p:cNvSpPr>
            <a:spLocks noChangeArrowheads="1"/>
          </p:cNvSpPr>
          <p:nvPr/>
        </p:nvSpPr>
        <p:spPr bwMode="auto">
          <a:xfrm>
            <a:off x="2082800" y="1222482"/>
            <a:ext cx="8229600" cy="36957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2400">
                <a:solidFill>
                  <a:schemeClr val="tx1"/>
                </a:solidFill>
                <a:latin typeface="Times" pitchFamily="2" charset="0"/>
                <a:ea typeface="ＭＳ Ｐゴシック" panose="020B0600070205080204" pitchFamily="34" charset="-128"/>
              </a:defRPr>
            </a:lvl1pPr>
            <a:lvl2pPr marL="800100" indent="-34290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spcBef>
                <a:spcPct val="20000"/>
              </a:spcBef>
              <a:buFontTx/>
              <a:buChar char="•"/>
            </a:pPr>
            <a:r>
              <a:rPr lang="en-US" altLang="en-US" sz="1800" dirty="0">
                <a:solidFill>
                  <a:srgbClr val="000000"/>
                </a:solidFill>
                <a:latin typeface="Times New Roman" panose="02020603050405020304" pitchFamily="18" charset="0"/>
              </a:rPr>
              <a:t>From Denning, Peter. </a:t>
            </a:r>
            <a:r>
              <a:rPr lang="ja-JP" altLang="en-US" sz="1800">
                <a:solidFill>
                  <a:srgbClr val="000000"/>
                </a:solidFill>
                <a:latin typeface="Times New Roman" panose="02020603050405020304" pitchFamily="18" charset="0"/>
              </a:rPr>
              <a:t>“</a:t>
            </a:r>
            <a:r>
              <a:rPr lang="en-US" altLang="en-US" sz="1800" dirty="0">
                <a:solidFill>
                  <a:srgbClr val="000000"/>
                </a:solidFill>
                <a:latin typeface="Times New Roman" panose="02020603050405020304" pitchFamily="18" charset="0"/>
              </a:rPr>
              <a:t>A Statistical Model for Console Behavior in Multiuser Computers</a:t>
            </a:r>
            <a:r>
              <a:rPr lang="ja-JP" altLang="en-US" sz="1800">
                <a:solidFill>
                  <a:srgbClr val="000000"/>
                </a:solidFill>
                <a:latin typeface="Times New Roman" panose="02020603050405020304" pitchFamily="18" charset="0"/>
              </a:rPr>
              <a:t>”</a:t>
            </a:r>
            <a:r>
              <a:rPr lang="en-US" altLang="en-US" sz="1800" dirty="0">
                <a:solidFill>
                  <a:srgbClr val="000000"/>
                </a:solidFill>
                <a:latin typeface="Times New Roman" panose="02020603050405020304" pitchFamily="18" charset="0"/>
              </a:rPr>
              <a:t> CACM, Vol.11, No.9 p.605, Sept 1968.</a:t>
            </a:r>
          </a:p>
          <a:p>
            <a:pPr>
              <a:spcBef>
                <a:spcPct val="20000"/>
              </a:spcBef>
              <a:buFontTx/>
              <a:buChar char="•"/>
            </a:pPr>
            <a:r>
              <a:rPr lang="en-US" altLang="en-US" sz="1800" dirty="0">
                <a:solidFill>
                  <a:srgbClr val="000000"/>
                </a:solidFill>
                <a:latin typeface="Times New Roman" panose="02020603050405020304" pitchFamily="18" charset="0"/>
              </a:rPr>
              <a:t>For 50 users and a ratio of characters/interrupt = 10.</a:t>
            </a:r>
          </a:p>
          <a:p>
            <a:pPr>
              <a:spcBef>
                <a:spcPct val="20000"/>
              </a:spcBef>
              <a:buFontTx/>
              <a:buChar char="•"/>
            </a:pPr>
            <a:endParaRPr lang="en-US" altLang="en-US" sz="2000" dirty="0">
              <a:solidFill>
                <a:srgbClr val="000000"/>
              </a:solidFill>
            </a:endParaRPr>
          </a:p>
          <a:p>
            <a:pPr>
              <a:spcBef>
                <a:spcPct val="20000"/>
              </a:spcBef>
              <a:buFontTx/>
              <a:buChar char="•"/>
            </a:pPr>
            <a:endParaRPr lang="en-US" altLang="en-US" sz="2000" dirty="0">
              <a:solidFill>
                <a:srgbClr val="000000"/>
              </a:solidFill>
            </a:endParaRPr>
          </a:p>
          <a:p>
            <a:pPr>
              <a:spcBef>
                <a:spcPct val="20000"/>
              </a:spcBef>
              <a:buFontTx/>
              <a:buChar char="•"/>
            </a:pPr>
            <a:endParaRPr lang="en-US" altLang="en-US" sz="2000" dirty="0">
              <a:solidFill>
                <a:srgbClr val="000000"/>
              </a:solidFill>
            </a:endParaRPr>
          </a:p>
          <a:p>
            <a:pPr>
              <a:spcBef>
                <a:spcPct val="20000"/>
              </a:spcBef>
              <a:buFontTx/>
              <a:buChar char="•"/>
            </a:pPr>
            <a:endParaRPr lang="en-US" altLang="en-US" sz="2000" dirty="0">
              <a:solidFill>
                <a:srgbClr val="000000"/>
              </a:solidFill>
            </a:endParaRPr>
          </a:p>
          <a:p>
            <a:pPr>
              <a:spcBef>
                <a:spcPct val="20000"/>
              </a:spcBef>
              <a:buFontTx/>
              <a:buChar char="•"/>
            </a:pPr>
            <a:endParaRPr lang="en-US" altLang="en-US" sz="2000" dirty="0">
              <a:solidFill>
                <a:srgbClr val="000000"/>
              </a:solidFill>
            </a:endParaRPr>
          </a:p>
          <a:p>
            <a:pPr>
              <a:spcBef>
                <a:spcPct val="20000"/>
              </a:spcBef>
              <a:buFontTx/>
              <a:buChar char="•"/>
            </a:pPr>
            <a:endParaRPr lang="en-US" altLang="en-US" sz="2000" dirty="0">
              <a:solidFill>
                <a:srgbClr val="000000"/>
              </a:solidFill>
            </a:endParaRPr>
          </a:p>
          <a:p>
            <a:pPr>
              <a:spcBef>
                <a:spcPct val="20000"/>
              </a:spcBef>
              <a:buFontTx/>
              <a:buChar char="•"/>
            </a:pPr>
            <a:endParaRPr lang="en-US" altLang="en-US" sz="2000" dirty="0">
              <a:solidFill>
                <a:srgbClr val="000000"/>
              </a:solidFill>
            </a:endParaRPr>
          </a:p>
          <a:p>
            <a:pPr>
              <a:spcBef>
                <a:spcPct val="20000"/>
              </a:spcBef>
              <a:buFontTx/>
              <a:buChar char="•"/>
            </a:pPr>
            <a:r>
              <a:rPr lang="en-US" altLang="en-US" sz="1800" dirty="0">
                <a:solidFill>
                  <a:srgbClr val="000000"/>
                </a:solidFill>
              </a:rPr>
              <a:t>This result is completely general for static vs pooled resources.  It is really a no-brainer:  Always pool buffers, unless there is a good reason to ensure it will run out.</a:t>
            </a:r>
          </a:p>
          <a:p>
            <a:pPr lvl="1">
              <a:spcBef>
                <a:spcPct val="20000"/>
              </a:spcBef>
              <a:buFontTx/>
              <a:buChar char="•"/>
            </a:pPr>
            <a:r>
              <a:rPr lang="en-US" altLang="en-US" sz="1600" dirty="0">
                <a:solidFill>
                  <a:srgbClr val="000000"/>
                </a:solidFill>
              </a:rPr>
              <a:t>Takes at least 6 times more memory for static vs pooled and it isn’t linear.</a:t>
            </a:r>
          </a:p>
          <a:p>
            <a:pPr lvl="1">
              <a:spcBef>
                <a:spcPct val="20000"/>
              </a:spcBef>
              <a:buFontTx/>
              <a:buChar char="•"/>
            </a:pPr>
            <a:r>
              <a:rPr lang="en-US" altLang="en-US" sz="1600" dirty="0">
                <a:solidFill>
                  <a:srgbClr val="000000"/>
                </a:solidFill>
              </a:rPr>
              <a:t>At today’s requirements the difference will be measured in orders of magnitude.</a:t>
            </a:r>
          </a:p>
          <a:p>
            <a:pPr>
              <a:spcBef>
                <a:spcPct val="20000"/>
              </a:spcBef>
              <a:buFontTx/>
              <a:buChar char="•"/>
            </a:pPr>
            <a:r>
              <a:rPr lang="en-US" altLang="en-US" sz="1600" dirty="0">
                <a:solidFill>
                  <a:srgbClr val="000000"/>
                </a:solidFill>
              </a:rPr>
              <a:t>This has been confirmed for routers, first in 1977, and again in 2004.</a:t>
            </a:r>
          </a:p>
        </p:txBody>
      </p:sp>
      <p:sp>
        <p:nvSpPr>
          <p:cNvPr id="3076" name="Text Box 4">
            <a:extLst>
              <a:ext uri="{FF2B5EF4-FFF2-40B4-BE49-F238E27FC236}">
                <a16:creationId xmlns:a16="http://schemas.microsoft.com/office/drawing/2014/main" id="{7E4D67CA-0FAB-3787-1832-DB501922FD5F}"/>
              </a:ext>
            </a:extLst>
          </p:cNvPr>
          <p:cNvSpPr txBox="1">
            <a:spLocks noChangeArrowheads="1"/>
          </p:cNvSpPr>
          <p:nvPr/>
        </p:nvSpPr>
        <p:spPr bwMode="auto">
          <a:xfrm>
            <a:off x="4284664" y="2305027"/>
            <a:ext cx="3475037" cy="225292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nSpc>
                <a:spcPct val="60000"/>
              </a:lnSpc>
              <a:spcBef>
                <a:spcPct val="50000"/>
              </a:spcBef>
              <a:defRPr/>
            </a:pPr>
            <a:r>
              <a:rPr lang="en-US" altLang="en-US" sz="1200" b="1" u="sng" dirty="0">
                <a:solidFill>
                  <a:srgbClr val="000000"/>
                </a:solidFill>
                <a:latin typeface="Times" charset="0"/>
                <a:ea typeface="ＭＳ Ｐゴシック" charset="0"/>
                <a:cs typeface="ＭＳ Ｐゴシック" charset="0"/>
              </a:rPr>
              <a:t>Total Buffer Size           Probability of Overflow</a:t>
            </a:r>
            <a:endParaRPr lang="en-US" altLang="en-US" sz="1200" u="sng" dirty="0">
              <a:solidFill>
                <a:srgbClr val="000000"/>
              </a:solidFill>
              <a:latin typeface="Times" charset="0"/>
              <a:ea typeface="ＭＳ Ｐゴシック" charset="0"/>
              <a:cs typeface="ＭＳ Ｐゴシック" charset="0"/>
            </a:endParaRP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         (in bytes)                 </a:t>
            </a:r>
            <a:r>
              <a:rPr lang="en-US" altLang="en-US" sz="1200" b="1" u="sng" dirty="0">
                <a:solidFill>
                  <a:srgbClr val="000000"/>
                </a:solidFill>
                <a:latin typeface="Times" charset="0"/>
                <a:ea typeface="ＭＳ Ｐゴシック" charset="0"/>
                <a:cs typeface="ＭＳ Ｐゴシック" charset="0"/>
              </a:rPr>
              <a:t>Pooled               Static</a:t>
            </a:r>
            <a:endParaRPr lang="en-US" altLang="en-US" sz="1200" dirty="0">
              <a:solidFill>
                <a:srgbClr val="000000"/>
              </a:solidFill>
              <a:latin typeface="Times" charset="0"/>
              <a:ea typeface="ＭＳ Ｐゴシック" charset="0"/>
              <a:cs typeface="ＭＳ Ｐゴシック" charset="0"/>
            </a:endParaRP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  750	                  .006	.90</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1000                                   10</a:t>
            </a:r>
            <a:r>
              <a:rPr lang="en-US" altLang="en-US" sz="1200" baseline="30000" dirty="0">
                <a:solidFill>
                  <a:srgbClr val="000000"/>
                </a:solidFill>
                <a:latin typeface="Times" charset="0"/>
                <a:ea typeface="ＭＳ Ｐゴシック" charset="0"/>
                <a:cs typeface="ＭＳ Ｐゴシック" charset="0"/>
              </a:rPr>
              <a:t>-6</a:t>
            </a:r>
            <a:r>
              <a:rPr lang="en-US" altLang="en-US" sz="1200" dirty="0">
                <a:solidFill>
                  <a:srgbClr val="000000"/>
                </a:solidFill>
                <a:latin typeface="Times" charset="0"/>
                <a:ea typeface="ＭＳ Ｐゴシック" charset="0"/>
                <a:cs typeface="ＭＳ Ｐゴシック" charset="0"/>
              </a:rPr>
              <a:t>	.76</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1500			.44</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2000			.22</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2500			.10</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3000			.05</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3500			.02</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4000			.01</a:t>
            </a:r>
          </a:p>
          <a:p>
            <a:pPr>
              <a:lnSpc>
                <a:spcPct val="60000"/>
              </a:lnSpc>
              <a:spcBef>
                <a:spcPct val="50000"/>
              </a:spcBef>
              <a:defRPr/>
            </a:pPr>
            <a:r>
              <a:rPr lang="en-US" altLang="en-US" sz="1200" dirty="0">
                <a:solidFill>
                  <a:srgbClr val="000000"/>
                </a:solidFill>
                <a:latin typeface="Times" charset="0"/>
                <a:ea typeface="ＭＳ Ｐゴシック" charset="0"/>
                <a:cs typeface="ＭＳ Ｐゴシック" charset="0"/>
              </a:rPr>
              <a:t>4500			.004</a:t>
            </a:r>
          </a:p>
        </p:txBody>
      </p:sp>
      <p:grpSp>
        <p:nvGrpSpPr>
          <p:cNvPr id="8" name="Group 7">
            <a:extLst>
              <a:ext uri="{FF2B5EF4-FFF2-40B4-BE49-F238E27FC236}">
                <a16:creationId xmlns:a16="http://schemas.microsoft.com/office/drawing/2014/main" id="{02CCAAFD-41AD-A0A0-8917-6D59705228DE}"/>
              </a:ext>
            </a:extLst>
          </p:cNvPr>
          <p:cNvGrpSpPr>
            <a:grpSpLocks/>
          </p:cNvGrpSpPr>
          <p:nvPr/>
        </p:nvGrpSpPr>
        <p:grpSpPr bwMode="auto">
          <a:xfrm>
            <a:off x="6197600" y="2695683"/>
            <a:ext cx="3479800" cy="1014413"/>
            <a:chOff x="4672950" y="3085599"/>
            <a:chExt cx="3480450" cy="1015663"/>
          </a:xfrm>
        </p:grpSpPr>
        <p:sp>
          <p:nvSpPr>
            <p:cNvPr id="2" name="TextBox 1">
              <a:extLst>
                <a:ext uri="{FF2B5EF4-FFF2-40B4-BE49-F238E27FC236}">
                  <a16:creationId xmlns:a16="http://schemas.microsoft.com/office/drawing/2014/main" id="{DB9FA300-0554-820E-2D8A-C10E0BE16B95}"/>
                </a:ext>
              </a:extLst>
            </p:cNvPr>
            <p:cNvSpPr txBox="1"/>
            <p:nvPr/>
          </p:nvSpPr>
          <p:spPr>
            <a:xfrm>
              <a:off x="6784719" y="3085599"/>
              <a:ext cx="1368681" cy="1015663"/>
            </a:xfrm>
            <a:prstGeom prst="rect">
              <a:avLst/>
            </a:prstGeom>
            <a:noFill/>
          </p:spPr>
          <p:txBody>
            <a:bodyPr>
              <a:spAutoFit/>
            </a:bodyPr>
            <a:lstStyle/>
            <a:p>
              <a:pPr defTabSz="457200">
                <a:defRPr/>
              </a:pPr>
              <a:r>
                <a:rPr lang="en-US" sz="1200" dirty="0">
                  <a:solidFill>
                    <a:srgbClr val="000000"/>
                  </a:solidFill>
                  <a:latin typeface="Times"/>
                  <a:ea typeface="ＭＳ Ｐゴシック"/>
                </a:rPr>
                <a:t>Blank because the numbers were too small to be represented by the computer. </a:t>
              </a:r>
            </a:p>
          </p:txBody>
        </p:sp>
        <p:cxnSp>
          <p:nvCxnSpPr>
            <p:cNvPr id="4" name="Straight Arrow Connector 3">
              <a:extLst>
                <a:ext uri="{FF2B5EF4-FFF2-40B4-BE49-F238E27FC236}">
                  <a16:creationId xmlns:a16="http://schemas.microsoft.com/office/drawing/2014/main" id="{202CDC88-7264-A26E-D78A-025DF93F5DBC}"/>
                </a:ext>
              </a:extLst>
            </p:cNvPr>
            <p:cNvCxnSpPr>
              <a:stCxn id="2" idx="1"/>
            </p:cNvCxnSpPr>
            <p:nvPr/>
          </p:nvCxnSpPr>
          <p:spPr bwMode="auto">
            <a:xfrm flipH="1">
              <a:off x="4672950" y="3594225"/>
              <a:ext cx="2111769" cy="77884"/>
            </a:xfrm>
            <a:prstGeom prst="straightConnector1">
              <a:avLst/>
            </a:prstGeom>
            <a:solidFill>
              <a:schemeClr val="accent1"/>
            </a:solidFill>
            <a:ln w="6350"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grpSp>
        <p:nvGrpSpPr>
          <p:cNvPr id="9" name="Group 8">
            <a:extLst>
              <a:ext uri="{FF2B5EF4-FFF2-40B4-BE49-F238E27FC236}">
                <a16:creationId xmlns:a16="http://schemas.microsoft.com/office/drawing/2014/main" id="{563361E3-DCD6-8270-9199-01E434115D57}"/>
              </a:ext>
            </a:extLst>
          </p:cNvPr>
          <p:cNvGrpSpPr>
            <a:grpSpLocks/>
          </p:cNvGrpSpPr>
          <p:nvPr/>
        </p:nvGrpSpPr>
        <p:grpSpPr bwMode="auto">
          <a:xfrm>
            <a:off x="1722439" y="3686283"/>
            <a:ext cx="2655887" cy="830263"/>
            <a:chOff x="198961" y="3821966"/>
            <a:chExt cx="2655368" cy="830997"/>
          </a:xfrm>
        </p:grpSpPr>
        <p:sp>
          <p:nvSpPr>
            <p:cNvPr id="3" name="TextBox 2">
              <a:extLst>
                <a:ext uri="{FF2B5EF4-FFF2-40B4-BE49-F238E27FC236}">
                  <a16:creationId xmlns:a16="http://schemas.microsoft.com/office/drawing/2014/main" id="{AC7B9CD3-C3F0-095A-1246-B80516C81EAB}"/>
                </a:ext>
              </a:extLst>
            </p:cNvPr>
            <p:cNvSpPr txBox="1"/>
            <p:nvPr/>
          </p:nvSpPr>
          <p:spPr>
            <a:xfrm>
              <a:off x="198961" y="3821966"/>
              <a:ext cx="1437994" cy="830997"/>
            </a:xfrm>
            <a:prstGeom prst="rect">
              <a:avLst/>
            </a:prstGeom>
            <a:noFill/>
          </p:spPr>
          <p:txBody>
            <a:bodyPr>
              <a:spAutoFit/>
            </a:bodyPr>
            <a:lstStyle/>
            <a:p>
              <a:pPr defTabSz="457200">
                <a:defRPr/>
              </a:pPr>
              <a:r>
                <a:rPr lang="en-US" sz="1200" dirty="0">
                  <a:solidFill>
                    <a:srgbClr val="000000"/>
                  </a:solidFill>
                  <a:latin typeface="Times"/>
                  <a:ea typeface="ＭＳ Ｐゴシック"/>
                </a:rPr>
                <a:t>It takes to here with static to get to where we started with pooled.</a:t>
              </a:r>
            </a:p>
          </p:txBody>
        </p:sp>
        <p:cxnSp>
          <p:nvCxnSpPr>
            <p:cNvPr id="6" name="Straight Arrow Connector 5">
              <a:extLst>
                <a:ext uri="{FF2B5EF4-FFF2-40B4-BE49-F238E27FC236}">
                  <a16:creationId xmlns:a16="http://schemas.microsoft.com/office/drawing/2014/main" id="{58BC7188-AD66-C993-1E5E-6046836D934F}"/>
                </a:ext>
              </a:extLst>
            </p:cNvPr>
            <p:cNvCxnSpPr/>
            <p:nvPr/>
          </p:nvCxnSpPr>
          <p:spPr bwMode="auto">
            <a:xfrm>
              <a:off x="1165559" y="4076191"/>
              <a:ext cx="1688770" cy="441715"/>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sp>
        <p:nvSpPr>
          <p:cNvPr id="10" name="TextBox 9">
            <a:extLst>
              <a:ext uri="{FF2B5EF4-FFF2-40B4-BE49-F238E27FC236}">
                <a16:creationId xmlns:a16="http://schemas.microsoft.com/office/drawing/2014/main" id="{D60A6F1E-92FF-FF05-46CF-490ED6EF9041}"/>
              </a:ext>
            </a:extLst>
          </p:cNvPr>
          <p:cNvSpPr txBox="1"/>
          <p:nvPr/>
        </p:nvSpPr>
        <p:spPr>
          <a:xfrm>
            <a:off x="2689226" y="236669"/>
            <a:ext cx="5329237" cy="1138773"/>
          </a:xfrm>
          <a:prstGeom prst="rect">
            <a:avLst/>
          </a:prstGeom>
          <a:noFill/>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r>
              <a:rPr lang="en-US" altLang="en-US" sz="1800" dirty="0">
                <a:solidFill>
                  <a:srgbClr val="000000"/>
                </a:solidFill>
              </a:rPr>
              <a:t>Static Allocation Takes Oceans More Resources!</a:t>
            </a:r>
          </a:p>
          <a:p>
            <a:pPr algn="ctr"/>
            <a:r>
              <a:rPr lang="en-US" altLang="en-US" sz="3200" dirty="0">
                <a:solidFill>
                  <a:srgbClr val="000000"/>
                </a:solidFill>
              </a:rPr>
              <a:t>Pooled vs Static Buffers</a:t>
            </a:r>
          </a:p>
          <a:p>
            <a:pPr eaLnBrk="1" hangingPunct="1"/>
            <a:endParaRPr lang="en-US" altLang="en-US" sz="1800" dirty="0">
              <a:solidFill>
                <a:srgbClr val="000000"/>
              </a:solidFill>
            </a:endParaRPr>
          </a:p>
        </p:txBody>
      </p:sp>
      <p:sp>
        <p:nvSpPr>
          <p:cNvPr id="5" name="Text Box 1028">
            <a:extLst>
              <a:ext uri="{FF2B5EF4-FFF2-40B4-BE49-F238E27FC236}">
                <a16:creationId xmlns:a16="http://schemas.microsoft.com/office/drawing/2014/main" id="{D99BB5EB-0041-9534-648C-F763A237FEE7}"/>
              </a:ext>
            </a:extLst>
          </p:cNvPr>
          <p:cNvSpPr txBox="1">
            <a:spLocks noChangeArrowheads="1"/>
          </p:cNvSpPr>
          <p:nvPr/>
        </p:nvSpPr>
        <p:spPr bwMode="auto">
          <a:xfrm>
            <a:off x="8727780" y="6302375"/>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281129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3"/>
          <p:cNvSpPr>
            <a:spLocks noGrp="1"/>
          </p:cNvSpPr>
          <p:nvPr>
            <p:ph type="dt" sz="quarter" idx="10"/>
          </p:nvPr>
        </p:nvSpPr>
        <p:spPr/>
        <p:txBody>
          <a:bodyPr/>
          <a:lstStyle/>
          <a:p>
            <a:pPr>
              <a:defRPr/>
            </a:pPr>
            <a:fld id="{F39CC0C1-C88C-BE42-BA07-45041106A139}" type="datetime3">
              <a:rPr lang="en-US">
                <a:solidFill>
                  <a:srgbClr val="000000"/>
                </a:solidFill>
              </a:rPr>
              <a:pPr>
                <a:defRPr/>
              </a:pPr>
              <a:t>14 January 2026</a:t>
            </a:fld>
            <a:endParaRPr lang="en-US" sz="1400">
              <a:solidFill>
                <a:srgbClr val="000000"/>
              </a:solidFill>
            </a:endParaRPr>
          </a:p>
        </p:txBody>
      </p:sp>
      <p:sp>
        <p:nvSpPr>
          <p:cNvPr id="27" name="Slide Number Placeholder 5"/>
          <p:cNvSpPr>
            <a:spLocks noGrp="1"/>
          </p:cNvSpPr>
          <p:nvPr>
            <p:ph type="sldNum" sz="quarter" idx="12"/>
          </p:nvPr>
        </p:nvSpPr>
        <p:spPr/>
        <p:txBody>
          <a:bodyPr/>
          <a:lstStyle/>
          <a:p>
            <a:pPr>
              <a:defRPr/>
            </a:pPr>
            <a:fld id="{2C3FE4A1-825C-5246-962A-2C4D44857699}" type="slidenum">
              <a:rPr lang="en-US">
                <a:solidFill>
                  <a:srgbClr val="000000"/>
                </a:solidFill>
              </a:rPr>
              <a:pPr>
                <a:defRPr/>
              </a:pPr>
              <a:t>53</a:t>
            </a:fld>
            <a:endParaRPr lang="en-US" sz="1400">
              <a:solidFill>
                <a:srgbClr val="000000"/>
              </a:solidFill>
            </a:endParaRPr>
          </a:p>
        </p:txBody>
      </p:sp>
      <p:sp>
        <p:nvSpPr>
          <p:cNvPr id="29698" name="Rectangle 2"/>
          <p:cNvSpPr>
            <a:spLocks noGrp="1" noChangeArrowheads="1"/>
          </p:cNvSpPr>
          <p:nvPr>
            <p:ph type="title"/>
          </p:nvPr>
        </p:nvSpPr>
        <p:spPr>
          <a:xfrm>
            <a:off x="2195513" y="266700"/>
            <a:ext cx="7772400" cy="1143000"/>
          </a:xfrm>
        </p:spPr>
        <p:txBody>
          <a:bodyPr/>
          <a:lstStyle/>
          <a:p>
            <a:pPr>
              <a:defRPr/>
            </a:pPr>
            <a:r>
              <a:rPr lang="en-US" sz="2000" dirty="0">
                <a:solidFill>
                  <a:srgbClr val="000000"/>
                </a:solidFill>
                <a:cs typeface="+mj-cs"/>
              </a:rPr>
              <a:t>Few People Understand</a:t>
            </a:r>
            <a:br>
              <a:rPr lang="en-US" sz="2000" dirty="0">
                <a:solidFill>
                  <a:srgbClr val="000000"/>
                </a:solidFill>
                <a:cs typeface="+mj-cs"/>
              </a:rPr>
            </a:br>
            <a:r>
              <a:rPr lang="en-US" dirty="0">
                <a:solidFill>
                  <a:srgbClr val="000000"/>
                </a:solidFill>
                <a:cs typeface="+mj-cs"/>
              </a:rPr>
              <a:t>Abstract Syntax and Encoding Rules</a:t>
            </a:r>
            <a:br>
              <a:rPr lang="en-US" dirty="0">
                <a:solidFill>
                  <a:srgbClr val="000000"/>
                </a:solidFill>
                <a:cs typeface="+mj-cs"/>
              </a:rPr>
            </a:br>
            <a:r>
              <a:rPr lang="en-US" sz="1800" dirty="0">
                <a:solidFill>
                  <a:srgbClr val="000000"/>
                </a:solidFill>
                <a:cs typeface="+mj-cs"/>
              </a:rPr>
              <a:t>(From a later lecture, but we need it now)</a:t>
            </a:r>
            <a:endParaRPr lang="en-US" dirty="0">
              <a:solidFill>
                <a:srgbClr val="000000"/>
              </a:solidFill>
              <a:cs typeface="+mj-cs"/>
            </a:endParaRPr>
          </a:p>
        </p:txBody>
      </p:sp>
      <p:sp>
        <p:nvSpPr>
          <p:cNvPr id="29701" name="Rectangle 5"/>
          <p:cNvSpPr>
            <a:spLocks noChangeArrowheads="1"/>
          </p:cNvSpPr>
          <p:nvPr/>
        </p:nvSpPr>
        <p:spPr bwMode="auto">
          <a:xfrm>
            <a:off x="2209800" y="1752600"/>
            <a:ext cx="77724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0" fontAlgn="base" hangingPunct="0">
              <a:spcBef>
                <a:spcPct val="20000"/>
              </a:spcBef>
              <a:spcAft>
                <a:spcPct val="0"/>
              </a:spcAft>
              <a:buFontTx/>
              <a:buChar char="•"/>
              <a:defRPr/>
            </a:pPr>
            <a:r>
              <a:rPr lang="en-US" sz="2000" dirty="0">
                <a:solidFill>
                  <a:srgbClr val="000000"/>
                </a:solidFill>
                <a:latin typeface="Times" charset="0"/>
                <a:ea typeface="ＭＳ Ｐゴシック" charset="0"/>
                <a:cs typeface="ＭＳ Ｐゴシック" charset="0"/>
              </a:rPr>
              <a:t>An Abstract Syntax Language can compile to</a:t>
            </a:r>
          </a:p>
          <a:p>
            <a:pPr marL="342900" indent="-342900" eaLnBrk="0" fontAlgn="base" hangingPunct="0">
              <a:spcBef>
                <a:spcPct val="20000"/>
              </a:spcBef>
              <a:spcAft>
                <a:spcPct val="0"/>
              </a:spcAft>
              <a:buFontTx/>
              <a:buChar char="•"/>
              <a:defRPr/>
            </a:pPr>
            <a:r>
              <a:rPr lang="en-US" sz="2000" dirty="0">
                <a:solidFill>
                  <a:srgbClr val="000000"/>
                </a:solidFill>
                <a:latin typeface="Times" charset="0"/>
                <a:ea typeface="ＭＳ Ｐゴシック" charset="0"/>
                <a:cs typeface="ＭＳ Ｐゴシック" charset="0"/>
              </a:rPr>
              <a:t>Potentially, many Concrete Syntaxes as the actual encoding</a:t>
            </a:r>
          </a:p>
          <a:p>
            <a:pPr marL="342900" indent="-342900" eaLnBrk="0" fontAlgn="base" hangingPunct="0">
              <a:spcBef>
                <a:spcPct val="20000"/>
              </a:spcBef>
              <a:spcAft>
                <a:spcPct val="0"/>
              </a:spcAft>
              <a:buFontTx/>
              <a:buChar char="•"/>
              <a:defRPr/>
            </a:pPr>
            <a:r>
              <a:rPr lang="en-US" sz="2000" dirty="0">
                <a:solidFill>
                  <a:srgbClr val="000000"/>
                </a:solidFill>
                <a:latin typeface="Times" charset="0"/>
                <a:ea typeface="ＭＳ Ｐゴシック" charset="0"/>
                <a:cs typeface="ＭＳ Ｐゴシック" charset="0"/>
              </a:rPr>
              <a:t>Analogous to a Programming Language (abstract) with different code generators (concrete).</a:t>
            </a:r>
          </a:p>
          <a:p>
            <a:pPr marL="342900" indent="-342900" eaLnBrk="0" fontAlgn="base" hangingPunct="0">
              <a:spcBef>
                <a:spcPct val="20000"/>
              </a:spcBef>
              <a:spcAft>
                <a:spcPct val="0"/>
              </a:spcAft>
              <a:buFontTx/>
              <a:buChar char="•"/>
              <a:defRPr/>
            </a:pPr>
            <a:r>
              <a:rPr lang="en-US" sz="2000" dirty="0">
                <a:solidFill>
                  <a:srgbClr val="000000"/>
                </a:solidFill>
                <a:latin typeface="Times" charset="0"/>
                <a:ea typeface="ＭＳ Ｐゴシック" charset="0"/>
                <a:cs typeface="ＭＳ Ｐゴシック" charset="0"/>
              </a:rPr>
              <a:t>Creates a protocol specification that is </a:t>
            </a:r>
            <a:r>
              <a:rPr lang="en-US" sz="2000" i="1" dirty="0">
                <a:solidFill>
                  <a:srgbClr val="000000"/>
                </a:solidFill>
                <a:latin typeface="Times" charset="0"/>
                <a:ea typeface="ＭＳ Ｐゴシック" charset="0"/>
                <a:cs typeface="ＭＳ Ｐゴシック" charset="0"/>
              </a:rPr>
              <a:t>invariant</a:t>
            </a:r>
            <a:r>
              <a:rPr lang="en-US" sz="2000" dirty="0">
                <a:solidFill>
                  <a:srgbClr val="000000"/>
                </a:solidFill>
                <a:latin typeface="Times" charset="0"/>
                <a:ea typeface="ＭＳ Ｐゴシック" charset="0"/>
                <a:cs typeface="ＭＳ Ｐゴシック" charset="0"/>
              </a:rPr>
              <a:t> with respect to syntax.</a:t>
            </a:r>
          </a:p>
        </p:txBody>
      </p:sp>
      <p:grpSp>
        <p:nvGrpSpPr>
          <p:cNvPr id="43013" name="Group 6"/>
          <p:cNvGrpSpPr>
            <a:grpSpLocks/>
          </p:cNvGrpSpPr>
          <p:nvPr/>
        </p:nvGrpSpPr>
        <p:grpSpPr bwMode="auto">
          <a:xfrm>
            <a:off x="2133600" y="3733800"/>
            <a:ext cx="8223250" cy="2135188"/>
            <a:chOff x="384" y="2093"/>
            <a:chExt cx="5180" cy="1509"/>
          </a:xfrm>
        </p:grpSpPr>
        <p:sp>
          <p:nvSpPr>
            <p:cNvPr id="29703" name="Text Box 7"/>
            <p:cNvSpPr txBox="1">
              <a:spLocks noChangeArrowheads="1"/>
            </p:cNvSpPr>
            <p:nvPr/>
          </p:nvSpPr>
          <p:spPr bwMode="auto">
            <a:xfrm>
              <a:off x="614" y="2093"/>
              <a:ext cx="1121"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cs typeface="ＭＳ Ｐゴシック" charset="0"/>
                </a:rPr>
                <a:t>Programming Language</a:t>
              </a:r>
            </a:p>
          </p:txBody>
        </p:sp>
        <p:sp>
          <p:nvSpPr>
            <p:cNvPr id="29704" name="Text Box 8"/>
            <p:cNvSpPr txBox="1">
              <a:spLocks noChangeArrowheads="1"/>
            </p:cNvSpPr>
            <p:nvPr/>
          </p:nvSpPr>
          <p:spPr bwMode="auto">
            <a:xfrm>
              <a:off x="4128" y="2112"/>
              <a:ext cx="780"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cs typeface="ＭＳ Ｐゴシック" charset="0"/>
                </a:rPr>
                <a:t>Abstract Syntax</a:t>
              </a:r>
            </a:p>
          </p:txBody>
        </p:sp>
        <p:sp>
          <p:nvSpPr>
            <p:cNvPr id="29705" name="Text Box 9"/>
            <p:cNvSpPr txBox="1">
              <a:spLocks noChangeArrowheads="1"/>
            </p:cNvSpPr>
            <p:nvPr/>
          </p:nvSpPr>
          <p:spPr bwMode="auto">
            <a:xfrm>
              <a:off x="384" y="2256"/>
              <a:ext cx="1635" cy="1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&lt; integer &gt; ::= INTEGER &lt;identifier&gt;;</a:t>
              </a:r>
            </a:p>
          </p:txBody>
        </p:sp>
        <p:sp>
          <p:nvSpPr>
            <p:cNvPr id="29706" name="Text Box 10"/>
            <p:cNvSpPr txBox="1">
              <a:spLocks noChangeArrowheads="1"/>
            </p:cNvSpPr>
            <p:nvPr/>
          </p:nvSpPr>
          <p:spPr bwMode="auto">
            <a:xfrm>
              <a:off x="2496" y="2112"/>
              <a:ext cx="965" cy="1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cs typeface="ＭＳ Ｐゴシック" charset="0"/>
                </a:rPr>
                <a:t>Language Definition</a:t>
              </a:r>
              <a:endParaRPr lang="en-US" sz="1200">
                <a:solidFill>
                  <a:srgbClr val="000000"/>
                </a:solidFill>
                <a:latin typeface="Times" charset="0"/>
                <a:ea typeface="ＭＳ Ｐゴシック" charset="0"/>
                <a:cs typeface="ＭＳ Ｐゴシック" charset="0"/>
              </a:endParaRPr>
            </a:p>
          </p:txBody>
        </p:sp>
        <p:sp>
          <p:nvSpPr>
            <p:cNvPr id="29707" name="Text Box 11"/>
            <p:cNvSpPr txBox="1">
              <a:spLocks noChangeArrowheads="1"/>
            </p:cNvSpPr>
            <p:nvPr/>
          </p:nvSpPr>
          <p:spPr bwMode="auto">
            <a:xfrm>
              <a:off x="816" y="2544"/>
              <a:ext cx="64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INTEGER X;</a:t>
              </a:r>
            </a:p>
          </p:txBody>
        </p:sp>
        <p:sp>
          <p:nvSpPr>
            <p:cNvPr id="29708" name="Text Box 12"/>
            <p:cNvSpPr txBox="1">
              <a:spLocks noChangeArrowheads="1"/>
            </p:cNvSpPr>
            <p:nvPr/>
          </p:nvSpPr>
          <p:spPr bwMode="auto">
            <a:xfrm>
              <a:off x="2448" y="2496"/>
              <a:ext cx="976" cy="1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cs typeface="ＭＳ Ｐゴシック" charset="0"/>
                </a:rPr>
                <a:t>Statement Definition</a:t>
              </a:r>
              <a:endParaRPr lang="en-US" sz="1200">
                <a:solidFill>
                  <a:srgbClr val="000000"/>
                </a:solidFill>
                <a:latin typeface="Times" charset="0"/>
                <a:ea typeface="ＭＳ Ｐゴシック" charset="0"/>
                <a:cs typeface="ＭＳ Ｐゴシック" charset="0"/>
              </a:endParaRPr>
            </a:p>
          </p:txBody>
        </p:sp>
        <p:sp>
          <p:nvSpPr>
            <p:cNvPr id="29709" name="Text Box 13"/>
            <p:cNvSpPr txBox="1">
              <a:spLocks noChangeArrowheads="1"/>
            </p:cNvSpPr>
            <p:nvPr/>
          </p:nvSpPr>
          <p:spPr bwMode="auto">
            <a:xfrm>
              <a:off x="806" y="2957"/>
              <a:ext cx="623"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(32 bit word)</a:t>
              </a:r>
            </a:p>
          </p:txBody>
        </p:sp>
        <p:sp>
          <p:nvSpPr>
            <p:cNvPr id="29710" name="Text Box 14"/>
            <p:cNvSpPr txBox="1">
              <a:spLocks noChangeArrowheads="1"/>
            </p:cNvSpPr>
            <p:nvPr/>
          </p:nvSpPr>
          <p:spPr bwMode="auto">
            <a:xfrm>
              <a:off x="2640" y="2927"/>
              <a:ext cx="50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cs typeface="ＭＳ Ｐゴシック" charset="0"/>
                </a:rPr>
                <a:t>Encoding</a:t>
              </a:r>
              <a:endParaRPr lang="en-US" sz="1200">
                <a:solidFill>
                  <a:srgbClr val="000000"/>
                </a:solidFill>
                <a:latin typeface="Times" charset="0"/>
                <a:ea typeface="ＭＳ Ｐゴシック" charset="0"/>
                <a:cs typeface="ＭＳ Ｐゴシック" charset="0"/>
              </a:endParaRPr>
            </a:p>
          </p:txBody>
        </p:sp>
        <p:sp>
          <p:nvSpPr>
            <p:cNvPr id="29711" name="Text Box 15"/>
            <p:cNvSpPr txBox="1">
              <a:spLocks noChangeArrowheads="1"/>
            </p:cNvSpPr>
            <p:nvPr/>
          </p:nvSpPr>
          <p:spPr bwMode="auto">
            <a:xfrm>
              <a:off x="998" y="3292"/>
              <a:ext cx="393"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012A</a:t>
              </a:r>
              <a:r>
                <a:rPr lang="en-US" sz="1200" baseline="-25000">
                  <a:solidFill>
                    <a:srgbClr val="000000"/>
                  </a:solidFill>
                  <a:latin typeface="Times" charset="0"/>
                  <a:ea typeface="ＭＳ Ｐゴシック" charset="0"/>
                  <a:cs typeface="ＭＳ Ｐゴシック" charset="0"/>
                </a:rPr>
                <a:t>16</a:t>
              </a:r>
              <a:endParaRPr lang="en-US" sz="1200">
                <a:solidFill>
                  <a:srgbClr val="000000"/>
                </a:solidFill>
                <a:latin typeface="Times" charset="0"/>
                <a:ea typeface="ＭＳ Ｐゴシック" charset="0"/>
                <a:cs typeface="ＭＳ Ｐゴシック" charset="0"/>
              </a:endParaRPr>
            </a:p>
          </p:txBody>
        </p:sp>
        <p:sp>
          <p:nvSpPr>
            <p:cNvPr id="29712" name="Text Box 16"/>
            <p:cNvSpPr txBox="1">
              <a:spLocks noChangeArrowheads="1"/>
            </p:cNvSpPr>
            <p:nvPr/>
          </p:nvSpPr>
          <p:spPr bwMode="auto">
            <a:xfrm>
              <a:off x="2736" y="3311"/>
              <a:ext cx="356"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b="1">
                  <a:solidFill>
                    <a:srgbClr val="000000"/>
                  </a:solidFill>
                  <a:latin typeface="Times" charset="0"/>
                  <a:ea typeface="ＭＳ Ｐゴシック" charset="0"/>
                  <a:cs typeface="ＭＳ Ｐゴシック" charset="0"/>
                </a:rPr>
                <a:t>Value</a:t>
              </a:r>
            </a:p>
          </p:txBody>
        </p:sp>
        <p:sp>
          <p:nvSpPr>
            <p:cNvPr id="29713" name="Text Box 17"/>
            <p:cNvSpPr txBox="1">
              <a:spLocks noChangeArrowheads="1"/>
            </p:cNvSpPr>
            <p:nvPr/>
          </p:nvSpPr>
          <p:spPr bwMode="auto">
            <a:xfrm>
              <a:off x="3782" y="2237"/>
              <a:ext cx="1548" cy="3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GeneralizedTime ::=</a:t>
              </a:r>
            </a:p>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[Universal 24] Implicit VisibleString</a:t>
              </a:r>
            </a:p>
          </p:txBody>
        </p:sp>
        <p:sp>
          <p:nvSpPr>
            <p:cNvPr id="29714" name="Text Box 18"/>
            <p:cNvSpPr txBox="1">
              <a:spLocks noChangeArrowheads="1"/>
            </p:cNvSpPr>
            <p:nvPr/>
          </p:nvSpPr>
          <p:spPr bwMode="auto">
            <a:xfrm>
              <a:off x="3830" y="2525"/>
              <a:ext cx="1734" cy="4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EventTime ::= Set {</a:t>
              </a:r>
            </a:p>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[0] IMPLICIT GeneralizedTime Optional</a:t>
              </a:r>
            </a:p>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[1] IMPLICIT LocalTime Optional}</a:t>
              </a:r>
            </a:p>
          </p:txBody>
        </p:sp>
        <p:sp>
          <p:nvSpPr>
            <p:cNvPr id="29715" name="Rectangle 19"/>
            <p:cNvSpPr>
              <a:spLocks noChangeArrowheads="1"/>
            </p:cNvSpPr>
            <p:nvPr/>
          </p:nvSpPr>
          <p:spPr bwMode="auto">
            <a:xfrm>
              <a:off x="3888" y="3024"/>
              <a:ext cx="1632" cy="24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200">
                <a:solidFill>
                  <a:srgbClr val="FFFFFF"/>
                </a:solidFill>
                <a:latin typeface="Times" charset="0"/>
                <a:ea typeface="ＭＳ Ｐゴシック" charset="0"/>
                <a:cs typeface="ＭＳ Ｐゴシック" charset="0"/>
              </a:endParaRPr>
            </a:p>
          </p:txBody>
        </p:sp>
        <p:sp>
          <p:nvSpPr>
            <p:cNvPr id="29716" name="Line 20"/>
            <p:cNvSpPr>
              <a:spLocks noChangeShapeType="1"/>
            </p:cNvSpPr>
            <p:nvPr/>
          </p:nvSpPr>
          <p:spPr bwMode="auto">
            <a:xfrm>
              <a:off x="4368" y="3024"/>
              <a:ext cx="0" cy="24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200">
                <a:solidFill>
                  <a:srgbClr val="000000"/>
                </a:solidFill>
                <a:latin typeface="Times" charset="0"/>
                <a:ea typeface="ＭＳ Ｐゴシック" charset="0"/>
                <a:cs typeface="ＭＳ Ｐゴシック" charset="0"/>
              </a:endParaRPr>
            </a:p>
          </p:txBody>
        </p:sp>
        <p:sp>
          <p:nvSpPr>
            <p:cNvPr id="29717" name="Line 21"/>
            <p:cNvSpPr>
              <a:spLocks noChangeShapeType="1"/>
            </p:cNvSpPr>
            <p:nvPr/>
          </p:nvSpPr>
          <p:spPr bwMode="auto">
            <a:xfrm>
              <a:off x="4608" y="3024"/>
              <a:ext cx="0" cy="24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1200">
                <a:solidFill>
                  <a:srgbClr val="000000"/>
                </a:solidFill>
                <a:latin typeface="Times" charset="0"/>
                <a:ea typeface="ＭＳ Ｐゴシック" charset="0"/>
                <a:cs typeface="ＭＳ Ｐゴシック" charset="0"/>
              </a:endParaRPr>
            </a:p>
          </p:txBody>
        </p:sp>
        <p:sp>
          <p:nvSpPr>
            <p:cNvPr id="29718" name="Text Box 22"/>
            <p:cNvSpPr txBox="1">
              <a:spLocks noChangeArrowheads="1"/>
            </p:cNvSpPr>
            <p:nvPr/>
          </p:nvSpPr>
          <p:spPr bwMode="auto">
            <a:xfrm>
              <a:off x="4070" y="3052"/>
              <a:ext cx="14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I</a:t>
              </a:r>
            </a:p>
          </p:txBody>
        </p:sp>
        <p:sp>
          <p:nvSpPr>
            <p:cNvPr id="29719" name="Text Box 23"/>
            <p:cNvSpPr txBox="1">
              <a:spLocks noChangeArrowheads="1"/>
            </p:cNvSpPr>
            <p:nvPr/>
          </p:nvSpPr>
          <p:spPr bwMode="auto">
            <a:xfrm>
              <a:off x="4406" y="3052"/>
              <a:ext cx="175"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L</a:t>
              </a:r>
            </a:p>
          </p:txBody>
        </p:sp>
        <p:sp>
          <p:nvSpPr>
            <p:cNvPr id="29720" name="Text Box 24"/>
            <p:cNvSpPr txBox="1">
              <a:spLocks noChangeArrowheads="1"/>
            </p:cNvSpPr>
            <p:nvPr/>
          </p:nvSpPr>
          <p:spPr bwMode="auto">
            <a:xfrm>
              <a:off x="4646" y="3052"/>
              <a:ext cx="78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GeneralizedTime</a:t>
              </a:r>
            </a:p>
          </p:txBody>
        </p:sp>
        <p:sp>
          <p:nvSpPr>
            <p:cNvPr id="29721" name="Text Box 25"/>
            <p:cNvSpPr txBox="1">
              <a:spLocks noChangeArrowheads="1"/>
            </p:cNvSpPr>
            <p:nvPr/>
          </p:nvSpPr>
          <p:spPr bwMode="auto">
            <a:xfrm>
              <a:off x="4176" y="3408"/>
              <a:ext cx="660"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r>
                <a:rPr lang="en-US" sz="1200">
                  <a:solidFill>
                    <a:srgbClr val="000000"/>
                  </a:solidFill>
                  <a:latin typeface="Times" charset="0"/>
                  <a:ea typeface="ＭＳ Ｐゴシック" charset="0"/>
                  <a:cs typeface="ＭＳ Ｐゴシック" charset="0"/>
                </a:rPr>
                <a:t>0203000142</a:t>
              </a:r>
              <a:r>
                <a:rPr lang="en-US" sz="1200" baseline="-25000">
                  <a:solidFill>
                    <a:srgbClr val="000000"/>
                  </a:solidFill>
                  <a:latin typeface="Times" charset="0"/>
                  <a:ea typeface="ＭＳ Ｐゴシック" charset="0"/>
                  <a:cs typeface="ＭＳ Ｐゴシック" charset="0"/>
                </a:rPr>
                <a:t>16</a:t>
              </a:r>
              <a:endParaRPr lang="en-US" sz="1200">
                <a:solidFill>
                  <a:srgbClr val="000000"/>
                </a:solidFill>
                <a:latin typeface="Times" charset="0"/>
                <a:ea typeface="ＭＳ Ｐゴシック" charset="0"/>
                <a:cs typeface="ＭＳ Ｐゴシック" charset="0"/>
              </a:endParaRPr>
            </a:p>
          </p:txBody>
        </p:sp>
      </p:grpSp>
      <p:sp>
        <p:nvSpPr>
          <p:cNvPr id="29745" name="Rectangle 49"/>
          <p:cNvSpPr>
            <a:spLocks noChangeArrowheads="1"/>
          </p:cNvSpPr>
          <p:nvPr/>
        </p:nvSpPr>
        <p:spPr bwMode="auto">
          <a:xfrm>
            <a:off x="5062538" y="5584825"/>
            <a:ext cx="18415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endParaRPr lang="en-US" sz="1200">
              <a:solidFill>
                <a:srgbClr val="000000"/>
              </a:solidFill>
              <a:latin typeface="Times" charset="0"/>
              <a:ea typeface="ＭＳ Ｐゴシック" charset="0"/>
              <a:cs typeface="ＭＳ Ｐゴシック" charset="0"/>
            </a:endParaRPr>
          </a:p>
        </p:txBody>
      </p:sp>
      <p:sp>
        <p:nvSpPr>
          <p:cNvPr id="2" name="Text Box 1028">
            <a:extLst>
              <a:ext uri="{FF2B5EF4-FFF2-40B4-BE49-F238E27FC236}">
                <a16:creationId xmlns:a16="http://schemas.microsoft.com/office/drawing/2014/main" id="{2F18433E-4FFA-0863-568C-3CD3939A3A88}"/>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3754255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p:txBody>
          <a:bodyPr/>
          <a:lstStyle/>
          <a:p>
            <a:pPr eaLnBrk="1" hangingPunct="1">
              <a:defRPr/>
            </a:pPr>
            <a:r>
              <a:rPr lang="en-US" dirty="0">
                <a:solidFill>
                  <a:srgbClr val="000000"/>
                </a:solidFill>
                <a:cs typeface="+mj-cs"/>
              </a:rPr>
              <a:t>Syntax</a:t>
            </a:r>
            <a:br>
              <a:rPr lang="en-US" dirty="0">
                <a:solidFill>
                  <a:srgbClr val="000000"/>
                </a:solidFill>
                <a:cs typeface="+mj-cs"/>
              </a:rPr>
            </a:br>
            <a:r>
              <a:rPr lang="en-US" sz="1800" dirty="0">
                <a:solidFill>
                  <a:srgbClr val="000000"/>
                </a:solidFill>
                <a:cs typeface="+mj-cs"/>
              </a:rPr>
              <a:t>(For some reason, everyone</a:t>
            </a:r>
            <a:r>
              <a:rPr lang="en-US" sz="1800" dirty="0">
                <a:solidFill>
                  <a:srgbClr val="000000"/>
                </a:solidFill>
                <a:latin typeface="Arial"/>
                <a:cs typeface="+mj-cs"/>
              </a:rPr>
              <a:t>’</a:t>
            </a:r>
            <a:r>
              <a:rPr lang="en-US" sz="1800" dirty="0">
                <a:solidFill>
                  <a:srgbClr val="000000"/>
                </a:solidFill>
                <a:cs typeface="+mj-cs"/>
              </a:rPr>
              <a:t>s favorite topic)</a:t>
            </a:r>
            <a:endParaRPr lang="en-US" dirty="0">
              <a:solidFill>
                <a:srgbClr val="000000"/>
              </a:solidFill>
              <a:cs typeface="+mj-cs"/>
            </a:endParaRPr>
          </a:p>
        </p:txBody>
      </p:sp>
      <p:sp>
        <p:nvSpPr>
          <p:cNvPr id="73731" name="Rectangle 1027"/>
          <p:cNvSpPr>
            <a:spLocks noGrp="1" noChangeArrowheads="1"/>
          </p:cNvSpPr>
          <p:nvPr>
            <p:ph type="body" idx="1"/>
          </p:nvPr>
        </p:nvSpPr>
        <p:spPr>
          <a:xfrm>
            <a:off x="1497529" y="1690688"/>
            <a:ext cx="7861300" cy="3873500"/>
          </a:xfrm>
        </p:spPr>
        <p:txBody>
          <a:bodyPr>
            <a:normAutofit fontScale="92500" lnSpcReduction="20000"/>
          </a:bodyPr>
          <a:lstStyle/>
          <a:p>
            <a:pPr eaLnBrk="1" hangingPunct="1">
              <a:defRPr/>
            </a:pPr>
            <a:r>
              <a:rPr lang="en-US" dirty="0">
                <a:cs typeface="+mn-cs"/>
              </a:rPr>
              <a:t>Syntax of lower layers should avoid variable length fields</a:t>
            </a:r>
          </a:p>
          <a:p>
            <a:pPr lvl="1" eaLnBrk="1" hangingPunct="1">
              <a:defRPr/>
            </a:pPr>
            <a:r>
              <a:rPr lang="en-US" dirty="0"/>
              <a:t>If required, put them at the end of the PCI</a:t>
            </a:r>
          </a:p>
          <a:p>
            <a:pPr eaLnBrk="1" hangingPunct="1">
              <a:defRPr/>
            </a:pPr>
            <a:r>
              <a:rPr lang="en-US" dirty="0">
                <a:cs typeface="+mn-cs"/>
              </a:rPr>
              <a:t>Avoid complex or variable structures in IPC protocols</a:t>
            </a:r>
          </a:p>
          <a:p>
            <a:pPr lvl="1" eaLnBrk="1" hangingPunct="1">
              <a:defRPr/>
            </a:pPr>
            <a:r>
              <a:rPr lang="en-US" dirty="0"/>
              <a:t>If necessary, use a type, length, value structure</a:t>
            </a:r>
          </a:p>
          <a:p>
            <a:pPr eaLnBrk="1" hangingPunct="1">
              <a:defRPr/>
            </a:pPr>
            <a:r>
              <a:rPr lang="en-US" dirty="0">
                <a:cs typeface="+mn-cs"/>
              </a:rPr>
              <a:t>Alignment on byte boundaries is also important</a:t>
            </a:r>
          </a:p>
          <a:p>
            <a:pPr lvl="1" eaLnBrk="1" hangingPunct="1">
              <a:defRPr/>
            </a:pPr>
            <a:r>
              <a:rPr lang="en-US" dirty="0"/>
              <a:t>Wasting a few bits can facilitate processing</a:t>
            </a:r>
          </a:p>
          <a:p>
            <a:pPr eaLnBrk="1" hangingPunct="1">
              <a:defRPr/>
            </a:pPr>
            <a:r>
              <a:rPr lang="en-US" dirty="0">
                <a:cs typeface="+mn-cs"/>
              </a:rPr>
              <a:t>Abstract Syntax and Encoding Rules</a:t>
            </a:r>
          </a:p>
          <a:p>
            <a:pPr lvl="1" eaLnBrk="1" hangingPunct="1">
              <a:defRPr/>
            </a:pPr>
            <a:r>
              <a:rPr lang="en-US" dirty="0"/>
              <a:t>Many see it as merely another encoding scheme</a:t>
            </a:r>
          </a:p>
          <a:p>
            <a:pPr lvl="1" eaLnBrk="1" hangingPunct="1">
              <a:defRPr/>
            </a:pPr>
            <a:r>
              <a:rPr lang="en-US" dirty="0"/>
              <a:t>Actually a tool for making protocols invariant with respect to syntax</a:t>
            </a:r>
          </a:p>
          <a:p>
            <a:pPr lvl="1" eaLnBrk="1" hangingPunct="1">
              <a:defRPr/>
            </a:pPr>
            <a:r>
              <a:rPr lang="en-US" dirty="0"/>
              <a:t>Current concrete syntaxes are more efficient than hand-crafted ones.</a:t>
            </a:r>
          </a:p>
          <a:p>
            <a:pPr eaLnBrk="1" hangingPunct="1">
              <a:defRPr/>
            </a:pPr>
            <a:r>
              <a:rPr lang="en-US" dirty="0">
                <a:cs typeface="+mn-cs"/>
              </a:rPr>
              <a:t>Different field lengths in data transfer protocols are not a big deal</a:t>
            </a:r>
          </a:p>
          <a:p>
            <a:pPr lvl="1" eaLnBrk="1" hangingPunct="1">
              <a:defRPr/>
            </a:pPr>
            <a:r>
              <a:rPr lang="en-US" dirty="0"/>
              <a:t>Identifiers, used to index a table (look something up).</a:t>
            </a:r>
          </a:p>
          <a:p>
            <a:pPr lvl="1" eaLnBrk="1" hangingPunct="1">
              <a:defRPr/>
            </a:pPr>
            <a:r>
              <a:rPr lang="en-US" dirty="0"/>
              <a:t>Integers, the only difference is the modulus of the arithmetic.</a:t>
            </a:r>
          </a:p>
          <a:p>
            <a:pPr lvl="1" eaLnBrk="1" hangingPunct="1">
              <a:defRPr/>
            </a:pPr>
            <a:r>
              <a:rPr lang="en-US" dirty="0"/>
              <a:t>Bits, used as flags</a:t>
            </a:r>
          </a:p>
          <a:p>
            <a:pPr eaLnBrk="1" hangingPunct="1">
              <a:defRPr/>
            </a:pPr>
            <a:endParaRPr lang="en-US" dirty="0">
              <a:cs typeface="+mn-cs"/>
            </a:endParaRPr>
          </a:p>
          <a:p>
            <a:pPr eaLnBrk="1" hangingPunct="1">
              <a:defRPr/>
            </a:pPr>
            <a:endParaRPr lang="en-US" dirty="0">
              <a:cs typeface="+mn-cs"/>
            </a:endParaRPr>
          </a:p>
        </p:txBody>
      </p:sp>
      <p:sp>
        <p:nvSpPr>
          <p:cNvPr id="73732" name="Text Box 1028"/>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751565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26"/>
          <p:cNvSpPr>
            <a:spLocks noGrp="1" noChangeArrowheads="1"/>
          </p:cNvSpPr>
          <p:nvPr>
            <p:ph type="title"/>
          </p:nvPr>
        </p:nvSpPr>
        <p:spPr/>
        <p:txBody>
          <a:bodyPr/>
          <a:lstStyle/>
          <a:p>
            <a:pPr eaLnBrk="1" hangingPunct="1">
              <a:defRPr/>
            </a:pPr>
            <a:r>
              <a:rPr lang="en-US" sz="2400" dirty="0">
                <a:solidFill>
                  <a:srgbClr val="000000"/>
                </a:solidFill>
                <a:cs typeface="+mj-cs"/>
              </a:rPr>
              <a:t>This Implies that there is </a:t>
            </a:r>
            <a:br>
              <a:rPr lang="en-US" dirty="0">
                <a:solidFill>
                  <a:srgbClr val="000000"/>
                </a:solidFill>
                <a:cs typeface="+mj-cs"/>
              </a:rPr>
            </a:br>
            <a:r>
              <a:rPr lang="en-US" dirty="0">
                <a:solidFill>
                  <a:srgbClr val="000000"/>
                </a:solidFill>
                <a:cs typeface="+mj-cs"/>
              </a:rPr>
              <a:t>Only One Data Transfer Protocol</a:t>
            </a:r>
          </a:p>
        </p:txBody>
      </p:sp>
      <p:sp>
        <p:nvSpPr>
          <p:cNvPr id="160771" name="Rectangle 1027"/>
          <p:cNvSpPr>
            <a:spLocks noGrp="1" noChangeArrowheads="1"/>
          </p:cNvSpPr>
          <p:nvPr>
            <p:ph type="body" idx="1"/>
          </p:nvPr>
        </p:nvSpPr>
        <p:spPr>
          <a:xfrm>
            <a:off x="2044700" y="1739900"/>
            <a:ext cx="8178800" cy="4813300"/>
          </a:xfrm>
        </p:spPr>
        <p:txBody>
          <a:bodyPr/>
          <a:lstStyle/>
          <a:p>
            <a:pPr indent="-381000">
              <a:defRPr/>
            </a:pPr>
            <a:r>
              <a:rPr lang="en-US" dirty="0">
                <a:cs typeface="+mn-cs"/>
              </a:rPr>
              <a:t>By separating mechanism and policy and</a:t>
            </a:r>
          </a:p>
          <a:p>
            <a:pPr indent="-381000">
              <a:defRPr/>
            </a:pPr>
            <a:r>
              <a:rPr lang="en-US" dirty="0">
                <a:cs typeface="+mn-cs"/>
              </a:rPr>
              <a:t>By making the protocol invariant with respect to syntax, and</a:t>
            </a:r>
          </a:p>
          <a:p>
            <a:pPr indent="-381000">
              <a:defRPr/>
            </a:pPr>
            <a:r>
              <a:rPr lang="en-US" dirty="0">
                <a:cs typeface="+mn-cs"/>
              </a:rPr>
              <a:t>decoupling data transfer and control thru the state vector</a:t>
            </a:r>
          </a:p>
          <a:p>
            <a:pPr indent="-381000">
              <a:defRPr/>
            </a:pPr>
            <a:endParaRPr lang="en-US" dirty="0">
              <a:cs typeface="+mn-cs"/>
            </a:endParaRPr>
          </a:p>
          <a:p>
            <a:pPr indent="-381000">
              <a:defRPr/>
            </a:pPr>
            <a:r>
              <a:rPr lang="en-US" dirty="0">
                <a:cs typeface="+mn-cs"/>
              </a:rPr>
              <a:t>We have made the argument that there is a simple implementation for a single data transfer protocol that can be configured to cover the entire range of protocols.</a:t>
            </a:r>
          </a:p>
        </p:txBody>
      </p:sp>
      <p:sp>
        <p:nvSpPr>
          <p:cNvPr id="160772" name="Text Box 1028"/>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2672088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0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1943100" y="0"/>
            <a:ext cx="8305800" cy="901700"/>
          </a:xfrm>
        </p:spPr>
        <p:txBody>
          <a:bodyPr/>
          <a:lstStyle/>
          <a:p>
            <a:pPr eaLnBrk="1" hangingPunct="1">
              <a:defRPr/>
            </a:pPr>
            <a:r>
              <a:rPr lang="en-US" dirty="0">
                <a:solidFill>
                  <a:schemeClr val="tx1"/>
                </a:solidFill>
                <a:cs typeface="+mj-cs"/>
              </a:rPr>
              <a:t>What We Know About Protocols and Layers: I</a:t>
            </a:r>
          </a:p>
        </p:txBody>
      </p:sp>
      <p:sp>
        <p:nvSpPr>
          <p:cNvPr id="209923" name="Rectangle 3"/>
          <p:cNvSpPr>
            <a:spLocks noGrp="1" noChangeArrowheads="1"/>
          </p:cNvSpPr>
          <p:nvPr>
            <p:ph type="body" idx="1"/>
          </p:nvPr>
        </p:nvSpPr>
        <p:spPr>
          <a:xfrm>
            <a:off x="2076450" y="3860800"/>
            <a:ext cx="8039100" cy="2044700"/>
          </a:xfrm>
        </p:spPr>
        <p:txBody>
          <a:bodyPr/>
          <a:lstStyle/>
          <a:p>
            <a:pPr marL="317500" indent="-317500" eaLnBrk="1" hangingPunct="1">
              <a:defRPr/>
            </a:pPr>
            <a:r>
              <a:rPr lang="en-US" sz="1600" dirty="0">
                <a:cs typeface="+mn-cs"/>
              </a:rPr>
              <a:t>The necessary (and usually sufficient) condition for a layer is a Locus of Distributed Shared State     With bounded MPL</a:t>
            </a:r>
          </a:p>
          <a:p>
            <a:pPr marL="317500" indent="-317500" eaLnBrk="1" hangingPunct="1">
              <a:defRPr/>
            </a:pPr>
            <a:r>
              <a:rPr lang="en-US" sz="1600" dirty="0">
                <a:cs typeface="+mn-cs"/>
              </a:rPr>
              <a:t>Port-ids are necessary and sufficient to ensure layer separation and independence.</a:t>
            </a:r>
          </a:p>
          <a:p>
            <a:pPr marL="317500" indent="-317500" eaLnBrk="1" hangingPunct="1">
              <a:defRPr/>
            </a:pPr>
            <a:r>
              <a:rPr lang="en-US" sz="1600" dirty="0">
                <a:cs typeface="+mn-cs"/>
              </a:rPr>
              <a:t>There may be multiple Layers of the same scope, but the functions  assigned to the layers must be independent</a:t>
            </a:r>
          </a:p>
          <a:p>
            <a:pPr marL="317500" indent="-317500" eaLnBrk="1" hangingPunct="1">
              <a:defRPr/>
            </a:pPr>
            <a:r>
              <a:rPr lang="en-US" sz="1600" dirty="0">
                <a:cs typeface="+mn-cs"/>
              </a:rPr>
              <a:t>There is at most 1 SDU Protection and 1 multiplexing application per (N-1)-port-id. (property of the layer, not the protocol).</a:t>
            </a:r>
          </a:p>
          <a:p>
            <a:pPr marL="317500" indent="-317500" eaLnBrk="1" hangingPunct="1">
              <a:defRPr/>
            </a:pPr>
            <a:r>
              <a:rPr lang="en-US" sz="1600" dirty="0">
                <a:cs typeface="+mn-cs"/>
              </a:rPr>
              <a:t>There is one Relay per IPC Process</a:t>
            </a:r>
          </a:p>
          <a:p>
            <a:pPr marL="317500" indent="-317500" eaLnBrk="1" hangingPunct="1">
              <a:defRPr/>
            </a:pPr>
            <a:endParaRPr lang="en-US" sz="1600" dirty="0">
              <a:cs typeface="+mn-cs"/>
            </a:endParaRPr>
          </a:p>
        </p:txBody>
      </p:sp>
      <p:grpSp>
        <p:nvGrpSpPr>
          <p:cNvPr id="209924" name="Group 4"/>
          <p:cNvGrpSpPr>
            <a:grpSpLocks/>
          </p:cNvGrpSpPr>
          <p:nvPr/>
        </p:nvGrpSpPr>
        <p:grpSpPr bwMode="auto">
          <a:xfrm>
            <a:off x="3767139" y="3340101"/>
            <a:ext cx="4249737" cy="284163"/>
            <a:chOff x="1413" y="2104"/>
            <a:chExt cx="2677" cy="179"/>
          </a:xfrm>
        </p:grpSpPr>
        <p:sp>
          <p:nvSpPr>
            <p:cNvPr id="209925" name="Text Box 5"/>
            <p:cNvSpPr txBox="1">
              <a:spLocks noChangeArrowheads="1"/>
            </p:cNvSpPr>
            <p:nvPr/>
          </p:nvSpPr>
          <p:spPr bwMode="auto">
            <a:xfrm>
              <a:off x="1413"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sp>
          <p:nvSpPr>
            <p:cNvPr id="209926" name="Text Box 6"/>
            <p:cNvSpPr txBox="1">
              <a:spLocks noChangeArrowheads="1"/>
            </p:cNvSpPr>
            <p:nvPr/>
          </p:nvSpPr>
          <p:spPr bwMode="auto">
            <a:xfrm>
              <a:off x="3357"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grpSp>
      <p:grpSp>
        <p:nvGrpSpPr>
          <p:cNvPr id="209927" name="Group 7"/>
          <p:cNvGrpSpPr>
            <a:grpSpLocks/>
          </p:cNvGrpSpPr>
          <p:nvPr/>
        </p:nvGrpSpPr>
        <p:grpSpPr bwMode="auto">
          <a:xfrm>
            <a:off x="4165600" y="3086100"/>
            <a:ext cx="3606800" cy="254000"/>
            <a:chOff x="1664" y="1944"/>
            <a:chExt cx="2272" cy="160"/>
          </a:xfrm>
        </p:grpSpPr>
        <p:sp>
          <p:nvSpPr>
            <p:cNvPr id="209928" name="Oval 8"/>
            <p:cNvSpPr>
              <a:spLocks noChangeArrowheads="1"/>
            </p:cNvSpPr>
            <p:nvPr/>
          </p:nvSpPr>
          <p:spPr bwMode="auto">
            <a:xfrm>
              <a:off x="1664"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sp>
          <p:nvSpPr>
            <p:cNvPr id="209929" name="Oval 9"/>
            <p:cNvSpPr>
              <a:spLocks noChangeArrowheads="1"/>
            </p:cNvSpPr>
            <p:nvPr/>
          </p:nvSpPr>
          <p:spPr bwMode="auto">
            <a:xfrm>
              <a:off x="3576"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grpSp>
      <p:grpSp>
        <p:nvGrpSpPr>
          <p:cNvPr id="209930" name="Group 10"/>
          <p:cNvGrpSpPr>
            <a:grpSpLocks/>
          </p:cNvGrpSpPr>
          <p:nvPr/>
        </p:nvGrpSpPr>
        <p:grpSpPr bwMode="auto">
          <a:xfrm>
            <a:off x="4406900" y="2705100"/>
            <a:ext cx="2959100" cy="419100"/>
            <a:chOff x="1816" y="1704"/>
            <a:chExt cx="1864" cy="264"/>
          </a:xfrm>
        </p:grpSpPr>
        <p:sp>
          <p:nvSpPr>
            <p:cNvPr id="209931" name="Oval 11"/>
            <p:cNvSpPr>
              <a:spLocks noChangeArrowheads="1"/>
            </p:cNvSpPr>
            <p:nvPr/>
          </p:nvSpPr>
          <p:spPr bwMode="auto">
            <a:xfrm>
              <a:off x="1816" y="1704"/>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sp>
          <p:nvSpPr>
            <p:cNvPr id="209932" name="Oval 12"/>
            <p:cNvSpPr>
              <a:spLocks noChangeArrowheads="1"/>
            </p:cNvSpPr>
            <p:nvPr/>
          </p:nvSpPr>
          <p:spPr bwMode="auto">
            <a:xfrm>
              <a:off x="3384" y="1712"/>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grpSp>
      <p:grpSp>
        <p:nvGrpSpPr>
          <p:cNvPr id="209955" name="Group 35"/>
          <p:cNvGrpSpPr>
            <a:grpSpLocks/>
          </p:cNvGrpSpPr>
          <p:nvPr/>
        </p:nvGrpSpPr>
        <p:grpSpPr bwMode="auto">
          <a:xfrm>
            <a:off x="3149600" y="1435100"/>
            <a:ext cx="5892800" cy="2463800"/>
            <a:chOff x="1024" y="904"/>
            <a:chExt cx="3712" cy="1552"/>
          </a:xfrm>
        </p:grpSpPr>
        <p:sp>
          <p:nvSpPr>
            <p:cNvPr id="209934" name="Line 14"/>
            <p:cNvSpPr>
              <a:spLocks noChangeShapeType="1"/>
            </p:cNvSpPr>
            <p:nvPr/>
          </p:nvSpPr>
          <p:spPr bwMode="auto">
            <a:xfrm>
              <a:off x="1024" y="1056"/>
              <a:ext cx="3712" cy="1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35" name="Line 15"/>
            <p:cNvSpPr>
              <a:spLocks noChangeShapeType="1"/>
            </p:cNvSpPr>
            <p:nvPr/>
          </p:nvSpPr>
          <p:spPr bwMode="auto">
            <a:xfrm flipH="1">
              <a:off x="2376" y="904"/>
              <a:ext cx="32" cy="151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36" name="Oval 16"/>
            <p:cNvSpPr>
              <a:spLocks noChangeArrowheads="1"/>
            </p:cNvSpPr>
            <p:nvPr/>
          </p:nvSpPr>
          <p:spPr bwMode="auto">
            <a:xfrm>
              <a:off x="3480" y="1168"/>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37" name="Line 17"/>
            <p:cNvSpPr>
              <a:spLocks noChangeShapeType="1"/>
            </p:cNvSpPr>
            <p:nvPr/>
          </p:nvSpPr>
          <p:spPr bwMode="auto">
            <a:xfrm flipH="1">
              <a:off x="3288" y="928"/>
              <a:ext cx="32" cy="152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38" name="Line 18"/>
            <p:cNvSpPr>
              <a:spLocks noChangeShapeType="1"/>
            </p:cNvSpPr>
            <p:nvPr/>
          </p:nvSpPr>
          <p:spPr bwMode="auto">
            <a:xfrm>
              <a:off x="1024" y="2283"/>
              <a:ext cx="3712" cy="16"/>
            </a:xfrm>
            <a:prstGeom prst="line">
              <a:avLst/>
            </a:prstGeom>
            <a:noFill/>
            <a:ln w="38100">
              <a:solidFill>
                <a:schemeClr val="tx1"/>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39" name="Line 19"/>
            <p:cNvSpPr>
              <a:spLocks noChangeShapeType="1"/>
            </p:cNvSpPr>
            <p:nvPr/>
          </p:nvSpPr>
          <p:spPr bwMode="auto">
            <a:xfrm>
              <a:off x="2280" y="1400"/>
              <a:ext cx="11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nvGrpSpPr>
            <p:cNvPr id="116759" name="Group 34"/>
            <p:cNvGrpSpPr>
              <a:grpSpLocks/>
            </p:cNvGrpSpPr>
            <p:nvPr/>
          </p:nvGrpSpPr>
          <p:grpSpPr bwMode="auto">
            <a:xfrm>
              <a:off x="1984" y="1176"/>
              <a:ext cx="280" cy="528"/>
              <a:chOff x="1984" y="1176"/>
              <a:chExt cx="280" cy="528"/>
            </a:xfrm>
          </p:grpSpPr>
          <p:sp>
            <p:nvSpPr>
              <p:cNvPr id="209941" name="Oval 21"/>
              <p:cNvSpPr>
                <a:spLocks noChangeArrowheads="1"/>
              </p:cNvSpPr>
              <p:nvPr/>
            </p:nvSpPr>
            <p:spPr bwMode="auto">
              <a:xfrm>
                <a:off x="2088" y="1176"/>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42" name="Rectangle 22"/>
              <p:cNvSpPr>
                <a:spLocks noChangeArrowheads="1"/>
              </p:cNvSpPr>
              <p:nvPr/>
            </p:nvSpPr>
            <p:spPr bwMode="auto">
              <a:xfrm>
                <a:off x="1984" y="1184"/>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9943" name="Rectangle 23"/>
            <p:cNvSpPr>
              <a:spLocks noChangeArrowheads="1"/>
            </p:cNvSpPr>
            <p:nvPr/>
          </p:nvSpPr>
          <p:spPr bwMode="auto">
            <a:xfrm>
              <a:off x="3680" y="1192"/>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9944" name="Group 24"/>
          <p:cNvGrpSpPr>
            <a:grpSpLocks/>
          </p:cNvGrpSpPr>
          <p:nvPr/>
        </p:nvGrpSpPr>
        <p:grpSpPr bwMode="auto">
          <a:xfrm>
            <a:off x="2124076" y="1003300"/>
            <a:ext cx="5280025" cy="800100"/>
            <a:chOff x="378" y="632"/>
            <a:chExt cx="3326" cy="504"/>
          </a:xfrm>
        </p:grpSpPr>
        <p:grpSp>
          <p:nvGrpSpPr>
            <p:cNvPr id="116748" name="Group 25"/>
            <p:cNvGrpSpPr>
              <a:grpSpLocks/>
            </p:cNvGrpSpPr>
            <p:nvPr/>
          </p:nvGrpSpPr>
          <p:grpSpPr bwMode="auto">
            <a:xfrm>
              <a:off x="1832" y="992"/>
              <a:ext cx="1872" cy="144"/>
              <a:chOff x="1832" y="992"/>
              <a:chExt cx="1872" cy="144"/>
            </a:xfrm>
          </p:grpSpPr>
          <p:sp>
            <p:nvSpPr>
              <p:cNvPr id="209946" name="Oval 26"/>
              <p:cNvSpPr>
                <a:spLocks noChangeArrowheads="1"/>
              </p:cNvSpPr>
              <p:nvPr/>
            </p:nvSpPr>
            <p:spPr bwMode="auto">
              <a:xfrm>
                <a:off x="1832" y="9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47" name="Oval 27"/>
              <p:cNvSpPr>
                <a:spLocks noChangeArrowheads="1"/>
              </p:cNvSpPr>
              <p:nvPr/>
            </p:nvSpPr>
            <p:spPr bwMode="auto">
              <a:xfrm>
                <a:off x="3592" y="1016"/>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9948" name="Text Box 28"/>
            <p:cNvSpPr txBox="1">
              <a:spLocks noChangeArrowheads="1"/>
            </p:cNvSpPr>
            <p:nvPr/>
          </p:nvSpPr>
          <p:spPr bwMode="auto">
            <a:xfrm>
              <a:off x="378" y="632"/>
              <a:ext cx="138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Port-ids have scope of the (N)- and(N+1)-layers</a:t>
              </a:r>
            </a:p>
          </p:txBody>
        </p:sp>
        <p:sp>
          <p:nvSpPr>
            <p:cNvPr id="209949" name="Line 29"/>
            <p:cNvSpPr>
              <a:spLocks noChangeShapeType="1"/>
            </p:cNvSpPr>
            <p:nvPr/>
          </p:nvSpPr>
          <p:spPr bwMode="auto">
            <a:xfrm>
              <a:off x="1371" y="778"/>
              <a:ext cx="464" cy="2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9950" name="Group 30"/>
          <p:cNvGrpSpPr>
            <a:grpSpLocks/>
          </p:cNvGrpSpPr>
          <p:nvPr/>
        </p:nvGrpSpPr>
        <p:grpSpPr bwMode="auto">
          <a:xfrm>
            <a:off x="4876800" y="876300"/>
            <a:ext cx="2057400" cy="698500"/>
            <a:chOff x="2248" y="552"/>
            <a:chExt cx="1296" cy="440"/>
          </a:xfrm>
        </p:grpSpPr>
        <p:sp>
          <p:nvSpPr>
            <p:cNvPr id="209951" name="Text Box 31"/>
            <p:cNvSpPr txBox="1">
              <a:spLocks noChangeArrowheads="1"/>
            </p:cNvSpPr>
            <p:nvPr/>
          </p:nvSpPr>
          <p:spPr bwMode="auto">
            <a:xfrm>
              <a:off x="2420" y="552"/>
              <a:ext cx="91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IPC Processes in Different Systems</a:t>
              </a:r>
            </a:p>
          </p:txBody>
        </p:sp>
        <p:sp>
          <p:nvSpPr>
            <p:cNvPr id="209952" name="Line 32"/>
            <p:cNvSpPr>
              <a:spLocks noChangeShapeType="1"/>
            </p:cNvSpPr>
            <p:nvPr/>
          </p:nvSpPr>
          <p:spPr bwMode="auto">
            <a:xfrm flipH="1">
              <a:off x="2248" y="704"/>
              <a:ext cx="280" cy="2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9953" name="Line 33"/>
            <p:cNvSpPr>
              <a:spLocks noChangeShapeType="1"/>
            </p:cNvSpPr>
            <p:nvPr/>
          </p:nvSpPr>
          <p:spPr bwMode="auto">
            <a:xfrm>
              <a:off x="3240" y="704"/>
              <a:ext cx="30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99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99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992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994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9923">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992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99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992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9923">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9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7996" name="Group 124"/>
          <p:cNvGrpSpPr>
            <a:grpSpLocks/>
          </p:cNvGrpSpPr>
          <p:nvPr/>
        </p:nvGrpSpPr>
        <p:grpSpPr bwMode="auto">
          <a:xfrm>
            <a:off x="3898900" y="1828800"/>
            <a:ext cx="4330700" cy="914400"/>
            <a:chOff x="1496" y="1152"/>
            <a:chExt cx="2728" cy="576"/>
          </a:xfrm>
        </p:grpSpPr>
        <p:grpSp>
          <p:nvGrpSpPr>
            <p:cNvPr id="118843" name="Group 107"/>
            <p:cNvGrpSpPr>
              <a:grpSpLocks/>
            </p:cNvGrpSpPr>
            <p:nvPr/>
          </p:nvGrpSpPr>
          <p:grpSpPr bwMode="auto">
            <a:xfrm flipH="1">
              <a:off x="3560" y="1152"/>
              <a:ext cx="664" cy="568"/>
              <a:chOff x="4744" y="2504"/>
              <a:chExt cx="664" cy="568"/>
            </a:xfrm>
          </p:grpSpPr>
          <p:grpSp>
            <p:nvGrpSpPr>
              <p:cNvPr id="118860" name="Group 108"/>
              <p:cNvGrpSpPr>
                <a:grpSpLocks/>
              </p:cNvGrpSpPr>
              <p:nvPr/>
            </p:nvGrpSpPr>
            <p:grpSpPr bwMode="auto">
              <a:xfrm>
                <a:off x="4744" y="2504"/>
                <a:ext cx="568" cy="528"/>
                <a:chOff x="4688" y="2448"/>
                <a:chExt cx="568" cy="528"/>
              </a:xfrm>
            </p:grpSpPr>
            <p:grpSp>
              <p:nvGrpSpPr>
                <p:cNvPr id="118871" name="Group 109"/>
                <p:cNvGrpSpPr>
                  <a:grpSpLocks/>
                </p:cNvGrpSpPr>
                <p:nvPr/>
              </p:nvGrpSpPr>
              <p:grpSpPr bwMode="auto">
                <a:xfrm>
                  <a:off x="4976" y="2448"/>
                  <a:ext cx="280" cy="528"/>
                  <a:chOff x="4976" y="2448"/>
                  <a:chExt cx="280" cy="528"/>
                </a:xfrm>
              </p:grpSpPr>
              <p:sp>
                <p:nvSpPr>
                  <p:cNvPr id="207982" name="Oval 110"/>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83" name="Rectangle 111"/>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84" name="Oval 112"/>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18861" name="Group 113"/>
              <p:cNvGrpSpPr>
                <a:grpSpLocks/>
              </p:cNvGrpSpPr>
              <p:nvPr/>
            </p:nvGrpSpPr>
            <p:grpSpPr bwMode="auto">
              <a:xfrm>
                <a:off x="4792" y="2520"/>
                <a:ext cx="568" cy="528"/>
                <a:chOff x="4688" y="2448"/>
                <a:chExt cx="568" cy="528"/>
              </a:xfrm>
            </p:grpSpPr>
            <p:grpSp>
              <p:nvGrpSpPr>
                <p:cNvPr id="118867" name="Group 114"/>
                <p:cNvGrpSpPr>
                  <a:grpSpLocks/>
                </p:cNvGrpSpPr>
                <p:nvPr/>
              </p:nvGrpSpPr>
              <p:grpSpPr bwMode="auto">
                <a:xfrm>
                  <a:off x="4976" y="2448"/>
                  <a:ext cx="280" cy="528"/>
                  <a:chOff x="4976" y="2448"/>
                  <a:chExt cx="280" cy="528"/>
                </a:xfrm>
              </p:grpSpPr>
              <p:sp>
                <p:nvSpPr>
                  <p:cNvPr id="207987" name="Oval 115"/>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88" name="Rectangle 116"/>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89" name="Oval 117"/>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18862" name="Group 118"/>
              <p:cNvGrpSpPr>
                <a:grpSpLocks/>
              </p:cNvGrpSpPr>
              <p:nvPr/>
            </p:nvGrpSpPr>
            <p:grpSpPr bwMode="auto">
              <a:xfrm>
                <a:off x="4840" y="2544"/>
                <a:ext cx="568" cy="528"/>
                <a:chOff x="4688" y="2448"/>
                <a:chExt cx="568" cy="528"/>
              </a:xfrm>
            </p:grpSpPr>
            <p:grpSp>
              <p:nvGrpSpPr>
                <p:cNvPr id="118863" name="Group 119"/>
                <p:cNvGrpSpPr>
                  <a:grpSpLocks/>
                </p:cNvGrpSpPr>
                <p:nvPr/>
              </p:nvGrpSpPr>
              <p:grpSpPr bwMode="auto">
                <a:xfrm>
                  <a:off x="4976" y="2448"/>
                  <a:ext cx="280" cy="528"/>
                  <a:chOff x="4976" y="2448"/>
                  <a:chExt cx="280" cy="528"/>
                </a:xfrm>
              </p:grpSpPr>
              <p:sp>
                <p:nvSpPr>
                  <p:cNvPr id="207992" name="Oval 120"/>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93" name="Rectangle 121"/>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94" name="Oval 122"/>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nvGrpSpPr>
            <p:cNvPr id="118844" name="Group 104"/>
            <p:cNvGrpSpPr>
              <a:grpSpLocks/>
            </p:cNvGrpSpPr>
            <p:nvPr/>
          </p:nvGrpSpPr>
          <p:grpSpPr bwMode="auto">
            <a:xfrm>
              <a:off x="1496" y="1160"/>
              <a:ext cx="664" cy="568"/>
              <a:chOff x="4744" y="2504"/>
              <a:chExt cx="664" cy="568"/>
            </a:xfrm>
          </p:grpSpPr>
          <p:grpSp>
            <p:nvGrpSpPr>
              <p:cNvPr id="118845" name="Group 93"/>
              <p:cNvGrpSpPr>
                <a:grpSpLocks/>
              </p:cNvGrpSpPr>
              <p:nvPr/>
            </p:nvGrpSpPr>
            <p:grpSpPr bwMode="auto">
              <a:xfrm>
                <a:off x="4744" y="2504"/>
                <a:ext cx="568" cy="528"/>
                <a:chOff x="4688" y="2448"/>
                <a:chExt cx="568" cy="528"/>
              </a:xfrm>
            </p:grpSpPr>
            <p:grpSp>
              <p:nvGrpSpPr>
                <p:cNvPr id="118856" name="Group 92"/>
                <p:cNvGrpSpPr>
                  <a:grpSpLocks/>
                </p:cNvGrpSpPr>
                <p:nvPr/>
              </p:nvGrpSpPr>
              <p:grpSpPr bwMode="auto">
                <a:xfrm>
                  <a:off x="4976" y="2448"/>
                  <a:ext cx="280" cy="528"/>
                  <a:chOff x="4976" y="2448"/>
                  <a:chExt cx="280" cy="528"/>
                </a:xfrm>
              </p:grpSpPr>
              <p:sp>
                <p:nvSpPr>
                  <p:cNvPr id="207904" name="Oval 32"/>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05" name="Rectangle 33"/>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06" name="Oval 34"/>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18846" name="Group 94"/>
              <p:cNvGrpSpPr>
                <a:grpSpLocks/>
              </p:cNvGrpSpPr>
              <p:nvPr/>
            </p:nvGrpSpPr>
            <p:grpSpPr bwMode="auto">
              <a:xfrm>
                <a:off x="4792" y="2520"/>
                <a:ext cx="568" cy="528"/>
                <a:chOff x="4688" y="2448"/>
                <a:chExt cx="568" cy="528"/>
              </a:xfrm>
            </p:grpSpPr>
            <p:grpSp>
              <p:nvGrpSpPr>
                <p:cNvPr id="118852" name="Group 95"/>
                <p:cNvGrpSpPr>
                  <a:grpSpLocks/>
                </p:cNvGrpSpPr>
                <p:nvPr/>
              </p:nvGrpSpPr>
              <p:grpSpPr bwMode="auto">
                <a:xfrm>
                  <a:off x="4976" y="2448"/>
                  <a:ext cx="280" cy="528"/>
                  <a:chOff x="4976" y="2448"/>
                  <a:chExt cx="280" cy="528"/>
                </a:xfrm>
              </p:grpSpPr>
              <p:sp>
                <p:nvSpPr>
                  <p:cNvPr id="207968" name="Oval 96"/>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69" name="Rectangle 97"/>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70" name="Oval 98"/>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18847" name="Group 99"/>
              <p:cNvGrpSpPr>
                <a:grpSpLocks/>
              </p:cNvGrpSpPr>
              <p:nvPr/>
            </p:nvGrpSpPr>
            <p:grpSpPr bwMode="auto">
              <a:xfrm>
                <a:off x="4840" y="2544"/>
                <a:ext cx="568" cy="528"/>
                <a:chOff x="4688" y="2448"/>
                <a:chExt cx="568" cy="528"/>
              </a:xfrm>
            </p:grpSpPr>
            <p:grpSp>
              <p:nvGrpSpPr>
                <p:cNvPr id="118848" name="Group 100"/>
                <p:cNvGrpSpPr>
                  <a:grpSpLocks/>
                </p:cNvGrpSpPr>
                <p:nvPr/>
              </p:nvGrpSpPr>
              <p:grpSpPr bwMode="auto">
                <a:xfrm>
                  <a:off x="4976" y="2448"/>
                  <a:ext cx="280" cy="528"/>
                  <a:chOff x="4976" y="2448"/>
                  <a:chExt cx="280" cy="528"/>
                </a:xfrm>
              </p:grpSpPr>
              <p:sp>
                <p:nvSpPr>
                  <p:cNvPr id="207973" name="Oval 101"/>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74" name="Rectangle 102"/>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75" name="Oval 103"/>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sp>
        <p:nvSpPr>
          <p:cNvPr id="207907" name="Rectangle 35"/>
          <p:cNvSpPr>
            <a:spLocks noGrp="1" noChangeArrowheads="1"/>
          </p:cNvSpPr>
          <p:nvPr>
            <p:ph type="title"/>
          </p:nvPr>
        </p:nvSpPr>
        <p:spPr>
          <a:xfrm>
            <a:off x="1943100" y="0"/>
            <a:ext cx="8305800" cy="901700"/>
          </a:xfrm>
        </p:spPr>
        <p:txBody>
          <a:bodyPr/>
          <a:lstStyle/>
          <a:p>
            <a:pPr eaLnBrk="1" hangingPunct="1">
              <a:defRPr/>
            </a:pPr>
            <a:r>
              <a:rPr lang="en-US" dirty="0">
                <a:solidFill>
                  <a:schemeClr val="tx1"/>
                </a:solidFill>
                <a:cs typeface="+mj-cs"/>
              </a:rPr>
              <a:t>What We Know About Protocols and Layers</a:t>
            </a:r>
          </a:p>
        </p:txBody>
      </p:sp>
      <p:sp>
        <p:nvSpPr>
          <p:cNvPr id="207908" name="Rectangle 36"/>
          <p:cNvSpPr>
            <a:spLocks noGrp="1" noChangeArrowheads="1"/>
          </p:cNvSpPr>
          <p:nvPr>
            <p:ph type="body" idx="1"/>
          </p:nvPr>
        </p:nvSpPr>
        <p:spPr>
          <a:xfrm>
            <a:off x="2076450" y="3873500"/>
            <a:ext cx="8032750" cy="2400300"/>
          </a:xfrm>
        </p:spPr>
        <p:txBody>
          <a:bodyPr/>
          <a:lstStyle/>
          <a:p>
            <a:pPr marL="317500" indent="-317500" eaLnBrk="1" hangingPunct="1">
              <a:defRPr/>
            </a:pPr>
            <a:r>
              <a:rPr lang="en-US" sz="1600" dirty="0">
                <a:cs typeface="+mn-cs"/>
              </a:rPr>
              <a:t>There is one Error and Flow Control state machine per flow allocation.</a:t>
            </a:r>
          </a:p>
          <a:p>
            <a:pPr marL="609600" lvl="1" indent="-177800" eaLnBrk="1" hangingPunct="1">
              <a:defRPr/>
            </a:pPr>
            <a:r>
              <a:rPr lang="en-US" sz="1400" dirty="0"/>
              <a:t>Those with feedback require Data Transfer Control and bounding 3 timers.</a:t>
            </a:r>
          </a:p>
          <a:p>
            <a:pPr marL="317500" indent="-317500" eaLnBrk="1" hangingPunct="1">
              <a:defRPr/>
            </a:pPr>
            <a:r>
              <a:rPr lang="en-US" sz="1600" dirty="0">
                <a:cs typeface="+mn-cs"/>
              </a:rPr>
              <a:t>Watson implies decoupling ports and connection-endpoints.</a:t>
            </a:r>
          </a:p>
          <a:p>
            <a:pPr marL="609600" lvl="1" indent="-177800" eaLnBrk="1" hangingPunct="1">
              <a:defRPr/>
            </a:pPr>
            <a:r>
              <a:rPr lang="en-US" sz="1400" dirty="0"/>
              <a:t>This has several positive implications</a:t>
            </a:r>
          </a:p>
          <a:p>
            <a:pPr marL="317500" indent="-317500" eaLnBrk="1" hangingPunct="1">
              <a:defRPr/>
            </a:pPr>
            <a:r>
              <a:rPr lang="en-US" sz="1600" dirty="0">
                <a:cs typeface="+mn-cs"/>
              </a:rPr>
              <a:t>Data Transfer is decoupled from Data Transfer Control thru a data structure (state vector) </a:t>
            </a:r>
          </a:p>
          <a:p>
            <a:pPr marL="317500" indent="-317500" eaLnBrk="1" hangingPunct="1">
              <a:defRPr/>
            </a:pPr>
            <a:r>
              <a:rPr lang="en-US" sz="1600" dirty="0">
                <a:cs typeface="+mn-cs"/>
              </a:rPr>
              <a:t>which are similarly decoupled from Layer Management (Resource or Management Information Base).</a:t>
            </a:r>
          </a:p>
          <a:p>
            <a:pPr marL="609600" lvl="1" indent="-177800" eaLnBrk="1" hangingPunct="1">
              <a:defRPr/>
            </a:pPr>
            <a:r>
              <a:rPr lang="en-US" sz="1400" dirty="0"/>
              <a:t>Not so much layering within the same scope as orthogonal separation into 3 loci of processing.</a:t>
            </a:r>
          </a:p>
          <a:p>
            <a:pPr marL="317500" indent="-317500" eaLnBrk="1" hangingPunct="1">
              <a:defRPr/>
            </a:pPr>
            <a:endParaRPr lang="en-US" sz="1600" dirty="0">
              <a:cs typeface="+mn-cs"/>
            </a:endParaRPr>
          </a:p>
          <a:p>
            <a:pPr marL="317500" indent="-317500" eaLnBrk="1" hangingPunct="1">
              <a:defRPr/>
            </a:pPr>
            <a:r>
              <a:rPr lang="en-US" sz="1600" dirty="0">
                <a:cs typeface="+mn-cs"/>
              </a:rPr>
              <a:t>If any of these rules are broken there will be problems with the design.</a:t>
            </a:r>
          </a:p>
        </p:txBody>
      </p:sp>
      <p:grpSp>
        <p:nvGrpSpPr>
          <p:cNvPr id="118788" name="Group 37"/>
          <p:cNvGrpSpPr>
            <a:grpSpLocks/>
          </p:cNvGrpSpPr>
          <p:nvPr/>
        </p:nvGrpSpPr>
        <p:grpSpPr bwMode="auto">
          <a:xfrm>
            <a:off x="3767139" y="3340101"/>
            <a:ext cx="4249737" cy="284163"/>
            <a:chOff x="1413" y="2104"/>
            <a:chExt cx="2677" cy="179"/>
          </a:xfrm>
        </p:grpSpPr>
        <p:sp>
          <p:nvSpPr>
            <p:cNvPr id="207910" name="Text Box 38"/>
            <p:cNvSpPr txBox="1">
              <a:spLocks noChangeArrowheads="1"/>
            </p:cNvSpPr>
            <p:nvPr/>
          </p:nvSpPr>
          <p:spPr bwMode="auto">
            <a:xfrm>
              <a:off x="1413"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sp>
          <p:nvSpPr>
            <p:cNvPr id="207911" name="Text Box 39"/>
            <p:cNvSpPr txBox="1">
              <a:spLocks noChangeArrowheads="1"/>
            </p:cNvSpPr>
            <p:nvPr/>
          </p:nvSpPr>
          <p:spPr bwMode="auto">
            <a:xfrm>
              <a:off x="3357"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grpSp>
      <p:grpSp>
        <p:nvGrpSpPr>
          <p:cNvPr id="118789" name="Group 40"/>
          <p:cNvGrpSpPr>
            <a:grpSpLocks/>
          </p:cNvGrpSpPr>
          <p:nvPr/>
        </p:nvGrpSpPr>
        <p:grpSpPr bwMode="auto">
          <a:xfrm>
            <a:off x="4165600" y="3086100"/>
            <a:ext cx="3606800" cy="254000"/>
            <a:chOff x="1664" y="1944"/>
            <a:chExt cx="2272" cy="160"/>
          </a:xfrm>
        </p:grpSpPr>
        <p:sp>
          <p:nvSpPr>
            <p:cNvPr id="207913" name="Oval 41"/>
            <p:cNvSpPr>
              <a:spLocks noChangeArrowheads="1"/>
            </p:cNvSpPr>
            <p:nvPr/>
          </p:nvSpPr>
          <p:spPr bwMode="auto">
            <a:xfrm>
              <a:off x="1664"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sp>
          <p:nvSpPr>
            <p:cNvPr id="207914" name="Oval 42"/>
            <p:cNvSpPr>
              <a:spLocks noChangeArrowheads="1"/>
            </p:cNvSpPr>
            <p:nvPr/>
          </p:nvSpPr>
          <p:spPr bwMode="auto">
            <a:xfrm>
              <a:off x="3576"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grpSp>
      <p:grpSp>
        <p:nvGrpSpPr>
          <p:cNvPr id="118790" name="Group 43"/>
          <p:cNvGrpSpPr>
            <a:grpSpLocks/>
          </p:cNvGrpSpPr>
          <p:nvPr/>
        </p:nvGrpSpPr>
        <p:grpSpPr bwMode="auto">
          <a:xfrm>
            <a:off x="4406900" y="2705100"/>
            <a:ext cx="2959100" cy="419100"/>
            <a:chOff x="1816" y="1704"/>
            <a:chExt cx="1864" cy="264"/>
          </a:xfrm>
        </p:grpSpPr>
        <p:sp>
          <p:nvSpPr>
            <p:cNvPr id="207916" name="Oval 44"/>
            <p:cNvSpPr>
              <a:spLocks noChangeArrowheads="1"/>
            </p:cNvSpPr>
            <p:nvPr/>
          </p:nvSpPr>
          <p:spPr bwMode="auto">
            <a:xfrm>
              <a:off x="1816" y="1704"/>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sp>
          <p:nvSpPr>
            <p:cNvPr id="207917" name="Oval 45"/>
            <p:cNvSpPr>
              <a:spLocks noChangeArrowheads="1"/>
            </p:cNvSpPr>
            <p:nvPr/>
          </p:nvSpPr>
          <p:spPr bwMode="auto">
            <a:xfrm>
              <a:off x="3384" y="1712"/>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grpSp>
      <p:grpSp>
        <p:nvGrpSpPr>
          <p:cNvPr id="118791" name="Group 106"/>
          <p:cNvGrpSpPr>
            <a:grpSpLocks/>
          </p:cNvGrpSpPr>
          <p:nvPr/>
        </p:nvGrpSpPr>
        <p:grpSpPr bwMode="auto">
          <a:xfrm>
            <a:off x="3149600" y="1460500"/>
            <a:ext cx="5892800" cy="2463800"/>
            <a:chOff x="1024" y="920"/>
            <a:chExt cx="3712" cy="1552"/>
          </a:xfrm>
        </p:grpSpPr>
        <p:sp>
          <p:nvSpPr>
            <p:cNvPr id="207919" name="Line 47"/>
            <p:cNvSpPr>
              <a:spLocks noChangeShapeType="1"/>
            </p:cNvSpPr>
            <p:nvPr/>
          </p:nvSpPr>
          <p:spPr bwMode="auto">
            <a:xfrm>
              <a:off x="1024" y="1072"/>
              <a:ext cx="3712" cy="1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0" name="Line 48"/>
            <p:cNvSpPr>
              <a:spLocks noChangeShapeType="1"/>
            </p:cNvSpPr>
            <p:nvPr/>
          </p:nvSpPr>
          <p:spPr bwMode="auto">
            <a:xfrm flipH="1">
              <a:off x="2376" y="920"/>
              <a:ext cx="32" cy="151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1" name="Oval 49"/>
            <p:cNvSpPr>
              <a:spLocks noChangeArrowheads="1"/>
            </p:cNvSpPr>
            <p:nvPr/>
          </p:nvSpPr>
          <p:spPr bwMode="auto">
            <a:xfrm>
              <a:off x="3480" y="1184"/>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2" name="Line 50"/>
            <p:cNvSpPr>
              <a:spLocks noChangeShapeType="1"/>
            </p:cNvSpPr>
            <p:nvPr/>
          </p:nvSpPr>
          <p:spPr bwMode="auto">
            <a:xfrm flipH="1">
              <a:off x="3288" y="944"/>
              <a:ext cx="32" cy="152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3" name="Line 51"/>
            <p:cNvSpPr>
              <a:spLocks noChangeShapeType="1"/>
            </p:cNvSpPr>
            <p:nvPr/>
          </p:nvSpPr>
          <p:spPr bwMode="auto">
            <a:xfrm>
              <a:off x="1024" y="2299"/>
              <a:ext cx="3712" cy="16"/>
            </a:xfrm>
            <a:prstGeom prst="line">
              <a:avLst/>
            </a:prstGeom>
            <a:noFill/>
            <a:ln w="38100">
              <a:solidFill>
                <a:schemeClr val="tx1"/>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4" name="Line 52"/>
            <p:cNvSpPr>
              <a:spLocks noChangeShapeType="1"/>
            </p:cNvSpPr>
            <p:nvPr/>
          </p:nvSpPr>
          <p:spPr bwMode="auto">
            <a:xfrm>
              <a:off x="2280" y="1416"/>
              <a:ext cx="11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nvGrpSpPr>
            <p:cNvPr id="118833" name="Group 105"/>
            <p:cNvGrpSpPr>
              <a:grpSpLocks/>
            </p:cNvGrpSpPr>
            <p:nvPr/>
          </p:nvGrpSpPr>
          <p:grpSpPr bwMode="auto">
            <a:xfrm>
              <a:off x="1984" y="1192"/>
              <a:ext cx="280" cy="528"/>
              <a:chOff x="1984" y="1192"/>
              <a:chExt cx="280" cy="528"/>
            </a:xfrm>
          </p:grpSpPr>
          <p:sp>
            <p:nvSpPr>
              <p:cNvPr id="207926" name="Oval 54"/>
              <p:cNvSpPr>
                <a:spLocks noChangeArrowheads="1"/>
              </p:cNvSpPr>
              <p:nvPr/>
            </p:nvSpPr>
            <p:spPr bwMode="auto">
              <a:xfrm>
                <a:off x="2088" y="1192"/>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7" name="Rectangle 55"/>
              <p:cNvSpPr>
                <a:spLocks noChangeArrowheads="1"/>
              </p:cNvSpPr>
              <p:nvPr/>
            </p:nvSpPr>
            <p:spPr bwMode="auto">
              <a:xfrm>
                <a:off x="1984" y="1200"/>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28" name="Rectangle 56"/>
            <p:cNvSpPr>
              <a:spLocks noChangeArrowheads="1"/>
            </p:cNvSpPr>
            <p:nvPr/>
          </p:nvSpPr>
          <p:spPr bwMode="auto">
            <a:xfrm>
              <a:off x="3680" y="1208"/>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18792" name="Group 57"/>
          <p:cNvGrpSpPr>
            <a:grpSpLocks/>
          </p:cNvGrpSpPr>
          <p:nvPr/>
        </p:nvGrpSpPr>
        <p:grpSpPr bwMode="auto">
          <a:xfrm>
            <a:off x="2124076" y="1003300"/>
            <a:ext cx="5280025" cy="800100"/>
            <a:chOff x="378" y="632"/>
            <a:chExt cx="3326" cy="504"/>
          </a:xfrm>
        </p:grpSpPr>
        <p:grpSp>
          <p:nvGrpSpPr>
            <p:cNvPr id="118822" name="Group 58"/>
            <p:cNvGrpSpPr>
              <a:grpSpLocks/>
            </p:cNvGrpSpPr>
            <p:nvPr/>
          </p:nvGrpSpPr>
          <p:grpSpPr bwMode="auto">
            <a:xfrm>
              <a:off x="1832" y="992"/>
              <a:ext cx="1872" cy="144"/>
              <a:chOff x="1832" y="992"/>
              <a:chExt cx="1872" cy="144"/>
            </a:xfrm>
          </p:grpSpPr>
          <p:sp>
            <p:nvSpPr>
              <p:cNvPr id="207931" name="Oval 59"/>
              <p:cNvSpPr>
                <a:spLocks noChangeArrowheads="1"/>
              </p:cNvSpPr>
              <p:nvPr/>
            </p:nvSpPr>
            <p:spPr bwMode="auto">
              <a:xfrm>
                <a:off x="1832" y="9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32" name="Oval 60"/>
              <p:cNvSpPr>
                <a:spLocks noChangeArrowheads="1"/>
              </p:cNvSpPr>
              <p:nvPr/>
            </p:nvSpPr>
            <p:spPr bwMode="auto">
              <a:xfrm>
                <a:off x="3592" y="1016"/>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33" name="Text Box 61"/>
            <p:cNvSpPr txBox="1">
              <a:spLocks noChangeArrowheads="1"/>
            </p:cNvSpPr>
            <p:nvPr/>
          </p:nvSpPr>
          <p:spPr bwMode="auto">
            <a:xfrm>
              <a:off x="378" y="632"/>
              <a:ext cx="138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Port-ids have scope of the (N)- and(N+1)-layers</a:t>
              </a:r>
            </a:p>
          </p:txBody>
        </p:sp>
        <p:sp>
          <p:nvSpPr>
            <p:cNvPr id="207934" name="Line 62"/>
            <p:cNvSpPr>
              <a:spLocks noChangeShapeType="1"/>
            </p:cNvSpPr>
            <p:nvPr/>
          </p:nvSpPr>
          <p:spPr bwMode="auto">
            <a:xfrm>
              <a:off x="1371" y="778"/>
              <a:ext cx="464" cy="2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18793" name="Group 63"/>
          <p:cNvGrpSpPr>
            <a:grpSpLocks/>
          </p:cNvGrpSpPr>
          <p:nvPr/>
        </p:nvGrpSpPr>
        <p:grpSpPr bwMode="auto">
          <a:xfrm>
            <a:off x="4876800" y="876300"/>
            <a:ext cx="2057400" cy="698500"/>
            <a:chOff x="2248" y="552"/>
            <a:chExt cx="1296" cy="440"/>
          </a:xfrm>
        </p:grpSpPr>
        <p:sp>
          <p:nvSpPr>
            <p:cNvPr id="207936" name="Text Box 64"/>
            <p:cNvSpPr txBox="1">
              <a:spLocks noChangeArrowheads="1"/>
            </p:cNvSpPr>
            <p:nvPr/>
          </p:nvSpPr>
          <p:spPr bwMode="auto">
            <a:xfrm>
              <a:off x="2420" y="552"/>
              <a:ext cx="91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IPC Processes in Different Systems</a:t>
              </a:r>
            </a:p>
          </p:txBody>
        </p:sp>
        <p:sp>
          <p:nvSpPr>
            <p:cNvPr id="207937" name="Line 65"/>
            <p:cNvSpPr>
              <a:spLocks noChangeShapeType="1"/>
            </p:cNvSpPr>
            <p:nvPr/>
          </p:nvSpPr>
          <p:spPr bwMode="auto">
            <a:xfrm flipH="1">
              <a:off x="2248" y="704"/>
              <a:ext cx="280" cy="2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38" name="Line 66"/>
            <p:cNvSpPr>
              <a:spLocks noChangeShapeType="1"/>
            </p:cNvSpPr>
            <p:nvPr/>
          </p:nvSpPr>
          <p:spPr bwMode="auto">
            <a:xfrm>
              <a:off x="3240" y="704"/>
              <a:ext cx="30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7939" name="Group 67"/>
          <p:cNvGrpSpPr>
            <a:grpSpLocks/>
          </p:cNvGrpSpPr>
          <p:nvPr/>
        </p:nvGrpSpPr>
        <p:grpSpPr bwMode="auto">
          <a:xfrm>
            <a:off x="5099050" y="2133600"/>
            <a:ext cx="1993900" cy="1016000"/>
            <a:chOff x="2252" y="1344"/>
            <a:chExt cx="1256" cy="640"/>
          </a:xfrm>
        </p:grpSpPr>
        <p:grpSp>
          <p:nvGrpSpPr>
            <p:cNvPr id="118814" name="Group 68"/>
            <p:cNvGrpSpPr>
              <a:grpSpLocks/>
            </p:cNvGrpSpPr>
            <p:nvPr/>
          </p:nvGrpSpPr>
          <p:grpSpPr bwMode="auto">
            <a:xfrm>
              <a:off x="2252" y="1344"/>
              <a:ext cx="1256" cy="144"/>
              <a:chOff x="2200" y="1168"/>
              <a:chExt cx="1256" cy="144"/>
            </a:xfrm>
          </p:grpSpPr>
          <p:sp>
            <p:nvSpPr>
              <p:cNvPr id="207941" name="Oval 69"/>
              <p:cNvSpPr>
                <a:spLocks noChangeArrowheads="1"/>
              </p:cNvSpPr>
              <p:nvPr/>
            </p:nvSpPr>
            <p:spPr bwMode="auto">
              <a:xfrm>
                <a:off x="2200" y="1168"/>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42" name="Oval 70"/>
              <p:cNvSpPr>
                <a:spLocks noChangeArrowheads="1"/>
              </p:cNvSpPr>
              <p:nvPr/>
            </p:nvSpPr>
            <p:spPr bwMode="auto">
              <a:xfrm>
                <a:off x="3344" y="11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43" name="Text Box 71"/>
            <p:cNvSpPr txBox="1">
              <a:spLocks noChangeArrowheads="1"/>
            </p:cNvSpPr>
            <p:nvPr/>
          </p:nvSpPr>
          <p:spPr bwMode="auto">
            <a:xfrm>
              <a:off x="2344" y="1638"/>
              <a:ext cx="1072" cy="3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Arial" charset="0"/>
                  <a:ea typeface="ＭＳ Ｐゴシック" charset="0"/>
                </a:rPr>
                <a:t>Connection-endpoint-ids have scope of IPC Process</a:t>
              </a:r>
            </a:p>
          </p:txBody>
        </p:sp>
        <p:sp>
          <p:nvSpPr>
            <p:cNvPr id="207944" name="Line 72"/>
            <p:cNvSpPr>
              <a:spLocks noChangeShapeType="1"/>
            </p:cNvSpPr>
            <p:nvPr/>
          </p:nvSpPr>
          <p:spPr bwMode="auto">
            <a:xfrm flipH="1" flipV="1">
              <a:off x="2352" y="1448"/>
              <a:ext cx="384" cy="2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7945" name="Group 73"/>
          <p:cNvGrpSpPr>
            <a:grpSpLocks/>
          </p:cNvGrpSpPr>
          <p:nvPr/>
        </p:nvGrpSpPr>
        <p:grpSpPr bwMode="auto">
          <a:xfrm>
            <a:off x="2851150" y="1876425"/>
            <a:ext cx="6489700" cy="774700"/>
            <a:chOff x="841" y="1174"/>
            <a:chExt cx="4088" cy="488"/>
          </a:xfrm>
        </p:grpSpPr>
        <p:grpSp>
          <p:nvGrpSpPr>
            <p:cNvPr id="118796" name="Group 49"/>
            <p:cNvGrpSpPr>
              <a:grpSpLocks/>
            </p:cNvGrpSpPr>
            <p:nvPr/>
          </p:nvGrpSpPr>
          <p:grpSpPr bwMode="auto">
            <a:xfrm>
              <a:off x="1177" y="1286"/>
              <a:ext cx="293" cy="288"/>
              <a:chOff x="2587" y="1344"/>
              <a:chExt cx="293" cy="288"/>
            </a:xfrm>
          </p:grpSpPr>
          <p:sp>
            <p:nvSpPr>
              <p:cNvPr id="118810"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11"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12"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118813"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118797" name="Group 79"/>
            <p:cNvGrpSpPr>
              <a:grpSpLocks/>
            </p:cNvGrpSpPr>
            <p:nvPr/>
          </p:nvGrpSpPr>
          <p:grpSpPr bwMode="auto">
            <a:xfrm flipH="1">
              <a:off x="4633" y="1174"/>
              <a:ext cx="296" cy="456"/>
              <a:chOff x="809" y="1214"/>
              <a:chExt cx="296" cy="456"/>
            </a:xfrm>
          </p:grpSpPr>
          <p:sp>
            <p:nvSpPr>
              <p:cNvPr id="118807" name="Oval 56"/>
              <p:cNvSpPr>
                <a:spLocks noChangeArrowheads="1"/>
              </p:cNvSpPr>
              <p:nvPr/>
            </p:nvSpPr>
            <p:spPr bwMode="auto">
              <a:xfrm>
                <a:off x="809" y="121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08" name="Oval 57"/>
              <p:cNvSpPr>
                <a:spLocks noChangeArrowheads="1"/>
              </p:cNvSpPr>
              <p:nvPr/>
            </p:nvSpPr>
            <p:spPr bwMode="auto">
              <a:xfrm>
                <a:off x="841" y="1382"/>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09" name="Oval 58"/>
              <p:cNvSpPr>
                <a:spLocks noChangeArrowheads="1"/>
              </p:cNvSpPr>
              <p:nvPr/>
            </p:nvSpPr>
            <p:spPr bwMode="auto">
              <a:xfrm>
                <a:off x="961" y="129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grpSp>
        <p:grpSp>
          <p:nvGrpSpPr>
            <p:cNvPr id="118798" name="Group 49"/>
            <p:cNvGrpSpPr>
              <a:grpSpLocks/>
            </p:cNvGrpSpPr>
            <p:nvPr/>
          </p:nvGrpSpPr>
          <p:grpSpPr bwMode="auto">
            <a:xfrm>
              <a:off x="4297" y="1262"/>
              <a:ext cx="293" cy="288"/>
              <a:chOff x="2587" y="1344"/>
              <a:chExt cx="293" cy="288"/>
            </a:xfrm>
          </p:grpSpPr>
          <p:sp>
            <p:nvSpPr>
              <p:cNvPr id="118803"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04"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05"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118806"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118799" name="Group 88"/>
            <p:cNvGrpSpPr>
              <a:grpSpLocks/>
            </p:cNvGrpSpPr>
            <p:nvPr/>
          </p:nvGrpSpPr>
          <p:grpSpPr bwMode="auto">
            <a:xfrm>
              <a:off x="841" y="1206"/>
              <a:ext cx="296" cy="456"/>
              <a:chOff x="809" y="1214"/>
              <a:chExt cx="296" cy="456"/>
            </a:xfrm>
          </p:grpSpPr>
          <p:sp>
            <p:nvSpPr>
              <p:cNvPr id="118800" name="Oval 56"/>
              <p:cNvSpPr>
                <a:spLocks noChangeArrowheads="1"/>
              </p:cNvSpPr>
              <p:nvPr/>
            </p:nvSpPr>
            <p:spPr bwMode="auto">
              <a:xfrm>
                <a:off x="809" y="121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01" name="Oval 57"/>
              <p:cNvSpPr>
                <a:spLocks noChangeArrowheads="1"/>
              </p:cNvSpPr>
              <p:nvPr/>
            </p:nvSpPr>
            <p:spPr bwMode="auto">
              <a:xfrm>
                <a:off x="841" y="1382"/>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18802" name="Oval 58"/>
              <p:cNvSpPr>
                <a:spLocks noChangeArrowheads="1"/>
              </p:cNvSpPr>
              <p:nvPr/>
            </p:nvSpPr>
            <p:spPr bwMode="auto">
              <a:xfrm>
                <a:off x="961" y="129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90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790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799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790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790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79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790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7908">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7908">
                                            <p:txEl>
                                              <p:pRg st="6" end="6"/>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7908">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79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8"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7996" name="Group 124"/>
          <p:cNvGrpSpPr>
            <a:grpSpLocks/>
          </p:cNvGrpSpPr>
          <p:nvPr/>
        </p:nvGrpSpPr>
        <p:grpSpPr bwMode="auto">
          <a:xfrm>
            <a:off x="3898900" y="1828800"/>
            <a:ext cx="4330700" cy="914400"/>
            <a:chOff x="1496" y="1152"/>
            <a:chExt cx="2728" cy="576"/>
          </a:xfrm>
        </p:grpSpPr>
        <p:grpSp>
          <p:nvGrpSpPr>
            <p:cNvPr id="120891" name="Group 107"/>
            <p:cNvGrpSpPr>
              <a:grpSpLocks/>
            </p:cNvGrpSpPr>
            <p:nvPr/>
          </p:nvGrpSpPr>
          <p:grpSpPr bwMode="auto">
            <a:xfrm flipH="1">
              <a:off x="3560" y="1152"/>
              <a:ext cx="664" cy="568"/>
              <a:chOff x="4744" y="2504"/>
              <a:chExt cx="664" cy="568"/>
            </a:xfrm>
          </p:grpSpPr>
          <p:grpSp>
            <p:nvGrpSpPr>
              <p:cNvPr id="120908" name="Group 108"/>
              <p:cNvGrpSpPr>
                <a:grpSpLocks/>
              </p:cNvGrpSpPr>
              <p:nvPr/>
            </p:nvGrpSpPr>
            <p:grpSpPr bwMode="auto">
              <a:xfrm>
                <a:off x="4744" y="2504"/>
                <a:ext cx="568" cy="528"/>
                <a:chOff x="4688" y="2448"/>
                <a:chExt cx="568" cy="528"/>
              </a:xfrm>
            </p:grpSpPr>
            <p:grpSp>
              <p:nvGrpSpPr>
                <p:cNvPr id="120919" name="Group 109"/>
                <p:cNvGrpSpPr>
                  <a:grpSpLocks/>
                </p:cNvGrpSpPr>
                <p:nvPr/>
              </p:nvGrpSpPr>
              <p:grpSpPr bwMode="auto">
                <a:xfrm>
                  <a:off x="4976" y="2448"/>
                  <a:ext cx="280" cy="528"/>
                  <a:chOff x="4976" y="2448"/>
                  <a:chExt cx="280" cy="528"/>
                </a:xfrm>
              </p:grpSpPr>
              <p:sp>
                <p:nvSpPr>
                  <p:cNvPr id="207982" name="Oval 110"/>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83" name="Rectangle 111"/>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84" name="Oval 112"/>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0909" name="Group 113"/>
              <p:cNvGrpSpPr>
                <a:grpSpLocks/>
              </p:cNvGrpSpPr>
              <p:nvPr/>
            </p:nvGrpSpPr>
            <p:grpSpPr bwMode="auto">
              <a:xfrm>
                <a:off x="4792" y="2520"/>
                <a:ext cx="568" cy="528"/>
                <a:chOff x="4688" y="2448"/>
                <a:chExt cx="568" cy="528"/>
              </a:xfrm>
            </p:grpSpPr>
            <p:grpSp>
              <p:nvGrpSpPr>
                <p:cNvPr id="120915" name="Group 114"/>
                <p:cNvGrpSpPr>
                  <a:grpSpLocks/>
                </p:cNvGrpSpPr>
                <p:nvPr/>
              </p:nvGrpSpPr>
              <p:grpSpPr bwMode="auto">
                <a:xfrm>
                  <a:off x="4976" y="2448"/>
                  <a:ext cx="280" cy="528"/>
                  <a:chOff x="4976" y="2448"/>
                  <a:chExt cx="280" cy="528"/>
                </a:xfrm>
              </p:grpSpPr>
              <p:sp>
                <p:nvSpPr>
                  <p:cNvPr id="207987" name="Oval 115"/>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88" name="Rectangle 116"/>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89" name="Oval 117"/>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0910" name="Group 118"/>
              <p:cNvGrpSpPr>
                <a:grpSpLocks/>
              </p:cNvGrpSpPr>
              <p:nvPr/>
            </p:nvGrpSpPr>
            <p:grpSpPr bwMode="auto">
              <a:xfrm>
                <a:off x="4840" y="2544"/>
                <a:ext cx="568" cy="528"/>
                <a:chOff x="4688" y="2448"/>
                <a:chExt cx="568" cy="528"/>
              </a:xfrm>
            </p:grpSpPr>
            <p:grpSp>
              <p:nvGrpSpPr>
                <p:cNvPr id="120911" name="Group 119"/>
                <p:cNvGrpSpPr>
                  <a:grpSpLocks/>
                </p:cNvGrpSpPr>
                <p:nvPr/>
              </p:nvGrpSpPr>
              <p:grpSpPr bwMode="auto">
                <a:xfrm>
                  <a:off x="4976" y="2448"/>
                  <a:ext cx="280" cy="528"/>
                  <a:chOff x="4976" y="2448"/>
                  <a:chExt cx="280" cy="528"/>
                </a:xfrm>
              </p:grpSpPr>
              <p:sp>
                <p:nvSpPr>
                  <p:cNvPr id="207992" name="Oval 120"/>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93" name="Rectangle 121"/>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94" name="Oval 122"/>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nvGrpSpPr>
            <p:cNvPr id="120892" name="Group 104"/>
            <p:cNvGrpSpPr>
              <a:grpSpLocks/>
            </p:cNvGrpSpPr>
            <p:nvPr/>
          </p:nvGrpSpPr>
          <p:grpSpPr bwMode="auto">
            <a:xfrm>
              <a:off x="1496" y="1160"/>
              <a:ext cx="664" cy="568"/>
              <a:chOff x="4744" y="2504"/>
              <a:chExt cx="664" cy="568"/>
            </a:xfrm>
          </p:grpSpPr>
          <p:grpSp>
            <p:nvGrpSpPr>
              <p:cNvPr id="120893" name="Group 93"/>
              <p:cNvGrpSpPr>
                <a:grpSpLocks/>
              </p:cNvGrpSpPr>
              <p:nvPr/>
            </p:nvGrpSpPr>
            <p:grpSpPr bwMode="auto">
              <a:xfrm>
                <a:off x="4744" y="2504"/>
                <a:ext cx="568" cy="528"/>
                <a:chOff x="4688" y="2448"/>
                <a:chExt cx="568" cy="528"/>
              </a:xfrm>
            </p:grpSpPr>
            <p:grpSp>
              <p:nvGrpSpPr>
                <p:cNvPr id="120904" name="Group 92"/>
                <p:cNvGrpSpPr>
                  <a:grpSpLocks/>
                </p:cNvGrpSpPr>
                <p:nvPr/>
              </p:nvGrpSpPr>
              <p:grpSpPr bwMode="auto">
                <a:xfrm>
                  <a:off x="4976" y="2448"/>
                  <a:ext cx="280" cy="528"/>
                  <a:chOff x="4976" y="2448"/>
                  <a:chExt cx="280" cy="528"/>
                </a:xfrm>
              </p:grpSpPr>
              <p:sp>
                <p:nvSpPr>
                  <p:cNvPr id="207904" name="Oval 32"/>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05" name="Rectangle 33"/>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06" name="Oval 34"/>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0894" name="Group 94"/>
              <p:cNvGrpSpPr>
                <a:grpSpLocks/>
              </p:cNvGrpSpPr>
              <p:nvPr/>
            </p:nvGrpSpPr>
            <p:grpSpPr bwMode="auto">
              <a:xfrm>
                <a:off x="4792" y="2520"/>
                <a:ext cx="568" cy="528"/>
                <a:chOff x="4688" y="2448"/>
                <a:chExt cx="568" cy="528"/>
              </a:xfrm>
            </p:grpSpPr>
            <p:grpSp>
              <p:nvGrpSpPr>
                <p:cNvPr id="120900" name="Group 95"/>
                <p:cNvGrpSpPr>
                  <a:grpSpLocks/>
                </p:cNvGrpSpPr>
                <p:nvPr/>
              </p:nvGrpSpPr>
              <p:grpSpPr bwMode="auto">
                <a:xfrm>
                  <a:off x="4976" y="2448"/>
                  <a:ext cx="280" cy="528"/>
                  <a:chOff x="4976" y="2448"/>
                  <a:chExt cx="280" cy="528"/>
                </a:xfrm>
              </p:grpSpPr>
              <p:sp>
                <p:nvSpPr>
                  <p:cNvPr id="207968" name="Oval 96"/>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69" name="Rectangle 97"/>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70" name="Oval 98"/>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0895" name="Group 99"/>
              <p:cNvGrpSpPr>
                <a:grpSpLocks/>
              </p:cNvGrpSpPr>
              <p:nvPr/>
            </p:nvGrpSpPr>
            <p:grpSpPr bwMode="auto">
              <a:xfrm>
                <a:off x="4840" y="2544"/>
                <a:ext cx="568" cy="528"/>
                <a:chOff x="4688" y="2448"/>
                <a:chExt cx="568" cy="528"/>
              </a:xfrm>
            </p:grpSpPr>
            <p:grpSp>
              <p:nvGrpSpPr>
                <p:cNvPr id="120896" name="Group 100"/>
                <p:cNvGrpSpPr>
                  <a:grpSpLocks/>
                </p:cNvGrpSpPr>
                <p:nvPr/>
              </p:nvGrpSpPr>
              <p:grpSpPr bwMode="auto">
                <a:xfrm>
                  <a:off x="4976" y="2448"/>
                  <a:ext cx="280" cy="528"/>
                  <a:chOff x="4976" y="2448"/>
                  <a:chExt cx="280" cy="528"/>
                </a:xfrm>
              </p:grpSpPr>
              <p:sp>
                <p:nvSpPr>
                  <p:cNvPr id="207973" name="Oval 101"/>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74" name="Rectangle 102"/>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75" name="Oval 103"/>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sp>
        <p:nvSpPr>
          <p:cNvPr id="207907" name="Rectangle 35"/>
          <p:cNvSpPr>
            <a:spLocks noGrp="1" noChangeArrowheads="1"/>
          </p:cNvSpPr>
          <p:nvPr>
            <p:ph type="title"/>
          </p:nvPr>
        </p:nvSpPr>
        <p:spPr>
          <a:xfrm>
            <a:off x="1943100" y="0"/>
            <a:ext cx="8305800" cy="901700"/>
          </a:xfrm>
        </p:spPr>
        <p:txBody>
          <a:bodyPr/>
          <a:lstStyle/>
          <a:p>
            <a:pPr eaLnBrk="1" hangingPunct="1">
              <a:defRPr/>
            </a:pPr>
            <a:r>
              <a:rPr lang="en-US">
                <a:cs typeface="+mj-cs"/>
              </a:rPr>
              <a:t>What We Know About Protocols and Layers</a:t>
            </a:r>
          </a:p>
        </p:txBody>
      </p:sp>
      <p:sp>
        <p:nvSpPr>
          <p:cNvPr id="207908" name="Rectangle 36"/>
          <p:cNvSpPr>
            <a:spLocks noGrp="1" noChangeArrowheads="1"/>
          </p:cNvSpPr>
          <p:nvPr>
            <p:ph type="body" idx="1"/>
          </p:nvPr>
        </p:nvSpPr>
        <p:spPr>
          <a:xfrm>
            <a:off x="2076450" y="3873500"/>
            <a:ext cx="8039100" cy="2044700"/>
          </a:xfrm>
        </p:spPr>
        <p:txBody>
          <a:bodyPr/>
          <a:lstStyle/>
          <a:p>
            <a:pPr marL="317500" indent="-317500" eaLnBrk="1" hangingPunct="1">
              <a:defRPr/>
            </a:pPr>
            <a:r>
              <a:rPr lang="en-US" sz="1600" dirty="0">
                <a:cs typeface="+mn-cs"/>
              </a:rPr>
              <a:t>Delimiting packages SDUs into the User-Data Field of the PDU. Strictly speaking not part of the protocol.</a:t>
            </a:r>
          </a:p>
          <a:p>
            <a:pPr marL="317500" indent="-317500" eaLnBrk="1" hangingPunct="1">
              <a:defRPr/>
            </a:pPr>
            <a:r>
              <a:rPr lang="en-US" sz="1600" dirty="0">
                <a:cs typeface="+mn-cs"/>
              </a:rPr>
              <a:t>Retransmission policy is almost completely determined by the A-Timer and RTT. The major question is whether NACK’s are useful, and its use with </a:t>
            </a:r>
            <a:r>
              <a:rPr lang="en-US" sz="1600" dirty="0" err="1">
                <a:cs typeface="+mn-cs"/>
              </a:rPr>
              <a:t>whatevercast</a:t>
            </a:r>
            <a:r>
              <a:rPr lang="en-US" sz="1600" dirty="0">
                <a:cs typeface="+mn-cs"/>
              </a:rPr>
              <a:t>.</a:t>
            </a:r>
          </a:p>
          <a:p>
            <a:pPr marL="317500" indent="-317500" eaLnBrk="1" hangingPunct="1">
              <a:defRPr/>
            </a:pPr>
            <a:r>
              <a:rPr lang="en-US" sz="1600" dirty="0">
                <a:cs typeface="+mn-cs"/>
              </a:rPr>
              <a:t>When no Retransmission, the A-Timer may still be used to determine when to pass SDUs to the (N+1)-layer, i.e. how long to wait for late arrivals.</a:t>
            </a:r>
          </a:p>
          <a:p>
            <a:pPr marL="317500" indent="-317500" eaLnBrk="1" hangingPunct="1">
              <a:defRPr/>
            </a:pPr>
            <a:r>
              <a:rPr lang="en-US" sz="1600" dirty="0">
                <a:cs typeface="+mn-cs"/>
              </a:rPr>
              <a:t>Resource Allocator can manipulate EFCP state vector to selective cause back-off when congestion is detected.</a:t>
            </a:r>
          </a:p>
          <a:p>
            <a:pPr marL="317500" indent="-317500" eaLnBrk="1" hangingPunct="1">
              <a:defRPr/>
            </a:pPr>
            <a:endParaRPr lang="en-US" sz="1600" dirty="0">
              <a:cs typeface="+mn-cs"/>
            </a:endParaRPr>
          </a:p>
        </p:txBody>
      </p:sp>
      <p:grpSp>
        <p:nvGrpSpPr>
          <p:cNvPr id="120836" name="Group 37"/>
          <p:cNvGrpSpPr>
            <a:grpSpLocks/>
          </p:cNvGrpSpPr>
          <p:nvPr/>
        </p:nvGrpSpPr>
        <p:grpSpPr bwMode="auto">
          <a:xfrm>
            <a:off x="3767139" y="3340101"/>
            <a:ext cx="4249737" cy="284163"/>
            <a:chOff x="1413" y="2104"/>
            <a:chExt cx="2677" cy="179"/>
          </a:xfrm>
        </p:grpSpPr>
        <p:sp>
          <p:nvSpPr>
            <p:cNvPr id="207910" name="Text Box 38"/>
            <p:cNvSpPr txBox="1">
              <a:spLocks noChangeArrowheads="1"/>
            </p:cNvSpPr>
            <p:nvPr/>
          </p:nvSpPr>
          <p:spPr bwMode="auto">
            <a:xfrm>
              <a:off x="1413"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sp>
          <p:nvSpPr>
            <p:cNvPr id="207911" name="Text Box 39"/>
            <p:cNvSpPr txBox="1">
              <a:spLocks noChangeArrowheads="1"/>
            </p:cNvSpPr>
            <p:nvPr/>
          </p:nvSpPr>
          <p:spPr bwMode="auto">
            <a:xfrm>
              <a:off x="3357"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grpSp>
      <p:grpSp>
        <p:nvGrpSpPr>
          <p:cNvPr id="120837" name="Group 40"/>
          <p:cNvGrpSpPr>
            <a:grpSpLocks/>
          </p:cNvGrpSpPr>
          <p:nvPr/>
        </p:nvGrpSpPr>
        <p:grpSpPr bwMode="auto">
          <a:xfrm>
            <a:off x="4165600" y="3086100"/>
            <a:ext cx="3606800" cy="254000"/>
            <a:chOff x="1664" y="1944"/>
            <a:chExt cx="2272" cy="160"/>
          </a:xfrm>
        </p:grpSpPr>
        <p:sp>
          <p:nvSpPr>
            <p:cNvPr id="207913" name="Oval 41"/>
            <p:cNvSpPr>
              <a:spLocks noChangeArrowheads="1"/>
            </p:cNvSpPr>
            <p:nvPr/>
          </p:nvSpPr>
          <p:spPr bwMode="auto">
            <a:xfrm>
              <a:off x="1664"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sp>
          <p:nvSpPr>
            <p:cNvPr id="207914" name="Oval 42"/>
            <p:cNvSpPr>
              <a:spLocks noChangeArrowheads="1"/>
            </p:cNvSpPr>
            <p:nvPr/>
          </p:nvSpPr>
          <p:spPr bwMode="auto">
            <a:xfrm>
              <a:off x="3576"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grpSp>
      <p:grpSp>
        <p:nvGrpSpPr>
          <p:cNvPr id="120838" name="Group 43"/>
          <p:cNvGrpSpPr>
            <a:grpSpLocks/>
          </p:cNvGrpSpPr>
          <p:nvPr/>
        </p:nvGrpSpPr>
        <p:grpSpPr bwMode="auto">
          <a:xfrm>
            <a:off x="4406900" y="2705100"/>
            <a:ext cx="2959100" cy="419100"/>
            <a:chOff x="1816" y="1704"/>
            <a:chExt cx="1864" cy="264"/>
          </a:xfrm>
        </p:grpSpPr>
        <p:sp>
          <p:nvSpPr>
            <p:cNvPr id="207916" name="Oval 44"/>
            <p:cNvSpPr>
              <a:spLocks noChangeArrowheads="1"/>
            </p:cNvSpPr>
            <p:nvPr/>
          </p:nvSpPr>
          <p:spPr bwMode="auto">
            <a:xfrm>
              <a:off x="1816" y="1704"/>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sp>
          <p:nvSpPr>
            <p:cNvPr id="207917" name="Oval 45"/>
            <p:cNvSpPr>
              <a:spLocks noChangeArrowheads="1"/>
            </p:cNvSpPr>
            <p:nvPr/>
          </p:nvSpPr>
          <p:spPr bwMode="auto">
            <a:xfrm>
              <a:off x="3384" y="1712"/>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grpSp>
      <p:grpSp>
        <p:nvGrpSpPr>
          <p:cNvPr id="120839" name="Group 106"/>
          <p:cNvGrpSpPr>
            <a:grpSpLocks/>
          </p:cNvGrpSpPr>
          <p:nvPr/>
        </p:nvGrpSpPr>
        <p:grpSpPr bwMode="auto">
          <a:xfrm>
            <a:off x="3149600" y="1460500"/>
            <a:ext cx="5892800" cy="2463800"/>
            <a:chOff x="1024" y="920"/>
            <a:chExt cx="3712" cy="1552"/>
          </a:xfrm>
        </p:grpSpPr>
        <p:sp>
          <p:nvSpPr>
            <p:cNvPr id="207919" name="Line 47"/>
            <p:cNvSpPr>
              <a:spLocks noChangeShapeType="1"/>
            </p:cNvSpPr>
            <p:nvPr/>
          </p:nvSpPr>
          <p:spPr bwMode="auto">
            <a:xfrm>
              <a:off x="1024" y="1072"/>
              <a:ext cx="3712" cy="1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0" name="Line 48"/>
            <p:cNvSpPr>
              <a:spLocks noChangeShapeType="1"/>
            </p:cNvSpPr>
            <p:nvPr/>
          </p:nvSpPr>
          <p:spPr bwMode="auto">
            <a:xfrm flipH="1">
              <a:off x="2376" y="920"/>
              <a:ext cx="32" cy="151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1" name="Oval 49"/>
            <p:cNvSpPr>
              <a:spLocks noChangeArrowheads="1"/>
            </p:cNvSpPr>
            <p:nvPr/>
          </p:nvSpPr>
          <p:spPr bwMode="auto">
            <a:xfrm>
              <a:off x="3480" y="1184"/>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2" name="Line 50"/>
            <p:cNvSpPr>
              <a:spLocks noChangeShapeType="1"/>
            </p:cNvSpPr>
            <p:nvPr/>
          </p:nvSpPr>
          <p:spPr bwMode="auto">
            <a:xfrm flipH="1">
              <a:off x="3288" y="944"/>
              <a:ext cx="32" cy="152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3" name="Line 51"/>
            <p:cNvSpPr>
              <a:spLocks noChangeShapeType="1"/>
            </p:cNvSpPr>
            <p:nvPr/>
          </p:nvSpPr>
          <p:spPr bwMode="auto">
            <a:xfrm>
              <a:off x="1024" y="2299"/>
              <a:ext cx="3712" cy="16"/>
            </a:xfrm>
            <a:prstGeom prst="line">
              <a:avLst/>
            </a:prstGeom>
            <a:noFill/>
            <a:ln w="38100">
              <a:solidFill>
                <a:schemeClr val="tx1"/>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4" name="Line 52"/>
            <p:cNvSpPr>
              <a:spLocks noChangeShapeType="1"/>
            </p:cNvSpPr>
            <p:nvPr/>
          </p:nvSpPr>
          <p:spPr bwMode="auto">
            <a:xfrm>
              <a:off x="2280" y="1416"/>
              <a:ext cx="11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nvGrpSpPr>
            <p:cNvPr id="120881" name="Group 105"/>
            <p:cNvGrpSpPr>
              <a:grpSpLocks/>
            </p:cNvGrpSpPr>
            <p:nvPr/>
          </p:nvGrpSpPr>
          <p:grpSpPr bwMode="auto">
            <a:xfrm>
              <a:off x="1984" y="1192"/>
              <a:ext cx="280" cy="528"/>
              <a:chOff x="1984" y="1192"/>
              <a:chExt cx="280" cy="528"/>
            </a:xfrm>
          </p:grpSpPr>
          <p:sp>
            <p:nvSpPr>
              <p:cNvPr id="207926" name="Oval 54"/>
              <p:cNvSpPr>
                <a:spLocks noChangeArrowheads="1"/>
              </p:cNvSpPr>
              <p:nvPr/>
            </p:nvSpPr>
            <p:spPr bwMode="auto">
              <a:xfrm>
                <a:off x="2088" y="1192"/>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7" name="Rectangle 55"/>
              <p:cNvSpPr>
                <a:spLocks noChangeArrowheads="1"/>
              </p:cNvSpPr>
              <p:nvPr/>
            </p:nvSpPr>
            <p:spPr bwMode="auto">
              <a:xfrm>
                <a:off x="1984" y="1200"/>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28" name="Rectangle 56"/>
            <p:cNvSpPr>
              <a:spLocks noChangeArrowheads="1"/>
            </p:cNvSpPr>
            <p:nvPr/>
          </p:nvSpPr>
          <p:spPr bwMode="auto">
            <a:xfrm>
              <a:off x="3680" y="1208"/>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0840" name="Group 57"/>
          <p:cNvGrpSpPr>
            <a:grpSpLocks/>
          </p:cNvGrpSpPr>
          <p:nvPr/>
        </p:nvGrpSpPr>
        <p:grpSpPr bwMode="auto">
          <a:xfrm>
            <a:off x="2124076" y="1003300"/>
            <a:ext cx="5280025" cy="800100"/>
            <a:chOff x="378" y="632"/>
            <a:chExt cx="3326" cy="504"/>
          </a:xfrm>
        </p:grpSpPr>
        <p:grpSp>
          <p:nvGrpSpPr>
            <p:cNvPr id="120870" name="Group 58"/>
            <p:cNvGrpSpPr>
              <a:grpSpLocks/>
            </p:cNvGrpSpPr>
            <p:nvPr/>
          </p:nvGrpSpPr>
          <p:grpSpPr bwMode="auto">
            <a:xfrm>
              <a:off x="1832" y="992"/>
              <a:ext cx="1872" cy="144"/>
              <a:chOff x="1832" y="992"/>
              <a:chExt cx="1872" cy="144"/>
            </a:xfrm>
          </p:grpSpPr>
          <p:sp>
            <p:nvSpPr>
              <p:cNvPr id="207931" name="Oval 59"/>
              <p:cNvSpPr>
                <a:spLocks noChangeArrowheads="1"/>
              </p:cNvSpPr>
              <p:nvPr/>
            </p:nvSpPr>
            <p:spPr bwMode="auto">
              <a:xfrm>
                <a:off x="1832" y="9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32" name="Oval 60"/>
              <p:cNvSpPr>
                <a:spLocks noChangeArrowheads="1"/>
              </p:cNvSpPr>
              <p:nvPr/>
            </p:nvSpPr>
            <p:spPr bwMode="auto">
              <a:xfrm>
                <a:off x="3592" y="1016"/>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33" name="Text Box 61"/>
            <p:cNvSpPr txBox="1">
              <a:spLocks noChangeArrowheads="1"/>
            </p:cNvSpPr>
            <p:nvPr/>
          </p:nvSpPr>
          <p:spPr bwMode="auto">
            <a:xfrm>
              <a:off x="378" y="632"/>
              <a:ext cx="138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Port-ids have scope of the (N)- and(N+1)-layers</a:t>
              </a:r>
            </a:p>
          </p:txBody>
        </p:sp>
        <p:sp>
          <p:nvSpPr>
            <p:cNvPr id="207934" name="Line 62"/>
            <p:cNvSpPr>
              <a:spLocks noChangeShapeType="1"/>
            </p:cNvSpPr>
            <p:nvPr/>
          </p:nvSpPr>
          <p:spPr bwMode="auto">
            <a:xfrm>
              <a:off x="1371" y="778"/>
              <a:ext cx="464" cy="2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0841" name="Group 63"/>
          <p:cNvGrpSpPr>
            <a:grpSpLocks/>
          </p:cNvGrpSpPr>
          <p:nvPr/>
        </p:nvGrpSpPr>
        <p:grpSpPr bwMode="auto">
          <a:xfrm>
            <a:off x="4876800" y="876300"/>
            <a:ext cx="2057400" cy="698500"/>
            <a:chOff x="2248" y="552"/>
            <a:chExt cx="1296" cy="440"/>
          </a:xfrm>
        </p:grpSpPr>
        <p:sp>
          <p:nvSpPr>
            <p:cNvPr id="207936" name="Text Box 64"/>
            <p:cNvSpPr txBox="1">
              <a:spLocks noChangeArrowheads="1"/>
            </p:cNvSpPr>
            <p:nvPr/>
          </p:nvSpPr>
          <p:spPr bwMode="auto">
            <a:xfrm>
              <a:off x="2420" y="552"/>
              <a:ext cx="91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IPC Processes in Different Systems</a:t>
              </a:r>
            </a:p>
          </p:txBody>
        </p:sp>
        <p:sp>
          <p:nvSpPr>
            <p:cNvPr id="207937" name="Line 65"/>
            <p:cNvSpPr>
              <a:spLocks noChangeShapeType="1"/>
            </p:cNvSpPr>
            <p:nvPr/>
          </p:nvSpPr>
          <p:spPr bwMode="auto">
            <a:xfrm flipH="1">
              <a:off x="2248" y="704"/>
              <a:ext cx="280" cy="2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38" name="Line 66"/>
            <p:cNvSpPr>
              <a:spLocks noChangeShapeType="1"/>
            </p:cNvSpPr>
            <p:nvPr/>
          </p:nvSpPr>
          <p:spPr bwMode="auto">
            <a:xfrm>
              <a:off x="3240" y="704"/>
              <a:ext cx="30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7939" name="Group 67"/>
          <p:cNvGrpSpPr>
            <a:grpSpLocks/>
          </p:cNvGrpSpPr>
          <p:nvPr/>
        </p:nvGrpSpPr>
        <p:grpSpPr bwMode="auto">
          <a:xfrm>
            <a:off x="5099050" y="2133600"/>
            <a:ext cx="1993900" cy="1016000"/>
            <a:chOff x="2252" y="1344"/>
            <a:chExt cx="1256" cy="640"/>
          </a:xfrm>
        </p:grpSpPr>
        <p:grpSp>
          <p:nvGrpSpPr>
            <p:cNvPr id="120862" name="Group 68"/>
            <p:cNvGrpSpPr>
              <a:grpSpLocks/>
            </p:cNvGrpSpPr>
            <p:nvPr/>
          </p:nvGrpSpPr>
          <p:grpSpPr bwMode="auto">
            <a:xfrm>
              <a:off x="2252" y="1344"/>
              <a:ext cx="1256" cy="144"/>
              <a:chOff x="2200" y="1168"/>
              <a:chExt cx="1256" cy="144"/>
            </a:xfrm>
          </p:grpSpPr>
          <p:sp>
            <p:nvSpPr>
              <p:cNvPr id="207941" name="Oval 69"/>
              <p:cNvSpPr>
                <a:spLocks noChangeArrowheads="1"/>
              </p:cNvSpPr>
              <p:nvPr/>
            </p:nvSpPr>
            <p:spPr bwMode="auto">
              <a:xfrm>
                <a:off x="2200" y="1168"/>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42" name="Oval 70"/>
              <p:cNvSpPr>
                <a:spLocks noChangeArrowheads="1"/>
              </p:cNvSpPr>
              <p:nvPr/>
            </p:nvSpPr>
            <p:spPr bwMode="auto">
              <a:xfrm>
                <a:off x="3344" y="11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43" name="Text Box 71"/>
            <p:cNvSpPr txBox="1">
              <a:spLocks noChangeArrowheads="1"/>
            </p:cNvSpPr>
            <p:nvPr/>
          </p:nvSpPr>
          <p:spPr bwMode="auto">
            <a:xfrm>
              <a:off x="2344" y="1638"/>
              <a:ext cx="1072" cy="3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Arial" charset="0"/>
                  <a:ea typeface="ＭＳ Ｐゴシック" charset="0"/>
                </a:rPr>
                <a:t>Connection-endpoint-ids have scope of IPC Process</a:t>
              </a:r>
            </a:p>
          </p:txBody>
        </p:sp>
        <p:sp>
          <p:nvSpPr>
            <p:cNvPr id="207944" name="Line 72"/>
            <p:cNvSpPr>
              <a:spLocks noChangeShapeType="1"/>
            </p:cNvSpPr>
            <p:nvPr/>
          </p:nvSpPr>
          <p:spPr bwMode="auto">
            <a:xfrm flipH="1" flipV="1">
              <a:off x="2352" y="1448"/>
              <a:ext cx="384" cy="2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7945" name="Group 73"/>
          <p:cNvGrpSpPr>
            <a:grpSpLocks/>
          </p:cNvGrpSpPr>
          <p:nvPr/>
        </p:nvGrpSpPr>
        <p:grpSpPr bwMode="auto">
          <a:xfrm>
            <a:off x="2851150" y="1876425"/>
            <a:ext cx="6489700" cy="774700"/>
            <a:chOff x="841" y="1174"/>
            <a:chExt cx="4088" cy="488"/>
          </a:xfrm>
        </p:grpSpPr>
        <p:grpSp>
          <p:nvGrpSpPr>
            <p:cNvPr id="120844" name="Group 49"/>
            <p:cNvGrpSpPr>
              <a:grpSpLocks/>
            </p:cNvGrpSpPr>
            <p:nvPr/>
          </p:nvGrpSpPr>
          <p:grpSpPr bwMode="auto">
            <a:xfrm>
              <a:off x="1177" y="1286"/>
              <a:ext cx="293" cy="288"/>
              <a:chOff x="2587" y="1344"/>
              <a:chExt cx="293" cy="288"/>
            </a:xfrm>
          </p:grpSpPr>
          <p:sp>
            <p:nvSpPr>
              <p:cNvPr id="120858"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59"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60"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120861"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120845" name="Group 79"/>
            <p:cNvGrpSpPr>
              <a:grpSpLocks/>
            </p:cNvGrpSpPr>
            <p:nvPr/>
          </p:nvGrpSpPr>
          <p:grpSpPr bwMode="auto">
            <a:xfrm flipH="1">
              <a:off x="4633" y="1174"/>
              <a:ext cx="296" cy="456"/>
              <a:chOff x="809" y="1214"/>
              <a:chExt cx="296" cy="456"/>
            </a:xfrm>
          </p:grpSpPr>
          <p:sp>
            <p:nvSpPr>
              <p:cNvPr id="120855" name="Oval 56"/>
              <p:cNvSpPr>
                <a:spLocks noChangeArrowheads="1"/>
              </p:cNvSpPr>
              <p:nvPr/>
            </p:nvSpPr>
            <p:spPr bwMode="auto">
              <a:xfrm>
                <a:off x="809" y="121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56" name="Oval 57"/>
              <p:cNvSpPr>
                <a:spLocks noChangeArrowheads="1"/>
              </p:cNvSpPr>
              <p:nvPr/>
            </p:nvSpPr>
            <p:spPr bwMode="auto">
              <a:xfrm>
                <a:off x="841" y="1382"/>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57" name="Oval 58"/>
              <p:cNvSpPr>
                <a:spLocks noChangeArrowheads="1"/>
              </p:cNvSpPr>
              <p:nvPr/>
            </p:nvSpPr>
            <p:spPr bwMode="auto">
              <a:xfrm>
                <a:off x="961" y="129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grpSp>
        <p:grpSp>
          <p:nvGrpSpPr>
            <p:cNvPr id="120846" name="Group 49"/>
            <p:cNvGrpSpPr>
              <a:grpSpLocks/>
            </p:cNvGrpSpPr>
            <p:nvPr/>
          </p:nvGrpSpPr>
          <p:grpSpPr bwMode="auto">
            <a:xfrm>
              <a:off x="4297" y="1262"/>
              <a:ext cx="293" cy="288"/>
              <a:chOff x="2587" y="1344"/>
              <a:chExt cx="293" cy="288"/>
            </a:xfrm>
          </p:grpSpPr>
          <p:sp>
            <p:nvSpPr>
              <p:cNvPr id="120851"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52"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53"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120854"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120847" name="Group 88"/>
            <p:cNvGrpSpPr>
              <a:grpSpLocks/>
            </p:cNvGrpSpPr>
            <p:nvPr/>
          </p:nvGrpSpPr>
          <p:grpSpPr bwMode="auto">
            <a:xfrm>
              <a:off x="841" y="1206"/>
              <a:ext cx="296" cy="456"/>
              <a:chOff x="809" y="1214"/>
              <a:chExt cx="296" cy="456"/>
            </a:xfrm>
          </p:grpSpPr>
          <p:sp>
            <p:nvSpPr>
              <p:cNvPr id="120848" name="Oval 56"/>
              <p:cNvSpPr>
                <a:spLocks noChangeArrowheads="1"/>
              </p:cNvSpPr>
              <p:nvPr/>
            </p:nvSpPr>
            <p:spPr bwMode="auto">
              <a:xfrm>
                <a:off x="809" y="121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49" name="Oval 57"/>
              <p:cNvSpPr>
                <a:spLocks noChangeArrowheads="1"/>
              </p:cNvSpPr>
              <p:nvPr/>
            </p:nvSpPr>
            <p:spPr bwMode="auto">
              <a:xfrm>
                <a:off x="841" y="1382"/>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0850" name="Oval 58"/>
              <p:cNvSpPr>
                <a:spLocks noChangeArrowheads="1"/>
              </p:cNvSpPr>
              <p:nvPr/>
            </p:nvSpPr>
            <p:spPr bwMode="auto">
              <a:xfrm>
                <a:off x="961" y="129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90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790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790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7908">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799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79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79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8"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7996" name="Group 124"/>
          <p:cNvGrpSpPr>
            <a:grpSpLocks/>
          </p:cNvGrpSpPr>
          <p:nvPr/>
        </p:nvGrpSpPr>
        <p:grpSpPr bwMode="auto">
          <a:xfrm>
            <a:off x="3898900" y="1828800"/>
            <a:ext cx="4330700" cy="914400"/>
            <a:chOff x="1496" y="1152"/>
            <a:chExt cx="2728" cy="576"/>
          </a:xfrm>
        </p:grpSpPr>
        <p:grpSp>
          <p:nvGrpSpPr>
            <p:cNvPr id="122939" name="Group 107"/>
            <p:cNvGrpSpPr>
              <a:grpSpLocks/>
            </p:cNvGrpSpPr>
            <p:nvPr/>
          </p:nvGrpSpPr>
          <p:grpSpPr bwMode="auto">
            <a:xfrm flipH="1">
              <a:off x="3560" y="1152"/>
              <a:ext cx="664" cy="568"/>
              <a:chOff x="4744" y="2504"/>
              <a:chExt cx="664" cy="568"/>
            </a:xfrm>
          </p:grpSpPr>
          <p:grpSp>
            <p:nvGrpSpPr>
              <p:cNvPr id="122956" name="Group 108"/>
              <p:cNvGrpSpPr>
                <a:grpSpLocks/>
              </p:cNvGrpSpPr>
              <p:nvPr/>
            </p:nvGrpSpPr>
            <p:grpSpPr bwMode="auto">
              <a:xfrm>
                <a:off x="4744" y="2504"/>
                <a:ext cx="568" cy="528"/>
                <a:chOff x="4688" y="2448"/>
                <a:chExt cx="568" cy="528"/>
              </a:xfrm>
            </p:grpSpPr>
            <p:grpSp>
              <p:nvGrpSpPr>
                <p:cNvPr id="122967" name="Group 109"/>
                <p:cNvGrpSpPr>
                  <a:grpSpLocks/>
                </p:cNvGrpSpPr>
                <p:nvPr/>
              </p:nvGrpSpPr>
              <p:grpSpPr bwMode="auto">
                <a:xfrm>
                  <a:off x="4976" y="2448"/>
                  <a:ext cx="280" cy="528"/>
                  <a:chOff x="4976" y="2448"/>
                  <a:chExt cx="280" cy="528"/>
                </a:xfrm>
              </p:grpSpPr>
              <p:sp>
                <p:nvSpPr>
                  <p:cNvPr id="207982" name="Oval 110"/>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83" name="Rectangle 111"/>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84" name="Oval 112"/>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2957" name="Group 113"/>
              <p:cNvGrpSpPr>
                <a:grpSpLocks/>
              </p:cNvGrpSpPr>
              <p:nvPr/>
            </p:nvGrpSpPr>
            <p:grpSpPr bwMode="auto">
              <a:xfrm>
                <a:off x="4792" y="2520"/>
                <a:ext cx="568" cy="528"/>
                <a:chOff x="4688" y="2448"/>
                <a:chExt cx="568" cy="528"/>
              </a:xfrm>
            </p:grpSpPr>
            <p:grpSp>
              <p:nvGrpSpPr>
                <p:cNvPr id="122963" name="Group 114"/>
                <p:cNvGrpSpPr>
                  <a:grpSpLocks/>
                </p:cNvGrpSpPr>
                <p:nvPr/>
              </p:nvGrpSpPr>
              <p:grpSpPr bwMode="auto">
                <a:xfrm>
                  <a:off x="4976" y="2448"/>
                  <a:ext cx="280" cy="528"/>
                  <a:chOff x="4976" y="2448"/>
                  <a:chExt cx="280" cy="528"/>
                </a:xfrm>
              </p:grpSpPr>
              <p:sp>
                <p:nvSpPr>
                  <p:cNvPr id="207987" name="Oval 115"/>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88" name="Rectangle 116"/>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89" name="Oval 117"/>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2958" name="Group 118"/>
              <p:cNvGrpSpPr>
                <a:grpSpLocks/>
              </p:cNvGrpSpPr>
              <p:nvPr/>
            </p:nvGrpSpPr>
            <p:grpSpPr bwMode="auto">
              <a:xfrm>
                <a:off x="4840" y="2544"/>
                <a:ext cx="568" cy="528"/>
                <a:chOff x="4688" y="2448"/>
                <a:chExt cx="568" cy="528"/>
              </a:xfrm>
            </p:grpSpPr>
            <p:grpSp>
              <p:nvGrpSpPr>
                <p:cNvPr id="122959" name="Group 119"/>
                <p:cNvGrpSpPr>
                  <a:grpSpLocks/>
                </p:cNvGrpSpPr>
                <p:nvPr/>
              </p:nvGrpSpPr>
              <p:grpSpPr bwMode="auto">
                <a:xfrm>
                  <a:off x="4976" y="2448"/>
                  <a:ext cx="280" cy="528"/>
                  <a:chOff x="4976" y="2448"/>
                  <a:chExt cx="280" cy="528"/>
                </a:xfrm>
              </p:grpSpPr>
              <p:sp>
                <p:nvSpPr>
                  <p:cNvPr id="207992" name="Oval 120"/>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93" name="Rectangle 121"/>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94" name="Oval 122"/>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nvGrpSpPr>
            <p:cNvPr id="122940" name="Group 104"/>
            <p:cNvGrpSpPr>
              <a:grpSpLocks/>
            </p:cNvGrpSpPr>
            <p:nvPr/>
          </p:nvGrpSpPr>
          <p:grpSpPr bwMode="auto">
            <a:xfrm>
              <a:off x="1496" y="1160"/>
              <a:ext cx="664" cy="568"/>
              <a:chOff x="4744" y="2504"/>
              <a:chExt cx="664" cy="568"/>
            </a:xfrm>
          </p:grpSpPr>
          <p:grpSp>
            <p:nvGrpSpPr>
              <p:cNvPr id="122941" name="Group 93"/>
              <p:cNvGrpSpPr>
                <a:grpSpLocks/>
              </p:cNvGrpSpPr>
              <p:nvPr/>
            </p:nvGrpSpPr>
            <p:grpSpPr bwMode="auto">
              <a:xfrm>
                <a:off x="4744" y="2504"/>
                <a:ext cx="568" cy="528"/>
                <a:chOff x="4688" y="2448"/>
                <a:chExt cx="568" cy="528"/>
              </a:xfrm>
            </p:grpSpPr>
            <p:grpSp>
              <p:nvGrpSpPr>
                <p:cNvPr id="122952" name="Group 92"/>
                <p:cNvGrpSpPr>
                  <a:grpSpLocks/>
                </p:cNvGrpSpPr>
                <p:nvPr/>
              </p:nvGrpSpPr>
              <p:grpSpPr bwMode="auto">
                <a:xfrm>
                  <a:off x="4976" y="2448"/>
                  <a:ext cx="280" cy="528"/>
                  <a:chOff x="4976" y="2448"/>
                  <a:chExt cx="280" cy="528"/>
                </a:xfrm>
              </p:grpSpPr>
              <p:sp>
                <p:nvSpPr>
                  <p:cNvPr id="207904" name="Oval 32"/>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05" name="Rectangle 33"/>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06" name="Oval 34"/>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2942" name="Group 94"/>
              <p:cNvGrpSpPr>
                <a:grpSpLocks/>
              </p:cNvGrpSpPr>
              <p:nvPr/>
            </p:nvGrpSpPr>
            <p:grpSpPr bwMode="auto">
              <a:xfrm>
                <a:off x="4792" y="2520"/>
                <a:ext cx="568" cy="528"/>
                <a:chOff x="4688" y="2448"/>
                <a:chExt cx="568" cy="528"/>
              </a:xfrm>
            </p:grpSpPr>
            <p:grpSp>
              <p:nvGrpSpPr>
                <p:cNvPr id="122948" name="Group 95"/>
                <p:cNvGrpSpPr>
                  <a:grpSpLocks/>
                </p:cNvGrpSpPr>
                <p:nvPr/>
              </p:nvGrpSpPr>
              <p:grpSpPr bwMode="auto">
                <a:xfrm>
                  <a:off x="4976" y="2448"/>
                  <a:ext cx="280" cy="528"/>
                  <a:chOff x="4976" y="2448"/>
                  <a:chExt cx="280" cy="528"/>
                </a:xfrm>
              </p:grpSpPr>
              <p:sp>
                <p:nvSpPr>
                  <p:cNvPr id="207968" name="Oval 96"/>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69" name="Rectangle 97"/>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70" name="Oval 98"/>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2943" name="Group 99"/>
              <p:cNvGrpSpPr>
                <a:grpSpLocks/>
              </p:cNvGrpSpPr>
              <p:nvPr/>
            </p:nvGrpSpPr>
            <p:grpSpPr bwMode="auto">
              <a:xfrm>
                <a:off x="4840" y="2544"/>
                <a:ext cx="568" cy="528"/>
                <a:chOff x="4688" y="2448"/>
                <a:chExt cx="568" cy="528"/>
              </a:xfrm>
            </p:grpSpPr>
            <p:grpSp>
              <p:nvGrpSpPr>
                <p:cNvPr id="122944" name="Group 100"/>
                <p:cNvGrpSpPr>
                  <a:grpSpLocks/>
                </p:cNvGrpSpPr>
                <p:nvPr/>
              </p:nvGrpSpPr>
              <p:grpSpPr bwMode="auto">
                <a:xfrm>
                  <a:off x="4976" y="2448"/>
                  <a:ext cx="280" cy="528"/>
                  <a:chOff x="4976" y="2448"/>
                  <a:chExt cx="280" cy="528"/>
                </a:xfrm>
              </p:grpSpPr>
              <p:sp>
                <p:nvSpPr>
                  <p:cNvPr id="207973" name="Oval 101"/>
                  <p:cNvSpPr>
                    <a:spLocks noChangeArrowheads="1"/>
                  </p:cNvSpPr>
                  <p:nvPr/>
                </p:nvSpPr>
                <p:spPr bwMode="auto">
                  <a:xfrm>
                    <a:off x="5080" y="2448"/>
                    <a:ext cx="176" cy="528"/>
                  </a:xfrm>
                  <a:prstGeom prst="ellipse">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74" name="Rectangle 102"/>
                  <p:cNvSpPr>
                    <a:spLocks noChangeArrowheads="1"/>
                  </p:cNvSpPr>
                  <p:nvPr/>
                </p:nvSpPr>
                <p:spPr bwMode="auto">
                  <a:xfrm>
                    <a:off x="4976" y="2456"/>
                    <a:ext cx="64" cy="480"/>
                  </a:xfrm>
                  <a:prstGeom prst="rect">
                    <a:avLst/>
                  </a:prstGeom>
                  <a:solidFill>
                    <a:srgbClr val="6699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75" name="Oval 103"/>
                <p:cNvSpPr>
                  <a:spLocks noChangeArrowheads="1"/>
                </p:cNvSpPr>
                <p:nvPr/>
              </p:nvSpPr>
              <p:spPr bwMode="auto">
                <a:xfrm>
                  <a:off x="4688" y="2472"/>
                  <a:ext cx="248" cy="4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grpSp>
      <p:sp>
        <p:nvSpPr>
          <p:cNvPr id="207907" name="Rectangle 35"/>
          <p:cNvSpPr>
            <a:spLocks noGrp="1" noChangeArrowheads="1"/>
          </p:cNvSpPr>
          <p:nvPr>
            <p:ph type="title"/>
          </p:nvPr>
        </p:nvSpPr>
        <p:spPr>
          <a:xfrm>
            <a:off x="1943100" y="0"/>
            <a:ext cx="8305800" cy="901700"/>
          </a:xfrm>
        </p:spPr>
        <p:txBody>
          <a:bodyPr/>
          <a:lstStyle/>
          <a:p>
            <a:pPr eaLnBrk="1" hangingPunct="1">
              <a:defRPr/>
            </a:pPr>
            <a:r>
              <a:rPr lang="en-US">
                <a:cs typeface="+mj-cs"/>
              </a:rPr>
              <a:t>What We Know About Protocols and Layers</a:t>
            </a:r>
          </a:p>
        </p:txBody>
      </p:sp>
      <p:sp>
        <p:nvSpPr>
          <p:cNvPr id="207908" name="Rectangle 36"/>
          <p:cNvSpPr>
            <a:spLocks noGrp="1" noChangeArrowheads="1"/>
          </p:cNvSpPr>
          <p:nvPr>
            <p:ph type="body" idx="1"/>
          </p:nvPr>
        </p:nvSpPr>
        <p:spPr>
          <a:xfrm>
            <a:off x="2076450" y="3873500"/>
            <a:ext cx="8039100" cy="2044700"/>
          </a:xfrm>
        </p:spPr>
        <p:txBody>
          <a:bodyPr/>
          <a:lstStyle/>
          <a:p>
            <a:pPr marL="317500" indent="-317500" eaLnBrk="1" hangingPunct="1">
              <a:defRPr/>
            </a:pPr>
            <a:r>
              <a:rPr lang="en-US" sz="1600" dirty="0"/>
              <a:t>The user specifies a point in </a:t>
            </a:r>
            <a:r>
              <a:rPr lang="en-US" sz="1600" dirty="0" err="1"/>
              <a:t>QoS</a:t>
            </a:r>
            <a:r>
              <a:rPr lang="en-US" sz="1600" dirty="0"/>
              <a:t>-space, but the protocol maps it into a </a:t>
            </a:r>
            <a:r>
              <a:rPr lang="en-US" sz="1600" dirty="0" err="1"/>
              <a:t>QoS</a:t>
            </a:r>
            <a:r>
              <a:rPr lang="en-US" sz="1600" dirty="0"/>
              <a:t>-cube.</a:t>
            </a:r>
          </a:p>
          <a:p>
            <a:pPr marL="317500" indent="-317500" eaLnBrk="1" hangingPunct="1">
              <a:defRPr/>
            </a:pPr>
            <a:r>
              <a:rPr lang="en-US" sz="1600" dirty="0">
                <a:cs typeface="+mn-cs"/>
              </a:rPr>
              <a:t>Transitions in EFCP. It appears fairly straightforward for the Flow Allocator to either cause DRF to be set implying the use of DTCP or sending a Create DTCP.  Turning it off appears to require an action by the Flow Allocator.</a:t>
            </a:r>
          </a:p>
          <a:p>
            <a:pPr marL="317500" indent="-317500" eaLnBrk="1" hangingPunct="1">
              <a:defRPr/>
            </a:pPr>
            <a:r>
              <a:rPr lang="en-US" sz="1600" dirty="0">
                <a:cs typeface="+mn-cs"/>
              </a:rPr>
              <a:t>Forms of EFCP</a:t>
            </a:r>
          </a:p>
          <a:p>
            <a:pPr marL="698500" lvl="1" indent="-317500" eaLnBrk="1" hangingPunct="1">
              <a:defRPr/>
            </a:pPr>
            <a:r>
              <a:rPr lang="en-US" sz="1200" dirty="0">
                <a:cs typeface="+mn-cs"/>
              </a:rPr>
              <a:t>No retransmission and no flow control</a:t>
            </a:r>
          </a:p>
          <a:p>
            <a:pPr marL="698500" lvl="1" indent="-317500" eaLnBrk="1" hangingPunct="1">
              <a:defRPr/>
            </a:pPr>
            <a:r>
              <a:rPr lang="en-US" sz="1200" dirty="0">
                <a:cs typeface="+mn-cs"/>
              </a:rPr>
              <a:t>No retransmission and window flow control</a:t>
            </a:r>
          </a:p>
          <a:p>
            <a:pPr marL="698500" lvl="1" indent="-317500" eaLnBrk="1" hangingPunct="1">
              <a:defRPr/>
            </a:pPr>
            <a:r>
              <a:rPr lang="en-US" sz="1200" dirty="0">
                <a:cs typeface="+mn-cs"/>
              </a:rPr>
              <a:t>Retransmission and rate-flow control</a:t>
            </a:r>
          </a:p>
          <a:p>
            <a:pPr marL="698500" lvl="1" indent="-317500" eaLnBrk="1" hangingPunct="1">
              <a:defRPr/>
            </a:pPr>
            <a:r>
              <a:rPr lang="en-US" sz="1200" dirty="0">
                <a:cs typeface="+mn-cs"/>
              </a:rPr>
              <a:t>No retransmission and no rate flow control</a:t>
            </a:r>
          </a:p>
          <a:p>
            <a:pPr marL="317500" indent="-317500" eaLnBrk="1" hangingPunct="1">
              <a:defRPr/>
            </a:pPr>
            <a:r>
              <a:rPr lang="en-US" sz="1600" dirty="0">
                <a:cs typeface="+mn-cs"/>
              </a:rPr>
              <a:t>Why would you ever have no flow control? </a:t>
            </a:r>
          </a:p>
        </p:txBody>
      </p:sp>
      <p:grpSp>
        <p:nvGrpSpPr>
          <p:cNvPr id="122884" name="Group 37"/>
          <p:cNvGrpSpPr>
            <a:grpSpLocks/>
          </p:cNvGrpSpPr>
          <p:nvPr/>
        </p:nvGrpSpPr>
        <p:grpSpPr bwMode="auto">
          <a:xfrm>
            <a:off x="3767139" y="3340101"/>
            <a:ext cx="4249737" cy="284163"/>
            <a:chOff x="1413" y="2104"/>
            <a:chExt cx="2677" cy="179"/>
          </a:xfrm>
        </p:grpSpPr>
        <p:sp>
          <p:nvSpPr>
            <p:cNvPr id="207910" name="Text Box 38"/>
            <p:cNvSpPr txBox="1">
              <a:spLocks noChangeArrowheads="1"/>
            </p:cNvSpPr>
            <p:nvPr/>
          </p:nvSpPr>
          <p:spPr bwMode="auto">
            <a:xfrm>
              <a:off x="1413"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sp>
          <p:nvSpPr>
            <p:cNvPr id="207911" name="Text Box 39"/>
            <p:cNvSpPr txBox="1">
              <a:spLocks noChangeArrowheads="1"/>
            </p:cNvSpPr>
            <p:nvPr/>
          </p:nvSpPr>
          <p:spPr bwMode="auto">
            <a:xfrm>
              <a:off x="3357" y="2104"/>
              <a:ext cx="733" cy="179"/>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fontAlgn="base">
                <a:spcBef>
                  <a:spcPct val="0"/>
                </a:spcBef>
                <a:spcAft>
                  <a:spcPct val="0"/>
                </a:spcAft>
                <a:defRPr/>
              </a:pPr>
              <a:r>
                <a:rPr lang="en-US" sz="1200">
                  <a:solidFill>
                    <a:srgbClr val="000000"/>
                  </a:solidFill>
                  <a:latin typeface="Times" charset="0"/>
                  <a:ea typeface="ＭＳ Ｐゴシック" charset="0"/>
                </a:rPr>
                <a:t>SDU Protection</a:t>
              </a:r>
            </a:p>
          </p:txBody>
        </p:sp>
      </p:grpSp>
      <p:grpSp>
        <p:nvGrpSpPr>
          <p:cNvPr id="122885" name="Group 40"/>
          <p:cNvGrpSpPr>
            <a:grpSpLocks/>
          </p:cNvGrpSpPr>
          <p:nvPr/>
        </p:nvGrpSpPr>
        <p:grpSpPr bwMode="auto">
          <a:xfrm>
            <a:off x="4165600" y="3086100"/>
            <a:ext cx="3606800" cy="254000"/>
            <a:chOff x="1664" y="1944"/>
            <a:chExt cx="2272" cy="160"/>
          </a:xfrm>
        </p:grpSpPr>
        <p:sp>
          <p:nvSpPr>
            <p:cNvPr id="207913" name="Oval 41"/>
            <p:cNvSpPr>
              <a:spLocks noChangeArrowheads="1"/>
            </p:cNvSpPr>
            <p:nvPr/>
          </p:nvSpPr>
          <p:spPr bwMode="auto">
            <a:xfrm>
              <a:off x="1664"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sp>
          <p:nvSpPr>
            <p:cNvPr id="207914" name="Oval 42"/>
            <p:cNvSpPr>
              <a:spLocks noChangeArrowheads="1"/>
            </p:cNvSpPr>
            <p:nvPr/>
          </p:nvSpPr>
          <p:spPr bwMode="auto">
            <a:xfrm>
              <a:off x="3576" y="1944"/>
              <a:ext cx="360" cy="16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Mux</a:t>
              </a:r>
            </a:p>
          </p:txBody>
        </p:sp>
      </p:grpSp>
      <p:grpSp>
        <p:nvGrpSpPr>
          <p:cNvPr id="122886" name="Group 43"/>
          <p:cNvGrpSpPr>
            <a:grpSpLocks/>
          </p:cNvGrpSpPr>
          <p:nvPr/>
        </p:nvGrpSpPr>
        <p:grpSpPr bwMode="auto">
          <a:xfrm>
            <a:off x="4406900" y="2705100"/>
            <a:ext cx="2959100" cy="419100"/>
            <a:chOff x="1816" y="1704"/>
            <a:chExt cx="1864" cy="264"/>
          </a:xfrm>
        </p:grpSpPr>
        <p:sp>
          <p:nvSpPr>
            <p:cNvPr id="207916" name="Oval 44"/>
            <p:cNvSpPr>
              <a:spLocks noChangeArrowheads="1"/>
            </p:cNvSpPr>
            <p:nvPr/>
          </p:nvSpPr>
          <p:spPr bwMode="auto">
            <a:xfrm>
              <a:off x="1816" y="1704"/>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sp>
          <p:nvSpPr>
            <p:cNvPr id="207917" name="Oval 45"/>
            <p:cNvSpPr>
              <a:spLocks noChangeArrowheads="1"/>
            </p:cNvSpPr>
            <p:nvPr/>
          </p:nvSpPr>
          <p:spPr bwMode="auto">
            <a:xfrm>
              <a:off x="3384" y="1712"/>
              <a:ext cx="296" cy="2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r>
                <a:rPr lang="en-US" sz="1000">
                  <a:solidFill>
                    <a:srgbClr val="000000"/>
                  </a:solidFill>
                  <a:latin typeface="Arial" charset="0"/>
                  <a:ea typeface="ＭＳ Ｐゴシック" charset="0"/>
                </a:rPr>
                <a:t>Relay</a:t>
              </a:r>
            </a:p>
          </p:txBody>
        </p:sp>
      </p:grpSp>
      <p:grpSp>
        <p:nvGrpSpPr>
          <p:cNvPr id="122887" name="Group 106"/>
          <p:cNvGrpSpPr>
            <a:grpSpLocks/>
          </p:cNvGrpSpPr>
          <p:nvPr/>
        </p:nvGrpSpPr>
        <p:grpSpPr bwMode="auto">
          <a:xfrm>
            <a:off x="3149600" y="1460500"/>
            <a:ext cx="5892800" cy="2463800"/>
            <a:chOff x="1024" y="920"/>
            <a:chExt cx="3712" cy="1552"/>
          </a:xfrm>
        </p:grpSpPr>
        <p:sp>
          <p:nvSpPr>
            <p:cNvPr id="207919" name="Line 47"/>
            <p:cNvSpPr>
              <a:spLocks noChangeShapeType="1"/>
            </p:cNvSpPr>
            <p:nvPr/>
          </p:nvSpPr>
          <p:spPr bwMode="auto">
            <a:xfrm>
              <a:off x="1024" y="1072"/>
              <a:ext cx="3712" cy="1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0" name="Line 48"/>
            <p:cNvSpPr>
              <a:spLocks noChangeShapeType="1"/>
            </p:cNvSpPr>
            <p:nvPr/>
          </p:nvSpPr>
          <p:spPr bwMode="auto">
            <a:xfrm flipH="1">
              <a:off x="2376" y="920"/>
              <a:ext cx="32" cy="151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1" name="Oval 49"/>
            <p:cNvSpPr>
              <a:spLocks noChangeArrowheads="1"/>
            </p:cNvSpPr>
            <p:nvPr/>
          </p:nvSpPr>
          <p:spPr bwMode="auto">
            <a:xfrm>
              <a:off x="3480" y="1184"/>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2" name="Line 50"/>
            <p:cNvSpPr>
              <a:spLocks noChangeShapeType="1"/>
            </p:cNvSpPr>
            <p:nvPr/>
          </p:nvSpPr>
          <p:spPr bwMode="auto">
            <a:xfrm flipH="1">
              <a:off x="3288" y="944"/>
              <a:ext cx="32" cy="152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3" name="Line 51"/>
            <p:cNvSpPr>
              <a:spLocks noChangeShapeType="1"/>
            </p:cNvSpPr>
            <p:nvPr/>
          </p:nvSpPr>
          <p:spPr bwMode="auto">
            <a:xfrm>
              <a:off x="1024" y="2299"/>
              <a:ext cx="3712" cy="16"/>
            </a:xfrm>
            <a:prstGeom prst="line">
              <a:avLst/>
            </a:prstGeom>
            <a:noFill/>
            <a:ln w="38100">
              <a:solidFill>
                <a:schemeClr val="tx1"/>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4" name="Line 52"/>
            <p:cNvSpPr>
              <a:spLocks noChangeShapeType="1"/>
            </p:cNvSpPr>
            <p:nvPr/>
          </p:nvSpPr>
          <p:spPr bwMode="auto">
            <a:xfrm>
              <a:off x="2280" y="1416"/>
              <a:ext cx="11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nvGrpSpPr>
            <p:cNvPr id="122929" name="Group 105"/>
            <p:cNvGrpSpPr>
              <a:grpSpLocks/>
            </p:cNvGrpSpPr>
            <p:nvPr/>
          </p:nvGrpSpPr>
          <p:grpSpPr bwMode="auto">
            <a:xfrm>
              <a:off x="1984" y="1192"/>
              <a:ext cx="280" cy="528"/>
              <a:chOff x="1984" y="1192"/>
              <a:chExt cx="280" cy="528"/>
            </a:xfrm>
          </p:grpSpPr>
          <p:sp>
            <p:nvSpPr>
              <p:cNvPr id="207926" name="Oval 54"/>
              <p:cNvSpPr>
                <a:spLocks noChangeArrowheads="1"/>
              </p:cNvSpPr>
              <p:nvPr/>
            </p:nvSpPr>
            <p:spPr bwMode="auto">
              <a:xfrm>
                <a:off x="2088" y="1192"/>
                <a:ext cx="176" cy="5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27" name="Rectangle 55"/>
              <p:cNvSpPr>
                <a:spLocks noChangeArrowheads="1"/>
              </p:cNvSpPr>
              <p:nvPr/>
            </p:nvSpPr>
            <p:spPr bwMode="auto">
              <a:xfrm>
                <a:off x="1984" y="1200"/>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28" name="Rectangle 56"/>
            <p:cNvSpPr>
              <a:spLocks noChangeArrowheads="1"/>
            </p:cNvSpPr>
            <p:nvPr/>
          </p:nvSpPr>
          <p:spPr bwMode="auto">
            <a:xfrm>
              <a:off x="3680" y="1208"/>
              <a:ext cx="64" cy="480"/>
            </a:xfrm>
            <a:prstGeom prst="rect">
              <a:avLst/>
            </a:prstGeom>
            <a:solidFill>
              <a:srgbClr val="6699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2888" name="Group 57"/>
          <p:cNvGrpSpPr>
            <a:grpSpLocks/>
          </p:cNvGrpSpPr>
          <p:nvPr/>
        </p:nvGrpSpPr>
        <p:grpSpPr bwMode="auto">
          <a:xfrm>
            <a:off x="2124076" y="1003300"/>
            <a:ext cx="5280025" cy="800100"/>
            <a:chOff x="378" y="632"/>
            <a:chExt cx="3326" cy="504"/>
          </a:xfrm>
        </p:grpSpPr>
        <p:grpSp>
          <p:nvGrpSpPr>
            <p:cNvPr id="122918" name="Group 58"/>
            <p:cNvGrpSpPr>
              <a:grpSpLocks/>
            </p:cNvGrpSpPr>
            <p:nvPr/>
          </p:nvGrpSpPr>
          <p:grpSpPr bwMode="auto">
            <a:xfrm>
              <a:off x="1832" y="992"/>
              <a:ext cx="1872" cy="144"/>
              <a:chOff x="1832" y="992"/>
              <a:chExt cx="1872" cy="144"/>
            </a:xfrm>
          </p:grpSpPr>
          <p:sp>
            <p:nvSpPr>
              <p:cNvPr id="207931" name="Oval 59"/>
              <p:cNvSpPr>
                <a:spLocks noChangeArrowheads="1"/>
              </p:cNvSpPr>
              <p:nvPr/>
            </p:nvSpPr>
            <p:spPr bwMode="auto">
              <a:xfrm>
                <a:off x="1832" y="9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32" name="Oval 60"/>
              <p:cNvSpPr>
                <a:spLocks noChangeArrowheads="1"/>
              </p:cNvSpPr>
              <p:nvPr/>
            </p:nvSpPr>
            <p:spPr bwMode="auto">
              <a:xfrm>
                <a:off x="3592" y="1016"/>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33" name="Text Box 61"/>
            <p:cNvSpPr txBox="1">
              <a:spLocks noChangeArrowheads="1"/>
            </p:cNvSpPr>
            <p:nvPr/>
          </p:nvSpPr>
          <p:spPr bwMode="auto">
            <a:xfrm>
              <a:off x="378" y="632"/>
              <a:ext cx="138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Port-ids have scope of the (N)- and(N+1)-layers</a:t>
              </a:r>
            </a:p>
          </p:txBody>
        </p:sp>
        <p:sp>
          <p:nvSpPr>
            <p:cNvPr id="207934" name="Line 62"/>
            <p:cNvSpPr>
              <a:spLocks noChangeShapeType="1"/>
            </p:cNvSpPr>
            <p:nvPr/>
          </p:nvSpPr>
          <p:spPr bwMode="auto">
            <a:xfrm>
              <a:off x="1371" y="778"/>
              <a:ext cx="464" cy="2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122889" name="Group 63"/>
          <p:cNvGrpSpPr>
            <a:grpSpLocks/>
          </p:cNvGrpSpPr>
          <p:nvPr/>
        </p:nvGrpSpPr>
        <p:grpSpPr bwMode="auto">
          <a:xfrm>
            <a:off x="4876800" y="876300"/>
            <a:ext cx="2057400" cy="698500"/>
            <a:chOff x="2248" y="552"/>
            <a:chExt cx="1296" cy="440"/>
          </a:xfrm>
        </p:grpSpPr>
        <p:sp>
          <p:nvSpPr>
            <p:cNvPr id="207936" name="Text Box 64"/>
            <p:cNvSpPr txBox="1">
              <a:spLocks noChangeArrowheads="1"/>
            </p:cNvSpPr>
            <p:nvPr/>
          </p:nvSpPr>
          <p:spPr bwMode="auto">
            <a:xfrm>
              <a:off x="2420" y="552"/>
              <a:ext cx="91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a:solidFill>
                    <a:srgbClr val="000000"/>
                  </a:solidFill>
                  <a:latin typeface="Arial" charset="0"/>
                  <a:ea typeface="ＭＳ Ｐゴシック" charset="0"/>
                </a:rPr>
                <a:t>IPC Processes in Different Systems</a:t>
              </a:r>
            </a:p>
          </p:txBody>
        </p:sp>
        <p:sp>
          <p:nvSpPr>
            <p:cNvPr id="207937" name="Line 65"/>
            <p:cNvSpPr>
              <a:spLocks noChangeShapeType="1"/>
            </p:cNvSpPr>
            <p:nvPr/>
          </p:nvSpPr>
          <p:spPr bwMode="auto">
            <a:xfrm flipH="1">
              <a:off x="2248" y="704"/>
              <a:ext cx="280" cy="2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38" name="Line 66"/>
            <p:cNvSpPr>
              <a:spLocks noChangeShapeType="1"/>
            </p:cNvSpPr>
            <p:nvPr/>
          </p:nvSpPr>
          <p:spPr bwMode="auto">
            <a:xfrm>
              <a:off x="3240" y="704"/>
              <a:ext cx="30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7939" name="Group 67"/>
          <p:cNvGrpSpPr>
            <a:grpSpLocks/>
          </p:cNvGrpSpPr>
          <p:nvPr/>
        </p:nvGrpSpPr>
        <p:grpSpPr bwMode="auto">
          <a:xfrm>
            <a:off x="5099050" y="2133600"/>
            <a:ext cx="1993900" cy="1016000"/>
            <a:chOff x="2252" y="1344"/>
            <a:chExt cx="1256" cy="640"/>
          </a:xfrm>
        </p:grpSpPr>
        <p:grpSp>
          <p:nvGrpSpPr>
            <p:cNvPr id="122910" name="Group 68"/>
            <p:cNvGrpSpPr>
              <a:grpSpLocks/>
            </p:cNvGrpSpPr>
            <p:nvPr/>
          </p:nvGrpSpPr>
          <p:grpSpPr bwMode="auto">
            <a:xfrm>
              <a:off x="2252" y="1344"/>
              <a:ext cx="1256" cy="144"/>
              <a:chOff x="2200" y="1168"/>
              <a:chExt cx="1256" cy="144"/>
            </a:xfrm>
          </p:grpSpPr>
          <p:sp>
            <p:nvSpPr>
              <p:cNvPr id="207941" name="Oval 69"/>
              <p:cNvSpPr>
                <a:spLocks noChangeArrowheads="1"/>
              </p:cNvSpPr>
              <p:nvPr/>
            </p:nvSpPr>
            <p:spPr bwMode="auto">
              <a:xfrm>
                <a:off x="2200" y="1168"/>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sp>
            <p:nvSpPr>
              <p:cNvPr id="207942" name="Oval 70"/>
              <p:cNvSpPr>
                <a:spLocks noChangeArrowheads="1"/>
              </p:cNvSpPr>
              <p:nvPr/>
            </p:nvSpPr>
            <p:spPr bwMode="auto">
              <a:xfrm>
                <a:off x="3344" y="1192"/>
                <a:ext cx="112" cy="12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sp>
          <p:nvSpPr>
            <p:cNvPr id="207943" name="Text Box 71"/>
            <p:cNvSpPr txBox="1">
              <a:spLocks noChangeArrowheads="1"/>
            </p:cNvSpPr>
            <p:nvPr/>
          </p:nvSpPr>
          <p:spPr bwMode="auto">
            <a:xfrm>
              <a:off x="2344" y="1638"/>
              <a:ext cx="1072" cy="3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fontAlgn="base">
                <a:spcBef>
                  <a:spcPct val="50000"/>
                </a:spcBef>
                <a:spcAft>
                  <a:spcPct val="0"/>
                </a:spcAft>
                <a:defRPr/>
              </a:pPr>
              <a:r>
                <a:rPr lang="en-US" sz="1000">
                  <a:solidFill>
                    <a:srgbClr val="000000"/>
                  </a:solidFill>
                  <a:latin typeface="Arial" charset="0"/>
                  <a:ea typeface="ＭＳ Ｐゴシック" charset="0"/>
                </a:rPr>
                <a:t>Connection-endpoint-ids have scope of IPC Process</a:t>
              </a:r>
            </a:p>
          </p:txBody>
        </p:sp>
        <p:sp>
          <p:nvSpPr>
            <p:cNvPr id="207944" name="Line 72"/>
            <p:cNvSpPr>
              <a:spLocks noChangeShapeType="1"/>
            </p:cNvSpPr>
            <p:nvPr/>
          </p:nvSpPr>
          <p:spPr bwMode="auto">
            <a:xfrm flipH="1" flipV="1">
              <a:off x="2352" y="1448"/>
              <a:ext cx="384" cy="2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1000">
                <a:solidFill>
                  <a:srgbClr val="000000"/>
                </a:solidFill>
                <a:latin typeface="Arial" charset="0"/>
                <a:ea typeface="ＭＳ Ｐゴシック" charset="0"/>
              </a:endParaRPr>
            </a:p>
          </p:txBody>
        </p:sp>
      </p:grpSp>
      <p:grpSp>
        <p:nvGrpSpPr>
          <p:cNvPr id="207945" name="Group 73"/>
          <p:cNvGrpSpPr>
            <a:grpSpLocks/>
          </p:cNvGrpSpPr>
          <p:nvPr/>
        </p:nvGrpSpPr>
        <p:grpSpPr bwMode="auto">
          <a:xfrm>
            <a:off x="2851150" y="1876425"/>
            <a:ext cx="6489700" cy="774700"/>
            <a:chOff x="841" y="1174"/>
            <a:chExt cx="4088" cy="488"/>
          </a:xfrm>
        </p:grpSpPr>
        <p:grpSp>
          <p:nvGrpSpPr>
            <p:cNvPr id="122892" name="Group 49"/>
            <p:cNvGrpSpPr>
              <a:grpSpLocks/>
            </p:cNvGrpSpPr>
            <p:nvPr/>
          </p:nvGrpSpPr>
          <p:grpSpPr bwMode="auto">
            <a:xfrm>
              <a:off x="1177" y="1286"/>
              <a:ext cx="293" cy="288"/>
              <a:chOff x="2587" y="1344"/>
              <a:chExt cx="293" cy="288"/>
            </a:xfrm>
          </p:grpSpPr>
          <p:sp>
            <p:nvSpPr>
              <p:cNvPr id="122906"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907"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908"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122909"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122893" name="Group 79"/>
            <p:cNvGrpSpPr>
              <a:grpSpLocks/>
            </p:cNvGrpSpPr>
            <p:nvPr/>
          </p:nvGrpSpPr>
          <p:grpSpPr bwMode="auto">
            <a:xfrm flipH="1">
              <a:off x="4633" y="1174"/>
              <a:ext cx="296" cy="456"/>
              <a:chOff x="809" y="1214"/>
              <a:chExt cx="296" cy="456"/>
            </a:xfrm>
          </p:grpSpPr>
          <p:sp>
            <p:nvSpPr>
              <p:cNvPr id="122903" name="Oval 56"/>
              <p:cNvSpPr>
                <a:spLocks noChangeArrowheads="1"/>
              </p:cNvSpPr>
              <p:nvPr/>
            </p:nvSpPr>
            <p:spPr bwMode="auto">
              <a:xfrm>
                <a:off x="809" y="121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904" name="Oval 57"/>
              <p:cNvSpPr>
                <a:spLocks noChangeArrowheads="1"/>
              </p:cNvSpPr>
              <p:nvPr/>
            </p:nvSpPr>
            <p:spPr bwMode="auto">
              <a:xfrm>
                <a:off x="841" y="1382"/>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905" name="Oval 58"/>
              <p:cNvSpPr>
                <a:spLocks noChangeArrowheads="1"/>
              </p:cNvSpPr>
              <p:nvPr/>
            </p:nvSpPr>
            <p:spPr bwMode="auto">
              <a:xfrm>
                <a:off x="961" y="129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grpSp>
        <p:grpSp>
          <p:nvGrpSpPr>
            <p:cNvPr id="122894" name="Group 49"/>
            <p:cNvGrpSpPr>
              <a:grpSpLocks/>
            </p:cNvGrpSpPr>
            <p:nvPr/>
          </p:nvGrpSpPr>
          <p:grpSpPr bwMode="auto">
            <a:xfrm>
              <a:off x="4297" y="1262"/>
              <a:ext cx="293" cy="288"/>
              <a:chOff x="2587" y="1344"/>
              <a:chExt cx="293" cy="288"/>
            </a:xfrm>
          </p:grpSpPr>
          <p:sp>
            <p:nvSpPr>
              <p:cNvPr id="122899"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900"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901"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sp>
            <p:nvSpPr>
              <p:cNvPr id="122902"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algn="ctr" fontAlgn="base">
                  <a:spcBef>
                    <a:spcPct val="0"/>
                  </a:spcBef>
                  <a:spcAft>
                    <a:spcPct val="0"/>
                  </a:spcAft>
                </a:pPr>
                <a:endParaRPr lang="en-US" sz="1000">
                  <a:solidFill>
                    <a:srgbClr val="000000"/>
                  </a:solidFill>
                  <a:latin typeface="Arial" charset="0"/>
                  <a:ea typeface="ＭＳ Ｐゴシック" charset="0"/>
                </a:endParaRPr>
              </a:p>
            </p:txBody>
          </p:sp>
        </p:grpSp>
        <p:grpSp>
          <p:nvGrpSpPr>
            <p:cNvPr id="122895" name="Group 88"/>
            <p:cNvGrpSpPr>
              <a:grpSpLocks/>
            </p:cNvGrpSpPr>
            <p:nvPr/>
          </p:nvGrpSpPr>
          <p:grpSpPr bwMode="auto">
            <a:xfrm>
              <a:off x="841" y="1206"/>
              <a:ext cx="296" cy="456"/>
              <a:chOff x="809" y="1214"/>
              <a:chExt cx="296" cy="456"/>
            </a:xfrm>
          </p:grpSpPr>
          <p:sp>
            <p:nvSpPr>
              <p:cNvPr id="122896" name="Oval 56"/>
              <p:cNvSpPr>
                <a:spLocks noChangeArrowheads="1"/>
              </p:cNvSpPr>
              <p:nvPr/>
            </p:nvSpPr>
            <p:spPr bwMode="auto">
              <a:xfrm>
                <a:off x="809" y="121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897" name="Oval 57"/>
              <p:cNvSpPr>
                <a:spLocks noChangeArrowheads="1"/>
              </p:cNvSpPr>
              <p:nvPr/>
            </p:nvSpPr>
            <p:spPr bwMode="auto">
              <a:xfrm>
                <a:off x="841" y="1382"/>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sp>
            <p:nvSpPr>
              <p:cNvPr id="122898" name="Oval 58"/>
              <p:cNvSpPr>
                <a:spLocks noChangeArrowheads="1"/>
              </p:cNvSpPr>
              <p:nvPr/>
            </p:nvSpPr>
            <p:spPr bwMode="auto">
              <a:xfrm>
                <a:off x="961" y="1294"/>
                <a:ext cx="144" cy="288"/>
              </a:xfrm>
              <a:prstGeom prst="ellipse">
                <a:avLst/>
              </a:prstGeom>
              <a:solidFill>
                <a:schemeClr val="accent1"/>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Times New Roman" charset="0"/>
                  <a:ea typeface="ＭＳ Ｐゴシック"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90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790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790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790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790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790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7908">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7908">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799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79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79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8"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Date Placeholder 3"/>
          <p:cNvSpPr>
            <a:spLocks noGrp="1"/>
          </p:cNvSpPr>
          <p:nvPr>
            <p:ph type="dt" sz="half" idx="10"/>
          </p:nvPr>
        </p:nvSpPr>
        <p:spPr/>
        <p:txBody>
          <a:bodyPr/>
          <a:lstStyle/>
          <a:p>
            <a:r>
              <a:rPr lang="en-US">
                <a:solidFill>
                  <a:srgbClr val="000000"/>
                </a:solidFill>
                <a:latin typeface="Times"/>
              </a:rPr>
              <a:t>10 May 10</a:t>
            </a:r>
          </a:p>
        </p:txBody>
      </p:sp>
      <p:sp>
        <p:nvSpPr>
          <p:cNvPr id="23" name="Slide Number Placeholder 5"/>
          <p:cNvSpPr>
            <a:spLocks noGrp="1"/>
          </p:cNvSpPr>
          <p:nvPr>
            <p:ph type="sldNum" sz="quarter" idx="12"/>
          </p:nvPr>
        </p:nvSpPr>
        <p:spPr/>
        <p:txBody>
          <a:bodyPr/>
          <a:lstStyle/>
          <a:p>
            <a:fld id="{40C67DE0-67B6-1D44-81F0-DAF5CCB15EDD}" type="slidenum">
              <a:rPr lang="en-US">
                <a:solidFill>
                  <a:srgbClr val="000000"/>
                </a:solidFill>
                <a:latin typeface="Times"/>
              </a:rPr>
              <a:pPr/>
              <a:t>60</a:t>
            </a:fld>
            <a:endParaRPr lang="en-US">
              <a:solidFill>
                <a:srgbClr val="000000"/>
              </a:solidFill>
              <a:latin typeface="Times"/>
            </a:endParaRPr>
          </a:p>
        </p:txBody>
      </p:sp>
      <p:sp>
        <p:nvSpPr>
          <p:cNvPr id="11266" name="Rectangle 2"/>
          <p:cNvSpPr>
            <a:spLocks noGrp="1" noChangeArrowheads="1"/>
          </p:cNvSpPr>
          <p:nvPr>
            <p:ph type="title"/>
          </p:nvPr>
        </p:nvSpPr>
        <p:spPr>
          <a:xfrm>
            <a:off x="2236789" y="109397"/>
            <a:ext cx="7772400" cy="1143000"/>
          </a:xfrm>
        </p:spPr>
        <p:txBody>
          <a:bodyPr/>
          <a:lstStyle/>
          <a:p>
            <a:r>
              <a:rPr lang="en-US"/>
              <a:t>The Error and Flow Control Protocol</a:t>
            </a:r>
          </a:p>
        </p:txBody>
      </p:sp>
      <p:sp>
        <p:nvSpPr>
          <p:cNvPr id="11267" name="Rectangle 3"/>
          <p:cNvSpPr>
            <a:spLocks noGrp="1" noChangeArrowheads="1"/>
          </p:cNvSpPr>
          <p:nvPr>
            <p:ph type="body" idx="1"/>
          </p:nvPr>
        </p:nvSpPr>
        <p:spPr>
          <a:xfrm>
            <a:off x="2133600" y="2514600"/>
            <a:ext cx="7391400" cy="2971800"/>
          </a:xfrm>
        </p:spPr>
        <p:txBody>
          <a:bodyPr>
            <a:normAutofit fontScale="92500" lnSpcReduction="20000"/>
          </a:bodyPr>
          <a:lstStyle/>
          <a:p>
            <a:r>
              <a:rPr lang="en-US"/>
              <a:t>Based on delta-t with mechanism and policy separated.</a:t>
            </a:r>
          </a:p>
          <a:p>
            <a:pPr lvl="1"/>
            <a:r>
              <a:rPr lang="en-US"/>
              <a:t>Naturally cleaves into Data Transfer and Data Transfer Control</a:t>
            </a:r>
          </a:p>
          <a:p>
            <a:pPr lvl="2"/>
            <a:r>
              <a:rPr lang="en-US"/>
              <a:t>Data Transfer consists of tightly bound mechanisms</a:t>
            </a:r>
          </a:p>
          <a:p>
            <a:pPr lvl="3"/>
            <a:r>
              <a:rPr lang="en-US"/>
              <a:t>Roughly similar to IP+UDP</a:t>
            </a:r>
          </a:p>
          <a:p>
            <a:pPr lvl="2"/>
            <a:r>
              <a:rPr lang="en-US"/>
              <a:t>Data Transfer Control, if present, consists of loosely bound mechanisms.</a:t>
            </a:r>
          </a:p>
          <a:p>
            <a:pPr lvl="3"/>
            <a:r>
              <a:rPr lang="en-US"/>
              <a:t>Flow control and retransmission (ack) control</a:t>
            </a:r>
          </a:p>
          <a:p>
            <a:r>
              <a:rPr lang="en-US"/>
              <a:t>One instance per flow; policies driven by the QoS parameters.</a:t>
            </a:r>
          </a:p>
          <a:p>
            <a:r>
              <a:rPr lang="en-US"/>
              <a:t>Comes in several syntactic flavors based on the length of (address, connection-endpoint-id and sequence number)</a:t>
            </a:r>
          </a:p>
          <a:p>
            <a:pPr lvl="2"/>
            <a:r>
              <a:rPr lang="en-US"/>
              <a:t>Addresses:  8, 16, 32, 64, 128, variable.</a:t>
            </a:r>
          </a:p>
          <a:p>
            <a:pPr lvl="2"/>
            <a:r>
              <a:rPr lang="en-US"/>
              <a:t>CEP-id: 8, 16, 32, 64</a:t>
            </a:r>
          </a:p>
          <a:p>
            <a:pPr lvl="2"/>
            <a:r>
              <a:rPr lang="en-US"/>
              <a:t>Sequence:  4, 8, 16, 32, 64</a:t>
            </a:r>
          </a:p>
        </p:txBody>
      </p:sp>
      <p:sp>
        <p:nvSpPr>
          <p:cNvPr id="11270" name="Text Box 6"/>
          <p:cNvSpPr txBox="1">
            <a:spLocks noChangeArrowheads="1"/>
          </p:cNvSpPr>
          <p:nvPr/>
        </p:nvSpPr>
        <p:spPr bwMode="auto">
          <a:xfrm>
            <a:off x="4086226" y="1447800"/>
            <a:ext cx="1025525"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Data Transfer</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Protocol</a:t>
            </a:r>
          </a:p>
        </p:txBody>
      </p:sp>
      <p:sp>
        <p:nvSpPr>
          <p:cNvPr id="11271" name="Text Box 7"/>
          <p:cNvSpPr txBox="1">
            <a:spLocks noChangeArrowheads="1"/>
          </p:cNvSpPr>
          <p:nvPr/>
        </p:nvSpPr>
        <p:spPr bwMode="auto">
          <a:xfrm>
            <a:off x="7010400" y="1143001"/>
            <a:ext cx="700088" cy="64633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Data </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Transfer</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Control</a:t>
            </a:r>
          </a:p>
        </p:txBody>
      </p:sp>
      <p:grpSp>
        <p:nvGrpSpPr>
          <p:cNvPr id="11276" name="Group 12"/>
          <p:cNvGrpSpPr>
            <a:grpSpLocks/>
          </p:cNvGrpSpPr>
          <p:nvPr/>
        </p:nvGrpSpPr>
        <p:grpSpPr bwMode="auto">
          <a:xfrm>
            <a:off x="5686426" y="1752600"/>
            <a:ext cx="817563" cy="609600"/>
            <a:chOff x="2160" y="1200"/>
            <a:chExt cx="515" cy="384"/>
          </a:xfrm>
          <a:solidFill>
            <a:srgbClr val="00B050"/>
          </a:solidFill>
        </p:grpSpPr>
        <p:grpSp>
          <p:nvGrpSpPr>
            <p:cNvPr id="11277" name="Group 13"/>
            <p:cNvGrpSpPr>
              <a:grpSpLocks/>
            </p:cNvGrpSpPr>
            <p:nvPr/>
          </p:nvGrpSpPr>
          <p:grpSpPr bwMode="auto">
            <a:xfrm>
              <a:off x="2256" y="1200"/>
              <a:ext cx="419" cy="288"/>
              <a:chOff x="2040" y="1248"/>
              <a:chExt cx="419" cy="288"/>
            </a:xfrm>
            <a:grpFill/>
          </p:grpSpPr>
          <p:sp>
            <p:nvSpPr>
              <p:cNvPr id="11278" name="Oval 43"/>
              <p:cNvSpPr>
                <a:spLocks noChangeArrowheads="1"/>
              </p:cNvSpPr>
              <p:nvPr/>
            </p:nvSpPr>
            <p:spPr bwMode="auto">
              <a:xfrm>
                <a:off x="2267" y="1248"/>
                <a:ext cx="192" cy="240"/>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11279" name="Oval 45"/>
              <p:cNvSpPr>
                <a:spLocks noChangeArrowheads="1"/>
              </p:cNvSpPr>
              <p:nvPr/>
            </p:nvSpPr>
            <p:spPr bwMode="auto">
              <a:xfrm>
                <a:off x="2040" y="1248"/>
                <a:ext cx="96"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2" name="Rectangle 65"/>
              <p:cNvSpPr>
                <a:spLocks noChangeArrowheads="1"/>
              </p:cNvSpPr>
              <p:nvPr/>
            </p:nvSpPr>
            <p:spPr bwMode="auto">
              <a:xfrm>
                <a:off x="2171" y="1248"/>
                <a:ext cx="48" cy="240"/>
              </a:xfrm>
              <a:prstGeom prst="rect">
                <a:avLst/>
              </a:prstGeom>
              <a:grpFill/>
              <a:ln w="9525">
                <a:solidFill>
                  <a:schemeClr val="tx1"/>
                </a:solidFill>
                <a:miter lim="800000"/>
                <a:headEnd/>
                <a:tailEnd/>
              </a:ln>
              <a:effectLst>
                <a:outerShdw dist="35921" dir="2700000" algn="ctr" rotWithShape="0">
                  <a:srgbClr val="808080"/>
                </a:outerShdw>
              </a:effec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grpSp>
          <p:nvGrpSpPr>
            <p:cNvPr id="11281" name="Group 17"/>
            <p:cNvGrpSpPr>
              <a:grpSpLocks/>
            </p:cNvGrpSpPr>
            <p:nvPr/>
          </p:nvGrpSpPr>
          <p:grpSpPr bwMode="auto">
            <a:xfrm>
              <a:off x="2208" y="1248"/>
              <a:ext cx="419" cy="288"/>
              <a:chOff x="2040" y="1248"/>
              <a:chExt cx="419" cy="288"/>
            </a:xfrm>
            <a:grpFill/>
          </p:grpSpPr>
          <p:sp>
            <p:nvSpPr>
              <p:cNvPr id="11282" name="Oval 43"/>
              <p:cNvSpPr>
                <a:spLocks noChangeArrowheads="1"/>
              </p:cNvSpPr>
              <p:nvPr/>
            </p:nvSpPr>
            <p:spPr bwMode="auto">
              <a:xfrm>
                <a:off x="2267" y="1248"/>
                <a:ext cx="192" cy="240"/>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11283" name="Oval 45"/>
              <p:cNvSpPr>
                <a:spLocks noChangeArrowheads="1"/>
              </p:cNvSpPr>
              <p:nvPr/>
            </p:nvSpPr>
            <p:spPr bwMode="auto">
              <a:xfrm>
                <a:off x="2040" y="1248"/>
                <a:ext cx="96"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 name="Rectangle 65"/>
              <p:cNvSpPr>
                <a:spLocks noChangeArrowheads="1"/>
              </p:cNvSpPr>
              <p:nvPr/>
            </p:nvSpPr>
            <p:spPr bwMode="auto">
              <a:xfrm>
                <a:off x="2171" y="1248"/>
                <a:ext cx="48" cy="240"/>
              </a:xfrm>
              <a:prstGeom prst="rect">
                <a:avLst/>
              </a:prstGeom>
              <a:grpFill/>
              <a:ln w="9525">
                <a:solidFill>
                  <a:schemeClr val="tx1"/>
                </a:solidFill>
                <a:miter lim="800000"/>
                <a:headEnd/>
                <a:tailEnd/>
              </a:ln>
              <a:effectLst>
                <a:outerShdw dist="35921" dir="2700000" algn="ctr" rotWithShape="0">
                  <a:srgbClr val="808080"/>
                </a:outerShdw>
              </a:effec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grpSp>
          <p:nvGrpSpPr>
            <p:cNvPr id="11285" name="Group 21"/>
            <p:cNvGrpSpPr>
              <a:grpSpLocks/>
            </p:cNvGrpSpPr>
            <p:nvPr/>
          </p:nvGrpSpPr>
          <p:grpSpPr bwMode="auto">
            <a:xfrm>
              <a:off x="2160" y="1296"/>
              <a:ext cx="419" cy="288"/>
              <a:chOff x="2040" y="1248"/>
              <a:chExt cx="419" cy="288"/>
            </a:xfrm>
            <a:grpFill/>
          </p:grpSpPr>
          <p:sp>
            <p:nvSpPr>
              <p:cNvPr id="11286" name="Oval 43"/>
              <p:cNvSpPr>
                <a:spLocks noChangeArrowheads="1"/>
              </p:cNvSpPr>
              <p:nvPr/>
            </p:nvSpPr>
            <p:spPr bwMode="auto">
              <a:xfrm>
                <a:off x="2267" y="1248"/>
                <a:ext cx="192" cy="240"/>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11287" name="Oval 45"/>
              <p:cNvSpPr>
                <a:spLocks noChangeArrowheads="1"/>
              </p:cNvSpPr>
              <p:nvPr/>
            </p:nvSpPr>
            <p:spPr bwMode="auto">
              <a:xfrm>
                <a:off x="2040" y="1248"/>
                <a:ext cx="96"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540737" name="Rectangle 65"/>
              <p:cNvSpPr>
                <a:spLocks noChangeArrowheads="1"/>
              </p:cNvSpPr>
              <p:nvPr/>
            </p:nvSpPr>
            <p:spPr bwMode="auto">
              <a:xfrm>
                <a:off x="2171" y="1248"/>
                <a:ext cx="48" cy="240"/>
              </a:xfrm>
              <a:prstGeom prst="rect">
                <a:avLst/>
              </a:prstGeom>
              <a:grpFill/>
              <a:ln w="9525">
                <a:solidFill>
                  <a:schemeClr val="tx1"/>
                </a:solidFill>
                <a:miter lim="800000"/>
                <a:headEnd/>
                <a:tailEnd/>
              </a:ln>
              <a:effectLst>
                <a:outerShdw dist="35921" dir="2700000" algn="ctr" rotWithShape="0">
                  <a:srgbClr val="808080"/>
                </a:outerShdw>
              </a:effec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grpSp>
      <p:sp>
        <p:nvSpPr>
          <p:cNvPr id="11290" name="Line 26"/>
          <p:cNvSpPr>
            <a:spLocks noChangeShapeType="1"/>
          </p:cNvSpPr>
          <p:nvPr/>
        </p:nvSpPr>
        <p:spPr bwMode="auto">
          <a:xfrm>
            <a:off x="5000625" y="1676400"/>
            <a:ext cx="685800" cy="3048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1291" name="Line 27"/>
          <p:cNvSpPr>
            <a:spLocks noChangeShapeType="1"/>
          </p:cNvSpPr>
          <p:nvPr/>
        </p:nvSpPr>
        <p:spPr bwMode="auto">
          <a:xfrm flipH="1">
            <a:off x="6448426" y="1600200"/>
            <a:ext cx="638175" cy="2286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4" name="Text Box 1028">
            <a:extLst>
              <a:ext uri="{FF2B5EF4-FFF2-40B4-BE49-F238E27FC236}">
                <a16:creationId xmlns:a16="http://schemas.microsoft.com/office/drawing/2014/main" id="{134534B0-6B9B-054F-05D9-9AF57E476BA2}"/>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3295017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Date Placeholder 3"/>
          <p:cNvSpPr>
            <a:spLocks noGrp="1"/>
          </p:cNvSpPr>
          <p:nvPr>
            <p:ph type="dt" sz="half" idx="10"/>
          </p:nvPr>
        </p:nvSpPr>
        <p:spPr/>
        <p:txBody>
          <a:bodyPr/>
          <a:lstStyle/>
          <a:p>
            <a:r>
              <a:rPr lang="en-US">
                <a:solidFill>
                  <a:srgbClr val="000000"/>
                </a:solidFill>
                <a:latin typeface="Times"/>
              </a:rPr>
              <a:t>10 May 10</a:t>
            </a:r>
          </a:p>
        </p:txBody>
      </p:sp>
      <p:sp>
        <p:nvSpPr>
          <p:cNvPr id="36" name="Slide Number Placeholder 5"/>
          <p:cNvSpPr>
            <a:spLocks noGrp="1"/>
          </p:cNvSpPr>
          <p:nvPr>
            <p:ph type="sldNum" sz="quarter" idx="12"/>
          </p:nvPr>
        </p:nvSpPr>
        <p:spPr/>
        <p:txBody>
          <a:bodyPr/>
          <a:lstStyle/>
          <a:p>
            <a:fld id="{0ED5B9C0-C3B2-F14B-9BE8-CFE929070095}" type="slidenum">
              <a:rPr lang="en-US">
                <a:solidFill>
                  <a:srgbClr val="000000"/>
                </a:solidFill>
                <a:latin typeface="Times"/>
              </a:rPr>
              <a:pPr/>
              <a:t>61</a:t>
            </a:fld>
            <a:endParaRPr lang="en-US">
              <a:solidFill>
                <a:srgbClr val="000000"/>
              </a:solidFill>
              <a:latin typeface="Times"/>
            </a:endParaRPr>
          </a:p>
        </p:txBody>
      </p:sp>
      <p:sp>
        <p:nvSpPr>
          <p:cNvPr id="12290" name="Rectangle 2"/>
          <p:cNvSpPr>
            <a:spLocks noGrp="1" noChangeArrowheads="1"/>
          </p:cNvSpPr>
          <p:nvPr>
            <p:ph type="title"/>
          </p:nvPr>
        </p:nvSpPr>
        <p:spPr>
          <a:xfrm>
            <a:off x="2209800" y="228600"/>
            <a:ext cx="7772400" cy="1143000"/>
          </a:xfrm>
        </p:spPr>
        <p:txBody>
          <a:bodyPr/>
          <a:lstStyle/>
          <a:p>
            <a:r>
              <a:rPr lang="en-US"/>
              <a:t>Data Transfer</a:t>
            </a:r>
          </a:p>
        </p:txBody>
      </p:sp>
      <p:sp>
        <p:nvSpPr>
          <p:cNvPr id="12291" name="Rectangle 3"/>
          <p:cNvSpPr>
            <a:spLocks noGrp="1" noChangeArrowheads="1"/>
          </p:cNvSpPr>
          <p:nvPr>
            <p:ph type="body" idx="1"/>
          </p:nvPr>
        </p:nvSpPr>
        <p:spPr>
          <a:xfrm>
            <a:off x="2343150" y="5486400"/>
            <a:ext cx="7505700" cy="990600"/>
          </a:xfrm>
        </p:spPr>
        <p:txBody>
          <a:bodyPr/>
          <a:lstStyle/>
          <a:p>
            <a:r>
              <a:rPr lang="en-US"/>
              <a:t>The main path is simple, straightforward and potentially very fast </a:t>
            </a:r>
            <a:r>
              <a:rPr lang="en-US" sz="1600"/>
              <a:t>(see specifications for details).</a:t>
            </a:r>
            <a:endParaRPr lang="en-US"/>
          </a:p>
        </p:txBody>
      </p:sp>
      <p:grpSp>
        <p:nvGrpSpPr>
          <p:cNvPr id="12326" name="Group 38"/>
          <p:cNvGrpSpPr>
            <a:grpSpLocks/>
          </p:cNvGrpSpPr>
          <p:nvPr/>
        </p:nvGrpSpPr>
        <p:grpSpPr bwMode="auto">
          <a:xfrm>
            <a:off x="3505200" y="1200150"/>
            <a:ext cx="5276850" cy="4457700"/>
            <a:chOff x="1248" y="756"/>
            <a:chExt cx="3324" cy="2808"/>
          </a:xfrm>
        </p:grpSpPr>
        <p:sp>
          <p:nvSpPr>
            <p:cNvPr id="12294" name="Oval 6"/>
            <p:cNvSpPr>
              <a:spLocks noChangeArrowheads="1"/>
            </p:cNvSpPr>
            <p:nvPr/>
          </p:nvSpPr>
          <p:spPr bwMode="auto">
            <a:xfrm>
              <a:off x="2268" y="2916"/>
              <a:ext cx="1296" cy="288"/>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RMT</a:t>
              </a:r>
            </a:p>
          </p:txBody>
        </p:sp>
        <p:grpSp>
          <p:nvGrpSpPr>
            <p:cNvPr id="12325" name="Group 37"/>
            <p:cNvGrpSpPr>
              <a:grpSpLocks/>
            </p:cNvGrpSpPr>
            <p:nvPr/>
          </p:nvGrpSpPr>
          <p:grpSpPr bwMode="auto">
            <a:xfrm>
              <a:off x="1248" y="756"/>
              <a:ext cx="1632" cy="2808"/>
              <a:chOff x="1248" y="756"/>
              <a:chExt cx="1632" cy="2808"/>
            </a:xfrm>
          </p:grpSpPr>
          <p:sp>
            <p:nvSpPr>
              <p:cNvPr id="12296" name="Oval 8"/>
              <p:cNvSpPr>
                <a:spLocks noChangeArrowheads="1"/>
              </p:cNvSpPr>
              <p:nvPr/>
            </p:nvSpPr>
            <p:spPr bwMode="auto">
              <a:xfrm>
                <a:off x="2160" y="3191"/>
                <a:ext cx="504" cy="216"/>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CRC</a:t>
                </a:r>
              </a:p>
            </p:txBody>
          </p:sp>
          <p:sp>
            <p:nvSpPr>
              <p:cNvPr id="12297" name="Oval 9"/>
              <p:cNvSpPr>
                <a:spLocks noChangeArrowheads="1"/>
              </p:cNvSpPr>
              <p:nvPr/>
            </p:nvSpPr>
            <p:spPr bwMode="auto">
              <a:xfrm>
                <a:off x="1980" y="1488"/>
                <a:ext cx="900" cy="528"/>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Sequencing/</a:t>
                </a:r>
              </a:p>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Strip Delimiting Reassembly/</a:t>
                </a:r>
              </a:p>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Separation</a:t>
                </a:r>
              </a:p>
              <a:p>
                <a:pPr eaLnBrk="0" fontAlgn="base" hangingPunct="0">
                  <a:spcBef>
                    <a:spcPct val="0"/>
                  </a:spcBef>
                  <a:spcAft>
                    <a:spcPct val="0"/>
                  </a:spcAft>
                </a:pPr>
                <a:endParaRPr lang="en-US" sz="1000">
                  <a:solidFill>
                    <a:srgbClr val="000000"/>
                  </a:solidFill>
                  <a:latin typeface="Times New Roman" charset="0"/>
                  <a:ea typeface="ＭＳ Ｐゴシック" charset="0"/>
                  <a:cs typeface="ＭＳ Ｐゴシック" charset="0"/>
                </a:endParaRPr>
              </a:p>
            </p:txBody>
          </p:sp>
          <p:sp>
            <p:nvSpPr>
              <p:cNvPr id="12299" name="Rectangle 11"/>
              <p:cNvSpPr>
                <a:spLocks noChangeArrowheads="1"/>
              </p:cNvSpPr>
              <p:nvPr/>
            </p:nvSpPr>
            <p:spPr bwMode="auto">
              <a:xfrm>
                <a:off x="1344" y="1728"/>
                <a:ext cx="432" cy="72"/>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00" name="Text Box 12"/>
              <p:cNvSpPr txBox="1">
                <a:spLocks noChangeArrowheads="1"/>
              </p:cNvSpPr>
              <p:nvPr/>
            </p:nvSpPr>
            <p:spPr bwMode="auto">
              <a:xfrm>
                <a:off x="1248" y="1584"/>
                <a:ext cx="648" cy="144"/>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Reassmb/SeqQ</a:t>
                </a:r>
              </a:p>
            </p:txBody>
          </p:sp>
          <p:grpSp>
            <p:nvGrpSpPr>
              <p:cNvPr id="12301" name="Group 13"/>
              <p:cNvGrpSpPr>
                <a:grpSpLocks/>
              </p:cNvGrpSpPr>
              <p:nvPr/>
            </p:nvGrpSpPr>
            <p:grpSpPr bwMode="auto">
              <a:xfrm>
                <a:off x="2124" y="756"/>
                <a:ext cx="576" cy="288"/>
                <a:chOff x="3141" y="2164"/>
                <a:chExt cx="1440" cy="720"/>
              </a:xfrm>
            </p:grpSpPr>
            <p:sp>
              <p:nvSpPr>
                <p:cNvPr id="12302" name="Rectangle 14"/>
                <p:cNvSpPr>
                  <a:spLocks noChangeArrowheads="1"/>
                </p:cNvSpPr>
                <p:nvPr/>
              </p:nvSpPr>
              <p:spPr bwMode="auto">
                <a:xfrm>
                  <a:off x="3321" y="252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03" name="Text Box 15"/>
                <p:cNvSpPr txBox="1">
                  <a:spLocks noChangeArrowheads="1"/>
                </p:cNvSpPr>
                <p:nvPr/>
              </p:nvSpPr>
              <p:spPr bwMode="auto">
                <a:xfrm>
                  <a:off x="3141" y="2164"/>
                  <a:ext cx="1440" cy="7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InboundQ</a:t>
                  </a:r>
                </a:p>
              </p:txBody>
            </p:sp>
          </p:grpSp>
          <p:sp>
            <p:nvSpPr>
              <p:cNvPr id="12304" name="Line 16"/>
              <p:cNvSpPr>
                <a:spLocks noChangeShapeType="1"/>
              </p:cNvSpPr>
              <p:nvPr/>
            </p:nvSpPr>
            <p:spPr bwMode="auto">
              <a:xfrm flipH="1">
                <a:off x="1776" y="1776"/>
                <a:ext cx="216" cy="0"/>
              </a:xfrm>
              <a:prstGeom prst="line">
                <a:avLst/>
              </a:prstGeom>
              <a:noFill/>
              <a:ln w="19050">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05" name="Line 17"/>
              <p:cNvSpPr>
                <a:spLocks noChangeShapeType="1"/>
              </p:cNvSpPr>
              <p:nvPr/>
            </p:nvSpPr>
            <p:spPr bwMode="auto">
              <a:xfrm flipV="1">
                <a:off x="2412" y="972"/>
                <a:ext cx="0" cy="2592"/>
              </a:xfrm>
              <a:prstGeom prst="line">
                <a:avLst/>
              </a:prstGeom>
              <a:noFill/>
              <a:ln w="2857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2306" name="Group 18"/>
            <p:cNvGrpSpPr>
              <a:grpSpLocks/>
            </p:cNvGrpSpPr>
            <p:nvPr/>
          </p:nvGrpSpPr>
          <p:grpSpPr bwMode="auto">
            <a:xfrm>
              <a:off x="2844" y="900"/>
              <a:ext cx="1296" cy="2592"/>
              <a:chOff x="6381" y="2704"/>
              <a:chExt cx="3240" cy="6480"/>
            </a:xfrm>
          </p:grpSpPr>
          <p:sp>
            <p:nvSpPr>
              <p:cNvPr id="12307" name="Oval 19"/>
              <p:cNvSpPr>
                <a:spLocks noChangeArrowheads="1"/>
              </p:cNvSpPr>
              <p:nvPr/>
            </p:nvSpPr>
            <p:spPr bwMode="auto">
              <a:xfrm>
                <a:off x="6831" y="5404"/>
                <a:ext cx="1260" cy="540"/>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CRC</a:t>
                </a:r>
              </a:p>
            </p:txBody>
          </p:sp>
          <p:sp>
            <p:nvSpPr>
              <p:cNvPr id="12308" name="Oval 20"/>
              <p:cNvSpPr>
                <a:spLocks noChangeArrowheads="1"/>
              </p:cNvSpPr>
              <p:nvPr/>
            </p:nvSpPr>
            <p:spPr bwMode="auto">
              <a:xfrm>
                <a:off x="6381" y="2884"/>
                <a:ext cx="2160" cy="720"/>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Delimit SDU</a:t>
                </a:r>
              </a:p>
            </p:txBody>
          </p:sp>
          <p:sp>
            <p:nvSpPr>
              <p:cNvPr id="12309" name="Oval 21"/>
              <p:cNvSpPr>
                <a:spLocks noChangeArrowheads="1"/>
              </p:cNvSpPr>
              <p:nvPr/>
            </p:nvSpPr>
            <p:spPr bwMode="auto">
              <a:xfrm>
                <a:off x="6381" y="3604"/>
                <a:ext cx="2160" cy="900"/>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Fragment/ Concatenate</a:t>
                </a:r>
              </a:p>
            </p:txBody>
          </p:sp>
          <p:sp>
            <p:nvSpPr>
              <p:cNvPr id="12310" name="Oval 22"/>
              <p:cNvSpPr>
                <a:spLocks noChangeArrowheads="1"/>
              </p:cNvSpPr>
              <p:nvPr/>
            </p:nvSpPr>
            <p:spPr bwMode="auto">
              <a:xfrm>
                <a:off x="6381" y="4504"/>
                <a:ext cx="2160" cy="900"/>
              </a:xfrm>
              <a:prstGeom prst="ellipse">
                <a:avLst/>
              </a:prstGeom>
              <a:noFill/>
              <a:ln w="9525">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Sequence/</a:t>
                </a:r>
              </a:p>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Address</a:t>
                </a:r>
              </a:p>
            </p:txBody>
          </p:sp>
          <p:grpSp>
            <p:nvGrpSpPr>
              <p:cNvPr id="12311" name="Group 23"/>
              <p:cNvGrpSpPr>
                <a:grpSpLocks/>
              </p:cNvGrpSpPr>
              <p:nvPr/>
            </p:nvGrpSpPr>
            <p:grpSpPr bwMode="auto">
              <a:xfrm>
                <a:off x="8361" y="6844"/>
                <a:ext cx="1260" cy="540"/>
                <a:chOff x="5301" y="5944"/>
                <a:chExt cx="1260" cy="540"/>
              </a:xfrm>
            </p:grpSpPr>
            <p:sp>
              <p:nvSpPr>
                <p:cNvPr id="12312" name="Rectangle 24"/>
                <p:cNvSpPr>
                  <a:spLocks noChangeArrowheads="1"/>
                </p:cNvSpPr>
                <p:nvPr/>
              </p:nvSpPr>
              <p:spPr bwMode="auto">
                <a:xfrm>
                  <a:off x="5352" y="6220"/>
                  <a:ext cx="90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13" name="Text Box 25"/>
                <p:cNvSpPr txBox="1">
                  <a:spLocks noChangeArrowheads="1"/>
                </p:cNvSpPr>
                <p:nvPr/>
              </p:nvSpPr>
              <p:spPr bwMode="auto">
                <a:xfrm>
                  <a:off x="5301" y="5944"/>
                  <a:ext cx="1260" cy="5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RexmsnQ</a:t>
                  </a:r>
                </a:p>
              </p:txBody>
            </p:sp>
          </p:grpSp>
          <p:sp>
            <p:nvSpPr>
              <p:cNvPr id="12314" name="Line 26"/>
              <p:cNvSpPr>
                <a:spLocks noChangeShapeType="1"/>
              </p:cNvSpPr>
              <p:nvPr/>
            </p:nvSpPr>
            <p:spPr bwMode="auto">
              <a:xfrm>
                <a:off x="7461" y="7204"/>
                <a:ext cx="900" cy="0"/>
              </a:xfrm>
              <a:prstGeom prst="line">
                <a:avLst/>
              </a:prstGeom>
              <a:noFill/>
              <a:ln w="2857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15" name="Line 27"/>
              <p:cNvSpPr>
                <a:spLocks noChangeShapeType="1"/>
              </p:cNvSpPr>
              <p:nvPr/>
            </p:nvSpPr>
            <p:spPr bwMode="auto">
              <a:xfrm>
                <a:off x="7461" y="2704"/>
                <a:ext cx="0" cy="6480"/>
              </a:xfrm>
              <a:prstGeom prst="line">
                <a:avLst/>
              </a:prstGeom>
              <a:noFill/>
              <a:ln w="2857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16" name="Line 28"/>
              <p:cNvSpPr>
                <a:spLocks noChangeShapeType="1"/>
              </p:cNvSpPr>
              <p:nvPr/>
            </p:nvSpPr>
            <p:spPr bwMode="auto">
              <a:xfrm>
                <a:off x="7461" y="6124"/>
                <a:ext cx="900" cy="0"/>
              </a:xfrm>
              <a:prstGeom prst="line">
                <a:avLst/>
              </a:prstGeom>
              <a:noFill/>
              <a:ln w="2857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nvGrpSpPr>
              <p:cNvPr id="12317" name="Group 29"/>
              <p:cNvGrpSpPr>
                <a:grpSpLocks/>
              </p:cNvGrpSpPr>
              <p:nvPr/>
            </p:nvGrpSpPr>
            <p:grpSpPr bwMode="auto">
              <a:xfrm>
                <a:off x="8361" y="5764"/>
                <a:ext cx="1260" cy="540"/>
                <a:chOff x="5301" y="5944"/>
                <a:chExt cx="1260" cy="540"/>
              </a:xfrm>
            </p:grpSpPr>
            <p:sp>
              <p:nvSpPr>
                <p:cNvPr id="12318" name="Rectangle 30"/>
                <p:cNvSpPr>
                  <a:spLocks noChangeArrowheads="1"/>
                </p:cNvSpPr>
                <p:nvPr/>
              </p:nvSpPr>
              <p:spPr bwMode="auto">
                <a:xfrm>
                  <a:off x="5352" y="6220"/>
                  <a:ext cx="90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19" name="Text Box 31"/>
                <p:cNvSpPr txBox="1">
                  <a:spLocks noChangeArrowheads="1"/>
                </p:cNvSpPr>
                <p:nvPr/>
              </p:nvSpPr>
              <p:spPr bwMode="auto">
                <a:xfrm>
                  <a:off x="5301" y="5944"/>
                  <a:ext cx="1260" cy="5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ClsdWinQ</a:t>
                  </a:r>
                </a:p>
              </p:txBody>
            </p:sp>
          </p:grpSp>
          <p:sp>
            <p:nvSpPr>
              <p:cNvPr id="12320" name="Line 32"/>
              <p:cNvSpPr>
                <a:spLocks noChangeShapeType="1"/>
              </p:cNvSpPr>
              <p:nvPr/>
            </p:nvSpPr>
            <p:spPr bwMode="auto">
              <a:xfrm flipH="1">
                <a:off x="7461" y="6304"/>
                <a:ext cx="1260" cy="360"/>
              </a:xfrm>
              <a:prstGeom prst="line">
                <a:avLst/>
              </a:prstGeom>
              <a:noFill/>
              <a:ln w="2857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12321" name="Line 33"/>
            <p:cNvSpPr>
              <a:spLocks noChangeShapeType="1"/>
            </p:cNvSpPr>
            <p:nvPr/>
          </p:nvSpPr>
          <p:spPr bwMode="auto">
            <a:xfrm>
              <a:off x="2412" y="2844"/>
              <a:ext cx="1728" cy="0"/>
            </a:xfrm>
            <a:prstGeom prst="line">
              <a:avLst/>
            </a:prstGeom>
            <a:noFill/>
            <a:ln w="2857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2322" name="Text Box 34"/>
            <p:cNvSpPr txBox="1">
              <a:spLocks noChangeArrowheads="1"/>
            </p:cNvSpPr>
            <p:nvPr/>
          </p:nvSpPr>
          <p:spPr bwMode="auto">
            <a:xfrm>
              <a:off x="4140" y="2700"/>
              <a:ext cx="432"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DTCP PDUs</a:t>
              </a:r>
            </a:p>
          </p:txBody>
        </p:sp>
      </p:grpSp>
      <p:sp>
        <p:nvSpPr>
          <p:cNvPr id="12327" name="Rectangle 39"/>
          <p:cNvSpPr>
            <a:spLocks noChangeArrowheads="1"/>
          </p:cNvSpPr>
          <p:nvPr/>
        </p:nvSpPr>
        <p:spPr bwMode="auto">
          <a:xfrm>
            <a:off x="4416425" y="2435225"/>
            <a:ext cx="18415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 name="Text Box 1028">
            <a:extLst>
              <a:ext uri="{FF2B5EF4-FFF2-40B4-BE49-F238E27FC236}">
                <a16:creationId xmlns:a16="http://schemas.microsoft.com/office/drawing/2014/main" id="{5BDECF4F-4EF6-E8ED-DADC-5ED0D702D641}"/>
              </a:ext>
            </a:extLst>
          </p:cNvPr>
          <p:cNvSpPr txBox="1">
            <a:spLocks noChangeArrowheads="1"/>
          </p:cNvSpPr>
          <p:nvPr/>
        </p:nvSpPr>
        <p:spPr bwMode="auto">
          <a:xfrm>
            <a:off x="7785100" y="6181628"/>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450202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1538BA46-6BED-974B-A3EF-194CC5D51CBA}" type="slidenum">
              <a:rPr lang="en-US">
                <a:solidFill>
                  <a:srgbClr val="000000"/>
                </a:solidFill>
                <a:latin typeface="Times"/>
              </a:rPr>
              <a:pPr/>
              <a:t>62</a:t>
            </a:fld>
            <a:endParaRPr lang="en-US">
              <a:solidFill>
                <a:srgbClr val="000000"/>
              </a:solidFill>
              <a:latin typeface="Times"/>
            </a:endParaRPr>
          </a:p>
        </p:txBody>
      </p:sp>
      <p:sp>
        <p:nvSpPr>
          <p:cNvPr id="15362" name="Rectangle 2"/>
          <p:cNvSpPr>
            <a:spLocks noGrp="1" noChangeArrowheads="1"/>
          </p:cNvSpPr>
          <p:nvPr>
            <p:ph type="title"/>
          </p:nvPr>
        </p:nvSpPr>
        <p:spPr>
          <a:xfrm>
            <a:off x="2209800" y="304800"/>
            <a:ext cx="7772400" cy="1143000"/>
          </a:xfrm>
        </p:spPr>
        <p:txBody>
          <a:bodyPr/>
          <a:lstStyle/>
          <a:p>
            <a:r>
              <a:rPr lang="en-US" dirty="0"/>
              <a:t>Data Transfer PDU</a:t>
            </a:r>
          </a:p>
        </p:txBody>
      </p:sp>
      <p:sp>
        <p:nvSpPr>
          <p:cNvPr id="15368" name="Rectangle 8"/>
          <p:cNvSpPr>
            <a:spLocks noGrp="1" noChangeArrowheads="1"/>
          </p:cNvSpPr>
          <p:nvPr>
            <p:ph type="body" idx="1"/>
          </p:nvPr>
        </p:nvSpPr>
        <p:spPr>
          <a:xfrm>
            <a:off x="3009900" y="1295400"/>
            <a:ext cx="6172200" cy="4267200"/>
          </a:xfrm>
        </p:spPr>
        <p:txBody>
          <a:bodyPr>
            <a:normAutofit fontScale="92500" lnSpcReduction="20000"/>
          </a:bodyPr>
          <a:lstStyle/>
          <a:p>
            <a:pPr marL="292100" indent="-292100"/>
            <a:r>
              <a:rPr lang="en-US" sz="1600" dirty="0">
                <a:latin typeface="Times New Roman" charset="0"/>
              </a:rPr>
              <a:t>DIF Wide Parameters</a:t>
            </a:r>
          </a:p>
          <a:p>
            <a:pPr marL="635000" lvl="1" indent="-292100"/>
            <a:r>
              <a:rPr lang="en-US" sz="1200" b="1" dirty="0" err="1"/>
              <a:t>QoS</a:t>
            </a:r>
            <a:r>
              <a:rPr lang="en-US" sz="1200" b="1" dirty="0"/>
              <a:t>-Cube-identifiers</a:t>
            </a:r>
            <a:r>
              <a:rPr lang="en-US" sz="1200" dirty="0"/>
              <a:t> – While it might be nice if </a:t>
            </a:r>
            <a:r>
              <a:rPr lang="en-US" sz="1200" dirty="0" err="1"/>
              <a:t>QoS</a:t>
            </a:r>
            <a:r>
              <a:rPr lang="en-US" sz="1200" dirty="0"/>
              <a:t>-Cube-ids were globally unambiguous, there is no reason that they have to be.  </a:t>
            </a:r>
          </a:p>
          <a:p>
            <a:pPr marL="635000" lvl="1" indent="-292100"/>
            <a:r>
              <a:rPr lang="en-US" sz="1200" b="1" dirty="0"/>
              <a:t>Max-SDU-Size</a:t>
            </a:r>
            <a:r>
              <a:rPr lang="en-US" sz="1200" dirty="0"/>
              <a:t>: Unsigned – This parameter may be restricted by specific </a:t>
            </a:r>
            <a:r>
              <a:rPr lang="en-US" sz="1200" dirty="0" err="1"/>
              <a:t>QoS</a:t>
            </a:r>
            <a:r>
              <a:rPr lang="en-US" sz="1200" dirty="0"/>
              <a:t>-cubes or even specific flows to a smaller value but not to a larger value.</a:t>
            </a:r>
          </a:p>
          <a:p>
            <a:pPr marL="635000" lvl="1" indent="-292100"/>
            <a:r>
              <a:rPr lang="en-US" sz="1200" b="1" dirty="0"/>
              <a:t>Max-PDU-Size</a:t>
            </a:r>
            <a:r>
              <a:rPr lang="en-US" sz="1200" dirty="0"/>
              <a:t>: Unsigned</a:t>
            </a:r>
          </a:p>
          <a:p>
            <a:pPr marL="635000" lvl="1" indent="-292100"/>
            <a:r>
              <a:rPr lang="en-US" sz="1200" b="1" dirty="0"/>
              <a:t>Maximum Packet Lifetime, MPL -  </a:t>
            </a:r>
            <a:r>
              <a:rPr lang="en-US" sz="1200" dirty="0"/>
              <a:t>This parameter is set for the DIF based on the longest acyclic path in the graph of the DIF.</a:t>
            </a:r>
          </a:p>
          <a:p>
            <a:pPr marL="234950" indent="-292100"/>
            <a:r>
              <a:rPr lang="en-US" sz="1600" dirty="0">
                <a:latin typeface="Times New Roman" charset="0"/>
              </a:rPr>
              <a:t>Data Transfer PDU abstract syntax</a:t>
            </a:r>
          </a:p>
          <a:p>
            <a:pPr marL="692150" lvl="1" indent="-292100"/>
            <a:r>
              <a:rPr lang="en-US" sz="1400" dirty="0">
                <a:latin typeface="Times New Roman" charset="0"/>
              </a:rPr>
              <a:t>Version: 8 Bit</a:t>
            </a:r>
          </a:p>
          <a:p>
            <a:pPr marL="692150" lvl="1" indent="-292100"/>
            <a:r>
              <a:rPr lang="en-US" sz="1400" dirty="0">
                <a:latin typeface="Times New Roman" charset="0"/>
              </a:rPr>
              <a:t>Destination-Address: </a:t>
            </a:r>
            <a:r>
              <a:rPr lang="en-US" sz="1400" dirty="0" err="1">
                <a:latin typeface="Times New Roman" charset="0"/>
              </a:rPr>
              <a:t>Addr</a:t>
            </a:r>
            <a:r>
              <a:rPr lang="en-US" sz="1400" dirty="0">
                <a:latin typeface="Times New Roman" charset="0"/>
              </a:rPr>
              <a:t>-Length</a:t>
            </a:r>
          </a:p>
          <a:p>
            <a:pPr marL="692150" lvl="1" indent="-292100"/>
            <a:r>
              <a:rPr lang="en-US" sz="1400" dirty="0">
                <a:latin typeface="Times New Roman" charset="0"/>
              </a:rPr>
              <a:t>Source-Address: </a:t>
            </a:r>
            <a:r>
              <a:rPr lang="en-US" sz="1400" dirty="0" err="1">
                <a:latin typeface="Times New Roman" charset="0"/>
              </a:rPr>
              <a:t>Addr</a:t>
            </a:r>
            <a:r>
              <a:rPr lang="en-US" sz="1400" dirty="0">
                <a:latin typeface="Times New Roman" charset="0"/>
              </a:rPr>
              <a:t>-Length</a:t>
            </a:r>
          </a:p>
          <a:p>
            <a:pPr marL="692150" lvl="1" indent="-292100"/>
            <a:r>
              <a:rPr lang="en-US" sz="1400" dirty="0">
                <a:latin typeface="Times New Roman" charset="0"/>
              </a:rPr>
              <a:t>Connection-id:  </a:t>
            </a:r>
            <a:r>
              <a:rPr lang="en-US" sz="1400" dirty="0" err="1">
                <a:latin typeface="Times New Roman" charset="0"/>
              </a:rPr>
              <a:t>Struct</a:t>
            </a:r>
            <a:endParaRPr lang="en-US" sz="1400" dirty="0">
              <a:latin typeface="Times New Roman" charset="0"/>
            </a:endParaRPr>
          </a:p>
          <a:p>
            <a:pPr marL="1149350" lvl="3" indent="-292100"/>
            <a:r>
              <a:rPr lang="en-US" sz="1200" dirty="0">
                <a:latin typeface="Times New Roman" charset="0"/>
              </a:rPr>
              <a:t>QoS-cube-id: 8 Bit</a:t>
            </a:r>
          </a:p>
          <a:p>
            <a:pPr marL="1149350" lvl="3" indent="-292100"/>
            <a:r>
              <a:rPr lang="en-US" sz="1200" dirty="0">
                <a:latin typeface="Times New Roman" charset="0"/>
              </a:rPr>
              <a:t>Destination-CEP-id: Port-id-Length</a:t>
            </a:r>
          </a:p>
          <a:p>
            <a:pPr marL="1149350" lvl="3" indent="-292100"/>
            <a:r>
              <a:rPr lang="en-US" sz="1200" dirty="0">
                <a:latin typeface="Times New Roman" charset="0"/>
              </a:rPr>
              <a:t>Source-CEP-id: Port-id-length</a:t>
            </a:r>
          </a:p>
          <a:p>
            <a:pPr marL="692150" lvl="1" indent="-292100"/>
            <a:r>
              <a:rPr lang="en-US" sz="1400" dirty="0" err="1">
                <a:latin typeface="Times New Roman" charset="0"/>
              </a:rPr>
              <a:t>PDUType</a:t>
            </a:r>
            <a:r>
              <a:rPr lang="en-US" sz="1400" dirty="0">
                <a:latin typeface="Times New Roman" charset="0"/>
              </a:rPr>
              <a:t>: 8 bits</a:t>
            </a:r>
          </a:p>
          <a:p>
            <a:pPr marL="692150" lvl="1" indent="-292100"/>
            <a:r>
              <a:rPr lang="en-US" sz="1400" dirty="0">
                <a:latin typeface="Times New Roman" charset="0"/>
              </a:rPr>
              <a:t>Flags: 8 bits</a:t>
            </a:r>
          </a:p>
          <a:p>
            <a:pPr marL="692150" lvl="1" indent="-292100"/>
            <a:r>
              <a:rPr lang="en-US" sz="1400" dirty="0">
                <a:latin typeface="Times New Roman" charset="0"/>
              </a:rPr>
              <a:t>PDU-Length: </a:t>
            </a:r>
            <a:r>
              <a:rPr lang="en-US" sz="1400" dirty="0" err="1">
                <a:latin typeface="Times New Roman" charset="0"/>
              </a:rPr>
              <a:t>LengthLength</a:t>
            </a:r>
            <a:endParaRPr lang="en-US" sz="1400" dirty="0">
              <a:latin typeface="Times New Roman" charset="0"/>
            </a:endParaRPr>
          </a:p>
          <a:p>
            <a:pPr marL="692150" lvl="1" indent="-292100"/>
            <a:r>
              <a:rPr lang="en-US" sz="1400" dirty="0" err="1">
                <a:latin typeface="Times New Roman" charset="0"/>
              </a:rPr>
              <a:t>SequenceNumber</a:t>
            </a:r>
            <a:r>
              <a:rPr lang="en-US" sz="1400" dirty="0">
                <a:latin typeface="Times New Roman" charset="0"/>
              </a:rPr>
              <a:t>:  </a:t>
            </a:r>
            <a:r>
              <a:rPr lang="en-US" sz="1400" dirty="0" err="1">
                <a:latin typeface="Times New Roman" charset="0"/>
              </a:rPr>
              <a:t>SequenceNumberlength</a:t>
            </a:r>
            <a:endParaRPr lang="en-US" sz="1400" dirty="0">
              <a:latin typeface="Times New Roman" charset="0"/>
            </a:endParaRPr>
          </a:p>
          <a:p>
            <a:pPr marL="692150" lvl="1" indent="-292100"/>
            <a:r>
              <a:rPr lang="en-US" sz="1400" dirty="0">
                <a:latin typeface="Times New Roman" charset="0"/>
              </a:rPr>
              <a:t>Sequence User-Data{</a:t>
            </a:r>
            <a:r>
              <a:rPr lang="en-US" sz="1400" dirty="0" err="1">
                <a:latin typeface="Times New Roman" charset="0"/>
              </a:rPr>
              <a:t>DelimitedSDU</a:t>
            </a:r>
            <a:r>
              <a:rPr lang="en-US" sz="1400" dirty="0">
                <a:latin typeface="Times New Roman" charset="0"/>
              </a:rPr>
              <a:t>* | </a:t>
            </a:r>
            <a:r>
              <a:rPr lang="en-US" sz="1400" dirty="0" err="1">
                <a:latin typeface="Times New Roman" charset="0"/>
              </a:rPr>
              <a:t>SDUFrag</a:t>
            </a:r>
            <a:r>
              <a:rPr lang="en-US" sz="1400" dirty="0">
                <a:latin typeface="Times New Roman" charset="0"/>
              </a:rPr>
              <a:t>}</a:t>
            </a:r>
          </a:p>
          <a:p>
            <a:pPr marL="292100" indent="-292100"/>
            <a:endParaRPr lang="en-US" sz="1400" dirty="0">
              <a:latin typeface="Times New Roman" charset="0"/>
            </a:endParaRPr>
          </a:p>
        </p:txBody>
      </p:sp>
      <p:sp>
        <p:nvSpPr>
          <p:cNvPr id="2" name="Text Box 1028">
            <a:extLst>
              <a:ext uri="{FF2B5EF4-FFF2-40B4-BE49-F238E27FC236}">
                <a16:creationId xmlns:a16="http://schemas.microsoft.com/office/drawing/2014/main" id="{7F322399-ACDC-2152-64AC-A7EA218C68ED}"/>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7102561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Policy</a:t>
            </a:r>
          </a:p>
        </p:txBody>
      </p:sp>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5" name="Slide Number Placeholder 4"/>
          <p:cNvSpPr>
            <a:spLocks noGrp="1"/>
          </p:cNvSpPr>
          <p:nvPr>
            <p:ph type="sldNum" sz="quarter" idx="12"/>
          </p:nvPr>
        </p:nvSpPr>
        <p:spPr/>
        <p:txBody>
          <a:bodyPr/>
          <a:lstStyle/>
          <a:p>
            <a:fld id="{DFAAB3BC-B603-B648-8332-6B171255E696}" type="slidenum">
              <a:rPr lang="en-US" smtClean="0">
                <a:solidFill>
                  <a:srgbClr val="000000"/>
                </a:solidFill>
                <a:latin typeface="Times"/>
              </a:rPr>
              <a:pPr/>
              <a:t>63</a:t>
            </a:fld>
            <a:endParaRPr lang="en-US">
              <a:solidFill>
                <a:srgbClr val="000000"/>
              </a:solidFill>
              <a:latin typeface="Times"/>
            </a:endParaRPr>
          </a:p>
        </p:txBody>
      </p:sp>
      <p:sp>
        <p:nvSpPr>
          <p:cNvPr id="6" name="Rectangle 5"/>
          <p:cNvSpPr/>
          <p:nvPr/>
        </p:nvSpPr>
        <p:spPr>
          <a:xfrm>
            <a:off x="3048000" y="1752600"/>
            <a:ext cx="6261100" cy="4401204"/>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Policy Name(parameter list);</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Begin</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&lt;Determine whether the action of the policy should augment the default action or override the default.  If the former, set the &lt;Policy flag&gt; := True, if the latter, set the &lt;Policy Flag&gt;:=False.&gt;</a:t>
            </a:r>
          </a:p>
          <a:p>
            <a:r>
              <a:rPr lang="en-US" sz="1400" b="1" dirty="0">
                <a:latin typeface="Times New Roman" panose="02020603050405020304" pitchFamily="18" charset="0"/>
                <a:cs typeface="Times New Roman" panose="02020603050405020304" pitchFamily="18" charset="0"/>
              </a:rPr>
              <a:t>If </a:t>
            </a:r>
            <a:r>
              <a:rPr lang="en-US" sz="1400" dirty="0">
                <a:latin typeface="Times New Roman" panose="02020603050405020304" pitchFamily="18" charset="0"/>
                <a:cs typeface="Times New Roman" panose="02020603050405020304" pitchFamily="18" charset="0"/>
              </a:rPr>
              <a:t>&lt;Policy Flag&gt; </a:t>
            </a:r>
            <a:r>
              <a:rPr lang="en-US" sz="1400" b="1" dirty="0">
                <a:latin typeface="Times New Roman" panose="02020603050405020304" pitchFamily="18" charset="0"/>
                <a:cs typeface="Times New Roman" panose="02020603050405020304" pitchFamily="18" charset="0"/>
              </a:rPr>
              <a:t>Then </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&lt;Preliminary action specified by the policy&gt;</a:t>
            </a:r>
          </a:p>
          <a:p>
            <a:r>
              <a:rPr lang="en-US" sz="1400" dirty="0">
                <a:latin typeface="Times New Roman" panose="02020603050405020304" pitchFamily="18" charset="0"/>
                <a:cs typeface="Times New Roman" panose="02020603050405020304" pitchFamily="18" charset="0"/>
              </a:rPr>
              <a:t>&lt;</a:t>
            </a:r>
            <a:r>
              <a:rPr lang="en-US" sz="1400" b="1" dirty="0">
                <a:latin typeface="Times New Roman" panose="02020603050405020304" pitchFamily="18" charset="0"/>
                <a:cs typeface="Times New Roman" panose="02020603050405020304" pitchFamily="18" charset="0"/>
              </a:rPr>
              <a:t>Default action as specified in this document</a:t>
            </a:r>
            <a:r>
              <a:rPr lang="en-US" sz="1400" dirty="0">
                <a:latin typeface="Times New Roman" panose="02020603050405020304" pitchFamily="18" charset="0"/>
                <a:cs typeface="Times New Roman" panose="02020603050405020304" pitchFamily="18" charset="0"/>
              </a:rPr>
              <a:t>&gt;</a:t>
            </a:r>
          </a:p>
          <a:p>
            <a:r>
              <a:rPr lang="en-US" sz="1400" dirty="0">
                <a:latin typeface="Times New Roman" panose="02020603050405020304" pitchFamily="18" charset="0"/>
                <a:cs typeface="Times New Roman" panose="02020603050405020304" pitchFamily="18" charset="0"/>
              </a:rPr>
              <a:t>&lt;Policy Augment action specified by the policy &gt;</a:t>
            </a:r>
          </a:p>
          <a:p>
            <a:r>
              <a:rPr lang="en-US" sz="1400" b="1" dirty="0">
                <a:latin typeface="Times New Roman" panose="02020603050405020304" pitchFamily="18" charset="0"/>
                <a:cs typeface="Times New Roman" panose="02020603050405020304" pitchFamily="18" charset="0"/>
              </a:rPr>
              <a:t>Else</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&lt;Policy Override action specified by the policy &gt;</a:t>
            </a:r>
          </a:p>
          <a:p>
            <a:r>
              <a:rPr lang="en-US" sz="1400" b="1" dirty="0">
                <a:latin typeface="Times New Roman" panose="02020603050405020304" pitchFamily="18" charset="0"/>
                <a:cs typeface="Times New Roman" panose="02020603050405020304" pitchFamily="18" charset="0"/>
              </a:rPr>
              <a:t>Fi</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End Policy;</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 policy may only reference the state variables defined by this specification and the parameters specified by the management objects to instrument EFCP.  Policies may define both </a:t>
            </a:r>
            <a:r>
              <a:rPr lang="en-US" sz="1400" i="1" dirty="0">
                <a:latin typeface="Times New Roman" panose="02020603050405020304" pitchFamily="18" charset="0"/>
                <a:cs typeface="Times New Roman" panose="02020603050405020304" pitchFamily="18" charset="0"/>
              </a:rPr>
              <a:t>local</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own</a:t>
            </a:r>
            <a:r>
              <a:rPr lang="en-US" sz="1400" dirty="0">
                <a:latin typeface="Times New Roman" panose="02020603050405020304" pitchFamily="18" charset="0"/>
                <a:cs typeface="Times New Roman" panose="02020603050405020304" pitchFamily="18" charset="0"/>
              </a:rPr>
              <a:t> variables.  Local variables are assumed to be new instantiations on each call, while own variables retain their value between calls. The latter allows a policy to maintain state, if necessary.  An optional parameter list may be present.  The parameters used should be variables internal to the policy.</a:t>
            </a:r>
          </a:p>
        </p:txBody>
      </p:sp>
      <p:sp>
        <p:nvSpPr>
          <p:cNvPr id="3" name="Text Box 1028">
            <a:extLst>
              <a:ext uri="{FF2B5EF4-FFF2-40B4-BE49-F238E27FC236}">
                <a16:creationId xmlns:a16="http://schemas.microsoft.com/office/drawing/2014/main" id="{D36ADA3F-5EA4-F132-36B2-6C06E21A991E}"/>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40323861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DB6A37C3-45FB-B040-983B-EBD89D39B49F}" type="slidenum">
              <a:rPr lang="en-US">
                <a:solidFill>
                  <a:srgbClr val="000000"/>
                </a:solidFill>
                <a:latin typeface="Times"/>
              </a:rPr>
              <a:pPr/>
              <a:t>64</a:t>
            </a:fld>
            <a:endParaRPr lang="en-US">
              <a:solidFill>
                <a:srgbClr val="000000"/>
              </a:solidFill>
              <a:latin typeface="Times"/>
            </a:endParaRPr>
          </a:p>
        </p:txBody>
      </p:sp>
      <p:sp>
        <p:nvSpPr>
          <p:cNvPr id="14338" name="Rectangle 2"/>
          <p:cNvSpPr>
            <a:spLocks noGrp="1" noChangeArrowheads="1"/>
          </p:cNvSpPr>
          <p:nvPr>
            <p:ph type="title"/>
          </p:nvPr>
        </p:nvSpPr>
        <p:spPr>
          <a:xfrm>
            <a:off x="2209800" y="228600"/>
            <a:ext cx="7772400" cy="1143000"/>
          </a:xfrm>
        </p:spPr>
        <p:txBody>
          <a:bodyPr/>
          <a:lstStyle/>
          <a:p>
            <a:r>
              <a:rPr lang="en-US" dirty="0"/>
              <a:t>Data Transfer Policies</a:t>
            </a:r>
          </a:p>
        </p:txBody>
      </p:sp>
      <p:sp>
        <p:nvSpPr>
          <p:cNvPr id="14340" name="Rectangle 4"/>
          <p:cNvSpPr>
            <a:spLocks noGrp="1" noChangeArrowheads="1"/>
          </p:cNvSpPr>
          <p:nvPr>
            <p:ph type="body" idx="1"/>
          </p:nvPr>
        </p:nvSpPr>
        <p:spPr>
          <a:xfrm>
            <a:off x="2209800" y="1219200"/>
            <a:ext cx="7988300" cy="4114800"/>
          </a:xfrm>
          <a:noFill/>
          <a:ln/>
        </p:spPr>
        <p:txBody>
          <a:bodyPr>
            <a:normAutofit fontScale="92500" lnSpcReduction="10000"/>
          </a:bodyPr>
          <a:lstStyle/>
          <a:p>
            <a:r>
              <a:rPr lang="en-US" sz="1400" b="1" dirty="0"/>
              <a:t>Unknown Flow Policy</a:t>
            </a:r>
            <a:r>
              <a:rPr lang="en-US" sz="1400" dirty="0"/>
              <a:t> – When a PDU arrives for a Data Transfer Flow terminating in this IPC-Process and there is no active DTSV, this policy consults the </a:t>
            </a:r>
            <a:r>
              <a:rPr lang="en-US" sz="1400" dirty="0" err="1"/>
              <a:t>ResourceAllocator</a:t>
            </a:r>
            <a:r>
              <a:rPr lang="en-US" sz="1400" dirty="0"/>
              <a:t> to determine what to do. </a:t>
            </a:r>
            <a:endParaRPr lang="en-US" sz="1400" b="1" i="1" dirty="0"/>
          </a:p>
          <a:p>
            <a:r>
              <a:rPr lang="en-US" sz="1400" b="1" dirty="0" err="1"/>
              <a:t>RcvrTimerInactivity</a:t>
            </a:r>
            <a:r>
              <a:rPr lang="en-US" sz="1400" b="1" dirty="0"/>
              <a:t> Policy</a:t>
            </a:r>
            <a:r>
              <a:rPr lang="en-US" sz="1400" dirty="0"/>
              <a:t> – this policy is used when DTCP is in use.  If no PDUs arrive in this time period, the receiver should expect a DRF in the next Transfer PDU.  If not, something is very wrong. The timeout value should generally be set to 3(MPL+R+A).</a:t>
            </a:r>
            <a:endParaRPr lang="en-US" sz="1400" b="1" i="1" dirty="0"/>
          </a:p>
          <a:p>
            <a:r>
              <a:rPr lang="en-US" sz="1400" b="1" dirty="0" err="1"/>
              <a:t>SenderInactivityTimer</a:t>
            </a:r>
            <a:r>
              <a:rPr lang="en-US" sz="1400" b="1" dirty="0"/>
              <a:t> Policy</a:t>
            </a:r>
            <a:r>
              <a:rPr lang="en-US" sz="1400" dirty="0"/>
              <a:t> – this policy is used when DTCP is in use. This timer is used to detect long periods of no traffic, indicating that a DRF should be sent.  If not, something is very wrong. The timeout value should generally be set to 2(MPL+R+A).</a:t>
            </a:r>
            <a:endParaRPr lang="en-US" sz="1400" b="1" i="1" dirty="0"/>
          </a:p>
          <a:p>
            <a:r>
              <a:rPr lang="en-US" sz="1400" b="1" dirty="0"/>
              <a:t>Closed Window Policy</a:t>
            </a:r>
            <a:r>
              <a:rPr lang="en-US" sz="1400" dirty="0"/>
              <a:t> – this policy is used with flow control to determine the action to be taken when the receiver has not extended more credit to allow the sender to send more PDUs.  Typically, the action will be to queue the PDUs until credit is extended.  This action is taken by DTCP, not DTP.</a:t>
            </a:r>
            <a:endParaRPr lang="en-US" sz="1400" b="1" i="1" dirty="0"/>
          </a:p>
          <a:p>
            <a:r>
              <a:rPr lang="en-US" sz="1400" b="1" dirty="0"/>
              <a:t>Transmission Control Policy</a:t>
            </a:r>
            <a:r>
              <a:rPr lang="en-US" sz="1400" dirty="0"/>
              <a:t> – this policy is used when there are conditions that warrant sending fewer PDUs than allowed by the sliding window flow control, e.g. the ECN bit is set.</a:t>
            </a:r>
            <a:endParaRPr lang="en-US" sz="1400" b="1" i="1" dirty="0"/>
          </a:p>
          <a:p>
            <a:r>
              <a:rPr lang="en-US" sz="1400" b="1" dirty="0" err="1"/>
              <a:t>NoRate-SlowDown</a:t>
            </a:r>
            <a:r>
              <a:rPr lang="en-US" sz="1400" b="1" dirty="0"/>
              <a:t> Policy</a:t>
            </a:r>
            <a:r>
              <a:rPr lang="en-US" sz="1400" dirty="0"/>
              <a:t> – This policy is used to momentarily lower the send rate below the rate allowed.</a:t>
            </a:r>
            <a:endParaRPr lang="en-US" sz="1400" b="1" i="1" dirty="0"/>
          </a:p>
          <a:p>
            <a:r>
              <a:rPr lang="en-US" sz="1400" b="1" dirty="0" err="1"/>
              <a:t>NoOverrideDefaultPeak</a:t>
            </a:r>
            <a:r>
              <a:rPr lang="en-US" sz="1400" b="1" dirty="0"/>
              <a:t> Policy</a:t>
            </a:r>
            <a:r>
              <a:rPr lang="en-US" sz="1400" dirty="0"/>
              <a:t> -  This policy allows rate-based flow control to exceed its nominal rate.  Presumably this would be for short periods and policies should enforce this.  Like all policies, if this returns True it creates the default action which is no override.</a:t>
            </a:r>
            <a:endParaRPr lang="en-US" sz="1400" b="1" i="1" dirty="0"/>
          </a:p>
          <a:p>
            <a:r>
              <a:rPr lang="en-US" sz="1400" b="1" dirty="0" err="1"/>
              <a:t>InitialSequenceNumberPolicy</a:t>
            </a:r>
            <a:r>
              <a:rPr lang="en-US" sz="1400" dirty="0"/>
              <a:t> – This policy allows some discretion in selecting the initial sequence number, when DRF is going to be sent.</a:t>
            </a:r>
            <a:endParaRPr lang="en-US" sz="1400" b="1" i="1" dirty="0"/>
          </a:p>
          <a:p>
            <a:endParaRPr lang="en-US" sz="1200" dirty="0"/>
          </a:p>
        </p:txBody>
      </p:sp>
      <p:sp>
        <p:nvSpPr>
          <p:cNvPr id="2" name="Text Box 1028">
            <a:extLst>
              <a:ext uri="{FF2B5EF4-FFF2-40B4-BE49-F238E27FC236}">
                <a16:creationId xmlns:a16="http://schemas.microsoft.com/office/drawing/2014/main" id="{A03DF6FD-B729-9EF0-872A-EC4BDA82BF22}"/>
              </a:ext>
            </a:extLst>
          </p:cNvPr>
          <p:cNvSpPr txBox="1">
            <a:spLocks noChangeArrowheads="1"/>
          </p:cNvSpPr>
          <p:nvPr/>
        </p:nvSpPr>
        <p:spPr bwMode="auto">
          <a:xfrm>
            <a:off x="7785100" y="6181628"/>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41713376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p>
            <a:r>
              <a:rPr lang="en-US">
                <a:solidFill>
                  <a:srgbClr val="000000"/>
                </a:solidFill>
                <a:latin typeface="Times"/>
              </a:rPr>
              <a:t>10 May 10</a:t>
            </a:r>
          </a:p>
        </p:txBody>
      </p:sp>
      <p:sp>
        <p:nvSpPr>
          <p:cNvPr id="9" name="Slide Number Placeholder 5"/>
          <p:cNvSpPr>
            <a:spLocks noGrp="1"/>
          </p:cNvSpPr>
          <p:nvPr>
            <p:ph type="sldNum" sz="quarter" idx="12"/>
          </p:nvPr>
        </p:nvSpPr>
        <p:spPr/>
        <p:txBody>
          <a:bodyPr/>
          <a:lstStyle/>
          <a:p>
            <a:fld id="{DA09FD0A-90A6-5B47-AC70-B92F5302FF57}" type="slidenum">
              <a:rPr lang="en-US">
                <a:solidFill>
                  <a:srgbClr val="000000"/>
                </a:solidFill>
                <a:latin typeface="Times"/>
              </a:rPr>
              <a:pPr/>
              <a:t>65</a:t>
            </a:fld>
            <a:endParaRPr lang="en-US">
              <a:solidFill>
                <a:srgbClr val="000000"/>
              </a:solidFill>
              <a:latin typeface="Times"/>
            </a:endParaRPr>
          </a:p>
        </p:txBody>
      </p:sp>
      <p:sp>
        <p:nvSpPr>
          <p:cNvPr id="18434" name="Rectangle 2"/>
          <p:cNvSpPr>
            <a:spLocks noGrp="1" noChangeArrowheads="1"/>
          </p:cNvSpPr>
          <p:nvPr>
            <p:ph type="title"/>
          </p:nvPr>
        </p:nvSpPr>
        <p:spPr>
          <a:xfrm>
            <a:off x="2209800" y="381000"/>
            <a:ext cx="7772400" cy="1143000"/>
          </a:xfrm>
        </p:spPr>
        <p:txBody>
          <a:bodyPr/>
          <a:lstStyle/>
          <a:p>
            <a:r>
              <a:rPr lang="en-US"/>
              <a:t>Data Transfer Common Control Syntax</a:t>
            </a:r>
          </a:p>
        </p:txBody>
      </p:sp>
      <p:sp>
        <p:nvSpPr>
          <p:cNvPr id="18436" name="Text Box 4"/>
          <p:cNvSpPr txBox="1">
            <a:spLocks noChangeArrowheads="1"/>
          </p:cNvSpPr>
          <p:nvPr/>
        </p:nvSpPr>
        <p:spPr bwMode="auto">
          <a:xfrm>
            <a:off x="2057401" y="4114801"/>
            <a:ext cx="3090205" cy="224676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r>
              <a:rPr lang="en-US" sz="1400" b="1" dirty="0" err="1">
                <a:solidFill>
                  <a:srgbClr val="000000"/>
                </a:solidFill>
                <a:latin typeface="Times" charset="0"/>
                <a:ea typeface="ＭＳ Ｐゴシック" charset="0"/>
                <a:cs typeface="ＭＳ Ｐゴシック" charset="0"/>
              </a:rPr>
              <a:t>Ack</a:t>
            </a:r>
            <a:r>
              <a:rPr lang="en-US" sz="1400" b="1" dirty="0">
                <a:solidFill>
                  <a:srgbClr val="000000"/>
                </a:solidFill>
                <a:latin typeface="Times" charset="0"/>
                <a:ea typeface="ＭＳ Ｐゴシック" charset="0"/>
                <a:cs typeface="ＭＳ Ｐゴシック" charset="0"/>
              </a:rPr>
              <a:t>/Flow </a:t>
            </a:r>
            <a:r>
              <a:rPr lang="en-US" sz="1400" b="1" dirty="0" err="1">
                <a:solidFill>
                  <a:srgbClr val="000000"/>
                </a:solidFill>
                <a:latin typeface="Times" charset="0"/>
                <a:ea typeface="ＭＳ Ｐゴシック" charset="0"/>
                <a:cs typeface="ＭＳ Ｐゴシック" charset="0"/>
              </a:rPr>
              <a:t>ControlPDU</a:t>
            </a:r>
            <a:endParaRPr lang="en-US" sz="1400" b="1" dirty="0">
              <a:solidFill>
                <a:srgbClr val="000000"/>
              </a:solidFill>
              <a:latin typeface="Times" charset="0"/>
              <a:ea typeface="ＭＳ Ｐゴシック" charset="0"/>
              <a:cs typeface="ＭＳ Ｐゴシック" charset="0"/>
            </a:endParaRPr>
          </a:p>
          <a:p>
            <a:pPr eaLnBrk="0" fontAlgn="base" hangingPunct="0">
              <a:spcBef>
                <a:spcPct val="0"/>
              </a:spcBef>
              <a:spcAft>
                <a:spcPct val="0"/>
              </a:spcAft>
            </a:pPr>
            <a:r>
              <a:rPr lang="en-US" sz="1400" dirty="0">
                <a:solidFill>
                  <a:srgbClr val="000000"/>
                </a:solidFill>
                <a:latin typeface="Times" charset="0"/>
                <a:ea typeface="ＭＳ Ｐゴシック" charset="0"/>
                <a:cs typeface="ＭＳ Ｐゴシック" charset="0"/>
              </a:rPr>
              <a:t>Common Control PDU</a:t>
            </a:r>
          </a:p>
          <a:p>
            <a:r>
              <a:rPr lang="en-US" sz="1400" dirty="0"/>
              <a:t>PDU TYPE = X’C1’ </a:t>
            </a:r>
            <a:r>
              <a:rPr lang="en-US" sz="1400" dirty="0" err="1"/>
              <a:t>Ack</a:t>
            </a:r>
            <a:r>
              <a:rPr lang="en-US" sz="1400" dirty="0"/>
              <a:t> only</a:t>
            </a:r>
          </a:p>
          <a:p>
            <a:r>
              <a:rPr lang="en-US" sz="1400" dirty="0"/>
              <a:t>PDU TYPE = X’C4’  Flow Control only</a:t>
            </a:r>
          </a:p>
          <a:p>
            <a:r>
              <a:rPr lang="en-US" sz="1400" dirty="0"/>
              <a:t>PDU TYPE = X’C5’ </a:t>
            </a:r>
            <a:r>
              <a:rPr lang="en-US" sz="1400" dirty="0" err="1"/>
              <a:t>Ack</a:t>
            </a:r>
            <a:r>
              <a:rPr lang="en-US" sz="1400" dirty="0"/>
              <a:t> and Flow Control</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 Integer(</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a:t>
            </a:r>
          </a:p>
          <a:p>
            <a:pPr eaLnBrk="0" fontAlgn="base" hangingPunct="0">
              <a:spcBef>
                <a:spcPct val="0"/>
              </a:spcBef>
              <a:spcAft>
                <a:spcPct val="0"/>
              </a:spcAft>
            </a:pPr>
            <a:r>
              <a:rPr lang="en-US" sz="1400" dirty="0">
                <a:solidFill>
                  <a:srgbClr val="000000"/>
                </a:solidFill>
                <a:latin typeface="Times" charset="0"/>
                <a:ea typeface="ＭＳ 明朝" charset="0"/>
                <a:cs typeface="ＭＳ 明朝" charset="0"/>
              </a:rPr>
              <a:t>Credit: Integer(</a:t>
            </a:r>
            <a:r>
              <a:rPr lang="en-US" sz="1400" dirty="0" err="1">
                <a:solidFill>
                  <a:srgbClr val="000000"/>
                </a:solidFill>
                <a:latin typeface="Times" charset="0"/>
                <a:ea typeface="ＭＳ 明朝" charset="0"/>
                <a:cs typeface="ＭＳ 明朝" charset="0"/>
              </a:rPr>
              <a:t>CreditLength</a:t>
            </a:r>
            <a:r>
              <a:rPr lang="en-US" sz="1400" dirty="0">
                <a:solidFill>
                  <a:srgbClr val="000000"/>
                </a:solidFill>
                <a:latin typeface="Times" charset="0"/>
                <a:ea typeface="ＭＳ 明朝" charset="0"/>
                <a:cs typeface="ＭＳ 明朝" charset="0"/>
              </a:rPr>
              <a:t>)</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NewRate</a:t>
            </a:r>
            <a:r>
              <a:rPr lang="en-US" sz="1400" dirty="0">
                <a:solidFill>
                  <a:srgbClr val="000000"/>
                </a:solidFill>
                <a:latin typeface="Times" charset="0"/>
                <a:ea typeface="ＭＳ 明朝" charset="0"/>
                <a:cs typeface="ＭＳ 明朝" charset="0"/>
              </a:rPr>
              <a:t>: </a:t>
            </a:r>
            <a:r>
              <a:rPr lang="en-US" sz="1400" dirty="0" err="1">
                <a:solidFill>
                  <a:srgbClr val="000000"/>
                </a:solidFill>
                <a:latin typeface="Times" charset="0"/>
                <a:ea typeface="ＭＳ 明朝" charset="0"/>
                <a:cs typeface="ＭＳ 明朝" charset="0"/>
              </a:rPr>
              <a:t>RateLen</a:t>
            </a:r>
            <a:endParaRPr lang="en-US" sz="1400" dirty="0">
              <a:solidFill>
                <a:srgbClr val="000000"/>
              </a:solidFill>
              <a:latin typeface="Times" charset="0"/>
              <a:ea typeface="ＭＳ 明朝" charset="0"/>
              <a:cs typeface="ＭＳ 明朝" charset="0"/>
            </a:endParaRP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TimeUnit</a:t>
            </a:r>
            <a:r>
              <a:rPr lang="en-US" sz="1400" dirty="0">
                <a:solidFill>
                  <a:srgbClr val="000000"/>
                </a:solidFill>
                <a:latin typeface="Times" charset="0"/>
                <a:ea typeface="ＭＳ 明朝" charset="0"/>
                <a:cs typeface="ＭＳ 明朝" charset="0"/>
              </a:rPr>
              <a:t>: </a:t>
            </a:r>
            <a:r>
              <a:rPr lang="en-US" sz="1400" dirty="0" err="1">
                <a:solidFill>
                  <a:srgbClr val="000000"/>
                </a:solidFill>
                <a:latin typeface="Times" charset="0"/>
                <a:ea typeface="ＭＳ 明朝" charset="0"/>
                <a:cs typeface="ＭＳ 明朝" charset="0"/>
              </a:rPr>
              <a:t>TimeLen</a:t>
            </a:r>
            <a:endParaRPr lang="en-US" sz="1400" dirty="0">
              <a:solidFill>
                <a:srgbClr val="000000"/>
              </a:solidFill>
              <a:latin typeface="Times" charset="0"/>
              <a:ea typeface="ＭＳ 明朝" charset="0"/>
              <a:cs typeface="ＭＳ 明朝" charset="0"/>
            </a:endParaRPr>
          </a:p>
          <a:p>
            <a:pPr eaLnBrk="0" fontAlgn="base" hangingPunct="0">
              <a:spcBef>
                <a:spcPct val="0"/>
              </a:spcBef>
              <a:spcAft>
                <a:spcPct val="0"/>
              </a:spcAft>
            </a:pPr>
            <a:endParaRPr lang="en-US" sz="1400" dirty="0">
              <a:solidFill>
                <a:srgbClr val="000000"/>
              </a:solidFill>
              <a:latin typeface="Times" charset="0"/>
              <a:ea typeface="ＭＳ Ｐゴシック" charset="0"/>
              <a:cs typeface="ＭＳ Ｐゴシック" charset="0"/>
            </a:endParaRPr>
          </a:p>
        </p:txBody>
      </p:sp>
      <p:sp>
        <p:nvSpPr>
          <p:cNvPr id="18437" name="Text Box 5"/>
          <p:cNvSpPr txBox="1">
            <a:spLocks noChangeArrowheads="1"/>
          </p:cNvSpPr>
          <p:nvPr/>
        </p:nvSpPr>
        <p:spPr bwMode="auto">
          <a:xfrm>
            <a:off x="6184900" y="1397001"/>
            <a:ext cx="4483100" cy="246221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eaLnBrk="0" fontAlgn="base" hangingPunct="0">
              <a:spcBef>
                <a:spcPct val="0"/>
              </a:spcBef>
              <a:spcAft>
                <a:spcPct val="0"/>
              </a:spcAft>
            </a:pPr>
            <a:r>
              <a:rPr lang="en-US" sz="1400" b="1" dirty="0">
                <a:solidFill>
                  <a:srgbClr val="000000"/>
                </a:solidFill>
                <a:latin typeface="Times" charset="0"/>
                <a:ea typeface="ＭＳ Ｐゴシック" charset="0"/>
                <a:cs typeface="ＭＳ Ｐゴシック" charset="0"/>
              </a:rPr>
              <a:t>Selective </a:t>
            </a:r>
            <a:r>
              <a:rPr lang="en-US" sz="1400" b="1" dirty="0" err="1">
                <a:solidFill>
                  <a:srgbClr val="000000"/>
                </a:solidFill>
                <a:latin typeface="Times" charset="0"/>
                <a:ea typeface="ＭＳ Ｐゴシック" charset="0"/>
                <a:cs typeface="ＭＳ Ｐゴシック" charset="0"/>
              </a:rPr>
              <a:t>Ack</a:t>
            </a:r>
            <a:r>
              <a:rPr lang="en-US" sz="1400" b="1" dirty="0">
                <a:solidFill>
                  <a:srgbClr val="000000"/>
                </a:solidFill>
                <a:latin typeface="Times" charset="0"/>
                <a:ea typeface="ＭＳ Ｐゴシック" charset="0"/>
                <a:cs typeface="ＭＳ Ｐゴシック" charset="0"/>
              </a:rPr>
              <a:t> PDU</a:t>
            </a:r>
            <a:endParaRPr lang="en-US" sz="1400" dirty="0">
              <a:solidFill>
                <a:srgbClr val="000000"/>
              </a:solidFill>
              <a:latin typeface="Times" charset="0"/>
              <a:ea typeface="ＭＳ Ｐゴシック" charset="0"/>
              <a:cs typeface="ＭＳ Ｐゴシック" charset="0"/>
            </a:endParaRPr>
          </a:p>
          <a:p>
            <a:pPr eaLnBrk="0" fontAlgn="base" hangingPunct="0">
              <a:spcBef>
                <a:spcPct val="0"/>
              </a:spcBef>
              <a:spcAft>
                <a:spcPct val="0"/>
              </a:spcAft>
            </a:pPr>
            <a:r>
              <a:rPr lang="en-US" sz="1400" dirty="0">
                <a:solidFill>
                  <a:srgbClr val="000000"/>
                </a:solidFill>
                <a:latin typeface="Times" charset="0"/>
                <a:ea typeface="ＭＳ 明朝" charset="0"/>
                <a:cs typeface="ＭＳ 明朝" charset="0"/>
              </a:rPr>
              <a:t>Common Control PDU</a:t>
            </a:r>
          </a:p>
          <a:p>
            <a:r>
              <a:rPr lang="en-US" sz="1400" dirty="0"/>
              <a:t>PDU TYPE = X’C9’ Selective </a:t>
            </a:r>
            <a:r>
              <a:rPr lang="en-US" sz="1400" dirty="0" err="1"/>
              <a:t>Ack</a:t>
            </a:r>
            <a:endParaRPr lang="en-US" sz="1400" dirty="0"/>
          </a:p>
          <a:p>
            <a:r>
              <a:rPr lang="en-US" sz="1400" dirty="0"/>
              <a:t>PDU TYPE = X’CA’ Selective </a:t>
            </a:r>
            <a:r>
              <a:rPr lang="en-US" sz="1400" dirty="0" err="1"/>
              <a:t>Nack</a:t>
            </a:r>
            <a:endParaRPr lang="en-US" sz="1400" dirty="0"/>
          </a:p>
          <a:p>
            <a:r>
              <a:rPr lang="en-US" sz="1400" dirty="0"/>
              <a:t>PDU TYPE = X’CD’ Selective </a:t>
            </a:r>
            <a:r>
              <a:rPr lang="en-US" sz="1400" dirty="0" err="1"/>
              <a:t>Ack</a:t>
            </a:r>
            <a:r>
              <a:rPr lang="en-US" sz="1400" dirty="0"/>
              <a:t> and Flow Control</a:t>
            </a:r>
          </a:p>
          <a:p>
            <a:r>
              <a:rPr lang="en-US" sz="1400" dirty="0"/>
              <a:t>PDU TYPE = X’CE’  Selective </a:t>
            </a:r>
            <a:r>
              <a:rPr lang="en-US" sz="1400" dirty="0" err="1"/>
              <a:t>Nack</a:t>
            </a:r>
            <a:r>
              <a:rPr lang="en-US" sz="1400" dirty="0"/>
              <a:t> and Flow Control</a:t>
            </a:r>
            <a:endParaRPr lang="en-US" sz="1400" dirty="0">
              <a:solidFill>
                <a:srgbClr val="000000"/>
              </a:solidFill>
              <a:latin typeface="Times" charset="0"/>
              <a:ea typeface="ＭＳ 明朝" charset="0"/>
              <a:cs typeface="ＭＳ 明朝" charset="0"/>
            </a:endParaRP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a:t>
            </a:r>
            <a:r>
              <a:rPr lang="en-US" sz="1400" dirty="0" err="1">
                <a:solidFill>
                  <a:srgbClr val="000000"/>
                </a:solidFill>
                <a:latin typeface="Times" charset="0"/>
                <a:ea typeface="ＭＳ 明朝" charset="0"/>
                <a:cs typeface="ＭＳ 明朝" charset="0"/>
              </a:rPr>
              <a:t>Nack</a:t>
            </a:r>
            <a:r>
              <a:rPr lang="en-US" sz="1400" dirty="0">
                <a:solidFill>
                  <a:srgbClr val="000000"/>
                </a:solidFill>
                <a:latin typeface="Times" charset="0"/>
                <a:ea typeface="ＭＳ 明朝" charset="0"/>
                <a:cs typeface="ＭＳ 明朝" charset="0"/>
              </a:rPr>
              <a:t>: Integer(</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a:t>
            </a:r>
            <a:r>
              <a:rPr lang="en-US" sz="1400" dirty="0" err="1">
                <a:solidFill>
                  <a:srgbClr val="000000"/>
                </a:solidFill>
                <a:latin typeface="Times" charset="0"/>
                <a:ea typeface="ＭＳ 明朝" charset="0"/>
                <a:cs typeface="ＭＳ 明朝" charset="0"/>
              </a:rPr>
              <a:t>Nack</a:t>
            </a:r>
            <a:r>
              <a:rPr lang="en-US" sz="1400" dirty="0">
                <a:solidFill>
                  <a:srgbClr val="000000"/>
                </a:solidFill>
                <a:latin typeface="Times" charset="0"/>
                <a:ea typeface="ＭＳ 明朝" charset="0"/>
                <a:cs typeface="ＭＳ 明朝" charset="0"/>
              </a:rPr>
              <a:t> List Length:  Integer(8)</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a:t>
            </a:r>
            <a:r>
              <a:rPr lang="en-US" sz="1400" dirty="0" err="1">
                <a:solidFill>
                  <a:srgbClr val="000000"/>
                </a:solidFill>
                <a:latin typeface="Times" charset="0"/>
                <a:ea typeface="ＭＳ 明朝" charset="0"/>
                <a:cs typeface="ＭＳ 明朝" charset="0"/>
              </a:rPr>
              <a:t>Nack</a:t>
            </a:r>
            <a:r>
              <a:rPr lang="en-US" sz="1400" dirty="0">
                <a:solidFill>
                  <a:srgbClr val="000000"/>
                </a:solidFill>
                <a:latin typeface="Times" charset="0"/>
                <a:ea typeface="ＭＳ 明朝" charset="0"/>
                <a:cs typeface="ＭＳ 明朝" charset="0"/>
              </a:rPr>
              <a:t> List: Sequence(</a:t>
            </a:r>
            <a:r>
              <a:rPr lang="en-US" sz="1400" dirty="0" err="1">
                <a:solidFill>
                  <a:srgbClr val="000000"/>
                </a:solidFill>
                <a:latin typeface="Times" charset="0"/>
                <a:ea typeface="ＭＳ 明朝" charset="0"/>
                <a:cs typeface="ＭＳ 明朝" charset="0"/>
              </a:rPr>
              <a:t>StartingNbr</a:t>
            </a:r>
            <a:r>
              <a:rPr lang="en-US" sz="1400" dirty="0">
                <a:solidFill>
                  <a:srgbClr val="000000"/>
                </a:solidFill>
                <a:latin typeface="Times" charset="0"/>
                <a:ea typeface="ＭＳ 明朝" charset="0"/>
                <a:cs typeface="ＭＳ 明朝" charset="0"/>
              </a:rPr>
              <a:t> Integer (</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 Ending Integer(</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a:t>
            </a:r>
          </a:p>
          <a:p>
            <a:pPr eaLnBrk="0" fontAlgn="base" hangingPunct="0">
              <a:spcBef>
                <a:spcPct val="0"/>
              </a:spcBef>
              <a:spcAft>
                <a:spcPct val="0"/>
              </a:spcAft>
            </a:pPr>
            <a:endParaRPr lang="en-US" sz="1400" dirty="0">
              <a:solidFill>
                <a:srgbClr val="000000"/>
              </a:solidFill>
              <a:latin typeface="Times" charset="0"/>
              <a:ea typeface="ＭＳ Ｐゴシック" charset="0"/>
              <a:cs typeface="ＭＳ Ｐゴシック" charset="0"/>
            </a:endParaRPr>
          </a:p>
        </p:txBody>
      </p:sp>
      <p:sp>
        <p:nvSpPr>
          <p:cNvPr id="18438" name="Text Box 6"/>
          <p:cNvSpPr txBox="1">
            <a:spLocks noChangeArrowheads="1"/>
          </p:cNvSpPr>
          <p:nvPr/>
        </p:nvSpPr>
        <p:spPr bwMode="auto">
          <a:xfrm>
            <a:off x="6184900" y="3886201"/>
            <a:ext cx="3657600" cy="224676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eaLnBrk="0" fontAlgn="base" hangingPunct="0">
              <a:spcBef>
                <a:spcPct val="0"/>
              </a:spcBef>
              <a:spcAft>
                <a:spcPct val="0"/>
              </a:spcAft>
            </a:pPr>
            <a:r>
              <a:rPr lang="en-US" sz="1400" b="1" dirty="0">
                <a:solidFill>
                  <a:srgbClr val="000000"/>
                </a:solidFill>
                <a:latin typeface="Times" charset="0"/>
                <a:ea typeface="ＭＳ Ｐゴシック" charset="0"/>
                <a:cs typeface="ＭＳ Ｐゴシック" charset="0"/>
              </a:rPr>
              <a:t>Forced </a:t>
            </a:r>
            <a:r>
              <a:rPr lang="en-US" sz="1400" b="1" dirty="0" err="1">
                <a:solidFill>
                  <a:srgbClr val="000000"/>
                </a:solidFill>
                <a:latin typeface="Times" charset="0"/>
                <a:ea typeface="ＭＳ Ｐゴシック" charset="0"/>
                <a:cs typeface="ＭＳ Ｐゴシック" charset="0"/>
              </a:rPr>
              <a:t>NackPDU</a:t>
            </a:r>
            <a:endParaRPr lang="en-US" sz="1400" dirty="0">
              <a:solidFill>
                <a:srgbClr val="000000"/>
              </a:solidFill>
              <a:latin typeface="Times" charset="0"/>
              <a:ea typeface="ＭＳ Ｐゴシック" charset="0"/>
              <a:cs typeface="ＭＳ Ｐゴシック" charset="0"/>
            </a:endParaRPr>
          </a:p>
          <a:p>
            <a:pPr eaLnBrk="0" fontAlgn="base" hangingPunct="0">
              <a:spcBef>
                <a:spcPct val="0"/>
              </a:spcBef>
              <a:spcAft>
                <a:spcPct val="0"/>
              </a:spcAft>
            </a:pPr>
            <a:r>
              <a:rPr lang="en-US" sz="1400" dirty="0">
                <a:solidFill>
                  <a:srgbClr val="000000"/>
                </a:solidFill>
                <a:latin typeface="Times" charset="0"/>
                <a:ea typeface="ＭＳ Ｐゴシック" charset="0"/>
                <a:cs typeface="ＭＳ Ｐゴシック" charset="0"/>
              </a:rPr>
              <a:t>Common Control PDU</a:t>
            </a:r>
          </a:p>
          <a:p>
            <a:r>
              <a:rPr lang="en-US" sz="1400" dirty="0"/>
              <a:t>PDU TYPE = X’C2’ </a:t>
            </a:r>
            <a:r>
              <a:rPr lang="en-US" sz="1400" dirty="0" err="1"/>
              <a:t>Nack</a:t>
            </a:r>
            <a:r>
              <a:rPr lang="en-US" sz="1400" dirty="0"/>
              <a:t> only</a:t>
            </a:r>
          </a:p>
          <a:p>
            <a:r>
              <a:rPr lang="en-US" sz="1400" dirty="0"/>
              <a:t>PDU TYPE = X’C6’ </a:t>
            </a:r>
            <a:r>
              <a:rPr lang="en-US" sz="1400" dirty="0" err="1"/>
              <a:t>Nack</a:t>
            </a:r>
            <a:r>
              <a:rPr lang="en-US" sz="1400" dirty="0"/>
              <a:t> and Flow Control</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a:t>
            </a:r>
            <a:r>
              <a:rPr lang="en-US" sz="1400" dirty="0" err="1">
                <a:solidFill>
                  <a:srgbClr val="000000"/>
                </a:solidFill>
                <a:latin typeface="Times" charset="0"/>
                <a:ea typeface="ＭＳ 明朝" charset="0"/>
                <a:cs typeface="ＭＳ 明朝" charset="0"/>
              </a:rPr>
              <a:t>Nack</a:t>
            </a:r>
            <a:r>
              <a:rPr lang="en-US" sz="1400" dirty="0">
                <a:solidFill>
                  <a:srgbClr val="000000"/>
                </a:solidFill>
                <a:latin typeface="Times" charset="0"/>
                <a:ea typeface="ＭＳ 明朝" charset="0"/>
                <a:cs typeface="ＭＳ 明朝" charset="0"/>
              </a:rPr>
              <a:t>: Integer(</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a:t>
            </a:r>
            <a:r>
              <a:rPr lang="en-US" sz="1400" dirty="0" err="1">
                <a:solidFill>
                  <a:srgbClr val="000000"/>
                </a:solidFill>
                <a:latin typeface="Times" charset="0"/>
                <a:ea typeface="ＭＳ 明朝" charset="0"/>
                <a:cs typeface="ＭＳ 明朝" charset="0"/>
              </a:rPr>
              <a:t>Nack</a:t>
            </a:r>
            <a:r>
              <a:rPr lang="en-US" sz="1400" dirty="0">
                <a:solidFill>
                  <a:srgbClr val="000000"/>
                </a:solidFill>
                <a:latin typeface="Times" charset="0"/>
                <a:ea typeface="ＭＳ 明朝" charset="0"/>
                <a:cs typeface="ＭＳ 明朝" charset="0"/>
              </a:rPr>
              <a:t> List Length:  Integer(8)</a:t>
            </a:r>
          </a:p>
          <a:p>
            <a:pPr eaLnBrk="0" fontAlgn="base" hangingPunct="0">
              <a:spcBef>
                <a:spcPct val="0"/>
              </a:spcBef>
              <a:spcAft>
                <a:spcPct val="0"/>
              </a:spcAft>
            </a:pPr>
            <a:r>
              <a:rPr lang="en-US" sz="1400" dirty="0" err="1">
                <a:solidFill>
                  <a:srgbClr val="000000"/>
                </a:solidFill>
                <a:latin typeface="Times" charset="0"/>
                <a:ea typeface="ＭＳ 明朝" charset="0"/>
                <a:cs typeface="ＭＳ 明朝" charset="0"/>
              </a:rPr>
              <a:t>Ack</a:t>
            </a:r>
            <a:r>
              <a:rPr lang="en-US" sz="1400" dirty="0">
                <a:solidFill>
                  <a:srgbClr val="000000"/>
                </a:solidFill>
                <a:latin typeface="Times" charset="0"/>
                <a:ea typeface="ＭＳ 明朝" charset="0"/>
                <a:cs typeface="ＭＳ 明朝" charset="0"/>
              </a:rPr>
              <a:t>/</a:t>
            </a:r>
            <a:r>
              <a:rPr lang="en-US" sz="1400" dirty="0" err="1">
                <a:solidFill>
                  <a:srgbClr val="000000"/>
                </a:solidFill>
                <a:latin typeface="Times" charset="0"/>
                <a:ea typeface="ＭＳ 明朝" charset="0"/>
                <a:cs typeface="ＭＳ 明朝" charset="0"/>
              </a:rPr>
              <a:t>Nack</a:t>
            </a:r>
            <a:r>
              <a:rPr lang="en-US" sz="1400" dirty="0">
                <a:solidFill>
                  <a:srgbClr val="000000"/>
                </a:solidFill>
                <a:latin typeface="Times" charset="0"/>
                <a:ea typeface="ＭＳ 明朝" charset="0"/>
                <a:cs typeface="ＭＳ 明朝" charset="0"/>
              </a:rPr>
              <a:t> List: Sequence(</a:t>
            </a:r>
            <a:r>
              <a:rPr lang="en-US" sz="1400" dirty="0" err="1">
                <a:solidFill>
                  <a:srgbClr val="000000"/>
                </a:solidFill>
                <a:latin typeface="Times" charset="0"/>
                <a:ea typeface="ＭＳ 明朝" charset="0"/>
                <a:cs typeface="ＭＳ 明朝" charset="0"/>
              </a:rPr>
              <a:t>StartingNbr</a:t>
            </a:r>
            <a:r>
              <a:rPr lang="en-US" sz="1400" dirty="0">
                <a:solidFill>
                  <a:srgbClr val="000000"/>
                </a:solidFill>
                <a:latin typeface="Times" charset="0"/>
                <a:ea typeface="ＭＳ 明朝" charset="0"/>
                <a:cs typeface="ＭＳ 明朝" charset="0"/>
              </a:rPr>
              <a:t> Integer(</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 </a:t>
            </a:r>
          </a:p>
          <a:p>
            <a:pPr eaLnBrk="0" fontAlgn="base" hangingPunct="0">
              <a:spcBef>
                <a:spcPct val="0"/>
              </a:spcBef>
              <a:spcAft>
                <a:spcPct val="0"/>
              </a:spcAft>
            </a:pPr>
            <a:r>
              <a:rPr lang="en-US" sz="1400" dirty="0">
                <a:solidFill>
                  <a:srgbClr val="000000"/>
                </a:solidFill>
                <a:latin typeface="Times" charset="0"/>
                <a:ea typeface="ＭＳ 明朝" charset="0"/>
                <a:cs typeface="ＭＳ 明朝" charset="0"/>
              </a:rPr>
              <a:t>Ending Integer(</a:t>
            </a:r>
            <a:r>
              <a:rPr lang="en-US" sz="1400" dirty="0" err="1">
                <a:solidFill>
                  <a:srgbClr val="000000"/>
                </a:solidFill>
                <a:latin typeface="Times" charset="0"/>
                <a:ea typeface="ＭＳ 明朝" charset="0"/>
                <a:cs typeface="ＭＳ 明朝" charset="0"/>
              </a:rPr>
              <a:t>SeqNbrLength</a:t>
            </a:r>
            <a:r>
              <a:rPr lang="en-US" sz="1400" dirty="0">
                <a:solidFill>
                  <a:srgbClr val="000000"/>
                </a:solidFill>
                <a:latin typeface="Times" charset="0"/>
                <a:ea typeface="ＭＳ 明朝" charset="0"/>
                <a:cs typeface="ＭＳ 明朝" charset="0"/>
              </a:rPr>
              <a:t>))</a:t>
            </a:r>
          </a:p>
          <a:p>
            <a:pPr eaLnBrk="0" fontAlgn="base" hangingPunct="0">
              <a:spcBef>
                <a:spcPct val="0"/>
              </a:spcBef>
              <a:spcAft>
                <a:spcPct val="0"/>
              </a:spcAft>
            </a:pPr>
            <a:endParaRPr lang="en-US" sz="1400" dirty="0">
              <a:solidFill>
                <a:srgbClr val="000000"/>
              </a:solidFill>
              <a:latin typeface="Times" charset="0"/>
              <a:ea typeface="ＭＳ Ｐゴシック" charset="0"/>
              <a:cs typeface="ＭＳ Ｐゴシック" charset="0"/>
            </a:endParaRPr>
          </a:p>
        </p:txBody>
      </p:sp>
      <p:sp>
        <p:nvSpPr>
          <p:cNvPr id="18439" name="Text Box 7"/>
          <p:cNvSpPr txBox="1">
            <a:spLocks noChangeArrowheads="1"/>
          </p:cNvSpPr>
          <p:nvPr/>
        </p:nvSpPr>
        <p:spPr bwMode="auto">
          <a:xfrm>
            <a:off x="2057400" y="1600201"/>
            <a:ext cx="3429000" cy="229703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fontAlgn="base">
              <a:lnSpc>
                <a:spcPct val="70000"/>
              </a:lnSpc>
              <a:spcBef>
                <a:spcPct val="20000"/>
              </a:spcBef>
              <a:spcAft>
                <a:spcPct val="0"/>
              </a:spcAft>
            </a:pPr>
            <a:r>
              <a:rPr lang="en-US" sz="1400" b="1" dirty="0">
                <a:solidFill>
                  <a:srgbClr val="000000"/>
                </a:solidFill>
                <a:latin typeface="Times New Roman" charset="0"/>
                <a:ea typeface="ＭＳ Ｐゴシック" charset="0"/>
                <a:cs typeface="ＭＳ Ｐゴシック" charset="0"/>
              </a:rPr>
              <a:t>Common Control PDU</a:t>
            </a:r>
          </a:p>
          <a:p>
            <a:pPr fontAlgn="base">
              <a:lnSpc>
                <a:spcPct val="70000"/>
              </a:lnSpc>
              <a:spcBef>
                <a:spcPct val="20000"/>
              </a:spcBef>
              <a:spcAft>
                <a:spcPct val="0"/>
              </a:spcAft>
            </a:pPr>
            <a:r>
              <a:rPr lang="en-US" sz="1400" dirty="0">
                <a:solidFill>
                  <a:srgbClr val="000000"/>
                </a:solidFill>
                <a:latin typeface="Times New Roman" charset="0"/>
                <a:ea typeface="ＭＳ Ｐゴシック" charset="0"/>
                <a:cs typeface="ＭＳ Ｐゴシック" charset="0"/>
              </a:rPr>
              <a:t>Version: 8 Bits</a:t>
            </a:r>
          </a:p>
          <a:p>
            <a:pPr fontAlgn="base">
              <a:lnSpc>
                <a:spcPct val="70000"/>
              </a:lnSpc>
              <a:spcBef>
                <a:spcPct val="20000"/>
              </a:spcBef>
              <a:spcAft>
                <a:spcPct val="0"/>
              </a:spcAft>
            </a:pPr>
            <a:r>
              <a:rPr lang="en-US" sz="1400" dirty="0">
                <a:solidFill>
                  <a:srgbClr val="000000"/>
                </a:solidFill>
                <a:latin typeface="Times New Roman" charset="0"/>
                <a:ea typeface="ＭＳ Ｐゴシック" charset="0"/>
                <a:cs typeface="ＭＳ Ｐゴシック" charset="0"/>
              </a:rPr>
              <a:t>Destination-Address: </a:t>
            </a:r>
            <a:r>
              <a:rPr lang="en-US" sz="1400" dirty="0" err="1">
                <a:solidFill>
                  <a:srgbClr val="000000"/>
                </a:solidFill>
                <a:latin typeface="Times New Roman" charset="0"/>
                <a:ea typeface="ＭＳ Ｐゴシック" charset="0"/>
                <a:cs typeface="ＭＳ Ｐゴシック" charset="0"/>
              </a:rPr>
              <a:t>Addr</a:t>
            </a:r>
            <a:r>
              <a:rPr lang="en-US" sz="1400" dirty="0">
                <a:solidFill>
                  <a:srgbClr val="000000"/>
                </a:solidFill>
                <a:latin typeface="Times New Roman" charset="0"/>
                <a:ea typeface="ＭＳ Ｐゴシック" charset="0"/>
                <a:cs typeface="ＭＳ Ｐゴシック" charset="0"/>
              </a:rPr>
              <a:t>-Length</a:t>
            </a:r>
          </a:p>
          <a:p>
            <a:pPr fontAlgn="base">
              <a:lnSpc>
                <a:spcPct val="70000"/>
              </a:lnSpc>
              <a:spcBef>
                <a:spcPct val="20000"/>
              </a:spcBef>
              <a:spcAft>
                <a:spcPct val="0"/>
              </a:spcAft>
            </a:pPr>
            <a:r>
              <a:rPr lang="en-US" sz="1400" dirty="0">
                <a:solidFill>
                  <a:srgbClr val="000000"/>
                </a:solidFill>
                <a:latin typeface="Times New Roman" charset="0"/>
                <a:ea typeface="ＭＳ Ｐゴシック" charset="0"/>
                <a:cs typeface="ＭＳ Ｐゴシック" charset="0"/>
              </a:rPr>
              <a:t>Source-Address: </a:t>
            </a:r>
            <a:r>
              <a:rPr lang="en-US" sz="1400" dirty="0" err="1">
                <a:solidFill>
                  <a:srgbClr val="000000"/>
                </a:solidFill>
                <a:latin typeface="Times New Roman" charset="0"/>
                <a:ea typeface="ＭＳ Ｐゴシック" charset="0"/>
                <a:cs typeface="ＭＳ Ｐゴシック" charset="0"/>
              </a:rPr>
              <a:t>Addr</a:t>
            </a:r>
            <a:r>
              <a:rPr lang="en-US" sz="1400" dirty="0">
                <a:solidFill>
                  <a:srgbClr val="000000"/>
                </a:solidFill>
                <a:latin typeface="Times New Roman" charset="0"/>
                <a:ea typeface="ＭＳ Ｐゴシック" charset="0"/>
                <a:cs typeface="ＭＳ Ｐゴシック" charset="0"/>
              </a:rPr>
              <a:t>-Length</a:t>
            </a:r>
          </a:p>
          <a:p>
            <a:pPr fontAlgn="base">
              <a:lnSpc>
                <a:spcPct val="70000"/>
              </a:lnSpc>
              <a:spcBef>
                <a:spcPct val="20000"/>
              </a:spcBef>
              <a:spcAft>
                <a:spcPct val="0"/>
              </a:spcAft>
            </a:pPr>
            <a:r>
              <a:rPr lang="en-US" sz="1400" dirty="0">
                <a:solidFill>
                  <a:srgbClr val="000000"/>
                </a:solidFill>
                <a:latin typeface="Times New Roman" charset="0"/>
                <a:ea typeface="ＭＳ Ｐゴシック" charset="0"/>
                <a:cs typeface="ＭＳ Ｐゴシック" charset="0"/>
              </a:rPr>
              <a:t>Flow-id:  </a:t>
            </a:r>
            <a:r>
              <a:rPr lang="en-US" sz="1400" dirty="0" err="1">
                <a:solidFill>
                  <a:srgbClr val="000000"/>
                </a:solidFill>
                <a:latin typeface="Times New Roman" charset="0"/>
                <a:ea typeface="ＭＳ Ｐゴシック" charset="0"/>
                <a:cs typeface="ＭＳ Ｐゴシック" charset="0"/>
              </a:rPr>
              <a:t>Struct</a:t>
            </a:r>
            <a:endParaRPr lang="en-US" sz="1400" dirty="0">
              <a:solidFill>
                <a:srgbClr val="000000"/>
              </a:solidFill>
              <a:latin typeface="Times New Roman" charset="0"/>
              <a:ea typeface="ＭＳ Ｐゴシック" charset="0"/>
              <a:cs typeface="ＭＳ Ｐゴシック" charset="0"/>
            </a:endParaRPr>
          </a:p>
          <a:p>
            <a:pPr lvl="1" fontAlgn="base">
              <a:lnSpc>
                <a:spcPct val="70000"/>
              </a:lnSpc>
              <a:spcBef>
                <a:spcPct val="20000"/>
              </a:spcBef>
              <a:spcAft>
                <a:spcPct val="0"/>
              </a:spcAft>
            </a:pPr>
            <a:r>
              <a:rPr lang="en-US" sz="1200" dirty="0" err="1">
                <a:solidFill>
                  <a:srgbClr val="000000"/>
                </a:solidFill>
                <a:latin typeface="Times New Roman" charset="0"/>
                <a:ea typeface="ＭＳ Ｐゴシック" charset="0"/>
                <a:cs typeface="ＭＳ Ｐゴシック" charset="0"/>
              </a:rPr>
              <a:t>QoS</a:t>
            </a:r>
            <a:r>
              <a:rPr lang="en-US" sz="1200" dirty="0">
                <a:solidFill>
                  <a:srgbClr val="000000"/>
                </a:solidFill>
                <a:latin typeface="Times New Roman" charset="0"/>
                <a:ea typeface="ＭＳ Ｐゴシック" charset="0"/>
                <a:cs typeface="ＭＳ Ｐゴシック" charset="0"/>
              </a:rPr>
              <a:t>-id: 8 bits</a:t>
            </a:r>
          </a:p>
          <a:p>
            <a:pPr lvl="1" fontAlgn="base">
              <a:lnSpc>
                <a:spcPct val="70000"/>
              </a:lnSpc>
              <a:spcBef>
                <a:spcPct val="20000"/>
              </a:spcBef>
              <a:spcAft>
                <a:spcPct val="0"/>
              </a:spcAft>
            </a:pPr>
            <a:r>
              <a:rPr lang="en-US" sz="1200" dirty="0">
                <a:solidFill>
                  <a:srgbClr val="000000"/>
                </a:solidFill>
                <a:latin typeface="Times New Roman" charset="0"/>
                <a:ea typeface="ＭＳ Ｐゴシック" charset="0"/>
                <a:cs typeface="ＭＳ Ｐゴシック" charset="0"/>
              </a:rPr>
              <a:t>Destination-CEP-id: CEP-id-Length</a:t>
            </a:r>
          </a:p>
          <a:p>
            <a:pPr lvl="1" fontAlgn="base">
              <a:lnSpc>
                <a:spcPct val="70000"/>
              </a:lnSpc>
              <a:spcBef>
                <a:spcPct val="20000"/>
              </a:spcBef>
              <a:spcAft>
                <a:spcPct val="0"/>
              </a:spcAft>
            </a:pPr>
            <a:r>
              <a:rPr lang="en-US" sz="1200" dirty="0">
                <a:solidFill>
                  <a:srgbClr val="000000"/>
                </a:solidFill>
                <a:latin typeface="Times New Roman" charset="0"/>
                <a:ea typeface="ＭＳ Ｐゴシック" charset="0"/>
                <a:cs typeface="ＭＳ Ｐゴシック" charset="0"/>
              </a:rPr>
              <a:t>Source-CEP-id: CEP-id-length</a:t>
            </a:r>
          </a:p>
          <a:p>
            <a:pPr fontAlgn="base">
              <a:lnSpc>
                <a:spcPct val="70000"/>
              </a:lnSpc>
              <a:spcBef>
                <a:spcPct val="20000"/>
              </a:spcBef>
              <a:spcAft>
                <a:spcPct val="0"/>
              </a:spcAft>
            </a:pPr>
            <a:r>
              <a:rPr lang="en-US" sz="1400" dirty="0" err="1">
                <a:solidFill>
                  <a:srgbClr val="000000"/>
                </a:solidFill>
                <a:latin typeface="Times New Roman" charset="0"/>
                <a:ea typeface="ＭＳ Ｐゴシック" charset="0"/>
                <a:cs typeface="ＭＳ Ｐゴシック" charset="0"/>
              </a:rPr>
              <a:t>PDUType</a:t>
            </a:r>
            <a:r>
              <a:rPr lang="en-US" sz="1400" dirty="0">
                <a:solidFill>
                  <a:srgbClr val="000000"/>
                </a:solidFill>
                <a:latin typeface="Times New Roman" charset="0"/>
                <a:ea typeface="ＭＳ Ｐゴシック" charset="0"/>
                <a:cs typeface="ＭＳ Ｐゴシック" charset="0"/>
              </a:rPr>
              <a:t>: 8 bits</a:t>
            </a:r>
          </a:p>
          <a:p>
            <a:pPr fontAlgn="base">
              <a:lnSpc>
                <a:spcPct val="70000"/>
              </a:lnSpc>
              <a:spcBef>
                <a:spcPct val="20000"/>
              </a:spcBef>
              <a:spcAft>
                <a:spcPct val="0"/>
              </a:spcAft>
            </a:pPr>
            <a:r>
              <a:rPr lang="en-US" sz="1400" dirty="0">
                <a:solidFill>
                  <a:srgbClr val="000000"/>
                </a:solidFill>
                <a:latin typeface="Times New Roman" charset="0"/>
                <a:ea typeface="ＭＳ Ｐゴシック" charset="0"/>
                <a:cs typeface="ＭＳ Ｐゴシック" charset="0"/>
              </a:rPr>
              <a:t>Flags: 8 bits</a:t>
            </a:r>
          </a:p>
          <a:p>
            <a:pPr fontAlgn="base">
              <a:lnSpc>
                <a:spcPct val="70000"/>
              </a:lnSpc>
              <a:spcBef>
                <a:spcPct val="20000"/>
              </a:spcBef>
              <a:spcAft>
                <a:spcPct val="0"/>
              </a:spcAft>
            </a:pPr>
            <a:r>
              <a:rPr lang="en-US" sz="1400" dirty="0">
                <a:solidFill>
                  <a:srgbClr val="000000"/>
                </a:solidFill>
                <a:latin typeface="Times New Roman" charset="0"/>
                <a:ea typeface="ＭＳ Ｐゴシック" charset="0"/>
                <a:cs typeface="ＭＳ Ｐゴシック" charset="0"/>
              </a:rPr>
              <a:t>PDU-Length: </a:t>
            </a:r>
            <a:r>
              <a:rPr lang="en-US" sz="1400" dirty="0" err="1">
                <a:solidFill>
                  <a:srgbClr val="000000"/>
                </a:solidFill>
                <a:latin typeface="Times New Roman" charset="0"/>
                <a:ea typeface="ＭＳ Ｐゴシック" charset="0"/>
                <a:cs typeface="ＭＳ Ｐゴシック" charset="0"/>
              </a:rPr>
              <a:t>LengthLength</a:t>
            </a:r>
            <a:endParaRPr lang="en-US" sz="1400" dirty="0">
              <a:solidFill>
                <a:srgbClr val="000000"/>
              </a:solidFill>
              <a:latin typeface="Times New Roman" charset="0"/>
              <a:ea typeface="ＭＳ Ｐゴシック" charset="0"/>
              <a:cs typeface="ＭＳ Ｐゴシック" charset="0"/>
            </a:endParaRPr>
          </a:p>
          <a:p>
            <a:pPr fontAlgn="base">
              <a:lnSpc>
                <a:spcPct val="70000"/>
              </a:lnSpc>
              <a:spcBef>
                <a:spcPct val="20000"/>
              </a:spcBef>
              <a:spcAft>
                <a:spcPct val="0"/>
              </a:spcAft>
            </a:pPr>
            <a:r>
              <a:rPr lang="en-US" sz="1400" dirty="0" err="1">
                <a:solidFill>
                  <a:srgbClr val="000000"/>
                </a:solidFill>
                <a:latin typeface="Times New Roman" charset="0"/>
                <a:ea typeface="ＭＳ Ｐゴシック" charset="0"/>
                <a:cs typeface="ＭＳ Ｐゴシック" charset="0"/>
              </a:rPr>
              <a:t>SequenceNumber</a:t>
            </a:r>
            <a:r>
              <a:rPr lang="en-US" sz="1400" dirty="0">
                <a:solidFill>
                  <a:srgbClr val="000000"/>
                </a:solidFill>
                <a:latin typeface="Times New Roman" charset="0"/>
                <a:ea typeface="ＭＳ Ｐゴシック" charset="0"/>
                <a:cs typeface="ＭＳ Ｐゴシック" charset="0"/>
              </a:rPr>
              <a:t>: </a:t>
            </a:r>
            <a:r>
              <a:rPr lang="en-US" sz="1400" dirty="0" err="1">
                <a:solidFill>
                  <a:srgbClr val="000000"/>
                </a:solidFill>
                <a:latin typeface="Times New Roman" charset="0"/>
                <a:ea typeface="ＭＳ Ｐゴシック" charset="0"/>
                <a:cs typeface="ＭＳ Ｐゴシック" charset="0"/>
              </a:rPr>
              <a:t>SequenceNumberLength</a:t>
            </a:r>
            <a:endParaRPr lang="en-US" sz="2400" dirty="0">
              <a:solidFill>
                <a:srgbClr val="000000"/>
              </a:solidFill>
              <a:latin typeface="Arial" charset="0"/>
              <a:ea typeface="ＭＳ Ｐゴシック" charset="0"/>
              <a:cs typeface="ＭＳ Ｐゴシック" charset="0"/>
            </a:endParaRPr>
          </a:p>
        </p:txBody>
      </p:sp>
      <p:sp>
        <p:nvSpPr>
          <p:cNvPr id="2" name="Text Box 1028">
            <a:extLst>
              <a:ext uri="{FF2B5EF4-FFF2-40B4-BE49-F238E27FC236}">
                <a16:creationId xmlns:a16="http://schemas.microsoft.com/office/drawing/2014/main" id="{27024659-9F9A-0123-0A77-2CF7C3D00ADC}"/>
              </a:ext>
            </a:extLst>
          </p:cNvPr>
          <p:cNvSpPr txBox="1">
            <a:spLocks noChangeArrowheads="1"/>
          </p:cNvSpPr>
          <p:nvPr/>
        </p:nvSpPr>
        <p:spPr bwMode="auto">
          <a:xfrm>
            <a:off x="7785100" y="6181628"/>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
        <p:nvSpPr>
          <p:cNvPr id="3" name="TextBox 2">
            <a:extLst>
              <a:ext uri="{FF2B5EF4-FFF2-40B4-BE49-F238E27FC236}">
                <a16:creationId xmlns:a16="http://schemas.microsoft.com/office/drawing/2014/main" id="{8211775A-001A-5399-372B-3C983F464B26}"/>
              </a:ext>
            </a:extLst>
          </p:cNvPr>
          <p:cNvSpPr txBox="1"/>
          <p:nvPr/>
        </p:nvSpPr>
        <p:spPr>
          <a:xfrm>
            <a:off x="8426450" y="5873851"/>
            <a:ext cx="319510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For further details, see DIS 4396-9-PSOC</a:t>
            </a:r>
          </a:p>
        </p:txBody>
      </p:sp>
    </p:spTree>
    <p:extLst>
      <p:ext uri="{BB962C8B-B14F-4D97-AF65-F5344CB8AC3E}">
        <p14:creationId xmlns:p14="http://schemas.microsoft.com/office/powerpoint/2010/main" val="23189092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261F3418-5EC7-D641-B21D-62195AB3D496}" type="slidenum">
              <a:rPr lang="en-US">
                <a:solidFill>
                  <a:srgbClr val="000000"/>
                </a:solidFill>
                <a:latin typeface="Times"/>
              </a:rPr>
              <a:pPr/>
              <a:t>66</a:t>
            </a:fld>
            <a:endParaRPr lang="en-US">
              <a:solidFill>
                <a:srgbClr val="000000"/>
              </a:solidFill>
              <a:latin typeface="Times"/>
            </a:endParaRPr>
          </a:p>
        </p:txBody>
      </p:sp>
      <p:sp>
        <p:nvSpPr>
          <p:cNvPr id="17410" name="Rectangle 2"/>
          <p:cNvSpPr>
            <a:spLocks noGrp="1" noChangeArrowheads="1"/>
          </p:cNvSpPr>
          <p:nvPr>
            <p:ph type="title"/>
          </p:nvPr>
        </p:nvSpPr>
        <p:spPr>
          <a:xfrm>
            <a:off x="2209800" y="381000"/>
            <a:ext cx="7772400" cy="1143000"/>
          </a:xfrm>
        </p:spPr>
        <p:txBody>
          <a:bodyPr/>
          <a:lstStyle/>
          <a:p>
            <a:r>
              <a:rPr lang="en-US"/>
              <a:t>Data Transfer Control</a:t>
            </a:r>
            <a:br>
              <a:rPr lang="en-US"/>
            </a:br>
            <a:r>
              <a:rPr lang="en-US" sz="2400"/>
              <a:t>General Parameters and Policies</a:t>
            </a:r>
            <a:endParaRPr lang="en-US"/>
          </a:p>
        </p:txBody>
      </p:sp>
      <p:sp>
        <p:nvSpPr>
          <p:cNvPr id="17412" name="Rectangle 4"/>
          <p:cNvSpPr>
            <a:spLocks noGrp="1" noChangeArrowheads="1"/>
          </p:cNvSpPr>
          <p:nvPr>
            <p:ph type="body" idx="1"/>
          </p:nvPr>
        </p:nvSpPr>
        <p:spPr>
          <a:xfrm>
            <a:off x="2057400" y="1600200"/>
            <a:ext cx="8077200" cy="4038600"/>
          </a:xfrm>
          <a:noFill/>
          <a:ln/>
        </p:spPr>
        <p:txBody>
          <a:bodyPr/>
          <a:lstStyle/>
          <a:p>
            <a:r>
              <a:rPr lang="en-US" b="1" dirty="0">
                <a:latin typeface="Times New Roman" charset="0"/>
              </a:rPr>
              <a:t>TA </a:t>
            </a:r>
            <a:r>
              <a:rPr lang="en-US" b="1" dirty="0">
                <a:latin typeface="Times"/>
              </a:rPr>
              <a:t>–</a:t>
            </a:r>
            <a:r>
              <a:rPr lang="en-US" b="1" dirty="0">
                <a:latin typeface="Times New Roman" charset="0"/>
              </a:rPr>
              <a:t> </a:t>
            </a:r>
            <a:r>
              <a:rPr lang="en-US" dirty="0">
                <a:latin typeface="Times New Roman" charset="0"/>
              </a:rPr>
              <a:t>Maximum time an ack is delayed before sending</a:t>
            </a:r>
          </a:p>
          <a:p>
            <a:r>
              <a:rPr lang="en-US" b="1" dirty="0">
                <a:latin typeface="Times New Roman" charset="0"/>
              </a:rPr>
              <a:t>TG </a:t>
            </a:r>
            <a:r>
              <a:rPr lang="en-US" b="1" dirty="0">
                <a:latin typeface="Times"/>
              </a:rPr>
              <a:t>–</a:t>
            </a:r>
            <a:r>
              <a:rPr lang="en-US" dirty="0">
                <a:latin typeface="Times New Roman" charset="0"/>
              </a:rPr>
              <a:t> Maximum time to exhaust retries.</a:t>
            </a:r>
          </a:p>
          <a:p>
            <a:r>
              <a:rPr lang="en-US" b="1" dirty="0" err="1">
                <a:latin typeface="Times New Roman" charset="0"/>
              </a:rPr>
              <a:t>TimeUnit</a:t>
            </a:r>
            <a:r>
              <a:rPr lang="en-US" b="1" dirty="0">
                <a:latin typeface="Times New Roman" charset="0"/>
              </a:rPr>
              <a:t> </a:t>
            </a:r>
            <a:r>
              <a:rPr lang="en-US" b="1" dirty="0">
                <a:latin typeface="Times"/>
              </a:rPr>
              <a:t>–</a:t>
            </a:r>
            <a:r>
              <a:rPr lang="en-US" dirty="0">
                <a:latin typeface="Times New Roman" charset="0"/>
              </a:rPr>
              <a:t> for rate based flow control, i.e. # of PDUs sent per </a:t>
            </a:r>
            <a:r>
              <a:rPr lang="en-US" dirty="0" err="1">
                <a:latin typeface="Times New Roman" charset="0"/>
              </a:rPr>
              <a:t>TimeUnit</a:t>
            </a:r>
            <a:endParaRPr lang="en-US" dirty="0">
              <a:latin typeface="Times New Roman" charset="0"/>
            </a:endParaRPr>
          </a:p>
          <a:p>
            <a:r>
              <a:rPr lang="en-US" b="1" dirty="0" err="1">
                <a:latin typeface="Times New Roman" charset="0"/>
              </a:rPr>
              <a:t>FlowInitPolicy</a:t>
            </a:r>
            <a:r>
              <a:rPr lang="en-US" b="1" dirty="0">
                <a:latin typeface="Times New Roman" charset="0"/>
              </a:rPr>
              <a:t> </a:t>
            </a:r>
            <a:r>
              <a:rPr lang="en-US" b="1" dirty="0">
                <a:latin typeface="Times"/>
              </a:rPr>
              <a:t>–</a:t>
            </a:r>
            <a:r>
              <a:rPr lang="en-US" b="1" dirty="0">
                <a:latin typeface="Times New Roman" charset="0"/>
              </a:rPr>
              <a:t> </a:t>
            </a:r>
            <a:r>
              <a:rPr lang="en-US" dirty="0">
                <a:latin typeface="Times New Roman" charset="0"/>
              </a:rPr>
              <a:t>Data Transfer Control initialization policy</a:t>
            </a:r>
            <a:r>
              <a:rPr lang="en-US" b="1" dirty="0">
                <a:latin typeface="Times New Roman" charset="0"/>
              </a:rPr>
              <a:t> </a:t>
            </a:r>
          </a:p>
          <a:p>
            <a:r>
              <a:rPr lang="en-US" b="1" dirty="0" err="1">
                <a:latin typeface="Times New Roman" charset="0"/>
              </a:rPr>
              <a:t>SVUpdatePolicy</a:t>
            </a:r>
            <a:r>
              <a:rPr lang="en-US" b="1" dirty="0">
                <a:latin typeface="Times New Roman" charset="0"/>
              </a:rPr>
              <a:t> </a:t>
            </a:r>
            <a:r>
              <a:rPr lang="en-US" b="1" dirty="0">
                <a:latin typeface="Times"/>
              </a:rPr>
              <a:t>–</a:t>
            </a:r>
            <a:r>
              <a:rPr lang="en-US" b="1" dirty="0">
                <a:latin typeface="Times New Roman" charset="0"/>
              </a:rPr>
              <a:t> </a:t>
            </a:r>
            <a:r>
              <a:rPr lang="en-US" dirty="0">
                <a:latin typeface="Times New Roman" charset="0"/>
              </a:rPr>
              <a:t>Updates the State Vector on arrival of a </a:t>
            </a:r>
            <a:r>
              <a:rPr lang="en-US" dirty="0" err="1">
                <a:latin typeface="Times New Roman" charset="0"/>
              </a:rPr>
              <a:t>TransferPDU</a:t>
            </a:r>
            <a:endParaRPr lang="en-US" b="1" dirty="0">
              <a:latin typeface="Times New Roman" charset="0"/>
            </a:endParaRPr>
          </a:p>
          <a:p>
            <a:r>
              <a:rPr lang="en-US" b="1" dirty="0" err="1">
                <a:latin typeface="Times New Roman" charset="0"/>
              </a:rPr>
              <a:t>LostControlPDUPolicy</a:t>
            </a:r>
            <a:r>
              <a:rPr lang="en-US" b="1" dirty="0">
                <a:latin typeface="Times New Roman" charset="0"/>
              </a:rPr>
              <a:t> </a:t>
            </a:r>
            <a:r>
              <a:rPr lang="en-US" b="1" dirty="0">
                <a:latin typeface="Times"/>
              </a:rPr>
              <a:t>–</a:t>
            </a:r>
            <a:r>
              <a:rPr lang="en-US" b="1" dirty="0">
                <a:latin typeface="Times New Roman" charset="0"/>
              </a:rPr>
              <a:t> </a:t>
            </a:r>
            <a:r>
              <a:rPr lang="en-US" dirty="0">
                <a:latin typeface="Times New Roman" charset="0"/>
              </a:rPr>
              <a:t>What to do if a Control PDU is lost?</a:t>
            </a:r>
          </a:p>
        </p:txBody>
      </p:sp>
      <p:sp>
        <p:nvSpPr>
          <p:cNvPr id="2" name="Text Box 1028">
            <a:extLst>
              <a:ext uri="{FF2B5EF4-FFF2-40B4-BE49-F238E27FC236}">
                <a16:creationId xmlns:a16="http://schemas.microsoft.com/office/drawing/2014/main" id="{AD15C8CB-6C6E-8EC8-569E-368EFBF34DA3}"/>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7150833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r>
              <a:rPr lang="en-US">
                <a:solidFill>
                  <a:srgbClr val="000000"/>
                </a:solidFill>
                <a:latin typeface="Times"/>
              </a:rPr>
              <a:t>10 May 10</a:t>
            </a:r>
          </a:p>
        </p:txBody>
      </p:sp>
      <p:sp>
        <p:nvSpPr>
          <p:cNvPr id="7" name="Slide Number Placeholder 5"/>
          <p:cNvSpPr>
            <a:spLocks noGrp="1"/>
          </p:cNvSpPr>
          <p:nvPr>
            <p:ph type="sldNum" sz="quarter" idx="12"/>
          </p:nvPr>
        </p:nvSpPr>
        <p:spPr/>
        <p:txBody>
          <a:bodyPr/>
          <a:lstStyle/>
          <a:p>
            <a:fld id="{04C925CB-DF15-BF40-9DD7-CAF729DD84F3}" type="slidenum">
              <a:rPr lang="en-US">
                <a:solidFill>
                  <a:srgbClr val="000000"/>
                </a:solidFill>
                <a:latin typeface="Times"/>
              </a:rPr>
              <a:pPr/>
              <a:t>67</a:t>
            </a:fld>
            <a:endParaRPr lang="en-US">
              <a:solidFill>
                <a:srgbClr val="000000"/>
              </a:solidFill>
              <a:latin typeface="Times"/>
            </a:endParaRPr>
          </a:p>
        </p:txBody>
      </p:sp>
      <p:sp>
        <p:nvSpPr>
          <p:cNvPr id="20482" name="Rectangle 2"/>
          <p:cNvSpPr>
            <a:spLocks noGrp="1" noChangeArrowheads="1"/>
          </p:cNvSpPr>
          <p:nvPr>
            <p:ph type="title"/>
          </p:nvPr>
        </p:nvSpPr>
        <p:spPr>
          <a:xfrm>
            <a:off x="2209800" y="406400"/>
            <a:ext cx="7772400" cy="1143000"/>
          </a:xfrm>
        </p:spPr>
        <p:txBody>
          <a:bodyPr/>
          <a:lstStyle/>
          <a:p>
            <a:r>
              <a:rPr lang="en-US" sz="2800" dirty="0">
                <a:latin typeface="Times New Roman" charset="0"/>
              </a:rPr>
              <a:t>Data Transfer Control Retransmission Policy</a:t>
            </a:r>
          </a:p>
        </p:txBody>
      </p:sp>
      <p:sp>
        <p:nvSpPr>
          <p:cNvPr id="20483" name="Rectangle 3"/>
          <p:cNvSpPr>
            <a:spLocks noGrp="1" noChangeArrowheads="1"/>
          </p:cNvSpPr>
          <p:nvPr>
            <p:ph type="body" idx="1"/>
          </p:nvPr>
        </p:nvSpPr>
        <p:spPr>
          <a:xfrm>
            <a:off x="2209800" y="1549400"/>
            <a:ext cx="7772400" cy="4114800"/>
          </a:xfrm>
        </p:spPr>
        <p:txBody>
          <a:bodyPr/>
          <a:lstStyle/>
          <a:p>
            <a:r>
              <a:rPr lang="en-US" sz="1400" b="1" dirty="0"/>
              <a:t>Basic Policies</a:t>
            </a:r>
          </a:p>
          <a:p>
            <a:pPr lvl="1"/>
            <a:r>
              <a:rPr lang="en-US" sz="1200" b="1" dirty="0"/>
              <a:t>RTT Estimator Policy</a:t>
            </a:r>
            <a:r>
              <a:rPr lang="en-US" sz="1200" dirty="0"/>
              <a:t> - This policy is executed by the sender to estimate the duration of the retransmission timer.  This policy will be based on an estimate of round-trip time and the </a:t>
            </a:r>
            <a:r>
              <a:rPr lang="en-US" sz="1200" dirty="0" err="1"/>
              <a:t>Ack</a:t>
            </a:r>
            <a:r>
              <a:rPr lang="en-US" sz="1200" dirty="0"/>
              <a:t> or </a:t>
            </a:r>
            <a:r>
              <a:rPr lang="en-US" sz="1200" dirty="0" err="1"/>
              <a:t>Ack</a:t>
            </a:r>
            <a:r>
              <a:rPr lang="en-US" sz="1200" dirty="0"/>
              <a:t> List policy in use.</a:t>
            </a:r>
            <a:endParaRPr lang="en-US" sz="1200" b="1" i="1" dirty="0"/>
          </a:p>
          <a:p>
            <a:pPr lvl="1"/>
            <a:r>
              <a:rPr lang="en-US" sz="1200" b="1" dirty="0"/>
              <a:t>Retransmission Timer Expiry Policy - </a:t>
            </a:r>
            <a:r>
              <a:rPr lang="en-US" sz="1200" dirty="0"/>
              <a:t>This policy is executed by the sender when a Retransmission Timer Expires.  If this policy returns True, then all PDUs with sequence number less than or equal to the sequence number of the PDU associated with this timeout are retransmitted; otherwise the procedure must determine what action to take.  This policy must be executed in less than the maximum time to Ack.</a:t>
            </a:r>
            <a:r>
              <a:rPr lang="en-US" sz="1200" b="1" dirty="0"/>
              <a:t> </a:t>
            </a:r>
          </a:p>
          <a:p>
            <a:pPr lvl="1"/>
            <a:r>
              <a:rPr lang="en-US" sz="1200" b="1" dirty="0" err="1"/>
              <a:t>RcvrAck</a:t>
            </a:r>
            <a:r>
              <a:rPr lang="en-US" sz="1200" b="1" dirty="0"/>
              <a:t> Policy – </a:t>
            </a:r>
            <a:r>
              <a:rPr lang="en-US" sz="1200" dirty="0"/>
              <a:t>This policy is executed by the receiver of the PDU and provides some discretion in the action taken.  The default action is to either </a:t>
            </a:r>
            <a:r>
              <a:rPr lang="en-US" sz="1200" dirty="0" err="1"/>
              <a:t>Ack</a:t>
            </a:r>
            <a:r>
              <a:rPr lang="en-US" sz="1200" dirty="0"/>
              <a:t> immediately or to start the A-Timer and </a:t>
            </a:r>
            <a:r>
              <a:rPr lang="en-US" sz="1200" dirty="0" err="1"/>
              <a:t>Ack</a:t>
            </a:r>
            <a:r>
              <a:rPr lang="en-US" sz="1200" dirty="0"/>
              <a:t> the </a:t>
            </a:r>
            <a:r>
              <a:rPr lang="en-US" sz="1200" dirty="0" err="1"/>
              <a:t>LeftWindowEdge</a:t>
            </a:r>
            <a:r>
              <a:rPr lang="en-US" sz="1200" dirty="0"/>
              <a:t> when it expires.</a:t>
            </a:r>
          </a:p>
          <a:p>
            <a:pPr lvl="1"/>
            <a:r>
              <a:rPr lang="en-US" sz="1200" b="1" dirty="0"/>
              <a:t> </a:t>
            </a:r>
            <a:r>
              <a:rPr lang="en-US" sz="1200" b="1" dirty="0" err="1"/>
              <a:t>SendingAck</a:t>
            </a:r>
            <a:r>
              <a:rPr lang="en-US" sz="1200" b="1" dirty="0"/>
              <a:t> Policy – </a:t>
            </a:r>
            <a:r>
              <a:rPr lang="en-US" sz="1200" dirty="0"/>
              <a:t>This policy allows an alternate action when the A-Timer expires when DTCP is present.</a:t>
            </a:r>
            <a:endParaRPr lang="en-US" sz="1200" b="1" i="1" dirty="0"/>
          </a:p>
          <a:p>
            <a:r>
              <a:rPr lang="en-US" sz="1400" b="1" dirty="0"/>
              <a:t>Advanced</a:t>
            </a:r>
          </a:p>
          <a:p>
            <a:pPr lvl="1"/>
            <a:r>
              <a:rPr lang="en-US" sz="1200" b="1" dirty="0"/>
              <a:t>Sender </a:t>
            </a:r>
            <a:r>
              <a:rPr lang="en-US" sz="1200" b="1" dirty="0" err="1"/>
              <a:t>Ack</a:t>
            </a:r>
            <a:r>
              <a:rPr lang="en-US" sz="1200" b="1" dirty="0"/>
              <a:t> Policy  - </a:t>
            </a:r>
            <a:r>
              <a:rPr lang="en-US" sz="1200" dirty="0"/>
              <a:t>This policy is executed by the Sender and provides the Sender with some discretion on when PDUs may be deleted from the </a:t>
            </a:r>
            <a:r>
              <a:rPr lang="en-US" sz="1200" dirty="0" err="1"/>
              <a:t>ReTransmissionQ</a:t>
            </a:r>
            <a:r>
              <a:rPr lang="en-US" sz="1200" dirty="0"/>
              <a:t>.  This is useful for multicast and similar situations where one might want to delay discarding PDUs from the retransmission queue</a:t>
            </a:r>
            <a:r>
              <a:rPr lang="en-US" sz="1200" b="1" dirty="0"/>
              <a:t>.</a:t>
            </a:r>
            <a:endParaRPr lang="en-US" sz="1200" b="1" i="1" dirty="0"/>
          </a:p>
          <a:p>
            <a:pPr lvl="1"/>
            <a:r>
              <a:rPr lang="en-US" sz="1200" b="1" dirty="0"/>
              <a:t>Receiving </a:t>
            </a:r>
            <a:r>
              <a:rPr lang="en-US" sz="1200" b="1" dirty="0" err="1"/>
              <a:t>Ack</a:t>
            </a:r>
            <a:r>
              <a:rPr lang="en-US" sz="1200" b="1" dirty="0"/>
              <a:t> List Policy  -  </a:t>
            </a:r>
            <a:r>
              <a:rPr lang="en-US" sz="1200" dirty="0"/>
              <a:t>This policy is executed by the Sender and provides the Sender with some discretion on when PDUs may be deleted from the </a:t>
            </a:r>
            <a:r>
              <a:rPr lang="en-US" sz="1200" dirty="0" err="1"/>
              <a:t>ReTransmissionQ</a:t>
            </a:r>
            <a:r>
              <a:rPr lang="en-US" sz="1200" dirty="0"/>
              <a:t>.  This policy is used in conjunction with the selective acknowledgement aspects of the mechanism and may be useful for multicast and similar situations where there may be a requirement to delay discarding PDUs from the retransmission queue.</a:t>
            </a:r>
            <a:endParaRPr lang="en-US" sz="1200" b="1" i="1" dirty="0"/>
          </a:p>
          <a:p>
            <a:pPr lvl="2"/>
            <a:endParaRPr lang="en-US" sz="1400" dirty="0">
              <a:latin typeface="Times New Roman" charset="0"/>
            </a:endParaRPr>
          </a:p>
          <a:p>
            <a:pPr lvl="2"/>
            <a:endParaRPr lang="en-US" sz="1400" dirty="0">
              <a:latin typeface="Times New Roman" charset="0"/>
            </a:endParaRPr>
          </a:p>
          <a:p>
            <a:endParaRPr lang="en-US" sz="1400" dirty="0"/>
          </a:p>
        </p:txBody>
      </p:sp>
      <p:sp>
        <p:nvSpPr>
          <p:cNvPr id="20484" name="Rectangle 4"/>
          <p:cNvSpPr>
            <a:spLocks noChangeArrowheads="1"/>
          </p:cNvSpPr>
          <p:nvPr/>
        </p:nvSpPr>
        <p:spPr bwMode="auto">
          <a:xfrm>
            <a:off x="12417425" y="1393825"/>
            <a:ext cx="18415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2" name="Text Box 1028">
            <a:extLst>
              <a:ext uri="{FF2B5EF4-FFF2-40B4-BE49-F238E27FC236}">
                <a16:creationId xmlns:a16="http://schemas.microsoft.com/office/drawing/2014/main" id="{AE065E29-DE18-D6F2-6135-B9DCFAE63CDE}"/>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8161641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7BEB66E2-07D2-8348-940C-B7B83832433B}" type="slidenum">
              <a:rPr lang="en-US">
                <a:solidFill>
                  <a:srgbClr val="000000"/>
                </a:solidFill>
                <a:latin typeface="Times"/>
              </a:rPr>
              <a:pPr/>
              <a:t>68</a:t>
            </a:fld>
            <a:endParaRPr lang="en-US">
              <a:solidFill>
                <a:srgbClr val="000000"/>
              </a:solidFill>
              <a:latin typeface="Times"/>
            </a:endParaRPr>
          </a:p>
        </p:txBody>
      </p:sp>
      <p:sp>
        <p:nvSpPr>
          <p:cNvPr id="21506" name="Rectangle 2"/>
          <p:cNvSpPr>
            <a:spLocks noGrp="1" noChangeArrowheads="1"/>
          </p:cNvSpPr>
          <p:nvPr>
            <p:ph type="title"/>
          </p:nvPr>
        </p:nvSpPr>
        <p:spPr/>
        <p:txBody>
          <a:bodyPr/>
          <a:lstStyle/>
          <a:p>
            <a:r>
              <a:rPr lang="en-US"/>
              <a:t>Data Transfer Control Flow Control Policies</a:t>
            </a:r>
          </a:p>
        </p:txBody>
      </p:sp>
      <p:sp>
        <p:nvSpPr>
          <p:cNvPr id="21507" name="Rectangle 3"/>
          <p:cNvSpPr>
            <a:spLocks noGrp="1" noChangeArrowheads="1"/>
          </p:cNvSpPr>
          <p:nvPr>
            <p:ph type="body" idx="1"/>
          </p:nvPr>
        </p:nvSpPr>
        <p:spPr/>
        <p:txBody>
          <a:bodyPr/>
          <a:lstStyle/>
          <a:p>
            <a:r>
              <a:rPr lang="en-US" sz="1600" b="1" dirty="0" err="1"/>
              <a:t>Rcvr</a:t>
            </a:r>
            <a:r>
              <a:rPr lang="en-US" sz="1600" b="1" dirty="0"/>
              <a:t> Flow Control Policy  - </a:t>
            </a:r>
            <a:r>
              <a:rPr lang="en-US" sz="1600" dirty="0"/>
              <a:t>This policy is invoked when a Transfer PDU is received to give the receiving PM an opportunity to update the flow control allocations.</a:t>
            </a:r>
            <a:endParaRPr lang="en-US" sz="1600" b="1" i="1" dirty="0"/>
          </a:p>
          <a:p>
            <a:r>
              <a:rPr lang="en-US" sz="1600" b="1" dirty="0"/>
              <a:t>Flow Control Overrun Policy -  </a:t>
            </a:r>
            <a:r>
              <a:rPr lang="en-US" sz="1600" dirty="0"/>
              <a:t>This policy determines what action to take if the receiver receives PDUs but the credit or rate has been exceeded.</a:t>
            </a:r>
            <a:r>
              <a:rPr lang="en-US" sz="1600" b="1" dirty="0"/>
              <a:t>  </a:t>
            </a:r>
            <a:endParaRPr lang="en-US" sz="1600" b="1" i="1" dirty="0"/>
          </a:p>
          <a:p>
            <a:r>
              <a:rPr lang="en-US" sz="1600" b="1" dirty="0"/>
              <a:t>Reconcile Flow Conflict Policy - </a:t>
            </a:r>
            <a:r>
              <a:rPr lang="en-US" sz="1600" dirty="0"/>
              <a:t>This policy is invoked when both Credit and Rate based flow control are in use and they disagree on whether the PM can send or receive data.  If it returns True, then the PM can send or receive; if False, it cannot.</a:t>
            </a:r>
          </a:p>
          <a:p>
            <a:r>
              <a:rPr lang="en-US" sz="1600" b="1" dirty="0" err="1"/>
              <a:t>RateReduction</a:t>
            </a:r>
            <a:r>
              <a:rPr lang="en-US" sz="1600" b="1" dirty="0"/>
              <a:t> Policy – </a:t>
            </a:r>
            <a:r>
              <a:rPr lang="en-US" sz="1600" dirty="0"/>
              <a:t>This policy allows an alternate action when using rate-based flow control and the number of free buffers is getting low.</a:t>
            </a:r>
          </a:p>
          <a:p>
            <a:r>
              <a:rPr lang="en-US" sz="1600" b="1" dirty="0"/>
              <a:t>Receiving Flow Control Policy</a:t>
            </a:r>
            <a:r>
              <a:rPr lang="en-US" sz="1600" dirty="0"/>
              <a:t> – This policy allows some discretion in when to send a Flow Control PDU when there is no Retransmission Control.</a:t>
            </a:r>
          </a:p>
          <a:p>
            <a:r>
              <a:rPr lang="en-US" sz="1600" b="1" dirty="0" err="1"/>
              <a:t>RcvrControlAck</a:t>
            </a:r>
            <a:r>
              <a:rPr lang="en-US" sz="1600" b="1" dirty="0"/>
              <a:t> Policy – </a:t>
            </a:r>
            <a:r>
              <a:rPr lang="en-US" sz="1600" dirty="0"/>
              <a:t>This policy allows an alternate action when a Control </a:t>
            </a:r>
            <a:r>
              <a:rPr lang="en-US" sz="1600" dirty="0" err="1"/>
              <a:t>Ack</a:t>
            </a:r>
            <a:r>
              <a:rPr lang="en-US" sz="1600" dirty="0"/>
              <a:t> PDU is received.</a:t>
            </a:r>
          </a:p>
        </p:txBody>
      </p:sp>
      <p:sp>
        <p:nvSpPr>
          <p:cNvPr id="2" name="Text Box 1028">
            <a:extLst>
              <a:ext uri="{FF2B5EF4-FFF2-40B4-BE49-F238E27FC236}">
                <a16:creationId xmlns:a16="http://schemas.microsoft.com/office/drawing/2014/main" id="{E354384A-810D-B395-F6B6-2BC8DDD834DF}"/>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590249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Date Placeholder 3"/>
          <p:cNvSpPr>
            <a:spLocks noGrp="1"/>
          </p:cNvSpPr>
          <p:nvPr>
            <p:ph type="dt" sz="half" idx="10"/>
          </p:nvPr>
        </p:nvSpPr>
        <p:spPr/>
        <p:txBody>
          <a:bodyPr/>
          <a:lstStyle/>
          <a:p>
            <a:r>
              <a:rPr lang="en-US">
                <a:solidFill>
                  <a:srgbClr val="000000"/>
                </a:solidFill>
                <a:latin typeface="Times"/>
              </a:rPr>
              <a:t>10 May 10</a:t>
            </a:r>
          </a:p>
        </p:txBody>
      </p:sp>
      <p:sp>
        <p:nvSpPr>
          <p:cNvPr id="78" name="Slide Number Placeholder 5"/>
          <p:cNvSpPr>
            <a:spLocks noGrp="1"/>
          </p:cNvSpPr>
          <p:nvPr>
            <p:ph type="sldNum" sz="quarter" idx="12"/>
          </p:nvPr>
        </p:nvSpPr>
        <p:spPr/>
        <p:txBody>
          <a:bodyPr/>
          <a:lstStyle/>
          <a:p>
            <a:fld id="{6EDB4CDE-A6F0-A348-A32C-BD6A57CF0D7E}" type="slidenum">
              <a:rPr lang="en-US">
                <a:solidFill>
                  <a:srgbClr val="000000"/>
                </a:solidFill>
                <a:latin typeface="Times"/>
              </a:rPr>
              <a:pPr/>
              <a:t>69</a:t>
            </a:fld>
            <a:endParaRPr lang="en-US">
              <a:solidFill>
                <a:srgbClr val="000000"/>
              </a:solidFill>
              <a:latin typeface="Times"/>
            </a:endParaRPr>
          </a:p>
        </p:txBody>
      </p:sp>
      <p:sp>
        <p:nvSpPr>
          <p:cNvPr id="19458" name="Rectangle 2"/>
          <p:cNvSpPr>
            <a:spLocks noGrp="1" noChangeArrowheads="1"/>
          </p:cNvSpPr>
          <p:nvPr>
            <p:ph type="title"/>
          </p:nvPr>
        </p:nvSpPr>
        <p:spPr/>
        <p:txBody>
          <a:bodyPr/>
          <a:lstStyle/>
          <a:p>
            <a:r>
              <a:rPr lang="en-US"/>
              <a:t>Relaying and Multiplexing Task</a:t>
            </a:r>
          </a:p>
        </p:txBody>
      </p:sp>
      <p:sp>
        <p:nvSpPr>
          <p:cNvPr id="19459" name="Rectangle 3"/>
          <p:cNvSpPr>
            <a:spLocks noGrp="1" noChangeArrowheads="1"/>
          </p:cNvSpPr>
          <p:nvPr>
            <p:ph type="body" idx="1"/>
          </p:nvPr>
        </p:nvSpPr>
        <p:spPr>
          <a:xfrm>
            <a:off x="2133600" y="4800600"/>
            <a:ext cx="7924800" cy="1447800"/>
          </a:xfrm>
        </p:spPr>
        <p:txBody>
          <a:bodyPr/>
          <a:lstStyle/>
          <a:p>
            <a:r>
              <a:rPr lang="en-US"/>
              <a:t>Queues at the top are at least one per QoS Class.</a:t>
            </a:r>
          </a:p>
          <a:p>
            <a:r>
              <a:rPr lang="en-US"/>
              <a:t>Queues at the bottom are created by the Resource Allocator and may be related to the number of QoS Classes provided by the lower DIF.</a:t>
            </a:r>
          </a:p>
        </p:txBody>
      </p:sp>
      <p:grpSp>
        <p:nvGrpSpPr>
          <p:cNvPr id="19461" name="Group 5"/>
          <p:cNvGrpSpPr>
            <a:grpSpLocks/>
          </p:cNvGrpSpPr>
          <p:nvPr/>
        </p:nvGrpSpPr>
        <p:grpSpPr bwMode="auto">
          <a:xfrm>
            <a:off x="3581400" y="1676400"/>
            <a:ext cx="4686300" cy="2933700"/>
            <a:chOff x="3321" y="7204"/>
            <a:chExt cx="7380" cy="4620"/>
          </a:xfrm>
        </p:grpSpPr>
        <p:grpSp>
          <p:nvGrpSpPr>
            <p:cNvPr id="19462" name="Group 6"/>
            <p:cNvGrpSpPr>
              <a:grpSpLocks/>
            </p:cNvGrpSpPr>
            <p:nvPr/>
          </p:nvGrpSpPr>
          <p:grpSpPr bwMode="auto">
            <a:xfrm>
              <a:off x="8001" y="8824"/>
              <a:ext cx="1080" cy="900"/>
              <a:chOff x="8541" y="5584"/>
              <a:chExt cx="1080" cy="900"/>
            </a:xfrm>
          </p:grpSpPr>
          <p:sp>
            <p:nvSpPr>
              <p:cNvPr id="19463" name="Rectangle 7"/>
              <p:cNvSpPr>
                <a:spLocks noChangeArrowheads="1"/>
              </p:cNvSpPr>
              <p:nvPr/>
            </p:nvSpPr>
            <p:spPr bwMode="auto">
              <a:xfrm>
                <a:off x="8541" y="5584"/>
                <a:ext cx="1080" cy="90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64" name="Line 8"/>
              <p:cNvSpPr>
                <a:spLocks noChangeShapeType="1"/>
              </p:cNvSpPr>
              <p:nvPr/>
            </p:nvSpPr>
            <p:spPr bwMode="auto">
              <a:xfrm>
                <a:off x="8541" y="5764"/>
                <a:ext cx="1080" cy="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65" name="Line 9"/>
              <p:cNvSpPr>
                <a:spLocks noChangeShapeType="1"/>
              </p:cNvSpPr>
              <p:nvPr/>
            </p:nvSpPr>
            <p:spPr bwMode="auto">
              <a:xfrm>
                <a:off x="8541" y="5944"/>
                <a:ext cx="1080" cy="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66" name="Line 10"/>
              <p:cNvSpPr>
                <a:spLocks noChangeShapeType="1"/>
              </p:cNvSpPr>
              <p:nvPr/>
            </p:nvSpPr>
            <p:spPr bwMode="auto">
              <a:xfrm>
                <a:off x="8541" y="6124"/>
                <a:ext cx="1080" cy="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67" name="Line 11"/>
              <p:cNvSpPr>
                <a:spLocks noChangeShapeType="1"/>
              </p:cNvSpPr>
              <p:nvPr/>
            </p:nvSpPr>
            <p:spPr bwMode="auto">
              <a:xfrm>
                <a:off x="8541" y="6304"/>
                <a:ext cx="1080" cy="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68" name="Line 12"/>
              <p:cNvSpPr>
                <a:spLocks noChangeShapeType="1"/>
              </p:cNvSpPr>
              <p:nvPr/>
            </p:nvSpPr>
            <p:spPr bwMode="auto">
              <a:xfrm>
                <a:off x="8901" y="5584"/>
                <a:ext cx="0" cy="90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19469" name="Rectangle 13"/>
            <p:cNvSpPr>
              <a:spLocks noChangeArrowheads="1"/>
            </p:cNvSpPr>
            <p:nvPr/>
          </p:nvSpPr>
          <p:spPr bwMode="auto">
            <a:xfrm>
              <a:off x="3681" y="10563"/>
              <a:ext cx="72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0" name="Rectangle 14"/>
            <p:cNvSpPr>
              <a:spLocks noChangeArrowheads="1"/>
            </p:cNvSpPr>
            <p:nvPr/>
          </p:nvSpPr>
          <p:spPr bwMode="auto">
            <a:xfrm>
              <a:off x="4581" y="10563"/>
              <a:ext cx="72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1" name="Rectangle 15"/>
            <p:cNvSpPr>
              <a:spLocks noChangeArrowheads="1"/>
            </p:cNvSpPr>
            <p:nvPr/>
          </p:nvSpPr>
          <p:spPr bwMode="auto">
            <a:xfrm>
              <a:off x="3321" y="11284"/>
              <a:ext cx="2700" cy="540"/>
            </a:xfrm>
            <a:prstGeom prst="rect">
              <a:avLst/>
            </a:prstGeom>
            <a:solidFill>
              <a:srgbClr val="FFFFFF"/>
            </a:solidFill>
            <a:ln w="9525">
              <a:solidFill>
                <a:srgbClr val="000000"/>
              </a:solidFill>
              <a:miter lim="800000"/>
              <a:headEnd/>
              <a:tailEnd/>
            </a:ln>
          </p:spPr>
          <p:txBody>
            <a:bodyPr/>
            <a:lstStyle/>
            <a:p>
              <a:pPr algn="ct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(N-1)-DIF A</a:t>
              </a:r>
            </a:p>
          </p:txBody>
        </p:sp>
        <p:sp>
          <p:nvSpPr>
            <p:cNvPr id="19472" name="Rectangle 16"/>
            <p:cNvSpPr>
              <a:spLocks noChangeArrowheads="1"/>
            </p:cNvSpPr>
            <p:nvPr/>
          </p:nvSpPr>
          <p:spPr bwMode="auto">
            <a:xfrm>
              <a:off x="6021" y="11284"/>
              <a:ext cx="2700" cy="540"/>
            </a:xfrm>
            <a:prstGeom prst="rect">
              <a:avLst/>
            </a:prstGeom>
            <a:solidFill>
              <a:srgbClr val="FFFFFF"/>
            </a:solidFill>
            <a:ln w="9525">
              <a:solidFill>
                <a:srgbClr val="000000"/>
              </a:solidFill>
              <a:miter lim="800000"/>
              <a:headEnd/>
              <a:tailEnd/>
            </a:ln>
          </p:spPr>
          <p:txBody>
            <a:bodyPr/>
            <a:lstStyle/>
            <a:p>
              <a:pPr algn="ct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(N-1)-DIF B</a:t>
              </a:r>
            </a:p>
          </p:txBody>
        </p:sp>
        <p:sp>
          <p:nvSpPr>
            <p:cNvPr id="19473" name="Rectangle 17"/>
            <p:cNvSpPr>
              <a:spLocks noChangeArrowheads="1"/>
            </p:cNvSpPr>
            <p:nvPr/>
          </p:nvSpPr>
          <p:spPr bwMode="auto">
            <a:xfrm>
              <a:off x="6021" y="10563"/>
              <a:ext cx="72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4" name="Rectangle 18"/>
            <p:cNvSpPr>
              <a:spLocks noChangeArrowheads="1"/>
            </p:cNvSpPr>
            <p:nvPr/>
          </p:nvSpPr>
          <p:spPr bwMode="auto">
            <a:xfrm>
              <a:off x="6921" y="10563"/>
              <a:ext cx="72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5" name="Rectangle 19"/>
            <p:cNvSpPr>
              <a:spLocks noChangeArrowheads="1"/>
            </p:cNvSpPr>
            <p:nvPr/>
          </p:nvSpPr>
          <p:spPr bwMode="auto">
            <a:xfrm>
              <a:off x="7821" y="10563"/>
              <a:ext cx="72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6" name="Oval 20"/>
            <p:cNvSpPr>
              <a:spLocks noChangeArrowheads="1"/>
            </p:cNvSpPr>
            <p:nvPr/>
          </p:nvSpPr>
          <p:spPr bwMode="auto">
            <a:xfrm>
              <a:off x="3861" y="11164"/>
              <a:ext cx="180" cy="180"/>
            </a:xfrm>
            <a:prstGeom prst="ellipse">
              <a:avLst/>
            </a:prstGeom>
            <a:solidFill>
              <a:srgbClr val="000000"/>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7" name="Oval 21"/>
            <p:cNvSpPr>
              <a:spLocks noChangeArrowheads="1"/>
            </p:cNvSpPr>
            <p:nvPr/>
          </p:nvSpPr>
          <p:spPr bwMode="auto">
            <a:xfrm>
              <a:off x="4941" y="11164"/>
              <a:ext cx="180" cy="180"/>
            </a:xfrm>
            <a:prstGeom prst="ellipse">
              <a:avLst/>
            </a:prstGeom>
            <a:solidFill>
              <a:srgbClr val="000000"/>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8" name="Oval 22"/>
            <p:cNvSpPr>
              <a:spLocks noChangeArrowheads="1"/>
            </p:cNvSpPr>
            <p:nvPr/>
          </p:nvSpPr>
          <p:spPr bwMode="auto">
            <a:xfrm>
              <a:off x="6381" y="11164"/>
              <a:ext cx="180" cy="180"/>
            </a:xfrm>
            <a:prstGeom prst="ellipse">
              <a:avLst/>
            </a:prstGeom>
            <a:solidFill>
              <a:srgbClr val="000000"/>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79" name="Oval 23"/>
            <p:cNvSpPr>
              <a:spLocks noChangeArrowheads="1"/>
            </p:cNvSpPr>
            <p:nvPr/>
          </p:nvSpPr>
          <p:spPr bwMode="auto">
            <a:xfrm>
              <a:off x="7281" y="11164"/>
              <a:ext cx="180" cy="180"/>
            </a:xfrm>
            <a:prstGeom prst="ellipse">
              <a:avLst/>
            </a:prstGeom>
            <a:solidFill>
              <a:srgbClr val="000000"/>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80" name="Oval 24"/>
            <p:cNvSpPr>
              <a:spLocks noChangeArrowheads="1"/>
            </p:cNvSpPr>
            <p:nvPr/>
          </p:nvSpPr>
          <p:spPr bwMode="auto">
            <a:xfrm>
              <a:off x="8181" y="11164"/>
              <a:ext cx="180" cy="180"/>
            </a:xfrm>
            <a:prstGeom prst="ellipse">
              <a:avLst/>
            </a:prstGeom>
            <a:solidFill>
              <a:srgbClr val="000000"/>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81" name="Text Box 25"/>
            <p:cNvSpPr txBox="1">
              <a:spLocks noChangeArrowheads="1"/>
            </p:cNvSpPr>
            <p:nvPr/>
          </p:nvSpPr>
          <p:spPr bwMode="auto">
            <a:xfrm>
              <a:off x="8901" y="10444"/>
              <a:ext cx="1800" cy="10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200" b="1">
                  <a:solidFill>
                    <a:srgbClr val="000000"/>
                  </a:solidFill>
                  <a:latin typeface="Times New Roman" charset="0"/>
                  <a:ea typeface="ＭＳ Ｐゴシック" charset="0"/>
                  <a:cs typeface="ＭＳ Ｐゴシック" charset="0"/>
                </a:rPr>
                <a:t>Queues</a:t>
              </a:r>
            </a:p>
            <a:p>
              <a:pPr eaLnBrk="0" fontAlgn="base" hangingPunct="0">
                <a:spcBef>
                  <a:spcPct val="0"/>
                </a:spcBef>
                <a:spcAft>
                  <a:spcPct val="0"/>
                </a:spcAft>
              </a:pPr>
              <a:endParaRPr lang="en-US" sz="1200" b="1">
                <a:solidFill>
                  <a:srgbClr val="000000"/>
                </a:solidFill>
                <a:latin typeface="Times New Roman" charset="0"/>
                <a:ea typeface="ＭＳ Ｐゴシック" charset="0"/>
                <a:cs typeface="ＭＳ Ｐゴシック" charset="0"/>
              </a:endParaRPr>
            </a:p>
            <a:p>
              <a:pPr eaLnBrk="0" fontAlgn="base" hangingPunct="0">
                <a:spcBef>
                  <a:spcPct val="0"/>
                </a:spcBef>
                <a:spcAft>
                  <a:spcPct val="0"/>
                </a:spcAft>
              </a:pPr>
              <a:r>
                <a:rPr lang="en-US" sz="1200" b="1">
                  <a:solidFill>
                    <a:srgbClr val="000000"/>
                  </a:solidFill>
                  <a:latin typeface="Times New Roman" charset="0"/>
                  <a:ea typeface="ＭＳ Ｐゴシック" charset="0"/>
                  <a:cs typeface="ＭＳ Ｐゴシック" charset="0"/>
                </a:rPr>
                <a:t>Ports</a:t>
              </a:r>
            </a:p>
          </p:txBody>
        </p:sp>
        <p:sp>
          <p:nvSpPr>
            <p:cNvPr id="19482" name="Oval 26"/>
            <p:cNvSpPr>
              <a:spLocks noChangeArrowheads="1"/>
            </p:cNvSpPr>
            <p:nvPr/>
          </p:nvSpPr>
          <p:spPr bwMode="auto">
            <a:xfrm>
              <a:off x="5121" y="8644"/>
              <a:ext cx="1980" cy="1080"/>
            </a:xfrm>
            <a:prstGeom prst="ellipse">
              <a:avLst/>
            </a:pr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nvGrpSpPr>
            <p:cNvPr id="19483" name="Group 27"/>
            <p:cNvGrpSpPr>
              <a:grpSpLocks/>
            </p:cNvGrpSpPr>
            <p:nvPr/>
          </p:nvGrpSpPr>
          <p:grpSpPr bwMode="auto">
            <a:xfrm>
              <a:off x="3681" y="7384"/>
              <a:ext cx="1779" cy="492"/>
              <a:chOff x="3681" y="5044"/>
              <a:chExt cx="1779" cy="492"/>
            </a:xfrm>
          </p:grpSpPr>
          <p:grpSp>
            <p:nvGrpSpPr>
              <p:cNvPr id="19484" name="Group 28"/>
              <p:cNvGrpSpPr>
                <a:grpSpLocks/>
              </p:cNvGrpSpPr>
              <p:nvPr/>
            </p:nvGrpSpPr>
            <p:grpSpPr bwMode="auto">
              <a:xfrm>
                <a:off x="3681" y="5044"/>
                <a:ext cx="1080" cy="180"/>
                <a:chOff x="4581" y="5044"/>
                <a:chExt cx="1080" cy="180"/>
              </a:xfrm>
            </p:grpSpPr>
            <p:sp>
              <p:nvSpPr>
                <p:cNvPr id="19485" name="Rectangle 29"/>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86" name="Line 30"/>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487" name="Group 31"/>
              <p:cNvGrpSpPr>
                <a:grpSpLocks/>
              </p:cNvGrpSpPr>
              <p:nvPr/>
            </p:nvGrpSpPr>
            <p:grpSpPr bwMode="auto">
              <a:xfrm>
                <a:off x="3841" y="5140"/>
                <a:ext cx="1080" cy="180"/>
                <a:chOff x="4581" y="5044"/>
                <a:chExt cx="1080" cy="180"/>
              </a:xfrm>
            </p:grpSpPr>
            <p:sp>
              <p:nvSpPr>
                <p:cNvPr id="19488" name="Rectangle 32"/>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89" name="Line 33"/>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490" name="Group 34"/>
              <p:cNvGrpSpPr>
                <a:grpSpLocks/>
              </p:cNvGrpSpPr>
              <p:nvPr/>
            </p:nvGrpSpPr>
            <p:grpSpPr bwMode="auto">
              <a:xfrm>
                <a:off x="4112" y="5260"/>
                <a:ext cx="1080" cy="180"/>
                <a:chOff x="4581" y="5044"/>
                <a:chExt cx="1080" cy="180"/>
              </a:xfrm>
            </p:grpSpPr>
            <p:sp>
              <p:nvSpPr>
                <p:cNvPr id="19491" name="Rectangle 35"/>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92" name="Line 36"/>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493" name="Group 37"/>
              <p:cNvGrpSpPr>
                <a:grpSpLocks/>
              </p:cNvGrpSpPr>
              <p:nvPr/>
            </p:nvGrpSpPr>
            <p:grpSpPr bwMode="auto">
              <a:xfrm>
                <a:off x="4380" y="5356"/>
                <a:ext cx="1080" cy="180"/>
                <a:chOff x="4581" y="5044"/>
                <a:chExt cx="1080" cy="180"/>
              </a:xfrm>
            </p:grpSpPr>
            <p:sp>
              <p:nvSpPr>
                <p:cNvPr id="19494" name="Rectangle 38"/>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95" name="Line 39"/>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grpSp>
          <p:nvGrpSpPr>
            <p:cNvPr id="19496" name="Group 40"/>
            <p:cNvGrpSpPr>
              <a:grpSpLocks/>
            </p:cNvGrpSpPr>
            <p:nvPr/>
          </p:nvGrpSpPr>
          <p:grpSpPr bwMode="auto">
            <a:xfrm>
              <a:off x="5121" y="7384"/>
              <a:ext cx="1779" cy="492"/>
              <a:chOff x="3681" y="5044"/>
              <a:chExt cx="1779" cy="492"/>
            </a:xfrm>
          </p:grpSpPr>
          <p:grpSp>
            <p:nvGrpSpPr>
              <p:cNvPr id="19497" name="Group 41"/>
              <p:cNvGrpSpPr>
                <a:grpSpLocks/>
              </p:cNvGrpSpPr>
              <p:nvPr/>
            </p:nvGrpSpPr>
            <p:grpSpPr bwMode="auto">
              <a:xfrm>
                <a:off x="3681" y="5044"/>
                <a:ext cx="1080" cy="180"/>
                <a:chOff x="4581" y="5044"/>
                <a:chExt cx="1080" cy="180"/>
              </a:xfrm>
            </p:grpSpPr>
            <p:sp>
              <p:nvSpPr>
                <p:cNvPr id="19498" name="Rectangle 42"/>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499" name="Line 43"/>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500" name="Group 44"/>
              <p:cNvGrpSpPr>
                <a:grpSpLocks/>
              </p:cNvGrpSpPr>
              <p:nvPr/>
            </p:nvGrpSpPr>
            <p:grpSpPr bwMode="auto">
              <a:xfrm>
                <a:off x="3841" y="5140"/>
                <a:ext cx="1080" cy="180"/>
                <a:chOff x="4581" y="5044"/>
                <a:chExt cx="1080" cy="180"/>
              </a:xfrm>
            </p:grpSpPr>
            <p:sp>
              <p:nvSpPr>
                <p:cNvPr id="19501" name="Rectangle 45"/>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02" name="Line 46"/>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503" name="Group 47"/>
              <p:cNvGrpSpPr>
                <a:grpSpLocks/>
              </p:cNvGrpSpPr>
              <p:nvPr/>
            </p:nvGrpSpPr>
            <p:grpSpPr bwMode="auto">
              <a:xfrm>
                <a:off x="4112" y="5260"/>
                <a:ext cx="1080" cy="180"/>
                <a:chOff x="4581" y="5044"/>
                <a:chExt cx="1080" cy="180"/>
              </a:xfrm>
            </p:grpSpPr>
            <p:sp>
              <p:nvSpPr>
                <p:cNvPr id="19504" name="Rectangle 48"/>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05" name="Line 49"/>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506" name="Group 50"/>
              <p:cNvGrpSpPr>
                <a:grpSpLocks/>
              </p:cNvGrpSpPr>
              <p:nvPr/>
            </p:nvGrpSpPr>
            <p:grpSpPr bwMode="auto">
              <a:xfrm>
                <a:off x="4380" y="5356"/>
                <a:ext cx="1080" cy="180"/>
                <a:chOff x="4581" y="5044"/>
                <a:chExt cx="1080" cy="180"/>
              </a:xfrm>
            </p:grpSpPr>
            <p:sp>
              <p:nvSpPr>
                <p:cNvPr id="19507" name="Rectangle 51"/>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08" name="Line 52"/>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grpSp>
          <p:nvGrpSpPr>
            <p:cNvPr id="19509" name="Group 53"/>
            <p:cNvGrpSpPr>
              <a:grpSpLocks/>
            </p:cNvGrpSpPr>
            <p:nvPr/>
          </p:nvGrpSpPr>
          <p:grpSpPr bwMode="auto">
            <a:xfrm>
              <a:off x="6561" y="7384"/>
              <a:ext cx="1779" cy="492"/>
              <a:chOff x="3681" y="5044"/>
              <a:chExt cx="1779" cy="492"/>
            </a:xfrm>
          </p:grpSpPr>
          <p:grpSp>
            <p:nvGrpSpPr>
              <p:cNvPr id="19510" name="Group 54"/>
              <p:cNvGrpSpPr>
                <a:grpSpLocks/>
              </p:cNvGrpSpPr>
              <p:nvPr/>
            </p:nvGrpSpPr>
            <p:grpSpPr bwMode="auto">
              <a:xfrm>
                <a:off x="3681" y="5044"/>
                <a:ext cx="1080" cy="180"/>
                <a:chOff x="4581" y="5044"/>
                <a:chExt cx="1080" cy="180"/>
              </a:xfrm>
            </p:grpSpPr>
            <p:sp>
              <p:nvSpPr>
                <p:cNvPr id="19511" name="Rectangle 55"/>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12" name="Line 56"/>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513" name="Group 57"/>
              <p:cNvGrpSpPr>
                <a:grpSpLocks/>
              </p:cNvGrpSpPr>
              <p:nvPr/>
            </p:nvGrpSpPr>
            <p:grpSpPr bwMode="auto">
              <a:xfrm>
                <a:off x="3841" y="5140"/>
                <a:ext cx="1080" cy="180"/>
                <a:chOff x="4581" y="5044"/>
                <a:chExt cx="1080" cy="180"/>
              </a:xfrm>
            </p:grpSpPr>
            <p:sp>
              <p:nvSpPr>
                <p:cNvPr id="19514" name="Rectangle 58"/>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15" name="Line 59"/>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516" name="Group 60"/>
              <p:cNvGrpSpPr>
                <a:grpSpLocks/>
              </p:cNvGrpSpPr>
              <p:nvPr/>
            </p:nvGrpSpPr>
            <p:grpSpPr bwMode="auto">
              <a:xfrm>
                <a:off x="4112" y="5260"/>
                <a:ext cx="1080" cy="180"/>
                <a:chOff x="4581" y="5044"/>
                <a:chExt cx="1080" cy="180"/>
              </a:xfrm>
            </p:grpSpPr>
            <p:sp>
              <p:nvSpPr>
                <p:cNvPr id="19517" name="Rectangle 61"/>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18" name="Line 62"/>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19519" name="Group 63"/>
              <p:cNvGrpSpPr>
                <a:grpSpLocks/>
              </p:cNvGrpSpPr>
              <p:nvPr/>
            </p:nvGrpSpPr>
            <p:grpSpPr bwMode="auto">
              <a:xfrm>
                <a:off x="4380" y="5356"/>
                <a:ext cx="1080" cy="180"/>
                <a:chOff x="4581" y="5044"/>
                <a:chExt cx="1080" cy="180"/>
              </a:xfrm>
            </p:grpSpPr>
            <p:sp>
              <p:nvSpPr>
                <p:cNvPr id="19520" name="Rectangle 64"/>
                <p:cNvSpPr>
                  <a:spLocks noChangeArrowheads="1"/>
                </p:cNvSpPr>
                <p:nvPr/>
              </p:nvSpPr>
              <p:spPr bwMode="auto">
                <a:xfrm>
                  <a:off x="4581" y="5044"/>
                  <a:ext cx="1080" cy="18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1" name="Line 65"/>
                <p:cNvSpPr>
                  <a:spLocks noChangeShapeType="1"/>
                </p:cNvSpPr>
                <p:nvPr/>
              </p:nvSpPr>
              <p:spPr bwMode="auto">
                <a:xfrm>
                  <a:off x="4941" y="5044"/>
                  <a:ext cx="0" cy="1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sp>
          <p:nvSpPr>
            <p:cNvPr id="19522" name="Text Box 66"/>
            <p:cNvSpPr txBox="1">
              <a:spLocks noChangeArrowheads="1"/>
            </p:cNvSpPr>
            <p:nvPr/>
          </p:nvSpPr>
          <p:spPr bwMode="auto">
            <a:xfrm>
              <a:off x="8541" y="7204"/>
              <a:ext cx="1800" cy="900"/>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PDUs from</a:t>
              </a:r>
            </a:p>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EFCP &amp; (N-1)-DIF flows</a:t>
              </a:r>
            </a:p>
          </p:txBody>
        </p:sp>
        <p:sp>
          <p:nvSpPr>
            <p:cNvPr id="19523" name="AutoShape 67"/>
            <p:cNvSpPr>
              <a:spLocks noChangeArrowheads="1"/>
            </p:cNvSpPr>
            <p:nvPr/>
          </p:nvSpPr>
          <p:spPr bwMode="auto">
            <a:xfrm flipV="1">
              <a:off x="6561" y="9184"/>
              <a:ext cx="1440" cy="36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4" name="AutoShape 68"/>
            <p:cNvSpPr>
              <a:spLocks noChangeArrowheads="1"/>
            </p:cNvSpPr>
            <p:nvPr/>
          </p:nvSpPr>
          <p:spPr bwMode="auto">
            <a:xfrm rot="3823474">
              <a:off x="4713" y="8276"/>
              <a:ext cx="918" cy="260"/>
            </a:xfrm>
            <a:prstGeom prst="rightArrow">
              <a:avLst>
                <a:gd name="adj1" fmla="val 50000"/>
                <a:gd name="adj2" fmla="val 88269"/>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5" name="AutoShape 69"/>
            <p:cNvSpPr>
              <a:spLocks noChangeArrowheads="1"/>
            </p:cNvSpPr>
            <p:nvPr/>
          </p:nvSpPr>
          <p:spPr bwMode="auto">
            <a:xfrm rot="5238112">
              <a:off x="5755" y="8190"/>
              <a:ext cx="717" cy="185"/>
            </a:xfrm>
            <a:prstGeom prst="rightArrow">
              <a:avLst>
                <a:gd name="adj1" fmla="val 50000"/>
                <a:gd name="adj2" fmla="val 96892"/>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6" name="AutoShape 70"/>
            <p:cNvSpPr>
              <a:spLocks noChangeArrowheads="1"/>
            </p:cNvSpPr>
            <p:nvPr/>
          </p:nvSpPr>
          <p:spPr bwMode="auto">
            <a:xfrm rot="7673773">
              <a:off x="6592" y="8253"/>
              <a:ext cx="918" cy="260"/>
            </a:xfrm>
            <a:prstGeom prst="rightArrow">
              <a:avLst>
                <a:gd name="adj1" fmla="val 50000"/>
                <a:gd name="adj2" fmla="val 88269"/>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7" name="AutoShape 71"/>
            <p:cNvSpPr>
              <a:spLocks noChangeArrowheads="1"/>
            </p:cNvSpPr>
            <p:nvPr/>
          </p:nvSpPr>
          <p:spPr bwMode="auto">
            <a:xfrm rot="7673773">
              <a:off x="4252" y="9873"/>
              <a:ext cx="918" cy="260"/>
            </a:xfrm>
            <a:prstGeom prst="rightArrow">
              <a:avLst>
                <a:gd name="adj1" fmla="val 50000"/>
                <a:gd name="adj2" fmla="val 88269"/>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8" name="AutoShape 72"/>
            <p:cNvSpPr>
              <a:spLocks noChangeArrowheads="1"/>
            </p:cNvSpPr>
            <p:nvPr/>
          </p:nvSpPr>
          <p:spPr bwMode="auto">
            <a:xfrm rot="7673773">
              <a:off x="4972" y="10053"/>
              <a:ext cx="918" cy="260"/>
            </a:xfrm>
            <a:prstGeom prst="rightArrow">
              <a:avLst>
                <a:gd name="adj1" fmla="val 50000"/>
                <a:gd name="adj2" fmla="val 88269"/>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29" name="AutoShape 73"/>
            <p:cNvSpPr>
              <a:spLocks noChangeArrowheads="1"/>
            </p:cNvSpPr>
            <p:nvPr/>
          </p:nvSpPr>
          <p:spPr bwMode="auto">
            <a:xfrm rot="5354000">
              <a:off x="5932" y="9993"/>
              <a:ext cx="720" cy="182"/>
            </a:xfrm>
            <a:prstGeom prst="rightArrow">
              <a:avLst>
                <a:gd name="adj1" fmla="val 50000"/>
                <a:gd name="adj2" fmla="val 98901"/>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30" name="AutoShape 74"/>
            <p:cNvSpPr>
              <a:spLocks noChangeArrowheads="1"/>
            </p:cNvSpPr>
            <p:nvPr/>
          </p:nvSpPr>
          <p:spPr bwMode="auto">
            <a:xfrm rot="4279798">
              <a:off x="6592" y="9873"/>
              <a:ext cx="918" cy="260"/>
            </a:xfrm>
            <a:prstGeom prst="rightArrow">
              <a:avLst>
                <a:gd name="adj1" fmla="val 50000"/>
                <a:gd name="adj2" fmla="val 88269"/>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31" name="AutoShape 75"/>
            <p:cNvSpPr>
              <a:spLocks noChangeArrowheads="1"/>
            </p:cNvSpPr>
            <p:nvPr/>
          </p:nvSpPr>
          <p:spPr bwMode="auto">
            <a:xfrm rot="24192037">
              <a:off x="7281" y="9904"/>
              <a:ext cx="918" cy="260"/>
            </a:xfrm>
            <a:prstGeom prst="rightArrow">
              <a:avLst>
                <a:gd name="adj1" fmla="val 50000"/>
                <a:gd name="adj2" fmla="val 88269"/>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9532" name="Text Box 76"/>
            <p:cNvSpPr txBox="1">
              <a:spLocks noChangeArrowheads="1"/>
            </p:cNvSpPr>
            <p:nvPr/>
          </p:nvSpPr>
          <p:spPr bwMode="auto">
            <a:xfrm>
              <a:off x="8001" y="8464"/>
              <a:ext cx="1980" cy="360"/>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Forwarding Table</a:t>
              </a:r>
            </a:p>
          </p:txBody>
        </p:sp>
      </p:grpSp>
      <p:sp>
        <p:nvSpPr>
          <p:cNvPr id="2" name="Text Box 1028">
            <a:extLst>
              <a:ext uri="{FF2B5EF4-FFF2-40B4-BE49-F238E27FC236}">
                <a16:creationId xmlns:a16="http://schemas.microsoft.com/office/drawing/2014/main" id="{505035C1-FAA6-1426-3F1B-508BFC8FB01C}"/>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2121300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6" name="Slide Number Placeholder 5"/>
          <p:cNvSpPr>
            <a:spLocks noGrp="1"/>
          </p:cNvSpPr>
          <p:nvPr>
            <p:ph type="sldNum" sz="quarter" idx="12"/>
          </p:nvPr>
        </p:nvSpPr>
        <p:spPr/>
        <p:txBody>
          <a:bodyPr/>
          <a:lstStyle/>
          <a:p>
            <a:fld id="{317F49E4-91BB-7244-980E-D981A1FD17EB}" type="slidenum">
              <a:rPr lang="en-US">
                <a:solidFill>
                  <a:srgbClr val="000000"/>
                </a:solidFill>
                <a:latin typeface="Times"/>
              </a:rPr>
              <a:pPr/>
              <a:t>70</a:t>
            </a:fld>
            <a:endParaRPr lang="en-US">
              <a:solidFill>
                <a:srgbClr val="000000"/>
              </a:solidFill>
              <a:latin typeface="Times"/>
            </a:endParaRPr>
          </a:p>
        </p:txBody>
      </p:sp>
      <p:sp>
        <p:nvSpPr>
          <p:cNvPr id="22530" name="Rectangle 2"/>
          <p:cNvSpPr>
            <a:spLocks noGrp="1" noChangeArrowheads="1"/>
          </p:cNvSpPr>
          <p:nvPr>
            <p:ph type="title"/>
          </p:nvPr>
        </p:nvSpPr>
        <p:spPr/>
        <p:txBody>
          <a:bodyPr/>
          <a:lstStyle/>
          <a:p>
            <a:r>
              <a:rPr lang="en-US"/>
              <a:t>RMT Policies</a:t>
            </a:r>
          </a:p>
        </p:txBody>
      </p:sp>
      <p:sp>
        <p:nvSpPr>
          <p:cNvPr id="22531" name="Rectangle 3"/>
          <p:cNvSpPr>
            <a:spLocks noGrp="1" noChangeArrowheads="1"/>
          </p:cNvSpPr>
          <p:nvPr>
            <p:ph type="body" idx="1"/>
          </p:nvPr>
        </p:nvSpPr>
        <p:spPr/>
        <p:txBody>
          <a:bodyPr/>
          <a:lstStyle/>
          <a:p>
            <a:pPr>
              <a:buFont typeface="Times" charset="0"/>
              <a:buChar char="•"/>
            </a:pPr>
            <a:r>
              <a:rPr lang="en-US">
                <a:latin typeface="Times New Roman" charset="0"/>
              </a:rPr>
              <a:t>RMTQMonitorPolicy </a:t>
            </a:r>
            <a:r>
              <a:rPr lang="en-US">
                <a:latin typeface="Times"/>
              </a:rPr>
              <a:t>–</a:t>
            </a:r>
            <a:r>
              <a:rPr lang="en-US">
                <a:latin typeface="Times New Roman" charset="0"/>
              </a:rPr>
              <a:t> Policy for monitoring the status of the RMT and the QoS being provided by the (N-1)-DIF from data available to the RMT.</a:t>
            </a:r>
          </a:p>
          <a:p>
            <a:pPr>
              <a:buFont typeface="Times" charset="0"/>
              <a:buChar char="•"/>
            </a:pPr>
            <a:r>
              <a:rPr lang="en-US">
                <a:latin typeface="Times New Roman" charset="0"/>
              </a:rPr>
              <a:t>RMTSchedulingPolicy </a:t>
            </a:r>
            <a:r>
              <a:rPr lang="en-US">
                <a:latin typeface="Times"/>
              </a:rPr>
              <a:t>–</a:t>
            </a:r>
            <a:r>
              <a:rPr lang="en-US">
                <a:latin typeface="Times New Roman" charset="0"/>
              </a:rPr>
              <a:t> Policy determines what flows are mapped to what RMT queues and how the queues are serviced.</a:t>
            </a:r>
          </a:p>
          <a:p>
            <a:pPr>
              <a:buFont typeface="Times" charset="0"/>
              <a:buChar char="•"/>
            </a:pPr>
            <a:r>
              <a:rPr lang="en-US">
                <a:latin typeface="Times New Roman" charset="0"/>
              </a:rPr>
              <a:t>MaxQPolicy </a:t>
            </a:r>
            <a:r>
              <a:rPr lang="en-US">
                <a:latin typeface="Times"/>
              </a:rPr>
              <a:t>–</a:t>
            </a:r>
            <a:r>
              <a:rPr lang="en-US">
                <a:latin typeface="Times New Roman" charset="0"/>
              </a:rPr>
              <a:t> Policy invoked if a queue reaches its limit.</a:t>
            </a:r>
          </a:p>
          <a:p>
            <a:endParaRPr lang="en-US"/>
          </a:p>
        </p:txBody>
      </p:sp>
      <p:sp>
        <p:nvSpPr>
          <p:cNvPr id="2" name="Text Box 1028">
            <a:extLst>
              <a:ext uri="{FF2B5EF4-FFF2-40B4-BE49-F238E27FC236}">
                <a16:creationId xmlns:a16="http://schemas.microsoft.com/office/drawing/2014/main" id="{2337CED3-C41E-AF18-74B9-AE1583E86CE2}"/>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39498597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Date Placeholder 3"/>
          <p:cNvSpPr>
            <a:spLocks noGrp="1"/>
          </p:cNvSpPr>
          <p:nvPr>
            <p:ph type="dt" sz="half" idx="10"/>
          </p:nvPr>
        </p:nvSpPr>
        <p:spPr/>
        <p:txBody>
          <a:bodyPr/>
          <a:lstStyle/>
          <a:p>
            <a:r>
              <a:rPr lang="en-US">
                <a:solidFill>
                  <a:srgbClr val="000000"/>
                </a:solidFill>
                <a:latin typeface="Times"/>
              </a:rPr>
              <a:t>10 May 10</a:t>
            </a:r>
          </a:p>
        </p:txBody>
      </p:sp>
      <p:sp>
        <p:nvSpPr>
          <p:cNvPr id="31" name="Slide Number Placeholder 5"/>
          <p:cNvSpPr>
            <a:spLocks noGrp="1"/>
          </p:cNvSpPr>
          <p:nvPr>
            <p:ph type="sldNum" sz="quarter" idx="12"/>
          </p:nvPr>
        </p:nvSpPr>
        <p:spPr/>
        <p:txBody>
          <a:bodyPr/>
          <a:lstStyle/>
          <a:p>
            <a:fld id="{8F3D188C-C671-D040-8347-B8BA56C643AF}" type="slidenum">
              <a:rPr lang="en-US">
                <a:solidFill>
                  <a:srgbClr val="000000"/>
                </a:solidFill>
                <a:latin typeface="Times"/>
              </a:rPr>
              <a:pPr/>
              <a:t>71</a:t>
            </a:fld>
            <a:endParaRPr lang="en-US">
              <a:solidFill>
                <a:srgbClr val="000000"/>
              </a:solidFill>
              <a:latin typeface="Times"/>
            </a:endParaRPr>
          </a:p>
        </p:txBody>
      </p:sp>
      <p:sp>
        <p:nvSpPr>
          <p:cNvPr id="13314" name="Rectangle 2"/>
          <p:cNvSpPr>
            <a:spLocks noGrp="1" noChangeArrowheads="1"/>
          </p:cNvSpPr>
          <p:nvPr>
            <p:ph type="title"/>
          </p:nvPr>
        </p:nvSpPr>
        <p:spPr>
          <a:xfrm>
            <a:off x="2209800" y="304800"/>
            <a:ext cx="7772400" cy="1143000"/>
          </a:xfrm>
        </p:spPr>
        <p:txBody>
          <a:bodyPr/>
          <a:lstStyle/>
          <a:p>
            <a:r>
              <a:rPr lang="en-US"/>
              <a:t>Data Transfer Control</a:t>
            </a:r>
          </a:p>
        </p:txBody>
      </p:sp>
      <p:sp>
        <p:nvSpPr>
          <p:cNvPr id="13315" name="Rectangle 3"/>
          <p:cNvSpPr>
            <a:spLocks noGrp="1" noChangeArrowheads="1"/>
          </p:cNvSpPr>
          <p:nvPr>
            <p:ph type="body" idx="1"/>
          </p:nvPr>
        </p:nvSpPr>
        <p:spPr>
          <a:xfrm>
            <a:off x="2171700" y="4876800"/>
            <a:ext cx="7848600" cy="1219200"/>
          </a:xfrm>
        </p:spPr>
        <p:txBody>
          <a:bodyPr/>
          <a:lstStyle/>
          <a:p>
            <a:r>
              <a:rPr lang="en-US" dirty="0"/>
              <a:t>Control stays out of the main data flow.</a:t>
            </a:r>
          </a:p>
          <a:p>
            <a:r>
              <a:rPr lang="en-US" dirty="0"/>
              <a:t>This module will not exist for flows that don’t need it.</a:t>
            </a:r>
          </a:p>
        </p:txBody>
      </p:sp>
      <p:grpSp>
        <p:nvGrpSpPr>
          <p:cNvPr id="13342" name="Group 30"/>
          <p:cNvGrpSpPr>
            <a:grpSpLocks/>
          </p:cNvGrpSpPr>
          <p:nvPr/>
        </p:nvGrpSpPr>
        <p:grpSpPr bwMode="auto">
          <a:xfrm>
            <a:off x="4572000" y="1295400"/>
            <a:ext cx="3886200" cy="3429000"/>
            <a:chOff x="1920" y="816"/>
            <a:chExt cx="2448" cy="2160"/>
          </a:xfrm>
        </p:grpSpPr>
        <p:sp>
          <p:nvSpPr>
            <p:cNvPr id="13317" name="Oval 5"/>
            <p:cNvSpPr>
              <a:spLocks noChangeArrowheads="1"/>
            </p:cNvSpPr>
            <p:nvPr/>
          </p:nvSpPr>
          <p:spPr bwMode="auto">
            <a:xfrm>
              <a:off x="1960" y="1032"/>
              <a:ext cx="392" cy="1152"/>
            </a:xfrm>
            <a:prstGeom prst="ellipse">
              <a:avLst/>
            </a:prstGeom>
            <a:solidFill>
              <a:srgbClr val="FFFFFF"/>
            </a:solidFill>
            <a:ln w="9525">
              <a:solidFill>
                <a:srgbClr val="000000"/>
              </a:solidFill>
              <a:round/>
              <a:headEnd/>
              <a:tailEnd/>
            </a:ln>
          </p:spPr>
          <p:txBody>
            <a:bodyPr/>
            <a:lstStyle/>
            <a:p>
              <a:pPr eaLnBrk="0" fontAlgn="base" hangingPunct="0">
                <a:spcBef>
                  <a:spcPct val="0"/>
                </a:spcBef>
                <a:spcAft>
                  <a:spcPct val="0"/>
                </a:spcAft>
              </a:pPr>
              <a:endParaRPr lang="en-US" sz="1200" dirty="0">
                <a:solidFill>
                  <a:srgbClr val="000000"/>
                </a:solidFill>
                <a:latin typeface="Times New Roman" charset="0"/>
                <a:ea typeface="ＭＳ Ｐゴシック" charset="0"/>
                <a:cs typeface="ＭＳ Ｐゴシック" charset="0"/>
              </a:endParaRPr>
            </a:p>
            <a:p>
              <a:pPr eaLnBrk="0" fontAlgn="base" hangingPunct="0">
                <a:spcBef>
                  <a:spcPct val="0"/>
                </a:spcBef>
                <a:spcAft>
                  <a:spcPct val="0"/>
                </a:spcAft>
              </a:pPr>
              <a:endParaRPr lang="en-US" sz="1200" dirty="0">
                <a:solidFill>
                  <a:srgbClr val="000000"/>
                </a:solidFill>
                <a:latin typeface="Times New Roman" charset="0"/>
                <a:ea typeface="ＭＳ Ｐゴシック" charset="0"/>
                <a:cs typeface="ＭＳ Ｐゴシック" charset="0"/>
              </a:endParaRPr>
            </a:p>
            <a:p>
              <a:pPr eaLnBrk="0" fontAlgn="base" hangingPunct="0">
                <a:spcBef>
                  <a:spcPct val="0"/>
                </a:spcBef>
                <a:spcAft>
                  <a:spcPct val="0"/>
                </a:spcAft>
              </a:pPr>
              <a:r>
                <a:rPr lang="en-US" sz="1000" b="1" dirty="0">
                  <a:solidFill>
                    <a:srgbClr val="000000"/>
                  </a:solidFill>
                  <a:latin typeface="Times New Roman" charset="0"/>
                  <a:ea typeface="ＭＳ Ｐゴシック" charset="0"/>
                  <a:cs typeface="ＭＳ Ｐゴシック" charset="0"/>
                </a:rPr>
                <a:t>DTP</a:t>
              </a:r>
            </a:p>
          </p:txBody>
        </p:sp>
        <p:sp>
          <p:nvSpPr>
            <p:cNvPr id="13318" name="Oval 6"/>
            <p:cNvSpPr>
              <a:spLocks noChangeArrowheads="1"/>
            </p:cNvSpPr>
            <p:nvPr/>
          </p:nvSpPr>
          <p:spPr bwMode="auto">
            <a:xfrm>
              <a:off x="1920" y="2400"/>
              <a:ext cx="1296" cy="360"/>
            </a:xfrm>
            <a:prstGeom prst="ellipse">
              <a:avLst/>
            </a:prstGeom>
            <a:solidFill>
              <a:srgbClr val="FFFFFF"/>
            </a:solidFill>
            <a:ln w="9525">
              <a:solidFill>
                <a:srgbClr val="000000"/>
              </a:solidFill>
              <a:round/>
              <a:headEnd/>
              <a:tailEnd/>
            </a:ln>
          </p:spPr>
          <p:txBody>
            <a:bodyPr/>
            <a:lstStyle/>
            <a:p>
              <a:pPr algn="ct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RMT</a:t>
              </a:r>
            </a:p>
          </p:txBody>
        </p:sp>
        <p:sp>
          <p:nvSpPr>
            <p:cNvPr id="13319" name="Rectangle 7"/>
            <p:cNvSpPr>
              <a:spLocks noChangeArrowheads="1"/>
            </p:cNvSpPr>
            <p:nvPr/>
          </p:nvSpPr>
          <p:spPr bwMode="auto">
            <a:xfrm>
              <a:off x="2424" y="1104"/>
              <a:ext cx="72" cy="720"/>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20" name="Rectangle 8"/>
            <p:cNvSpPr>
              <a:spLocks noChangeArrowheads="1"/>
            </p:cNvSpPr>
            <p:nvPr/>
          </p:nvSpPr>
          <p:spPr bwMode="auto">
            <a:xfrm>
              <a:off x="2568" y="2040"/>
              <a:ext cx="216" cy="72"/>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21" name="Rectangle 9"/>
            <p:cNvSpPr>
              <a:spLocks noChangeArrowheads="1"/>
            </p:cNvSpPr>
            <p:nvPr/>
          </p:nvSpPr>
          <p:spPr bwMode="auto">
            <a:xfrm>
              <a:off x="3072" y="2040"/>
              <a:ext cx="216" cy="72"/>
            </a:xfrm>
            <a:prstGeom prst="rect">
              <a:avLst/>
            </a:prstGeom>
            <a:solidFill>
              <a:srgbClr val="FFFFFF"/>
            </a:solidFill>
            <a:ln w="9525">
              <a:solidFill>
                <a:srgbClr val="000000"/>
              </a:solidFill>
              <a:miter lim="800000"/>
              <a:headEnd/>
              <a:tailEnd/>
            </a:ln>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22" name="Text Box 10"/>
            <p:cNvSpPr txBox="1">
              <a:spLocks noChangeArrowheads="1"/>
            </p:cNvSpPr>
            <p:nvPr/>
          </p:nvSpPr>
          <p:spPr bwMode="auto">
            <a:xfrm>
              <a:off x="2280" y="888"/>
              <a:ext cx="432" cy="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DT-SV</a:t>
              </a:r>
            </a:p>
          </p:txBody>
        </p:sp>
        <p:sp>
          <p:nvSpPr>
            <p:cNvPr id="13323" name="Text Box 11"/>
            <p:cNvSpPr txBox="1">
              <a:spLocks noChangeArrowheads="1"/>
            </p:cNvSpPr>
            <p:nvPr/>
          </p:nvSpPr>
          <p:spPr bwMode="auto">
            <a:xfrm>
              <a:off x="3432" y="1752"/>
              <a:ext cx="864" cy="5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Re-xmsn Q </a:t>
              </a:r>
            </a:p>
            <a:p>
              <a:pPr eaLnBrk="0" fontAlgn="base" hangingPunct="0">
                <a:spcBef>
                  <a:spcPct val="0"/>
                </a:spcBef>
                <a:spcAft>
                  <a:spcPct val="0"/>
                </a:spcAft>
              </a:pPr>
              <a:endParaRPr lang="en-US" sz="1000">
                <a:solidFill>
                  <a:srgbClr val="000000"/>
                </a:solidFill>
                <a:latin typeface="Times New Roman" charset="0"/>
                <a:ea typeface="ＭＳ Ｐゴシック" charset="0"/>
                <a:cs typeface="ＭＳ Ｐゴシック" charset="0"/>
              </a:endParaRPr>
            </a:p>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Xmsn Control Q</a:t>
              </a:r>
            </a:p>
            <a:p>
              <a:pPr eaLnBrk="0" fontAlgn="base" hangingPunct="0">
                <a:spcBef>
                  <a:spcPct val="0"/>
                </a:spcBef>
                <a:spcAft>
                  <a:spcPct val="0"/>
                </a:spcAft>
              </a:pPr>
              <a:endParaRPr lang="en-US" sz="1000">
                <a:solidFill>
                  <a:srgbClr val="000000"/>
                </a:solidFill>
                <a:latin typeface="Times New Roman" charset="0"/>
                <a:ea typeface="ＭＳ Ｐゴシック" charset="0"/>
                <a:cs typeface="ＭＳ Ｐゴシック" charset="0"/>
              </a:endParaRPr>
            </a:p>
          </p:txBody>
        </p:sp>
        <p:sp>
          <p:nvSpPr>
            <p:cNvPr id="13325" name="Oval 13"/>
            <p:cNvSpPr>
              <a:spLocks noChangeArrowheads="1"/>
            </p:cNvSpPr>
            <p:nvPr/>
          </p:nvSpPr>
          <p:spPr bwMode="auto">
            <a:xfrm>
              <a:off x="2544" y="960"/>
              <a:ext cx="1056" cy="864"/>
            </a:xfrm>
            <a:prstGeom prst="ellipse">
              <a:avLst/>
            </a:prstGeom>
            <a:solidFill>
              <a:srgbClr val="FFFFFF"/>
            </a:solidFill>
            <a:ln w="19050">
              <a:solidFill>
                <a:srgbClr val="000000"/>
              </a:solidFill>
              <a:round/>
              <a:headEnd/>
              <a:tailEnd/>
            </a:ln>
          </p:spPr>
          <p:txBody>
            <a:bodyPr/>
            <a:lstStyle/>
            <a:p>
              <a:pPr algn="ctr" eaLnBrk="0" fontAlgn="base" hangingPunct="0">
                <a:spcBef>
                  <a:spcPct val="0"/>
                </a:spcBef>
                <a:spcAft>
                  <a:spcPct val="0"/>
                </a:spcAft>
              </a:pPr>
              <a:r>
                <a:rPr lang="en-US" sz="1200">
                  <a:solidFill>
                    <a:srgbClr val="000000"/>
                  </a:solidFill>
                  <a:latin typeface="Times New Roman" charset="0"/>
                  <a:ea typeface="ＭＳ Ｐゴシック" charset="0"/>
                  <a:cs typeface="ＭＳ Ｐゴシック" charset="0"/>
                </a:rPr>
                <a:t>DTCP</a:t>
              </a:r>
            </a:p>
          </p:txBody>
        </p:sp>
        <p:sp>
          <p:nvSpPr>
            <p:cNvPr id="13326" name="Oval 14"/>
            <p:cNvSpPr>
              <a:spLocks noChangeArrowheads="1"/>
            </p:cNvSpPr>
            <p:nvPr/>
          </p:nvSpPr>
          <p:spPr bwMode="auto">
            <a:xfrm>
              <a:off x="2628" y="1200"/>
              <a:ext cx="588" cy="336"/>
            </a:xfrm>
            <a:prstGeom prst="ellipse">
              <a:avLst/>
            </a:prstGeom>
            <a:solidFill>
              <a:srgbClr val="FFFFFF"/>
            </a:solidFill>
            <a:ln w="19050">
              <a:solidFill>
                <a:srgbClr val="000000"/>
              </a:solidFill>
              <a:round/>
              <a:headEnd/>
              <a:tailEnd/>
            </a:ln>
          </p:spPr>
          <p:txBody>
            <a:bodyPr/>
            <a:lstStyle/>
            <a:p>
              <a:pPr eaLnBrk="0" fontAlgn="base" hangingPunct="0">
                <a:spcBef>
                  <a:spcPct val="0"/>
                </a:spcBef>
                <a:spcAft>
                  <a:spcPct val="0"/>
                </a:spcAft>
              </a:pPr>
              <a:r>
                <a:rPr lang="en-US" sz="1000" dirty="0" err="1">
                  <a:solidFill>
                    <a:srgbClr val="000000"/>
                  </a:solidFill>
                  <a:latin typeface="Times New Roman" charset="0"/>
                  <a:ea typeface="ＭＳ Ｐゴシック" charset="0"/>
                  <a:cs typeface="ＭＳ Ｐゴシック" charset="0"/>
                </a:rPr>
                <a:t>Rexmsn</a:t>
              </a:r>
              <a:endParaRPr lang="en-US" sz="1000" dirty="0">
                <a:solidFill>
                  <a:srgbClr val="000000"/>
                </a:solidFill>
                <a:latin typeface="Times New Roman" charset="0"/>
                <a:ea typeface="ＭＳ Ｐゴシック" charset="0"/>
                <a:cs typeface="ＭＳ Ｐゴシック" charset="0"/>
              </a:endParaRPr>
            </a:p>
            <a:p>
              <a:pPr algn="ctr" eaLnBrk="0" fontAlgn="base" hangingPunct="0">
                <a:spcBef>
                  <a:spcPct val="0"/>
                </a:spcBef>
                <a:spcAft>
                  <a:spcPct val="0"/>
                </a:spcAft>
              </a:pPr>
              <a:r>
                <a:rPr lang="en-US" sz="1000" dirty="0" err="1">
                  <a:solidFill>
                    <a:srgbClr val="000000"/>
                  </a:solidFill>
                  <a:latin typeface="Times New Roman" charset="0"/>
                  <a:ea typeface="ＭＳ Ｐゴシック" charset="0"/>
                  <a:cs typeface="ＭＳ Ｐゴシック" charset="0"/>
                </a:rPr>
                <a:t>Ctl</a:t>
              </a:r>
              <a:endParaRPr lang="en-US" sz="1000" dirty="0">
                <a:solidFill>
                  <a:srgbClr val="000000"/>
                </a:solidFill>
                <a:latin typeface="Times New Roman" charset="0"/>
                <a:ea typeface="ＭＳ Ｐゴシック" charset="0"/>
                <a:cs typeface="ＭＳ Ｐゴシック" charset="0"/>
              </a:endParaRPr>
            </a:p>
          </p:txBody>
        </p:sp>
        <p:sp>
          <p:nvSpPr>
            <p:cNvPr id="13327" name="Oval 15"/>
            <p:cNvSpPr>
              <a:spLocks noChangeArrowheads="1"/>
            </p:cNvSpPr>
            <p:nvPr/>
          </p:nvSpPr>
          <p:spPr bwMode="auto">
            <a:xfrm>
              <a:off x="3120" y="1200"/>
              <a:ext cx="432" cy="288"/>
            </a:xfrm>
            <a:prstGeom prst="ellipse">
              <a:avLst/>
            </a:prstGeom>
            <a:solidFill>
              <a:srgbClr val="FFFFFF"/>
            </a:solidFill>
            <a:ln w="19050">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Xmsn</a:t>
              </a:r>
            </a:p>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Ctl</a:t>
              </a:r>
            </a:p>
          </p:txBody>
        </p:sp>
        <p:sp>
          <p:nvSpPr>
            <p:cNvPr id="13328" name="Oval 16"/>
            <p:cNvSpPr>
              <a:spLocks noChangeArrowheads="1"/>
            </p:cNvSpPr>
            <p:nvPr/>
          </p:nvSpPr>
          <p:spPr bwMode="auto">
            <a:xfrm>
              <a:off x="2784" y="1536"/>
              <a:ext cx="504" cy="288"/>
            </a:xfrm>
            <a:prstGeom prst="ellipse">
              <a:avLst/>
            </a:prstGeom>
            <a:solidFill>
              <a:srgbClr val="FFFFFF"/>
            </a:solidFill>
            <a:ln w="19050">
              <a:solidFill>
                <a:srgbClr val="000000"/>
              </a:solidFill>
              <a:round/>
              <a:headEnd/>
              <a:tailEnd/>
            </a:ln>
          </p:spPr>
          <p:txBody>
            <a:bodyPr/>
            <a:lstStyle/>
            <a:p>
              <a:pPr algn="ct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Flow Ctl</a:t>
              </a:r>
            </a:p>
          </p:txBody>
        </p:sp>
        <p:sp>
          <p:nvSpPr>
            <p:cNvPr id="13329" name="Line 17"/>
            <p:cNvSpPr>
              <a:spLocks noChangeShapeType="1"/>
            </p:cNvSpPr>
            <p:nvPr/>
          </p:nvSpPr>
          <p:spPr bwMode="auto">
            <a:xfrm>
              <a:off x="2064" y="816"/>
              <a:ext cx="0" cy="1584"/>
            </a:xfrm>
            <a:prstGeom prst="line">
              <a:avLst/>
            </a:prstGeom>
            <a:noFill/>
            <a:ln w="9525">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0" name="Line 18"/>
            <p:cNvSpPr>
              <a:spLocks noChangeShapeType="1"/>
            </p:cNvSpPr>
            <p:nvPr/>
          </p:nvSpPr>
          <p:spPr bwMode="auto">
            <a:xfrm>
              <a:off x="2280" y="816"/>
              <a:ext cx="0" cy="1584"/>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1" name="Line 19"/>
            <p:cNvSpPr>
              <a:spLocks noChangeShapeType="1"/>
            </p:cNvSpPr>
            <p:nvPr/>
          </p:nvSpPr>
          <p:spPr bwMode="auto">
            <a:xfrm>
              <a:off x="2280" y="1968"/>
              <a:ext cx="288" cy="144"/>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2" name="Line 20"/>
            <p:cNvSpPr>
              <a:spLocks noChangeShapeType="1"/>
            </p:cNvSpPr>
            <p:nvPr/>
          </p:nvSpPr>
          <p:spPr bwMode="auto">
            <a:xfrm>
              <a:off x="2280" y="1824"/>
              <a:ext cx="792" cy="216"/>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3" name="Line 21"/>
            <p:cNvSpPr>
              <a:spLocks noChangeShapeType="1"/>
            </p:cNvSpPr>
            <p:nvPr/>
          </p:nvSpPr>
          <p:spPr bwMode="auto">
            <a:xfrm flipH="1">
              <a:off x="2784" y="2112"/>
              <a:ext cx="288" cy="0"/>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4" name="Line 22"/>
            <p:cNvSpPr>
              <a:spLocks noChangeShapeType="1"/>
            </p:cNvSpPr>
            <p:nvPr/>
          </p:nvSpPr>
          <p:spPr bwMode="auto">
            <a:xfrm flipH="1">
              <a:off x="2496" y="2112"/>
              <a:ext cx="216" cy="288"/>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5" name="Line 23"/>
            <p:cNvSpPr>
              <a:spLocks noChangeShapeType="1"/>
            </p:cNvSpPr>
            <p:nvPr/>
          </p:nvSpPr>
          <p:spPr bwMode="auto">
            <a:xfrm flipH="1">
              <a:off x="2928" y="2112"/>
              <a:ext cx="216" cy="360"/>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6" name="Line 24"/>
            <p:cNvSpPr>
              <a:spLocks noChangeShapeType="1"/>
            </p:cNvSpPr>
            <p:nvPr/>
          </p:nvSpPr>
          <p:spPr bwMode="auto">
            <a:xfrm flipH="1">
              <a:off x="2856" y="1824"/>
              <a:ext cx="144" cy="648"/>
            </a:xfrm>
            <a:prstGeom prst="line">
              <a:avLst/>
            </a:prstGeom>
            <a:noFill/>
            <a:ln w="19050">
              <a:solidFill>
                <a:srgbClr val="000000"/>
              </a:solidFill>
              <a:prstDash val="lgDash"/>
              <a:round/>
              <a:headEnd type="triangle" w="med" len="me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7" name="Line 25"/>
            <p:cNvSpPr>
              <a:spLocks noChangeShapeType="1"/>
            </p:cNvSpPr>
            <p:nvPr/>
          </p:nvSpPr>
          <p:spPr bwMode="auto">
            <a:xfrm flipH="1">
              <a:off x="3288" y="2040"/>
              <a:ext cx="216" cy="72"/>
            </a:xfrm>
            <a:prstGeom prst="line">
              <a:avLst/>
            </a:prstGeom>
            <a:noFill/>
            <a:ln w="19050">
              <a:solidFill>
                <a:srgbClr val="000000"/>
              </a:solidFill>
              <a:prstDash val="sysDot"/>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8" name="Line 26"/>
            <p:cNvSpPr>
              <a:spLocks noChangeShapeType="1"/>
            </p:cNvSpPr>
            <p:nvPr/>
          </p:nvSpPr>
          <p:spPr bwMode="auto">
            <a:xfrm flipH="1">
              <a:off x="2784" y="1824"/>
              <a:ext cx="720" cy="216"/>
            </a:xfrm>
            <a:prstGeom prst="line">
              <a:avLst/>
            </a:prstGeom>
            <a:noFill/>
            <a:ln w="19050">
              <a:solidFill>
                <a:srgbClr val="000000"/>
              </a:solidFill>
              <a:prstDash val="sysDot"/>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39" name="Line 27"/>
            <p:cNvSpPr>
              <a:spLocks noChangeShapeType="1"/>
            </p:cNvSpPr>
            <p:nvPr/>
          </p:nvSpPr>
          <p:spPr bwMode="auto">
            <a:xfrm>
              <a:off x="3576" y="2616"/>
              <a:ext cx="216" cy="0"/>
            </a:xfrm>
            <a:prstGeom prst="line">
              <a:avLst/>
            </a:prstGeom>
            <a:noFill/>
            <a:ln w="9525">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40" name="Line 28"/>
            <p:cNvSpPr>
              <a:spLocks noChangeShapeType="1"/>
            </p:cNvSpPr>
            <p:nvPr/>
          </p:nvSpPr>
          <p:spPr bwMode="auto">
            <a:xfrm>
              <a:off x="3582" y="2800"/>
              <a:ext cx="216" cy="0"/>
            </a:xfrm>
            <a:prstGeom prst="line">
              <a:avLst/>
            </a:prstGeom>
            <a:noFill/>
            <a:ln w="9525">
              <a:solidFill>
                <a:srgbClr val="000000"/>
              </a:solidFill>
              <a:prstDash val="lgDash"/>
              <a:round/>
              <a:headEnd type="triangle" w="med" len="med"/>
              <a:tailEnd/>
            </a:ln>
            <a:extLst>
              <a:ext uri="{909E8E84-426E-40dd-AFC4-6F175D3DCCD1}">
                <a14:hiddenFill xmlns=""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13341" name="Text Box 29"/>
            <p:cNvSpPr txBox="1">
              <a:spLocks noChangeArrowheads="1"/>
            </p:cNvSpPr>
            <p:nvPr/>
          </p:nvSpPr>
          <p:spPr bwMode="auto">
            <a:xfrm>
              <a:off x="3792" y="2544"/>
              <a:ext cx="576"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Data Flow</a:t>
              </a:r>
            </a:p>
            <a:p>
              <a:pPr eaLnBrk="0" fontAlgn="base" hangingPunct="0">
                <a:spcBef>
                  <a:spcPct val="0"/>
                </a:spcBef>
                <a:spcAft>
                  <a:spcPct val="0"/>
                </a:spcAft>
              </a:pPr>
              <a:endParaRPr lang="en-US" sz="1000">
                <a:solidFill>
                  <a:srgbClr val="000000"/>
                </a:solidFill>
                <a:latin typeface="Times New Roman" charset="0"/>
                <a:ea typeface="ＭＳ Ｐゴシック" charset="0"/>
                <a:cs typeface="ＭＳ Ｐゴシック" charset="0"/>
              </a:endParaRPr>
            </a:p>
            <a:p>
              <a:pPr eaLnBrk="0" fontAlgn="base" hangingPunct="0">
                <a:spcBef>
                  <a:spcPct val="0"/>
                </a:spcBef>
                <a:spcAft>
                  <a:spcPct val="0"/>
                </a:spcAft>
              </a:pPr>
              <a:r>
                <a:rPr lang="en-US" sz="1000">
                  <a:solidFill>
                    <a:srgbClr val="000000"/>
                  </a:solidFill>
                  <a:latin typeface="Times New Roman" charset="0"/>
                  <a:ea typeface="ＭＳ Ｐゴシック" charset="0"/>
                  <a:cs typeface="ＭＳ Ｐゴシック" charset="0"/>
                </a:rPr>
                <a:t>Control Flow</a:t>
              </a:r>
            </a:p>
          </p:txBody>
        </p:sp>
      </p:grpSp>
      <p:sp>
        <p:nvSpPr>
          <p:cNvPr id="2" name="Text Box 1028">
            <a:extLst>
              <a:ext uri="{FF2B5EF4-FFF2-40B4-BE49-F238E27FC236}">
                <a16:creationId xmlns:a16="http://schemas.microsoft.com/office/drawing/2014/main" id="{F659CBE5-0ABF-4353-35FA-1B2BC4346D90}"/>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21101251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6701"/>
            <a:ext cx="8229600" cy="571500"/>
          </a:xfrm>
        </p:spPr>
        <p:txBody>
          <a:bodyPr/>
          <a:lstStyle/>
          <a:p>
            <a:r>
              <a:rPr lang="en-US" dirty="0"/>
              <a:t>The Structure of Data Transfer Protocols</a:t>
            </a:r>
          </a:p>
        </p:txBody>
      </p:sp>
      <p:sp>
        <p:nvSpPr>
          <p:cNvPr id="5" name="Text Placeholder 4"/>
          <p:cNvSpPr>
            <a:spLocks noGrp="1"/>
          </p:cNvSpPr>
          <p:nvPr>
            <p:ph type="body" idx="1"/>
          </p:nvPr>
        </p:nvSpPr>
        <p:spPr>
          <a:xfrm>
            <a:off x="2857500" y="5372100"/>
            <a:ext cx="6146800" cy="698500"/>
          </a:xfrm>
        </p:spPr>
        <p:txBody>
          <a:bodyPr/>
          <a:lstStyle/>
          <a:p>
            <a:pPr algn="ctr"/>
            <a:r>
              <a:rPr lang="en-US" altLang="en-US" dirty="0">
                <a:latin typeface="Times New Roman" panose="02020603050405020304" pitchFamily="18" charset="0"/>
                <a:cs typeface="Times New Roman" panose="02020603050405020304" pitchFamily="18" charset="0"/>
              </a:rPr>
              <a:t>We have found that this structure repeats</a:t>
            </a:r>
          </a:p>
          <a:p>
            <a:pPr algn="ctr"/>
            <a:r>
              <a:rPr lang="en-US" altLang="en-US" dirty="0">
                <a:latin typeface="Times New Roman" panose="02020603050405020304" pitchFamily="18" charset="0"/>
                <a:cs typeface="Times New Roman" panose="02020603050405020304" pitchFamily="18" charset="0"/>
              </a:rPr>
              <a:t>in Layers of Different Scope,</a:t>
            </a:r>
          </a:p>
          <a:p>
            <a:pPr algn="ctr"/>
            <a:r>
              <a:rPr lang="en-US" altLang="en-US" dirty="0">
                <a:latin typeface="Times New Roman" panose="02020603050405020304" pitchFamily="18" charset="0"/>
                <a:cs typeface="Times New Roman" panose="02020603050405020304" pitchFamily="18" charset="0"/>
              </a:rPr>
              <a:t>But what is the way to implement it in a system.</a:t>
            </a:r>
          </a:p>
        </p:txBody>
      </p:sp>
      <p:grpSp>
        <p:nvGrpSpPr>
          <p:cNvPr id="42" name="Group 41"/>
          <p:cNvGrpSpPr/>
          <p:nvPr/>
        </p:nvGrpSpPr>
        <p:grpSpPr>
          <a:xfrm>
            <a:off x="4572000" y="2082800"/>
            <a:ext cx="1435100" cy="2959100"/>
            <a:chOff x="3048000" y="2082800"/>
            <a:chExt cx="1435100" cy="2959100"/>
          </a:xfrm>
        </p:grpSpPr>
        <p:grpSp>
          <p:nvGrpSpPr>
            <p:cNvPr id="7" name="Group 5"/>
            <p:cNvGrpSpPr>
              <a:grpSpLocks/>
            </p:cNvGrpSpPr>
            <p:nvPr/>
          </p:nvGrpSpPr>
          <p:grpSpPr bwMode="auto">
            <a:xfrm>
              <a:off x="3124200" y="3909172"/>
              <a:ext cx="1280160" cy="634376"/>
              <a:chOff x="1440" y="2112"/>
              <a:chExt cx="576" cy="240"/>
            </a:xfrm>
          </p:grpSpPr>
          <p:sp>
            <p:nvSpPr>
              <p:cNvPr id="14" name="Oval 6"/>
              <p:cNvSpPr>
                <a:spLocks noChangeArrowheads="1"/>
              </p:cNvSpPr>
              <p:nvPr/>
            </p:nvSpPr>
            <p:spPr bwMode="auto">
              <a:xfrm>
                <a:off x="1440" y="2112"/>
                <a:ext cx="576" cy="240"/>
              </a:xfrm>
              <a:prstGeom prst="ellipse">
                <a:avLst/>
              </a:prstGeom>
              <a:noFill/>
              <a:ln w="9525">
                <a:solidFill>
                  <a:srgbClr val="000000"/>
                </a:solidFill>
                <a:round/>
                <a:headEnd/>
                <a:tailEnd/>
              </a:ln>
              <a:extLst>
                <a:ext uri="{909E8E84-426E-40dd-AFC4-6F175D3DCCD1}">
                  <a14:hiddenFill xmlns="" xmlns:a14="http://schemas.microsoft.com/office/drawing/2010/main">
                    <a:solidFill>
                      <a:srgbClr val="BBE0E3"/>
                    </a:solidFill>
                  </a14:hiddenFill>
                </a:ext>
              </a:extLst>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5" name="Text Box 7"/>
              <p:cNvSpPr txBox="1">
                <a:spLocks noChangeArrowheads="1"/>
              </p:cNvSpPr>
              <p:nvPr/>
            </p:nvSpPr>
            <p:spPr bwMode="auto">
              <a:xfrm>
                <a:off x="1540" y="2156"/>
                <a:ext cx="346" cy="105"/>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charset="0"/>
                    <a:ea typeface="ＭＳ Ｐゴシック" charset="0"/>
                    <a:cs typeface="ＭＳ Ｐゴシック" charset="0"/>
                  </a:defRPr>
                </a:lvl1pPr>
                <a:lvl2pPr marL="742950" indent="-285750">
                  <a:defRPr sz="1200">
                    <a:solidFill>
                      <a:schemeClr val="tx1"/>
                    </a:solidFill>
                    <a:latin typeface="Times" charset="0"/>
                    <a:ea typeface="ＭＳ Ｐゴシック" charset="0"/>
                  </a:defRPr>
                </a:lvl2pPr>
                <a:lvl3pPr marL="1143000" indent="-228600">
                  <a:defRPr sz="1200">
                    <a:solidFill>
                      <a:schemeClr val="tx1"/>
                    </a:solidFill>
                    <a:latin typeface="Times" charset="0"/>
                    <a:ea typeface="ＭＳ Ｐゴシック" charset="0"/>
                  </a:defRPr>
                </a:lvl3pPr>
                <a:lvl4pPr marL="1600200" indent="-228600">
                  <a:defRPr sz="1200">
                    <a:solidFill>
                      <a:schemeClr val="tx1"/>
                    </a:solidFill>
                    <a:latin typeface="Times" charset="0"/>
                    <a:ea typeface="ＭＳ Ｐゴシック" charset="0"/>
                  </a:defRPr>
                </a:lvl4pPr>
                <a:lvl5pPr marL="2057400" indent="-228600">
                  <a:defRPr sz="1200">
                    <a:solidFill>
                      <a:schemeClr val="tx1"/>
                    </a:solidFill>
                    <a:latin typeface="Times" charset="0"/>
                    <a:ea typeface="ＭＳ Ｐゴシック" charset="0"/>
                  </a:defRPr>
                </a:lvl5pPr>
                <a:lvl6pPr marL="2514600" indent="-228600" eaLnBrk="0" fontAlgn="base" hangingPunct="0">
                  <a:spcBef>
                    <a:spcPct val="0"/>
                  </a:spcBef>
                  <a:spcAft>
                    <a:spcPct val="0"/>
                  </a:spcAft>
                  <a:defRPr sz="1200">
                    <a:solidFill>
                      <a:schemeClr val="tx1"/>
                    </a:solidFill>
                    <a:latin typeface="Times" charset="0"/>
                    <a:ea typeface="ＭＳ Ｐゴシック" charset="0"/>
                  </a:defRPr>
                </a:lvl6pPr>
                <a:lvl7pPr marL="2971800" indent="-228600" eaLnBrk="0" fontAlgn="base" hangingPunct="0">
                  <a:spcBef>
                    <a:spcPct val="0"/>
                  </a:spcBef>
                  <a:spcAft>
                    <a:spcPct val="0"/>
                  </a:spcAft>
                  <a:defRPr sz="1200">
                    <a:solidFill>
                      <a:schemeClr val="tx1"/>
                    </a:solidFill>
                    <a:latin typeface="Times" charset="0"/>
                    <a:ea typeface="ＭＳ Ｐゴシック" charset="0"/>
                  </a:defRPr>
                </a:lvl7pPr>
                <a:lvl8pPr marL="3429000" indent="-228600" eaLnBrk="0" fontAlgn="base" hangingPunct="0">
                  <a:spcBef>
                    <a:spcPct val="0"/>
                  </a:spcBef>
                  <a:spcAft>
                    <a:spcPct val="0"/>
                  </a:spcAft>
                  <a:defRPr sz="1200">
                    <a:solidFill>
                      <a:schemeClr val="tx1"/>
                    </a:solidFill>
                    <a:latin typeface="Times" charset="0"/>
                    <a:ea typeface="ＭＳ Ｐゴシック" charset="0"/>
                  </a:defRPr>
                </a:lvl8pPr>
                <a:lvl9pPr marL="3886200" indent="-228600" eaLnBrk="0" fontAlgn="base" hangingPunct="0">
                  <a:spcBef>
                    <a:spcPct val="0"/>
                  </a:spcBef>
                  <a:spcAft>
                    <a:spcPct val="0"/>
                  </a:spcAft>
                  <a:defRPr sz="1200">
                    <a:solidFill>
                      <a:schemeClr val="tx1"/>
                    </a:solidFill>
                    <a:latin typeface="Times" charset="0"/>
                    <a:ea typeface="ＭＳ Ｐゴシック" charset="0"/>
                  </a:defRPr>
                </a:lvl9pPr>
              </a:lstStyle>
              <a:p>
                <a:pPr algn="ctr" fontAlgn="base">
                  <a:spcBef>
                    <a:spcPct val="0"/>
                  </a:spcBef>
                  <a:spcAft>
                    <a:spcPct val="0"/>
                  </a:spcAft>
                </a:pPr>
                <a:r>
                  <a:rPr lang="en-US">
                    <a:solidFill>
                      <a:srgbClr val="000000"/>
                    </a:solidFill>
                  </a:rPr>
                  <a:t>Mux App</a:t>
                </a:r>
              </a:p>
            </p:txBody>
          </p:sp>
        </p:grpSp>
        <p:sp>
          <p:nvSpPr>
            <p:cNvPr id="8" name="Rectangle 8"/>
            <p:cNvSpPr>
              <a:spLocks noChangeArrowheads="1"/>
            </p:cNvSpPr>
            <p:nvPr/>
          </p:nvSpPr>
          <p:spPr bwMode="auto">
            <a:xfrm>
              <a:off x="3124200" y="4543548"/>
              <a:ext cx="1358900" cy="498352"/>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r>
                <a:rPr lang="en-US" sz="1200" dirty="0">
                  <a:solidFill>
                    <a:srgbClr val="000000"/>
                  </a:solidFill>
                  <a:latin typeface="Times New Roman"/>
                  <a:ea typeface="ＭＳ Ｐゴシック" charset="0"/>
                  <a:cs typeface="Times New Roman"/>
                </a:rPr>
                <a:t>SDU Protection</a:t>
              </a:r>
            </a:p>
          </p:txBody>
        </p:sp>
        <p:grpSp>
          <p:nvGrpSpPr>
            <p:cNvPr id="9" name="Group 9"/>
            <p:cNvGrpSpPr>
              <a:grpSpLocks/>
            </p:cNvGrpSpPr>
            <p:nvPr/>
          </p:nvGrpSpPr>
          <p:grpSpPr bwMode="auto">
            <a:xfrm>
              <a:off x="3124200" y="2516188"/>
              <a:ext cx="1262380" cy="1266109"/>
              <a:chOff x="1440" y="1585"/>
              <a:chExt cx="568" cy="479"/>
            </a:xfrm>
          </p:grpSpPr>
          <p:sp>
            <p:nvSpPr>
              <p:cNvPr id="10" name="Rectangle 10"/>
              <p:cNvSpPr>
                <a:spLocks noChangeArrowheads="1"/>
              </p:cNvSpPr>
              <p:nvPr/>
            </p:nvSpPr>
            <p:spPr bwMode="auto">
              <a:xfrm>
                <a:off x="1632" y="1585"/>
                <a:ext cx="48" cy="479"/>
              </a:xfrm>
              <a:prstGeom prst="rect">
                <a:avLst/>
              </a:prstGeom>
              <a:solidFill>
                <a:srgbClr val="FFFFFF"/>
              </a:solidFill>
              <a:ln w="9525">
                <a:solidFill>
                  <a:srgbClr val="000000"/>
                </a:solidFill>
                <a:miter lim="800000"/>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1" name="Oval 11"/>
              <p:cNvSpPr>
                <a:spLocks noChangeArrowheads="1"/>
              </p:cNvSpPr>
              <p:nvPr/>
            </p:nvSpPr>
            <p:spPr bwMode="auto">
              <a:xfrm>
                <a:off x="1728" y="1585"/>
                <a:ext cx="280" cy="471"/>
              </a:xfrm>
              <a:prstGeom prst="ellipse">
                <a:avLst/>
              </a:prstGeom>
              <a:solidFill>
                <a:srgbClr val="FFFFFF"/>
              </a:solidFill>
              <a:ln w="9525">
                <a:solidFill>
                  <a:srgbClr val="000000"/>
                </a:solidFill>
                <a:round/>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2" name="Oval 12"/>
              <p:cNvSpPr>
                <a:spLocks noChangeArrowheads="1"/>
              </p:cNvSpPr>
              <p:nvPr/>
            </p:nvSpPr>
            <p:spPr bwMode="auto">
              <a:xfrm>
                <a:off x="1440" y="1585"/>
                <a:ext cx="144" cy="479"/>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Arial" charset="0"/>
                  <a:ea typeface="ＭＳ Ｐゴシック" charset="0"/>
                </a:endParaRPr>
              </a:p>
            </p:txBody>
          </p:sp>
          <p:sp>
            <p:nvSpPr>
              <p:cNvPr id="13" name="Text Box 13"/>
              <p:cNvSpPr txBox="1">
                <a:spLocks noChangeArrowheads="1"/>
              </p:cNvSpPr>
              <p:nvPr/>
            </p:nvSpPr>
            <p:spPr bwMode="auto">
              <a:xfrm>
                <a:off x="1561" y="1761"/>
                <a:ext cx="264" cy="105"/>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charset="0"/>
                    <a:ea typeface="ＭＳ Ｐゴシック" charset="0"/>
                    <a:cs typeface="ＭＳ Ｐゴシック" charset="0"/>
                  </a:defRPr>
                </a:lvl1pPr>
                <a:lvl2pPr marL="742950" indent="-285750">
                  <a:defRPr sz="1200">
                    <a:solidFill>
                      <a:schemeClr val="tx1"/>
                    </a:solidFill>
                    <a:latin typeface="Times" charset="0"/>
                    <a:ea typeface="ＭＳ Ｐゴシック" charset="0"/>
                  </a:defRPr>
                </a:lvl2pPr>
                <a:lvl3pPr marL="1143000" indent="-228600">
                  <a:defRPr sz="1200">
                    <a:solidFill>
                      <a:schemeClr val="tx1"/>
                    </a:solidFill>
                    <a:latin typeface="Times" charset="0"/>
                    <a:ea typeface="ＭＳ Ｐゴシック" charset="0"/>
                  </a:defRPr>
                </a:lvl3pPr>
                <a:lvl4pPr marL="1600200" indent="-228600">
                  <a:defRPr sz="1200">
                    <a:solidFill>
                      <a:schemeClr val="tx1"/>
                    </a:solidFill>
                    <a:latin typeface="Times" charset="0"/>
                    <a:ea typeface="ＭＳ Ｐゴシック" charset="0"/>
                  </a:defRPr>
                </a:lvl4pPr>
                <a:lvl5pPr marL="2057400" indent="-228600">
                  <a:defRPr sz="1200">
                    <a:solidFill>
                      <a:schemeClr val="tx1"/>
                    </a:solidFill>
                    <a:latin typeface="Times" charset="0"/>
                    <a:ea typeface="ＭＳ Ｐゴシック" charset="0"/>
                  </a:defRPr>
                </a:lvl5pPr>
                <a:lvl6pPr marL="2514600" indent="-228600" eaLnBrk="0" fontAlgn="base" hangingPunct="0">
                  <a:spcBef>
                    <a:spcPct val="0"/>
                  </a:spcBef>
                  <a:spcAft>
                    <a:spcPct val="0"/>
                  </a:spcAft>
                  <a:defRPr sz="1200">
                    <a:solidFill>
                      <a:schemeClr val="tx1"/>
                    </a:solidFill>
                    <a:latin typeface="Times" charset="0"/>
                    <a:ea typeface="ＭＳ Ｐゴシック" charset="0"/>
                  </a:defRPr>
                </a:lvl6pPr>
                <a:lvl7pPr marL="2971800" indent="-228600" eaLnBrk="0" fontAlgn="base" hangingPunct="0">
                  <a:spcBef>
                    <a:spcPct val="0"/>
                  </a:spcBef>
                  <a:spcAft>
                    <a:spcPct val="0"/>
                  </a:spcAft>
                  <a:defRPr sz="1200">
                    <a:solidFill>
                      <a:schemeClr val="tx1"/>
                    </a:solidFill>
                    <a:latin typeface="Times" charset="0"/>
                    <a:ea typeface="ＭＳ Ｐゴシック" charset="0"/>
                  </a:defRPr>
                </a:lvl7pPr>
                <a:lvl8pPr marL="3429000" indent="-228600" eaLnBrk="0" fontAlgn="base" hangingPunct="0">
                  <a:spcBef>
                    <a:spcPct val="0"/>
                  </a:spcBef>
                  <a:spcAft>
                    <a:spcPct val="0"/>
                  </a:spcAft>
                  <a:defRPr sz="1200">
                    <a:solidFill>
                      <a:schemeClr val="tx1"/>
                    </a:solidFill>
                    <a:latin typeface="Times" charset="0"/>
                    <a:ea typeface="ＭＳ Ｐゴシック" charset="0"/>
                  </a:defRPr>
                </a:lvl8pPr>
                <a:lvl9pPr marL="3886200" indent="-228600" eaLnBrk="0" fontAlgn="base" hangingPunct="0">
                  <a:spcBef>
                    <a:spcPct val="0"/>
                  </a:spcBef>
                  <a:spcAft>
                    <a:spcPct val="0"/>
                  </a:spcAft>
                  <a:defRPr sz="1200">
                    <a:solidFill>
                      <a:schemeClr val="tx1"/>
                    </a:solidFill>
                    <a:latin typeface="Times" charset="0"/>
                    <a:ea typeface="ＭＳ Ｐゴシック" charset="0"/>
                  </a:defRPr>
                </a:lvl9pPr>
              </a:lstStyle>
              <a:p>
                <a:pPr algn="ctr" fontAlgn="base">
                  <a:spcBef>
                    <a:spcPct val="0"/>
                  </a:spcBef>
                  <a:spcAft>
                    <a:spcPct val="0"/>
                  </a:spcAft>
                </a:pPr>
                <a:r>
                  <a:rPr lang="en-US" b="1">
                    <a:solidFill>
                      <a:srgbClr val="000000"/>
                    </a:solidFill>
                  </a:rPr>
                  <a:t>EFCP</a:t>
                </a:r>
              </a:p>
            </p:txBody>
          </p:sp>
        </p:grpSp>
        <p:sp>
          <p:nvSpPr>
            <p:cNvPr id="16" name="Text Box 67"/>
            <p:cNvSpPr txBox="1">
              <a:spLocks noChangeArrowheads="1"/>
            </p:cNvSpPr>
            <p:nvPr/>
          </p:nvSpPr>
          <p:spPr bwMode="auto">
            <a:xfrm>
              <a:off x="3048000" y="2082800"/>
              <a:ext cx="1384300" cy="276999"/>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fontAlgn="base">
                <a:spcBef>
                  <a:spcPct val="50000"/>
                </a:spcBef>
                <a:spcAft>
                  <a:spcPct val="0"/>
                </a:spcAft>
                <a:defRPr/>
              </a:pPr>
              <a:r>
                <a:rPr lang="en-US" sz="1200">
                  <a:solidFill>
                    <a:srgbClr val="000000"/>
                  </a:solidFill>
                  <a:latin typeface="Arial" charset="0"/>
                  <a:ea typeface="ＭＳ Ｐゴシック" charset="0"/>
                </a:rPr>
                <a:t>Delimiting</a:t>
              </a:r>
            </a:p>
          </p:txBody>
        </p:sp>
      </p:grpSp>
      <p:grpSp>
        <p:nvGrpSpPr>
          <p:cNvPr id="41" name="Group 40"/>
          <p:cNvGrpSpPr/>
          <p:nvPr/>
        </p:nvGrpSpPr>
        <p:grpSpPr>
          <a:xfrm>
            <a:off x="6375400" y="2616200"/>
            <a:ext cx="1905000" cy="1549400"/>
            <a:chOff x="4851400" y="2616200"/>
            <a:chExt cx="1905000" cy="1549400"/>
          </a:xfrm>
        </p:grpSpPr>
        <p:sp>
          <p:nvSpPr>
            <p:cNvPr id="26" name="Snip Single Corner Rectangle 25"/>
            <p:cNvSpPr/>
            <p:nvPr/>
          </p:nvSpPr>
          <p:spPr>
            <a:xfrm>
              <a:off x="4864100" y="2705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7" name="Snip Single Corner Rectangle 26"/>
            <p:cNvSpPr/>
            <p:nvPr/>
          </p:nvSpPr>
          <p:spPr>
            <a:xfrm>
              <a:off x="4851400" y="30226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8" name="Snip Single Corner Rectangle 27"/>
            <p:cNvSpPr/>
            <p:nvPr/>
          </p:nvSpPr>
          <p:spPr>
            <a:xfrm>
              <a:off x="4876800" y="3340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9" name="Snip Single Corner Rectangle 28"/>
            <p:cNvSpPr/>
            <p:nvPr/>
          </p:nvSpPr>
          <p:spPr>
            <a:xfrm>
              <a:off x="5245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2" name="Snip Single Corner Rectangle 31"/>
            <p:cNvSpPr/>
            <p:nvPr/>
          </p:nvSpPr>
          <p:spPr>
            <a:xfrm>
              <a:off x="4864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4" name="Right Brace 33"/>
            <p:cNvSpPr/>
            <p:nvPr/>
          </p:nvSpPr>
          <p:spPr>
            <a:xfrm>
              <a:off x="5511800" y="2616200"/>
              <a:ext cx="431800" cy="1549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5" name="TextBox 34"/>
            <p:cNvSpPr txBox="1"/>
            <p:nvPr/>
          </p:nvSpPr>
          <p:spPr>
            <a:xfrm>
              <a:off x="6032500" y="3136901"/>
              <a:ext cx="723900" cy="276999"/>
            </a:xfrm>
            <a:prstGeom prst="rect">
              <a:avLst/>
            </a:prstGeom>
            <a:noFill/>
          </p:spPr>
          <p:txBody>
            <a:bodyPr wrap="squar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Policies</a:t>
              </a:r>
            </a:p>
          </p:txBody>
        </p:sp>
      </p:grpSp>
      <p:grpSp>
        <p:nvGrpSpPr>
          <p:cNvPr id="40" name="Group 39"/>
          <p:cNvGrpSpPr/>
          <p:nvPr/>
        </p:nvGrpSpPr>
        <p:grpSpPr>
          <a:xfrm>
            <a:off x="2463800" y="2070100"/>
            <a:ext cx="2082800" cy="2984500"/>
            <a:chOff x="939800" y="2070100"/>
            <a:chExt cx="2082800" cy="2984500"/>
          </a:xfrm>
        </p:grpSpPr>
        <p:sp>
          <p:nvSpPr>
            <p:cNvPr id="17" name="Snip Same Side Corner Rectangle 16"/>
            <p:cNvSpPr/>
            <p:nvPr/>
          </p:nvSpPr>
          <p:spPr>
            <a:xfrm>
              <a:off x="2463800" y="26797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8" name="Snip Same Side Corner Rectangle 17"/>
            <p:cNvSpPr/>
            <p:nvPr/>
          </p:nvSpPr>
          <p:spPr>
            <a:xfrm>
              <a:off x="2489200" y="3098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9" name="Snip Same Side Corner Rectangle 18"/>
            <p:cNvSpPr/>
            <p:nvPr/>
          </p:nvSpPr>
          <p:spPr>
            <a:xfrm>
              <a:off x="2489200" y="35433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1" name="Snip Same Side Corner Rectangle 20"/>
            <p:cNvSpPr/>
            <p:nvPr/>
          </p:nvSpPr>
          <p:spPr>
            <a:xfrm>
              <a:off x="2768600" y="47371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2" name="Snip Same Side Corner Rectangle 21"/>
            <p:cNvSpPr/>
            <p:nvPr/>
          </p:nvSpPr>
          <p:spPr>
            <a:xfrm>
              <a:off x="2476500" y="20955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5" name="Snip Same Side Corner Rectangle 24"/>
            <p:cNvSpPr/>
            <p:nvPr/>
          </p:nvSpPr>
          <p:spPr>
            <a:xfrm>
              <a:off x="2438400" y="4749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3" name="Left Brace 32"/>
            <p:cNvSpPr/>
            <p:nvPr/>
          </p:nvSpPr>
          <p:spPr>
            <a:xfrm>
              <a:off x="1778000" y="2070100"/>
              <a:ext cx="571500" cy="29845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6" name="TextBox 35"/>
            <p:cNvSpPr txBox="1"/>
            <p:nvPr/>
          </p:nvSpPr>
          <p:spPr>
            <a:xfrm>
              <a:off x="939800" y="3365501"/>
              <a:ext cx="723900" cy="276999"/>
            </a:xfrm>
            <a:prstGeom prst="rect">
              <a:avLst/>
            </a:prstGeom>
            <a:noFill/>
          </p:spPr>
          <p:txBody>
            <a:bodyPr wrap="squar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Policies</a:t>
              </a:r>
            </a:p>
          </p:txBody>
        </p:sp>
      </p:grpSp>
      <p:grpSp>
        <p:nvGrpSpPr>
          <p:cNvPr id="39" name="Group 38"/>
          <p:cNvGrpSpPr/>
          <p:nvPr/>
        </p:nvGrpSpPr>
        <p:grpSpPr>
          <a:xfrm>
            <a:off x="3962400" y="1308100"/>
            <a:ext cx="2565400" cy="622300"/>
            <a:chOff x="2438400" y="1308100"/>
            <a:chExt cx="2565400" cy="622300"/>
          </a:xfrm>
        </p:grpSpPr>
        <p:sp>
          <p:nvSpPr>
            <p:cNvPr id="37" name="Right Brace 36"/>
            <p:cNvSpPr/>
            <p:nvPr/>
          </p:nvSpPr>
          <p:spPr>
            <a:xfrm rot="16200000">
              <a:off x="3581400" y="508000"/>
              <a:ext cx="279400" cy="2565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8" name="TextBox 37"/>
            <p:cNvSpPr txBox="1"/>
            <p:nvPr/>
          </p:nvSpPr>
          <p:spPr>
            <a:xfrm>
              <a:off x="3060700" y="1308100"/>
              <a:ext cx="1219200" cy="276999"/>
            </a:xfrm>
            <a:prstGeom prst="rect">
              <a:avLst/>
            </a:prstGeom>
            <a:noFill/>
          </p:spPr>
          <p:txBody>
            <a:bodyPr wrap="squar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Mechanisms</a:t>
              </a:r>
            </a:p>
          </p:txBody>
        </p:sp>
      </p:grpSp>
      <p:cxnSp>
        <p:nvCxnSpPr>
          <p:cNvPr id="4" name="Straight Connector 3"/>
          <p:cNvCxnSpPr/>
          <p:nvPr/>
        </p:nvCxnSpPr>
        <p:spPr>
          <a:xfrm>
            <a:off x="4470400" y="6578600"/>
            <a:ext cx="5791200" cy="0"/>
          </a:xfrm>
          <a:prstGeom prst="line">
            <a:avLst/>
          </a:prstGeom>
        </p:spPr>
        <p:style>
          <a:lnRef idx="2">
            <a:schemeClr val="accent1"/>
          </a:lnRef>
          <a:fillRef idx="0">
            <a:schemeClr val="accent1"/>
          </a:fillRef>
          <a:effectRef idx="1">
            <a:schemeClr val="accent1"/>
          </a:effectRef>
          <a:fontRef idx="minor">
            <a:schemeClr val="tx1"/>
          </a:fontRef>
        </p:style>
      </p:cxnSp>
      <p:sp>
        <p:nvSpPr>
          <p:cNvPr id="43" name="Text Box 9"/>
          <p:cNvSpPr txBox="1">
            <a:spLocks noChangeArrowheads="1"/>
          </p:cNvSpPr>
          <p:nvPr/>
        </p:nvSpPr>
        <p:spPr bwMode="auto">
          <a:xfrm>
            <a:off x="7531100" y="62738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dirty="0">
                <a:solidFill>
                  <a:srgbClr val="000000"/>
                </a:solidFill>
                <a:latin typeface="Helvetica" charset="0"/>
                <a:ea typeface="ＭＳ Ｐゴシック" charset="0"/>
              </a:rPr>
              <a:t>©   John Day, All Rights Reserved, 2021</a:t>
            </a:r>
          </a:p>
        </p:txBody>
      </p:sp>
    </p:spTree>
    <p:extLst>
      <p:ext uri="{BB962C8B-B14F-4D97-AF65-F5344CB8AC3E}">
        <p14:creationId xmlns:p14="http://schemas.microsoft.com/office/powerpoint/2010/main" val="425895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6701"/>
            <a:ext cx="8229600" cy="571500"/>
          </a:xfrm>
        </p:spPr>
        <p:txBody>
          <a:bodyPr/>
          <a:lstStyle/>
          <a:p>
            <a:r>
              <a:rPr lang="en-US" dirty="0"/>
              <a:t>Repeating Layers would seem to Imply</a:t>
            </a:r>
          </a:p>
        </p:txBody>
      </p:sp>
      <p:sp>
        <p:nvSpPr>
          <p:cNvPr id="5" name="Text Placeholder 4"/>
          <p:cNvSpPr>
            <a:spLocks noGrp="1"/>
          </p:cNvSpPr>
          <p:nvPr>
            <p:ph type="body" idx="1"/>
          </p:nvPr>
        </p:nvSpPr>
        <p:spPr>
          <a:xfrm>
            <a:off x="3009900" y="5232400"/>
            <a:ext cx="4978400" cy="558800"/>
          </a:xfrm>
        </p:spPr>
        <p:txBody>
          <a:bodyPr/>
          <a:lstStyle/>
          <a:p>
            <a:pPr algn="ctr"/>
            <a:r>
              <a:rPr lang="en-US" altLang="en-US" dirty="0">
                <a:latin typeface="Times New Roman"/>
                <a:cs typeface="Times New Roman"/>
              </a:rPr>
              <a:t>No, we can do much better</a:t>
            </a:r>
          </a:p>
        </p:txBody>
      </p:sp>
      <p:grpSp>
        <p:nvGrpSpPr>
          <p:cNvPr id="4" name="Group 3">
            <a:extLst>
              <a:ext uri="{FF2B5EF4-FFF2-40B4-BE49-F238E27FC236}">
                <a16:creationId xmlns:a16="http://schemas.microsoft.com/office/drawing/2014/main" id="{30258063-1881-3D6F-9D0F-923FA4E48B67}"/>
              </a:ext>
            </a:extLst>
          </p:cNvPr>
          <p:cNvGrpSpPr/>
          <p:nvPr/>
        </p:nvGrpSpPr>
        <p:grpSpPr>
          <a:xfrm>
            <a:off x="5184882" y="1888451"/>
            <a:ext cx="889000" cy="897338"/>
            <a:chOff x="5156200" y="1888451"/>
            <a:chExt cx="889000" cy="897338"/>
          </a:xfrm>
        </p:grpSpPr>
        <p:grpSp>
          <p:nvGrpSpPr>
            <p:cNvPr id="94" name="Group 5"/>
            <p:cNvGrpSpPr>
              <a:grpSpLocks/>
            </p:cNvGrpSpPr>
            <p:nvPr/>
          </p:nvGrpSpPr>
          <p:grpSpPr bwMode="auto">
            <a:xfrm>
              <a:off x="5371214" y="2479289"/>
              <a:ext cx="416796" cy="306500"/>
              <a:chOff x="1440" y="2112"/>
              <a:chExt cx="576" cy="454"/>
            </a:xfrm>
          </p:grpSpPr>
          <p:sp>
            <p:nvSpPr>
              <p:cNvPr id="113" name="Oval 6"/>
              <p:cNvSpPr>
                <a:spLocks noChangeArrowheads="1"/>
              </p:cNvSpPr>
              <p:nvPr/>
            </p:nvSpPr>
            <p:spPr bwMode="auto">
              <a:xfrm>
                <a:off x="1440" y="2112"/>
                <a:ext cx="576" cy="240"/>
              </a:xfrm>
              <a:prstGeom prst="ellipse">
                <a:avLst/>
              </a:prstGeom>
              <a:noFill/>
              <a:ln w="9525">
                <a:solidFill>
                  <a:srgbClr val="000000"/>
                </a:solidFill>
                <a:round/>
                <a:headEnd/>
                <a:tailEnd/>
              </a:ln>
              <a:extLst>
                <a:ext uri="{909E8E84-426E-40dd-AFC4-6F175D3DCCD1}">
                  <a14:hiddenFill xmlns="" xmlns:a14="http://schemas.microsoft.com/office/drawing/2010/main">
                    <a:solidFill>
                      <a:srgbClr val="BBE0E3"/>
                    </a:solidFill>
                  </a14:hiddenFill>
                </a:ext>
              </a:extLst>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14" name="Text Box 7"/>
              <p:cNvSpPr txBox="1">
                <a:spLocks noChangeArrowheads="1"/>
              </p:cNvSpPr>
              <p:nvPr/>
            </p:nvSpPr>
            <p:spPr bwMode="auto">
              <a:xfrm>
                <a:off x="1585" y="2156"/>
                <a:ext cx="255" cy="41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charset="0"/>
                    <a:ea typeface="ＭＳ Ｐゴシック" charset="0"/>
                    <a:cs typeface="ＭＳ Ｐゴシック" charset="0"/>
                  </a:defRPr>
                </a:lvl1pPr>
                <a:lvl2pPr marL="742950" indent="-285750">
                  <a:defRPr sz="1200">
                    <a:solidFill>
                      <a:schemeClr val="tx1"/>
                    </a:solidFill>
                    <a:latin typeface="Times" charset="0"/>
                    <a:ea typeface="ＭＳ Ｐゴシック" charset="0"/>
                  </a:defRPr>
                </a:lvl2pPr>
                <a:lvl3pPr marL="1143000" indent="-228600">
                  <a:defRPr sz="1200">
                    <a:solidFill>
                      <a:schemeClr val="tx1"/>
                    </a:solidFill>
                    <a:latin typeface="Times" charset="0"/>
                    <a:ea typeface="ＭＳ Ｐゴシック" charset="0"/>
                  </a:defRPr>
                </a:lvl3pPr>
                <a:lvl4pPr marL="1600200" indent="-228600">
                  <a:defRPr sz="1200">
                    <a:solidFill>
                      <a:schemeClr val="tx1"/>
                    </a:solidFill>
                    <a:latin typeface="Times" charset="0"/>
                    <a:ea typeface="ＭＳ Ｐゴシック" charset="0"/>
                  </a:defRPr>
                </a:lvl4pPr>
                <a:lvl5pPr marL="2057400" indent="-228600">
                  <a:defRPr sz="1200">
                    <a:solidFill>
                      <a:schemeClr val="tx1"/>
                    </a:solidFill>
                    <a:latin typeface="Times" charset="0"/>
                    <a:ea typeface="ＭＳ Ｐゴシック" charset="0"/>
                  </a:defRPr>
                </a:lvl5pPr>
                <a:lvl6pPr marL="2514600" indent="-228600" eaLnBrk="0" fontAlgn="base" hangingPunct="0">
                  <a:spcBef>
                    <a:spcPct val="0"/>
                  </a:spcBef>
                  <a:spcAft>
                    <a:spcPct val="0"/>
                  </a:spcAft>
                  <a:defRPr sz="1200">
                    <a:solidFill>
                      <a:schemeClr val="tx1"/>
                    </a:solidFill>
                    <a:latin typeface="Times" charset="0"/>
                    <a:ea typeface="ＭＳ Ｐゴシック" charset="0"/>
                  </a:defRPr>
                </a:lvl6pPr>
                <a:lvl7pPr marL="2971800" indent="-228600" eaLnBrk="0" fontAlgn="base" hangingPunct="0">
                  <a:spcBef>
                    <a:spcPct val="0"/>
                  </a:spcBef>
                  <a:spcAft>
                    <a:spcPct val="0"/>
                  </a:spcAft>
                  <a:defRPr sz="1200">
                    <a:solidFill>
                      <a:schemeClr val="tx1"/>
                    </a:solidFill>
                    <a:latin typeface="Times" charset="0"/>
                    <a:ea typeface="ＭＳ Ｐゴシック" charset="0"/>
                  </a:defRPr>
                </a:lvl7pPr>
                <a:lvl8pPr marL="3429000" indent="-228600" eaLnBrk="0" fontAlgn="base" hangingPunct="0">
                  <a:spcBef>
                    <a:spcPct val="0"/>
                  </a:spcBef>
                  <a:spcAft>
                    <a:spcPct val="0"/>
                  </a:spcAft>
                  <a:defRPr sz="1200">
                    <a:solidFill>
                      <a:schemeClr val="tx1"/>
                    </a:solidFill>
                    <a:latin typeface="Times" charset="0"/>
                    <a:ea typeface="ＭＳ Ｐゴシック" charset="0"/>
                  </a:defRPr>
                </a:lvl8pPr>
                <a:lvl9pPr marL="3886200" indent="-228600" eaLnBrk="0" fontAlgn="base" hangingPunct="0">
                  <a:spcBef>
                    <a:spcPct val="0"/>
                  </a:spcBef>
                  <a:spcAft>
                    <a:spcPct val="0"/>
                  </a:spcAft>
                  <a:defRPr sz="1200">
                    <a:solidFill>
                      <a:schemeClr val="tx1"/>
                    </a:solidFill>
                    <a:latin typeface="Times" charset="0"/>
                    <a:ea typeface="ＭＳ Ｐゴシック" charset="0"/>
                  </a:defRPr>
                </a:lvl9pPr>
              </a:lstStyle>
              <a:p>
                <a:pPr algn="ctr" fontAlgn="base">
                  <a:spcBef>
                    <a:spcPct val="0"/>
                  </a:spcBef>
                  <a:spcAft>
                    <a:spcPct val="0"/>
                  </a:spcAft>
                </a:pPr>
                <a:endParaRPr lang="en-US" dirty="0">
                  <a:solidFill>
                    <a:srgbClr val="000000"/>
                  </a:solidFill>
                </a:endParaRPr>
              </a:p>
            </p:txBody>
          </p:sp>
        </p:grpSp>
        <p:sp>
          <p:nvSpPr>
            <p:cNvPr id="95" name="Rectangle 8"/>
            <p:cNvSpPr>
              <a:spLocks noChangeArrowheads="1"/>
            </p:cNvSpPr>
            <p:nvPr/>
          </p:nvSpPr>
          <p:spPr bwMode="auto">
            <a:xfrm>
              <a:off x="5371214" y="2641315"/>
              <a:ext cx="442433" cy="127285"/>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dirty="0">
                <a:solidFill>
                  <a:srgbClr val="000000"/>
                </a:solidFill>
                <a:latin typeface="Times New Roman"/>
                <a:ea typeface="ＭＳ Ｐゴシック" charset="0"/>
                <a:cs typeface="Times New Roman"/>
              </a:endParaRPr>
            </a:p>
          </p:txBody>
        </p:sp>
        <p:sp>
          <p:nvSpPr>
            <p:cNvPr id="96" name="Rectangle 10"/>
            <p:cNvSpPr>
              <a:spLocks noChangeArrowheads="1"/>
            </p:cNvSpPr>
            <p:nvPr/>
          </p:nvSpPr>
          <p:spPr bwMode="auto">
            <a:xfrm>
              <a:off x="5510146" y="2123505"/>
              <a:ext cx="34733" cy="323378"/>
            </a:xfrm>
            <a:prstGeom prst="rect">
              <a:avLst/>
            </a:prstGeom>
            <a:solidFill>
              <a:srgbClr val="FFFFFF"/>
            </a:solidFill>
            <a:ln w="9525">
              <a:solidFill>
                <a:srgbClr val="000000"/>
              </a:solidFill>
              <a:miter lim="800000"/>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97" name="Oval 11"/>
            <p:cNvSpPr>
              <a:spLocks noChangeArrowheads="1"/>
            </p:cNvSpPr>
            <p:nvPr/>
          </p:nvSpPr>
          <p:spPr bwMode="auto">
            <a:xfrm>
              <a:off x="5579612" y="2123505"/>
              <a:ext cx="202609" cy="317977"/>
            </a:xfrm>
            <a:prstGeom prst="ellipse">
              <a:avLst/>
            </a:prstGeom>
            <a:solidFill>
              <a:srgbClr val="FFFFFF"/>
            </a:solidFill>
            <a:ln w="9525">
              <a:solidFill>
                <a:srgbClr val="000000"/>
              </a:solidFill>
              <a:round/>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98" name="Oval 12"/>
            <p:cNvSpPr>
              <a:spLocks noChangeArrowheads="1"/>
            </p:cNvSpPr>
            <p:nvPr/>
          </p:nvSpPr>
          <p:spPr bwMode="auto">
            <a:xfrm>
              <a:off x="5371214" y="2123505"/>
              <a:ext cx="104199" cy="323378"/>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Arial" charset="0"/>
                <a:ea typeface="ＭＳ Ｐゴシック" charset="0"/>
              </a:endParaRPr>
            </a:p>
          </p:txBody>
        </p:sp>
        <p:grpSp>
          <p:nvGrpSpPr>
            <p:cNvPr id="99" name="Group 98"/>
            <p:cNvGrpSpPr/>
            <p:nvPr/>
          </p:nvGrpSpPr>
          <p:grpSpPr>
            <a:xfrm>
              <a:off x="5842591" y="2145805"/>
              <a:ext cx="202609" cy="350322"/>
              <a:chOff x="4851400" y="2705100"/>
              <a:chExt cx="622300" cy="1371600"/>
            </a:xfrm>
          </p:grpSpPr>
          <p:sp>
            <p:nvSpPr>
              <p:cNvPr id="108" name="Snip Single Corner Rectangle 107"/>
              <p:cNvSpPr/>
              <p:nvPr/>
            </p:nvSpPr>
            <p:spPr>
              <a:xfrm>
                <a:off x="4864100" y="2705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09" name="Snip Single Corner Rectangle 108"/>
              <p:cNvSpPr/>
              <p:nvPr/>
            </p:nvSpPr>
            <p:spPr>
              <a:xfrm>
                <a:off x="4851400" y="30226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10" name="Snip Single Corner Rectangle 109"/>
              <p:cNvSpPr/>
              <p:nvPr/>
            </p:nvSpPr>
            <p:spPr>
              <a:xfrm>
                <a:off x="4876800" y="3340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11" name="Snip Single Corner Rectangle 110"/>
              <p:cNvSpPr/>
              <p:nvPr/>
            </p:nvSpPr>
            <p:spPr>
              <a:xfrm>
                <a:off x="5245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12" name="Snip Single Corner Rectangle 111"/>
              <p:cNvSpPr/>
              <p:nvPr/>
            </p:nvSpPr>
            <p:spPr>
              <a:xfrm>
                <a:off x="4864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nvGrpSpPr>
            <p:cNvPr id="100" name="Group 99"/>
            <p:cNvGrpSpPr/>
            <p:nvPr/>
          </p:nvGrpSpPr>
          <p:grpSpPr>
            <a:xfrm>
              <a:off x="5156200" y="2019300"/>
              <a:ext cx="190205" cy="739568"/>
              <a:chOff x="2438400" y="2095500"/>
              <a:chExt cx="584200" cy="2895600"/>
            </a:xfrm>
          </p:grpSpPr>
          <p:sp>
            <p:nvSpPr>
              <p:cNvPr id="102" name="Snip Same Side Corner Rectangle 101"/>
              <p:cNvSpPr/>
              <p:nvPr/>
            </p:nvSpPr>
            <p:spPr>
              <a:xfrm>
                <a:off x="2463800" y="26797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03" name="Snip Same Side Corner Rectangle 102"/>
              <p:cNvSpPr/>
              <p:nvPr/>
            </p:nvSpPr>
            <p:spPr>
              <a:xfrm>
                <a:off x="2489200" y="3098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04" name="Snip Same Side Corner Rectangle 103"/>
              <p:cNvSpPr/>
              <p:nvPr/>
            </p:nvSpPr>
            <p:spPr>
              <a:xfrm>
                <a:off x="2489200" y="35433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05" name="Snip Same Side Corner Rectangle 104"/>
              <p:cNvSpPr/>
              <p:nvPr/>
            </p:nvSpPr>
            <p:spPr>
              <a:xfrm>
                <a:off x="2768600" y="47371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06" name="Snip Same Side Corner Rectangle 105"/>
              <p:cNvSpPr/>
              <p:nvPr/>
            </p:nvSpPr>
            <p:spPr>
              <a:xfrm>
                <a:off x="2476500" y="20955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07" name="Snip Same Side Corner Rectangle 106"/>
              <p:cNvSpPr/>
              <p:nvPr/>
            </p:nvSpPr>
            <p:spPr>
              <a:xfrm>
                <a:off x="2438400" y="4749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sp>
          <p:nvSpPr>
            <p:cNvPr id="101" name="TextBox 100"/>
            <p:cNvSpPr txBox="1"/>
            <p:nvPr/>
          </p:nvSpPr>
          <p:spPr>
            <a:xfrm>
              <a:off x="5359499" y="1888451"/>
              <a:ext cx="407028" cy="113284"/>
            </a:xfrm>
            <a:prstGeom prst="rect">
              <a:avLst/>
            </a:prstGeom>
            <a:noFill/>
            <a:ln>
              <a:solidFill>
                <a:schemeClr val="tx1">
                  <a:lumMod val="95000"/>
                  <a:lumOff val="5000"/>
                </a:schemeClr>
              </a:solidFill>
            </a:ln>
          </p:spPr>
          <p:txBody>
            <a:bodyPr wrap="square" rtlCol="0">
              <a:spAutoFit/>
            </a:bodyPr>
            <a:lstStyle/>
            <a:p>
              <a:pPr algn="ctr" fontAlgn="base">
                <a:spcBef>
                  <a:spcPct val="0"/>
                </a:spcBef>
                <a:spcAft>
                  <a:spcPct val="0"/>
                </a:spcAft>
              </a:pPr>
              <a:endParaRPr lang="en-US" sz="1200" dirty="0">
                <a:solidFill>
                  <a:srgbClr val="000000"/>
                </a:solidFill>
                <a:latin typeface="Arial" charset="0"/>
                <a:ea typeface="ＭＳ Ｐゴシック" charset="0"/>
              </a:endParaRPr>
            </a:p>
          </p:txBody>
        </p:sp>
      </p:grpSp>
      <p:cxnSp>
        <p:nvCxnSpPr>
          <p:cNvPr id="116" name="Straight Connector 115"/>
          <p:cNvCxnSpPr/>
          <p:nvPr/>
        </p:nvCxnSpPr>
        <p:spPr>
          <a:xfrm flipV="1">
            <a:off x="4686300" y="3936415"/>
            <a:ext cx="2095500" cy="25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Connector 119"/>
          <p:cNvCxnSpPr/>
          <p:nvPr/>
        </p:nvCxnSpPr>
        <p:spPr>
          <a:xfrm flipV="1">
            <a:off x="4718777" y="5062430"/>
            <a:ext cx="2095500" cy="25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Connector 120"/>
          <p:cNvCxnSpPr/>
          <p:nvPr/>
        </p:nvCxnSpPr>
        <p:spPr>
          <a:xfrm flipV="1">
            <a:off x="4584700" y="2870200"/>
            <a:ext cx="2095500" cy="25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Straight Connector 121"/>
          <p:cNvCxnSpPr/>
          <p:nvPr/>
        </p:nvCxnSpPr>
        <p:spPr>
          <a:xfrm flipV="1">
            <a:off x="4497129" y="1718706"/>
            <a:ext cx="2095500" cy="25400"/>
          </a:xfrm>
          <a:prstGeom prst="line">
            <a:avLst/>
          </a:prstGeom>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6690258" y="4191000"/>
            <a:ext cx="697952"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Layer 1</a:t>
            </a:r>
          </a:p>
        </p:txBody>
      </p:sp>
      <p:sp>
        <p:nvSpPr>
          <p:cNvPr id="124" name="TextBox 123"/>
          <p:cNvSpPr txBox="1"/>
          <p:nvPr/>
        </p:nvSpPr>
        <p:spPr>
          <a:xfrm>
            <a:off x="6766458" y="3200400"/>
            <a:ext cx="697952"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Layer 2</a:t>
            </a:r>
          </a:p>
        </p:txBody>
      </p:sp>
      <p:sp>
        <p:nvSpPr>
          <p:cNvPr id="125" name="TextBox 124"/>
          <p:cNvSpPr txBox="1"/>
          <p:nvPr/>
        </p:nvSpPr>
        <p:spPr>
          <a:xfrm>
            <a:off x="6715658" y="2209800"/>
            <a:ext cx="697952"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Layer 3</a:t>
            </a:r>
          </a:p>
        </p:txBody>
      </p:sp>
      <p:sp>
        <p:nvSpPr>
          <p:cNvPr id="127" name="TextBox 126"/>
          <p:cNvSpPr txBox="1"/>
          <p:nvPr/>
        </p:nvSpPr>
        <p:spPr>
          <a:xfrm>
            <a:off x="3849661" y="1181100"/>
            <a:ext cx="3712174" cy="338554"/>
          </a:xfrm>
          <a:prstGeom prst="rect">
            <a:avLst/>
          </a:prstGeom>
          <a:noFill/>
        </p:spPr>
        <p:txBody>
          <a:bodyPr wrap="none" rtlCol="0">
            <a:spAutoFit/>
          </a:bodyPr>
          <a:lstStyle/>
          <a:p>
            <a:pPr algn="ctr" fontAlgn="base">
              <a:spcBef>
                <a:spcPct val="0"/>
              </a:spcBef>
              <a:spcAft>
                <a:spcPct val="0"/>
              </a:spcAft>
            </a:pPr>
            <a:r>
              <a:rPr lang="en-US" sz="1600" dirty="0">
                <a:solidFill>
                  <a:srgbClr val="000000"/>
                </a:solidFill>
                <a:latin typeface="Times New Roman"/>
                <a:ea typeface="ＭＳ Ｐゴシック" charset="0"/>
                <a:cs typeface="Times New Roman"/>
              </a:rPr>
              <a:t>A pipeline like this would be </a:t>
            </a:r>
            <a:r>
              <a:rPr lang="en-US" sz="1600">
                <a:solidFill>
                  <a:srgbClr val="000000"/>
                </a:solidFill>
                <a:latin typeface="Times New Roman"/>
                <a:ea typeface="ＭＳ Ｐゴシック" charset="0"/>
                <a:cs typeface="Times New Roman"/>
              </a:rPr>
              <a:t>the way to go</a:t>
            </a:r>
            <a:endParaRPr lang="en-US" sz="1600" dirty="0">
              <a:solidFill>
                <a:srgbClr val="000000"/>
              </a:solidFill>
              <a:latin typeface="Times New Roman"/>
              <a:ea typeface="ＭＳ Ｐゴシック" charset="0"/>
              <a:cs typeface="Times New Roman"/>
            </a:endParaRPr>
          </a:p>
        </p:txBody>
      </p:sp>
      <p:cxnSp>
        <p:nvCxnSpPr>
          <p:cNvPr id="115" name="Straight Connector 114"/>
          <p:cNvCxnSpPr/>
          <p:nvPr/>
        </p:nvCxnSpPr>
        <p:spPr>
          <a:xfrm>
            <a:off x="4470400" y="6578600"/>
            <a:ext cx="5791200" cy="0"/>
          </a:xfrm>
          <a:prstGeom prst="line">
            <a:avLst/>
          </a:prstGeom>
        </p:spPr>
        <p:style>
          <a:lnRef idx="2">
            <a:schemeClr val="accent1"/>
          </a:lnRef>
          <a:fillRef idx="0">
            <a:schemeClr val="accent1"/>
          </a:fillRef>
          <a:effectRef idx="1">
            <a:schemeClr val="accent1"/>
          </a:effectRef>
          <a:fontRef idx="minor">
            <a:schemeClr val="tx1"/>
          </a:fontRef>
        </p:style>
      </p:cxnSp>
      <p:sp>
        <p:nvSpPr>
          <p:cNvPr id="117" name="Text Box 9"/>
          <p:cNvSpPr txBox="1">
            <a:spLocks noChangeArrowheads="1"/>
          </p:cNvSpPr>
          <p:nvPr/>
        </p:nvSpPr>
        <p:spPr bwMode="auto">
          <a:xfrm>
            <a:off x="7772400" y="62230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dirty="0">
                <a:solidFill>
                  <a:srgbClr val="000000"/>
                </a:solidFill>
                <a:latin typeface="Helvetica" charset="0"/>
                <a:ea typeface="ＭＳ Ｐゴシック" charset="0"/>
              </a:rPr>
              <a:t>©   John Day, All Rights Reserved, 2021</a:t>
            </a:r>
          </a:p>
        </p:txBody>
      </p:sp>
      <p:grpSp>
        <p:nvGrpSpPr>
          <p:cNvPr id="13" name="Group 12">
            <a:extLst>
              <a:ext uri="{FF2B5EF4-FFF2-40B4-BE49-F238E27FC236}">
                <a16:creationId xmlns:a16="http://schemas.microsoft.com/office/drawing/2014/main" id="{2389E41C-BCEE-DA51-8D6C-291B86DBD874}"/>
              </a:ext>
            </a:extLst>
          </p:cNvPr>
          <p:cNvGrpSpPr/>
          <p:nvPr/>
        </p:nvGrpSpPr>
        <p:grpSpPr>
          <a:xfrm>
            <a:off x="5184882" y="2966544"/>
            <a:ext cx="889000" cy="897338"/>
            <a:chOff x="5156200" y="1888451"/>
            <a:chExt cx="889000" cy="897338"/>
          </a:xfrm>
        </p:grpSpPr>
        <p:grpSp>
          <p:nvGrpSpPr>
            <p:cNvPr id="16" name="Group 5">
              <a:extLst>
                <a:ext uri="{FF2B5EF4-FFF2-40B4-BE49-F238E27FC236}">
                  <a16:creationId xmlns:a16="http://schemas.microsoft.com/office/drawing/2014/main" id="{7F11798A-CAF6-34F3-1638-817A54CC84C9}"/>
                </a:ext>
              </a:extLst>
            </p:cNvPr>
            <p:cNvGrpSpPr>
              <a:grpSpLocks/>
            </p:cNvGrpSpPr>
            <p:nvPr/>
          </p:nvGrpSpPr>
          <p:grpSpPr bwMode="auto">
            <a:xfrm>
              <a:off x="5371214" y="2479289"/>
              <a:ext cx="416796" cy="306500"/>
              <a:chOff x="1440" y="2112"/>
              <a:chExt cx="576" cy="454"/>
            </a:xfrm>
          </p:grpSpPr>
          <p:sp>
            <p:nvSpPr>
              <p:cNvPr id="50" name="Oval 6">
                <a:extLst>
                  <a:ext uri="{FF2B5EF4-FFF2-40B4-BE49-F238E27FC236}">
                    <a16:creationId xmlns:a16="http://schemas.microsoft.com/office/drawing/2014/main" id="{1F8527F2-9811-78F1-2237-4880F84F1886}"/>
                  </a:ext>
                </a:extLst>
              </p:cNvPr>
              <p:cNvSpPr>
                <a:spLocks noChangeArrowheads="1"/>
              </p:cNvSpPr>
              <p:nvPr/>
            </p:nvSpPr>
            <p:spPr bwMode="auto">
              <a:xfrm>
                <a:off x="1440" y="2112"/>
                <a:ext cx="576" cy="240"/>
              </a:xfrm>
              <a:prstGeom prst="ellipse">
                <a:avLst/>
              </a:prstGeom>
              <a:noFill/>
              <a:ln w="9525">
                <a:solidFill>
                  <a:srgbClr val="000000"/>
                </a:solidFill>
                <a:round/>
                <a:headEnd/>
                <a:tailEnd/>
              </a:ln>
              <a:extLst>
                <a:ext uri="{909E8E84-426E-40dd-AFC4-6F175D3DCCD1}">
                  <a14:hiddenFill xmlns="" xmlns:a14="http://schemas.microsoft.com/office/drawing/2010/main">
                    <a:solidFill>
                      <a:srgbClr val="BBE0E3"/>
                    </a:solidFill>
                  </a14:hiddenFill>
                </a:ext>
              </a:extLst>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51" name="Text Box 7">
                <a:extLst>
                  <a:ext uri="{FF2B5EF4-FFF2-40B4-BE49-F238E27FC236}">
                    <a16:creationId xmlns:a16="http://schemas.microsoft.com/office/drawing/2014/main" id="{FD10C1D7-080C-A161-AAD6-F7FBE69A4A17}"/>
                  </a:ext>
                </a:extLst>
              </p:cNvPr>
              <p:cNvSpPr txBox="1">
                <a:spLocks noChangeArrowheads="1"/>
              </p:cNvSpPr>
              <p:nvPr/>
            </p:nvSpPr>
            <p:spPr bwMode="auto">
              <a:xfrm>
                <a:off x="1585" y="2156"/>
                <a:ext cx="255" cy="41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charset="0"/>
                    <a:ea typeface="ＭＳ Ｐゴシック" charset="0"/>
                    <a:cs typeface="ＭＳ Ｐゴシック" charset="0"/>
                  </a:defRPr>
                </a:lvl1pPr>
                <a:lvl2pPr marL="742950" indent="-285750">
                  <a:defRPr sz="1200">
                    <a:solidFill>
                      <a:schemeClr val="tx1"/>
                    </a:solidFill>
                    <a:latin typeface="Times" charset="0"/>
                    <a:ea typeface="ＭＳ Ｐゴシック" charset="0"/>
                  </a:defRPr>
                </a:lvl2pPr>
                <a:lvl3pPr marL="1143000" indent="-228600">
                  <a:defRPr sz="1200">
                    <a:solidFill>
                      <a:schemeClr val="tx1"/>
                    </a:solidFill>
                    <a:latin typeface="Times" charset="0"/>
                    <a:ea typeface="ＭＳ Ｐゴシック" charset="0"/>
                  </a:defRPr>
                </a:lvl3pPr>
                <a:lvl4pPr marL="1600200" indent="-228600">
                  <a:defRPr sz="1200">
                    <a:solidFill>
                      <a:schemeClr val="tx1"/>
                    </a:solidFill>
                    <a:latin typeface="Times" charset="0"/>
                    <a:ea typeface="ＭＳ Ｐゴシック" charset="0"/>
                  </a:defRPr>
                </a:lvl4pPr>
                <a:lvl5pPr marL="2057400" indent="-228600">
                  <a:defRPr sz="1200">
                    <a:solidFill>
                      <a:schemeClr val="tx1"/>
                    </a:solidFill>
                    <a:latin typeface="Times" charset="0"/>
                    <a:ea typeface="ＭＳ Ｐゴシック" charset="0"/>
                  </a:defRPr>
                </a:lvl5pPr>
                <a:lvl6pPr marL="2514600" indent="-228600" eaLnBrk="0" fontAlgn="base" hangingPunct="0">
                  <a:spcBef>
                    <a:spcPct val="0"/>
                  </a:spcBef>
                  <a:spcAft>
                    <a:spcPct val="0"/>
                  </a:spcAft>
                  <a:defRPr sz="1200">
                    <a:solidFill>
                      <a:schemeClr val="tx1"/>
                    </a:solidFill>
                    <a:latin typeface="Times" charset="0"/>
                    <a:ea typeface="ＭＳ Ｐゴシック" charset="0"/>
                  </a:defRPr>
                </a:lvl6pPr>
                <a:lvl7pPr marL="2971800" indent="-228600" eaLnBrk="0" fontAlgn="base" hangingPunct="0">
                  <a:spcBef>
                    <a:spcPct val="0"/>
                  </a:spcBef>
                  <a:spcAft>
                    <a:spcPct val="0"/>
                  </a:spcAft>
                  <a:defRPr sz="1200">
                    <a:solidFill>
                      <a:schemeClr val="tx1"/>
                    </a:solidFill>
                    <a:latin typeface="Times" charset="0"/>
                    <a:ea typeface="ＭＳ Ｐゴシック" charset="0"/>
                  </a:defRPr>
                </a:lvl7pPr>
                <a:lvl8pPr marL="3429000" indent="-228600" eaLnBrk="0" fontAlgn="base" hangingPunct="0">
                  <a:spcBef>
                    <a:spcPct val="0"/>
                  </a:spcBef>
                  <a:spcAft>
                    <a:spcPct val="0"/>
                  </a:spcAft>
                  <a:defRPr sz="1200">
                    <a:solidFill>
                      <a:schemeClr val="tx1"/>
                    </a:solidFill>
                    <a:latin typeface="Times" charset="0"/>
                    <a:ea typeface="ＭＳ Ｐゴシック" charset="0"/>
                  </a:defRPr>
                </a:lvl8pPr>
                <a:lvl9pPr marL="3886200" indent="-228600" eaLnBrk="0" fontAlgn="base" hangingPunct="0">
                  <a:spcBef>
                    <a:spcPct val="0"/>
                  </a:spcBef>
                  <a:spcAft>
                    <a:spcPct val="0"/>
                  </a:spcAft>
                  <a:defRPr sz="1200">
                    <a:solidFill>
                      <a:schemeClr val="tx1"/>
                    </a:solidFill>
                    <a:latin typeface="Times" charset="0"/>
                    <a:ea typeface="ＭＳ Ｐゴシック" charset="0"/>
                  </a:defRPr>
                </a:lvl9pPr>
              </a:lstStyle>
              <a:p>
                <a:pPr algn="ctr" fontAlgn="base">
                  <a:spcBef>
                    <a:spcPct val="0"/>
                  </a:spcBef>
                  <a:spcAft>
                    <a:spcPct val="0"/>
                  </a:spcAft>
                </a:pPr>
                <a:endParaRPr lang="en-US" dirty="0">
                  <a:solidFill>
                    <a:srgbClr val="000000"/>
                  </a:solidFill>
                </a:endParaRPr>
              </a:p>
            </p:txBody>
          </p:sp>
        </p:grpSp>
        <p:sp>
          <p:nvSpPr>
            <p:cNvPr id="20" name="Rectangle 8">
              <a:extLst>
                <a:ext uri="{FF2B5EF4-FFF2-40B4-BE49-F238E27FC236}">
                  <a16:creationId xmlns:a16="http://schemas.microsoft.com/office/drawing/2014/main" id="{2A3402C7-8FF0-A3BF-386E-EBCE1523325B}"/>
                </a:ext>
              </a:extLst>
            </p:cNvPr>
            <p:cNvSpPr>
              <a:spLocks noChangeArrowheads="1"/>
            </p:cNvSpPr>
            <p:nvPr/>
          </p:nvSpPr>
          <p:spPr bwMode="auto">
            <a:xfrm>
              <a:off x="5371214" y="2641315"/>
              <a:ext cx="442433" cy="127285"/>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dirty="0">
                <a:solidFill>
                  <a:srgbClr val="000000"/>
                </a:solidFill>
                <a:latin typeface="Times New Roman"/>
                <a:ea typeface="ＭＳ Ｐゴシック" charset="0"/>
                <a:cs typeface="Times New Roman"/>
              </a:endParaRPr>
            </a:p>
          </p:txBody>
        </p:sp>
        <p:sp>
          <p:nvSpPr>
            <p:cNvPr id="23" name="Rectangle 10">
              <a:extLst>
                <a:ext uri="{FF2B5EF4-FFF2-40B4-BE49-F238E27FC236}">
                  <a16:creationId xmlns:a16="http://schemas.microsoft.com/office/drawing/2014/main" id="{D4566C9B-66CC-D386-264F-31A65C0CD260}"/>
                </a:ext>
              </a:extLst>
            </p:cNvPr>
            <p:cNvSpPr>
              <a:spLocks noChangeArrowheads="1"/>
            </p:cNvSpPr>
            <p:nvPr/>
          </p:nvSpPr>
          <p:spPr bwMode="auto">
            <a:xfrm>
              <a:off x="5510146" y="2123505"/>
              <a:ext cx="34733" cy="323378"/>
            </a:xfrm>
            <a:prstGeom prst="rect">
              <a:avLst/>
            </a:prstGeom>
            <a:solidFill>
              <a:srgbClr val="FFFFFF"/>
            </a:solidFill>
            <a:ln w="9525">
              <a:solidFill>
                <a:srgbClr val="000000"/>
              </a:solidFill>
              <a:miter lim="800000"/>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24" name="Oval 11">
              <a:extLst>
                <a:ext uri="{FF2B5EF4-FFF2-40B4-BE49-F238E27FC236}">
                  <a16:creationId xmlns:a16="http://schemas.microsoft.com/office/drawing/2014/main" id="{CC5C77DA-0451-7D70-FB93-732D7D7F7207}"/>
                </a:ext>
              </a:extLst>
            </p:cNvPr>
            <p:cNvSpPr>
              <a:spLocks noChangeArrowheads="1"/>
            </p:cNvSpPr>
            <p:nvPr/>
          </p:nvSpPr>
          <p:spPr bwMode="auto">
            <a:xfrm>
              <a:off x="5579612" y="2123505"/>
              <a:ext cx="202609" cy="317977"/>
            </a:xfrm>
            <a:prstGeom prst="ellipse">
              <a:avLst/>
            </a:prstGeom>
            <a:solidFill>
              <a:srgbClr val="FFFFFF"/>
            </a:solidFill>
            <a:ln w="9525">
              <a:solidFill>
                <a:srgbClr val="000000"/>
              </a:solidFill>
              <a:round/>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30" name="Oval 12">
              <a:extLst>
                <a:ext uri="{FF2B5EF4-FFF2-40B4-BE49-F238E27FC236}">
                  <a16:creationId xmlns:a16="http://schemas.microsoft.com/office/drawing/2014/main" id="{B65D7418-C1FE-F778-11A1-88B1E20B3841}"/>
                </a:ext>
              </a:extLst>
            </p:cNvPr>
            <p:cNvSpPr>
              <a:spLocks noChangeArrowheads="1"/>
            </p:cNvSpPr>
            <p:nvPr/>
          </p:nvSpPr>
          <p:spPr bwMode="auto">
            <a:xfrm>
              <a:off x="5371214" y="2123505"/>
              <a:ext cx="104199" cy="323378"/>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Arial" charset="0"/>
                <a:ea typeface="ＭＳ Ｐゴシック" charset="0"/>
              </a:endParaRPr>
            </a:p>
          </p:txBody>
        </p:sp>
        <p:grpSp>
          <p:nvGrpSpPr>
            <p:cNvPr id="31" name="Group 30">
              <a:extLst>
                <a:ext uri="{FF2B5EF4-FFF2-40B4-BE49-F238E27FC236}">
                  <a16:creationId xmlns:a16="http://schemas.microsoft.com/office/drawing/2014/main" id="{C9F2DDEC-4D24-C70F-234F-957FF975D79D}"/>
                </a:ext>
              </a:extLst>
            </p:cNvPr>
            <p:cNvGrpSpPr/>
            <p:nvPr/>
          </p:nvGrpSpPr>
          <p:grpSpPr>
            <a:xfrm>
              <a:off x="5842591" y="2145805"/>
              <a:ext cx="202609" cy="350322"/>
              <a:chOff x="4851400" y="2705100"/>
              <a:chExt cx="622300" cy="1371600"/>
            </a:xfrm>
          </p:grpSpPr>
          <p:sp>
            <p:nvSpPr>
              <p:cNvPr id="41" name="Snip Single Corner Rectangle 40">
                <a:extLst>
                  <a:ext uri="{FF2B5EF4-FFF2-40B4-BE49-F238E27FC236}">
                    <a16:creationId xmlns:a16="http://schemas.microsoft.com/office/drawing/2014/main" id="{15D1767B-AEC8-BB4D-4774-E4324DD4E1AA}"/>
                  </a:ext>
                </a:extLst>
              </p:cNvPr>
              <p:cNvSpPr/>
              <p:nvPr/>
            </p:nvSpPr>
            <p:spPr>
              <a:xfrm>
                <a:off x="4864100" y="2705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42" name="Snip Single Corner Rectangle 41">
                <a:extLst>
                  <a:ext uri="{FF2B5EF4-FFF2-40B4-BE49-F238E27FC236}">
                    <a16:creationId xmlns:a16="http://schemas.microsoft.com/office/drawing/2014/main" id="{A8565F25-8E77-60DD-9578-858428AF1FC4}"/>
                  </a:ext>
                </a:extLst>
              </p:cNvPr>
              <p:cNvSpPr/>
              <p:nvPr/>
            </p:nvSpPr>
            <p:spPr>
              <a:xfrm>
                <a:off x="4851400" y="30226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45" name="Snip Single Corner Rectangle 44">
                <a:extLst>
                  <a:ext uri="{FF2B5EF4-FFF2-40B4-BE49-F238E27FC236}">
                    <a16:creationId xmlns:a16="http://schemas.microsoft.com/office/drawing/2014/main" id="{A7B92CF2-91EB-D29B-8F79-86CB363E9CD5}"/>
                  </a:ext>
                </a:extLst>
              </p:cNvPr>
              <p:cNvSpPr/>
              <p:nvPr/>
            </p:nvSpPr>
            <p:spPr>
              <a:xfrm>
                <a:off x="4876800" y="3340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46" name="Snip Single Corner Rectangle 45">
                <a:extLst>
                  <a:ext uri="{FF2B5EF4-FFF2-40B4-BE49-F238E27FC236}">
                    <a16:creationId xmlns:a16="http://schemas.microsoft.com/office/drawing/2014/main" id="{D343FBCF-A461-A789-40B4-5BB5387AFF73}"/>
                  </a:ext>
                </a:extLst>
              </p:cNvPr>
              <p:cNvSpPr/>
              <p:nvPr/>
            </p:nvSpPr>
            <p:spPr>
              <a:xfrm>
                <a:off x="5245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49" name="Snip Single Corner Rectangle 48">
                <a:extLst>
                  <a:ext uri="{FF2B5EF4-FFF2-40B4-BE49-F238E27FC236}">
                    <a16:creationId xmlns:a16="http://schemas.microsoft.com/office/drawing/2014/main" id="{46553BFA-E998-7DE6-0342-B72C89466670}"/>
                  </a:ext>
                </a:extLst>
              </p:cNvPr>
              <p:cNvSpPr/>
              <p:nvPr/>
            </p:nvSpPr>
            <p:spPr>
              <a:xfrm>
                <a:off x="4864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nvGrpSpPr>
            <p:cNvPr id="33" name="Group 32">
              <a:extLst>
                <a:ext uri="{FF2B5EF4-FFF2-40B4-BE49-F238E27FC236}">
                  <a16:creationId xmlns:a16="http://schemas.microsoft.com/office/drawing/2014/main" id="{A3A4C8CE-64F1-3711-CE82-E3170C4F763D}"/>
                </a:ext>
              </a:extLst>
            </p:cNvPr>
            <p:cNvGrpSpPr/>
            <p:nvPr/>
          </p:nvGrpSpPr>
          <p:grpSpPr>
            <a:xfrm>
              <a:off x="5156200" y="2019300"/>
              <a:ext cx="190205" cy="739568"/>
              <a:chOff x="2438400" y="2095500"/>
              <a:chExt cx="584200" cy="2895600"/>
            </a:xfrm>
          </p:grpSpPr>
          <p:sp>
            <p:nvSpPr>
              <p:cNvPr id="35" name="Snip Same Side Corner Rectangle 34">
                <a:extLst>
                  <a:ext uri="{FF2B5EF4-FFF2-40B4-BE49-F238E27FC236}">
                    <a16:creationId xmlns:a16="http://schemas.microsoft.com/office/drawing/2014/main" id="{E653FB94-E0F9-06B7-CF4E-AC4F0565AE7E}"/>
                  </a:ext>
                </a:extLst>
              </p:cNvPr>
              <p:cNvSpPr/>
              <p:nvPr/>
            </p:nvSpPr>
            <p:spPr>
              <a:xfrm>
                <a:off x="2463800" y="26797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6" name="Snip Same Side Corner Rectangle 35">
                <a:extLst>
                  <a:ext uri="{FF2B5EF4-FFF2-40B4-BE49-F238E27FC236}">
                    <a16:creationId xmlns:a16="http://schemas.microsoft.com/office/drawing/2014/main" id="{BA1D970D-5C14-189E-6EE3-E80CA2D1B666}"/>
                  </a:ext>
                </a:extLst>
              </p:cNvPr>
              <p:cNvSpPr/>
              <p:nvPr/>
            </p:nvSpPr>
            <p:spPr>
              <a:xfrm>
                <a:off x="2489200" y="3098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7" name="Snip Same Side Corner Rectangle 36">
                <a:extLst>
                  <a:ext uri="{FF2B5EF4-FFF2-40B4-BE49-F238E27FC236}">
                    <a16:creationId xmlns:a16="http://schemas.microsoft.com/office/drawing/2014/main" id="{3AE62FE1-7F7D-5EC8-254B-2C132697EE85}"/>
                  </a:ext>
                </a:extLst>
              </p:cNvPr>
              <p:cNvSpPr/>
              <p:nvPr/>
            </p:nvSpPr>
            <p:spPr>
              <a:xfrm>
                <a:off x="2489200" y="35433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8" name="Snip Same Side Corner Rectangle 37">
                <a:extLst>
                  <a:ext uri="{FF2B5EF4-FFF2-40B4-BE49-F238E27FC236}">
                    <a16:creationId xmlns:a16="http://schemas.microsoft.com/office/drawing/2014/main" id="{22E8B7F6-D804-3814-D111-05BD92D621BA}"/>
                  </a:ext>
                </a:extLst>
              </p:cNvPr>
              <p:cNvSpPr/>
              <p:nvPr/>
            </p:nvSpPr>
            <p:spPr>
              <a:xfrm>
                <a:off x="2768600" y="47371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39" name="Snip Same Side Corner Rectangle 38">
                <a:extLst>
                  <a:ext uri="{FF2B5EF4-FFF2-40B4-BE49-F238E27FC236}">
                    <a16:creationId xmlns:a16="http://schemas.microsoft.com/office/drawing/2014/main" id="{125E2846-D22B-A963-0BB9-EDDD001E5655}"/>
                  </a:ext>
                </a:extLst>
              </p:cNvPr>
              <p:cNvSpPr/>
              <p:nvPr/>
            </p:nvSpPr>
            <p:spPr>
              <a:xfrm>
                <a:off x="2476500" y="20955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40" name="Snip Same Side Corner Rectangle 39">
                <a:extLst>
                  <a:ext uri="{FF2B5EF4-FFF2-40B4-BE49-F238E27FC236}">
                    <a16:creationId xmlns:a16="http://schemas.microsoft.com/office/drawing/2014/main" id="{31509E6D-D2BF-F4C3-DC33-8BA0CF42FB75}"/>
                  </a:ext>
                </a:extLst>
              </p:cNvPr>
              <p:cNvSpPr/>
              <p:nvPr/>
            </p:nvSpPr>
            <p:spPr>
              <a:xfrm>
                <a:off x="2438400" y="4749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sp>
          <p:nvSpPr>
            <p:cNvPr id="34" name="TextBox 33">
              <a:extLst>
                <a:ext uri="{FF2B5EF4-FFF2-40B4-BE49-F238E27FC236}">
                  <a16:creationId xmlns:a16="http://schemas.microsoft.com/office/drawing/2014/main" id="{0E51FAEB-3E2A-FE80-DBAC-AED3F52E9F95}"/>
                </a:ext>
              </a:extLst>
            </p:cNvPr>
            <p:cNvSpPr txBox="1"/>
            <p:nvPr/>
          </p:nvSpPr>
          <p:spPr>
            <a:xfrm>
              <a:off x="5359499" y="1888451"/>
              <a:ext cx="407028" cy="113284"/>
            </a:xfrm>
            <a:prstGeom prst="rect">
              <a:avLst/>
            </a:prstGeom>
            <a:noFill/>
            <a:ln>
              <a:solidFill>
                <a:schemeClr val="tx1">
                  <a:lumMod val="95000"/>
                  <a:lumOff val="5000"/>
                </a:schemeClr>
              </a:solidFill>
            </a:ln>
          </p:spPr>
          <p:txBody>
            <a:bodyPr wrap="square" rtlCol="0">
              <a:spAutoFit/>
            </a:bodyPr>
            <a:lstStyle/>
            <a:p>
              <a:pPr algn="ctr" fontAlgn="base">
                <a:spcBef>
                  <a:spcPct val="0"/>
                </a:spcBef>
                <a:spcAft>
                  <a:spcPct val="0"/>
                </a:spcAft>
              </a:pPr>
              <a:endParaRPr lang="en-US" sz="1200" dirty="0">
                <a:solidFill>
                  <a:srgbClr val="000000"/>
                </a:solidFill>
                <a:latin typeface="Arial" charset="0"/>
                <a:ea typeface="ＭＳ Ｐゴシック" charset="0"/>
              </a:endParaRPr>
            </a:p>
          </p:txBody>
        </p:sp>
      </p:grpSp>
      <p:grpSp>
        <p:nvGrpSpPr>
          <p:cNvPr id="52" name="Group 51">
            <a:extLst>
              <a:ext uri="{FF2B5EF4-FFF2-40B4-BE49-F238E27FC236}">
                <a16:creationId xmlns:a16="http://schemas.microsoft.com/office/drawing/2014/main" id="{555931A9-C86B-D712-8229-A1BB78D4D48D}"/>
              </a:ext>
            </a:extLst>
          </p:cNvPr>
          <p:cNvGrpSpPr/>
          <p:nvPr/>
        </p:nvGrpSpPr>
        <p:grpSpPr>
          <a:xfrm>
            <a:off x="5184882" y="4053968"/>
            <a:ext cx="889000" cy="897338"/>
            <a:chOff x="5156200" y="1888451"/>
            <a:chExt cx="889000" cy="897338"/>
          </a:xfrm>
        </p:grpSpPr>
        <p:grpSp>
          <p:nvGrpSpPr>
            <p:cNvPr id="53" name="Group 5">
              <a:extLst>
                <a:ext uri="{FF2B5EF4-FFF2-40B4-BE49-F238E27FC236}">
                  <a16:creationId xmlns:a16="http://schemas.microsoft.com/office/drawing/2014/main" id="{D772770D-CDCD-446D-3F9E-E09C275CAD12}"/>
                </a:ext>
              </a:extLst>
            </p:cNvPr>
            <p:cNvGrpSpPr>
              <a:grpSpLocks/>
            </p:cNvGrpSpPr>
            <p:nvPr/>
          </p:nvGrpSpPr>
          <p:grpSpPr bwMode="auto">
            <a:xfrm>
              <a:off x="5371214" y="2479289"/>
              <a:ext cx="416796" cy="306500"/>
              <a:chOff x="1440" y="2112"/>
              <a:chExt cx="576" cy="454"/>
            </a:xfrm>
          </p:grpSpPr>
          <p:sp>
            <p:nvSpPr>
              <p:cNvPr id="119" name="Oval 6">
                <a:extLst>
                  <a:ext uri="{FF2B5EF4-FFF2-40B4-BE49-F238E27FC236}">
                    <a16:creationId xmlns:a16="http://schemas.microsoft.com/office/drawing/2014/main" id="{CCEBC684-0A6B-5277-AC19-0FC73603FBD9}"/>
                  </a:ext>
                </a:extLst>
              </p:cNvPr>
              <p:cNvSpPr>
                <a:spLocks noChangeArrowheads="1"/>
              </p:cNvSpPr>
              <p:nvPr/>
            </p:nvSpPr>
            <p:spPr bwMode="auto">
              <a:xfrm>
                <a:off x="1440" y="2112"/>
                <a:ext cx="576" cy="240"/>
              </a:xfrm>
              <a:prstGeom prst="ellipse">
                <a:avLst/>
              </a:prstGeom>
              <a:noFill/>
              <a:ln w="9525">
                <a:solidFill>
                  <a:srgbClr val="000000"/>
                </a:solidFill>
                <a:round/>
                <a:headEnd/>
                <a:tailEnd/>
              </a:ln>
              <a:extLst>
                <a:ext uri="{909E8E84-426E-40dd-AFC4-6F175D3DCCD1}">
                  <a14:hiddenFill xmlns="" xmlns:a14="http://schemas.microsoft.com/office/drawing/2010/main">
                    <a:solidFill>
                      <a:srgbClr val="BBE0E3"/>
                    </a:solidFill>
                  </a14:hiddenFill>
                </a:ext>
              </a:extLst>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26" name="Text Box 7">
                <a:extLst>
                  <a:ext uri="{FF2B5EF4-FFF2-40B4-BE49-F238E27FC236}">
                    <a16:creationId xmlns:a16="http://schemas.microsoft.com/office/drawing/2014/main" id="{3776202B-65F1-574C-60D2-730CA685CF04}"/>
                  </a:ext>
                </a:extLst>
              </p:cNvPr>
              <p:cNvSpPr txBox="1">
                <a:spLocks noChangeArrowheads="1"/>
              </p:cNvSpPr>
              <p:nvPr/>
            </p:nvSpPr>
            <p:spPr bwMode="auto">
              <a:xfrm>
                <a:off x="1585" y="2156"/>
                <a:ext cx="255" cy="410"/>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charset="0"/>
                    <a:ea typeface="ＭＳ Ｐゴシック" charset="0"/>
                    <a:cs typeface="ＭＳ Ｐゴシック" charset="0"/>
                  </a:defRPr>
                </a:lvl1pPr>
                <a:lvl2pPr marL="742950" indent="-285750">
                  <a:defRPr sz="1200">
                    <a:solidFill>
                      <a:schemeClr val="tx1"/>
                    </a:solidFill>
                    <a:latin typeface="Times" charset="0"/>
                    <a:ea typeface="ＭＳ Ｐゴシック" charset="0"/>
                  </a:defRPr>
                </a:lvl2pPr>
                <a:lvl3pPr marL="1143000" indent="-228600">
                  <a:defRPr sz="1200">
                    <a:solidFill>
                      <a:schemeClr val="tx1"/>
                    </a:solidFill>
                    <a:latin typeface="Times" charset="0"/>
                    <a:ea typeface="ＭＳ Ｐゴシック" charset="0"/>
                  </a:defRPr>
                </a:lvl3pPr>
                <a:lvl4pPr marL="1600200" indent="-228600">
                  <a:defRPr sz="1200">
                    <a:solidFill>
                      <a:schemeClr val="tx1"/>
                    </a:solidFill>
                    <a:latin typeface="Times" charset="0"/>
                    <a:ea typeface="ＭＳ Ｐゴシック" charset="0"/>
                  </a:defRPr>
                </a:lvl4pPr>
                <a:lvl5pPr marL="2057400" indent="-228600">
                  <a:defRPr sz="1200">
                    <a:solidFill>
                      <a:schemeClr val="tx1"/>
                    </a:solidFill>
                    <a:latin typeface="Times" charset="0"/>
                    <a:ea typeface="ＭＳ Ｐゴシック" charset="0"/>
                  </a:defRPr>
                </a:lvl5pPr>
                <a:lvl6pPr marL="2514600" indent="-228600" eaLnBrk="0" fontAlgn="base" hangingPunct="0">
                  <a:spcBef>
                    <a:spcPct val="0"/>
                  </a:spcBef>
                  <a:spcAft>
                    <a:spcPct val="0"/>
                  </a:spcAft>
                  <a:defRPr sz="1200">
                    <a:solidFill>
                      <a:schemeClr val="tx1"/>
                    </a:solidFill>
                    <a:latin typeface="Times" charset="0"/>
                    <a:ea typeface="ＭＳ Ｐゴシック" charset="0"/>
                  </a:defRPr>
                </a:lvl6pPr>
                <a:lvl7pPr marL="2971800" indent="-228600" eaLnBrk="0" fontAlgn="base" hangingPunct="0">
                  <a:spcBef>
                    <a:spcPct val="0"/>
                  </a:spcBef>
                  <a:spcAft>
                    <a:spcPct val="0"/>
                  </a:spcAft>
                  <a:defRPr sz="1200">
                    <a:solidFill>
                      <a:schemeClr val="tx1"/>
                    </a:solidFill>
                    <a:latin typeface="Times" charset="0"/>
                    <a:ea typeface="ＭＳ Ｐゴシック" charset="0"/>
                  </a:defRPr>
                </a:lvl7pPr>
                <a:lvl8pPr marL="3429000" indent="-228600" eaLnBrk="0" fontAlgn="base" hangingPunct="0">
                  <a:spcBef>
                    <a:spcPct val="0"/>
                  </a:spcBef>
                  <a:spcAft>
                    <a:spcPct val="0"/>
                  </a:spcAft>
                  <a:defRPr sz="1200">
                    <a:solidFill>
                      <a:schemeClr val="tx1"/>
                    </a:solidFill>
                    <a:latin typeface="Times" charset="0"/>
                    <a:ea typeface="ＭＳ Ｐゴシック" charset="0"/>
                  </a:defRPr>
                </a:lvl8pPr>
                <a:lvl9pPr marL="3886200" indent="-228600" eaLnBrk="0" fontAlgn="base" hangingPunct="0">
                  <a:spcBef>
                    <a:spcPct val="0"/>
                  </a:spcBef>
                  <a:spcAft>
                    <a:spcPct val="0"/>
                  </a:spcAft>
                  <a:defRPr sz="1200">
                    <a:solidFill>
                      <a:schemeClr val="tx1"/>
                    </a:solidFill>
                    <a:latin typeface="Times" charset="0"/>
                    <a:ea typeface="ＭＳ Ｐゴシック" charset="0"/>
                  </a:defRPr>
                </a:lvl9pPr>
              </a:lstStyle>
              <a:p>
                <a:pPr algn="ctr" fontAlgn="base">
                  <a:spcBef>
                    <a:spcPct val="0"/>
                  </a:spcBef>
                  <a:spcAft>
                    <a:spcPct val="0"/>
                  </a:spcAft>
                </a:pPr>
                <a:endParaRPr lang="en-US" dirty="0">
                  <a:solidFill>
                    <a:srgbClr val="000000"/>
                  </a:solidFill>
                </a:endParaRPr>
              </a:p>
            </p:txBody>
          </p:sp>
        </p:grpSp>
        <p:sp>
          <p:nvSpPr>
            <p:cNvPr id="54" name="Rectangle 8">
              <a:extLst>
                <a:ext uri="{FF2B5EF4-FFF2-40B4-BE49-F238E27FC236}">
                  <a16:creationId xmlns:a16="http://schemas.microsoft.com/office/drawing/2014/main" id="{4C111E7D-6BC8-CF2D-7F53-DBF104B3DF9D}"/>
                </a:ext>
              </a:extLst>
            </p:cNvPr>
            <p:cNvSpPr>
              <a:spLocks noChangeArrowheads="1"/>
            </p:cNvSpPr>
            <p:nvPr/>
          </p:nvSpPr>
          <p:spPr bwMode="auto">
            <a:xfrm>
              <a:off x="5371214" y="2641315"/>
              <a:ext cx="442433" cy="127285"/>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dirty="0">
                <a:solidFill>
                  <a:srgbClr val="000000"/>
                </a:solidFill>
                <a:latin typeface="Times New Roman"/>
                <a:ea typeface="ＭＳ Ｐゴシック" charset="0"/>
                <a:cs typeface="Times New Roman"/>
              </a:endParaRPr>
            </a:p>
          </p:txBody>
        </p:sp>
        <p:sp>
          <p:nvSpPr>
            <p:cNvPr id="55" name="Rectangle 10">
              <a:extLst>
                <a:ext uri="{FF2B5EF4-FFF2-40B4-BE49-F238E27FC236}">
                  <a16:creationId xmlns:a16="http://schemas.microsoft.com/office/drawing/2014/main" id="{73B3E9F9-829D-EC63-03B3-45D9AC8282E6}"/>
                </a:ext>
              </a:extLst>
            </p:cNvPr>
            <p:cNvSpPr>
              <a:spLocks noChangeArrowheads="1"/>
            </p:cNvSpPr>
            <p:nvPr/>
          </p:nvSpPr>
          <p:spPr bwMode="auto">
            <a:xfrm>
              <a:off x="5510146" y="2123505"/>
              <a:ext cx="34733" cy="323378"/>
            </a:xfrm>
            <a:prstGeom prst="rect">
              <a:avLst/>
            </a:prstGeom>
            <a:solidFill>
              <a:srgbClr val="FFFFFF"/>
            </a:solidFill>
            <a:ln w="9525">
              <a:solidFill>
                <a:srgbClr val="000000"/>
              </a:solidFill>
              <a:miter lim="800000"/>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56" name="Oval 11">
              <a:extLst>
                <a:ext uri="{FF2B5EF4-FFF2-40B4-BE49-F238E27FC236}">
                  <a16:creationId xmlns:a16="http://schemas.microsoft.com/office/drawing/2014/main" id="{C7ABB62B-6CBB-7A10-2DCE-21BCCEFAABE4}"/>
                </a:ext>
              </a:extLst>
            </p:cNvPr>
            <p:cNvSpPr>
              <a:spLocks noChangeArrowheads="1"/>
            </p:cNvSpPr>
            <p:nvPr/>
          </p:nvSpPr>
          <p:spPr bwMode="auto">
            <a:xfrm>
              <a:off x="5579612" y="2123505"/>
              <a:ext cx="202609" cy="317977"/>
            </a:xfrm>
            <a:prstGeom prst="ellipse">
              <a:avLst/>
            </a:prstGeom>
            <a:solidFill>
              <a:srgbClr val="FFFFFF"/>
            </a:solidFill>
            <a:ln w="9525">
              <a:solidFill>
                <a:srgbClr val="000000"/>
              </a:solidFill>
              <a:round/>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57" name="Oval 12">
              <a:extLst>
                <a:ext uri="{FF2B5EF4-FFF2-40B4-BE49-F238E27FC236}">
                  <a16:creationId xmlns:a16="http://schemas.microsoft.com/office/drawing/2014/main" id="{2BB7C9C7-B2BC-B232-5A71-4334A99A097E}"/>
                </a:ext>
              </a:extLst>
            </p:cNvPr>
            <p:cNvSpPr>
              <a:spLocks noChangeArrowheads="1"/>
            </p:cNvSpPr>
            <p:nvPr/>
          </p:nvSpPr>
          <p:spPr bwMode="auto">
            <a:xfrm>
              <a:off x="5371214" y="2123505"/>
              <a:ext cx="104199" cy="323378"/>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Arial" charset="0"/>
                <a:ea typeface="ＭＳ Ｐゴシック" charset="0"/>
              </a:endParaRPr>
            </a:p>
          </p:txBody>
        </p:sp>
        <p:grpSp>
          <p:nvGrpSpPr>
            <p:cNvPr id="58" name="Group 57">
              <a:extLst>
                <a:ext uri="{FF2B5EF4-FFF2-40B4-BE49-F238E27FC236}">
                  <a16:creationId xmlns:a16="http://schemas.microsoft.com/office/drawing/2014/main" id="{76A8323F-3E45-9EF4-6DCC-FF35D91D6A89}"/>
                </a:ext>
              </a:extLst>
            </p:cNvPr>
            <p:cNvGrpSpPr/>
            <p:nvPr/>
          </p:nvGrpSpPr>
          <p:grpSpPr>
            <a:xfrm>
              <a:off x="5842591" y="2145805"/>
              <a:ext cx="202609" cy="350322"/>
              <a:chOff x="4851400" y="2705100"/>
              <a:chExt cx="622300" cy="1371600"/>
            </a:xfrm>
          </p:grpSpPr>
          <p:sp>
            <p:nvSpPr>
              <p:cNvPr id="67" name="Snip Single Corner Rectangle 66">
                <a:extLst>
                  <a:ext uri="{FF2B5EF4-FFF2-40B4-BE49-F238E27FC236}">
                    <a16:creationId xmlns:a16="http://schemas.microsoft.com/office/drawing/2014/main" id="{1DFBECFE-E066-D1C1-1333-035B40B0B537}"/>
                  </a:ext>
                </a:extLst>
              </p:cNvPr>
              <p:cNvSpPr/>
              <p:nvPr/>
            </p:nvSpPr>
            <p:spPr>
              <a:xfrm>
                <a:off x="4864100" y="2705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8" name="Snip Single Corner Rectangle 67">
                <a:extLst>
                  <a:ext uri="{FF2B5EF4-FFF2-40B4-BE49-F238E27FC236}">
                    <a16:creationId xmlns:a16="http://schemas.microsoft.com/office/drawing/2014/main" id="{9512D220-9330-ADD4-F608-F02B7058D5A0}"/>
                  </a:ext>
                </a:extLst>
              </p:cNvPr>
              <p:cNvSpPr/>
              <p:nvPr/>
            </p:nvSpPr>
            <p:spPr>
              <a:xfrm>
                <a:off x="4851400" y="30226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9" name="Snip Single Corner Rectangle 68">
                <a:extLst>
                  <a:ext uri="{FF2B5EF4-FFF2-40B4-BE49-F238E27FC236}">
                    <a16:creationId xmlns:a16="http://schemas.microsoft.com/office/drawing/2014/main" id="{60A9004E-4C92-DCC8-1D6F-3BC2B24520BA}"/>
                  </a:ext>
                </a:extLst>
              </p:cNvPr>
              <p:cNvSpPr/>
              <p:nvPr/>
            </p:nvSpPr>
            <p:spPr>
              <a:xfrm>
                <a:off x="4876800" y="3340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70" name="Snip Single Corner Rectangle 69">
                <a:extLst>
                  <a:ext uri="{FF2B5EF4-FFF2-40B4-BE49-F238E27FC236}">
                    <a16:creationId xmlns:a16="http://schemas.microsoft.com/office/drawing/2014/main" id="{70806F85-8C19-42DC-5A28-CC99CC57F378}"/>
                  </a:ext>
                </a:extLst>
              </p:cNvPr>
              <p:cNvSpPr/>
              <p:nvPr/>
            </p:nvSpPr>
            <p:spPr>
              <a:xfrm>
                <a:off x="5245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118" name="Snip Single Corner Rectangle 117">
                <a:extLst>
                  <a:ext uri="{FF2B5EF4-FFF2-40B4-BE49-F238E27FC236}">
                    <a16:creationId xmlns:a16="http://schemas.microsoft.com/office/drawing/2014/main" id="{A0A90B50-FD0D-41D3-E278-346740C891F1}"/>
                  </a:ext>
                </a:extLst>
              </p:cNvPr>
              <p:cNvSpPr/>
              <p:nvPr/>
            </p:nvSpPr>
            <p:spPr>
              <a:xfrm>
                <a:off x="4864100" y="3848100"/>
                <a:ext cx="228600" cy="228600"/>
              </a:xfrm>
              <a:prstGeom prst="snip1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nvGrpSpPr>
            <p:cNvPr id="59" name="Group 58">
              <a:extLst>
                <a:ext uri="{FF2B5EF4-FFF2-40B4-BE49-F238E27FC236}">
                  <a16:creationId xmlns:a16="http://schemas.microsoft.com/office/drawing/2014/main" id="{23A50174-EAF3-B539-F1CD-0B90B9857556}"/>
                </a:ext>
              </a:extLst>
            </p:cNvPr>
            <p:cNvGrpSpPr/>
            <p:nvPr/>
          </p:nvGrpSpPr>
          <p:grpSpPr>
            <a:xfrm>
              <a:off x="5156200" y="2019300"/>
              <a:ext cx="190205" cy="739568"/>
              <a:chOff x="2438400" y="2095500"/>
              <a:chExt cx="584200" cy="2895600"/>
            </a:xfrm>
          </p:grpSpPr>
          <p:sp>
            <p:nvSpPr>
              <p:cNvPr id="61" name="Snip Same Side Corner Rectangle 60">
                <a:extLst>
                  <a:ext uri="{FF2B5EF4-FFF2-40B4-BE49-F238E27FC236}">
                    <a16:creationId xmlns:a16="http://schemas.microsoft.com/office/drawing/2014/main" id="{D2F1192E-24C0-2931-05D7-B976BA278B92}"/>
                  </a:ext>
                </a:extLst>
              </p:cNvPr>
              <p:cNvSpPr/>
              <p:nvPr/>
            </p:nvSpPr>
            <p:spPr>
              <a:xfrm>
                <a:off x="2463800" y="26797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2" name="Snip Same Side Corner Rectangle 61">
                <a:extLst>
                  <a:ext uri="{FF2B5EF4-FFF2-40B4-BE49-F238E27FC236}">
                    <a16:creationId xmlns:a16="http://schemas.microsoft.com/office/drawing/2014/main" id="{8280A9BF-5360-0335-4657-4CD038ADBC8B}"/>
                  </a:ext>
                </a:extLst>
              </p:cNvPr>
              <p:cNvSpPr/>
              <p:nvPr/>
            </p:nvSpPr>
            <p:spPr>
              <a:xfrm>
                <a:off x="2489200" y="3098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3" name="Snip Same Side Corner Rectangle 62">
                <a:extLst>
                  <a:ext uri="{FF2B5EF4-FFF2-40B4-BE49-F238E27FC236}">
                    <a16:creationId xmlns:a16="http://schemas.microsoft.com/office/drawing/2014/main" id="{A0B36DF6-3B5B-095D-0237-BF3E6EC9554B}"/>
                  </a:ext>
                </a:extLst>
              </p:cNvPr>
              <p:cNvSpPr/>
              <p:nvPr/>
            </p:nvSpPr>
            <p:spPr>
              <a:xfrm>
                <a:off x="2489200" y="35433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4" name="Snip Same Side Corner Rectangle 63">
                <a:extLst>
                  <a:ext uri="{FF2B5EF4-FFF2-40B4-BE49-F238E27FC236}">
                    <a16:creationId xmlns:a16="http://schemas.microsoft.com/office/drawing/2014/main" id="{73AA99A8-5196-61D0-6DC0-336D5C12EA6B}"/>
                  </a:ext>
                </a:extLst>
              </p:cNvPr>
              <p:cNvSpPr/>
              <p:nvPr/>
            </p:nvSpPr>
            <p:spPr>
              <a:xfrm>
                <a:off x="2768600" y="47371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5" name="Snip Same Side Corner Rectangle 64">
                <a:extLst>
                  <a:ext uri="{FF2B5EF4-FFF2-40B4-BE49-F238E27FC236}">
                    <a16:creationId xmlns:a16="http://schemas.microsoft.com/office/drawing/2014/main" id="{8925E19E-039F-9C4B-BC48-3DD84FBF1071}"/>
                  </a:ext>
                </a:extLst>
              </p:cNvPr>
              <p:cNvSpPr/>
              <p:nvPr/>
            </p:nvSpPr>
            <p:spPr>
              <a:xfrm>
                <a:off x="2476500" y="20955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66" name="Snip Same Side Corner Rectangle 65">
                <a:extLst>
                  <a:ext uri="{FF2B5EF4-FFF2-40B4-BE49-F238E27FC236}">
                    <a16:creationId xmlns:a16="http://schemas.microsoft.com/office/drawing/2014/main" id="{FE3C4C4A-DFAE-9CD2-91B0-7A4AC3C8A096}"/>
                  </a:ext>
                </a:extLst>
              </p:cNvPr>
              <p:cNvSpPr/>
              <p:nvPr/>
            </p:nvSpPr>
            <p:spPr>
              <a:xfrm>
                <a:off x="2438400" y="4749800"/>
                <a:ext cx="254000" cy="241300"/>
              </a:xfrm>
              <a:prstGeom prst="snip2Same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sp>
          <p:nvSpPr>
            <p:cNvPr id="60" name="TextBox 59">
              <a:extLst>
                <a:ext uri="{FF2B5EF4-FFF2-40B4-BE49-F238E27FC236}">
                  <a16:creationId xmlns:a16="http://schemas.microsoft.com/office/drawing/2014/main" id="{8337EC9D-08B5-DD07-E637-DE95D1A7E0F0}"/>
                </a:ext>
              </a:extLst>
            </p:cNvPr>
            <p:cNvSpPr txBox="1"/>
            <p:nvPr/>
          </p:nvSpPr>
          <p:spPr>
            <a:xfrm>
              <a:off x="5359499" y="1888451"/>
              <a:ext cx="407028" cy="113284"/>
            </a:xfrm>
            <a:prstGeom prst="rect">
              <a:avLst/>
            </a:prstGeom>
            <a:noFill/>
            <a:ln>
              <a:solidFill>
                <a:schemeClr val="tx1">
                  <a:lumMod val="95000"/>
                  <a:lumOff val="5000"/>
                </a:schemeClr>
              </a:solidFill>
            </a:ln>
          </p:spPr>
          <p:txBody>
            <a:bodyPr wrap="square" rtlCol="0">
              <a:spAutoFit/>
            </a:bodyPr>
            <a:lstStyle/>
            <a:p>
              <a:pPr algn="ctr" fontAlgn="base">
                <a:spcBef>
                  <a:spcPct val="0"/>
                </a:spcBef>
                <a:spcAft>
                  <a:spcPct val="0"/>
                </a:spcAft>
              </a:pPr>
              <a:endParaRPr lang="en-US" sz="1200" dirty="0">
                <a:solidFill>
                  <a:srgbClr val="000000"/>
                </a:solidFill>
                <a:latin typeface="Arial" charset="0"/>
                <a:ea typeface="ＭＳ Ｐゴシック" charset="0"/>
              </a:endParaRPr>
            </a:p>
          </p:txBody>
        </p:sp>
      </p:grpSp>
    </p:spTree>
    <p:extLst>
      <p:ext uri="{BB962C8B-B14F-4D97-AF65-F5344CB8AC3E}">
        <p14:creationId xmlns:p14="http://schemas.microsoft.com/office/powerpoint/2010/main" val="203394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6701"/>
            <a:ext cx="8229600" cy="571500"/>
          </a:xfrm>
        </p:spPr>
        <p:txBody>
          <a:bodyPr/>
          <a:lstStyle/>
          <a:p>
            <a:r>
              <a:rPr lang="en-US" dirty="0"/>
              <a:t>Consider the following</a:t>
            </a:r>
          </a:p>
        </p:txBody>
      </p:sp>
      <p:sp>
        <p:nvSpPr>
          <p:cNvPr id="128" name="Text Placeholder 127"/>
          <p:cNvSpPr>
            <a:spLocks noGrp="1"/>
          </p:cNvSpPr>
          <p:nvPr>
            <p:ph type="body" idx="1"/>
          </p:nvPr>
        </p:nvSpPr>
        <p:spPr>
          <a:xfrm>
            <a:off x="2070100" y="1778000"/>
            <a:ext cx="8331200" cy="3429000"/>
          </a:xfrm>
        </p:spPr>
        <p:txBody>
          <a:bodyPr/>
          <a:lstStyle/>
          <a:p>
            <a:pPr marL="285750" indent="-285750">
              <a:buClrTx/>
              <a:buFont typeface="Arial"/>
              <a:buChar char="•"/>
            </a:pPr>
            <a:r>
              <a:rPr lang="en-US" sz="2000" dirty="0">
                <a:latin typeface="Times New Roman"/>
                <a:cs typeface="Times New Roman"/>
              </a:rPr>
              <a:t>Remember Automata Theory?</a:t>
            </a:r>
          </a:p>
          <a:p>
            <a:pPr marL="285750" indent="-285750">
              <a:buClrTx/>
              <a:buFont typeface="Arial"/>
              <a:buChar char="•"/>
            </a:pPr>
            <a:r>
              <a:rPr lang="en-US" sz="2000" dirty="0">
                <a:latin typeface="Times New Roman"/>
                <a:cs typeface="Times New Roman"/>
              </a:rPr>
              <a:t>You’re kidding, right?</a:t>
            </a:r>
          </a:p>
          <a:p>
            <a:pPr marL="285750" indent="-285750">
              <a:buClrTx/>
              <a:buFont typeface="Arial"/>
              <a:buChar char="•"/>
            </a:pPr>
            <a:r>
              <a:rPr lang="en-US" sz="2000" dirty="0">
                <a:latin typeface="Times New Roman"/>
                <a:cs typeface="Times New Roman"/>
              </a:rPr>
              <a:t>Nope!</a:t>
            </a:r>
          </a:p>
          <a:p>
            <a:pPr marL="285750" indent="-285750">
              <a:buClrTx/>
              <a:buFont typeface="Arial"/>
              <a:buChar char="•"/>
            </a:pPr>
            <a:endParaRPr lang="en-US" sz="2000" dirty="0">
              <a:latin typeface="Times New Roman"/>
              <a:cs typeface="Times New Roman"/>
            </a:endParaRPr>
          </a:p>
          <a:p>
            <a:pPr marL="285750" indent="-285750">
              <a:buClrTx/>
              <a:buFont typeface="Arial"/>
              <a:buChar char="•"/>
            </a:pPr>
            <a:r>
              <a:rPr lang="en-US" sz="2000" dirty="0">
                <a:latin typeface="Times New Roman"/>
                <a:cs typeface="Times New Roman"/>
              </a:rPr>
              <a:t>A </a:t>
            </a:r>
            <a:r>
              <a:rPr lang="en-US" sz="2000" b="1" dirty="0">
                <a:latin typeface="Times New Roman"/>
                <a:cs typeface="Times New Roman"/>
              </a:rPr>
              <a:t>Turing machine (TM)</a:t>
            </a:r>
            <a:r>
              <a:rPr lang="en-US" sz="2000" dirty="0">
                <a:latin typeface="Times New Roman"/>
                <a:cs typeface="Times New Roman"/>
              </a:rPr>
              <a:t> is a </a:t>
            </a:r>
            <a:r>
              <a:rPr lang="en-US" sz="2000" dirty="0">
                <a:latin typeface="Times New Roman"/>
                <a:cs typeface="Times New Roman"/>
                <a:hlinkClick r:id="rId3" tooltip="Mathematical model of computation"/>
              </a:rPr>
              <a:t>mathematical model of computation</a:t>
            </a:r>
            <a:r>
              <a:rPr lang="en-US" sz="2000" dirty="0">
                <a:latin typeface="Times New Roman"/>
                <a:cs typeface="Times New Roman"/>
              </a:rPr>
              <a:t> that defines an </a:t>
            </a:r>
            <a:r>
              <a:rPr lang="en-US" sz="2000" dirty="0">
                <a:latin typeface="Times New Roman"/>
                <a:cs typeface="Times New Roman"/>
                <a:hlinkClick r:id="rId4" tooltip="Abstract machine"/>
              </a:rPr>
              <a:t>abstract machine</a:t>
            </a:r>
            <a:r>
              <a:rPr lang="en-US" sz="2000" baseline="30000" dirty="0">
                <a:latin typeface="Times New Roman"/>
                <a:cs typeface="Times New Roman"/>
                <a:hlinkClick r:id="rId5"/>
              </a:rPr>
              <a:t>[1]</a:t>
            </a:r>
            <a:r>
              <a:rPr lang="en-US" sz="2000" dirty="0">
                <a:latin typeface="Times New Roman"/>
                <a:cs typeface="Times New Roman"/>
              </a:rPr>
              <a:t> that </a:t>
            </a:r>
            <a:r>
              <a:rPr lang="en-US" sz="2000" i="1" dirty="0">
                <a:latin typeface="Times New Roman"/>
                <a:cs typeface="Times New Roman"/>
              </a:rPr>
              <a:t>implements a specific algorithm </a:t>
            </a:r>
            <a:r>
              <a:rPr lang="en-US" sz="2000" dirty="0">
                <a:latin typeface="Times New Roman"/>
                <a:cs typeface="Times New Roman"/>
              </a:rPr>
              <a:t>which is executed by manipulates symbols on a semi-infinite tape.</a:t>
            </a:r>
          </a:p>
          <a:p>
            <a:pPr marL="285750" indent="-285750">
              <a:buClrTx/>
              <a:buFont typeface="Arial"/>
              <a:buChar char="•"/>
            </a:pPr>
            <a:r>
              <a:rPr lang="en-US" sz="2000" dirty="0">
                <a:latin typeface="Times New Roman"/>
                <a:cs typeface="Times New Roman"/>
              </a:rPr>
              <a:t>A </a:t>
            </a:r>
            <a:r>
              <a:rPr lang="en-US" sz="2000" b="1" dirty="0">
                <a:latin typeface="Times New Roman"/>
                <a:cs typeface="Times New Roman"/>
              </a:rPr>
              <a:t>Universal Turing machine (UTM) </a:t>
            </a:r>
            <a:r>
              <a:rPr lang="en-US" sz="2000" dirty="0">
                <a:latin typeface="Times New Roman"/>
                <a:cs typeface="Times New Roman"/>
              </a:rPr>
              <a:t>is a </a:t>
            </a:r>
            <a:r>
              <a:rPr lang="en-US" sz="2000" i="1" dirty="0">
                <a:latin typeface="Times New Roman"/>
                <a:cs typeface="Times New Roman"/>
              </a:rPr>
              <a:t>Turing machine</a:t>
            </a:r>
            <a:r>
              <a:rPr lang="en-US" sz="2000" dirty="0">
                <a:latin typeface="Times New Roman"/>
                <a:cs typeface="Times New Roman"/>
              </a:rPr>
              <a:t> that simulates an arbitrary </a:t>
            </a:r>
            <a:r>
              <a:rPr lang="en-US" sz="2000" i="1" dirty="0">
                <a:latin typeface="Times New Roman"/>
                <a:cs typeface="Times New Roman"/>
              </a:rPr>
              <a:t>Turing machine</a:t>
            </a:r>
            <a:r>
              <a:rPr lang="en-US" sz="2000" dirty="0">
                <a:latin typeface="Times New Roman"/>
                <a:cs typeface="Times New Roman"/>
              </a:rPr>
              <a:t> on arbitrary input. The </a:t>
            </a:r>
            <a:r>
              <a:rPr lang="en-US" sz="2000" i="1" dirty="0">
                <a:latin typeface="Times New Roman"/>
                <a:cs typeface="Times New Roman"/>
              </a:rPr>
              <a:t>universal machine</a:t>
            </a:r>
            <a:r>
              <a:rPr lang="en-US" sz="2000" dirty="0">
                <a:latin typeface="Times New Roman"/>
                <a:cs typeface="Times New Roman"/>
              </a:rPr>
              <a:t> essentially achieves this by reading both the description of the </a:t>
            </a:r>
            <a:r>
              <a:rPr lang="en-US" sz="2000" i="1" dirty="0">
                <a:latin typeface="Times New Roman"/>
                <a:cs typeface="Times New Roman"/>
              </a:rPr>
              <a:t>machine</a:t>
            </a:r>
            <a:r>
              <a:rPr lang="en-US" sz="2000" dirty="0">
                <a:latin typeface="Times New Roman"/>
                <a:cs typeface="Times New Roman"/>
              </a:rPr>
              <a:t> to be simulated as well as the input to that </a:t>
            </a:r>
            <a:r>
              <a:rPr lang="en-US" sz="2000" i="1" dirty="0">
                <a:latin typeface="Times New Roman"/>
                <a:cs typeface="Times New Roman"/>
              </a:rPr>
              <a:t>machine</a:t>
            </a:r>
            <a:r>
              <a:rPr lang="en-US" sz="2000" dirty="0">
                <a:latin typeface="Times New Roman"/>
                <a:cs typeface="Times New Roman"/>
              </a:rPr>
              <a:t> from its own tape.</a:t>
            </a:r>
          </a:p>
          <a:p>
            <a:pPr marL="285750" indent="-285750">
              <a:buClrTx/>
              <a:buFont typeface="Arial"/>
              <a:buChar char="•"/>
            </a:pPr>
            <a:endParaRPr lang="en-US" sz="2000" dirty="0">
              <a:latin typeface="Times New Roman"/>
              <a:cs typeface="Times New Roman"/>
            </a:endParaRPr>
          </a:p>
          <a:p>
            <a:pPr marL="285750" indent="-285750">
              <a:buClrTx/>
              <a:buFont typeface="Arial"/>
              <a:buChar char="•"/>
            </a:pPr>
            <a:r>
              <a:rPr lang="en-US" sz="2000" dirty="0">
                <a:latin typeface="Times New Roman"/>
                <a:cs typeface="Times New Roman"/>
              </a:rPr>
              <a:t>Now Suppose:</a:t>
            </a:r>
          </a:p>
        </p:txBody>
      </p:sp>
      <p:cxnSp>
        <p:nvCxnSpPr>
          <p:cNvPr id="4" name="Straight Connector 3"/>
          <p:cNvCxnSpPr/>
          <p:nvPr/>
        </p:nvCxnSpPr>
        <p:spPr>
          <a:xfrm>
            <a:off x="4470400" y="6578600"/>
            <a:ext cx="57912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 Box 9"/>
          <p:cNvSpPr txBox="1">
            <a:spLocks noChangeArrowheads="1"/>
          </p:cNvSpPr>
          <p:nvPr/>
        </p:nvSpPr>
        <p:spPr bwMode="auto">
          <a:xfrm>
            <a:off x="7531100" y="61976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dirty="0">
                <a:solidFill>
                  <a:srgbClr val="000000"/>
                </a:solidFill>
                <a:latin typeface="Helvetica" charset="0"/>
                <a:ea typeface="ＭＳ Ｐゴシック" charset="0"/>
              </a:rPr>
              <a:t>©   John Day, All Rights Reserved, 2021</a:t>
            </a:r>
          </a:p>
        </p:txBody>
      </p:sp>
    </p:spTree>
    <p:extLst>
      <p:ext uri="{BB962C8B-B14F-4D97-AF65-F5344CB8AC3E}">
        <p14:creationId xmlns:p14="http://schemas.microsoft.com/office/powerpoint/2010/main" val="290695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66701"/>
            <a:ext cx="8229600" cy="571500"/>
          </a:xfrm>
        </p:spPr>
        <p:txBody>
          <a:bodyPr/>
          <a:lstStyle/>
          <a:p>
            <a:r>
              <a:rPr lang="en-US" dirty="0"/>
              <a:t>Automata Theory Can Be Useful</a:t>
            </a:r>
          </a:p>
        </p:txBody>
      </p:sp>
      <p:sp>
        <p:nvSpPr>
          <p:cNvPr id="128" name="Text Placeholder 127"/>
          <p:cNvSpPr>
            <a:spLocks noGrp="1"/>
          </p:cNvSpPr>
          <p:nvPr>
            <p:ph type="body" idx="1"/>
          </p:nvPr>
        </p:nvSpPr>
        <p:spPr>
          <a:xfrm>
            <a:off x="2044700" y="1003300"/>
            <a:ext cx="8331200" cy="533400"/>
          </a:xfrm>
        </p:spPr>
        <p:txBody>
          <a:bodyPr/>
          <a:lstStyle/>
          <a:p>
            <a:pPr marL="285750" indent="-285750">
              <a:buClrTx/>
              <a:buFont typeface="Arial"/>
              <a:buChar char="•"/>
            </a:pPr>
            <a:r>
              <a:rPr lang="en-US" sz="2000" dirty="0">
                <a:latin typeface="Times New Roman"/>
                <a:cs typeface="Times New Roman"/>
              </a:rPr>
              <a:t>Now Suppose that:</a:t>
            </a:r>
          </a:p>
        </p:txBody>
      </p:sp>
      <p:grpSp>
        <p:nvGrpSpPr>
          <p:cNvPr id="9" name="Group 8">
            <a:extLst>
              <a:ext uri="{FF2B5EF4-FFF2-40B4-BE49-F238E27FC236}">
                <a16:creationId xmlns:a16="http://schemas.microsoft.com/office/drawing/2014/main" id="{8C2D2E96-0E01-8613-DAAE-B36DDCD2ADFA}"/>
              </a:ext>
            </a:extLst>
          </p:cNvPr>
          <p:cNvGrpSpPr/>
          <p:nvPr/>
        </p:nvGrpSpPr>
        <p:grpSpPr>
          <a:xfrm>
            <a:off x="2017775" y="1455108"/>
            <a:ext cx="3659126" cy="833626"/>
            <a:chOff x="2017775" y="1455108"/>
            <a:chExt cx="3659126" cy="833626"/>
          </a:xfrm>
        </p:grpSpPr>
        <p:sp>
          <p:nvSpPr>
            <p:cNvPr id="130" name="TextBox 129"/>
            <p:cNvSpPr txBox="1"/>
            <p:nvPr/>
          </p:nvSpPr>
          <p:spPr>
            <a:xfrm>
              <a:off x="2017775" y="1752601"/>
              <a:ext cx="2520642" cy="338554"/>
            </a:xfrm>
            <a:prstGeom prst="rect">
              <a:avLst/>
            </a:prstGeom>
            <a:noFill/>
          </p:spPr>
          <p:txBody>
            <a:bodyPr wrap="none" rtlCol="0">
              <a:spAutoFit/>
            </a:bodyPr>
            <a:lstStyle/>
            <a:p>
              <a:pPr fontAlgn="base">
                <a:spcBef>
                  <a:spcPct val="0"/>
                </a:spcBef>
                <a:spcAft>
                  <a:spcPct val="0"/>
                </a:spcAft>
              </a:pPr>
              <a:r>
                <a:rPr lang="en-US" sz="1600" dirty="0">
                  <a:solidFill>
                    <a:srgbClr val="000000"/>
                  </a:solidFill>
                  <a:latin typeface="Times New Roman"/>
                  <a:ea typeface="ＭＳ Ｐゴシック" charset="0"/>
                  <a:cs typeface="Times New Roman"/>
                </a:rPr>
                <a:t>The mechanisms are a UTM</a:t>
              </a:r>
            </a:p>
          </p:txBody>
        </p:sp>
        <p:grpSp>
          <p:nvGrpSpPr>
            <p:cNvPr id="5" name="Group 4">
              <a:extLst>
                <a:ext uri="{FF2B5EF4-FFF2-40B4-BE49-F238E27FC236}">
                  <a16:creationId xmlns:a16="http://schemas.microsoft.com/office/drawing/2014/main" id="{8017AAF9-949F-6F47-4594-A370ACDA8B88}"/>
                </a:ext>
              </a:extLst>
            </p:cNvPr>
            <p:cNvGrpSpPr/>
            <p:nvPr/>
          </p:nvGrpSpPr>
          <p:grpSpPr>
            <a:xfrm>
              <a:off x="5098135" y="1455108"/>
              <a:ext cx="578766" cy="833626"/>
              <a:chOff x="5098135" y="1455108"/>
              <a:chExt cx="578766" cy="833626"/>
            </a:xfrm>
          </p:grpSpPr>
          <p:grpSp>
            <p:nvGrpSpPr>
              <p:cNvPr id="132" name="Group 5"/>
              <p:cNvGrpSpPr>
                <a:grpSpLocks/>
              </p:cNvGrpSpPr>
              <p:nvPr/>
            </p:nvGrpSpPr>
            <p:grpSpPr bwMode="auto">
              <a:xfrm>
                <a:off x="5098135" y="1983191"/>
                <a:ext cx="545230" cy="305543"/>
                <a:chOff x="1440" y="2112"/>
                <a:chExt cx="576" cy="472"/>
              </a:xfrm>
            </p:grpSpPr>
            <p:sp>
              <p:nvSpPr>
                <p:cNvPr id="151" name="Oval 6"/>
                <p:cNvSpPr>
                  <a:spLocks noChangeArrowheads="1"/>
                </p:cNvSpPr>
                <p:nvPr/>
              </p:nvSpPr>
              <p:spPr bwMode="auto">
                <a:xfrm>
                  <a:off x="1440" y="2112"/>
                  <a:ext cx="576" cy="240"/>
                </a:xfrm>
                <a:prstGeom prst="ellipse">
                  <a:avLst/>
                </a:prstGeom>
                <a:noFill/>
                <a:ln w="9525">
                  <a:solidFill>
                    <a:srgbClr val="000000"/>
                  </a:solidFill>
                  <a:round/>
                  <a:headEnd/>
                  <a:tailEnd/>
                </a:ln>
                <a:extLst>
                  <a:ext uri="{909E8E84-426E-40dd-AFC4-6F175D3DCCD1}">
                    <a14:hiddenFill xmlns="" xmlns:a14="http://schemas.microsoft.com/office/drawing/2010/main">
                      <a:solidFill>
                        <a:srgbClr val="BBE0E3"/>
                      </a:solidFill>
                    </a14:hiddenFill>
                  </a:ext>
                </a:extLst>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52" name="Text Box 7"/>
                <p:cNvSpPr txBox="1">
                  <a:spLocks noChangeArrowheads="1"/>
                </p:cNvSpPr>
                <p:nvPr/>
              </p:nvSpPr>
              <p:spPr bwMode="auto">
                <a:xfrm>
                  <a:off x="1615" y="2156"/>
                  <a:ext cx="195" cy="428"/>
                </a:xfrm>
                <a:prstGeom prst="rect">
                  <a:avLst/>
                </a:prstGeom>
                <a:noFill/>
                <a:ln>
                  <a:noFill/>
                </a:ln>
                <a:extLst>
                  <a:ext uri="{909E8E84-426E-40dd-AFC4-6F175D3DCCD1}">
                    <a14:hiddenFill xmlns="" xmlns:a14="http://schemas.microsoft.com/office/drawing/2010/main">
                      <a:solidFill>
                        <a:srgbClr val="BBE0E3"/>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charset="0"/>
                      <a:ea typeface="ＭＳ Ｐゴシック" charset="0"/>
                      <a:cs typeface="ＭＳ Ｐゴシック" charset="0"/>
                    </a:defRPr>
                  </a:lvl1pPr>
                  <a:lvl2pPr marL="742950" indent="-285750">
                    <a:defRPr sz="1200">
                      <a:solidFill>
                        <a:schemeClr val="tx1"/>
                      </a:solidFill>
                      <a:latin typeface="Times" charset="0"/>
                      <a:ea typeface="ＭＳ Ｐゴシック" charset="0"/>
                    </a:defRPr>
                  </a:lvl2pPr>
                  <a:lvl3pPr marL="1143000" indent="-228600">
                    <a:defRPr sz="1200">
                      <a:solidFill>
                        <a:schemeClr val="tx1"/>
                      </a:solidFill>
                      <a:latin typeface="Times" charset="0"/>
                      <a:ea typeface="ＭＳ Ｐゴシック" charset="0"/>
                    </a:defRPr>
                  </a:lvl3pPr>
                  <a:lvl4pPr marL="1600200" indent="-228600">
                    <a:defRPr sz="1200">
                      <a:solidFill>
                        <a:schemeClr val="tx1"/>
                      </a:solidFill>
                      <a:latin typeface="Times" charset="0"/>
                      <a:ea typeface="ＭＳ Ｐゴシック" charset="0"/>
                    </a:defRPr>
                  </a:lvl4pPr>
                  <a:lvl5pPr marL="2057400" indent="-228600">
                    <a:defRPr sz="1200">
                      <a:solidFill>
                        <a:schemeClr val="tx1"/>
                      </a:solidFill>
                      <a:latin typeface="Times" charset="0"/>
                      <a:ea typeface="ＭＳ Ｐゴシック" charset="0"/>
                    </a:defRPr>
                  </a:lvl5pPr>
                  <a:lvl6pPr marL="2514600" indent="-228600" eaLnBrk="0" fontAlgn="base" hangingPunct="0">
                    <a:spcBef>
                      <a:spcPct val="0"/>
                    </a:spcBef>
                    <a:spcAft>
                      <a:spcPct val="0"/>
                    </a:spcAft>
                    <a:defRPr sz="1200">
                      <a:solidFill>
                        <a:schemeClr val="tx1"/>
                      </a:solidFill>
                      <a:latin typeface="Times" charset="0"/>
                      <a:ea typeface="ＭＳ Ｐゴシック" charset="0"/>
                    </a:defRPr>
                  </a:lvl6pPr>
                  <a:lvl7pPr marL="2971800" indent="-228600" eaLnBrk="0" fontAlgn="base" hangingPunct="0">
                    <a:spcBef>
                      <a:spcPct val="0"/>
                    </a:spcBef>
                    <a:spcAft>
                      <a:spcPct val="0"/>
                    </a:spcAft>
                    <a:defRPr sz="1200">
                      <a:solidFill>
                        <a:schemeClr val="tx1"/>
                      </a:solidFill>
                      <a:latin typeface="Times" charset="0"/>
                      <a:ea typeface="ＭＳ Ｐゴシック" charset="0"/>
                    </a:defRPr>
                  </a:lvl7pPr>
                  <a:lvl8pPr marL="3429000" indent="-228600" eaLnBrk="0" fontAlgn="base" hangingPunct="0">
                    <a:spcBef>
                      <a:spcPct val="0"/>
                    </a:spcBef>
                    <a:spcAft>
                      <a:spcPct val="0"/>
                    </a:spcAft>
                    <a:defRPr sz="1200">
                      <a:solidFill>
                        <a:schemeClr val="tx1"/>
                      </a:solidFill>
                      <a:latin typeface="Times" charset="0"/>
                      <a:ea typeface="ＭＳ Ｐゴシック" charset="0"/>
                    </a:defRPr>
                  </a:lvl8pPr>
                  <a:lvl9pPr marL="3886200" indent="-228600" eaLnBrk="0" fontAlgn="base" hangingPunct="0">
                    <a:spcBef>
                      <a:spcPct val="0"/>
                    </a:spcBef>
                    <a:spcAft>
                      <a:spcPct val="0"/>
                    </a:spcAft>
                    <a:defRPr sz="1200">
                      <a:solidFill>
                        <a:schemeClr val="tx1"/>
                      </a:solidFill>
                      <a:latin typeface="Times" charset="0"/>
                      <a:ea typeface="ＭＳ Ｐゴシック" charset="0"/>
                    </a:defRPr>
                  </a:lvl9pPr>
                </a:lstStyle>
                <a:p>
                  <a:pPr algn="ctr" fontAlgn="base">
                    <a:spcBef>
                      <a:spcPct val="0"/>
                    </a:spcBef>
                    <a:spcAft>
                      <a:spcPct val="0"/>
                    </a:spcAft>
                  </a:pPr>
                  <a:endParaRPr lang="en-US" dirty="0">
                    <a:solidFill>
                      <a:srgbClr val="000000"/>
                    </a:solidFill>
                  </a:endParaRPr>
                </a:p>
              </p:txBody>
            </p:sp>
          </p:grpSp>
          <p:sp>
            <p:nvSpPr>
              <p:cNvPr id="133" name="Rectangle 8"/>
              <p:cNvSpPr>
                <a:spLocks noChangeArrowheads="1"/>
              </p:cNvSpPr>
              <p:nvPr/>
            </p:nvSpPr>
            <p:spPr bwMode="auto">
              <a:xfrm>
                <a:off x="5098135" y="2138553"/>
                <a:ext cx="578766" cy="122048"/>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dirty="0">
                  <a:solidFill>
                    <a:srgbClr val="000000"/>
                  </a:solidFill>
                  <a:latin typeface="Times New Roman"/>
                  <a:ea typeface="ＭＳ Ｐゴシック" charset="0"/>
                  <a:cs typeface="Times New Roman"/>
                </a:endParaRPr>
              </a:p>
            </p:txBody>
          </p:sp>
          <p:sp>
            <p:nvSpPr>
              <p:cNvPr id="135" name="Oval 11"/>
              <p:cNvSpPr>
                <a:spLocks noChangeArrowheads="1"/>
              </p:cNvSpPr>
              <p:nvPr/>
            </p:nvSpPr>
            <p:spPr bwMode="auto">
              <a:xfrm>
                <a:off x="5370750" y="1642045"/>
                <a:ext cx="265042" cy="304896"/>
              </a:xfrm>
              <a:prstGeom prst="ellipse">
                <a:avLst/>
              </a:prstGeom>
              <a:solidFill>
                <a:srgbClr val="FFFFFF"/>
              </a:solidFill>
              <a:ln w="9525">
                <a:solidFill>
                  <a:srgbClr val="000000"/>
                </a:solidFill>
                <a:round/>
                <a:headEnd/>
                <a:tailEnd/>
              </a:ln>
            </p:spPr>
            <p:txBody>
              <a:bodyPr wrap="none" anchor="ctr"/>
              <a:lstStyle/>
              <a:p>
                <a:pPr algn="ctr" fontAlgn="base">
                  <a:spcBef>
                    <a:spcPct val="0"/>
                  </a:spcBef>
                  <a:spcAft>
                    <a:spcPct val="0"/>
                  </a:spcAft>
                </a:pPr>
                <a:endParaRPr lang="en-US" sz="1200">
                  <a:solidFill>
                    <a:srgbClr val="000000"/>
                  </a:solidFill>
                  <a:latin typeface="Arial" charset="0"/>
                  <a:ea typeface="ＭＳ Ｐゴシック" charset="0"/>
                </a:endParaRPr>
              </a:p>
            </p:txBody>
          </p:sp>
          <p:sp>
            <p:nvSpPr>
              <p:cNvPr id="136" name="Oval 12"/>
              <p:cNvSpPr>
                <a:spLocks noChangeArrowheads="1"/>
              </p:cNvSpPr>
              <p:nvPr/>
            </p:nvSpPr>
            <p:spPr bwMode="auto">
              <a:xfrm>
                <a:off x="5098135" y="1642045"/>
                <a:ext cx="136308" cy="310075"/>
              </a:xfrm>
              <a:prstGeom prst="ellipse">
                <a:avLst/>
              </a:prstGeom>
              <a:solidFill>
                <a:srgbClr val="FF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txBody>
              <a:bodyPr wrap="none" anchor="ctr"/>
              <a:lstStyle/>
              <a:p>
                <a:pPr algn="ctr" fontAlgn="base">
                  <a:spcBef>
                    <a:spcPct val="0"/>
                  </a:spcBef>
                  <a:spcAft>
                    <a:spcPct val="0"/>
                  </a:spcAft>
                  <a:defRPr/>
                </a:pPr>
                <a:endParaRPr lang="en-US" sz="1200">
                  <a:solidFill>
                    <a:srgbClr val="000000"/>
                  </a:solidFill>
                  <a:latin typeface="Arial" charset="0"/>
                  <a:ea typeface="ＭＳ Ｐゴシック" charset="0"/>
                </a:endParaRPr>
              </a:p>
            </p:txBody>
          </p:sp>
          <p:sp>
            <p:nvSpPr>
              <p:cNvPr id="139" name="TextBox 138"/>
              <p:cNvSpPr txBox="1"/>
              <p:nvPr/>
            </p:nvSpPr>
            <p:spPr>
              <a:xfrm>
                <a:off x="5130490" y="1455108"/>
                <a:ext cx="514055" cy="109406"/>
              </a:xfrm>
              <a:prstGeom prst="rect">
                <a:avLst/>
              </a:prstGeom>
              <a:noFill/>
              <a:ln>
                <a:solidFill>
                  <a:schemeClr val="tx1">
                    <a:lumMod val="95000"/>
                    <a:lumOff val="5000"/>
                  </a:schemeClr>
                </a:solidFill>
              </a:ln>
            </p:spPr>
            <p:txBody>
              <a:bodyPr wrap="square" rtlCol="0">
                <a:spAutoFit/>
              </a:bodyPr>
              <a:lstStyle/>
              <a:p>
                <a:pPr algn="ctr" fontAlgn="base">
                  <a:spcBef>
                    <a:spcPct val="0"/>
                  </a:spcBef>
                  <a:spcAft>
                    <a:spcPct val="0"/>
                  </a:spcAft>
                </a:pPr>
                <a:endParaRPr lang="en-US" sz="1200" dirty="0">
                  <a:solidFill>
                    <a:srgbClr val="000000"/>
                  </a:solidFill>
                  <a:latin typeface="Arial" charset="0"/>
                  <a:ea typeface="ＭＳ Ｐゴシック" charset="0"/>
                </a:endParaRPr>
              </a:p>
            </p:txBody>
          </p:sp>
        </p:grpSp>
      </p:grpSp>
      <p:grpSp>
        <p:nvGrpSpPr>
          <p:cNvPr id="7" name="Group 6"/>
          <p:cNvGrpSpPr/>
          <p:nvPr/>
        </p:nvGrpSpPr>
        <p:grpSpPr>
          <a:xfrm>
            <a:off x="2146300" y="4038600"/>
            <a:ext cx="6438900" cy="584776"/>
            <a:chOff x="622300" y="4038600"/>
            <a:chExt cx="6438900" cy="584776"/>
          </a:xfrm>
        </p:grpSpPr>
        <p:sp>
          <p:nvSpPr>
            <p:cNvPr id="244" name="TextBox 243"/>
            <p:cNvSpPr txBox="1"/>
            <p:nvPr/>
          </p:nvSpPr>
          <p:spPr>
            <a:xfrm>
              <a:off x="622300" y="4038600"/>
              <a:ext cx="1780255" cy="584776"/>
            </a:xfrm>
            <a:prstGeom prst="rect">
              <a:avLst/>
            </a:prstGeom>
            <a:noFill/>
          </p:spPr>
          <p:txBody>
            <a:bodyPr wrap="none" rtlCol="0">
              <a:spAutoFit/>
            </a:bodyPr>
            <a:lstStyle/>
            <a:p>
              <a:pPr fontAlgn="base">
                <a:spcBef>
                  <a:spcPct val="0"/>
                </a:spcBef>
                <a:spcAft>
                  <a:spcPct val="0"/>
                </a:spcAft>
              </a:pPr>
              <a:r>
                <a:rPr lang="en-US" sz="1600" dirty="0">
                  <a:solidFill>
                    <a:srgbClr val="000000"/>
                  </a:solidFill>
                  <a:latin typeface="Times New Roman"/>
                  <a:ea typeface="ＭＳ Ｐゴシック" charset="0"/>
                  <a:cs typeface="Times New Roman"/>
                </a:rPr>
                <a:t>And of course,</a:t>
              </a:r>
            </a:p>
            <a:p>
              <a:pPr fontAlgn="base">
                <a:spcBef>
                  <a:spcPct val="0"/>
                </a:spcBef>
                <a:spcAft>
                  <a:spcPct val="0"/>
                </a:spcAft>
              </a:pPr>
              <a:r>
                <a:rPr lang="en-US" sz="1600" dirty="0">
                  <a:solidFill>
                    <a:srgbClr val="000000"/>
                  </a:solidFill>
                  <a:latin typeface="Times New Roman"/>
                  <a:ea typeface="ＭＳ Ｐゴシック" charset="0"/>
                  <a:cs typeface="Times New Roman"/>
                </a:rPr>
                <a:t>the PDU is the tape</a:t>
              </a:r>
            </a:p>
          </p:txBody>
        </p:sp>
        <p:grpSp>
          <p:nvGrpSpPr>
            <p:cNvPr id="6" name="Group 5"/>
            <p:cNvGrpSpPr/>
            <p:nvPr/>
          </p:nvGrpSpPr>
          <p:grpSpPr>
            <a:xfrm>
              <a:off x="3035300" y="4203700"/>
              <a:ext cx="4025900" cy="289699"/>
              <a:chOff x="3035300" y="4203700"/>
              <a:chExt cx="4025900" cy="289699"/>
            </a:xfrm>
          </p:grpSpPr>
          <p:grpSp>
            <p:nvGrpSpPr>
              <p:cNvPr id="252" name="Group 251"/>
              <p:cNvGrpSpPr/>
              <p:nvPr/>
            </p:nvGrpSpPr>
            <p:grpSpPr>
              <a:xfrm>
                <a:off x="3035300" y="4203700"/>
                <a:ext cx="708010" cy="289699"/>
                <a:chOff x="6781800" y="5016500"/>
                <a:chExt cx="708010" cy="289699"/>
              </a:xfrm>
            </p:grpSpPr>
            <p:sp>
              <p:nvSpPr>
                <p:cNvPr id="247" name="Rectangle 246"/>
                <p:cNvSpPr/>
                <p:nvPr/>
              </p:nvSpPr>
              <p:spPr>
                <a:xfrm>
                  <a:off x="6781800" y="5016500"/>
                  <a:ext cx="685800" cy="2540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48" name="TextBox 247"/>
                <p:cNvSpPr txBox="1"/>
                <p:nvPr/>
              </p:nvSpPr>
              <p:spPr>
                <a:xfrm>
                  <a:off x="6791858" y="5029200"/>
                  <a:ext cx="697952"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Layer 1</a:t>
                  </a:r>
                </a:p>
              </p:txBody>
            </p:sp>
          </p:grpSp>
          <p:grpSp>
            <p:nvGrpSpPr>
              <p:cNvPr id="253" name="Group 252"/>
              <p:cNvGrpSpPr/>
              <p:nvPr/>
            </p:nvGrpSpPr>
            <p:grpSpPr>
              <a:xfrm>
                <a:off x="3733800" y="4203700"/>
                <a:ext cx="708010" cy="289699"/>
                <a:chOff x="6781800" y="5016500"/>
                <a:chExt cx="708010" cy="289699"/>
              </a:xfrm>
            </p:grpSpPr>
            <p:sp>
              <p:nvSpPr>
                <p:cNvPr id="254" name="Rectangle 253"/>
                <p:cNvSpPr/>
                <p:nvPr/>
              </p:nvSpPr>
              <p:spPr>
                <a:xfrm>
                  <a:off x="6781800" y="5016500"/>
                  <a:ext cx="685800" cy="2540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55" name="TextBox 254"/>
                <p:cNvSpPr txBox="1"/>
                <p:nvPr/>
              </p:nvSpPr>
              <p:spPr>
                <a:xfrm>
                  <a:off x="6791858" y="5029200"/>
                  <a:ext cx="697952"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Layer 2</a:t>
                  </a:r>
                </a:p>
              </p:txBody>
            </p:sp>
          </p:grpSp>
          <p:grpSp>
            <p:nvGrpSpPr>
              <p:cNvPr id="257" name="Group 256"/>
              <p:cNvGrpSpPr/>
              <p:nvPr/>
            </p:nvGrpSpPr>
            <p:grpSpPr>
              <a:xfrm>
                <a:off x="4406900" y="4203700"/>
                <a:ext cx="708010" cy="289699"/>
                <a:chOff x="6781800" y="5016500"/>
                <a:chExt cx="708010" cy="289699"/>
              </a:xfrm>
            </p:grpSpPr>
            <p:sp>
              <p:nvSpPr>
                <p:cNvPr id="258" name="Rectangle 257"/>
                <p:cNvSpPr/>
                <p:nvPr/>
              </p:nvSpPr>
              <p:spPr>
                <a:xfrm>
                  <a:off x="6781800" y="5016500"/>
                  <a:ext cx="685800" cy="2540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59" name="TextBox 258"/>
                <p:cNvSpPr txBox="1"/>
                <p:nvPr/>
              </p:nvSpPr>
              <p:spPr>
                <a:xfrm>
                  <a:off x="6791858" y="5029200"/>
                  <a:ext cx="697952"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Layer 3</a:t>
                  </a:r>
                </a:p>
              </p:txBody>
            </p:sp>
          </p:grpSp>
          <p:sp>
            <p:nvSpPr>
              <p:cNvPr id="260" name="Rectangle 259"/>
              <p:cNvSpPr/>
              <p:nvPr/>
            </p:nvSpPr>
            <p:spPr>
              <a:xfrm>
                <a:off x="5080000" y="4213999"/>
                <a:ext cx="1981200" cy="279400"/>
              </a:xfrm>
              <a:prstGeom prst="rect">
                <a:avLst/>
              </a:prstGeom>
              <a:noFill/>
              <a:ln>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r>
                  <a:rPr lang="en-US" sz="1200" dirty="0">
                    <a:solidFill>
                      <a:srgbClr val="000000"/>
                    </a:solidFill>
                    <a:latin typeface="Arial"/>
                  </a:rPr>
                  <a:t>User-Data</a:t>
                </a:r>
              </a:p>
            </p:txBody>
          </p:sp>
        </p:grpSp>
      </p:grpSp>
      <p:sp>
        <p:nvSpPr>
          <p:cNvPr id="263" name="TextBox 262"/>
          <p:cNvSpPr txBox="1"/>
          <p:nvPr/>
        </p:nvSpPr>
        <p:spPr>
          <a:xfrm>
            <a:off x="1778000" y="4851401"/>
            <a:ext cx="8394701" cy="830997"/>
          </a:xfrm>
          <a:prstGeom prst="rect">
            <a:avLst/>
          </a:prstGeom>
          <a:noFill/>
        </p:spPr>
        <p:txBody>
          <a:bodyPr wrap="square" rtlCol="0">
            <a:spAutoFit/>
          </a:bodyPr>
          <a:lstStyle/>
          <a:p>
            <a:pPr fontAlgn="base">
              <a:spcBef>
                <a:spcPct val="0"/>
              </a:spcBef>
              <a:spcAft>
                <a:spcPct val="0"/>
              </a:spcAft>
            </a:pPr>
            <a:r>
              <a:rPr lang="en-US" sz="1600" dirty="0">
                <a:solidFill>
                  <a:srgbClr val="000000"/>
                </a:solidFill>
                <a:latin typeface="Times New Roman"/>
                <a:ea typeface="ＭＳ Ｐゴシック" charset="0"/>
                <a:cs typeface="Times New Roman"/>
              </a:rPr>
              <a:t>Point at the policies for Layer 1, process the Layer 1 PCI,  Move the tape down, Point at the policies for Layer 2, Process the PCI for Layer 2 and so on. No context switches, no data copies.</a:t>
            </a:r>
            <a:r>
              <a:rPr lang="en-US" sz="1600" dirty="0">
                <a:solidFill>
                  <a:srgbClr val="000000"/>
                </a:solidFill>
                <a:latin typeface="Arial" charset="0"/>
                <a:ea typeface="ＭＳ Ｐゴシック" charset="0"/>
              </a:rPr>
              <a:t> T</a:t>
            </a:r>
            <a:r>
              <a:rPr lang="en-US" sz="1600" dirty="0">
                <a:solidFill>
                  <a:srgbClr val="000000"/>
                </a:solidFill>
                <a:latin typeface="Times New Roman"/>
                <a:ea typeface="ＭＳ Ｐゴシック" charset="0"/>
                <a:cs typeface="Times New Roman"/>
              </a:rPr>
              <a:t>his makes for a much more efficient, simpler implementation and a huge collapse in complexity. </a:t>
            </a:r>
            <a:endParaRPr lang="en-US" sz="1600" dirty="0">
              <a:solidFill>
                <a:srgbClr val="000000"/>
              </a:solidFill>
              <a:latin typeface="Arial" charset="0"/>
              <a:ea typeface="ＭＳ Ｐゴシック" charset="0"/>
            </a:endParaRPr>
          </a:p>
        </p:txBody>
      </p:sp>
      <p:grpSp>
        <p:nvGrpSpPr>
          <p:cNvPr id="4" name="Group 3"/>
          <p:cNvGrpSpPr/>
          <p:nvPr/>
        </p:nvGrpSpPr>
        <p:grpSpPr>
          <a:xfrm>
            <a:off x="2235201" y="2552701"/>
            <a:ext cx="5730511" cy="1356499"/>
            <a:chOff x="838200" y="2565400"/>
            <a:chExt cx="5730511" cy="1356499"/>
          </a:xfrm>
        </p:grpSpPr>
        <p:sp>
          <p:nvSpPr>
            <p:cNvPr id="155" name="TextBox 154"/>
            <p:cNvSpPr txBox="1"/>
            <p:nvPr/>
          </p:nvSpPr>
          <p:spPr>
            <a:xfrm>
              <a:off x="838200" y="2819400"/>
              <a:ext cx="2608406" cy="584776"/>
            </a:xfrm>
            <a:prstGeom prst="rect">
              <a:avLst/>
            </a:prstGeom>
            <a:noFill/>
          </p:spPr>
          <p:txBody>
            <a:bodyPr wrap="none" rtlCol="0">
              <a:spAutoFit/>
            </a:bodyPr>
            <a:lstStyle/>
            <a:p>
              <a:pPr fontAlgn="base">
                <a:spcBef>
                  <a:spcPct val="0"/>
                </a:spcBef>
                <a:spcAft>
                  <a:spcPct val="0"/>
                </a:spcAft>
              </a:pPr>
              <a:r>
                <a:rPr lang="en-US" sz="1600" dirty="0">
                  <a:solidFill>
                    <a:srgbClr val="000000"/>
                  </a:solidFill>
                  <a:latin typeface="Times New Roman"/>
                  <a:ea typeface="ＭＳ Ｐゴシック" charset="0"/>
                  <a:cs typeface="Times New Roman"/>
                </a:rPr>
                <a:t>The policies define a TM and</a:t>
              </a:r>
            </a:p>
            <a:p>
              <a:pPr fontAlgn="base">
                <a:spcBef>
                  <a:spcPct val="0"/>
                </a:spcBef>
                <a:spcAft>
                  <a:spcPct val="0"/>
                </a:spcAft>
              </a:pPr>
              <a:r>
                <a:rPr lang="en-US" sz="1600" dirty="0">
                  <a:solidFill>
                    <a:srgbClr val="000000"/>
                  </a:solidFill>
                  <a:latin typeface="Times New Roman"/>
                  <a:ea typeface="ＭＳ Ｐゴシック" charset="0"/>
                  <a:cs typeface="Times New Roman"/>
                </a:rPr>
                <a:t>there is one for each layer.</a:t>
              </a:r>
            </a:p>
          </p:txBody>
        </p:sp>
        <p:grpSp>
          <p:nvGrpSpPr>
            <p:cNvPr id="3" name="Group 2"/>
            <p:cNvGrpSpPr/>
            <p:nvPr/>
          </p:nvGrpSpPr>
          <p:grpSpPr>
            <a:xfrm>
              <a:off x="3721100" y="2565400"/>
              <a:ext cx="2847611" cy="1356499"/>
              <a:chOff x="2857500" y="2527300"/>
              <a:chExt cx="2847611" cy="1356499"/>
            </a:xfrm>
          </p:grpSpPr>
          <p:grpSp>
            <p:nvGrpSpPr>
              <p:cNvPr id="305" name="Group 304"/>
              <p:cNvGrpSpPr/>
              <p:nvPr/>
            </p:nvGrpSpPr>
            <p:grpSpPr>
              <a:xfrm>
                <a:off x="4419600" y="3048000"/>
                <a:ext cx="482600" cy="76200"/>
                <a:chOff x="4711700" y="4292600"/>
                <a:chExt cx="482600" cy="76200"/>
              </a:xfrm>
            </p:grpSpPr>
            <p:sp>
              <p:nvSpPr>
                <p:cNvPr id="240" name="Oval 239"/>
                <p:cNvSpPr/>
                <p:nvPr/>
              </p:nvSpPr>
              <p:spPr>
                <a:xfrm>
                  <a:off x="4711700" y="4292600"/>
                  <a:ext cx="101600" cy="76200"/>
                </a:xfrm>
                <a:prstGeom prst="ellipse">
                  <a:avLst/>
                </a:prstGeom>
                <a:solidFill>
                  <a:schemeClr val="tx1">
                    <a:lumMod val="95000"/>
                    <a:lumOff val="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41" name="Oval 240"/>
                <p:cNvSpPr/>
                <p:nvPr/>
              </p:nvSpPr>
              <p:spPr>
                <a:xfrm>
                  <a:off x="4889500" y="4292600"/>
                  <a:ext cx="101600" cy="76200"/>
                </a:xfrm>
                <a:prstGeom prst="ellipse">
                  <a:avLst/>
                </a:prstGeom>
                <a:solidFill>
                  <a:schemeClr val="tx1">
                    <a:lumMod val="95000"/>
                    <a:lumOff val="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42" name="Oval 241"/>
                <p:cNvSpPr/>
                <p:nvPr/>
              </p:nvSpPr>
              <p:spPr>
                <a:xfrm>
                  <a:off x="5092700" y="4292600"/>
                  <a:ext cx="101600" cy="76200"/>
                </a:xfrm>
                <a:prstGeom prst="ellipse">
                  <a:avLst/>
                </a:prstGeom>
                <a:solidFill>
                  <a:schemeClr val="tx1">
                    <a:lumMod val="95000"/>
                    <a:lumOff val="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nvGrpSpPr>
              <p:cNvPr id="268" name="Group 267"/>
              <p:cNvGrpSpPr/>
              <p:nvPr/>
            </p:nvGrpSpPr>
            <p:grpSpPr>
              <a:xfrm>
                <a:off x="2857500" y="2603500"/>
                <a:ext cx="701173" cy="1280299"/>
                <a:chOff x="2692400" y="3797300"/>
                <a:chExt cx="701173" cy="1280299"/>
              </a:xfrm>
            </p:grpSpPr>
            <p:sp>
              <p:nvSpPr>
                <p:cNvPr id="200" name="Rectangle 199"/>
                <p:cNvSpPr/>
                <p:nvPr/>
              </p:nvSpPr>
              <p:spPr>
                <a:xfrm>
                  <a:off x="2692400" y="3797300"/>
                  <a:ext cx="660400" cy="977900"/>
                </a:xfrm>
                <a:prstGeom prst="rect">
                  <a:avLst/>
                </a:prstGeom>
                <a:noFill/>
                <a:ln w="3175" cmpd="sng">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02" name="TextBox 201"/>
                <p:cNvSpPr txBox="1"/>
                <p:nvPr/>
              </p:nvSpPr>
              <p:spPr>
                <a:xfrm>
                  <a:off x="2734694" y="4800600"/>
                  <a:ext cx="658879"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Times New Roman"/>
                      <a:ea typeface="ＭＳ Ｐゴシック" charset="0"/>
                      <a:cs typeface="Times New Roman"/>
                    </a:rPr>
                    <a:t>Layer 1</a:t>
                  </a:r>
                </a:p>
              </p:txBody>
            </p:sp>
            <p:grpSp>
              <p:nvGrpSpPr>
                <p:cNvPr id="267" name="Group 266"/>
                <p:cNvGrpSpPr/>
                <p:nvPr/>
              </p:nvGrpSpPr>
              <p:grpSpPr>
                <a:xfrm>
                  <a:off x="2781300" y="3873500"/>
                  <a:ext cx="547255" cy="806951"/>
                  <a:chOff x="2781300" y="3873500"/>
                  <a:chExt cx="547255" cy="806951"/>
                </a:xfrm>
              </p:grpSpPr>
              <p:grpSp>
                <p:nvGrpSpPr>
                  <p:cNvPr id="137" name="Group 136"/>
                  <p:cNvGrpSpPr/>
                  <p:nvPr/>
                </p:nvGrpSpPr>
                <p:grpSpPr>
                  <a:xfrm>
                    <a:off x="3135082" y="4040471"/>
                    <a:ext cx="193473" cy="347412"/>
                    <a:chOff x="4851400" y="2705100"/>
                    <a:chExt cx="622300" cy="1371600"/>
                  </a:xfrm>
                </p:grpSpPr>
                <p:sp>
                  <p:nvSpPr>
                    <p:cNvPr id="146" name="Snip Single Corner Rectangle 145"/>
                    <p:cNvSpPr/>
                    <p:nvPr/>
                  </p:nvSpPr>
                  <p:spPr>
                    <a:xfrm>
                      <a:off x="4864100" y="2705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7" name="Snip Single Corner Rectangle 146"/>
                    <p:cNvSpPr/>
                    <p:nvPr/>
                  </p:nvSpPr>
                  <p:spPr>
                    <a:xfrm>
                      <a:off x="4851400" y="30226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8" name="Snip Single Corner Rectangle 147"/>
                    <p:cNvSpPr/>
                    <p:nvPr/>
                  </p:nvSpPr>
                  <p:spPr>
                    <a:xfrm>
                      <a:off x="4876800" y="3340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9" name="Snip Single Corner Rectangle 148"/>
                    <p:cNvSpPr/>
                    <p:nvPr/>
                  </p:nvSpPr>
                  <p:spPr>
                    <a:xfrm>
                      <a:off x="5245100" y="3848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50" name="Snip Single Corner Rectangle 149"/>
                    <p:cNvSpPr/>
                    <p:nvPr/>
                  </p:nvSpPr>
                  <p:spPr>
                    <a:xfrm>
                      <a:off x="4864100" y="3848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grpSp>
              <p:grpSp>
                <p:nvGrpSpPr>
                  <p:cNvPr id="138" name="Group 137"/>
                  <p:cNvGrpSpPr/>
                  <p:nvPr/>
                </p:nvGrpSpPr>
                <p:grpSpPr>
                  <a:xfrm>
                    <a:off x="2781300" y="3947026"/>
                    <a:ext cx="181628" cy="733425"/>
                    <a:chOff x="2438400" y="2095500"/>
                    <a:chExt cx="584200" cy="2895600"/>
                  </a:xfrm>
                </p:grpSpPr>
                <p:sp>
                  <p:nvSpPr>
                    <p:cNvPr id="140" name="Snip Same Side Corner Rectangle 139"/>
                    <p:cNvSpPr/>
                    <p:nvPr/>
                  </p:nvSpPr>
                  <p:spPr>
                    <a:xfrm>
                      <a:off x="2463800" y="26797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1" name="Snip Same Side Corner Rectangle 140"/>
                    <p:cNvSpPr/>
                    <p:nvPr/>
                  </p:nvSpPr>
                  <p:spPr>
                    <a:xfrm>
                      <a:off x="2489200" y="30988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2" name="Snip Same Side Corner Rectangle 141"/>
                    <p:cNvSpPr/>
                    <p:nvPr/>
                  </p:nvSpPr>
                  <p:spPr>
                    <a:xfrm>
                      <a:off x="2489200" y="35433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3" name="Snip Same Side Corner Rectangle 142"/>
                    <p:cNvSpPr/>
                    <p:nvPr/>
                  </p:nvSpPr>
                  <p:spPr>
                    <a:xfrm>
                      <a:off x="2768600" y="47371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4" name="Snip Same Side Corner Rectangle 143"/>
                    <p:cNvSpPr/>
                    <p:nvPr/>
                  </p:nvSpPr>
                  <p:spPr>
                    <a:xfrm>
                      <a:off x="2476500" y="20955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145" name="Snip Same Side Corner Rectangle 144"/>
                    <p:cNvSpPr/>
                    <p:nvPr/>
                  </p:nvSpPr>
                  <p:spPr>
                    <a:xfrm>
                      <a:off x="2438400" y="47498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grpSp>
              <p:sp>
                <p:nvSpPr>
                  <p:cNvPr id="266" name="Rectangle 265"/>
                  <p:cNvSpPr/>
                  <p:nvPr/>
                </p:nvSpPr>
                <p:spPr>
                  <a:xfrm>
                    <a:off x="2984500" y="3873500"/>
                    <a:ext cx="63500" cy="6731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grpSp>
            <p:nvGrpSpPr>
              <p:cNvPr id="269" name="Group 268"/>
              <p:cNvGrpSpPr/>
              <p:nvPr/>
            </p:nvGrpSpPr>
            <p:grpSpPr>
              <a:xfrm>
                <a:off x="3670300" y="2590800"/>
                <a:ext cx="701173" cy="1280299"/>
                <a:chOff x="2692400" y="3797300"/>
                <a:chExt cx="701173" cy="1280299"/>
              </a:xfrm>
            </p:grpSpPr>
            <p:sp>
              <p:nvSpPr>
                <p:cNvPr id="270" name="Rectangle 269"/>
                <p:cNvSpPr/>
                <p:nvPr/>
              </p:nvSpPr>
              <p:spPr>
                <a:xfrm>
                  <a:off x="2692400" y="3797300"/>
                  <a:ext cx="660400" cy="977900"/>
                </a:xfrm>
                <a:prstGeom prst="rect">
                  <a:avLst/>
                </a:prstGeom>
                <a:noFill/>
                <a:ln w="3175" cmpd="sng">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71" name="TextBox 270"/>
                <p:cNvSpPr txBox="1"/>
                <p:nvPr/>
              </p:nvSpPr>
              <p:spPr>
                <a:xfrm>
                  <a:off x="2734694" y="4800600"/>
                  <a:ext cx="658879"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Times New Roman"/>
                      <a:ea typeface="ＭＳ Ｐゴシック" charset="0"/>
                      <a:cs typeface="Times New Roman"/>
                    </a:rPr>
                    <a:t>Layer 2</a:t>
                  </a:r>
                </a:p>
              </p:txBody>
            </p:sp>
            <p:grpSp>
              <p:nvGrpSpPr>
                <p:cNvPr id="272" name="Group 271"/>
                <p:cNvGrpSpPr/>
                <p:nvPr/>
              </p:nvGrpSpPr>
              <p:grpSpPr>
                <a:xfrm>
                  <a:off x="2781300" y="3873500"/>
                  <a:ext cx="547255" cy="806951"/>
                  <a:chOff x="2781300" y="3873500"/>
                  <a:chExt cx="547255" cy="806951"/>
                </a:xfrm>
              </p:grpSpPr>
              <p:grpSp>
                <p:nvGrpSpPr>
                  <p:cNvPr id="273" name="Group 272"/>
                  <p:cNvGrpSpPr/>
                  <p:nvPr/>
                </p:nvGrpSpPr>
                <p:grpSpPr>
                  <a:xfrm>
                    <a:off x="3135082" y="4040471"/>
                    <a:ext cx="193473" cy="347412"/>
                    <a:chOff x="4851400" y="2705100"/>
                    <a:chExt cx="622300" cy="1371600"/>
                  </a:xfrm>
                </p:grpSpPr>
                <p:sp>
                  <p:nvSpPr>
                    <p:cNvPr id="282" name="Snip Single Corner Rectangle 281"/>
                    <p:cNvSpPr/>
                    <p:nvPr/>
                  </p:nvSpPr>
                  <p:spPr>
                    <a:xfrm>
                      <a:off x="4864100" y="2705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83" name="Snip Single Corner Rectangle 282"/>
                    <p:cNvSpPr/>
                    <p:nvPr/>
                  </p:nvSpPr>
                  <p:spPr>
                    <a:xfrm>
                      <a:off x="4851400" y="30226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84" name="Snip Single Corner Rectangle 283"/>
                    <p:cNvSpPr/>
                    <p:nvPr/>
                  </p:nvSpPr>
                  <p:spPr>
                    <a:xfrm>
                      <a:off x="4876800" y="3340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85" name="Snip Single Corner Rectangle 284"/>
                    <p:cNvSpPr/>
                    <p:nvPr/>
                  </p:nvSpPr>
                  <p:spPr>
                    <a:xfrm>
                      <a:off x="5245100" y="3848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86" name="Snip Single Corner Rectangle 285"/>
                    <p:cNvSpPr/>
                    <p:nvPr/>
                  </p:nvSpPr>
                  <p:spPr>
                    <a:xfrm>
                      <a:off x="4864100" y="3848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grpSp>
              <p:grpSp>
                <p:nvGrpSpPr>
                  <p:cNvPr id="274" name="Group 273"/>
                  <p:cNvGrpSpPr/>
                  <p:nvPr/>
                </p:nvGrpSpPr>
                <p:grpSpPr>
                  <a:xfrm>
                    <a:off x="2781300" y="3947026"/>
                    <a:ext cx="181628" cy="733425"/>
                    <a:chOff x="2438400" y="2095500"/>
                    <a:chExt cx="584200" cy="2895600"/>
                  </a:xfrm>
                </p:grpSpPr>
                <p:sp>
                  <p:nvSpPr>
                    <p:cNvPr id="276" name="Snip Same Side Corner Rectangle 275"/>
                    <p:cNvSpPr/>
                    <p:nvPr/>
                  </p:nvSpPr>
                  <p:spPr>
                    <a:xfrm>
                      <a:off x="2463800" y="26797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77" name="Snip Same Side Corner Rectangle 276"/>
                    <p:cNvSpPr/>
                    <p:nvPr/>
                  </p:nvSpPr>
                  <p:spPr>
                    <a:xfrm>
                      <a:off x="2489200" y="30988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78" name="Snip Same Side Corner Rectangle 277"/>
                    <p:cNvSpPr/>
                    <p:nvPr/>
                  </p:nvSpPr>
                  <p:spPr>
                    <a:xfrm>
                      <a:off x="2489200" y="35433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79" name="Snip Same Side Corner Rectangle 278"/>
                    <p:cNvSpPr/>
                    <p:nvPr/>
                  </p:nvSpPr>
                  <p:spPr>
                    <a:xfrm>
                      <a:off x="2768600" y="47371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80" name="Snip Same Side Corner Rectangle 279"/>
                    <p:cNvSpPr/>
                    <p:nvPr/>
                  </p:nvSpPr>
                  <p:spPr>
                    <a:xfrm>
                      <a:off x="2476500" y="20955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81" name="Snip Same Side Corner Rectangle 280"/>
                    <p:cNvSpPr/>
                    <p:nvPr/>
                  </p:nvSpPr>
                  <p:spPr>
                    <a:xfrm>
                      <a:off x="2438400" y="47498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grpSp>
              <p:sp>
                <p:nvSpPr>
                  <p:cNvPr id="275" name="Rectangle 274"/>
                  <p:cNvSpPr/>
                  <p:nvPr/>
                </p:nvSpPr>
                <p:spPr>
                  <a:xfrm>
                    <a:off x="2984500" y="3873500"/>
                    <a:ext cx="63500" cy="6731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grpSp>
            <p:nvGrpSpPr>
              <p:cNvPr id="287" name="Group 286"/>
              <p:cNvGrpSpPr/>
              <p:nvPr/>
            </p:nvGrpSpPr>
            <p:grpSpPr>
              <a:xfrm>
                <a:off x="5003800" y="2527300"/>
                <a:ext cx="701311" cy="1280299"/>
                <a:chOff x="2692400" y="3797300"/>
                <a:chExt cx="701311" cy="1280299"/>
              </a:xfrm>
            </p:grpSpPr>
            <p:sp>
              <p:nvSpPr>
                <p:cNvPr id="288" name="Rectangle 287"/>
                <p:cNvSpPr/>
                <p:nvPr/>
              </p:nvSpPr>
              <p:spPr>
                <a:xfrm>
                  <a:off x="2692400" y="3797300"/>
                  <a:ext cx="660400" cy="977900"/>
                </a:xfrm>
                <a:prstGeom prst="rect">
                  <a:avLst/>
                </a:prstGeom>
                <a:noFill/>
                <a:ln w="3175" cmpd="sng">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sp>
              <p:nvSpPr>
                <p:cNvPr id="289" name="TextBox 288"/>
                <p:cNvSpPr txBox="1"/>
                <p:nvPr/>
              </p:nvSpPr>
              <p:spPr>
                <a:xfrm>
                  <a:off x="2734556" y="4800600"/>
                  <a:ext cx="659155"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Times New Roman"/>
                      <a:ea typeface="ＭＳ Ｐゴシック" charset="0"/>
                      <a:cs typeface="Times New Roman"/>
                    </a:rPr>
                    <a:t>Layer n</a:t>
                  </a:r>
                </a:p>
              </p:txBody>
            </p:sp>
            <p:grpSp>
              <p:nvGrpSpPr>
                <p:cNvPr id="290" name="Group 289"/>
                <p:cNvGrpSpPr/>
                <p:nvPr/>
              </p:nvGrpSpPr>
              <p:grpSpPr>
                <a:xfrm>
                  <a:off x="2781300" y="3873500"/>
                  <a:ext cx="547255" cy="806951"/>
                  <a:chOff x="2781300" y="3873500"/>
                  <a:chExt cx="547255" cy="806951"/>
                </a:xfrm>
              </p:grpSpPr>
              <p:grpSp>
                <p:nvGrpSpPr>
                  <p:cNvPr id="291" name="Group 290"/>
                  <p:cNvGrpSpPr/>
                  <p:nvPr/>
                </p:nvGrpSpPr>
                <p:grpSpPr>
                  <a:xfrm>
                    <a:off x="3135082" y="4040471"/>
                    <a:ext cx="193473" cy="347412"/>
                    <a:chOff x="4851400" y="2705100"/>
                    <a:chExt cx="622300" cy="1371600"/>
                  </a:xfrm>
                </p:grpSpPr>
                <p:sp>
                  <p:nvSpPr>
                    <p:cNvPr id="300" name="Snip Single Corner Rectangle 299"/>
                    <p:cNvSpPr/>
                    <p:nvPr/>
                  </p:nvSpPr>
                  <p:spPr>
                    <a:xfrm>
                      <a:off x="4864100" y="2705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01" name="Snip Single Corner Rectangle 300"/>
                    <p:cNvSpPr/>
                    <p:nvPr/>
                  </p:nvSpPr>
                  <p:spPr>
                    <a:xfrm>
                      <a:off x="4851400" y="30226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02" name="Snip Single Corner Rectangle 301"/>
                    <p:cNvSpPr/>
                    <p:nvPr/>
                  </p:nvSpPr>
                  <p:spPr>
                    <a:xfrm>
                      <a:off x="4876800" y="3340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03" name="Snip Single Corner Rectangle 302"/>
                    <p:cNvSpPr/>
                    <p:nvPr/>
                  </p:nvSpPr>
                  <p:spPr>
                    <a:xfrm>
                      <a:off x="5245100" y="3848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304" name="Snip Single Corner Rectangle 303"/>
                    <p:cNvSpPr/>
                    <p:nvPr/>
                  </p:nvSpPr>
                  <p:spPr>
                    <a:xfrm>
                      <a:off x="4864100" y="3848100"/>
                      <a:ext cx="228600" cy="228600"/>
                    </a:xfrm>
                    <a:prstGeom prst="snip1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grpSp>
              <p:grpSp>
                <p:nvGrpSpPr>
                  <p:cNvPr id="292" name="Group 291"/>
                  <p:cNvGrpSpPr/>
                  <p:nvPr/>
                </p:nvGrpSpPr>
                <p:grpSpPr>
                  <a:xfrm>
                    <a:off x="2781300" y="3947026"/>
                    <a:ext cx="181628" cy="733425"/>
                    <a:chOff x="2438400" y="2095500"/>
                    <a:chExt cx="584200" cy="2895600"/>
                  </a:xfrm>
                </p:grpSpPr>
                <p:sp>
                  <p:nvSpPr>
                    <p:cNvPr id="294" name="Snip Same Side Corner Rectangle 293"/>
                    <p:cNvSpPr/>
                    <p:nvPr/>
                  </p:nvSpPr>
                  <p:spPr>
                    <a:xfrm>
                      <a:off x="2463800" y="26797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95" name="Snip Same Side Corner Rectangle 294"/>
                    <p:cNvSpPr/>
                    <p:nvPr/>
                  </p:nvSpPr>
                  <p:spPr>
                    <a:xfrm>
                      <a:off x="2489200" y="30988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96" name="Snip Same Side Corner Rectangle 295"/>
                    <p:cNvSpPr/>
                    <p:nvPr/>
                  </p:nvSpPr>
                  <p:spPr>
                    <a:xfrm>
                      <a:off x="2489200" y="35433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97" name="Snip Same Side Corner Rectangle 296"/>
                    <p:cNvSpPr/>
                    <p:nvPr/>
                  </p:nvSpPr>
                  <p:spPr>
                    <a:xfrm>
                      <a:off x="2768600" y="47371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98" name="Snip Same Side Corner Rectangle 297"/>
                    <p:cNvSpPr/>
                    <p:nvPr/>
                  </p:nvSpPr>
                  <p:spPr>
                    <a:xfrm>
                      <a:off x="2476500" y="20955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sp>
                  <p:nvSpPr>
                    <p:cNvPr id="299" name="Snip Same Side Corner Rectangle 298"/>
                    <p:cNvSpPr/>
                    <p:nvPr/>
                  </p:nvSpPr>
                  <p:spPr>
                    <a:xfrm>
                      <a:off x="2438400" y="4749800"/>
                      <a:ext cx="254000" cy="241300"/>
                    </a:xfrm>
                    <a:prstGeom prst="snip2Same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000000"/>
                        </a:solidFill>
                        <a:latin typeface="Arial"/>
                      </a:endParaRPr>
                    </a:p>
                  </p:txBody>
                </p:sp>
              </p:grpSp>
              <p:sp>
                <p:nvSpPr>
                  <p:cNvPr id="293" name="Rectangle 292"/>
                  <p:cNvSpPr/>
                  <p:nvPr/>
                </p:nvSpPr>
                <p:spPr>
                  <a:xfrm>
                    <a:off x="2984500" y="3873500"/>
                    <a:ext cx="63500" cy="6731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200">
                      <a:solidFill>
                        <a:srgbClr val="FFFFFF"/>
                      </a:solidFill>
                      <a:latin typeface="Arial"/>
                    </a:endParaRPr>
                  </a:p>
                </p:txBody>
              </p:sp>
            </p:grpSp>
          </p:grpSp>
        </p:grpSp>
      </p:grpSp>
      <p:sp>
        <p:nvSpPr>
          <p:cNvPr id="307" name="TextBox 306"/>
          <p:cNvSpPr txBox="1"/>
          <p:nvPr/>
        </p:nvSpPr>
        <p:spPr>
          <a:xfrm>
            <a:off x="1892300" y="5803900"/>
            <a:ext cx="1495522" cy="338554"/>
          </a:xfrm>
          <a:prstGeom prst="rect">
            <a:avLst/>
          </a:prstGeom>
          <a:noFill/>
        </p:spPr>
        <p:txBody>
          <a:bodyPr wrap="none" rtlCol="0">
            <a:spAutoFit/>
          </a:bodyPr>
          <a:lstStyle/>
          <a:p>
            <a:pPr fontAlgn="base">
              <a:spcBef>
                <a:spcPct val="0"/>
              </a:spcBef>
              <a:spcAft>
                <a:spcPct val="0"/>
              </a:spcAft>
            </a:pPr>
            <a:r>
              <a:rPr lang="en-US" sz="1600" dirty="0">
                <a:solidFill>
                  <a:srgbClr val="000000"/>
                </a:solidFill>
                <a:latin typeface="Times New Roman"/>
                <a:ea typeface="ＭＳ Ｐゴシック" charset="0"/>
                <a:cs typeface="Times New Roman"/>
              </a:rPr>
              <a:t>Is this possible?</a:t>
            </a:r>
          </a:p>
        </p:txBody>
      </p:sp>
      <p:sp>
        <p:nvSpPr>
          <p:cNvPr id="308" name="TextBox 307"/>
          <p:cNvSpPr txBox="1"/>
          <p:nvPr/>
        </p:nvSpPr>
        <p:spPr>
          <a:xfrm>
            <a:off x="4013200" y="5778500"/>
            <a:ext cx="2438401" cy="584776"/>
          </a:xfrm>
          <a:prstGeom prst="rect">
            <a:avLst/>
          </a:prstGeom>
          <a:noFill/>
        </p:spPr>
        <p:txBody>
          <a:bodyPr wrap="square" rtlCol="0">
            <a:spAutoFit/>
          </a:bodyPr>
          <a:lstStyle/>
          <a:p>
            <a:pPr algn="ctr" fontAlgn="base">
              <a:spcBef>
                <a:spcPct val="0"/>
              </a:spcBef>
              <a:spcAft>
                <a:spcPct val="0"/>
              </a:spcAft>
            </a:pPr>
            <a:r>
              <a:rPr lang="en-US" sz="1600" dirty="0">
                <a:solidFill>
                  <a:srgbClr val="000000"/>
                </a:solidFill>
                <a:latin typeface="Times New Roman"/>
                <a:ea typeface="ＭＳ Ｐゴシック" charset="0"/>
                <a:cs typeface="Times New Roman"/>
              </a:rPr>
              <a:t>Of course,</a:t>
            </a:r>
          </a:p>
          <a:p>
            <a:pPr algn="ctr" fontAlgn="base">
              <a:spcBef>
                <a:spcPct val="0"/>
              </a:spcBef>
              <a:spcAft>
                <a:spcPct val="0"/>
              </a:spcAft>
            </a:pPr>
            <a:r>
              <a:rPr lang="en-US" sz="1600" dirty="0">
                <a:solidFill>
                  <a:srgbClr val="000000"/>
                </a:solidFill>
                <a:latin typeface="Times New Roman"/>
                <a:ea typeface="ＭＳ Ｐゴシック" charset="0"/>
                <a:cs typeface="Times New Roman"/>
              </a:rPr>
              <a:t>Been There Done That</a:t>
            </a:r>
          </a:p>
        </p:txBody>
      </p:sp>
      <p:sp>
        <p:nvSpPr>
          <p:cNvPr id="310" name="TextBox 309"/>
          <p:cNvSpPr txBox="1"/>
          <p:nvPr/>
        </p:nvSpPr>
        <p:spPr>
          <a:xfrm>
            <a:off x="6133664" y="1739901"/>
            <a:ext cx="1125353" cy="276999"/>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This is Silicon</a:t>
            </a:r>
          </a:p>
        </p:txBody>
      </p:sp>
      <p:sp>
        <p:nvSpPr>
          <p:cNvPr id="311" name="TextBox 310"/>
          <p:cNvSpPr txBox="1"/>
          <p:nvPr/>
        </p:nvSpPr>
        <p:spPr>
          <a:xfrm>
            <a:off x="7974954" y="2882901"/>
            <a:ext cx="1633781" cy="461665"/>
          </a:xfrm>
          <a:prstGeom prst="rect">
            <a:avLst/>
          </a:prstGeom>
          <a:noFill/>
        </p:spPr>
        <p:txBody>
          <a:bodyPr wrap="none" rtlCol="0">
            <a:spAutoFit/>
          </a:bodyPr>
          <a:lstStyle/>
          <a:p>
            <a:pPr algn="ctr" fontAlgn="base">
              <a:spcBef>
                <a:spcPct val="0"/>
              </a:spcBef>
              <a:spcAft>
                <a:spcPct val="0"/>
              </a:spcAft>
            </a:pPr>
            <a:r>
              <a:rPr lang="en-US" sz="1200" dirty="0">
                <a:solidFill>
                  <a:srgbClr val="000000"/>
                </a:solidFill>
                <a:latin typeface="Arial" charset="0"/>
                <a:ea typeface="ＭＳ Ｐゴシック" charset="0"/>
              </a:rPr>
              <a:t>These are plug-ins of</a:t>
            </a:r>
          </a:p>
          <a:p>
            <a:pPr algn="ctr" fontAlgn="base">
              <a:spcBef>
                <a:spcPct val="0"/>
              </a:spcBef>
              <a:spcAft>
                <a:spcPct val="0"/>
              </a:spcAft>
            </a:pPr>
            <a:r>
              <a:rPr lang="en-US" sz="1200" dirty="0">
                <a:solidFill>
                  <a:srgbClr val="000000"/>
                </a:solidFill>
                <a:latin typeface="Arial" charset="0"/>
                <a:ea typeface="ＭＳ Ｐゴシック" charset="0"/>
              </a:rPr>
              <a:t>code and data</a:t>
            </a:r>
          </a:p>
        </p:txBody>
      </p:sp>
      <p:sp>
        <p:nvSpPr>
          <p:cNvPr id="8" name="TextBox 7"/>
          <p:cNvSpPr txBox="1"/>
          <p:nvPr/>
        </p:nvSpPr>
        <p:spPr>
          <a:xfrm>
            <a:off x="6870700" y="914401"/>
            <a:ext cx="3594100" cy="830997"/>
          </a:xfrm>
          <a:prstGeom prst="rect">
            <a:avLst/>
          </a:prstGeom>
          <a:noFill/>
        </p:spPr>
        <p:txBody>
          <a:bodyPr wrap="square" rtlCol="0">
            <a:spAutoFit/>
          </a:bodyPr>
          <a:lstStyle/>
          <a:p>
            <a:pPr fontAlgn="base">
              <a:spcBef>
                <a:spcPct val="0"/>
              </a:spcBef>
              <a:spcAft>
                <a:spcPct val="0"/>
              </a:spcAft>
            </a:pPr>
            <a:r>
              <a:rPr lang="en-US" sz="1600" dirty="0">
                <a:solidFill>
                  <a:srgbClr val="000000"/>
                </a:solidFill>
                <a:latin typeface="Times New Roman"/>
                <a:ea typeface="ＭＳ Ｐゴシック" charset="0"/>
                <a:cs typeface="Times New Roman"/>
              </a:rPr>
              <a:t>Isn’t it interesting what comes from theory? Note that all of the insights have come from theory, not implementation.</a:t>
            </a:r>
          </a:p>
        </p:txBody>
      </p:sp>
      <p:cxnSp>
        <p:nvCxnSpPr>
          <p:cNvPr id="10" name="Straight Connector 9"/>
          <p:cNvCxnSpPr/>
          <p:nvPr/>
        </p:nvCxnSpPr>
        <p:spPr>
          <a:xfrm flipV="1">
            <a:off x="4419600" y="6578600"/>
            <a:ext cx="5930900" cy="12700"/>
          </a:xfrm>
          <a:prstGeom prst="line">
            <a:avLst/>
          </a:prstGeom>
        </p:spPr>
        <p:style>
          <a:lnRef idx="2">
            <a:schemeClr val="accent1"/>
          </a:lnRef>
          <a:fillRef idx="0">
            <a:schemeClr val="accent1"/>
          </a:fillRef>
          <a:effectRef idx="1">
            <a:schemeClr val="accent1"/>
          </a:effectRef>
          <a:fontRef idx="minor">
            <a:schemeClr val="tx1"/>
          </a:fontRef>
        </p:style>
      </p:cxnSp>
      <p:sp>
        <p:nvSpPr>
          <p:cNvPr id="95" name="Text Box 9"/>
          <p:cNvSpPr txBox="1">
            <a:spLocks noChangeArrowheads="1"/>
          </p:cNvSpPr>
          <p:nvPr/>
        </p:nvSpPr>
        <p:spPr bwMode="auto">
          <a:xfrm>
            <a:off x="75565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fontAlgn="base">
              <a:spcBef>
                <a:spcPct val="0"/>
              </a:spcBef>
              <a:spcAft>
                <a:spcPct val="0"/>
              </a:spcAft>
              <a:defRPr/>
            </a:pPr>
            <a:r>
              <a:rPr lang="en-US" sz="1000" dirty="0">
                <a:solidFill>
                  <a:srgbClr val="000000"/>
                </a:solidFill>
                <a:latin typeface="Helvetica" charset="0"/>
                <a:ea typeface="ＭＳ Ｐゴシック" charset="0"/>
              </a:rPr>
              <a:t>©   John Day, All Rights Reserved, 2021</a:t>
            </a:r>
          </a:p>
        </p:txBody>
      </p:sp>
    </p:spTree>
    <p:extLst>
      <p:ext uri="{BB962C8B-B14F-4D97-AF65-F5344CB8AC3E}">
        <p14:creationId xmlns:p14="http://schemas.microsoft.com/office/powerpoint/2010/main" val="154139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p:bldP spid="263" grpId="0"/>
      <p:bldP spid="307" grpId="0"/>
      <p:bldP spid="308" grpId="0"/>
      <p:bldP spid="310" grpId="0"/>
      <p:bldP spid="311" grpId="0"/>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Date Placeholder 3"/>
          <p:cNvSpPr>
            <a:spLocks noGrp="1"/>
          </p:cNvSpPr>
          <p:nvPr>
            <p:ph type="dt" sz="half" idx="10"/>
          </p:nvPr>
        </p:nvSpPr>
        <p:spPr/>
        <p:txBody>
          <a:bodyPr/>
          <a:lstStyle/>
          <a:p>
            <a:r>
              <a:rPr lang="en-US">
                <a:solidFill>
                  <a:srgbClr val="000000"/>
                </a:solidFill>
                <a:latin typeface="Times"/>
              </a:rPr>
              <a:t>10 May 10</a:t>
            </a:r>
          </a:p>
        </p:txBody>
      </p:sp>
      <p:sp>
        <p:nvSpPr>
          <p:cNvPr id="127" name="Slide Number Placeholder 5"/>
          <p:cNvSpPr>
            <a:spLocks noGrp="1"/>
          </p:cNvSpPr>
          <p:nvPr>
            <p:ph type="sldNum" sz="quarter" idx="12"/>
          </p:nvPr>
        </p:nvSpPr>
        <p:spPr/>
        <p:txBody>
          <a:bodyPr/>
          <a:lstStyle/>
          <a:p>
            <a:fld id="{61DCB95B-548E-974E-8AAF-1A09A8BE7B45}" type="slidenum">
              <a:rPr lang="en-US">
                <a:solidFill>
                  <a:srgbClr val="000000"/>
                </a:solidFill>
                <a:latin typeface="Times"/>
              </a:rPr>
              <a:pPr/>
              <a:t>76</a:t>
            </a:fld>
            <a:endParaRPr lang="en-US">
              <a:solidFill>
                <a:srgbClr val="000000"/>
              </a:solidFill>
              <a:latin typeface="Times"/>
            </a:endParaRPr>
          </a:p>
        </p:txBody>
      </p:sp>
      <p:sp>
        <p:nvSpPr>
          <p:cNvPr id="30722" name="Rectangle 2"/>
          <p:cNvSpPr>
            <a:spLocks noGrp="1" noChangeArrowheads="1"/>
          </p:cNvSpPr>
          <p:nvPr>
            <p:ph type="title"/>
          </p:nvPr>
        </p:nvSpPr>
        <p:spPr>
          <a:xfrm>
            <a:off x="2209800" y="0"/>
            <a:ext cx="7772400" cy="1143000"/>
          </a:xfrm>
        </p:spPr>
        <p:txBody>
          <a:bodyPr/>
          <a:lstStyle/>
          <a:p>
            <a:r>
              <a:rPr lang="en-US" dirty="0"/>
              <a:t>Protocols are Irrelevant</a:t>
            </a:r>
          </a:p>
        </p:txBody>
      </p:sp>
      <p:sp>
        <p:nvSpPr>
          <p:cNvPr id="30723" name="Rectangle 3"/>
          <p:cNvSpPr>
            <a:spLocks noGrp="1" noChangeArrowheads="1"/>
          </p:cNvSpPr>
          <p:nvPr>
            <p:ph type="body" idx="1"/>
          </p:nvPr>
        </p:nvSpPr>
        <p:spPr>
          <a:xfrm>
            <a:off x="2133600" y="5029200"/>
            <a:ext cx="7848600" cy="1066800"/>
          </a:xfrm>
        </p:spPr>
        <p:txBody>
          <a:bodyPr/>
          <a:lstStyle/>
          <a:p>
            <a:r>
              <a:rPr lang="en-US" dirty="0"/>
              <a:t>Notice that we are defining policy sets driven by </a:t>
            </a:r>
            <a:r>
              <a:rPr lang="en-US" dirty="0" err="1"/>
              <a:t>QoS</a:t>
            </a:r>
            <a:r>
              <a:rPr lang="en-US" dirty="0"/>
              <a:t> classes and objects for management that configure a DIF. </a:t>
            </a:r>
          </a:p>
          <a:p>
            <a:r>
              <a:rPr lang="en-US" dirty="0"/>
              <a:t>Protocol becomes a non-issue. </a:t>
            </a:r>
          </a:p>
        </p:txBody>
      </p:sp>
      <p:sp>
        <p:nvSpPr>
          <p:cNvPr id="30725" name="Rectangle 42"/>
          <p:cNvSpPr>
            <a:spLocks noChangeArrowheads="1"/>
          </p:cNvSpPr>
          <p:nvPr/>
        </p:nvSpPr>
        <p:spPr bwMode="auto">
          <a:xfrm>
            <a:off x="2971800" y="2552700"/>
            <a:ext cx="4572000" cy="19050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26" name="Rectangle 46"/>
          <p:cNvSpPr>
            <a:spLocks noChangeArrowheads="1"/>
          </p:cNvSpPr>
          <p:nvPr/>
        </p:nvSpPr>
        <p:spPr bwMode="auto">
          <a:xfrm>
            <a:off x="4648200" y="4000500"/>
            <a:ext cx="609600" cy="228600"/>
          </a:xfrm>
          <a:prstGeom prst="rect">
            <a:avLst/>
          </a:prstGeom>
          <a:solidFill>
            <a:srgbClr val="00B050"/>
          </a:solidFill>
          <a:ln w="9525">
            <a:solidFill>
              <a:schemeClr val="tx1"/>
            </a:solidFill>
            <a:miter lim="800000"/>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nvGrpSpPr>
          <p:cNvPr id="30727" name="Group 49"/>
          <p:cNvGrpSpPr>
            <a:grpSpLocks/>
          </p:cNvGrpSpPr>
          <p:nvPr/>
        </p:nvGrpSpPr>
        <p:grpSpPr bwMode="auto">
          <a:xfrm>
            <a:off x="5707063" y="3086100"/>
            <a:ext cx="465138" cy="457200"/>
            <a:chOff x="2587" y="1344"/>
            <a:chExt cx="293" cy="288"/>
          </a:xfrm>
        </p:grpSpPr>
        <p:sp>
          <p:nvSpPr>
            <p:cNvPr id="30728" name="Oval 50"/>
            <p:cNvSpPr>
              <a:spLocks noChangeArrowheads="1"/>
            </p:cNvSpPr>
            <p:nvPr/>
          </p:nvSpPr>
          <p:spPr bwMode="auto">
            <a:xfrm>
              <a:off x="2592" y="1344"/>
              <a:ext cx="288" cy="96"/>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29" name="Oval 51"/>
            <p:cNvSpPr>
              <a:spLocks noChangeArrowheads="1"/>
            </p:cNvSpPr>
            <p:nvPr/>
          </p:nvSpPr>
          <p:spPr bwMode="auto">
            <a:xfrm>
              <a:off x="2592" y="1536"/>
              <a:ext cx="288" cy="96"/>
            </a:xfrm>
            <a:prstGeom prst="ellipse">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30" name="Line 52"/>
            <p:cNvSpPr>
              <a:spLocks noChangeShapeType="1"/>
            </p:cNvSpPr>
            <p:nvPr/>
          </p:nvSpPr>
          <p:spPr bwMode="auto">
            <a:xfrm>
              <a:off x="2587" y="1387"/>
              <a:ext cx="0" cy="20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31" name="Line 53"/>
            <p:cNvSpPr>
              <a:spLocks noChangeShapeType="1"/>
            </p:cNvSpPr>
            <p:nvPr/>
          </p:nvSpPr>
          <p:spPr bwMode="auto">
            <a:xfrm>
              <a:off x="2880" y="1392"/>
              <a:ext cx="0" cy="20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30732" name="Oval 56"/>
          <p:cNvSpPr>
            <a:spLocks noChangeArrowheads="1"/>
          </p:cNvSpPr>
          <p:nvPr/>
        </p:nvSpPr>
        <p:spPr bwMode="auto">
          <a:xfrm>
            <a:off x="6553200" y="2781300"/>
            <a:ext cx="228600" cy="457200"/>
          </a:xfrm>
          <a:prstGeom prst="ellipse">
            <a:avLst/>
          </a:prstGeom>
          <a:solidFill>
            <a:srgbClr val="00B050"/>
          </a:solid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33" name="Oval 57"/>
          <p:cNvSpPr>
            <a:spLocks noChangeArrowheads="1"/>
          </p:cNvSpPr>
          <p:nvPr/>
        </p:nvSpPr>
        <p:spPr bwMode="auto">
          <a:xfrm>
            <a:off x="6858000" y="3162300"/>
            <a:ext cx="228600" cy="457200"/>
          </a:xfrm>
          <a:prstGeom prst="ellipse">
            <a:avLst/>
          </a:prstGeom>
          <a:solidFill>
            <a:srgbClr val="00B050"/>
          </a:solid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34" name="Oval 58"/>
          <p:cNvSpPr>
            <a:spLocks noChangeArrowheads="1"/>
          </p:cNvSpPr>
          <p:nvPr/>
        </p:nvSpPr>
        <p:spPr bwMode="auto">
          <a:xfrm>
            <a:off x="7162800" y="3695700"/>
            <a:ext cx="228600" cy="457200"/>
          </a:xfrm>
          <a:prstGeom prst="ellipse">
            <a:avLst/>
          </a:prstGeom>
          <a:solidFill>
            <a:srgbClr val="00B050"/>
          </a:solid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35" name="Oval 47"/>
          <p:cNvSpPr>
            <a:spLocks noChangeArrowheads="1"/>
          </p:cNvSpPr>
          <p:nvPr/>
        </p:nvSpPr>
        <p:spPr bwMode="auto">
          <a:xfrm>
            <a:off x="4800600" y="3695700"/>
            <a:ext cx="304800" cy="228600"/>
          </a:xfrm>
          <a:prstGeom prst="ellipse">
            <a:avLst/>
          </a:prstGeom>
          <a:solidFill>
            <a:srgbClr val="00B050"/>
          </a:solid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36" name="Rectangle 48"/>
          <p:cNvSpPr>
            <a:spLocks noChangeArrowheads="1"/>
          </p:cNvSpPr>
          <p:nvPr/>
        </p:nvSpPr>
        <p:spPr bwMode="auto">
          <a:xfrm>
            <a:off x="4724400" y="2705100"/>
            <a:ext cx="381000" cy="76200"/>
          </a:xfrm>
          <a:prstGeom prst="rect">
            <a:avLst/>
          </a:prstGeom>
          <a:solidFill>
            <a:srgbClr val="00B050"/>
          </a:solidFill>
          <a:ln w="9525">
            <a:solidFill>
              <a:schemeClr val="tx1"/>
            </a:solidFill>
            <a:miter lim="800000"/>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nvGrpSpPr>
          <p:cNvPr id="30737" name="Group 17"/>
          <p:cNvGrpSpPr>
            <a:grpSpLocks/>
          </p:cNvGrpSpPr>
          <p:nvPr/>
        </p:nvGrpSpPr>
        <p:grpSpPr bwMode="auto">
          <a:xfrm>
            <a:off x="4572000" y="2933700"/>
            <a:ext cx="817563" cy="609600"/>
            <a:chOff x="2160" y="1200"/>
            <a:chExt cx="515" cy="384"/>
          </a:xfrm>
          <a:solidFill>
            <a:srgbClr val="00B050"/>
          </a:solidFill>
        </p:grpSpPr>
        <p:grpSp>
          <p:nvGrpSpPr>
            <p:cNvPr id="30738" name="Group 18"/>
            <p:cNvGrpSpPr>
              <a:grpSpLocks/>
            </p:cNvGrpSpPr>
            <p:nvPr/>
          </p:nvGrpSpPr>
          <p:grpSpPr bwMode="auto">
            <a:xfrm>
              <a:off x="2256" y="1200"/>
              <a:ext cx="419" cy="288"/>
              <a:chOff x="2040" y="1248"/>
              <a:chExt cx="419" cy="288"/>
            </a:xfrm>
            <a:grpFill/>
          </p:grpSpPr>
          <p:sp>
            <p:nvSpPr>
              <p:cNvPr id="30739" name="Oval 43"/>
              <p:cNvSpPr>
                <a:spLocks noChangeArrowheads="1"/>
              </p:cNvSpPr>
              <p:nvPr/>
            </p:nvSpPr>
            <p:spPr bwMode="auto">
              <a:xfrm>
                <a:off x="2267" y="1248"/>
                <a:ext cx="192" cy="240"/>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40" name="Oval 45"/>
              <p:cNvSpPr>
                <a:spLocks noChangeArrowheads="1"/>
              </p:cNvSpPr>
              <p:nvPr/>
            </p:nvSpPr>
            <p:spPr bwMode="auto">
              <a:xfrm>
                <a:off x="2040" y="1248"/>
                <a:ext cx="96"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2" name="Rectangle 65"/>
              <p:cNvSpPr>
                <a:spLocks noChangeArrowheads="1"/>
              </p:cNvSpPr>
              <p:nvPr/>
            </p:nvSpPr>
            <p:spPr bwMode="auto">
              <a:xfrm>
                <a:off x="2171" y="1248"/>
                <a:ext cx="48" cy="240"/>
              </a:xfrm>
              <a:prstGeom prst="rect">
                <a:avLst/>
              </a:prstGeom>
              <a:grpFill/>
              <a:ln w="9525">
                <a:solidFill>
                  <a:schemeClr val="tx1"/>
                </a:solidFill>
                <a:miter lim="800000"/>
                <a:headEnd/>
                <a:tailEnd/>
              </a:ln>
              <a:effectLst>
                <a:outerShdw dist="35921" dir="2700000" algn="ctr" rotWithShape="0">
                  <a:srgbClr val="808080"/>
                </a:outerShdw>
              </a:effec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grpSp>
          <p:nvGrpSpPr>
            <p:cNvPr id="30742" name="Group 22"/>
            <p:cNvGrpSpPr>
              <a:grpSpLocks/>
            </p:cNvGrpSpPr>
            <p:nvPr/>
          </p:nvGrpSpPr>
          <p:grpSpPr bwMode="auto">
            <a:xfrm>
              <a:off x="2208" y="1248"/>
              <a:ext cx="419" cy="288"/>
              <a:chOff x="2040" y="1248"/>
              <a:chExt cx="419" cy="288"/>
            </a:xfrm>
            <a:grpFill/>
          </p:grpSpPr>
          <p:sp>
            <p:nvSpPr>
              <p:cNvPr id="30743" name="Oval 43"/>
              <p:cNvSpPr>
                <a:spLocks noChangeArrowheads="1"/>
              </p:cNvSpPr>
              <p:nvPr/>
            </p:nvSpPr>
            <p:spPr bwMode="auto">
              <a:xfrm>
                <a:off x="2267" y="1248"/>
                <a:ext cx="192" cy="240"/>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44" name="Oval 45"/>
              <p:cNvSpPr>
                <a:spLocks noChangeArrowheads="1"/>
              </p:cNvSpPr>
              <p:nvPr/>
            </p:nvSpPr>
            <p:spPr bwMode="auto">
              <a:xfrm>
                <a:off x="2040" y="1248"/>
                <a:ext cx="96"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 name="Rectangle 65"/>
              <p:cNvSpPr>
                <a:spLocks noChangeArrowheads="1"/>
              </p:cNvSpPr>
              <p:nvPr/>
            </p:nvSpPr>
            <p:spPr bwMode="auto">
              <a:xfrm>
                <a:off x="2171" y="1248"/>
                <a:ext cx="48" cy="240"/>
              </a:xfrm>
              <a:prstGeom prst="rect">
                <a:avLst/>
              </a:prstGeom>
              <a:grpFill/>
              <a:ln w="9525">
                <a:solidFill>
                  <a:schemeClr val="tx1"/>
                </a:solidFill>
                <a:miter lim="800000"/>
                <a:headEnd/>
                <a:tailEnd/>
              </a:ln>
              <a:effectLst>
                <a:outerShdw dist="35921" dir="2700000" algn="ctr" rotWithShape="0">
                  <a:srgbClr val="808080"/>
                </a:outerShdw>
              </a:effec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grpSp>
          <p:nvGrpSpPr>
            <p:cNvPr id="30746" name="Group 26"/>
            <p:cNvGrpSpPr>
              <a:grpSpLocks/>
            </p:cNvGrpSpPr>
            <p:nvPr/>
          </p:nvGrpSpPr>
          <p:grpSpPr bwMode="auto">
            <a:xfrm>
              <a:off x="2160" y="1296"/>
              <a:ext cx="419" cy="288"/>
              <a:chOff x="2040" y="1248"/>
              <a:chExt cx="419" cy="288"/>
            </a:xfrm>
            <a:grpFill/>
          </p:grpSpPr>
          <p:sp>
            <p:nvSpPr>
              <p:cNvPr id="30747" name="Oval 43"/>
              <p:cNvSpPr>
                <a:spLocks noChangeArrowheads="1"/>
              </p:cNvSpPr>
              <p:nvPr/>
            </p:nvSpPr>
            <p:spPr bwMode="auto">
              <a:xfrm>
                <a:off x="2267" y="1248"/>
                <a:ext cx="192" cy="240"/>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30748" name="Oval 45"/>
              <p:cNvSpPr>
                <a:spLocks noChangeArrowheads="1"/>
              </p:cNvSpPr>
              <p:nvPr/>
            </p:nvSpPr>
            <p:spPr bwMode="auto">
              <a:xfrm>
                <a:off x="2040" y="1248"/>
                <a:ext cx="96"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sp>
            <p:nvSpPr>
              <p:cNvPr id="540737" name="Rectangle 65"/>
              <p:cNvSpPr>
                <a:spLocks noChangeArrowheads="1"/>
              </p:cNvSpPr>
              <p:nvPr/>
            </p:nvSpPr>
            <p:spPr bwMode="auto">
              <a:xfrm>
                <a:off x="2171" y="1248"/>
                <a:ext cx="48" cy="240"/>
              </a:xfrm>
              <a:prstGeom prst="rect">
                <a:avLst/>
              </a:prstGeom>
              <a:grpFill/>
              <a:ln w="9525">
                <a:solidFill>
                  <a:schemeClr val="tx1"/>
                </a:solidFill>
                <a:miter lim="800000"/>
                <a:headEnd/>
                <a:tailEnd/>
              </a:ln>
              <a:effectLst>
                <a:outerShdw dist="35921" dir="2700000" algn="ctr" rotWithShape="0">
                  <a:srgbClr val="808080"/>
                </a:outerShdw>
              </a:effectLst>
            </p:spPr>
            <p:txBody>
              <a:bodyPr wrap="none" anchor="ctr"/>
              <a:lstStyle/>
              <a:p>
                <a:pPr algn="ctr" eaLnBrk="0" fontAlgn="base" hangingPunct="0">
                  <a:spcBef>
                    <a:spcPct val="0"/>
                  </a:spcBef>
                  <a:spcAft>
                    <a:spcPct val="0"/>
                  </a:spcAft>
                </a:pPr>
                <a:endParaRPr lang="en-US" sz="2400">
                  <a:solidFill>
                    <a:srgbClr val="000000"/>
                  </a:solidFill>
                  <a:latin typeface="Times New Roman" charset="0"/>
                  <a:ea typeface="ＭＳ Ｐゴシック" charset="0"/>
                  <a:cs typeface="ＭＳ Ｐゴシック" charset="0"/>
                </a:endParaRPr>
              </a:p>
            </p:txBody>
          </p:sp>
        </p:grpSp>
      </p:grpSp>
      <p:grpSp>
        <p:nvGrpSpPr>
          <p:cNvPr id="30750" name="Group 30"/>
          <p:cNvGrpSpPr>
            <a:grpSpLocks/>
          </p:cNvGrpSpPr>
          <p:nvPr/>
        </p:nvGrpSpPr>
        <p:grpSpPr bwMode="auto">
          <a:xfrm>
            <a:off x="3200400" y="3157538"/>
            <a:ext cx="1066800" cy="1108075"/>
            <a:chOff x="1008" y="1462"/>
            <a:chExt cx="672" cy="698"/>
          </a:xfrm>
        </p:grpSpPr>
        <p:sp>
          <p:nvSpPr>
            <p:cNvPr id="30751" name="Text Box 31"/>
            <p:cNvSpPr txBox="1">
              <a:spLocks noChangeArrowheads="1"/>
            </p:cNvSpPr>
            <p:nvPr/>
          </p:nvSpPr>
          <p:spPr bwMode="auto">
            <a:xfrm rot="-5400000">
              <a:off x="882" y="1854"/>
              <a:ext cx="432" cy="179"/>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ACSE</a:t>
              </a:r>
            </a:p>
          </p:txBody>
        </p:sp>
        <p:sp>
          <p:nvSpPr>
            <p:cNvPr id="30752" name="Text Box 32"/>
            <p:cNvSpPr txBox="1">
              <a:spLocks noChangeArrowheads="1"/>
            </p:cNvSpPr>
            <p:nvPr/>
          </p:nvSpPr>
          <p:spPr bwMode="auto">
            <a:xfrm rot="-5400000">
              <a:off x="1000" y="1662"/>
              <a:ext cx="693" cy="294"/>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Authentication</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Module</a:t>
              </a:r>
            </a:p>
          </p:txBody>
        </p:sp>
        <p:sp>
          <p:nvSpPr>
            <p:cNvPr id="30753" name="Rectangle 33"/>
            <p:cNvSpPr>
              <a:spLocks noChangeArrowheads="1"/>
            </p:cNvSpPr>
            <p:nvPr/>
          </p:nvSpPr>
          <p:spPr bwMode="auto">
            <a:xfrm rot="-5400000">
              <a:off x="1320" y="1800"/>
              <a:ext cx="528" cy="19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CMIP</a:t>
              </a:r>
            </a:p>
          </p:txBody>
        </p:sp>
      </p:grpSp>
      <p:grpSp>
        <p:nvGrpSpPr>
          <p:cNvPr id="30754" name="Group 34"/>
          <p:cNvGrpSpPr>
            <a:grpSpLocks/>
          </p:cNvGrpSpPr>
          <p:nvPr/>
        </p:nvGrpSpPr>
        <p:grpSpPr bwMode="auto">
          <a:xfrm>
            <a:off x="5486400" y="3771900"/>
            <a:ext cx="990600" cy="461963"/>
            <a:chOff x="2736" y="1728"/>
            <a:chExt cx="624" cy="291"/>
          </a:xfrm>
          <a:solidFill>
            <a:srgbClr val="00B050"/>
          </a:solidFill>
        </p:grpSpPr>
        <p:sp>
          <p:nvSpPr>
            <p:cNvPr id="30755" name="Oval 54"/>
            <p:cNvSpPr>
              <a:spLocks noChangeArrowheads="1"/>
            </p:cNvSpPr>
            <p:nvPr/>
          </p:nvSpPr>
          <p:spPr bwMode="auto">
            <a:xfrm>
              <a:off x="2736" y="1728"/>
              <a:ext cx="624" cy="288"/>
            </a:xfrm>
            <a:prstGeom prst="ellipse">
              <a:avLst/>
            </a:prstGeom>
            <a:grpFill/>
            <a:ln w="9525">
              <a:solidFill>
                <a:schemeClr val="tx1"/>
              </a:solidFill>
              <a:round/>
              <a:headEnd/>
              <a:tailEnd/>
            </a:ln>
          </p:spPr>
          <p:txBody>
            <a:bodyPr wrap="none" anchor="ctr"/>
            <a:lstStyle/>
            <a:p>
              <a:pPr algn="ctr" eaLnBrk="0" fontAlgn="base" hangingPunct="0">
                <a:spcBef>
                  <a:spcPct val="0"/>
                </a:spcBef>
                <a:spcAft>
                  <a:spcPct val="0"/>
                </a:spcAft>
              </a:pPr>
              <a:endParaRPr lang="en-US" sz="1000">
                <a:solidFill>
                  <a:srgbClr val="000000"/>
                </a:solidFill>
                <a:latin typeface="Times New Roman" charset="0"/>
                <a:ea typeface="ＭＳ Ｐゴシック" charset="0"/>
                <a:cs typeface="ＭＳ Ｐゴシック" charset="0"/>
              </a:endParaRPr>
            </a:p>
          </p:txBody>
        </p:sp>
        <p:sp>
          <p:nvSpPr>
            <p:cNvPr id="30756" name="Text Box 36"/>
            <p:cNvSpPr txBox="1">
              <a:spLocks noChangeArrowheads="1"/>
            </p:cNvSpPr>
            <p:nvPr/>
          </p:nvSpPr>
          <p:spPr bwMode="auto">
            <a:xfrm>
              <a:off x="2880" y="1776"/>
              <a:ext cx="116" cy="173"/>
            </a:xfrm>
            <a:prstGeom prst="rect">
              <a:avLst/>
            </a:prstGeom>
            <a:grp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endParaRPr lang="en-US" sz="1200">
                <a:solidFill>
                  <a:srgbClr val="000000"/>
                </a:solidFill>
                <a:latin typeface="Times" charset="0"/>
                <a:ea typeface="ＭＳ Ｐゴシック" charset="0"/>
                <a:cs typeface="ＭＳ Ｐゴシック" charset="0"/>
              </a:endParaRPr>
            </a:p>
          </p:txBody>
        </p:sp>
        <p:sp>
          <p:nvSpPr>
            <p:cNvPr id="30757" name="Text Box 37"/>
            <p:cNvSpPr txBox="1">
              <a:spLocks noChangeArrowheads="1"/>
            </p:cNvSpPr>
            <p:nvPr/>
          </p:nvSpPr>
          <p:spPr bwMode="auto">
            <a:xfrm>
              <a:off x="2880" y="1776"/>
              <a:ext cx="116" cy="173"/>
            </a:xfrm>
            <a:prstGeom prst="rect">
              <a:avLst/>
            </a:prstGeom>
            <a:grp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endParaRPr lang="en-US" sz="1200">
                <a:solidFill>
                  <a:srgbClr val="000000"/>
                </a:solidFill>
                <a:latin typeface="Times" charset="0"/>
                <a:ea typeface="ＭＳ Ｐゴシック" charset="0"/>
                <a:cs typeface="ＭＳ Ｐゴシック" charset="0"/>
              </a:endParaRPr>
            </a:p>
          </p:txBody>
        </p:sp>
        <p:sp>
          <p:nvSpPr>
            <p:cNvPr id="30758" name="Text Box 38"/>
            <p:cNvSpPr txBox="1">
              <a:spLocks noChangeArrowheads="1"/>
            </p:cNvSpPr>
            <p:nvPr/>
          </p:nvSpPr>
          <p:spPr bwMode="auto">
            <a:xfrm>
              <a:off x="2824" y="1728"/>
              <a:ext cx="446" cy="29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algn="ctr" eaLnBrk="0" fontAlgn="base" hangingPunct="0">
                <a:spcBef>
                  <a:spcPct val="0"/>
                </a:spcBef>
                <a:spcAft>
                  <a:spcPct val="0"/>
                </a:spcAft>
              </a:pPr>
              <a:r>
                <a:rPr lang="en-US" sz="1200" dirty="0">
                  <a:solidFill>
                    <a:srgbClr val="000000"/>
                  </a:solidFill>
                  <a:latin typeface="Times" charset="0"/>
                  <a:ea typeface="ＭＳ Ｐゴシック" charset="0"/>
                  <a:cs typeface="ＭＳ Ｐゴシック" charset="0"/>
                </a:rPr>
                <a:t>RIB</a:t>
              </a:r>
            </a:p>
            <a:p>
              <a:pPr algn="ctr" eaLnBrk="0" fontAlgn="base" hangingPunct="0">
                <a:spcBef>
                  <a:spcPct val="0"/>
                </a:spcBef>
                <a:spcAft>
                  <a:spcPct val="0"/>
                </a:spcAft>
              </a:pPr>
              <a:r>
                <a:rPr lang="en-US" sz="1200" dirty="0">
                  <a:solidFill>
                    <a:srgbClr val="000000"/>
                  </a:solidFill>
                  <a:latin typeface="Times" charset="0"/>
                  <a:ea typeface="ＭＳ Ｐゴシック" charset="0"/>
                  <a:cs typeface="ＭＳ Ｐゴシック" charset="0"/>
                </a:rPr>
                <a:t>Daemon</a:t>
              </a:r>
            </a:p>
          </p:txBody>
        </p:sp>
      </p:grpSp>
      <p:sp>
        <p:nvSpPr>
          <p:cNvPr id="30759" name="Text Box 39"/>
          <p:cNvSpPr txBox="1">
            <a:spLocks noChangeArrowheads="1"/>
          </p:cNvSpPr>
          <p:nvPr/>
        </p:nvSpPr>
        <p:spPr bwMode="auto">
          <a:xfrm>
            <a:off x="3276600" y="2171700"/>
            <a:ext cx="854075" cy="2762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Delimiting</a:t>
            </a:r>
          </a:p>
        </p:txBody>
      </p:sp>
      <p:sp>
        <p:nvSpPr>
          <p:cNvPr id="30760" name="Text Box 40"/>
          <p:cNvSpPr txBox="1">
            <a:spLocks noChangeArrowheads="1"/>
          </p:cNvSpPr>
          <p:nvPr/>
        </p:nvSpPr>
        <p:spPr bwMode="auto">
          <a:xfrm>
            <a:off x="2971800" y="2628900"/>
            <a:ext cx="1025525"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Data Transfer</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Protocol</a:t>
            </a:r>
          </a:p>
        </p:txBody>
      </p:sp>
      <p:sp>
        <p:nvSpPr>
          <p:cNvPr id="30761" name="Text Box 41"/>
          <p:cNvSpPr txBox="1">
            <a:spLocks noChangeArrowheads="1"/>
          </p:cNvSpPr>
          <p:nvPr/>
        </p:nvSpPr>
        <p:spPr bwMode="auto">
          <a:xfrm>
            <a:off x="5257800" y="2171700"/>
            <a:ext cx="700088" cy="64611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Data </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Transfer</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Control</a:t>
            </a:r>
          </a:p>
        </p:txBody>
      </p:sp>
      <p:sp>
        <p:nvSpPr>
          <p:cNvPr id="30762" name="Line 42"/>
          <p:cNvSpPr>
            <a:spLocks noChangeShapeType="1"/>
          </p:cNvSpPr>
          <p:nvPr/>
        </p:nvSpPr>
        <p:spPr bwMode="auto">
          <a:xfrm>
            <a:off x="4038600" y="2324100"/>
            <a:ext cx="685800" cy="3810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63" name="Line 43"/>
          <p:cNvSpPr>
            <a:spLocks noChangeShapeType="1"/>
          </p:cNvSpPr>
          <p:nvPr/>
        </p:nvSpPr>
        <p:spPr bwMode="auto">
          <a:xfrm>
            <a:off x="3886200" y="2857500"/>
            <a:ext cx="685800" cy="3048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64" name="Line 44"/>
          <p:cNvSpPr>
            <a:spLocks noChangeShapeType="1"/>
          </p:cNvSpPr>
          <p:nvPr/>
        </p:nvSpPr>
        <p:spPr bwMode="auto">
          <a:xfrm flipH="1">
            <a:off x="5334000" y="2781300"/>
            <a:ext cx="228600" cy="2286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65" name="Text Box 45"/>
          <p:cNvSpPr txBox="1">
            <a:spLocks noChangeArrowheads="1"/>
          </p:cNvSpPr>
          <p:nvPr/>
        </p:nvSpPr>
        <p:spPr bwMode="auto">
          <a:xfrm>
            <a:off x="5257800" y="4457700"/>
            <a:ext cx="1387475"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Relaying</a:t>
            </a:r>
          </a:p>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and Multiplexing</a:t>
            </a:r>
          </a:p>
        </p:txBody>
      </p:sp>
      <p:sp>
        <p:nvSpPr>
          <p:cNvPr id="30766" name="Text Box 46"/>
          <p:cNvSpPr txBox="1">
            <a:spLocks noChangeArrowheads="1"/>
          </p:cNvSpPr>
          <p:nvPr/>
        </p:nvSpPr>
        <p:spPr bwMode="auto">
          <a:xfrm>
            <a:off x="3581400" y="4457700"/>
            <a:ext cx="8382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lgn="ct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SDU Protection</a:t>
            </a:r>
          </a:p>
        </p:txBody>
      </p:sp>
      <p:sp>
        <p:nvSpPr>
          <p:cNvPr id="30767" name="Line 47"/>
          <p:cNvSpPr>
            <a:spLocks noChangeShapeType="1"/>
          </p:cNvSpPr>
          <p:nvPr/>
        </p:nvSpPr>
        <p:spPr bwMode="auto">
          <a:xfrm flipV="1">
            <a:off x="4114800" y="4229100"/>
            <a:ext cx="533400" cy="4572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68" name="Line 48"/>
          <p:cNvSpPr>
            <a:spLocks noChangeShapeType="1"/>
          </p:cNvSpPr>
          <p:nvPr/>
        </p:nvSpPr>
        <p:spPr bwMode="auto">
          <a:xfrm flipH="1" flipV="1">
            <a:off x="5105400" y="3848100"/>
            <a:ext cx="838200" cy="6096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69" name="Text Box 49"/>
          <p:cNvSpPr txBox="1">
            <a:spLocks noChangeArrowheads="1"/>
          </p:cNvSpPr>
          <p:nvPr/>
        </p:nvSpPr>
        <p:spPr bwMode="auto">
          <a:xfrm>
            <a:off x="7315200" y="3771900"/>
            <a:ext cx="15240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Forwarding Table Generator (routing)</a:t>
            </a:r>
          </a:p>
        </p:txBody>
      </p:sp>
      <p:sp>
        <p:nvSpPr>
          <p:cNvPr id="30770" name="Oval 50"/>
          <p:cNvSpPr>
            <a:spLocks noChangeArrowheads="1"/>
          </p:cNvSpPr>
          <p:nvPr/>
        </p:nvSpPr>
        <p:spPr bwMode="auto">
          <a:xfrm>
            <a:off x="5905500" y="2628900"/>
            <a:ext cx="495300" cy="381000"/>
          </a:xfrm>
          <a:prstGeom prst="ellipse">
            <a:avLst/>
          </a:prstGeom>
          <a:solidFill>
            <a:srgbClr val="00B050"/>
          </a:solidFill>
          <a:ln w="9525">
            <a:solidFill>
              <a:schemeClr val="tx1"/>
            </a:solidFill>
            <a:round/>
            <a:headEnd/>
            <a:tailEnd/>
          </a:ln>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71" name="Text Box 51"/>
          <p:cNvSpPr txBox="1">
            <a:spLocks noChangeArrowheads="1"/>
          </p:cNvSpPr>
          <p:nvPr/>
        </p:nvSpPr>
        <p:spPr bwMode="auto">
          <a:xfrm>
            <a:off x="6019800" y="1943100"/>
            <a:ext cx="1068388" cy="2746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Allocation AE</a:t>
            </a:r>
          </a:p>
        </p:txBody>
      </p:sp>
      <p:sp>
        <p:nvSpPr>
          <p:cNvPr id="30772" name="Line 52"/>
          <p:cNvSpPr>
            <a:spLocks noChangeShapeType="1"/>
          </p:cNvSpPr>
          <p:nvPr/>
        </p:nvSpPr>
        <p:spPr bwMode="auto">
          <a:xfrm flipH="1">
            <a:off x="6172200" y="2171700"/>
            <a:ext cx="304800" cy="4572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73" name="Text Box 53"/>
          <p:cNvSpPr txBox="1">
            <a:spLocks noChangeArrowheads="1"/>
          </p:cNvSpPr>
          <p:nvPr/>
        </p:nvSpPr>
        <p:spPr bwMode="auto">
          <a:xfrm>
            <a:off x="7162800" y="3238500"/>
            <a:ext cx="1066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Security Management</a:t>
            </a:r>
          </a:p>
        </p:txBody>
      </p:sp>
      <p:sp>
        <p:nvSpPr>
          <p:cNvPr id="30774" name="Text Box 54"/>
          <p:cNvSpPr txBox="1">
            <a:spLocks noChangeArrowheads="1"/>
          </p:cNvSpPr>
          <p:nvPr/>
        </p:nvSpPr>
        <p:spPr bwMode="auto">
          <a:xfrm>
            <a:off x="6705600" y="2705100"/>
            <a:ext cx="12192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Resource Allocator</a:t>
            </a:r>
          </a:p>
        </p:txBody>
      </p:sp>
      <p:grpSp>
        <p:nvGrpSpPr>
          <p:cNvPr id="30775" name="Group 55"/>
          <p:cNvGrpSpPr>
            <a:grpSpLocks/>
          </p:cNvGrpSpPr>
          <p:nvPr/>
        </p:nvGrpSpPr>
        <p:grpSpPr bwMode="auto">
          <a:xfrm>
            <a:off x="4343400" y="1752601"/>
            <a:ext cx="762000" cy="657225"/>
            <a:chOff x="1488" y="1200"/>
            <a:chExt cx="1920" cy="1662"/>
          </a:xfrm>
        </p:grpSpPr>
        <p:grpSp>
          <p:nvGrpSpPr>
            <p:cNvPr id="30776" name="Group 56"/>
            <p:cNvGrpSpPr>
              <a:grpSpLocks/>
            </p:cNvGrpSpPr>
            <p:nvPr/>
          </p:nvGrpSpPr>
          <p:grpSpPr bwMode="auto">
            <a:xfrm>
              <a:off x="2016" y="1848"/>
              <a:ext cx="720" cy="624"/>
              <a:chOff x="4512" y="432"/>
              <a:chExt cx="720" cy="624"/>
            </a:xfrm>
          </p:grpSpPr>
          <p:sp>
            <p:nvSpPr>
              <p:cNvPr id="30777" name="Rectangle 57"/>
              <p:cNvSpPr>
                <a:spLocks noChangeArrowheads="1"/>
              </p:cNvSpPr>
              <p:nvPr/>
            </p:nvSpPr>
            <p:spPr bwMode="auto">
              <a:xfrm>
                <a:off x="4656" y="432"/>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78" name="Rectangle 58"/>
              <p:cNvSpPr>
                <a:spLocks noChangeArrowheads="1"/>
              </p:cNvSpPr>
              <p:nvPr/>
            </p:nvSpPr>
            <p:spPr bwMode="auto">
              <a:xfrm>
                <a:off x="4512" y="624"/>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79" name="Line 59"/>
              <p:cNvSpPr>
                <a:spLocks noChangeShapeType="1"/>
              </p:cNvSpPr>
              <p:nvPr/>
            </p:nvSpPr>
            <p:spPr bwMode="auto">
              <a:xfrm flipH="1">
                <a:off x="4512"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0" name="Line 60"/>
              <p:cNvSpPr>
                <a:spLocks noChangeShapeType="1"/>
              </p:cNvSpPr>
              <p:nvPr/>
            </p:nvSpPr>
            <p:spPr bwMode="auto">
              <a:xfrm flipH="1">
                <a:off x="5088"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1" name="Line 61"/>
              <p:cNvSpPr>
                <a:spLocks noChangeShapeType="1"/>
              </p:cNvSpPr>
              <p:nvPr/>
            </p:nvSpPr>
            <p:spPr bwMode="auto">
              <a:xfrm flipH="1">
                <a:off x="4512" y="864"/>
                <a:ext cx="192"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2" name="Line 62"/>
              <p:cNvSpPr>
                <a:spLocks noChangeShapeType="1"/>
              </p:cNvSpPr>
              <p:nvPr/>
            </p:nvSpPr>
            <p:spPr bwMode="auto">
              <a:xfrm flipH="1">
                <a:off x="5088" y="864"/>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30783" name="Group 63"/>
            <p:cNvGrpSpPr>
              <a:grpSpLocks/>
            </p:cNvGrpSpPr>
            <p:nvPr/>
          </p:nvGrpSpPr>
          <p:grpSpPr bwMode="auto">
            <a:xfrm>
              <a:off x="1488" y="1200"/>
              <a:ext cx="1920" cy="1662"/>
              <a:chOff x="1488" y="1200"/>
              <a:chExt cx="1920" cy="1662"/>
            </a:xfrm>
          </p:grpSpPr>
          <p:sp>
            <p:nvSpPr>
              <p:cNvPr id="30784" name="Rectangle 64"/>
              <p:cNvSpPr>
                <a:spLocks noChangeArrowheads="1"/>
              </p:cNvSpPr>
              <p:nvPr/>
            </p:nvSpPr>
            <p:spPr bwMode="auto">
              <a:xfrm>
                <a:off x="1872" y="1200"/>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5" name="Rectangle 65"/>
              <p:cNvSpPr>
                <a:spLocks noChangeArrowheads="1"/>
              </p:cNvSpPr>
              <p:nvPr/>
            </p:nvSpPr>
            <p:spPr bwMode="auto">
              <a:xfrm>
                <a:off x="1488" y="1711"/>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6" name="Line 66"/>
              <p:cNvSpPr>
                <a:spLocks noChangeShapeType="1"/>
              </p:cNvSpPr>
              <p:nvPr/>
            </p:nvSpPr>
            <p:spPr bwMode="auto">
              <a:xfrm flipH="1">
                <a:off x="1488"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7" name="Line 67"/>
              <p:cNvSpPr>
                <a:spLocks noChangeShapeType="1"/>
              </p:cNvSpPr>
              <p:nvPr/>
            </p:nvSpPr>
            <p:spPr bwMode="auto">
              <a:xfrm flipH="1">
                <a:off x="3024"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8" name="Line 68"/>
              <p:cNvSpPr>
                <a:spLocks noChangeShapeType="1"/>
              </p:cNvSpPr>
              <p:nvPr/>
            </p:nvSpPr>
            <p:spPr bwMode="auto">
              <a:xfrm flipH="1">
                <a:off x="1488" y="2352"/>
                <a:ext cx="384" cy="51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89" name="Line 69"/>
              <p:cNvSpPr>
                <a:spLocks noChangeShapeType="1"/>
              </p:cNvSpPr>
              <p:nvPr/>
            </p:nvSpPr>
            <p:spPr bwMode="auto">
              <a:xfrm flipH="1">
                <a:off x="3024" y="2351"/>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30790" name="Line 70"/>
            <p:cNvSpPr>
              <a:spLocks noChangeShapeType="1"/>
            </p:cNvSpPr>
            <p:nvPr/>
          </p:nvSpPr>
          <p:spPr bwMode="auto">
            <a:xfrm flipH="1">
              <a:off x="1872" y="2304"/>
              <a:ext cx="288"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1" name="Line 71"/>
            <p:cNvSpPr>
              <a:spLocks noChangeShapeType="1"/>
            </p:cNvSpPr>
            <p:nvPr/>
          </p:nvSpPr>
          <p:spPr bwMode="auto">
            <a:xfrm flipH="1">
              <a:off x="1488" y="2448"/>
              <a:ext cx="528"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2" name="Line 72"/>
            <p:cNvSpPr>
              <a:spLocks noChangeShapeType="1"/>
            </p:cNvSpPr>
            <p:nvPr/>
          </p:nvSpPr>
          <p:spPr bwMode="auto">
            <a:xfrm flipH="1" flipV="1">
              <a:off x="1536" y="1728"/>
              <a:ext cx="480"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3" name="Line 73"/>
            <p:cNvSpPr>
              <a:spLocks noChangeShapeType="1"/>
            </p:cNvSpPr>
            <p:nvPr/>
          </p:nvSpPr>
          <p:spPr bwMode="auto">
            <a:xfrm flipH="1" flipV="1">
              <a:off x="1872" y="1200"/>
              <a:ext cx="288"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4" name="Line 74"/>
            <p:cNvSpPr>
              <a:spLocks noChangeShapeType="1"/>
            </p:cNvSpPr>
            <p:nvPr/>
          </p:nvSpPr>
          <p:spPr bwMode="auto">
            <a:xfrm flipV="1">
              <a:off x="2688" y="1200"/>
              <a:ext cx="720"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5" name="Line 75"/>
            <p:cNvSpPr>
              <a:spLocks noChangeShapeType="1"/>
            </p:cNvSpPr>
            <p:nvPr/>
          </p:nvSpPr>
          <p:spPr bwMode="auto">
            <a:xfrm>
              <a:off x="2736" y="2304"/>
              <a:ext cx="672"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6" name="Line 76"/>
            <p:cNvSpPr>
              <a:spLocks noChangeShapeType="1"/>
            </p:cNvSpPr>
            <p:nvPr/>
          </p:nvSpPr>
          <p:spPr bwMode="auto">
            <a:xfrm>
              <a:off x="2592" y="2448"/>
              <a:ext cx="432"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797" name="Line 77"/>
            <p:cNvSpPr>
              <a:spLocks noChangeShapeType="1"/>
            </p:cNvSpPr>
            <p:nvPr/>
          </p:nvSpPr>
          <p:spPr bwMode="auto">
            <a:xfrm flipV="1">
              <a:off x="2592" y="1728"/>
              <a:ext cx="432"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30798" name="Group 78"/>
          <p:cNvGrpSpPr>
            <a:grpSpLocks/>
          </p:cNvGrpSpPr>
          <p:nvPr/>
        </p:nvGrpSpPr>
        <p:grpSpPr bwMode="auto">
          <a:xfrm>
            <a:off x="5105400" y="1295401"/>
            <a:ext cx="762000" cy="657225"/>
            <a:chOff x="1488" y="1200"/>
            <a:chExt cx="1920" cy="1662"/>
          </a:xfrm>
        </p:grpSpPr>
        <p:grpSp>
          <p:nvGrpSpPr>
            <p:cNvPr id="30799" name="Group 79"/>
            <p:cNvGrpSpPr>
              <a:grpSpLocks/>
            </p:cNvGrpSpPr>
            <p:nvPr/>
          </p:nvGrpSpPr>
          <p:grpSpPr bwMode="auto">
            <a:xfrm>
              <a:off x="2016" y="1848"/>
              <a:ext cx="720" cy="624"/>
              <a:chOff x="4512" y="432"/>
              <a:chExt cx="720" cy="624"/>
            </a:xfrm>
          </p:grpSpPr>
          <p:sp>
            <p:nvSpPr>
              <p:cNvPr id="30800" name="Rectangle 80"/>
              <p:cNvSpPr>
                <a:spLocks noChangeArrowheads="1"/>
              </p:cNvSpPr>
              <p:nvPr/>
            </p:nvSpPr>
            <p:spPr bwMode="auto">
              <a:xfrm>
                <a:off x="4656" y="432"/>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1" name="Rectangle 81"/>
              <p:cNvSpPr>
                <a:spLocks noChangeArrowheads="1"/>
              </p:cNvSpPr>
              <p:nvPr/>
            </p:nvSpPr>
            <p:spPr bwMode="auto">
              <a:xfrm>
                <a:off x="4512" y="624"/>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2" name="Line 82"/>
              <p:cNvSpPr>
                <a:spLocks noChangeShapeType="1"/>
              </p:cNvSpPr>
              <p:nvPr/>
            </p:nvSpPr>
            <p:spPr bwMode="auto">
              <a:xfrm flipH="1">
                <a:off x="4512"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3" name="Line 83"/>
              <p:cNvSpPr>
                <a:spLocks noChangeShapeType="1"/>
              </p:cNvSpPr>
              <p:nvPr/>
            </p:nvSpPr>
            <p:spPr bwMode="auto">
              <a:xfrm flipH="1">
                <a:off x="5088"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4" name="Line 84"/>
              <p:cNvSpPr>
                <a:spLocks noChangeShapeType="1"/>
              </p:cNvSpPr>
              <p:nvPr/>
            </p:nvSpPr>
            <p:spPr bwMode="auto">
              <a:xfrm flipH="1">
                <a:off x="4512" y="864"/>
                <a:ext cx="192"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5" name="Line 85"/>
              <p:cNvSpPr>
                <a:spLocks noChangeShapeType="1"/>
              </p:cNvSpPr>
              <p:nvPr/>
            </p:nvSpPr>
            <p:spPr bwMode="auto">
              <a:xfrm flipH="1">
                <a:off x="5088" y="864"/>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30806" name="Group 86"/>
            <p:cNvGrpSpPr>
              <a:grpSpLocks/>
            </p:cNvGrpSpPr>
            <p:nvPr/>
          </p:nvGrpSpPr>
          <p:grpSpPr bwMode="auto">
            <a:xfrm>
              <a:off x="1488" y="1200"/>
              <a:ext cx="1920" cy="1662"/>
              <a:chOff x="1488" y="1200"/>
              <a:chExt cx="1920" cy="1662"/>
            </a:xfrm>
          </p:grpSpPr>
          <p:sp>
            <p:nvSpPr>
              <p:cNvPr id="30807" name="Rectangle 87"/>
              <p:cNvSpPr>
                <a:spLocks noChangeArrowheads="1"/>
              </p:cNvSpPr>
              <p:nvPr/>
            </p:nvSpPr>
            <p:spPr bwMode="auto">
              <a:xfrm>
                <a:off x="1872" y="1200"/>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8" name="Rectangle 88"/>
              <p:cNvSpPr>
                <a:spLocks noChangeArrowheads="1"/>
              </p:cNvSpPr>
              <p:nvPr/>
            </p:nvSpPr>
            <p:spPr bwMode="auto">
              <a:xfrm>
                <a:off x="1488" y="1711"/>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09" name="Line 89"/>
              <p:cNvSpPr>
                <a:spLocks noChangeShapeType="1"/>
              </p:cNvSpPr>
              <p:nvPr/>
            </p:nvSpPr>
            <p:spPr bwMode="auto">
              <a:xfrm flipH="1">
                <a:off x="1488"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0" name="Line 90"/>
              <p:cNvSpPr>
                <a:spLocks noChangeShapeType="1"/>
              </p:cNvSpPr>
              <p:nvPr/>
            </p:nvSpPr>
            <p:spPr bwMode="auto">
              <a:xfrm flipH="1">
                <a:off x="3024"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1" name="Line 91"/>
              <p:cNvSpPr>
                <a:spLocks noChangeShapeType="1"/>
              </p:cNvSpPr>
              <p:nvPr/>
            </p:nvSpPr>
            <p:spPr bwMode="auto">
              <a:xfrm flipH="1">
                <a:off x="1488" y="2352"/>
                <a:ext cx="384" cy="51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2" name="Line 92"/>
              <p:cNvSpPr>
                <a:spLocks noChangeShapeType="1"/>
              </p:cNvSpPr>
              <p:nvPr/>
            </p:nvSpPr>
            <p:spPr bwMode="auto">
              <a:xfrm flipH="1">
                <a:off x="3024" y="2351"/>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30813" name="Line 93"/>
            <p:cNvSpPr>
              <a:spLocks noChangeShapeType="1"/>
            </p:cNvSpPr>
            <p:nvPr/>
          </p:nvSpPr>
          <p:spPr bwMode="auto">
            <a:xfrm flipH="1">
              <a:off x="1872" y="2304"/>
              <a:ext cx="288"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4" name="Line 94"/>
            <p:cNvSpPr>
              <a:spLocks noChangeShapeType="1"/>
            </p:cNvSpPr>
            <p:nvPr/>
          </p:nvSpPr>
          <p:spPr bwMode="auto">
            <a:xfrm flipH="1">
              <a:off x="1488" y="2448"/>
              <a:ext cx="528"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5" name="Line 95"/>
            <p:cNvSpPr>
              <a:spLocks noChangeShapeType="1"/>
            </p:cNvSpPr>
            <p:nvPr/>
          </p:nvSpPr>
          <p:spPr bwMode="auto">
            <a:xfrm flipH="1" flipV="1">
              <a:off x="1536" y="1728"/>
              <a:ext cx="480"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6" name="Line 96"/>
            <p:cNvSpPr>
              <a:spLocks noChangeShapeType="1"/>
            </p:cNvSpPr>
            <p:nvPr/>
          </p:nvSpPr>
          <p:spPr bwMode="auto">
            <a:xfrm flipH="1" flipV="1">
              <a:off x="1872" y="1200"/>
              <a:ext cx="288"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7" name="Line 97"/>
            <p:cNvSpPr>
              <a:spLocks noChangeShapeType="1"/>
            </p:cNvSpPr>
            <p:nvPr/>
          </p:nvSpPr>
          <p:spPr bwMode="auto">
            <a:xfrm flipV="1">
              <a:off x="2688" y="1200"/>
              <a:ext cx="720"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8" name="Line 98"/>
            <p:cNvSpPr>
              <a:spLocks noChangeShapeType="1"/>
            </p:cNvSpPr>
            <p:nvPr/>
          </p:nvSpPr>
          <p:spPr bwMode="auto">
            <a:xfrm>
              <a:off x="2736" y="2304"/>
              <a:ext cx="672"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19" name="Line 99"/>
            <p:cNvSpPr>
              <a:spLocks noChangeShapeType="1"/>
            </p:cNvSpPr>
            <p:nvPr/>
          </p:nvSpPr>
          <p:spPr bwMode="auto">
            <a:xfrm>
              <a:off x="2592" y="2448"/>
              <a:ext cx="432"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20" name="Line 100"/>
            <p:cNvSpPr>
              <a:spLocks noChangeShapeType="1"/>
            </p:cNvSpPr>
            <p:nvPr/>
          </p:nvSpPr>
          <p:spPr bwMode="auto">
            <a:xfrm flipV="1">
              <a:off x="2592" y="1728"/>
              <a:ext cx="432"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30821" name="Group 101"/>
          <p:cNvGrpSpPr>
            <a:grpSpLocks/>
          </p:cNvGrpSpPr>
          <p:nvPr/>
        </p:nvGrpSpPr>
        <p:grpSpPr bwMode="auto">
          <a:xfrm>
            <a:off x="3886200" y="1219201"/>
            <a:ext cx="762000" cy="657225"/>
            <a:chOff x="1488" y="1200"/>
            <a:chExt cx="1920" cy="1662"/>
          </a:xfrm>
        </p:grpSpPr>
        <p:grpSp>
          <p:nvGrpSpPr>
            <p:cNvPr id="30822" name="Group 102"/>
            <p:cNvGrpSpPr>
              <a:grpSpLocks/>
            </p:cNvGrpSpPr>
            <p:nvPr/>
          </p:nvGrpSpPr>
          <p:grpSpPr bwMode="auto">
            <a:xfrm>
              <a:off x="2016" y="1848"/>
              <a:ext cx="720" cy="624"/>
              <a:chOff x="4512" y="432"/>
              <a:chExt cx="720" cy="624"/>
            </a:xfrm>
          </p:grpSpPr>
          <p:sp>
            <p:nvSpPr>
              <p:cNvPr id="30823" name="Rectangle 103"/>
              <p:cNvSpPr>
                <a:spLocks noChangeArrowheads="1"/>
              </p:cNvSpPr>
              <p:nvPr/>
            </p:nvSpPr>
            <p:spPr bwMode="auto">
              <a:xfrm>
                <a:off x="4656" y="432"/>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24" name="Rectangle 104"/>
              <p:cNvSpPr>
                <a:spLocks noChangeArrowheads="1"/>
              </p:cNvSpPr>
              <p:nvPr/>
            </p:nvSpPr>
            <p:spPr bwMode="auto">
              <a:xfrm>
                <a:off x="4512" y="624"/>
                <a:ext cx="576" cy="432"/>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25" name="Line 105"/>
              <p:cNvSpPr>
                <a:spLocks noChangeShapeType="1"/>
              </p:cNvSpPr>
              <p:nvPr/>
            </p:nvSpPr>
            <p:spPr bwMode="auto">
              <a:xfrm flipH="1">
                <a:off x="4512"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26" name="Line 106"/>
              <p:cNvSpPr>
                <a:spLocks noChangeShapeType="1"/>
              </p:cNvSpPr>
              <p:nvPr/>
            </p:nvSpPr>
            <p:spPr bwMode="auto">
              <a:xfrm flipH="1">
                <a:off x="5088" y="432"/>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27" name="Line 107"/>
              <p:cNvSpPr>
                <a:spLocks noChangeShapeType="1"/>
              </p:cNvSpPr>
              <p:nvPr/>
            </p:nvSpPr>
            <p:spPr bwMode="auto">
              <a:xfrm flipH="1">
                <a:off x="4512" y="864"/>
                <a:ext cx="192"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28" name="Line 108"/>
              <p:cNvSpPr>
                <a:spLocks noChangeShapeType="1"/>
              </p:cNvSpPr>
              <p:nvPr/>
            </p:nvSpPr>
            <p:spPr bwMode="auto">
              <a:xfrm flipH="1">
                <a:off x="5088" y="864"/>
                <a:ext cx="144" cy="19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grpSp>
          <p:nvGrpSpPr>
            <p:cNvPr id="30829" name="Group 109"/>
            <p:cNvGrpSpPr>
              <a:grpSpLocks/>
            </p:cNvGrpSpPr>
            <p:nvPr/>
          </p:nvGrpSpPr>
          <p:grpSpPr bwMode="auto">
            <a:xfrm>
              <a:off x="1488" y="1200"/>
              <a:ext cx="1920" cy="1662"/>
              <a:chOff x="1488" y="1200"/>
              <a:chExt cx="1920" cy="1662"/>
            </a:xfrm>
          </p:grpSpPr>
          <p:sp>
            <p:nvSpPr>
              <p:cNvPr id="30830" name="Rectangle 110"/>
              <p:cNvSpPr>
                <a:spLocks noChangeArrowheads="1"/>
              </p:cNvSpPr>
              <p:nvPr/>
            </p:nvSpPr>
            <p:spPr bwMode="auto">
              <a:xfrm>
                <a:off x="1872" y="1200"/>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1" name="Rectangle 111"/>
              <p:cNvSpPr>
                <a:spLocks noChangeArrowheads="1"/>
              </p:cNvSpPr>
              <p:nvPr/>
            </p:nvSpPr>
            <p:spPr bwMode="auto">
              <a:xfrm>
                <a:off x="1488" y="1711"/>
                <a:ext cx="1536" cy="1151"/>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2" name="Line 112"/>
              <p:cNvSpPr>
                <a:spLocks noChangeShapeType="1"/>
              </p:cNvSpPr>
              <p:nvPr/>
            </p:nvSpPr>
            <p:spPr bwMode="auto">
              <a:xfrm flipH="1">
                <a:off x="1488"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3" name="Line 113"/>
              <p:cNvSpPr>
                <a:spLocks noChangeShapeType="1"/>
              </p:cNvSpPr>
              <p:nvPr/>
            </p:nvSpPr>
            <p:spPr bwMode="auto">
              <a:xfrm flipH="1">
                <a:off x="3024" y="1200"/>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4" name="Line 114"/>
              <p:cNvSpPr>
                <a:spLocks noChangeShapeType="1"/>
              </p:cNvSpPr>
              <p:nvPr/>
            </p:nvSpPr>
            <p:spPr bwMode="auto">
              <a:xfrm flipH="1">
                <a:off x="1488" y="2352"/>
                <a:ext cx="384" cy="51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5" name="Line 115"/>
              <p:cNvSpPr>
                <a:spLocks noChangeShapeType="1"/>
              </p:cNvSpPr>
              <p:nvPr/>
            </p:nvSpPr>
            <p:spPr bwMode="auto">
              <a:xfrm flipH="1">
                <a:off x="3024" y="2351"/>
                <a:ext cx="384" cy="51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30836" name="Line 116"/>
            <p:cNvSpPr>
              <a:spLocks noChangeShapeType="1"/>
            </p:cNvSpPr>
            <p:nvPr/>
          </p:nvSpPr>
          <p:spPr bwMode="auto">
            <a:xfrm flipH="1">
              <a:off x="1872" y="2304"/>
              <a:ext cx="288"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7" name="Line 117"/>
            <p:cNvSpPr>
              <a:spLocks noChangeShapeType="1"/>
            </p:cNvSpPr>
            <p:nvPr/>
          </p:nvSpPr>
          <p:spPr bwMode="auto">
            <a:xfrm flipH="1">
              <a:off x="1488" y="2448"/>
              <a:ext cx="528"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8" name="Line 118"/>
            <p:cNvSpPr>
              <a:spLocks noChangeShapeType="1"/>
            </p:cNvSpPr>
            <p:nvPr/>
          </p:nvSpPr>
          <p:spPr bwMode="auto">
            <a:xfrm flipH="1" flipV="1">
              <a:off x="1536" y="1728"/>
              <a:ext cx="480"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39" name="Line 119"/>
            <p:cNvSpPr>
              <a:spLocks noChangeShapeType="1"/>
            </p:cNvSpPr>
            <p:nvPr/>
          </p:nvSpPr>
          <p:spPr bwMode="auto">
            <a:xfrm flipH="1" flipV="1">
              <a:off x="1872" y="1200"/>
              <a:ext cx="288"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40" name="Line 120"/>
            <p:cNvSpPr>
              <a:spLocks noChangeShapeType="1"/>
            </p:cNvSpPr>
            <p:nvPr/>
          </p:nvSpPr>
          <p:spPr bwMode="auto">
            <a:xfrm flipV="1">
              <a:off x="2688" y="1200"/>
              <a:ext cx="720" cy="672"/>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41" name="Line 121"/>
            <p:cNvSpPr>
              <a:spLocks noChangeShapeType="1"/>
            </p:cNvSpPr>
            <p:nvPr/>
          </p:nvSpPr>
          <p:spPr bwMode="auto">
            <a:xfrm>
              <a:off x="2736" y="2304"/>
              <a:ext cx="672" cy="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42" name="Line 122"/>
            <p:cNvSpPr>
              <a:spLocks noChangeShapeType="1"/>
            </p:cNvSpPr>
            <p:nvPr/>
          </p:nvSpPr>
          <p:spPr bwMode="auto">
            <a:xfrm>
              <a:off x="2592" y="2448"/>
              <a:ext cx="432" cy="384"/>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sp>
          <p:nvSpPr>
            <p:cNvPr id="30843" name="Line 123"/>
            <p:cNvSpPr>
              <a:spLocks noChangeShapeType="1"/>
            </p:cNvSpPr>
            <p:nvPr/>
          </p:nvSpPr>
          <p:spPr bwMode="auto">
            <a:xfrm flipV="1">
              <a:off x="2592" y="1728"/>
              <a:ext cx="432" cy="2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charset="0"/>
                <a:ea typeface="ＭＳ Ｐゴシック" charset="0"/>
                <a:cs typeface="ＭＳ Ｐゴシック" charset="0"/>
              </a:endParaRPr>
            </a:p>
          </p:txBody>
        </p:sp>
      </p:grpSp>
      <p:sp>
        <p:nvSpPr>
          <p:cNvPr id="30844" name="Text Box 124"/>
          <p:cNvSpPr txBox="1">
            <a:spLocks noChangeArrowheads="1"/>
          </p:cNvSpPr>
          <p:nvPr/>
        </p:nvSpPr>
        <p:spPr bwMode="auto">
          <a:xfrm>
            <a:off x="4495801" y="990600"/>
            <a:ext cx="874713" cy="2746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eaLnBrk="0" fontAlgn="base" hangingPunct="0">
              <a:spcBef>
                <a:spcPct val="0"/>
              </a:spcBef>
              <a:spcAft>
                <a:spcPct val="0"/>
              </a:spcAft>
            </a:pPr>
            <a:r>
              <a:rPr lang="en-US" sz="1200">
                <a:solidFill>
                  <a:srgbClr val="000000"/>
                </a:solidFill>
                <a:latin typeface="Times" charset="0"/>
                <a:ea typeface="ＭＳ Ｐゴシック" charset="0"/>
                <a:cs typeface="ＭＳ Ｐゴシック" charset="0"/>
              </a:rPr>
              <a:t>QoS Cubes</a:t>
            </a:r>
          </a:p>
        </p:txBody>
      </p:sp>
      <p:sp>
        <p:nvSpPr>
          <p:cNvPr id="4" name="Text Box 1028">
            <a:extLst>
              <a:ext uri="{FF2B5EF4-FFF2-40B4-BE49-F238E27FC236}">
                <a16:creationId xmlns:a16="http://schemas.microsoft.com/office/drawing/2014/main" id="{B9055A7A-C7BF-5543-8C27-67EAA7903894}"/>
              </a:ext>
            </a:extLst>
          </p:cNvPr>
          <p:cNvSpPr txBox="1">
            <a:spLocks noChangeArrowheads="1"/>
          </p:cNvSpPr>
          <p:nvPr/>
        </p:nvSpPr>
        <p:spPr bwMode="auto">
          <a:xfrm>
            <a:off x="7785100" y="6172201"/>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defRPr/>
            </a:pPr>
            <a:r>
              <a:rPr lang="en-US" sz="1000" dirty="0">
                <a:solidFill>
                  <a:srgbClr val="000000"/>
                </a:solidFill>
                <a:latin typeface="Arial"/>
                <a:ea typeface="ＭＳ Ｐゴシック" charset="0"/>
                <a:cs typeface="ＭＳ Ｐゴシック" charset="0"/>
              </a:rPr>
              <a:t>©   John Day, All Rights Reserved, 2022</a:t>
            </a:r>
          </a:p>
        </p:txBody>
      </p:sp>
    </p:spTree>
    <p:extLst>
      <p:ext uri="{BB962C8B-B14F-4D97-AF65-F5344CB8AC3E}">
        <p14:creationId xmlns:p14="http://schemas.microsoft.com/office/powerpoint/2010/main" val="16168664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sp>
        <p:nvSpPr>
          <p:cNvPr id="3" name="Content Placeholder 2"/>
          <p:cNvSpPr>
            <a:spLocks noGrp="1"/>
          </p:cNvSpPr>
          <p:nvPr>
            <p:ph idx="1"/>
          </p:nvPr>
        </p:nvSpPr>
        <p:spPr/>
        <p:txBody>
          <a:bodyPr/>
          <a:lstStyle/>
          <a:p>
            <a:r>
              <a:rPr lang="en-US" dirty="0"/>
              <a:t>Next:  Lets look at some real Data Transfer Protocols</a:t>
            </a:r>
          </a:p>
        </p:txBody>
      </p:sp>
      <p:sp>
        <p:nvSpPr>
          <p:cNvPr id="4" name="Date Placeholder 3"/>
          <p:cNvSpPr>
            <a:spLocks noGrp="1"/>
          </p:cNvSpPr>
          <p:nvPr>
            <p:ph type="dt" sz="half" idx="10"/>
          </p:nvPr>
        </p:nvSpPr>
        <p:spPr/>
        <p:txBody>
          <a:bodyPr/>
          <a:lstStyle/>
          <a:p>
            <a:r>
              <a:rPr lang="en-US">
                <a:solidFill>
                  <a:srgbClr val="000000"/>
                </a:solidFill>
                <a:latin typeface="Times"/>
              </a:rPr>
              <a:t>10 May 10</a:t>
            </a:r>
          </a:p>
        </p:txBody>
      </p:sp>
      <p:sp>
        <p:nvSpPr>
          <p:cNvPr id="5" name="Slide Number Placeholder 4"/>
          <p:cNvSpPr>
            <a:spLocks noGrp="1"/>
          </p:cNvSpPr>
          <p:nvPr>
            <p:ph type="sldNum" sz="quarter" idx="12"/>
          </p:nvPr>
        </p:nvSpPr>
        <p:spPr/>
        <p:txBody>
          <a:bodyPr/>
          <a:lstStyle/>
          <a:p>
            <a:fld id="{DFAAB3BC-B603-B648-8332-6B171255E696}" type="slidenum">
              <a:rPr lang="en-US" smtClean="0">
                <a:solidFill>
                  <a:srgbClr val="000000"/>
                </a:solidFill>
                <a:latin typeface="Times"/>
              </a:rPr>
              <a:pPr/>
              <a:t>77</a:t>
            </a:fld>
            <a:endParaRPr lang="en-US">
              <a:solidFill>
                <a:srgbClr val="000000"/>
              </a:solidFill>
              <a:latin typeface="Times"/>
            </a:endParaRPr>
          </a:p>
        </p:txBody>
      </p:sp>
    </p:spTree>
    <p:extLst>
      <p:ext uri="{BB962C8B-B14F-4D97-AF65-F5344CB8AC3E}">
        <p14:creationId xmlns:p14="http://schemas.microsoft.com/office/powerpoint/2010/main" val="1811029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Custom 1">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Custom Design">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565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TotalTime>
  <Words>9350</Words>
  <Application>Microsoft Macintosh PowerPoint</Application>
  <PresentationFormat>Widescreen</PresentationFormat>
  <Paragraphs>1120</Paragraphs>
  <Slides>77</Slides>
  <Notes>65</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77</vt:i4>
      </vt:variant>
    </vt:vector>
  </HeadingPairs>
  <TitlesOfParts>
    <vt:vector size="91" baseType="lpstr">
      <vt:lpstr>Arial</vt:lpstr>
      <vt:lpstr>Calibri</vt:lpstr>
      <vt:lpstr>Calibri Light</vt:lpstr>
      <vt:lpstr>Helvetica</vt:lpstr>
      <vt:lpstr>Lucida Grande</vt:lpstr>
      <vt:lpstr>Noto Sans Symbols</vt:lpstr>
      <vt:lpstr>Symbol</vt:lpstr>
      <vt:lpstr>Times</vt:lpstr>
      <vt:lpstr>Times New Roman</vt:lpstr>
      <vt:lpstr>Verdana</vt:lpstr>
      <vt:lpstr>Office Theme</vt:lpstr>
      <vt:lpstr>Tannenbaum</vt:lpstr>
      <vt:lpstr>508 Lecture</vt:lpstr>
      <vt:lpstr>4_Custom Design</vt:lpstr>
      <vt:lpstr>The General Theory of Data Transfer</vt:lpstr>
      <vt:lpstr>Two Kinds of Protocol</vt:lpstr>
      <vt:lpstr>The Structure of the Layer</vt:lpstr>
      <vt:lpstr>The Nature of Application Processes</vt:lpstr>
      <vt:lpstr>Structure of an Application Process Important Insight</vt:lpstr>
      <vt:lpstr>PowerPoint Presentation</vt:lpstr>
      <vt:lpstr>Protocol Operation</vt:lpstr>
      <vt:lpstr>Two Elements to Every Protocol</vt:lpstr>
      <vt:lpstr>The User API</vt:lpstr>
      <vt:lpstr>QoS Parameters are mapped to QoS Cubes </vt:lpstr>
      <vt:lpstr>A Few Comments</vt:lpstr>
      <vt:lpstr>The Structure of Data Transfer Protocols</vt:lpstr>
      <vt:lpstr>Functions of Data Transfer: (1)</vt:lpstr>
      <vt:lpstr>Functions of Data Transfer (2)</vt:lpstr>
      <vt:lpstr>Functions of Data Transfer (3)</vt:lpstr>
      <vt:lpstr>Delimiting</vt:lpstr>
      <vt:lpstr>Packaging Functions (1)</vt:lpstr>
      <vt:lpstr>Packaging Functions (2)</vt:lpstr>
      <vt:lpstr>General Delimiting Policy</vt:lpstr>
      <vt:lpstr>Note on Packaging</vt:lpstr>
      <vt:lpstr>SDU Protection</vt:lpstr>
      <vt:lpstr>Nota Bene</vt:lpstr>
      <vt:lpstr>More Useful Mechanisms</vt:lpstr>
      <vt:lpstr>Data Transfer Protocol What We Have So Far</vt:lpstr>
      <vt:lpstr>What Might a PDU Look Like? (so far)</vt:lpstr>
      <vt:lpstr>More Useful Mechanisms: Data Transfer Control (feedback mechanisms)</vt:lpstr>
      <vt:lpstr>Sliding Window Operation</vt:lpstr>
      <vt:lpstr>Synchronization </vt:lpstr>
      <vt:lpstr>Explicit Synchronization Mechanisms</vt:lpstr>
      <vt:lpstr>Allocation and Synchronization</vt:lpstr>
      <vt:lpstr>There Was Always the Question</vt:lpstr>
      <vt:lpstr>Packet Switching Creates New Questions</vt:lpstr>
      <vt:lpstr>Remember at This Point</vt:lpstr>
      <vt:lpstr>Are Timers Required?</vt:lpstr>
      <vt:lpstr>This Adds Data Transfer Control PDUs</vt:lpstr>
      <vt:lpstr>Feedback Mechanisms Require Synchronization</vt:lpstr>
      <vt:lpstr>Fundamental Theorem of Data Transfer</vt:lpstr>
      <vt:lpstr>This Exposes a Flaw</vt:lpstr>
      <vt:lpstr>Port Allocation and Synchronization</vt:lpstr>
      <vt:lpstr>The Theorem Says Separate the Two</vt:lpstr>
      <vt:lpstr>Why Does It Work? First the Requirements</vt:lpstr>
      <vt:lpstr>Perfect Error Control is Possible If and only if</vt:lpstr>
      <vt:lpstr>Thinking about It</vt:lpstr>
      <vt:lpstr>So What about Disconnect?</vt:lpstr>
      <vt:lpstr>But the Theorem Implies an Even More Fundamental Result</vt:lpstr>
      <vt:lpstr>Modifying QoS on a Flow</vt:lpstr>
      <vt:lpstr>Allocating a Flow with Different QoS in Each Direction</vt:lpstr>
      <vt:lpstr>Also Simplifies Layer Security</vt:lpstr>
      <vt:lpstr>Three Kinds of Mechanisms</vt:lpstr>
      <vt:lpstr>What We Have Learned</vt:lpstr>
      <vt:lpstr>What We Might Have Missed</vt:lpstr>
      <vt:lpstr>PowerPoint Presentation</vt:lpstr>
      <vt:lpstr>Few People Understand Abstract Syntax and Encoding Rules (From a later lecture, but we need it now)</vt:lpstr>
      <vt:lpstr>Syntax (For some reason, everyone’s favorite topic)</vt:lpstr>
      <vt:lpstr>This Implies that there is  Only One Data Transfer Protocol</vt:lpstr>
      <vt:lpstr>What We Know About Protocols and Layers: I</vt:lpstr>
      <vt:lpstr>What We Know About Protocols and Layers</vt:lpstr>
      <vt:lpstr>What We Know About Protocols and Layers</vt:lpstr>
      <vt:lpstr>What We Know About Protocols and Layers</vt:lpstr>
      <vt:lpstr>The Error and Flow Control Protocol</vt:lpstr>
      <vt:lpstr>Data Transfer</vt:lpstr>
      <vt:lpstr>Data Transfer PDU</vt:lpstr>
      <vt:lpstr>Defining a Policy</vt:lpstr>
      <vt:lpstr>Data Transfer Policies</vt:lpstr>
      <vt:lpstr>Data Transfer Common Control Syntax</vt:lpstr>
      <vt:lpstr>Data Transfer Control General Parameters and Policies</vt:lpstr>
      <vt:lpstr>Data Transfer Control Retransmission Policy</vt:lpstr>
      <vt:lpstr>Data Transfer Control Flow Control Policies</vt:lpstr>
      <vt:lpstr>Relaying and Multiplexing Task</vt:lpstr>
      <vt:lpstr>RMT Policies</vt:lpstr>
      <vt:lpstr>Data Transfer Control</vt:lpstr>
      <vt:lpstr>The Structure of Data Transfer Protocols</vt:lpstr>
      <vt:lpstr>Repeating Layers would seem to Imply</vt:lpstr>
      <vt:lpstr>Consider the following</vt:lpstr>
      <vt:lpstr>Automata Theory Can Be Useful</vt:lpstr>
      <vt:lpstr>Protocols are Irrelevant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Theory of Data Transfer</dc:title>
  <dc:creator>John Day</dc:creator>
  <cp:lastModifiedBy>Day, John</cp:lastModifiedBy>
  <cp:revision>27</cp:revision>
  <dcterms:created xsi:type="dcterms:W3CDTF">2022-09-08T19:36:32Z</dcterms:created>
  <dcterms:modified xsi:type="dcterms:W3CDTF">2026-01-14T13:29:02Z</dcterms:modified>
</cp:coreProperties>
</file>