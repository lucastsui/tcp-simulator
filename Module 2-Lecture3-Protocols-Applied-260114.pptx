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 id="2147483684" r:id="rId4"/>
    <p:sldMasterId id="2147483697" r:id="rId5"/>
    <p:sldMasterId id="2147483710" r:id="rId6"/>
    <p:sldMasterId id="2147483723" r:id="rId7"/>
  </p:sldMasterIdLst>
  <p:notesMasterIdLst>
    <p:notesMasterId r:id="rId66"/>
  </p:notesMasterIdLst>
  <p:sldIdLst>
    <p:sldId id="256" r:id="rId8"/>
    <p:sldId id="652" r:id="rId9"/>
    <p:sldId id="257" r:id="rId10"/>
    <p:sldId id="651" r:id="rId11"/>
    <p:sldId id="362" r:id="rId12"/>
    <p:sldId id="676" r:id="rId13"/>
    <p:sldId id="431" r:id="rId14"/>
    <p:sldId id="673" r:id="rId15"/>
    <p:sldId id="674" r:id="rId16"/>
    <p:sldId id="675" r:id="rId17"/>
    <p:sldId id="668" r:id="rId18"/>
    <p:sldId id="415" r:id="rId19"/>
    <p:sldId id="430" r:id="rId20"/>
    <p:sldId id="336" r:id="rId21"/>
    <p:sldId id="337" r:id="rId22"/>
    <p:sldId id="338" r:id="rId23"/>
    <p:sldId id="387" r:id="rId24"/>
    <p:sldId id="669" r:id="rId25"/>
    <p:sldId id="670" r:id="rId26"/>
    <p:sldId id="671" r:id="rId27"/>
    <p:sldId id="346" r:id="rId28"/>
    <p:sldId id="343" r:id="rId29"/>
    <p:sldId id="293" r:id="rId30"/>
    <p:sldId id="298" r:id="rId31"/>
    <p:sldId id="299" r:id="rId32"/>
    <p:sldId id="434" r:id="rId33"/>
    <p:sldId id="332" r:id="rId34"/>
    <p:sldId id="433" r:id="rId35"/>
    <p:sldId id="355" r:id="rId36"/>
    <p:sldId id="356" r:id="rId37"/>
    <p:sldId id="357" r:id="rId38"/>
    <p:sldId id="358" r:id="rId39"/>
    <p:sldId id="359" r:id="rId40"/>
    <p:sldId id="360" r:id="rId41"/>
    <p:sldId id="361" r:id="rId42"/>
    <p:sldId id="435" r:id="rId43"/>
    <p:sldId id="639" r:id="rId44"/>
    <p:sldId id="640" r:id="rId45"/>
    <p:sldId id="641" r:id="rId46"/>
    <p:sldId id="642" r:id="rId47"/>
    <p:sldId id="645" r:id="rId48"/>
    <p:sldId id="646" r:id="rId49"/>
    <p:sldId id="647" r:id="rId50"/>
    <p:sldId id="656" r:id="rId51"/>
    <p:sldId id="649" r:id="rId52"/>
    <p:sldId id="650" r:id="rId53"/>
    <p:sldId id="648" r:id="rId54"/>
    <p:sldId id="665" r:id="rId55"/>
    <p:sldId id="657" r:id="rId56"/>
    <p:sldId id="658" r:id="rId57"/>
    <p:sldId id="659" r:id="rId58"/>
    <p:sldId id="662" r:id="rId59"/>
    <p:sldId id="664" r:id="rId60"/>
    <p:sldId id="661" r:id="rId61"/>
    <p:sldId id="660" r:id="rId62"/>
    <p:sldId id="666" r:id="rId63"/>
    <p:sldId id="663" r:id="rId64"/>
    <p:sldId id="655"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6667"/>
  </p:normalViewPr>
  <p:slideViewPr>
    <p:cSldViewPr snapToGrid="0">
      <p:cViewPr varScale="1">
        <p:scale>
          <a:sx n="92" d="100"/>
          <a:sy n="92" d="100"/>
        </p:scale>
        <p:origin x="1768" y="472"/>
      </p:cViewPr>
      <p:guideLst/>
    </p:cSldViewPr>
  </p:slideViewPr>
  <p:notesTextViewPr>
    <p:cViewPr>
      <p:scale>
        <a:sx n="1" d="1"/>
        <a:sy n="1" d="1"/>
      </p:scale>
      <p:origin x="0" y="0"/>
    </p:cViewPr>
  </p:notesTextViewPr>
  <p:sorterViewPr>
    <p:cViewPr>
      <p:scale>
        <a:sx n="68" d="100"/>
        <a:sy n="68"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40B081-5B86-D74E-AD11-830EA5C1AA2C}" type="datetimeFigureOut">
              <a:rPr lang="en-US" smtClean="0"/>
              <a:t>1/14/26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BF88C4-8C6D-2A44-9CA8-36B182CE5D87}" type="slidenum">
              <a:rPr lang="en-US" smtClean="0"/>
              <a:t>‹#›</a:t>
            </a:fld>
            <a:endParaRPr lang="en-US"/>
          </a:p>
        </p:txBody>
      </p:sp>
    </p:spTree>
    <p:extLst>
      <p:ext uri="{BB962C8B-B14F-4D97-AF65-F5344CB8AC3E}">
        <p14:creationId xmlns:p14="http://schemas.microsoft.com/office/powerpoint/2010/main" val="2806794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4</a:t>
            </a:fld>
            <a:endParaRPr lang="en-US"/>
          </a:p>
        </p:txBody>
      </p:sp>
    </p:spTree>
    <p:extLst>
      <p:ext uri="{BB962C8B-B14F-4D97-AF65-F5344CB8AC3E}">
        <p14:creationId xmlns:p14="http://schemas.microsoft.com/office/powerpoint/2010/main" val="3734291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a nibble, divide the QoS-cube-id in half. (It is local to the layer anyway.)</a:t>
            </a:r>
          </a:p>
        </p:txBody>
      </p:sp>
      <p:sp>
        <p:nvSpPr>
          <p:cNvPr id="4" name="Slide Number Placeholder 3"/>
          <p:cNvSpPr>
            <a:spLocks noGrp="1"/>
          </p:cNvSpPr>
          <p:nvPr>
            <p:ph type="sldNum" sz="quarter" idx="5"/>
          </p:nvPr>
        </p:nvSpPr>
        <p:spPr/>
        <p:txBody>
          <a:bodyPr/>
          <a:lstStyle/>
          <a:p>
            <a:fld id="{3BBF88C4-8C6D-2A44-9CA8-36B182CE5D87}" type="slidenum">
              <a:rPr lang="en-US" smtClean="0"/>
              <a:t>10</a:t>
            </a:fld>
            <a:endParaRPr lang="en-US"/>
          </a:p>
        </p:txBody>
      </p:sp>
    </p:spTree>
    <p:extLst>
      <p:ext uri="{BB962C8B-B14F-4D97-AF65-F5344CB8AC3E}">
        <p14:creationId xmlns:p14="http://schemas.microsoft.com/office/powerpoint/2010/main" val="2005641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base" latinLnBrk="0" hangingPunct="1">
              <a:lnSpc>
                <a:spcPct val="100000"/>
              </a:lnSpc>
              <a:spcBef>
                <a:spcPct val="0"/>
              </a:spcBef>
              <a:spcAft>
                <a:spcPct val="0"/>
              </a:spcAft>
              <a:buClrTx/>
              <a:buSzPct val="25000"/>
              <a:buFontTx/>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Pct val="25000"/>
                <a:buFontTx/>
                <a:buNone/>
                <a:tabLst/>
                <a:defRPr/>
              </a:pPr>
              <a:t>12</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3745080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commonality with IPv4. ;-)</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848FB6-F826-944E-9F28-50F660ADF506}"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2735081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1512424-09EC-9345-B489-F0E8DB93A1FF}"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515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555"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A3E4ECF-3931-1646-AA06-27596127F969}"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52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579" name="Rectangle 3"/>
          <p:cNvSpPr>
            <a:spLocks noGrp="1" noChangeArrowheads="1"/>
          </p:cNvSpPr>
          <p:nvPr>
            <p:ph type="body" idx="1"/>
          </p:nvPr>
        </p:nvSpPr>
        <p:spPr/>
        <p:txBody>
          <a:bodyPr/>
          <a:lstStyle/>
          <a:p>
            <a:pPr eaLnBrk="1" hangingPunct="1">
              <a:defRPr/>
            </a:pPr>
            <a:r>
              <a:rPr lang="en-US" dirty="0">
                <a:cs typeface="+mn-cs"/>
              </a:rPr>
              <a:t>Remember there is no Protocol-Id field?  It is just the last option. </a:t>
            </a:r>
            <a:r>
              <a:rPr lang="en-US" dirty="0" err="1">
                <a:cs typeface="+mn-cs"/>
              </a:rPr>
              <a:t>Kewl</a:t>
            </a:r>
            <a:r>
              <a:rPr lang="en-US" dirty="0">
                <a:cs typeface="+mn-cs"/>
              </a:rPr>
              <a:t>!!  A degenerate case!  Just what I have been emphasizing! </a:t>
            </a:r>
          </a:p>
          <a:p>
            <a:pPr eaLnBrk="1" hangingPunct="1">
              <a:defRPr/>
            </a:pPr>
            <a:r>
              <a:rPr lang="en-US" dirty="0">
                <a:cs typeface="+mn-cs"/>
              </a:rPr>
              <a:t>No, Idiots! There are now two lists of assigned  numbers for the same field. The IPv6 options field and the Protocol-id field!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B79BBA0-D3D6-5A4A-839B-617E11B1949C}"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536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603"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Conflicting definitions</a:t>
            </a:r>
            <a:r>
              <a:rPr lang="en-US" baseline="0" dirty="0"/>
              <a:t> of the scope of different kinds of v6 addresses.</a:t>
            </a:r>
          </a:p>
          <a:p>
            <a:r>
              <a:rPr lang="en-US" baseline="0" dirty="0"/>
              <a:t>Conflicting problems with the use of options.</a:t>
            </a:r>
          </a:p>
          <a:p>
            <a:r>
              <a:rPr lang="en-US" baseline="0" dirty="0"/>
              <a:t>Fragmentation only done by hosts. Requires MTU discovery, which doesn’t work.</a:t>
            </a:r>
          </a:p>
          <a:p>
            <a:r>
              <a:rPr lang="en-US" baseline="0" dirty="0"/>
              <a:t>Plug n Play isn’t as plug and play as v4.</a:t>
            </a:r>
          </a:p>
          <a:p>
            <a:r>
              <a:rPr lang="en-US" baseline="0" dirty="0"/>
              <a:t>Concept of scope of an address is broken and they don’t know how to fix it.</a:t>
            </a:r>
          </a:p>
          <a:p>
            <a:endParaRPr lang="en-US" baseline="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848FB6-F826-944E-9F28-50F660ADF506}"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474409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a:defRPr/>
            </a:pPr>
            <a:fld id="{246B118D-1A9A-6C4C-A89E-9ED351C01691}" type="slidenum">
              <a:rPr lang="en-US"/>
              <a:pPr>
                <a:defRPr/>
              </a:pPr>
              <a:t>21</a:t>
            </a:fld>
            <a:endParaRPr lang="en-US"/>
          </a:p>
        </p:txBody>
      </p:sp>
      <p:sp>
        <p:nvSpPr>
          <p:cNvPr id="141314"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1315" name="Rectangle 1027"/>
          <p:cNvSpPr>
            <a:spLocks noGrp="1" noChangeArrowheads="1"/>
          </p:cNvSpPr>
          <p:nvPr>
            <p:ph type="body" idx="1"/>
          </p:nvPr>
        </p:nvSpPr>
        <p:spPr/>
        <p:txBody>
          <a:bodyPr/>
          <a:lstStyle/>
          <a:p>
            <a:pPr eaLnBrk="1" hangingPunct="1">
              <a:defRPr/>
            </a:pPr>
            <a:r>
              <a:rPr lang="en-US" dirty="0">
                <a:cs typeface="+mn-cs"/>
              </a:rPr>
              <a:t>Congestion Window Reduced</a:t>
            </a:r>
          </a:p>
          <a:p>
            <a:pPr eaLnBrk="1" hangingPunct="1">
              <a:defRPr/>
            </a:pPr>
            <a:r>
              <a:rPr lang="en-US" dirty="0">
                <a:cs typeface="+mn-cs"/>
              </a:rPr>
              <a:t>Explicit Congestion Notification</a:t>
            </a:r>
          </a:p>
          <a:p>
            <a:pPr eaLnBrk="1" hangingPunct="1">
              <a:defRPr/>
            </a:pPr>
            <a:r>
              <a:rPr lang="en-US" dirty="0">
                <a:cs typeface="+mn-cs"/>
              </a:rPr>
              <a:t>Urgent is being used for X-windows resize events.</a:t>
            </a:r>
          </a:p>
          <a:p>
            <a:pPr eaLnBrk="1" hangingPunct="1">
              <a:defRPr/>
            </a:pPr>
            <a:endParaRPr lang="en-US" dirty="0">
              <a:cs typeface="+mn-cs"/>
            </a:endParaRPr>
          </a:p>
          <a:p>
            <a:pPr eaLnBrk="1" hangingPunct="1">
              <a:defRPr/>
            </a:pPr>
            <a:r>
              <a:rPr lang="en-US" dirty="0">
                <a:cs typeface="+mn-cs"/>
              </a:rPr>
              <a:t>The argument</a:t>
            </a:r>
            <a:r>
              <a:rPr lang="en-US" baseline="0" dirty="0">
                <a:cs typeface="+mn-cs"/>
              </a:rPr>
              <a:t> for the single header and piggybacking </a:t>
            </a:r>
            <a:r>
              <a:rPr lang="en-US" baseline="0" dirty="0" err="1">
                <a:cs typeface="+mn-cs"/>
              </a:rPr>
              <a:t>acks</a:t>
            </a:r>
            <a:r>
              <a:rPr lang="en-US" baseline="0" dirty="0">
                <a:cs typeface="+mn-cs"/>
              </a:rPr>
              <a:t> is that it was more efficient. This was because of </a:t>
            </a:r>
            <a:r>
              <a:rPr lang="en-US" baseline="0" dirty="0" err="1">
                <a:cs typeface="+mn-cs"/>
              </a:rPr>
              <a:t>Tenex</a:t>
            </a:r>
            <a:r>
              <a:rPr lang="en-US" baseline="0" dirty="0">
                <a:cs typeface="+mn-cs"/>
              </a:rPr>
              <a:t> and it is as long as lots of packets have less data than the header.</a:t>
            </a:r>
            <a:endParaRPr lang="en-US" dirty="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4BC5006-E493-0F43-A2E3-4DCC8DF8C693}"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484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483" name="Rectangle 3"/>
          <p:cNvSpPr>
            <a:spLocks noGrp="1" noChangeArrowheads="1"/>
          </p:cNvSpPr>
          <p:nvPr>
            <p:ph type="body" idx="1"/>
          </p:nvPr>
        </p:nvSpPr>
        <p:spPr/>
        <p:txBody>
          <a:bodyPr/>
          <a:lstStyle/>
          <a:p>
            <a:pPr eaLnBrk="1" hangingPunct="1">
              <a:defRPr/>
            </a:pPr>
            <a:r>
              <a:rPr lang="en-US" dirty="0">
                <a:cs typeface="+mn-cs"/>
              </a:rPr>
              <a:t>I don’t know why this is here.  The pseudo-header</a:t>
            </a:r>
            <a:r>
              <a:rPr lang="en-US" baseline="0" dirty="0">
                <a:cs typeface="+mn-cs"/>
              </a:rPr>
              <a:t> pre-dates UDP and was done for TCP.</a:t>
            </a:r>
            <a:endParaRPr lang="en-US" dirty="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a:defRPr/>
            </a:pPr>
            <a:fld id="{8E8BA1E9-75BA-5941-A0BC-BC468654166A}" type="slidenum">
              <a:rPr lang="en-US"/>
              <a:pPr>
                <a:defRPr/>
              </a:pPr>
              <a:t>23</a:t>
            </a:fld>
            <a:endParaRPr lang="en-US"/>
          </a:p>
        </p:txBody>
      </p:sp>
      <p:sp>
        <p:nvSpPr>
          <p:cNvPr id="118786"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18787" name="Rectangle 1027"/>
          <p:cNvSpPr>
            <a:spLocks noGrp="1" noChangeArrowheads="1"/>
          </p:cNvSpPr>
          <p:nvPr>
            <p:ph type="body" idx="1"/>
          </p:nvPr>
        </p:nvSpPr>
        <p:spPr/>
        <p:txBody>
          <a:bodyPr/>
          <a:lstStyle/>
          <a:p>
            <a:pPr eaLnBrk="1" hangingPunct="1">
              <a:defRPr/>
            </a:pPr>
            <a:r>
              <a:rPr lang="en-US" dirty="0">
                <a:cs typeface="+mn-cs"/>
              </a:rPr>
              <a:t>Just a note.  Why we won</a:t>
            </a:r>
            <a:r>
              <a:rPr lang="ja-JP" altLang="en-US" dirty="0">
                <a:latin typeface="Arial"/>
                <a:cs typeface="+mn-cs"/>
              </a:rPr>
              <a:t>’</a:t>
            </a:r>
            <a:r>
              <a:rPr lang="en-US" dirty="0">
                <a:cs typeface="+mn-cs"/>
              </a:rPr>
              <a:t>t cover so called real time transport protocols here:  They are Application Protocols.</a:t>
            </a:r>
          </a:p>
          <a:p>
            <a:pPr eaLnBrk="1" hangingPunct="1">
              <a:defRPr/>
            </a:pPr>
            <a:r>
              <a:rPr lang="en-US" dirty="0">
                <a:cs typeface="+mn-cs"/>
              </a:rPr>
              <a:t>To</a:t>
            </a:r>
            <a:r>
              <a:rPr lang="en-US" baseline="0" dirty="0">
                <a:cs typeface="+mn-cs"/>
              </a:rPr>
              <a:t> have more than one UDP flow we need port-ids.  This should be deprecated.</a:t>
            </a:r>
            <a:endParaRPr lang="en-US" dirty="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231457D-61B9-5147-B473-76A882DDFC65}"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43362"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3363" name="Rectangle 1027"/>
          <p:cNvSpPr>
            <a:spLocks noGrp="1" noChangeArrowheads="1"/>
          </p:cNvSpPr>
          <p:nvPr>
            <p:ph type="body" idx="1"/>
          </p:nvPr>
        </p:nvSpPr>
        <p:spPr/>
        <p:txBody>
          <a:bodyPr/>
          <a:lstStyle/>
          <a:p>
            <a:pPr eaLnBrk="1" hangingPunct="1">
              <a:defRPr/>
            </a:pPr>
            <a:r>
              <a:rPr lang="en-US" dirty="0">
                <a:cs typeface="+mn-cs"/>
              </a:rPr>
              <a:t>Stream. Turns out this is not what most applications want.</a:t>
            </a:r>
          </a:p>
          <a:p>
            <a:pPr eaLnBrk="1" hangingPunct="1">
              <a:defRPr/>
            </a:pPr>
            <a:r>
              <a:rPr lang="en-US" dirty="0">
                <a:cs typeface="+mn-cs"/>
              </a:rPr>
              <a:t>Notice that reassembly argues for statically allocated</a:t>
            </a:r>
            <a:r>
              <a:rPr lang="en-US" baseline="0" dirty="0">
                <a:cs typeface="+mn-cs"/>
              </a:rPr>
              <a:t> buffers.</a:t>
            </a:r>
            <a:endParaRPr lang="en-US" dirty="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a:defRPr/>
            </a:pPr>
            <a:fld id="{E1341393-7CE9-4641-A881-B15811241E90}" type="slidenum">
              <a:rPr lang="en-US"/>
              <a:pPr>
                <a:defRPr/>
              </a:pPr>
              <a:t>26</a:t>
            </a:fld>
            <a:endParaRPr lang="en-US"/>
          </a:p>
        </p:txBody>
      </p:sp>
      <p:sp>
        <p:nvSpPr>
          <p:cNvPr id="1198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19811" name="Rectangle 3"/>
          <p:cNvSpPr>
            <a:spLocks noGrp="1" noChangeArrowheads="1"/>
          </p:cNvSpPr>
          <p:nvPr>
            <p:ph type="body" idx="1"/>
          </p:nvPr>
        </p:nvSpPr>
        <p:spPr/>
        <p:txBody>
          <a:bodyPr/>
          <a:lstStyle/>
          <a:p>
            <a:pPr eaLnBrk="1" hangingPunct="1">
              <a:defRPr/>
            </a:pPr>
            <a:r>
              <a:rPr lang="en-US">
                <a:cs typeface="+mn-cs"/>
              </a:rPr>
              <a:t>Of the 4 or 5 protocols proposed at the time, this is easily the worst.</a:t>
            </a:r>
          </a:p>
        </p:txBody>
      </p:sp>
    </p:spTree>
    <p:extLst>
      <p:ext uri="{BB962C8B-B14F-4D97-AF65-F5344CB8AC3E}">
        <p14:creationId xmlns:p14="http://schemas.microsoft.com/office/powerpoint/2010/main" val="1474390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a:defRPr/>
            </a:pPr>
            <a:fld id="{E1341393-7CE9-4641-A881-B15811241E90}" type="slidenum">
              <a:rPr lang="en-US"/>
              <a:pPr>
                <a:defRPr/>
              </a:pPr>
              <a:t>27</a:t>
            </a:fld>
            <a:endParaRPr lang="en-US"/>
          </a:p>
        </p:txBody>
      </p:sp>
      <p:sp>
        <p:nvSpPr>
          <p:cNvPr id="1198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19811" name="Rectangle 3"/>
          <p:cNvSpPr>
            <a:spLocks noGrp="1" noChangeArrowheads="1"/>
          </p:cNvSpPr>
          <p:nvPr>
            <p:ph type="body" idx="1"/>
          </p:nvPr>
        </p:nvSpPr>
        <p:spPr/>
        <p:txBody>
          <a:bodyPr/>
          <a:lstStyle/>
          <a:p>
            <a:pPr eaLnBrk="1" hangingPunct="1">
              <a:defRPr/>
            </a:pPr>
            <a:r>
              <a:rPr lang="en-US">
                <a:cs typeface="+mn-cs"/>
              </a:rPr>
              <a:t>Of the 4 or 5 protocols proposed at the time, this is easily the worst.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p:txBody>
          <a:bodyPr/>
          <a:lstStyle/>
          <a:p>
            <a:pPr>
              <a:defRPr/>
            </a:pPr>
            <a:fld id="{E1341393-7CE9-4641-A881-B15811241E90}" type="slidenum">
              <a:rPr lang="en-US"/>
              <a:pPr>
                <a:defRPr/>
              </a:pPr>
              <a:t>28</a:t>
            </a:fld>
            <a:endParaRPr lang="en-US"/>
          </a:p>
        </p:txBody>
      </p:sp>
      <p:sp>
        <p:nvSpPr>
          <p:cNvPr id="1198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19811" name="Rectangle 3"/>
          <p:cNvSpPr>
            <a:spLocks noGrp="1" noChangeArrowheads="1"/>
          </p:cNvSpPr>
          <p:nvPr>
            <p:ph type="body" idx="1"/>
          </p:nvPr>
        </p:nvSpPr>
        <p:spPr/>
        <p:txBody>
          <a:bodyPr/>
          <a:lstStyle/>
          <a:p>
            <a:pPr eaLnBrk="1" hangingPunct="1">
              <a:defRPr/>
            </a:pPr>
            <a:r>
              <a:rPr lang="en-US" dirty="0">
                <a:cs typeface="+mn-cs"/>
              </a:rPr>
              <a:t>The reason for not retransmitting on the same byte boundaries was again for terminal traffic. In the meantime, more characters could be accumulated when there was a re-transmission and it would be more efficient .. . (until it got to the other end).</a:t>
            </a:r>
          </a:p>
          <a:p>
            <a:pPr eaLnBrk="1" hangingPunct="1">
              <a:defRPr/>
            </a:pPr>
            <a:r>
              <a:rPr lang="en-US" dirty="0">
                <a:cs typeface="+mn-cs"/>
              </a:rPr>
              <a:t>Of the 4 or 5 protocols proposed at the time, this is easily the worst.</a:t>
            </a:r>
          </a:p>
        </p:txBody>
      </p:sp>
    </p:spTree>
    <p:extLst>
      <p:ext uri="{BB962C8B-B14F-4D97-AF65-F5344CB8AC3E}">
        <p14:creationId xmlns:p14="http://schemas.microsoft.com/office/powerpoint/2010/main" val="31560174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3E7816-1744-7B4F-BFC5-BDCEACA8D53B}"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698105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1026"/>
          <p:cNvSpPr>
            <a:spLocks noGrp="1" noRot="1" noChangeAspect="1" noChangeArrowheads="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85347" name="Rectangle 1027"/>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1026"/>
          <p:cNvSpPr>
            <a:spLocks noGrp="1" noRot="1" noChangeAspect="1" noChangeArrowheads="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87395" name="Rectangle 1027"/>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40</a:t>
            </a:fld>
            <a:endParaRPr lang="en-US"/>
          </a:p>
        </p:txBody>
      </p:sp>
    </p:spTree>
    <p:extLst>
      <p:ext uri="{BB962C8B-B14F-4D97-AF65-F5344CB8AC3E}">
        <p14:creationId xmlns:p14="http://schemas.microsoft.com/office/powerpoint/2010/main" val="4089144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41</a:t>
            </a:fld>
            <a:endParaRPr lang="en-US"/>
          </a:p>
        </p:txBody>
      </p:sp>
    </p:spTree>
    <p:extLst>
      <p:ext uri="{BB962C8B-B14F-4D97-AF65-F5344CB8AC3E}">
        <p14:creationId xmlns:p14="http://schemas.microsoft.com/office/powerpoint/2010/main" val="18960659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45</a:t>
            </a:fld>
            <a:endParaRPr lang="en-US"/>
          </a:p>
        </p:txBody>
      </p:sp>
    </p:spTree>
    <p:extLst>
      <p:ext uri="{BB962C8B-B14F-4D97-AF65-F5344CB8AC3E}">
        <p14:creationId xmlns:p14="http://schemas.microsoft.com/office/powerpoint/2010/main" val="11747498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46</a:t>
            </a:fld>
            <a:endParaRPr lang="en-US"/>
          </a:p>
        </p:txBody>
      </p:sp>
    </p:spTree>
    <p:extLst>
      <p:ext uri="{BB962C8B-B14F-4D97-AF65-F5344CB8AC3E}">
        <p14:creationId xmlns:p14="http://schemas.microsoft.com/office/powerpoint/2010/main" val="1081456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47</a:t>
            </a:fld>
            <a:endParaRPr lang="en-US"/>
          </a:p>
        </p:txBody>
      </p:sp>
    </p:spTree>
    <p:extLst>
      <p:ext uri="{BB962C8B-B14F-4D97-AF65-F5344CB8AC3E}">
        <p14:creationId xmlns:p14="http://schemas.microsoft.com/office/powerpoint/2010/main" val="8657673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is equivalent to the argument for text-based protocols. I had a conversation once with such an advocate who I had been told was a super-coder. It went like this:</a:t>
            </a:r>
          </a:p>
          <a:p>
            <a:pPr marL="171450" indent="-171450">
              <a:buFont typeface="Arial" panose="020B0604020202020204" pitchFamily="34" charset="0"/>
              <a:buChar char="•"/>
            </a:pPr>
            <a:r>
              <a:rPr lang="en-US" dirty="0"/>
              <a:t>Him: This should be a text-based protocol.</a:t>
            </a:r>
          </a:p>
          <a:p>
            <a:pPr marL="171450" indent="-171450">
              <a:buFont typeface="Arial" panose="020B0604020202020204" pitchFamily="34" charset="0"/>
              <a:buChar char="•"/>
            </a:pPr>
            <a:r>
              <a:rPr lang="en-US" dirty="0"/>
              <a:t>Me: Why?</a:t>
            </a:r>
          </a:p>
          <a:p>
            <a:pPr marL="171450" indent="-171450">
              <a:buFont typeface="Arial" panose="020B0604020202020204" pitchFamily="34" charset="0"/>
              <a:buChar char="•"/>
            </a:pPr>
            <a:r>
              <a:rPr lang="en-US" dirty="0"/>
              <a:t>Him: It is easier to debug.</a:t>
            </a:r>
          </a:p>
          <a:p>
            <a:pPr marL="171450" indent="-171450">
              <a:buFont typeface="Arial" panose="020B0604020202020204" pitchFamily="34" charset="0"/>
              <a:buChar char="•"/>
            </a:pPr>
            <a:r>
              <a:rPr lang="en-US" dirty="0"/>
              <a:t>Me: Is that the only reason?</a:t>
            </a:r>
          </a:p>
          <a:p>
            <a:pPr marL="171450" indent="-171450">
              <a:buFont typeface="Arial" panose="020B0604020202020204" pitchFamily="34" charset="0"/>
              <a:buChar char="•"/>
            </a:pPr>
            <a:r>
              <a:rPr lang="en-US" dirty="0"/>
              <a:t>Him: (thinking), </a:t>
            </a:r>
            <a:r>
              <a:rPr lang="en-US" dirty="0" err="1"/>
              <a:t>Ummm</a:t>
            </a:r>
            <a:r>
              <a:rPr lang="en-US" dirty="0"/>
              <a:t>, yea.</a:t>
            </a:r>
          </a:p>
          <a:p>
            <a:pPr marL="171450" indent="-171450">
              <a:buFont typeface="Arial" panose="020B0604020202020204" pitchFamily="34" charset="0"/>
              <a:buChar char="•"/>
            </a:pPr>
            <a:r>
              <a:rPr lang="en-US" dirty="0"/>
              <a:t>Me: So, we are going to spend more time debugging this protocol than using it?</a:t>
            </a:r>
          </a:p>
          <a:p>
            <a:pPr marL="171450" indent="-171450">
              <a:buFont typeface="Arial" panose="020B0604020202020204" pitchFamily="34" charset="0"/>
              <a:buChar char="•"/>
            </a:pPr>
            <a:r>
              <a:rPr lang="en-US" dirty="0"/>
              <a:t>Embarrassed confusion.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48</a:t>
            </a:fld>
            <a:endParaRPr lang="en-US"/>
          </a:p>
        </p:txBody>
      </p:sp>
    </p:spTree>
    <p:extLst>
      <p:ext uri="{BB962C8B-B14F-4D97-AF65-F5344CB8AC3E}">
        <p14:creationId xmlns:p14="http://schemas.microsoft.com/office/powerpoint/2010/main" val="2438486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49</a:t>
            </a:fld>
            <a:endParaRPr lang="en-US"/>
          </a:p>
        </p:txBody>
      </p:sp>
    </p:spTree>
    <p:extLst>
      <p:ext uri="{BB962C8B-B14F-4D97-AF65-F5344CB8AC3E}">
        <p14:creationId xmlns:p14="http://schemas.microsoft.com/office/powerpoint/2010/main" val="21741979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52</a:t>
            </a:fld>
            <a:endParaRPr lang="en-US"/>
          </a:p>
        </p:txBody>
      </p:sp>
    </p:spTree>
    <p:extLst>
      <p:ext uri="{BB962C8B-B14F-4D97-AF65-F5344CB8AC3E}">
        <p14:creationId xmlns:p14="http://schemas.microsoft.com/office/powerpoint/2010/main" val="593906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BF88C4-8C6D-2A44-9CA8-36B182CE5D87}" type="slidenum">
              <a:rPr lang="en-US" smtClean="0"/>
              <a:t>57</a:t>
            </a:fld>
            <a:endParaRPr lang="en-US"/>
          </a:p>
        </p:txBody>
      </p:sp>
    </p:spTree>
    <p:extLst>
      <p:ext uri="{BB962C8B-B14F-4D97-AF65-F5344CB8AC3E}">
        <p14:creationId xmlns:p14="http://schemas.microsoft.com/office/powerpoint/2010/main" val="1738912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4629E-5E77-AE50-3883-FAA4A6B118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71D6C5-63A1-4CA5-9590-903D338AE8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91F7C5-FAC7-88C7-22AB-D36AC1388A98}"/>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5" name="Footer Placeholder 4">
            <a:extLst>
              <a:ext uri="{FF2B5EF4-FFF2-40B4-BE49-F238E27FC236}">
                <a16:creationId xmlns:a16="http://schemas.microsoft.com/office/drawing/2014/main" id="{49EAD16C-0804-8178-671D-68C744C8E5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540EAE-462D-C528-4612-76F033DAA15E}"/>
              </a:ext>
            </a:extLst>
          </p:cNvPr>
          <p:cNvSpPr>
            <a:spLocks noGrp="1"/>
          </p:cNvSpPr>
          <p:nvPr>
            <p:ph type="sldNum" sz="quarter" idx="12"/>
          </p:nvPr>
        </p:nvSpPr>
        <p:spPr/>
        <p:txBody>
          <a:bodyPr/>
          <a:lstStyle/>
          <a:p>
            <a:fld id="{C0ADB4F1-7BDA-8D48-B6CD-C213C6708002}" type="slidenum">
              <a:rPr lang="en-US" smtClean="0"/>
              <a:t>‹#›</a:t>
            </a:fld>
            <a:endParaRPr lang="en-US"/>
          </a:p>
        </p:txBody>
      </p:sp>
      <p:sp>
        <p:nvSpPr>
          <p:cNvPr id="7" name="TextBox 6">
            <a:extLst>
              <a:ext uri="{FF2B5EF4-FFF2-40B4-BE49-F238E27FC236}">
                <a16:creationId xmlns:a16="http://schemas.microsoft.com/office/drawing/2014/main" id="{E90BF429-B50A-DF7A-7F00-151F2284E989}"/>
              </a:ext>
            </a:extLst>
          </p:cNvPr>
          <p:cNvSpPr txBox="1"/>
          <p:nvPr userDrawn="1"/>
        </p:nvSpPr>
        <p:spPr>
          <a:xfrm>
            <a:off x="8879840" y="6352143"/>
            <a:ext cx="1524000" cy="369332"/>
          </a:xfrm>
          <a:prstGeom prst="rect">
            <a:avLst/>
          </a:prstGeom>
          <a:solidFill>
            <a:schemeClr val="bg1"/>
          </a:solidFill>
        </p:spPr>
        <p:txBody>
          <a:bodyPr wrap="square" rtlCol="0">
            <a:spAutoFit/>
          </a:bodyPr>
          <a:lstStyle/>
          <a:p>
            <a:r>
              <a:rPr lang="en-US" sz="900" dirty="0"/>
              <a:t>© John Day 2022</a:t>
            </a:r>
          </a:p>
          <a:p>
            <a:r>
              <a:rPr lang="en-US" sz="900" dirty="0"/>
              <a:t>All Rights Reserved</a:t>
            </a:r>
          </a:p>
        </p:txBody>
      </p:sp>
    </p:spTree>
    <p:extLst>
      <p:ext uri="{BB962C8B-B14F-4D97-AF65-F5344CB8AC3E}">
        <p14:creationId xmlns:p14="http://schemas.microsoft.com/office/powerpoint/2010/main" val="972848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E882B-1F44-D1C9-3159-E2C929831BFD}"/>
              </a:ext>
            </a:extLst>
          </p:cNvPr>
          <p:cNvSpPr>
            <a:spLocks noGrp="1"/>
          </p:cNvSpPr>
          <p:nvPr>
            <p:ph type="title"/>
          </p:nvPr>
        </p:nvSpPr>
        <p:spPr/>
        <p:txBody>
          <a:bodyPr>
            <a:normAutofit/>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CDF79820-D598-8DAE-013C-22F2105E7D07}"/>
              </a:ext>
            </a:extLst>
          </p:cNvPr>
          <p:cNvSpPr>
            <a:spLocks noGrp="1"/>
          </p:cNvSpPr>
          <p:nvPr>
            <p:ph idx="1"/>
          </p:nvPr>
        </p:nvSpPr>
        <p:spPr/>
        <p:txBody>
          <a:bodyPr/>
          <a:lstStyle>
            <a:lvl1pPr>
              <a:defRPr sz="2000">
                <a:latin typeface="Times New Roman" panose="02020603050405020304" pitchFamily="18" charset="0"/>
                <a:cs typeface="Times New Roman" panose="02020603050405020304" pitchFamily="18" charset="0"/>
              </a:defRPr>
            </a:lvl1pPr>
            <a:lvl2pPr>
              <a:defRPr sz="1800">
                <a:latin typeface="Times New Roman" panose="02020603050405020304" pitchFamily="18" charset="0"/>
                <a:cs typeface="Times New Roman" panose="02020603050405020304" pitchFamily="18" charset="0"/>
              </a:defRPr>
            </a:lvl2pPr>
            <a:lvl3pPr>
              <a:defRPr sz="1600">
                <a:latin typeface="Times New Roman" panose="02020603050405020304" pitchFamily="18" charset="0"/>
                <a:cs typeface="Times New Roman" panose="02020603050405020304" pitchFamily="18" charset="0"/>
              </a:defRPr>
            </a:lvl3pPr>
            <a:lvl4pPr>
              <a:defRPr sz="14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20768AF-F4F8-8F19-B72F-85004DDADAB1}"/>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EC284871-8B04-DF48-832C-F199D02F0B47}" type="datetimeFigureOut">
              <a:rPr lang="en-US" smtClean="0"/>
              <a:pPr/>
              <a:t>1/14/26</a:t>
            </a:fld>
            <a:endParaRPr lang="en-US"/>
          </a:p>
        </p:txBody>
      </p:sp>
      <p:sp>
        <p:nvSpPr>
          <p:cNvPr id="5" name="Footer Placeholder 4">
            <a:extLst>
              <a:ext uri="{FF2B5EF4-FFF2-40B4-BE49-F238E27FC236}">
                <a16:creationId xmlns:a16="http://schemas.microsoft.com/office/drawing/2014/main" id="{CD595753-2E05-BE0F-9FEA-D8CAFD0212A3}"/>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198DD0A1-0CF5-31B1-1619-A0B172C07AE4}"/>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C0ADB4F1-7BDA-8D48-B6CD-C213C6708002}" type="slidenum">
              <a:rPr lang="en-US" smtClean="0"/>
              <a:pPr/>
              <a:t>‹#›</a:t>
            </a:fld>
            <a:endParaRPr lang="en-US"/>
          </a:p>
        </p:txBody>
      </p:sp>
      <p:sp>
        <p:nvSpPr>
          <p:cNvPr id="7" name="TextBox 6">
            <a:extLst>
              <a:ext uri="{FF2B5EF4-FFF2-40B4-BE49-F238E27FC236}">
                <a16:creationId xmlns:a16="http://schemas.microsoft.com/office/drawing/2014/main" id="{59181438-4933-736F-7243-FEC1BC9468DB}"/>
              </a:ext>
            </a:extLst>
          </p:cNvPr>
          <p:cNvSpPr txBox="1"/>
          <p:nvPr userDrawn="1"/>
        </p:nvSpPr>
        <p:spPr>
          <a:xfrm>
            <a:off x="8798560" y="6308209"/>
            <a:ext cx="1524000" cy="369332"/>
          </a:xfrm>
          <a:prstGeom prst="rect">
            <a:avLst/>
          </a:prstGeom>
          <a:solidFill>
            <a:schemeClr val="bg1"/>
          </a:solidFill>
        </p:spPr>
        <p:txBody>
          <a:bodyPr wrap="square" rtlCol="0">
            <a:spAutoFit/>
          </a:bodyPr>
          <a:lstStyle/>
          <a:p>
            <a:r>
              <a:rPr lang="en-US" sz="900" dirty="0"/>
              <a:t>© John Day 2024</a:t>
            </a:r>
          </a:p>
          <a:p>
            <a:r>
              <a:rPr lang="en-US" sz="900" dirty="0"/>
              <a:t>All Rights Reserved</a:t>
            </a:r>
          </a:p>
        </p:txBody>
      </p:sp>
    </p:spTree>
    <p:extLst>
      <p:ext uri="{BB962C8B-B14F-4D97-AF65-F5344CB8AC3E}">
        <p14:creationId xmlns:p14="http://schemas.microsoft.com/office/powerpoint/2010/main" val="2680218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80F65-D16C-7C9A-0A0A-EF86AD0570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B27BBD-E2C7-9669-FACE-E706061F1E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291072-90B1-1C60-2203-A0C09E2B7409}"/>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5" name="Footer Placeholder 4">
            <a:extLst>
              <a:ext uri="{FF2B5EF4-FFF2-40B4-BE49-F238E27FC236}">
                <a16:creationId xmlns:a16="http://schemas.microsoft.com/office/drawing/2014/main" id="{58EC7828-4CA4-15FB-902A-E4990EF277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49384-64D9-227D-5979-F56FCEBEAB6F}"/>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1892784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73C4-D50D-3E4D-49A7-D5755C49F5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249B85-D6C7-CDD9-40B9-B512BDDC37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5EA8AC-62BD-0196-9B94-0BB81DAD91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56880D-5E90-6F14-B363-8FB5721BD2F3}"/>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6" name="Footer Placeholder 5">
            <a:extLst>
              <a:ext uri="{FF2B5EF4-FFF2-40B4-BE49-F238E27FC236}">
                <a16:creationId xmlns:a16="http://schemas.microsoft.com/office/drawing/2014/main" id="{26822AFB-09F4-23EE-3AC4-394A6D40AA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296798-A00A-C1CF-A9DC-5FD198F979A1}"/>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740503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F27F3-F8B7-1EC4-E7A5-602823B18A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E3A0B4-C802-3064-5F96-881415A933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DA3D45-B373-6644-E08E-36723AA7A6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96E5E7-46B8-BCE9-6237-972B6EE916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5307FC-5BC8-9177-06BC-67A3D509FA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164A80-681F-04AD-22D6-706967185E67}"/>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8" name="Footer Placeholder 7">
            <a:extLst>
              <a:ext uri="{FF2B5EF4-FFF2-40B4-BE49-F238E27FC236}">
                <a16:creationId xmlns:a16="http://schemas.microsoft.com/office/drawing/2014/main" id="{DE129D6C-0363-8150-1DFB-9B4E474736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14D91C-877E-ACBF-80AB-919F33496691}"/>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453801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27CB-B1C4-33A6-F29C-DCE2C4B6E6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CD32EA-2CAE-C705-0FE2-AA78C5F1D9BF}"/>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4" name="Footer Placeholder 3">
            <a:extLst>
              <a:ext uri="{FF2B5EF4-FFF2-40B4-BE49-F238E27FC236}">
                <a16:creationId xmlns:a16="http://schemas.microsoft.com/office/drawing/2014/main" id="{80260E59-2D90-97F2-A918-155ACD27F0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900772-CA58-DAD3-3550-7253EAF42C1D}"/>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1434212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82563-B619-5BFE-0C80-184143C5329D}"/>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3" name="Footer Placeholder 2">
            <a:extLst>
              <a:ext uri="{FF2B5EF4-FFF2-40B4-BE49-F238E27FC236}">
                <a16:creationId xmlns:a16="http://schemas.microsoft.com/office/drawing/2014/main" id="{0DB79A33-9990-7C36-FE62-ABAE78B462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600A42-166A-84EB-CAC2-438D8E820F6F}"/>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80809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69596-EFF9-F467-CCC2-A3A81B740B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E9B3A9-9F2D-029F-C22F-E2999F42C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975082-FD2A-EC38-129A-8C241F1753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0445BD-62E2-4EEE-2D1D-CBDC0A066F39}"/>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6" name="Footer Placeholder 5">
            <a:extLst>
              <a:ext uri="{FF2B5EF4-FFF2-40B4-BE49-F238E27FC236}">
                <a16:creationId xmlns:a16="http://schemas.microsoft.com/office/drawing/2014/main" id="{A5435169-06E5-AE7A-8A9D-272158DCE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16164A-CB3E-5423-06FC-92EBA8882B2E}"/>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534650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3BDD0-B9C3-41C8-62F9-85579CC32F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C39F47-F71D-6FFD-9A11-0862B2522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119CDF-205C-A501-C992-F3882FCDF6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011F8C-A443-023F-F4A5-DA528EDB575B}"/>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6" name="Footer Placeholder 5">
            <a:extLst>
              <a:ext uri="{FF2B5EF4-FFF2-40B4-BE49-F238E27FC236}">
                <a16:creationId xmlns:a16="http://schemas.microsoft.com/office/drawing/2014/main" id="{07661094-ED2A-7176-B093-E52503FE2D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4F3D2D-598F-C75D-8258-44E43D5FEE50}"/>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600655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94411-F5EE-CDBC-0E10-4FFC0EFCCC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7DC75C-230C-A793-02B2-797023B60D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A02866-FCF1-F701-A15C-B57DE5146132}"/>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5" name="Footer Placeholder 4">
            <a:extLst>
              <a:ext uri="{FF2B5EF4-FFF2-40B4-BE49-F238E27FC236}">
                <a16:creationId xmlns:a16="http://schemas.microsoft.com/office/drawing/2014/main" id="{15DDFC8F-56DF-9A64-B19B-71843175D4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57B02-BD04-C194-39DE-8F0C879A438B}"/>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3252128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6F42DB-B981-0CB9-E7D6-D50C5F18D5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5A6823-07B7-A97D-5684-D153D93518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33E46B-1B90-D3B2-1A82-727E4C006A33}"/>
              </a:ext>
            </a:extLst>
          </p:cNvPr>
          <p:cNvSpPr>
            <a:spLocks noGrp="1"/>
          </p:cNvSpPr>
          <p:nvPr>
            <p:ph type="dt" sz="half" idx="10"/>
          </p:nvPr>
        </p:nvSpPr>
        <p:spPr/>
        <p:txBody>
          <a:bodyPr/>
          <a:lstStyle/>
          <a:p>
            <a:fld id="{EC284871-8B04-DF48-832C-F199D02F0B47}" type="datetimeFigureOut">
              <a:rPr lang="en-US" smtClean="0"/>
              <a:t>1/14/26</a:t>
            </a:fld>
            <a:endParaRPr lang="en-US"/>
          </a:p>
        </p:txBody>
      </p:sp>
      <p:sp>
        <p:nvSpPr>
          <p:cNvPr id="5" name="Footer Placeholder 4">
            <a:extLst>
              <a:ext uri="{FF2B5EF4-FFF2-40B4-BE49-F238E27FC236}">
                <a16:creationId xmlns:a16="http://schemas.microsoft.com/office/drawing/2014/main" id="{7D9909CE-30B8-B904-610B-BAEE1800D4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574DA1-EE8E-39CA-7B7C-FBB231758C0D}"/>
              </a:ext>
            </a:extLst>
          </p:cNvPr>
          <p:cNvSpPr>
            <a:spLocks noGrp="1"/>
          </p:cNvSpPr>
          <p:nvPr>
            <p:ph type="sldNum" sz="quarter" idx="12"/>
          </p:nvPr>
        </p:nvSpPr>
        <p:spPr/>
        <p:txBody>
          <a:bodyPr/>
          <a:lstStyle/>
          <a:p>
            <a:fld id="{C0ADB4F1-7BDA-8D48-B6CD-C213C6708002}" type="slidenum">
              <a:rPr lang="en-US" smtClean="0"/>
              <a:t>‹#›</a:t>
            </a:fld>
            <a:endParaRPr lang="en-US"/>
          </a:p>
        </p:txBody>
      </p:sp>
    </p:spTree>
    <p:extLst>
      <p:ext uri="{BB962C8B-B14F-4D97-AF65-F5344CB8AC3E}">
        <p14:creationId xmlns:p14="http://schemas.microsoft.com/office/powerpoint/2010/main" val="90702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609600" y="228601"/>
            <a:ext cx="109728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000" b="1" i="0" u="none" strike="noStrike" cap="none">
                <a:solidFill>
                  <a:srgbClr val="007FA3"/>
                </a:solidFill>
                <a:latin typeface="Times New Roman" panose="02020603050405020304" pitchFamily="18" charset="0"/>
                <a:ea typeface="Times New Roman" panose="02020603050405020304" pitchFamily="18" charset="0"/>
                <a:cs typeface="Times New Roman" panose="02020603050405020304" pitchFamily="18" charset="0"/>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609600" y="5050972"/>
            <a:ext cx="109728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2000" b="0"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2000" b="0"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dirty="0">
              <a:solidFill>
                <a:srgbClr val="000000"/>
              </a:solidFill>
            </a:endParaRPr>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2000" b="0"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dirty="0">
              <a:solidFill>
                <a:srgbClr val="000000"/>
              </a:solidFill>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sz="2000">
                <a:latin typeface="Times New Roman" panose="02020603050405020304" pitchFamily="18" charset="0"/>
                <a:cs typeface="Times New Roman" panose="02020603050405020304" pitchFamily="18" charset="0"/>
              </a:defRPr>
            </a:lvl1pPr>
          </a:lstStyle>
          <a:p>
            <a:pPr>
              <a:buSzPct val="25000"/>
            </a:pPr>
            <a:fld id="{00000000-1234-1234-1234-123412341234}" type="slidenum">
              <a:rPr lang="en-US" smtClean="0"/>
              <a:pPr>
                <a:buSzPct val="25000"/>
              </a:pPr>
              <a:t>‹#›</a:t>
            </a:fld>
            <a:endParaRPr lang="en-US"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609601" y="1512889"/>
            <a:ext cx="10977033" cy="3417887"/>
          </a:xfrm>
        </p:spPr>
        <p:txBody>
          <a:bodyPr>
            <a:normAutofit/>
          </a:bodyPr>
          <a:lstStyle>
            <a:lvl1pPr>
              <a:defRPr sz="2000">
                <a:latin typeface="Times New Roman" panose="02020603050405020304" pitchFamily="18" charset="0"/>
                <a:cs typeface="Times New Roman" panose="02020603050405020304" pitchFamily="18" charset="0"/>
              </a:defRPr>
            </a:lvl1pPr>
          </a:lstStyle>
          <a:p>
            <a:endParaRPr lang="en-US" dirty="0"/>
          </a:p>
        </p:txBody>
      </p:sp>
    </p:spTree>
    <p:extLst>
      <p:ext uri="{BB962C8B-B14F-4D97-AF65-F5344CB8AC3E}">
        <p14:creationId xmlns:p14="http://schemas.microsoft.com/office/powerpoint/2010/main" val="4627472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4532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2437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98639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30385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57884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84224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033993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16887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497787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475212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EB0868-E013-F149-8683-6742952D6AF9}" type="datetimeFigureOut">
              <a:rPr lang="en-US" smtClean="0">
                <a:solidFill>
                  <a:prstClr val="black">
                    <a:tint val="75000"/>
                  </a:prstClr>
                </a:solidFill>
              </a:rPr>
              <a:pPr/>
              <a:t>1/14/26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44420A-D55A-C642-8060-B29361CE03B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73472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6" name="Rectangle 6"/>
          <p:cNvSpPr>
            <a:spLocks noGrp="1" noChangeArrowheads="1"/>
          </p:cNvSpPr>
          <p:nvPr>
            <p:ph type="sldNum" sz="quarter" idx="12"/>
          </p:nvPr>
        </p:nvSpPr>
        <p:spPr>
          <a:ln/>
        </p:spPr>
        <p:txBody>
          <a:bodyPr/>
          <a:lstStyle>
            <a:lvl1pPr>
              <a:defRPr/>
            </a:lvl1pPr>
          </a:lstStyle>
          <a:p>
            <a:pPr>
              <a:defRPr/>
            </a:pPr>
            <a:fld id="{2426865B-B614-234B-86C9-5C8940584C74}"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21172788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6" name="Rectangle 6"/>
          <p:cNvSpPr>
            <a:spLocks noGrp="1" noChangeArrowheads="1"/>
          </p:cNvSpPr>
          <p:nvPr>
            <p:ph type="sldNum" sz="quarter" idx="12"/>
          </p:nvPr>
        </p:nvSpPr>
        <p:spPr>
          <a:ln/>
        </p:spPr>
        <p:txBody>
          <a:bodyPr/>
          <a:lstStyle>
            <a:lvl1pPr>
              <a:defRPr/>
            </a:lvl1pPr>
          </a:lstStyle>
          <a:p>
            <a:pPr>
              <a:defRPr/>
            </a:pPr>
            <a:fld id="{C0CE0C42-0FF4-8F47-ADE1-4AA78037133A}"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17709678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6" name="Rectangle 6"/>
          <p:cNvSpPr>
            <a:spLocks noGrp="1" noChangeArrowheads="1"/>
          </p:cNvSpPr>
          <p:nvPr>
            <p:ph type="sldNum" sz="quarter" idx="12"/>
          </p:nvPr>
        </p:nvSpPr>
        <p:spPr>
          <a:ln/>
        </p:spPr>
        <p:txBody>
          <a:bodyPr/>
          <a:lstStyle>
            <a:lvl1pPr>
              <a:defRPr/>
            </a:lvl1pPr>
          </a:lstStyle>
          <a:p>
            <a:pPr>
              <a:defRPr/>
            </a:pPr>
            <a:fld id="{D7135914-F1FF-184D-BE81-1D716335A0DA}"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1053316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7" name="Rectangle 6"/>
          <p:cNvSpPr>
            <a:spLocks noGrp="1" noChangeArrowheads="1"/>
          </p:cNvSpPr>
          <p:nvPr>
            <p:ph type="sldNum" sz="quarter" idx="12"/>
          </p:nvPr>
        </p:nvSpPr>
        <p:spPr>
          <a:ln/>
        </p:spPr>
        <p:txBody>
          <a:bodyPr/>
          <a:lstStyle>
            <a:lvl1pPr>
              <a:defRPr/>
            </a:lvl1pPr>
          </a:lstStyle>
          <a:p>
            <a:pPr>
              <a:defRPr/>
            </a:pPr>
            <a:fld id="{F135144D-2B0E-3442-AC10-6BD7BAAEDD64}"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33465184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9" name="Rectangle 6"/>
          <p:cNvSpPr>
            <a:spLocks noGrp="1" noChangeArrowheads="1"/>
          </p:cNvSpPr>
          <p:nvPr>
            <p:ph type="sldNum" sz="quarter" idx="12"/>
          </p:nvPr>
        </p:nvSpPr>
        <p:spPr>
          <a:ln/>
        </p:spPr>
        <p:txBody>
          <a:bodyPr/>
          <a:lstStyle>
            <a:lvl1pPr>
              <a:defRPr/>
            </a:lvl1pPr>
          </a:lstStyle>
          <a:p>
            <a:pPr>
              <a:defRPr/>
            </a:pPr>
            <a:fld id="{76466F98-87F3-3E40-B258-BCE1EE60D6B6}"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24181827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5" name="Rectangle 6"/>
          <p:cNvSpPr>
            <a:spLocks noGrp="1" noChangeArrowheads="1"/>
          </p:cNvSpPr>
          <p:nvPr>
            <p:ph type="sldNum" sz="quarter" idx="12"/>
          </p:nvPr>
        </p:nvSpPr>
        <p:spPr>
          <a:ln/>
        </p:spPr>
        <p:txBody>
          <a:bodyPr/>
          <a:lstStyle>
            <a:lvl1pPr>
              <a:defRPr/>
            </a:lvl1pPr>
          </a:lstStyle>
          <a:p>
            <a:pPr>
              <a:defRPr/>
            </a:pPr>
            <a:fld id="{C76407E7-C5E3-1649-A106-6CF90320E6BC}"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11469862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4" name="Rectangle 6"/>
          <p:cNvSpPr>
            <a:spLocks noGrp="1" noChangeArrowheads="1"/>
          </p:cNvSpPr>
          <p:nvPr>
            <p:ph type="sldNum" sz="quarter" idx="12"/>
          </p:nvPr>
        </p:nvSpPr>
        <p:spPr>
          <a:ln/>
        </p:spPr>
        <p:txBody>
          <a:bodyPr/>
          <a:lstStyle>
            <a:lvl1pPr>
              <a:defRPr/>
            </a:lvl1pPr>
          </a:lstStyle>
          <a:p>
            <a:pPr>
              <a:defRPr/>
            </a:pPr>
            <a:fld id="{3A9D2CEB-E266-B046-9EB7-46217861EAA8}"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2718383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7" name="Rectangle 6"/>
          <p:cNvSpPr>
            <a:spLocks noGrp="1" noChangeArrowheads="1"/>
          </p:cNvSpPr>
          <p:nvPr>
            <p:ph type="sldNum" sz="quarter" idx="12"/>
          </p:nvPr>
        </p:nvSpPr>
        <p:spPr>
          <a:ln/>
        </p:spPr>
        <p:txBody>
          <a:bodyPr/>
          <a:lstStyle>
            <a:lvl1pPr>
              <a:defRPr/>
            </a:lvl1pPr>
          </a:lstStyle>
          <a:p>
            <a:pPr>
              <a:defRPr/>
            </a:pPr>
            <a:fld id="{1EEF11A5-7281-6841-A826-6BE613323080}"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641523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7" name="Rectangle 6"/>
          <p:cNvSpPr>
            <a:spLocks noGrp="1" noChangeArrowheads="1"/>
          </p:cNvSpPr>
          <p:nvPr>
            <p:ph type="sldNum" sz="quarter" idx="12"/>
          </p:nvPr>
        </p:nvSpPr>
        <p:spPr>
          <a:ln/>
        </p:spPr>
        <p:txBody>
          <a:bodyPr/>
          <a:lstStyle>
            <a:lvl1pPr>
              <a:defRPr/>
            </a:lvl1pPr>
          </a:lstStyle>
          <a:p>
            <a:pPr>
              <a:defRPr/>
            </a:pPr>
            <a:fld id="{57F468CA-C400-2A48-B205-03A0D9B9D04F}"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27674062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6" name="Rectangle 6"/>
          <p:cNvSpPr>
            <a:spLocks noGrp="1" noChangeArrowheads="1"/>
          </p:cNvSpPr>
          <p:nvPr>
            <p:ph type="sldNum" sz="quarter" idx="12"/>
          </p:nvPr>
        </p:nvSpPr>
        <p:spPr>
          <a:ln/>
        </p:spPr>
        <p:txBody>
          <a:bodyPr/>
          <a:lstStyle>
            <a:lvl1pPr>
              <a:defRPr/>
            </a:lvl1pPr>
          </a:lstStyle>
          <a:p>
            <a:pPr>
              <a:defRPr/>
            </a:pPr>
            <a:fld id="{4CE38476-27FA-BD46-A811-D818BD0239D6}"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33220836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latin typeface="Times"/>
              <a:ea typeface="ＭＳ Ｐゴシック"/>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5E4473-3A6B-7D48-A143-C157FE2D3D41}" type="slidenum">
              <a:rPr lang="en-US" altLang="en-US">
                <a:solidFill>
                  <a:srgbClr val="000000"/>
                </a:solidFill>
                <a:latin typeface="Times"/>
                <a:ea typeface="ＭＳ Ｐゴシック"/>
              </a:rPr>
              <a:pPr>
                <a:defRPr/>
              </a:pPr>
              <a:t>‹#›</a:t>
            </a:fld>
            <a:endParaRPr lang="en-US" altLang="en-US">
              <a:solidFill>
                <a:srgbClr val="000000"/>
              </a:solidFill>
              <a:latin typeface="Times"/>
              <a:ea typeface="ＭＳ Ｐゴシック"/>
            </a:endParaRPr>
          </a:p>
        </p:txBody>
      </p:sp>
    </p:spTree>
    <p:extLst>
      <p:ext uri="{BB962C8B-B14F-4D97-AF65-F5344CB8AC3E}">
        <p14:creationId xmlns:p14="http://schemas.microsoft.com/office/powerpoint/2010/main" val="9294114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068347F-B022-D541-8062-02C09FD7BA26}" type="slidenum">
              <a:rPr lang="en-US"/>
              <a:pPr>
                <a:defRPr/>
              </a:pPr>
              <a:t>‹#›</a:t>
            </a:fld>
            <a:endParaRPr lang="en-US"/>
          </a:p>
        </p:txBody>
      </p:sp>
    </p:spTree>
    <p:extLst>
      <p:ext uri="{BB962C8B-B14F-4D97-AF65-F5344CB8AC3E}">
        <p14:creationId xmlns:p14="http://schemas.microsoft.com/office/powerpoint/2010/main" val="1021754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414C739-DB32-5E41-B338-B1799C36BD0E}" type="slidenum">
              <a:rPr lang="en-US"/>
              <a:pPr>
                <a:defRPr/>
              </a:pPr>
              <a:t>‹#›</a:t>
            </a:fld>
            <a:endParaRPr lang="en-US"/>
          </a:p>
        </p:txBody>
      </p:sp>
    </p:spTree>
    <p:extLst>
      <p:ext uri="{BB962C8B-B14F-4D97-AF65-F5344CB8AC3E}">
        <p14:creationId xmlns:p14="http://schemas.microsoft.com/office/powerpoint/2010/main" val="11746382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34DC1C2-7CC4-FA48-B601-A64D19A36E9E}" type="slidenum">
              <a:rPr lang="en-US"/>
              <a:pPr>
                <a:defRPr/>
              </a:pPr>
              <a:t>‹#›</a:t>
            </a:fld>
            <a:endParaRPr lang="en-US"/>
          </a:p>
        </p:txBody>
      </p:sp>
    </p:spTree>
    <p:extLst>
      <p:ext uri="{BB962C8B-B14F-4D97-AF65-F5344CB8AC3E}">
        <p14:creationId xmlns:p14="http://schemas.microsoft.com/office/powerpoint/2010/main" val="40924949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5715000"/>
            <a:ext cx="59944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5715000"/>
            <a:ext cx="59944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B24920-563D-CE44-8877-AAC4D01618FA}" type="slidenum">
              <a:rPr lang="en-US"/>
              <a:pPr>
                <a:defRPr/>
              </a:pPr>
              <a:t>‹#›</a:t>
            </a:fld>
            <a:endParaRPr lang="en-US"/>
          </a:p>
        </p:txBody>
      </p:sp>
    </p:spTree>
    <p:extLst>
      <p:ext uri="{BB962C8B-B14F-4D97-AF65-F5344CB8AC3E}">
        <p14:creationId xmlns:p14="http://schemas.microsoft.com/office/powerpoint/2010/main" val="9303299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75A74EF-C4E6-E248-8063-2B3866F47CC4}" type="slidenum">
              <a:rPr lang="en-US"/>
              <a:pPr>
                <a:defRPr/>
              </a:pPr>
              <a:t>‹#›</a:t>
            </a:fld>
            <a:endParaRPr lang="en-US"/>
          </a:p>
        </p:txBody>
      </p:sp>
    </p:spTree>
    <p:extLst>
      <p:ext uri="{BB962C8B-B14F-4D97-AF65-F5344CB8AC3E}">
        <p14:creationId xmlns:p14="http://schemas.microsoft.com/office/powerpoint/2010/main" val="18272476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517E6507-7D63-3A4C-94FE-119FBB41D64F}" type="slidenum">
              <a:rPr lang="en-US"/>
              <a:pPr>
                <a:defRPr/>
              </a:pPr>
              <a:t>‹#›</a:t>
            </a:fld>
            <a:endParaRPr lang="en-US"/>
          </a:p>
        </p:txBody>
      </p:sp>
    </p:spTree>
    <p:extLst>
      <p:ext uri="{BB962C8B-B14F-4D97-AF65-F5344CB8AC3E}">
        <p14:creationId xmlns:p14="http://schemas.microsoft.com/office/powerpoint/2010/main" val="38603747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00515487-B817-8941-BD78-0BFB5CEBFB78}" type="slidenum">
              <a:rPr lang="en-US"/>
              <a:pPr>
                <a:defRPr/>
              </a:pPr>
              <a:t>‹#›</a:t>
            </a:fld>
            <a:endParaRPr lang="en-US"/>
          </a:p>
        </p:txBody>
      </p:sp>
    </p:spTree>
    <p:extLst>
      <p:ext uri="{BB962C8B-B14F-4D97-AF65-F5344CB8AC3E}">
        <p14:creationId xmlns:p14="http://schemas.microsoft.com/office/powerpoint/2010/main" val="24811489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5EF76D0-B39F-B54A-9C6C-46B2334FEF5A}" type="slidenum">
              <a:rPr lang="en-US"/>
              <a:pPr>
                <a:defRPr/>
              </a:pPr>
              <a:t>‹#›</a:t>
            </a:fld>
            <a:endParaRPr lang="en-US"/>
          </a:p>
        </p:txBody>
      </p:sp>
    </p:spTree>
    <p:extLst>
      <p:ext uri="{BB962C8B-B14F-4D97-AF65-F5344CB8AC3E}">
        <p14:creationId xmlns:p14="http://schemas.microsoft.com/office/powerpoint/2010/main" val="40212463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CEB91D7-3910-5247-BD69-72D4F998748F}" type="slidenum">
              <a:rPr lang="en-US"/>
              <a:pPr>
                <a:defRPr/>
              </a:pPr>
              <a:t>‹#›</a:t>
            </a:fld>
            <a:endParaRPr lang="en-US"/>
          </a:p>
        </p:txBody>
      </p:sp>
    </p:spTree>
    <p:extLst>
      <p:ext uri="{BB962C8B-B14F-4D97-AF65-F5344CB8AC3E}">
        <p14:creationId xmlns:p14="http://schemas.microsoft.com/office/powerpoint/2010/main" val="39768301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48B2790-81BA-DB40-BD5C-C82A9C47D1C5}" type="slidenum">
              <a:rPr lang="en-US"/>
              <a:pPr>
                <a:defRPr/>
              </a:pPr>
              <a:t>‹#›</a:t>
            </a:fld>
            <a:endParaRPr lang="en-US"/>
          </a:p>
        </p:txBody>
      </p:sp>
    </p:spTree>
    <p:extLst>
      <p:ext uri="{BB962C8B-B14F-4D97-AF65-F5344CB8AC3E}">
        <p14:creationId xmlns:p14="http://schemas.microsoft.com/office/powerpoint/2010/main" val="19190076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0"/>
            <a:ext cx="30480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89408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32C2111-1FAC-B049-B503-287122BDCA23}" type="slidenum">
              <a:rPr lang="en-US"/>
              <a:pPr>
                <a:defRPr/>
              </a:pPr>
              <a:t>‹#›</a:t>
            </a:fld>
            <a:endParaRPr lang="en-US"/>
          </a:p>
        </p:txBody>
      </p:sp>
    </p:spTree>
    <p:extLst>
      <p:ext uri="{BB962C8B-B14F-4D97-AF65-F5344CB8AC3E}">
        <p14:creationId xmlns:p14="http://schemas.microsoft.com/office/powerpoint/2010/main" val="27631415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C8FD300-93C7-9842-B34B-A72D281C39E9}"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3C3C775-3FE5-C647-814E-28ECBB869E0F}" type="slidenum">
              <a:rPr lang="en-US"/>
              <a:pPr>
                <a:defRPr/>
              </a:pPr>
              <a:t>‹#›</a:t>
            </a:fld>
            <a:endParaRPr lang="en-US"/>
          </a:p>
        </p:txBody>
      </p:sp>
    </p:spTree>
    <p:extLst>
      <p:ext uri="{BB962C8B-B14F-4D97-AF65-F5344CB8AC3E}">
        <p14:creationId xmlns:p14="http://schemas.microsoft.com/office/powerpoint/2010/main" val="35459261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Footer Placeholder 4"/>
          <p:cNvSpPr txBox="1">
            <a:spLocks/>
          </p:cNvSpPr>
          <p:nvPr userDrawn="1"/>
        </p:nvSpPr>
        <p:spPr>
          <a:xfrm>
            <a:off x="0" y="6629400"/>
            <a:ext cx="12192000" cy="228600"/>
          </a:xfrm>
          <a:prstGeom prst="rect">
            <a:avLst/>
          </a:prstGeom>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fontAlgn="base" hangingPunct="1">
              <a:spcBef>
                <a:spcPct val="0"/>
              </a:spcBef>
              <a:spcAft>
                <a:spcPct val="0"/>
              </a:spcAft>
              <a:defRPr/>
            </a:pPr>
            <a:r>
              <a:rPr lang="en-US" sz="1200" i="1" kern="1200">
                <a:solidFill>
                  <a:prstClr val="black"/>
                </a:solidFill>
              </a:rPr>
              <a:t>Computer Networks</a:t>
            </a:r>
            <a:r>
              <a:rPr lang="en-US" sz="1200" kern="1200">
                <a:solidFill>
                  <a:prstClr val="black"/>
                </a:solidFill>
              </a:rPr>
              <a:t>, Fifth Edition by Andrew Tanenbaum and David Wetherall, © Pearson Education-Prentice Hall, 2011</a:t>
            </a:r>
          </a:p>
          <a:p>
            <a:pPr eaLnBrk="1" fontAlgn="base" hangingPunct="1">
              <a:spcBef>
                <a:spcPct val="0"/>
              </a:spcBef>
              <a:spcAft>
                <a:spcPct val="0"/>
              </a:spcAft>
              <a:defRPr/>
            </a:pPr>
            <a:endParaRPr lang="en-US" sz="1200" kern="1200">
              <a:solidFill>
                <a:prstClr val="black"/>
              </a:solidFill>
            </a:endParaRPr>
          </a:p>
        </p:txBody>
      </p:sp>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0"/>
          </p:nvPr>
        </p:nvSpPr>
        <p:spPr>
          <a:xfrm>
            <a:off x="0" y="6629400"/>
            <a:ext cx="12192000" cy="228600"/>
          </a:xfrm>
        </p:spPr>
        <p:txBody>
          <a:bodyPr/>
          <a:lstStyle>
            <a:lvl1pPr>
              <a:defRPr i="1">
                <a:solidFill>
                  <a:schemeClr val="tx1"/>
                </a:solidFill>
                <a:latin typeface="Arial" charset="0"/>
              </a:defRPr>
            </a:lvl1pPr>
          </a:lstStyle>
          <a:p>
            <a:pPr>
              <a:defRPr/>
            </a:pPr>
            <a:r>
              <a:rPr lang="en-US">
                <a:solidFill>
                  <a:prstClr val="black"/>
                </a:solidFill>
              </a:rPr>
              <a:t>Computer Networks, Fifth Edition by Andrew Tanenbaum and David Wetherall, © Pearson Education-Prentice Hall, 2011</a:t>
            </a:r>
          </a:p>
          <a:p>
            <a:pPr>
              <a:defRPr/>
            </a:pPr>
            <a:endParaRPr lang="en-US">
              <a:solidFill>
                <a:prstClr val="black"/>
              </a:solidFill>
            </a:endParaRPr>
          </a:p>
        </p:txBody>
      </p:sp>
    </p:spTree>
    <p:extLst>
      <p:ext uri="{BB962C8B-B14F-4D97-AF65-F5344CB8AC3E}">
        <p14:creationId xmlns:p14="http://schemas.microsoft.com/office/powerpoint/2010/main" val="21858824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4812938-AC5B-6A4D-B111-12AB697D953A}"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A5D0534-EF16-E34B-84A9-7B2D9D966D70}" type="slidenum">
              <a:rPr lang="en-US"/>
              <a:pPr>
                <a:defRPr/>
              </a:pPr>
              <a:t>‹#›</a:t>
            </a:fld>
            <a:endParaRPr lang="en-US"/>
          </a:p>
        </p:txBody>
      </p:sp>
    </p:spTree>
    <p:extLst>
      <p:ext uri="{BB962C8B-B14F-4D97-AF65-F5344CB8AC3E}">
        <p14:creationId xmlns:p14="http://schemas.microsoft.com/office/powerpoint/2010/main" val="11598044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2F152D3-BE24-9E4E-91AC-371B547643BF}"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7F94F26-CF64-F849-8975-7B3C533EB935}" type="slidenum">
              <a:rPr lang="en-US"/>
              <a:pPr>
                <a:defRPr/>
              </a:pPr>
              <a:t>‹#›</a:t>
            </a:fld>
            <a:endParaRPr lang="en-US"/>
          </a:p>
        </p:txBody>
      </p:sp>
    </p:spTree>
    <p:extLst>
      <p:ext uri="{BB962C8B-B14F-4D97-AF65-F5344CB8AC3E}">
        <p14:creationId xmlns:p14="http://schemas.microsoft.com/office/powerpoint/2010/main" val="475456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3E1BD79-8CFA-3E40-9C2A-5B64599C1930}" type="datetimeFigureOut">
              <a:rPr lang="en-US"/>
              <a:pPr>
                <a:defRPr/>
              </a:pPr>
              <a:t>1/14/26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6149616-4901-5143-B0ED-B9A9F43E47A8}" type="slidenum">
              <a:rPr lang="en-US"/>
              <a:pPr>
                <a:defRPr/>
              </a:pPr>
              <a:t>‹#›</a:t>
            </a:fld>
            <a:endParaRPr lang="en-US"/>
          </a:p>
        </p:txBody>
      </p:sp>
    </p:spTree>
    <p:extLst>
      <p:ext uri="{BB962C8B-B14F-4D97-AF65-F5344CB8AC3E}">
        <p14:creationId xmlns:p14="http://schemas.microsoft.com/office/powerpoint/2010/main" val="321715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B31949B-E578-3A4F-9C2D-556281491306}" type="datetimeFigureOut">
              <a:rPr lang="en-US"/>
              <a:pPr>
                <a:defRPr/>
              </a:pPr>
              <a:t>1/14/26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0ED7C2E-7D12-1649-A3EA-62069EE63315}" type="slidenum">
              <a:rPr lang="en-US"/>
              <a:pPr>
                <a:defRPr/>
              </a:pPr>
              <a:t>‹#›</a:t>
            </a:fld>
            <a:endParaRPr lang="en-US"/>
          </a:p>
        </p:txBody>
      </p:sp>
    </p:spTree>
    <p:extLst>
      <p:ext uri="{BB962C8B-B14F-4D97-AF65-F5344CB8AC3E}">
        <p14:creationId xmlns:p14="http://schemas.microsoft.com/office/powerpoint/2010/main" val="767758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A4C47C5-52AB-3446-8E75-C8047F01F19C}" type="datetimeFigureOut">
              <a:rPr lang="en-US"/>
              <a:pPr>
                <a:defRPr/>
              </a:pPr>
              <a:t>1/14/26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149992C-F5BB-F84F-9B69-23B3EEC249A0}" type="slidenum">
              <a:rPr lang="en-US"/>
              <a:pPr>
                <a:defRPr/>
              </a:pPr>
              <a:t>‹#›</a:t>
            </a:fld>
            <a:endParaRPr lang="en-US"/>
          </a:p>
        </p:txBody>
      </p:sp>
    </p:spTree>
    <p:extLst>
      <p:ext uri="{BB962C8B-B14F-4D97-AF65-F5344CB8AC3E}">
        <p14:creationId xmlns:p14="http://schemas.microsoft.com/office/powerpoint/2010/main" val="4884616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B328D7D-9C36-834C-B9A1-AE7EF5DD1BEC}"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C0E3D64-9913-B340-B46B-6D712D265567}" type="slidenum">
              <a:rPr lang="en-US"/>
              <a:pPr>
                <a:defRPr/>
              </a:pPr>
              <a:t>‹#›</a:t>
            </a:fld>
            <a:endParaRPr lang="en-US"/>
          </a:p>
        </p:txBody>
      </p:sp>
    </p:spTree>
    <p:extLst>
      <p:ext uri="{BB962C8B-B14F-4D97-AF65-F5344CB8AC3E}">
        <p14:creationId xmlns:p14="http://schemas.microsoft.com/office/powerpoint/2010/main" val="33346948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4510851-555A-8442-A053-39521EBF58B7}"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7781F4C-7CD8-954B-9A82-435817732C45}" type="slidenum">
              <a:rPr lang="en-US"/>
              <a:pPr>
                <a:defRPr/>
              </a:pPr>
              <a:t>‹#›</a:t>
            </a:fld>
            <a:endParaRPr lang="en-US"/>
          </a:p>
        </p:txBody>
      </p:sp>
    </p:spTree>
    <p:extLst>
      <p:ext uri="{BB962C8B-B14F-4D97-AF65-F5344CB8AC3E}">
        <p14:creationId xmlns:p14="http://schemas.microsoft.com/office/powerpoint/2010/main" val="5656684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8DAD0F8-13D7-E749-92B2-349334226A0D}"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E632E1F-9F76-A146-97E2-E9FD135B1382}" type="slidenum">
              <a:rPr lang="en-US"/>
              <a:pPr>
                <a:defRPr/>
              </a:pPr>
              <a:t>‹#›</a:t>
            </a:fld>
            <a:endParaRPr lang="en-US"/>
          </a:p>
        </p:txBody>
      </p:sp>
    </p:spTree>
    <p:extLst>
      <p:ext uri="{BB962C8B-B14F-4D97-AF65-F5344CB8AC3E}">
        <p14:creationId xmlns:p14="http://schemas.microsoft.com/office/powerpoint/2010/main" val="8997454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67F3B14-630D-4340-9F91-3A617180C0D1}"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DA9EA78-28D4-2640-8795-DE278063EDC7}" type="slidenum">
              <a:rPr lang="en-US"/>
              <a:pPr>
                <a:defRPr/>
              </a:pPr>
              <a:t>‹#›</a:t>
            </a:fld>
            <a:endParaRPr lang="en-US"/>
          </a:p>
        </p:txBody>
      </p:sp>
    </p:spTree>
    <p:extLst>
      <p:ext uri="{BB962C8B-B14F-4D97-AF65-F5344CB8AC3E}">
        <p14:creationId xmlns:p14="http://schemas.microsoft.com/office/powerpoint/2010/main" val="20085309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10972800" cy="1066800"/>
          </a:xfrm>
        </p:spPr>
        <p:txBody>
          <a:bodyPr/>
          <a:lstStyle/>
          <a:p>
            <a:r>
              <a:rPr lang="en-US"/>
              <a:t>Click to edit Master title style</a:t>
            </a:r>
          </a:p>
        </p:txBody>
      </p:sp>
      <p:sp>
        <p:nvSpPr>
          <p:cNvPr id="3" name="Content Placeholder 2"/>
          <p:cNvSpPr>
            <a:spLocks noGrp="1"/>
          </p:cNvSpPr>
          <p:nvPr>
            <p:ph idx="1"/>
          </p:nvPr>
        </p:nvSpPr>
        <p:spPr>
          <a:xfrm>
            <a:off x="1524000" y="1828801"/>
            <a:ext cx="10058400" cy="42973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AF553548-90E5-A14A-B9CC-F608B4658BB5}"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8636000" y="6218240"/>
            <a:ext cx="2844800" cy="365125"/>
          </a:xfrm>
        </p:spPr>
        <p:txBody>
          <a:bodyPr/>
          <a:lstStyle>
            <a:lvl1pPr>
              <a:defRPr/>
            </a:lvl1pPr>
          </a:lstStyle>
          <a:p>
            <a:pPr>
              <a:defRPr/>
            </a:pPr>
            <a:fld id="{27F74531-C250-9040-87CC-FF728AD81F09}" type="slidenum">
              <a:rPr lang="en-US"/>
              <a:pPr>
                <a:defRPr/>
              </a:pPr>
              <a:t>‹#›</a:t>
            </a:fld>
            <a:endParaRPr lang="en-US"/>
          </a:p>
        </p:txBody>
      </p:sp>
    </p:spTree>
    <p:extLst>
      <p:ext uri="{BB962C8B-B14F-4D97-AF65-F5344CB8AC3E}">
        <p14:creationId xmlns:p14="http://schemas.microsoft.com/office/powerpoint/2010/main" val="24157666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Shape 18"/>
          <p:cNvSpPr/>
          <p:nvPr/>
        </p:nvSpPr>
        <p:spPr>
          <a:xfrm>
            <a:off x="0" y="0"/>
            <a:ext cx="12192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fontAlgn="auto">
              <a:spcBef>
                <a:spcPts val="0"/>
              </a:spcBef>
              <a:spcAft>
                <a:spcPts val="0"/>
              </a:spcAft>
              <a:defRPr/>
            </a:pPr>
            <a:endParaRPr sz="1800" kern="0" dirty="0">
              <a:solidFill>
                <a:srgbClr val="FFFFFF"/>
              </a:solidFill>
              <a:latin typeface="Arial"/>
              <a:ea typeface="Arial"/>
              <a:cs typeface="Arial"/>
              <a:sym typeface="Arial"/>
            </a:endParaRPr>
          </a:p>
        </p:txBody>
      </p:sp>
      <p:sp>
        <p:nvSpPr>
          <p:cNvPr id="19" name="Shape 19"/>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dirty="0">
              <a:solidFill>
                <a:srgbClr val="000000"/>
              </a:solidFill>
            </a:endParaRPr>
          </a:p>
        </p:txBody>
      </p:sp>
      <p:sp>
        <p:nvSpPr>
          <p:cNvPr id="22" name="Shape 2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dirty="0">
              <a:solidFill>
                <a:srgbClr val="FFFFFF"/>
              </a:solidFill>
            </a:endParaRPr>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defRPr/>
            </a:pPr>
            <a:fld id="{00000000-1234-1234-1234-123412341234}" type="slidenum">
              <a:rPr lang="en-US" sz="900">
                <a:solidFill>
                  <a:srgbClr val="FFFFFF"/>
                </a:solidFill>
              </a:rPr>
              <a:pPr algn="r">
                <a:buSzPct val="25000"/>
                <a:defRPr/>
              </a:pPr>
              <a:t>‹#›</a:t>
            </a:fld>
            <a:endParaRPr lang="en-US" sz="900" dirty="0">
              <a:solidFill>
                <a:srgbClr val="FFFFFF"/>
              </a:solidFill>
            </a:endParaRPr>
          </a:p>
        </p:txBody>
      </p:sp>
    </p:spTree>
    <p:extLst>
      <p:ext uri="{BB962C8B-B14F-4D97-AF65-F5344CB8AC3E}">
        <p14:creationId xmlns:p14="http://schemas.microsoft.com/office/powerpoint/2010/main" val="20447234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609600" y="1600201"/>
            <a:ext cx="109728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20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US" dirty="0"/>
          </a:p>
          <a:p>
            <a:pPr lvl="1"/>
            <a:endParaRPr lang="en-US" sz="2000" dirty="0"/>
          </a:p>
          <a:p>
            <a:pPr lvl="2"/>
            <a:endParaRPr lang="en-US" dirty="0"/>
          </a:p>
          <a:p>
            <a:pPr lvl="1"/>
            <a:endParaRPr lang="en-US" dirty="0"/>
          </a:p>
          <a:p>
            <a:pPr lvl="2"/>
            <a:endParaRPr dirty="0"/>
          </a:p>
        </p:txBody>
      </p:sp>
      <p:sp>
        <p:nvSpPr>
          <p:cNvPr id="27" name="Shape 27"/>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28" name="Shape 28"/>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29" name="Shape 29"/>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237462078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a:lstStyle/>
          <a:p>
            <a:pPr lvl="0"/>
            <a:r>
              <a:rPr lang="en-US" dirty="0"/>
              <a:t>Edit Master text styles</a:t>
            </a:r>
          </a:p>
        </p:txBody>
      </p:sp>
    </p:spTree>
    <p:extLst>
      <p:ext uri="{BB962C8B-B14F-4D97-AF65-F5344CB8AC3E}">
        <p14:creationId xmlns:p14="http://schemas.microsoft.com/office/powerpoint/2010/main" val="40887289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609600" y="816429"/>
            <a:ext cx="109728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3" name="Picture Placeholder 2">
            <a:extLst>
              <a:ext uri="{FF2B5EF4-FFF2-40B4-BE49-F238E27FC236}">
                <a16:creationId xmlns:a16="http://schemas.microsoft.com/office/drawing/2014/main" id="{0321E090-1CF7-424F-AB1C-A74C4C5178D1}"/>
              </a:ext>
            </a:extLst>
          </p:cNvPr>
          <p:cNvSpPr>
            <a:spLocks noGrp="1"/>
          </p:cNvSpPr>
          <p:nvPr>
            <p:ph type="pic" sz="quarter" idx="13"/>
          </p:nvPr>
        </p:nvSpPr>
        <p:spPr>
          <a:xfrm>
            <a:off x="609601" y="1600200"/>
            <a:ext cx="5814484" cy="4565650"/>
          </a:xfrm>
        </p:spPr>
        <p:txBody>
          <a:bodyPr/>
          <a:lstStyle/>
          <a:p>
            <a:endParaRPr lang="en-US" dirty="0"/>
          </a:p>
        </p:txBody>
      </p:sp>
      <p:sp>
        <p:nvSpPr>
          <p:cNvPr id="40" name="Shape 40"/>
          <p:cNvSpPr txBox="1">
            <a:spLocks noGrp="1"/>
          </p:cNvSpPr>
          <p:nvPr>
            <p:ph type="body" idx="2"/>
          </p:nvPr>
        </p:nvSpPr>
        <p:spPr>
          <a:xfrm>
            <a:off x="6705600" y="1600200"/>
            <a:ext cx="48768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6705600" y="3200401"/>
            <a:ext cx="48768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125293" y="6165337"/>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43" name="Shape 43"/>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44" name="Shape 4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11425177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609600" y="228601"/>
            <a:ext cx="109728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609600" y="5050972"/>
            <a:ext cx="109728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pPr algn="r">
                <a:buSzPct val="25000"/>
              </a:pPr>
              <a:t>‹#›</a:t>
            </a:fld>
            <a:endParaRPr lang="en-US" sz="900"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609601" y="1512889"/>
            <a:ext cx="10977033" cy="3417887"/>
          </a:xfrm>
        </p:spPr>
        <p:txBody>
          <a:bodyPr/>
          <a:lstStyle/>
          <a:p>
            <a:endParaRPr lang="en-US" dirty="0"/>
          </a:p>
        </p:txBody>
      </p:sp>
    </p:spTree>
    <p:extLst>
      <p:ext uri="{BB962C8B-B14F-4D97-AF65-F5344CB8AC3E}">
        <p14:creationId xmlns:p14="http://schemas.microsoft.com/office/powerpoint/2010/main" val="18439307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609600" y="1481139"/>
            <a:ext cx="5979584"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6923617" y="1481139"/>
            <a:ext cx="4790016" cy="3754437"/>
          </a:xfrm>
        </p:spPr>
        <p:txBody>
          <a:bodyPr/>
          <a:lstStyle/>
          <a:p>
            <a:endParaRPr lang="en-US" dirty="0"/>
          </a:p>
        </p:txBody>
      </p:sp>
      <p:sp>
        <p:nvSpPr>
          <p:cNvPr id="11" name="Text Placeholder 10">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6923617" y="5399089"/>
            <a:ext cx="4790016" cy="490537"/>
          </a:xfrm>
        </p:spPr>
        <p:txBody>
          <a:bodyPr/>
          <a:lstStyle>
            <a:lvl1pPr marL="101600" indent="0">
              <a:buNone/>
              <a:defRPr sz="1200"/>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solidFill>
                <a:srgbClr val="FFFFFF"/>
              </a:solidFill>
            </a:endParaRPr>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algn="r">
              <a:buSzPct val="25000"/>
            </a:pPr>
            <a:fld id="{00000000-1234-1234-1234-123412341234}" type="slidenum">
              <a:rPr lang="en-US" sz="900" smtClean="0">
                <a:solidFill>
                  <a:srgbClr val="FFFFFF"/>
                </a:solidFill>
              </a:rPr>
              <a:pPr algn="r">
                <a:buSzPct val="25000"/>
              </a:pPr>
              <a:t>‹#›</a:t>
            </a:fld>
            <a:endParaRPr lang="en-US" sz="900" dirty="0">
              <a:solidFill>
                <a:srgbClr val="FFFFFF"/>
              </a:solidFil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solidFill>
                <a:srgbClr val="000000">
                  <a:tint val="75000"/>
                </a:srgbClr>
              </a:solidFill>
            </a:endParaRPr>
          </a:p>
        </p:txBody>
      </p:sp>
    </p:spTree>
    <p:extLst>
      <p:ext uri="{BB962C8B-B14F-4D97-AF65-F5344CB8AC3E}">
        <p14:creationId xmlns:p14="http://schemas.microsoft.com/office/powerpoint/2010/main" val="28053520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hasCustomPrompt="1"/>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63" name="Shape 63"/>
          <p:cNvSpPr txBox="1">
            <a:spLocks noGrp="1"/>
          </p:cNvSpPr>
          <p:nvPr>
            <p:ph type="body" idx="1" hasCustomPrompt="1"/>
          </p:nvPr>
        </p:nvSpPr>
        <p:spPr>
          <a:xfrm>
            <a:off x="609600" y="816430"/>
            <a:ext cx="109728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r>
              <a:rPr lang="en-US" dirty="0"/>
              <a:t>Click to add Learning Objective(s)</a:t>
            </a:r>
            <a:endParaRPr dirty="0"/>
          </a:p>
        </p:txBody>
      </p:sp>
      <p:sp>
        <p:nvSpPr>
          <p:cNvPr id="64" name="Shape 64"/>
          <p:cNvSpPr txBox="1">
            <a:spLocks noGrp="1"/>
          </p:cNvSpPr>
          <p:nvPr>
            <p:ph type="body" idx="2"/>
          </p:nvPr>
        </p:nvSpPr>
        <p:spPr>
          <a:xfrm>
            <a:off x="609600" y="1358679"/>
            <a:ext cx="10972800" cy="4767485"/>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20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US" dirty="0"/>
          </a:p>
          <a:p>
            <a:pPr lvl="1"/>
            <a:endParaRPr lang="en-US" sz="2000" dirty="0"/>
          </a:p>
          <a:p>
            <a:pPr lvl="2"/>
            <a:endParaRPr dirty="0"/>
          </a:p>
        </p:txBody>
      </p:sp>
      <p:sp>
        <p:nvSpPr>
          <p:cNvPr id="65" name="Shape 65"/>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66" name="Shape 66"/>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67" name="Shape 67"/>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40636153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914400" y="1447801"/>
            <a:ext cx="103632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899583" y="3962400"/>
            <a:ext cx="1039283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72" name="Shape 7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73" name="Shape 7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347813438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77" name="Shape 7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78" name="Shape 7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140176206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3977218" y="4359276"/>
            <a:ext cx="4643967"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3977217" y="1681163"/>
            <a:ext cx="4643967"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1077479" y="1681163"/>
            <a:ext cx="2609851"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1096433" y="2643044"/>
            <a:ext cx="2609851"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1096433" y="3613151"/>
            <a:ext cx="2609851"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8972549" y="1681163"/>
            <a:ext cx="2609851"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8972552" y="2651910"/>
            <a:ext cx="2609849"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8972552" y="3613152"/>
            <a:ext cx="2609849" cy="627063"/>
          </a:xfrm>
        </p:spPr>
        <p:txBody>
          <a:bodyPr/>
          <a:lstStyle>
            <a:lvl1pPr marL="101600" indent="0">
              <a:buNone/>
              <a:defRPr/>
            </a:lvl1pPr>
          </a:lstStyle>
          <a:p>
            <a:pPr lvl="0"/>
            <a:r>
              <a:rPr lang="en-US" dirty="0"/>
              <a:t>Label 6</a:t>
            </a:r>
          </a:p>
        </p:txBody>
      </p:sp>
      <p:sp>
        <p:nvSpPr>
          <p:cNvPr id="5" name="Footer Placeholder 4">
            <a:extLst>
              <a:ext uri="{FF2B5EF4-FFF2-40B4-BE49-F238E27FC236}">
                <a16:creationId xmlns:a16="http://schemas.microsoft.com/office/drawing/2014/main" id="{237B7866-709E-4B26-BCD7-5CF284C134CA}"/>
              </a:ext>
            </a:extLst>
          </p:cNvPr>
          <p:cNvSpPr>
            <a:spLocks noGrp="1"/>
          </p:cNvSpPr>
          <p:nvPr>
            <p:ph type="ftr" sz="quarter" idx="12"/>
          </p:nvPr>
        </p:nvSpPr>
        <p:spPr/>
        <p:txBody>
          <a:bodyPr/>
          <a:lstStyle/>
          <a:p>
            <a:endParaRPr lang="en-US" dirty="0">
              <a:solidFill>
                <a:srgbClr val="000000">
                  <a:tint val="75000"/>
                </a:srgbClr>
              </a:solidFill>
            </a:endParaRPr>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algn="r">
              <a:buSzPct val="25000"/>
            </a:pPr>
            <a:fld id="{00000000-1234-1234-1234-123412341234}" type="slidenum">
              <a:rPr lang="en-US" sz="900" smtClean="0">
                <a:solidFill>
                  <a:srgbClr val="FFFFFF"/>
                </a:solidFill>
              </a:rPr>
              <a:pPr algn="r">
                <a:buSzPct val="25000"/>
              </a:pPr>
              <a:t>‹#›</a:t>
            </a:fld>
            <a:endParaRPr lang="en-US" sz="900" dirty="0">
              <a:solidFill>
                <a:srgbClr val="FFFFFF"/>
              </a:solidFill>
            </a:endParaRP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solidFill>
                <a:srgbClr val="FFFFFF"/>
              </a:solidFill>
            </a:endParaRPr>
          </a:p>
        </p:txBody>
      </p:sp>
    </p:spTree>
    <p:extLst>
      <p:ext uri="{BB962C8B-B14F-4D97-AF65-F5344CB8AC3E}">
        <p14:creationId xmlns:p14="http://schemas.microsoft.com/office/powerpoint/2010/main" val="17695567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609602" y="4392614"/>
            <a:ext cx="2809764"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609600" y="1817688"/>
            <a:ext cx="2809765"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3699497" y="1794947"/>
            <a:ext cx="204615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3699497" y="2707482"/>
            <a:ext cx="204615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3699497" y="3597276"/>
            <a:ext cx="204615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6575462" y="4347440"/>
            <a:ext cx="2809764"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6575462" y="1806537"/>
            <a:ext cx="2809764"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9739441" y="1794947"/>
            <a:ext cx="204615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9739439" y="2707481"/>
            <a:ext cx="204615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9739439" y="3579818"/>
            <a:ext cx="2046160" cy="608524"/>
          </a:xfrm>
        </p:spPr>
        <p:txBody>
          <a:bodyPr/>
          <a:lstStyle>
            <a:lvl1pPr marL="101600" indent="0">
              <a:buNone/>
              <a:defRPr/>
            </a:lvl1pPr>
          </a:lstStyle>
          <a:p>
            <a:pPr lvl="0"/>
            <a:r>
              <a:rPr lang="en-US" dirty="0"/>
              <a:t>Label 2.3</a:t>
            </a:r>
          </a:p>
        </p:txBody>
      </p:sp>
      <p:sp>
        <p:nvSpPr>
          <p:cNvPr id="5" name="Footer Placeholder 4">
            <a:extLst>
              <a:ext uri="{FF2B5EF4-FFF2-40B4-BE49-F238E27FC236}">
                <a16:creationId xmlns:a16="http://schemas.microsoft.com/office/drawing/2014/main" id="{E2476705-5AD3-4E05-9DCF-CA01EBF96B12}"/>
              </a:ext>
            </a:extLst>
          </p:cNvPr>
          <p:cNvSpPr>
            <a:spLocks noGrp="1"/>
          </p:cNvSpPr>
          <p:nvPr>
            <p:ph type="ftr" sz="quarter" idx="12"/>
          </p:nvPr>
        </p:nvSpPr>
        <p:spPr/>
        <p:txBody>
          <a:bodyPr/>
          <a:lstStyle/>
          <a:p>
            <a:endParaRPr lang="en-US" dirty="0">
              <a:solidFill>
                <a:srgbClr val="000000">
                  <a:tint val="75000"/>
                </a:srgbClr>
              </a:solidFill>
            </a:endParaRPr>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algn="r">
              <a:buSzPct val="25000"/>
            </a:pPr>
            <a:fld id="{00000000-1234-1234-1234-123412341234}" type="slidenum">
              <a:rPr lang="en-US" sz="900" smtClean="0">
                <a:solidFill>
                  <a:srgbClr val="FFFFFF"/>
                </a:solidFill>
              </a:rPr>
              <a:pPr algn="r">
                <a:buSzPct val="25000"/>
              </a:pPr>
              <a:t>‹#›</a:t>
            </a:fld>
            <a:endParaRPr lang="en-US" sz="900" dirty="0">
              <a:solidFill>
                <a:srgbClr val="FFFFFF"/>
              </a:solidFill>
            </a:endParaRP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solidFill>
                <a:srgbClr val="FFFFFF"/>
              </a:solidFill>
            </a:endParaRPr>
          </a:p>
        </p:txBody>
      </p:sp>
    </p:spTree>
    <p:extLst>
      <p:ext uri="{BB962C8B-B14F-4D97-AF65-F5344CB8AC3E}">
        <p14:creationId xmlns:p14="http://schemas.microsoft.com/office/powerpoint/2010/main" val="21611689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81" name="Shape 81"/>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82" name="Shape 82"/>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pPr algn="r">
                <a:buSzPct val="25000"/>
              </a:pPr>
              <a:t>‹#›</a:t>
            </a:fld>
            <a:endParaRPr lang="en-US" sz="900" dirty="0"/>
          </a:p>
        </p:txBody>
      </p:sp>
    </p:spTree>
    <p:extLst>
      <p:ext uri="{BB962C8B-B14F-4D97-AF65-F5344CB8AC3E}">
        <p14:creationId xmlns:p14="http://schemas.microsoft.com/office/powerpoint/2010/main" val="17893231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094A776-6C6A-9E44-AEC1-ECABDD03DDBB}" type="slidenum">
              <a:rPr lang="en-US"/>
              <a:pPr>
                <a:defRPr/>
              </a:pPr>
              <a:t>‹#›</a:t>
            </a:fld>
            <a:endParaRPr lang="en-US"/>
          </a:p>
        </p:txBody>
      </p:sp>
    </p:spTree>
    <p:extLst>
      <p:ext uri="{BB962C8B-B14F-4D97-AF65-F5344CB8AC3E}">
        <p14:creationId xmlns:p14="http://schemas.microsoft.com/office/powerpoint/2010/main" val="92622146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8D92EA6-21AB-A04C-B28C-742B0B41C4C2}" type="slidenum">
              <a:rPr lang="en-US"/>
              <a:pPr>
                <a:defRPr/>
              </a:pPr>
              <a:t>‹#›</a:t>
            </a:fld>
            <a:endParaRPr lang="en-US"/>
          </a:p>
        </p:txBody>
      </p:sp>
    </p:spTree>
    <p:extLst>
      <p:ext uri="{BB962C8B-B14F-4D97-AF65-F5344CB8AC3E}">
        <p14:creationId xmlns:p14="http://schemas.microsoft.com/office/powerpoint/2010/main" val="35158632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82A9B97-EAF2-2241-B7C2-2B1E03F51C58}" type="slidenum">
              <a:rPr lang="en-US"/>
              <a:pPr>
                <a:defRPr/>
              </a:pPr>
              <a:t>‹#›</a:t>
            </a:fld>
            <a:endParaRPr lang="en-US"/>
          </a:p>
        </p:txBody>
      </p:sp>
    </p:spTree>
    <p:extLst>
      <p:ext uri="{BB962C8B-B14F-4D97-AF65-F5344CB8AC3E}">
        <p14:creationId xmlns:p14="http://schemas.microsoft.com/office/powerpoint/2010/main" val="379387176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5715000"/>
            <a:ext cx="59944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5715000"/>
            <a:ext cx="59944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67CDA5-07D8-9943-983B-9AF433C105E2}" type="slidenum">
              <a:rPr lang="en-US"/>
              <a:pPr>
                <a:defRPr/>
              </a:pPr>
              <a:t>‹#›</a:t>
            </a:fld>
            <a:endParaRPr lang="en-US"/>
          </a:p>
        </p:txBody>
      </p:sp>
    </p:spTree>
    <p:extLst>
      <p:ext uri="{BB962C8B-B14F-4D97-AF65-F5344CB8AC3E}">
        <p14:creationId xmlns:p14="http://schemas.microsoft.com/office/powerpoint/2010/main" val="340066560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5F7B0B7-41D9-0345-B4A9-8709EE343242}" type="slidenum">
              <a:rPr lang="en-US"/>
              <a:pPr>
                <a:defRPr/>
              </a:pPr>
              <a:t>‹#›</a:t>
            </a:fld>
            <a:endParaRPr lang="en-US"/>
          </a:p>
        </p:txBody>
      </p:sp>
    </p:spTree>
    <p:extLst>
      <p:ext uri="{BB962C8B-B14F-4D97-AF65-F5344CB8AC3E}">
        <p14:creationId xmlns:p14="http://schemas.microsoft.com/office/powerpoint/2010/main" val="215957638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9E5567B-BC49-8B4E-B74C-BF9188D44054}" type="slidenum">
              <a:rPr lang="en-US"/>
              <a:pPr>
                <a:defRPr/>
              </a:pPr>
              <a:t>‹#›</a:t>
            </a:fld>
            <a:endParaRPr lang="en-US"/>
          </a:p>
        </p:txBody>
      </p:sp>
    </p:spTree>
    <p:extLst>
      <p:ext uri="{BB962C8B-B14F-4D97-AF65-F5344CB8AC3E}">
        <p14:creationId xmlns:p14="http://schemas.microsoft.com/office/powerpoint/2010/main" val="235115063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DD996761-18DD-5640-9A5F-E0611D04B447}" type="slidenum">
              <a:rPr lang="en-US"/>
              <a:pPr>
                <a:defRPr/>
              </a:pPr>
              <a:t>‹#›</a:t>
            </a:fld>
            <a:endParaRPr lang="en-US"/>
          </a:p>
        </p:txBody>
      </p:sp>
    </p:spTree>
    <p:extLst>
      <p:ext uri="{BB962C8B-B14F-4D97-AF65-F5344CB8AC3E}">
        <p14:creationId xmlns:p14="http://schemas.microsoft.com/office/powerpoint/2010/main" val="36332854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B02EA3-A4F7-E84C-830B-D02AD14B33F2}" type="slidenum">
              <a:rPr lang="en-US"/>
              <a:pPr>
                <a:defRPr/>
              </a:pPr>
              <a:t>‹#›</a:t>
            </a:fld>
            <a:endParaRPr lang="en-US"/>
          </a:p>
        </p:txBody>
      </p:sp>
    </p:spTree>
    <p:extLst>
      <p:ext uri="{BB962C8B-B14F-4D97-AF65-F5344CB8AC3E}">
        <p14:creationId xmlns:p14="http://schemas.microsoft.com/office/powerpoint/2010/main" val="93744507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5580FE2-549F-BA45-AB5E-9F3E76294165}" type="slidenum">
              <a:rPr lang="en-US"/>
              <a:pPr>
                <a:defRPr/>
              </a:pPr>
              <a:t>‹#›</a:t>
            </a:fld>
            <a:endParaRPr lang="en-US"/>
          </a:p>
        </p:txBody>
      </p:sp>
    </p:spTree>
    <p:extLst>
      <p:ext uri="{BB962C8B-B14F-4D97-AF65-F5344CB8AC3E}">
        <p14:creationId xmlns:p14="http://schemas.microsoft.com/office/powerpoint/2010/main" val="13572513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D559537-D4B1-F34D-8DC8-910D724D352B}" type="slidenum">
              <a:rPr lang="en-US"/>
              <a:pPr>
                <a:defRPr/>
              </a:pPr>
              <a:t>‹#›</a:t>
            </a:fld>
            <a:endParaRPr lang="en-US"/>
          </a:p>
        </p:txBody>
      </p:sp>
    </p:spTree>
    <p:extLst>
      <p:ext uri="{BB962C8B-B14F-4D97-AF65-F5344CB8AC3E}">
        <p14:creationId xmlns:p14="http://schemas.microsoft.com/office/powerpoint/2010/main" val="374036161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0"/>
            <a:ext cx="30480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89408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6D67E05-6183-904B-8F56-6171AA4A246B}" type="slidenum">
              <a:rPr lang="en-US"/>
              <a:pPr>
                <a:defRPr/>
              </a:pPr>
              <a:t>‹#›</a:t>
            </a:fld>
            <a:endParaRPr lang="en-US"/>
          </a:p>
        </p:txBody>
      </p:sp>
    </p:spTree>
    <p:extLst>
      <p:ext uri="{BB962C8B-B14F-4D97-AF65-F5344CB8AC3E}">
        <p14:creationId xmlns:p14="http://schemas.microsoft.com/office/powerpoint/2010/main" val="2190604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theme" Target="../theme/theme7.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B48F56-95E7-FF28-E6E1-C604C4625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03EF74-6761-DC65-B0B7-8678C3B99B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9A67A7-EEE0-9A98-C8F8-0E64C3BDAE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284871-8B04-DF48-832C-F199D02F0B47}" type="datetimeFigureOut">
              <a:rPr lang="en-US" smtClean="0"/>
              <a:t>1/14/26</a:t>
            </a:fld>
            <a:endParaRPr lang="en-US"/>
          </a:p>
        </p:txBody>
      </p:sp>
      <p:sp>
        <p:nvSpPr>
          <p:cNvPr id="5" name="Footer Placeholder 4">
            <a:extLst>
              <a:ext uri="{FF2B5EF4-FFF2-40B4-BE49-F238E27FC236}">
                <a16:creationId xmlns:a16="http://schemas.microsoft.com/office/drawing/2014/main" id="{572291B6-A221-55D0-F6EF-0136B7C4C4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CFFEF0-A23C-A496-7B0C-C0B78D00CD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ADB4F1-7BDA-8D48-B6CD-C213C6708002}" type="slidenum">
              <a:rPr lang="en-US" smtClean="0"/>
              <a:t>‹#›</a:t>
            </a:fld>
            <a:endParaRPr lang="en-US"/>
          </a:p>
        </p:txBody>
      </p:sp>
    </p:spTree>
    <p:extLst>
      <p:ext uri="{BB962C8B-B14F-4D97-AF65-F5344CB8AC3E}">
        <p14:creationId xmlns:p14="http://schemas.microsoft.com/office/powerpoint/2010/main" val="2341824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a:cs typeface="Times New Roman"/>
              </a:defRPr>
            </a:lvl1pPr>
          </a:lstStyle>
          <a:p>
            <a:pPr defTabSz="457200"/>
            <a:fld id="{20EB0868-E013-F149-8683-6742952D6AF9}" type="datetimeFigureOut">
              <a:rPr lang="en-US" smtClean="0">
                <a:solidFill>
                  <a:prstClr val="black">
                    <a:tint val="75000"/>
                  </a:prstClr>
                </a:solidFill>
              </a:rPr>
              <a:pPr defTabSz="457200"/>
              <a:t>1/14/26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a:cs typeface="Times New Roman"/>
              </a:defRPr>
            </a:lvl1pPr>
          </a:lstStyle>
          <a:p>
            <a:pPr defTabSz="457200"/>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a:cs typeface="Times New Roman"/>
              </a:defRPr>
            </a:lvl1pPr>
          </a:lstStyle>
          <a:p>
            <a:pPr defTabSz="457200"/>
            <a:fld id="{D144420A-D55A-C642-8060-B29361CE03B8}" type="slidenum">
              <a:rPr lang="en-US" smtClean="0">
                <a:solidFill>
                  <a:prstClr val="black">
                    <a:tint val="75000"/>
                  </a:prstClr>
                </a:solidFill>
              </a:rPr>
              <a:pPr defTabSz="457200"/>
              <a:t>‹#›</a:t>
            </a:fld>
            <a:endParaRPr lang="en-US">
              <a:solidFill>
                <a:prstClr val="black">
                  <a:tint val="75000"/>
                </a:prstClr>
              </a:solidFill>
            </a:endParaRPr>
          </a:p>
        </p:txBody>
      </p:sp>
      <p:sp>
        <p:nvSpPr>
          <p:cNvPr id="7" name="TextBox 6"/>
          <p:cNvSpPr txBox="1"/>
          <p:nvPr userDrawn="1"/>
        </p:nvSpPr>
        <p:spPr>
          <a:xfrm>
            <a:off x="9076267" y="6407150"/>
            <a:ext cx="1857624" cy="369332"/>
          </a:xfrm>
          <a:prstGeom prst="rect">
            <a:avLst/>
          </a:prstGeom>
          <a:noFill/>
        </p:spPr>
        <p:txBody>
          <a:bodyPr wrap="none" rtlCol="0">
            <a:spAutoFit/>
          </a:bodyPr>
          <a:lstStyle/>
          <a:p>
            <a:pPr algn="l" defTabSz="457200" fontAlgn="auto">
              <a:spcBef>
                <a:spcPts val="0"/>
              </a:spcBef>
              <a:spcAft>
                <a:spcPts val="0"/>
              </a:spcAft>
            </a:pPr>
            <a:r>
              <a:rPr lang="en-US" sz="1800" dirty="0">
                <a:solidFill>
                  <a:prstClr val="black"/>
                </a:solidFill>
                <a:latin typeface="Times New Roman"/>
                <a:ea typeface="+mn-ea"/>
                <a:cs typeface="Times New Roman"/>
              </a:rPr>
              <a:t>© John Day, 2019</a:t>
            </a:r>
          </a:p>
        </p:txBody>
      </p:sp>
    </p:spTree>
    <p:extLst>
      <p:ext uri="{BB962C8B-B14F-4D97-AF65-F5344CB8AC3E}">
        <p14:creationId xmlns:p14="http://schemas.microsoft.com/office/powerpoint/2010/main" val="1609444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3200" kern="1200">
          <a:solidFill>
            <a:schemeClr val="tx1"/>
          </a:solidFill>
          <a:latin typeface="Times New Roman"/>
          <a:ea typeface="+mj-ea"/>
          <a:cs typeface="Times New Roman"/>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Times New Roman"/>
          <a:ea typeface="+mn-ea"/>
          <a:cs typeface="Times New Roman"/>
        </a:defRPr>
      </a:lvl1pPr>
      <a:lvl2pPr marL="742950" indent="-285750" algn="l" defTabSz="457200" rtl="0" eaLnBrk="1" latinLnBrk="0" hangingPunct="1">
        <a:spcBef>
          <a:spcPct val="20000"/>
        </a:spcBef>
        <a:buFont typeface="Arial"/>
        <a:buChar char="–"/>
        <a:defRPr sz="1800" kern="1200">
          <a:solidFill>
            <a:schemeClr val="tx1"/>
          </a:solidFill>
          <a:latin typeface="Times New Roman"/>
          <a:ea typeface="+mn-ea"/>
          <a:cs typeface="Times New Roman"/>
        </a:defRPr>
      </a:lvl2pPr>
      <a:lvl3pPr marL="1143000" indent="-228600" algn="l" defTabSz="457200" rtl="0" eaLnBrk="1" latinLnBrk="0" hangingPunct="1">
        <a:spcBef>
          <a:spcPct val="20000"/>
        </a:spcBef>
        <a:buFont typeface="Arial"/>
        <a:buChar char="•"/>
        <a:defRPr sz="1600" kern="1200">
          <a:solidFill>
            <a:schemeClr val="tx1"/>
          </a:solidFill>
          <a:latin typeface="Times New Roman"/>
          <a:ea typeface="+mn-ea"/>
          <a:cs typeface="Times New Roman"/>
        </a:defRPr>
      </a:lvl3pPr>
      <a:lvl4pPr marL="1600200" indent="-228600" algn="l" defTabSz="457200" rtl="0" eaLnBrk="1" latinLnBrk="0" hangingPunct="1">
        <a:spcBef>
          <a:spcPct val="20000"/>
        </a:spcBef>
        <a:buFont typeface="Arial"/>
        <a:buChar char="–"/>
        <a:defRPr sz="1400" kern="1200">
          <a:solidFill>
            <a:schemeClr val="tx1"/>
          </a:solidFill>
          <a:latin typeface="Times New Roman"/>
          <a:ea typeface="+mn-ea"/>
          <a:cs typeface="Times New Roman"/>
        </a:defRPr>
      </a:lvl4pPr>
      <a:lvl5pPr marL="2057400" indent="-228600" algn="l" defTabSz="457200" rtl="0" eaLnBrk="1" latinLnBrk="0" hangingPunct="1">
        <a:spcBef>
          <a:spcPct val="20000"/>
        </a:spcBef>
        <a:buFont typeface="Arial"/>
        <a:buChar char="»"/>
        <a:defRPr sz="14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400" smtClean="0">
                <a:cs typeface="+mn-cs"/>
              </a:defRPr>
            </a:lvl1pPr>
          </a:lstStyle>
          <a:p>
            <a:pPr algn="l" eaLnBrk="0" hangingPunct="0">
              <a:defRPr/>
            </a:pPr>
            <a:endParaRPr lang="en-US" altLang="en-US">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a:defRPr sz="1400" smtClean="0">
                <a:cs typeface="+mn-cs"/>
              </a:defRPr>
            </a:lvl1pPr>
          </a:lstStyle>
          <a:p>
            <a:pPr eaLnBrk="0" hangingPunct="0">
              <a:defRPr/>
            </a:pPr>
            <a:endParaRPr lang="en-US" altLang="en-US">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400" smtClean="0">
                <a:cs typeface="+mn-cs"/>
              </a:defRPr>
            </a:lvl1pPr>
          </a:lstStyle>
          <a:p>
            <a:pPr eaLnBrk="0" hangingPunct="0">
              <a:defRPr/>
            </a:pPr>
            <a:fld id="{C95A1897-E5CB-BE4D-88AE-45BB6A964059}" type="slidenum">
              <a:rPr lang="en-US" altLang="en-US">
                <a:solidFill>
                  <a:srgbClr val="000000"/>
                </a:solidFill>
              </a:rPr>
              <a:pPr eaLnBrk="0" hangingPunct="0">
                <a:defRPr/>
              </a:pPr>
              <a:t>‹#›</a:t>
            </a:fld>
            <a:endParaRPr lang="en-US" altLang="en-US">
              <a:solidFill>
                <a:srgbClr val="000000"/>
              </a:solidFill>
            </a:endParaRPr>
          </a:p>
        </p:txBody>
      </p:sp>
    </p:spTree>
    <p:extLst>
      <p:ext uri="{BB962C8B-B14F-4D97-AF65-F5344CB8AC3E}">
        <p14:creationId xmlns:p14="http://schemas.microsoft.com/office/powerpoint/2010/main" val="26488252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ＭＳ Ｐゴシック" charset="0"/>
        </a:defRPr>
      </a:lvl1pPr>
      <a:lvl2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5pPr>
      <a:lvl6pPr marL="457200" algn="ctr" rtl="0" eaLnBrk="0" fontAlgn="base" hangingPunct="0">
        <a:spcBef>
          <a:spcPct val="0"/>
        </a:spcBef>
        <a:spcAft>
          <a:spcPct val="0"/>
        </a:spcAft>
        <a:defRPr sz="4400">
          <a:solidFill>
            <a:schemeClr val="tx2"/>
          </a:solidFill>
          <a:latin typeface="Times" charset="0"/>
          <a:ea typeface="ＭＳ Ｐゴシック" charset="0"/>
        </a:defRPr>
      </a:lvl6pPr>
      <a:lvl7pPr marL="914400" algn="ctr" rtl="0" eaLnBrk="0" fontAlgn="base" hangingPunct="0">
        <a:spcBef>
          <a:spcPct val="0"/>
        </a:spcBef>
        <a:spcAft>
          <a:spcPct val="0"/>
        </a:spcAft>
        <a:defRPr sz="4400">
          <a:solidFill>
            <a:schemeClr val="tx2"/>
          </a:solidFill>
          <a:latin typeface="Times" charset="0"/>
          <a:ea typeface="ＭＳ Ｐゴシック" charset="0"/>
        </a:defRPr>
      </a:lvl7pPr>
      <a:lvl8pPr marL="1371600" algn="ctr" rtl="0" eaLnBrk="0" fontAlgn="base" hangingPunct="0">
        <a:spcBef>
          <a:spcPct val="0"/>
        </a:spcBef>
        <a:spcAft>
          <a:spcPct val="0"/>
        </a:spcAft>
        <a:defRPr sz="4400">
          <a:solidFill>
            <a:schemeClr val="tx2"/>
          </a:solidFill>
          <a:latin typeface="Times" charset="0"/>
          <a:ea typeface="ＭＳ Ｐゴシック" charset="0"/>
        </a:defRPr>
      </a:lvl8pPr>
      <a:lvl9pPr marL="1828800" algn="ctr" rtl="0" eaLnBrk="0" fontAlgn="base" hangingPunct="0">
        <a:spcBef>
          <a:spcPct val="0"/>
        </a:spcBef>
        <a:spcAft>
          <a:spcPct val="0"/>
        </a:spcAft>
        <a:defRPr sz="4400">
          <a:solidFill>
            <a:schemeClr val="tx2"/>
          </a:solidFill>
          <a:latin typeface="Time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0" y="0"/>
            <a:ext cx="121920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099" name="Rectangle 3"/>
          <p:cNvSpPr>
            <a:spLocks noGrp="1" noChangeArrowheads="1"/>
          </p:cNvSpPr>
          <p:nvPr>
            <p:ph type="body" idx="1"/>
          </p:nvPr>
        </p:nvSpPr>
        <p:spPr bwMode="auto">
          <a:xfrm>
            <a:off x="0" y="5715000"/>
            <a:ext cx="12192000" cy="83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0"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l">
              <a:defRPr sz="1400">
                <a:latin typeface="+mn-lt"/>
                <a:cs typeface="+mn-cs"/>
              </a:defRPr>
            </a:lvl1pPr>
          </a:lstStyle>
          <a:p>
            <a:pPr>
              <a:defRPr/>
            </a:pPr>
            <a:endParaRPr lang="en-US"/>
          </a:p>
        </p:txBody>
      </p:sp>
      <p:sp>
        <p:nvSpPr>
          <p:cNvPr id="4101"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400">
                <a:latin typeface="+mn-lt"/>
                <a:cs typeface="+mn-cs"/>
              </a:defRPr>
            </a:lvl1pPr>
          </a:lstStyle>
          <a:p>
            <a:pPr>
              <a:defRPr/>
            </a:pPr>
            <a:endParaRPr lang="en-US"/>
          </a:p>
        </p:txBody>
      </p:sp>
      <p:sp>
        <p:nvSpPr>
          <p:cNvPr id="4102"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400">
                <a:latin typeface="+mn-lt"/>
                <a:cs typeface="+mn-cs"/>
              </a:defRPr>
            </a:lvl1pPr>
          </a:lstStyle>
          <a:p>
            <a:pPr>
              <a:defRPr/>
            </a:pPr>
            <a:fld id="{381DDF70-AC2E-3F4E-8CCF-DFD0CD3015B2}" type="slidenum">
              <a:rPr lang="en-US"/>
              <a:pPr>
                <a:defRPr/>
              </a:pPr>
              <a:t>‹#›</a:t>
            </a:fld>
            <a:endParaRPr lang="en-US"/>
          </a:p>
        </p:txBody>
      </p:sp>
    </p:spTree>
    <p:extLst>
      <p:ext uri="{BB962C8B-B14F-4D97-AF65-F5344CB8AC3E}">
        <p14:creationId xmlns:p14="http://schemas.microsoft.com/office/powerpoint/2010/main" val="95102984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a:solidFill>
            <a:srgbClr val="FF0000"/>
          </a:solidFill>
          <a:latin typeface="+mj-lt"/>
          <a:ea typeface="+mj-ea"/>
          <a:cs typeface="ＭＳ Ｐゴシック" charset="0"/>
        </a:defRPr>
      </a:lvl1pPr>
      <a:lvl2pPr algn="ctr" rtl="0" eaLnBrk="0" fontAlgn="base" hangingPunct="0">
        <a:spcBef>
          <a:spcPct val="0"/>
        </a:spcBef>
        <a:spcAft>
          <a:spcPct val="0"/>
        </a:spcAft>
        <a:defRPr sz="4400">
          <a:solidFill>
            <a:srgbClr val="FF0000"/>
          </a:solidFill>
          <a:latin typeface="Times New Roman" charset="0"/>
          <a:ea typeface="ＭＳ Ｐゴシック" charset="0"/>
          <a:cs typeface="ＭＳ Ｐゴシック" charset="0"/>
        </a:defRPr>
      </a:lvl2pPr>
      <a:lvl3pPr algn="ctr" rtl="0" eaLnBrk="0" fontAlgn="base" hangingPunct="0">
        <a:spcBef>
          <a:spcPct val="0"/>
        </a:spcBef>
        <a:spcAft>
          <a:spcPct val="0"/>
        </a:spcAft>
        <a:defRPr sz="4400">
          <a:solidFill>
            <a:srgbClr val="FF0000"/>
          </a:solidFill>
          <a:latin typeface="Times New Roman" charset="0"/>
          <a:ea typeface="ＭＳ Ｐゴシック" charset="0"/>
          <a:cs typeface="ＭＳ Ｐゴシック" charset="0"/>
        </a:defRPr>
      </a:lvl3pPr>
      <a:lvl4pPr algn="ctr" rtl="0" eaLnBrk="0" fontAlgn="base" hangingPunct="0">
        <a:spcBef>
          <a:spcPct val="0"/>
        </a:spcBef>
        <a:spcAft>
          <a:spcPct val="0"/>
        </a:spcAft>
        <a:defRPr sz="4400">
          <a:solidFill>
            <a:srgbClr val="FF0000"/>
          </a:solidFill>
          <a:latin typeface="Times New Roman" charset="0"/>
          <a:ea typeface="ＭＳ Ｐゴシック" charset="0"/>
          <a:cs typeface="ＭＳ Ｐゴシック" charset="0"/>
        </a:defRPr>
      </a:lvl4pPr>
      <a:lvl5pPr algn="ctr" rtl="0" eaLnBrk="0" fontAlgn="base" hangingPunct="0">
        <a:spcBef>
          <a:spcPct val="0"/>
        </a:spcBef>
        <a:spcAft>
          <a:spcPct val="0"/>
        </a:spcAft>
        <a:defRPr sz="4400">
          <a:solidFill>
            <a:srgbClr val="FF0000"/>
          </a:solidFill>
          <a:latin typeface="Times New Roman" charset="0"/>
          <a:ea typeface="ＭＳ Ｐゴシック" charset="0"/>
          <a:cs typeface="ＭＳ Ｐゴシック" charset="0"/>
        </a:defRPr>
      </a:lvl5pPr>
      <a:lvl6pPr marL="457200" algn="ctr" rtl="0" fontAlgn="base">
        <a:spcBef>
          <a:spcPct val="0"/>
        </a:spcBef>
        <a:spcAft>
          <a:spcPct val="0"/>
        </a:spcAft>
        <a:defRPr sz="4400">
          <a:solidFill>
            <a:srgbClr val="FF0000"/>
          </a:solidFill>
          <a:latin typeface="Times New Roman" charset="0"/>
          <a:ea typeface="ＭＳ Ｐゴシック" charset="0"/>
        </a:defRPr>
      </a:lvl6pPr>
      <a:lvl7pPr marL="914400" algn="ctr" rtl="0" fontAlgn="base">
        <a:spcBef>
          <a:spcPct val="0"/>
        </a:spcBef>
        <a:spcAft>
          <a:spcPct val="0"/>
        </a:spcAft>
        <a:defRPr sz="4400">
          <a:solidFill>
            <a:srgbClr val="FF0000"/>
          </a:solidFill>
          <a:latin typeface="Times New Roman" charset="0"/>
          <a:ea typeface="ＭＳ Ｐゴシック" charset="0"/>
        </a:defRPr>
      </a:lvl7pPr>
      <a:lvl8pPr marL="1371600" algn="ctr" rtl="0" fontAlgn="base">
        <a:spcBef>
          <a:spcPct val="0"/>
        </a:spcBef>
        <a:spcAft>
          <a:spcPct val="0"/>
        </a:spcAft>
        <a:defRPr sz="4400">
          <a:solidFill>
            <a:srgbClr val="FF0000"/>
          </a:solidFill>
          <a:latin typeface="Times New Roman" charset="0"/>
          <a:ea typeface="ＭＳ Ｐゴシック" charset="0"/>
        </a:defRPr>
      </a:lvl8pPr>
      <a:lvl9pPr marL="1828800" algn="ctr" rtl="0" fontAlgn="base">
        <a:spcBef>
          <a:spcPct val="0"/>
        </a:spcBef>
        <a:spcAft>
          <a:spcPct val="0"/>
        </a:spcAft>
        <a:defRPr sz="4400">
          <a:solidFill>
            <a:srgbClr val="FF0000"/>
          </a:solidFill>
          <a:latin typeface="Times New Roman" charset="0"/>
          <a:ea typeface="ＭＳ Ｐゴシック" charset="0"/>
        </a:defRPr>
      </a:lvl9pPr>
    </p:titleStyle>
    <p:body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ＭＳ Ｐゴシック" charset="0"/>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ea typeface="+mn-ea"/>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ea typeface="+mn-ea"/>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ea typeface="+mn-ea"/>
        </a:defRPr>
      </a:lvl5pPr>
      <a:lvl6pPr marL="2667000" indent="-381000" algn="l" rtl="0" fontAlgn="base">
        <a:spcBef>
          <a:spcPct val="20000"/>
        </a:spcBef>
        <a:spcAft>
          <a:spcPct val="0"/>
        </a:spcAft>
        <a:buClr>
          <a:schemeClr val="accent2"/>
        </a:buClr>
        <a:buChar char="»"/>
        <a:defRPr sz="2000">
          <a:solidFill>
            <a:schemeClr val="tx1"/>
          </a:solidFill>
          <a:latin typeface="+mn-lt"/>
          <a:ea typeface="+mn-ea"/>
        </a:defRPr>
      </a:lvl6pPr>
      <a:lvl7pPr marL="3124200" indent="-381000" algn="l" rtl="0" fontAlgn="base">
        <a:spcBef>
          <a:spcPct val="20000"/>
        </a:spcBef>
        <a:spcAft>
          <a:spcPct val="0"/>
        </a:spcAft>
        <a:buClr>
          <a:schemeClr val="accent2"/>
        </a:buClr>
        <a:buChar char="»"/>
        <a:defRPr sz="2000">
          <a:solidFill>
            <a:schemeClr val="tx1"/>
          </a:solidFill>
          <a:latin typeface="+mn-lt"/>
          <a:ea typeface="+mn-ea"/>
        </a:defRPr>
      </a:lvl7pPr>
      <a:lvl8pPr marL="3581400" indent="-381000" algn="l" rtl="0" fontAlgn="base">
        <a:spcBef>
          <a:spcPct val="20000"/>
        </a:spcBef>
        <a:spcAft>
          <a:spcPct val="0"/>
        </a:spcAft>
        <a:buClr>
          <a:schemeClr val="accent2"/>
        </a:buClr>
        <a:buChar char="»"/>
        <a:defRPr sz="2000">
          <a:solidFill>
            <a:schemeClr val="tx1"/>
          </a:solidFill>
          <a:latin typeface="+mn-lt"/>
          <a:ea typeface="+mn-ea"/>
        </a:defRPr>
      </a:lvl8pPr>
      <a:lvl9pPr marL="4038600" indent="-381000" algn="l" rtl="0" fontAlgn="base">
        <a:spcBef>
          <a:spcPct val="20000"/>
        </a:spcBef>
        <a:spcAft>
          <a:spcPct val="0"/>
        </a:spcAft>
        <a:buClr>
          <a:schemeClr val="accent2"/>
        </a:buClr>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508000" y="304800"/>
            <a:ext cx="10972800" cy="1066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524000" y="1828801"/>
            <a:ext cx="10058400" cy="4297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cs typeface="Arial" charset="0"/>
              </a:defRPr>
            </a:lvl1pPr>
          </a:lstStyle>
          <a:p>
            <a:pPr fontAlgn="base">
              <a:spcBef>
                <a:spcPct val="0"/>
              </a:spcBef>
              <a:spcAft>
                <a:spcPct val="0"/>
              </a:spcAft>
              <a:defRPr/>
            </a:pPr>
            <a:fld id="{7D033DA4-2DEB-674E-BF54-444A5E445EAC}" type="datetimeFigureOut">
              <a:rPr lang="en-US" kern="1200">
                <a:latin typeface="Times" charset="0"/>
                <a:ea typeface="ＭＳ Ｐゴシック" charset="0"/>
              </a:rPr>
              <a:pPr fontAlgn="base">
                <a:spcBef>
                  <a:spcPct val="0"/>
                </a:spcBef>
                <a:spcAft>
                  <a:spcPct val="0"/>
                </a:spcAft>
                <a:defRPr/>
              </a:pPr>
              <a:t>1/14/26</a:t>
            </a:fld>
            <a:endParaRPr lang="en-US" kern="1200">
              <a:latin typeface="Times" charset="0"/>
              <a:ea typeface="ＭＳ Ｐゴシック" charset="0"/>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cs typeface="Arial" charset="0"/>
              </a:defRPr>
            </a:lvl1pPr>
          </a:lstStyle>
          <a:p>
            <a:pPr fontAlgn="base">
              <a:spcBef>
                <a:spcPct val="0"/>
              </a:spcBef>
              <a:spcAft>
                <a:spcPct val="0"/>
              </a:spcAft>
              <a:defRPr/>
            </a:pPr>
            <a:endParaRPr lang="en-US" kern="1200">
              <a:latin typeface="Times" charset="0"/>
              <a:ea typeface="ＭＳ Ｐゴシック" charset="0"/>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Arial" charset="0"/>
              </a:defRPr>
            </a:lvl1pPr>
          </a:lstStyle>
          <a:p>
            <a:pPr fontAlgn="base">
              <a:spcBef>
                <a:spcPct val="0"/>
              </a:spcBef>
              <a:spcAft>
                <a:spcPct val="0"/>
              </a:spcAft>
              <a:defRPr/>
            </a:pPr>
            <a:fld id="{A37A8B47-9AA6-F440-968E-44059B628D67}" type="slidenum">
              <a:rPr lang="en-US" kern="1200">
                <a:latin typeface="Times" charset="0"/>
                <a:ea typeface="ＭＳ Ｐゴシック" charset="0"/>
              </a:rPr>
              <a:pPr fontAlgn="base">
                <a:spcBef>
                  <a:spcPct val="0"/>
                </a:spcBef>
                <a:spcAft>
                  <a:spcPct val="0"/>
                </a:spcAft>
                <a:defRPr/>
              </a:pPr>
              <a:t>‹#›</a:t>
            </a:fld>
            <a:endParaRPr lang="en-US" kern="1200">
              <a:latin typeface="Times" charset="0"/>
              <a:ea typeface="ＭＳ Ｐゴシック" charset="0"/>
            </a:endParaRPr>
          </a:p>
        </p:txBody>
      </p:sp>
      <p:sp>
        <p:nvSpPr>
          <p:cNvPr id="7" name="Footer Placeholder 4"/>
          <p:cNvSpPr txBox="1">
            <a:spLocks/>
          </p:cNvSpPr>
          <p:nvPr userDrawn="1"/>
        </p:nvSpPr>
        <p:spPr>
          <a:xfrm>
            <a:off x="0" y="6629400"/>
            <a:ext cx="12192000" cy="228600"/>
          </a:xfrm>
          <a:prstGeom prst="rect">
            <a:avLst/>
          </a:prstGeom>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fontAlgn="base" hangingPunct="1">
              <a:spcBef>
                <a:spcPct val="0"/>
              </a:spcBef>
              <a:spcAft>
                <a:spcPct val="0"/>
              </a:spcAft>
              <a:defRPr/>
            </a:pPr>
            <a:r>
              <a:rPr lang="en-US" sz="1200" i="1" kern="1200">
                <a:solidFill>
                  <a:prstClr val="black"/>
                </a:solidFill>
                <a:latin typeface="Times" charset="0"/>
              </a:rPr>
              <a:t>Computer Networks</a:t>
            </a:r>
            <a:r>
              <a:rPr lang="en-US" sz="1200" kern="1200">
                <a:solidFill>
                  <a:prstClr val="black"/>
                </a:solidFill>
                <a:latin typeface="Times" charset="0"/>
              </a:rPr>
              <a:t>, Fifth Edition by Andrew Tanenbaum and David Wetherall, © Pearson Education-Prentice Hall, 2011</a:t>
            </a:r>
          </a:p>
          <a:p>
            <a:pPr eaLnBrk="1" fontAlgn="base" hangingPunct="1">
              <a:spcBef>
                <a:spcPct val="0"/>
              </a:spcBef>
              <a:spcAft>
                <a:spcPct val="0"/>
              </a:spcAft>
              <a:defRPr/>
            </a:pPr>
            <a:endParaRPr lang="en-US" sz="1200" kern="1200">
              <a:solidFill>
                <a:prstClr val="black"/>
              </a:solidFill>
              <a:latin typeface="Times" charset="0"/>
            </a:endParaRPr>
          </a:p>
        </p:txBody>
      </p:sp>
    </p:spTree>
    <p:extLst>
      <p:ext uri="{BB962C8B-B14F-4D97-AF65-F5344CB8AC3E}">
        <p14:creationId xmlns:p14="http://schemas.microsoft.com/office/powerpoint/2010/main" val="118940265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ctr" rtl="0" eaLnBrk="0" fontAlgn="base" hangingPunct="0">
        <a:spcBef>
          <a:spcPct val="0"/>
        </a:spcBef>
        <a:spcAft>
          <a:spcPct val="0"/>
        </a:spcAft>
        <a:defRPr lang="en-US" sz="3600" kern="1200" dirty="0">
          <a:solidFill>
            <a:srgbClr val="FF0000"/>
          </a:solidFill>
          <a:latin typeface="Times" charset="0"/>
          <a:ea typeface="ＭＳ Ｐゴシック" charset="0"/>
          <a:cs typeface="Times New Roman" pitchFamily="18" charset="0"/>
        </a:defRPr>
      </a:lvl1pPr>
      <a:lvl2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2pPr>
      <a:lvl3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3pPr>
      <a:lvl4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4pPr>
      <a:lvl5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5pPr>
      <a:lvl6pPr marL="457200" algn="ctr" rtl="0" fontAlgn="base">
        <a:spcBef>
          <a:spcPct val="0"/>
        </a:spcBef>
        <a:spcAft>
          <a:spcPct val="0"/>
        </a:spcAft>
        <a:defRPr sz="3600">
          <a:solidFill>
            <a:srgbClr val="FF0000"/>
          </a:solidFill>
          <a:latin typeface="Times New Roman" pitchFamily="18" charset="0"/>
          <a:cs typeface="Times New Roman" pitchFamily="18" charset="0"/>
        </a:defRPr>
      </a:lvl6pPr>
      <a:lvl7pPr marL="914400" algn="ctr" rtl="0" fontAlgn="base">
        <a:spcBef>
          <a:spcPct val="0"/>
        </a:spcBef>
        <a:spcAft>
          <a:spcPct val="0"/>
        </a:spcAft>
        <a:defRPr sz="3600">
          <a:solidFill>
            <a:srgbClr val="FF0000"/>
          </a:solidFill>
          <a:latin typeface="Times New Roman" pitchFamily="18" charset="0"/>
          <a:cs typeface="Times New Roman" pitchFamily="18" charset="0"/>
        </a:defRPr>
      </a:lvl7pPr>
      <a:lvl8pPr marL="1371600" algn="ctr" rtl="0" fontAlgn="base">
        <a:spcBef>
          <a:spcPct val="0"/>
        </a:spcBef>
        <a:spcAft>
          <a:spcPct val="0"/>
        </a:spcAft>
        <a:defRPr sz="3600">
          <a:solidFill>
            <a:srgbClr val="FF0000"/>
          </a:solidFill>
          <a:latin typeface="Times New Roman" pitchFamily="18" charset="0"/>
          <a:cs typeface="Times New Roman" pitchFamily="18" charset="0"/>
        </a:defRPr>
      </a:lvl8pPr>
      <a:lvl9pPr marL="1828800" algn="ctr" rtl="0" fontAlgn="base">
        <a:spcBef>
          <a:spcPct val="0"/>
        </a:spcBef>
        <a:spcAft>
          <a:spcPct val="0"/>
        </a:spcAft>
        <a:defRPr sz="3600">
          <a:solidFill>
            <a:srgbClr val="FF0000"/>
          </a:solidFill>
          <a:latin typeface="Times New Roman" pitchFamily="18" charset="0"/>
          <a:cs typeface="Times New Roman" pitchFamily="18" charset="0"/>
        </a:defRPr>
      </a:lvl9pPr>
    </p:titleStyle>
    <p:bodyStyle>
      <a:lvl1pPr marL="342900" indent="-342900" algn="l" rtl="0" eaLnBrk="0" fontAlgn="base" hangingPunct="0">
        <a:spcBef>
          <a:spcPct val="20000"/>
        </a:spcBef>
        <a:spcAft>
          <a:spcPct val="0"/>
        </a:spcAft>
        <a:buClr>
          <a:srgbClr val="0000CC"/>
        </a:buClr>
        <a:buFont typeface="Arial" charset="0"/>
        <a:buChar char="•"/>
        <a:defRPr sz="3200" kern="1200">
          <a:solidFill>
            <a:schemeClr val="tx1"/>
          </a:solidFill>
          <a:latin typeface="Times" charset="0"/>
          <a:ea typeface="ＭＳ Ｐゴシック" charset="0"/>
          <a:cs typeface="Times New Roman" pitchFamily="18"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Times" charset="0"/>
          <a:ea typeface="Times New Roman" charset="0"/>
          <a:cs typeface="Times New Roman" pitchFamily="18"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Times" charset="0"/>
          <a:ea typeface="Times New Roman" charset="0"/>
          <a:cs typeface="Times New Roman" pitchFamily="18"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Times" charset="0"/>
          <a:ea typeface="Times New Roman" charset="0"/>
          <a:cs typeface="Times New Roman" pitchFamily="18"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Times" charset="0"/>
          <a:ea typeface="Times New Roman" charset="0"/>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14" name="Shape 1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591963" y="6429709"/>
            <a:ext cx="1223999" cy="279914"/>
          </a:xfrm>
          <a:prstGeom prst="rect">
            <a:avLst/>
          </a:prstGeom>
          <a:noFill/>
          <a:ln>
            <a:noFill/>
          </a:ln>
        </p:spPr>
      </p:pic>
      <p:sp>
        <p:nvSpPr>
          <p:cNvPr id="16" name="Shape 16"/>
          <p:cNvSpPr txBox="1"/>
          <p:nvPr/>
        </p:nvSpPr>
        <p:spPr>
          <a:xfrm>
            <a:off x="2133601" y="6429344"/>
            <a:ext cx="9550399" cy="200054"/>
          </a:xfrm>
          <a:prstGeom prst="rect">
            <a:avLst/>
          </a:prstGeom>
          <a:noFill/>
          <a:ln>
            <a:noFill/>
          </a:ln>
        </p:spPr>
        <p:txBody>
          <a:bodyPr lIns="91425" tIns="45700" rIns="91425" bIns="45700" anchor="t" anchorCtr="0">
            <a:noAutofit/>
          </a:bodyPr>
          <a:lstStyle/>
          <a:p>
            <a:pPr algn="r" fontAlgn="auto">
              <a:spcBef>
                <a:spcPts val="0"/>
              </a:spcBef>
              <a:spcAft>
                <a:spcPts val="0"/>
              </a:spcAft>
              <a:defRPr/>
            </a:pPr>
            <a:r>
              <a:rPr lang="en-US" altLang="en-US" sz="1800" kern="0" dirty="0">
                <a:solidFill>
                  <a:srgbClr val="000000"/>
                </a:solidFill>
                <a:latin typeface="Verdana"/>
                <a:ea typeface="Verdana" panose="020B0604030504040204" pitchFamily="34" charset="0"/>
                <a:cs typeface="Verdana" panose="020B0604030504040204" pitchFamily="34" charset="0"/>
                <a:sym typeface="Arial"/>
              </a:rPr>
              <a:t>Copyright © 2020, 2011, 2003 Pearson Education, Inc. All Rights Reserved</a:t>
            </a: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609600" y="6028612"/>
            <a:ext cx="109728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kern="0" dirty="0">
              <a:solidFill>
                <a:srgbClr val="000000">
                  <a:tint val="75000"/>
                </a:srgbClr>
              </a:solidFill>
              <a:ea typeface="Arial"/>
              <a:cs typeface="Arial"/>
              <a:sym typeface="Arial"/>
            </a:endParaRPr>
          </a:p>
        </p:txBody>
      </p:sp>
    </p:spTree>
    <p:extLst>
      <p:ext uri="{BB962C8B-B14F-4D97-AF65-F5344CB8AC3E}">
        <p14:creationId xmlns:p14="http://schemas.microsoft.com/office/powerpoint/2010/main" val="2124228518"/>
      </p:ext>
    </p:extLst>
  </p:cSld>
  <p:clrMap bg1="lt1" tx1="dk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0" y="0"/>
            <a:ext cx="121920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099" name="Rectangle 3"/>
          <p:cNvSpPr>
            <a:spLocks noGrp="1" noChangeArrowheads="1"/>
          </p:cNvSpPr>
          <p:nvPr>
            <p:ph type="body" idx="1"/>
          </p:nvPr>
        </p:nvSpPr>
        <p:spPr bwMode="auto">
          <a:xfrm>
            <a:off x="0" y="5715000"/>
            <a:ext cx="12192000" cy="83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0"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l">
              <a:defRPr sz="1400">
                <a:latin typeface="+mn-lt"/>
                <a:cs typeface="+mn-cs"/>
              </a:defRPr>
            </a:lvl1pPr>
          </a:lstStyle>
          <a:p>
            <a:pPr>
              <a:defRPr/>
            </a:pPr>
            <a:endParaRPr lang="en-US"/>
          </a:p>
        </p:txBody>
      </p:sp>
      <p:sp>
        <p:nvSpPr>
          <p:cNvPr id="4101"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400">
                <a:latin typeface="+mn-lt"/>
                <a:cs typeface="+mn-cs"/>
              </a:defRPr>
            </a:lvl1pPr>
          </a:lstStyle>
          <a:p>
            <a:pPr>
              <a:defRPr/>
            </a:pPr>
            <a:endParaRPr lang="en-US"/>
          </a:p>
        </p:txBody>
      </p:sp>
      <p:sp>
        <p:nvSpPr>
          <p:cNvPr id="4102"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400">
                <a:latin typeface="+mn-lt"/>
                <a:cs typeface="+mn-cs"/>
              </a:defRPr>
            </a:lvl1pPr>
          </a:lstStyle>
          <a:p>
            <a:pPr>
              <a:defRPr/>
            </a:pPr>
            <a:fld id="{8BA2D0F1-3ACB-5A4E-ACBA-D777C30488B4}" type="slidenum">
              <a:rPr lang="en-US"/>
              <a:pPr>
                <a:defRPr/>
              </a:pPr>
              <a:t>‹#›</a:t>
            </a:fld>
            <a:endParaRPr lang="en-US"/>
          </a:p>
        </p:txBody>
      </p:sp>
    </p:spTree>
    <p:extLst>
      <p:ext uri="{BB962C8B-B14F-4D97-AF65-F5344CB8AC3E}">
        <p14:creationId xmlns:p14="http://schemas.microsoft.com/office/powerpoint/2010/main" val="635411351"/>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ctr" rtl="0" eaLnBrk="0" fontAlgn="base" hangingPunct="0">
        <a:spcBef>
          <a:spcPct val="0"/>
        </a:spcBef>
        <a:spcAft>
          <a:spcPct val="0"/>
        </a:spcAft>
        <a:defRPr sz="4400">
          <a:solidFill>
            <a:srgbClr val="FF0000"/>
          </a:solidFill>
          <a:latin typeface="+mj-lt"/>
          <a:ea typeface="+mj-ea"/>
          <a:cs typeface="ＭＳ Ｐゴシック" charset="0"/>
        </a:defRPr>
      </a:lvl1pPr>
      <a:lvl2pPr algn="ctr" rtl="0" eaLnBrk="0" fontAlgn="base" hangingPunct="0">
        <a:spcBef>
          <a:spcPct val="0"/>
        </a:spcBef>
        <a:spcAft>
          <a:spcPct val="0"/>
        </a:spcAft>
        <a:defRPr sz="4400">
          <a:solidFill>
            <a:srgbClr val="FF0000"/>
          </a:solidFill>
          <a:latin typeface="Times New Roman" charset="0"/>
          <a:ea typeface="ＭＳ Ｐゴシック" charset="0"/>
          <a:cs typeface="ＭＳ Ｐゴシック" charset="0"/>
        </a:defRPr>
      </a:lvl2pPr>
      <a:lvl3pPr algn="ctr" rtl="0" eaLnBrk="0" fontAlgn="base" hangingPunct="0">
        <a:spcBef>
          <a:spcPct val="0"/>
        </a:spcBef>
        <a:spcAft>
          <a:spcPct val="0"/>
        </a:spcAft>
        <a:defRPr sz="4400">
          <a:solidFill>
            <a:srgbClr val="FF0000"/>
          </a:solidFill>
          <a:latin typeface="Times New Roman" charset="0"/>
          <a:ea typeface="ＭＳ Ｐゴシック" charset="0"/>
          <a:cs typeface="ＭＳ Ｐゴシック" charset="0"/>
        </a:defRPr>
      </a:lvl3pPr>
      <a:lvl4pPr algn="ctr" rtl="0" eaLnBrk="0" fontAlgn="base" hangingPunct="0">
        <a:spcBef>
          <a:spcPct val="0"/>
        </a:spcBef>
        <a:spcAft>
          <a:spcPct val="0"/>
        </a:spcAft>
        <a:defRPr sz="4400">
          <a:solidFill>
            <a:srgbClr val="FF0000"/>
          </a:solidFill>
          <a:latin typeface="Times New Roman" charset="0"/>
          <a:ea typeface="ＭＳ Ｐゴシック" charset="0"/>
          <a:cs typeface="ＭＳ Ｐゴシック" charset="0"/>
        </a:defRPr>
      </a:lvl4pPr>
      <a:lvl5pPr algn="ctr" rtl="0" eaLnBrk="0" fontAlgn="base" hangingPunct="0">
        <a:spcBef>
          <a:spcPct val="0"/>
        </a:spcBef>
        <a:spcAft>
          <a:spcPct val="0"/>
        </a:spcAft>
        <a:defRPr sz="4400">
          <a:solidFill>
            <a:srgbClr val="FF0000"/>
          </a:solidFill>
          <a:latin typeface="Times New Roman" charset="0"/>
          <a:ea typeface="ＭＳ Ｐゴシック" charset="0"/>
          <a:cs typeface="ＭＳ Ｐゴシック" charset="0"/>
        </a:defRPr>
      </a:lvl5pPr>
      <a:lvl6pPr marL="457200" algn="ctr" rtl="0" fontAlgn="base">
        <a:spcBef>
          <a:spcPct val="0"/>
        </a:spcBef>
        <a:spcAft>
          <a:spcPct val="0"/>
        </a:spcAft>
        <a:defRPr sz="4400">
          <a:solidFill>
            <a:srgbClr val="FF0000"/>
          </a:solidFill>
          <a:latin typeface="Times New Roman" charset="0"/>
          <a:ea typeface="ＭＳ Ｐゴシック" charset="0"/>
        </a:defRPr>
      </a:lvl6pPr>
      <a:lvl7pPr marL="914400" algn="ctr" rtl="0" fontAlgn="base">
        <a:spcBef>
          <a:spcPct val="0"/>
        </a:spcBef>
        <a:spcAft>
          <a:spcPct val="0"/>
        </a:spcAft>
        <a:defRPr sz="4400">
          <a:solidFill>
            <a:srgbClr val="FF0000"/>
          </a:solidFill>
          <a:latin typeface="Times New Roman" charset="0"/>
          <a:ea typeface="ＭＳ Ｐゴシック" charset="0"/>
        </a:defRPr>
      </a:lvl7pPr>
      <a:lvl8pPr marL="1371600" algn="ctr" rtl="0" fontAlgn="base">
        <a:spcBef>
          <a:spcPct val="0"/>
        </a:spcBef>
        <a:spcAft>
          <a:spcPct val="0"/>
        </a:spcAft>
        <a:defRPr sz="4400">
          <a:solidFill>
            <a:srgbClr val="FF0000"/>
          </a:solidFill>
          <a:latin typeface="Times New Roman" charset="0"/>
          <a:ea typeface="ＭＳ Ｐゴシック" charset="0"/>
        </a:defRPr>
      </a:lvl8pPr>
      <a:lvl9pPr marL="1828800" algn="ctr" rtl="0" fontAlgn="base">
        <a:spcBef>
          <a:spcPct val="0"/>
        </a:spcBef>
        <a:spcAft>
          <a:spcPct val="0"/>
        </a:spcAft>
        <a:defRPr sz="4400">
          <a:solidFill>
            <a:srgbClr val="FF0000"/>
          </a:solidFill>
          <a:latin typeface="Times New Roman" charset="0"/>
          <a:ea typeface="ＭＳ Ｐゴシック" charset="0"/>
        </a:defRPr>
      </a:lvl9pPr>
    </p:titleStyle>
    <p:body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ＭＳ Ｐゴシック" charset="0"/>
        </a:defRPr>
      </a:lvl1pPr>
      <a:lvl2pPr marL="990600" indent="-533400" algn="l" rtl="0" eaLnBrk="0" fontAlgn="base" hangingPunct="0">
        <a:spcBef>
          <a:spcPct val="20000"/>
        </a:spcBef>
        <a:spcAft>
          <a:spcPct val="0"/>
        </a:spcAft>
        <a:buClr>
          <a:schemeClr val="accent2"/>
        </a:buClr>
        <a:buChar char="–"/>
        <a:defRPr sz="2800">
          <a:solidFill>
            <a:schemeClr val="tx1"/>
          </a:solidFill>
          <a:latin typeface="+mn-lt"/>
          <a:ea typeface="+mn-ea"/>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ea typeface="+mn-ea"/>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ea typeface="+mn-ea"/>
        </a:defRPr>
      </a:lvl5pPr>
      <a:lvl6pPr marL="2667000" indent="-381000" algn="l" rtl="0" fontAlgn="base">
        <a:spcBef>
          <a:spcPct val="20000"/>
        </a:spcBef>
        <a:spcAft>
          <a:spcPct val="0"/>
        </a:spcAft>
        <a:buClr>
          <a:schemeClr val="accent2"/>
        </a:buClr>
        <a:buChar char="»"/>
        <a:defRPr sz="2000">
          <a:solidFill>
            <a:schemeClr val="tx1"/>
          </a:solidFill>
          <a:latin typeface="+mn-lt"/>
          <a:ea typeface="+mn-ea"/>
        </a:defRPr>
      </a:lvl6pPr>
      <a:lvl7pPr marL="3124200" indent="-381000" algn="l" rtl="0" fontAlgn="base">
        <a:spcBef>
          <a:spcPct val="20000"/>
        </a:spcBef>
        <a:spcAft>
          <a:spcPct val="0"/>
        </a:spcAft>
        <a:buClr>
          <a:schemeClr val="accent2"/>
        </a:buClr>
        <a:buChar char="»"/>
        <a:defRPr sz="2000">
          <a:solidFill>
            <a:schemeClr val="tx1"/>
          </a:solidFill>
          <a:latin typeface="+mn-lt"/>
          <a:ea typeface="+mn-ea"/>
        </a:defRPr>
      </a:lvl7pPr>
      <a:lvl8pPr marL="3581400" indent="-381000" algn="l" rtl="0" fontAlgn="base">
        <a:spcBef>
          <a:spcPct val="20000"/>
        </a:spcBef>
        <a:spcAft>
          <a:spcPct val="0"/>
        </a:spcAft>
        <a:buClr>
          <a:schemeClr val="accent2"/>
        </a:buClr>
        <a:buChar char="»"/>
        <a:defRPr sz="2000">
          <a:solidFill>
            <a:schemeClr val="tx1"/>
          </a:solidFill>
          <a:latin typeface="+mn-lt"/>
          <a:ea typeface="+mn-ea"/>
        </a:defRPr>
      </a:lvl8pPr>
      <a:lvl9pPr marL="4038600" indent="-381000" algn="l" rtl="0" fontAlgn="base">
        <a:spcBef>
          <a:spcPct val="20000"/>
        </a:spcBef>
        <a:spcAft>
          <a:spcPct val="0"/>
        </a:spcAft>
        <a:buClr>
          <a:schemeClr val="accent2"/>
        </a:buClr>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6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7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7AF99-6812-B271-373C-E042767D1EC2}"/>
              </a:ext>
            </a:extLst>
          </p:cNvPr>
          <p:cNvSpPr>
            <a:spLocks noGrp="1"/>
          </p:cNvSpPr>
          <p:nvPr>
            <p:ph type="ctrTitle"/>
          </p:nvPr>
        </p:nvSpPr>
        <p:spPr/>
        <p:txBody>
          <a:bodyPr>
            <a:normAutofit/>
          </a:bodyPr>
          <a:lstStyle/>
          <a:p>
            <a:r>
              <a:rPr lang="en-US" sz="3600" dirty="0">
                <a:latin typeface="Times New Roman" panose="02020603050405020304" pitchFamily="18" charset="0"/>
                <a:cs typeface="Times New Roman" panose="02020603050405020304" pitchFamily="18" charset="0"/>
              </a:rPr>
              <a:t>Applying the Theory:</a:t>
            </a:r>
            <a:br>
              <a:rPr lang="en-US" sz="36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HDLC, IP, TCP, SCTP, QUIC</a:t>
            </a:r>
          </a:p>
        </p:txBody>
      </p:sp>
      <p:sp>
        <p:nvSpPr>
          <p:cNvPr id="3" name="Subtitle 2">
            <a:extLst>
              <a:ext uri="{FF2B5EF4-FFF2-40B4-BE49-F238E27FC236}">
                <a16:creationId xmlns:a16="http://schemas.microsoft.com/office/drawing/2014/main" id="{0FA47B78-532F-3351-AE93-BDA186F3BD7B}"/>
              </a:ext>
            </a:extLst>
          </p:cNvPr>
          <p:cNvSpPr>
            <a:spLocks noGrp="1"/>
          </p:cNvSpPr>
          <p:nvPr>
            <p:ph type="subTitle" idx="1"/>
          </p:nvPr>
        </p:nvSpPr>
        <p:spPr>
          <a:xfrm>
            <a:off x="1524000" y="3614230"/>
            <a:ext cx="9144000" cy="1655762"/>
          </a:xfrm>
        </p:spPr>
        <p:txBody>
          <a:bodyPr>
            <a:normAutofit/>
          </a:bodyPr>
          <a:lstStyle/>
          <a:p>
            <a:r>
              <a:rPr lang="en-US" sz="2000" dirty="0">
                <a:latin typeface="Times New Roman" panose="02020603050405020304" pitchFamily="18" charset="0"/>
                <a:cs typeface="Times New Roman" panose="02020603050405020304" pitchFamily="18" charset="0"/>
              </a:rPr>
              <a:t>John Day</a:t>
            </a:r>
          </a:p>
          <a:p>
            <a:r>
              <a:rPr lang="en-US" sz="2000" dirty="0">
                <a:latin typeface="Times New Roman" panose="02020603050405020304" pitchFamily="18" charset="0"/>
                <a:cs typeface="Times New Roman" panose="02020603050405020304" pitchFamily="18" charset="0"/>
              </a:rPr>
              <a:t>2024</a:t>
            </a:r>
          </a:p>
        </p:txBody>
      </p:sp>
    </p:spTree>
    <p:extLst>
      <p:ext uri="{BB962C8B-B14F-4D97-AF65-F5344CB8AC3E}">
        <p14:creationId xmlns:p14="http://schemas.microsoft.com/office/powerpoint/2010/main" val="3687431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08824-FEBF-2E11-E8A7-9E0566018438}"/>
              </a:ext>
            </a:extLst>
          </p:cNvPr>
          <p:cNvSpPr>
            <a:spLocks noGrp="1"/>
          </p:cNvSpPr>
          <p:nvPr>
            <p:ph type="title"/>
          </p:nvPr>
        </p:nvSpPr>
        <p:spPr/>
        <p:txBody>
          <a:bodyPr/>
          <a:lstStyle/>
          <a:p>
            <a:r>
              <a:rPr lang="en-US" dirty="0"/>
              <a:t>The Plan</a:t>
            </a:r>
          </a:p>
        </p:txBody>
      </p:sp>
      <p:sp>
        <p:nvSpPr>
          <p:cNvPr id="3" name="Content Placeholder 2">
            <a:extLst>
              <a:ext uri="{FF2B5EF4-FFF2-40B4-BE49-F238E27FC236}">
                <a16:creationId xmlns:a16="http://schemas.microsoft.com/office/drawing/2014/main" id="{3814969E-B69B-AE95-E3C9-3B28339AA1A5}"/>
              </a:ext>
            </a:extLst>
          </p:cNvPr>
          <p:cNvSpPr>
            <a:spLocks noGrp="1"/>
          </p:cNvSpPr>
          <p:nvPr>
            <p:ph idx="1"/>
          </p:nvPr>
        </p:nvSpPr>
        <p:spPr/>
        <p:txBody>
          <a:bodyPr/>
          <a:lstStyle/>
          <a:p>
            <a:r>
              <a:rPr lang="en-US" dirty="0"/>
              <a:t>In this lecture, we will look at a few Error and Flow Control Protocols and analyze their designs. </a:t>
            </a:r>
          </a:p>
          <a:p>
            <a:r>
              <a:rPr lang="en-US" dirty="0"/>
              <a:t>We should expect the analysis to consider what they got right and what they got wrong. The latter will fall into two categories:</a:t>
            </a:r>
          </a:p>
          <a:p>
            <a:pPr lvl="1"/>
            <a:r>
              <a:rPr lang="en-US" dirty="0"/>
              <a:t>Simply not fitting the design criteria</a:t>
            </a:r>
          </a:p>
          <a:p>
            <a:pPr lvl="1"/>
            <a:r>
              <a:rPr lang="en-US" dirty="0"/>
              <a:t>Not conforming to the design principles developed earlier.</a:t>
            </a:r>
          </a:p>
          <a:p>
            <a:r>
              <a:rPr lang="en-US" dirty="0"/>
              <a:t>We will then consider how the same (or better) service could be provided by the Canonical Error and Flow Control Protocol as specified in DIS 4396-9.</a:t>
            </a:r>
          </a:p>
          <a:p>
            <a:pPr lvl="1"/>
            <a:r>
              <a:rPr lang="en-US" dirty="0"/>
              <a:t>The goal is not to replicate the protocol being analyzed but to provide an equivalent or better service.</a:t>
            </a:r>
          </a:p>
        </p:txBody>
      </p:sp>
    </p:spTree>
    <p:extLst>
      <p:ext uri="{BB962C8B-B14F-4D97-AF65-F5344CB8AC3E}">
        <p14:creationId xmlns:p14="http://schemas.microsoft.com/office/powerpoint/2010/main" val="3470569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0823-88B9-4EE5-604D-6DBC943600DB}"/>
              </a:ext>
            </a:extLst>
          </p:cNvPr>
          <p:cNvSpPr>
            <a:spLocks noGrp="1"/>
          </p:cNvSpPr>
          <p:nvPr>
            <p:ph type="title"/>
          </p:nvPr>
        </p:nvSpPr>
        <p:spPr/>
        <p:txBody>
          <a:bodyPr/>
          <a:lstStyle/>
          <a:p>
            <a:r>
              <a:rPr lang="en-US" dirty="0"/>
              <a:t>HDLC</a:t>
            </a:r>
          </a:p>
        </p:txBody>
      </p:sp>
      <p:sp>
        <p:nvSpPr>
          <p:cNvPr id="3" name="Content Placeholder 2">
            <a:extLst>
              <a:ext uri="{FF2B5EF4-FFF2-40B4-BE49-F238E27FC236}">
                <a16:creationId xmlns:a16="http://schemas.microsoft.com/office/drawing/2014/main" id="{A7BC439B-A428-F545-9B34-2BFF53E7E959}"/>
              </a:ext>
            </a:extLst>
          </p:cNvPr>
          <p:cNvSpPr>
            <a:spLocks noGrp="1"/>
          </p:cNvSpPr>
          <p:nvPr>
            <p:ph idx="1"/>
          </p:nvPr>
        </p:nvSpPr>
        <p:spPr>
          <a:xfrm>
            <a:off x="731520" y="1572769"/>
            <a:ext cx="10622280" cy="4299394"/>
          </a:xfrm>
        </p:spPr>
        <p:txBody>
          <a:bodyPr>
            <a:normAutofit lnSpcReduction="10000"/>
          </a:bodyPr>
          <a:lstStyle/>
          <a:p>
            <a:r>
              <a:rPr lang="en-US" dirty="0"/>
              <a:t>HDLC (High-level Data Link Control) is an error and flow control protocol for a layer that directly interfaces to the physical media.</a:t>
            </a:r>
          </a:p>
          <a:p>
            <a:r>
              <a:rPr lang="en-US" dirty="0"/>
              <a:t>The Standard is a collection of mechanisms that can be assembled into variations of the basic protocol to support synchronous/asynchronous, point-to-point/multipoint, etc. </a:t>
            </a:r>
          </a:p>
          <a:p>
            <a:r>
              <a:rPr lang="en-US" dirty="0"/>
              <a:t>It has the following mechanisms and policies:</a:t>
            </a:r>
          </a:p>
          <a:p>
            <a:pPr lvl="1"/>
            <a:r>
              <a:rPr lang="en-US" sz="1600" dirty="0"/>
              <a:t>Delimiting:				External delimiting, Flag 01111110</a:t>
            </a:r>
          </a:p>
          <a:p>
            <a:pPr lvl="1"/>
            <a:r>
              <a:rPr lang="en-US" sz="1600" dirty="0"/>
              <a:t>Packing SDUs into PDUs:		1:1</a:t>
            </a:r>
          </a:p>
          <a:p>
            <a:pPr lvl="1"/>
            <a:r>
              <a:rPr lang="en-US" sz="1600" dirty="0"/>
              <a:t>Ordering/Sequencing:			Sequence Numbers, 3 or 8 bits</a:t>
            </a:r>
          </a:p>
          <a:p>
            <a:pPr lvl="1"/>
            <a:r>
              <a:rPr lang="en-US" sz="1600" dirty="0"/>
              <a:t>Lost and Duplicate Detection:	 	Fixed Sliding Window</a:t>
            </a:r>
          </a:p>
          <a:p>
            <a:pPr lvl="1"/>
            <a:r>
              <a:rPr lang="en-US" sz="1600" dirty="0"/>
              <a:t>Data Corruption Detection:		16-bit CRC</a:t>
            </a:r>
          </a:p>
          <a:p>
            <a:pPr lvl="1"/>
            <a:r>
              <a:rPr lang="en-US" sz="1600" dirty="0"/>
              <a:t>Transfer:				If there is data, send it</a:t>
            </a:r>
          </a:p>
          <a:p>
            <a:pPr lvl="1"/>
            <a:r>
              <a:rPr lang="en-US" sz="1600" dirty="0"/>
              <a:t>Flow Control:  Fixed Window, 		7 or  127 outstanding</a:t>
            </a:r>
          </a:p>
          <a:p>
            <a:pPr lvl="1" indent="-276225"/>
            <a:r>
              <a:rPr lang="en-US" sz="1600" dirty="0"/>
              <a:t>Retransmission Control:  		Sending Ack advances Window. Retransmit all 							</a:t>
            </a:r>
            <a:r>
              <a:rPr lang="en-US" sz="1600" dirty="0" err="1"/>
              <a:t>unack’ed</a:t>
            </a:r>
            <a:r>
              <a:rPr lang="en-US" sz="1600" dirty="0"/>
              <a:t> frames on timeout. RNR, RR needed.</a:t>
            </a:r>
          </a:p>
          <a:p>
            <a:pPr lvl="1"/>
            <a:r>
              <a:rPr lang="en-US" sz="1600" dirty="0"/>
              <a:t>Number of PDU Types:			3, I-frames, S-frames, U-frames</a:t>
            </a:r>
          </a:p>
          <a:p>
            <a:endParaRPr lang="en-US" dirty="0"/>
          </a:p>
        </p:txBody>
      </p:sp>
    </p:spTree>
    <p:extLst>
      <p:ext uri="{BB962C8B-B14F-4D97-AF65-F5344CB8AC3E}">
        <p14:creationId xmlns:p14="http://schemas.microsoft.com/office/powerpoint/2010/main" val="3842584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87BB-2DAF-885E-8CAB-0693D735E1A5}"/>
              </a:ext>
            </a:extLst>
          </p:cNvPr>
          <p:cNvSpPr>
            <a:spLocks noGrp="1"/>
          </p:cNvSpPr>
          <p:nvPr>
            <p:ph type="title"/>
          </p:nvPr>
        </p:nvSpPr>
        <p:spPr>
          <a:xfrm>
            <a:off x="655320" y="133477"/>
            <a:ext cx="10515600" cy="1325563"/>
          </a:xfrm>
        </p:spPr>
        <p:txBody>
          <a:bodyPr/>
          <a:lstStyle/>
          <a:p>
            <a:r>
              <a:rPr lang="en-US" dirty="0"/>
              <a:t>HDLC</a:t>
            </a:r>
          </a:p>
        </p:txBody>
      </p:sp>
      <p:sp>
        <p:nvSpPr>
          <p:cNvPr id="3" name="Content Placeholder 2">
            <a:extLst>
              <a:ext uri="{FF2B5EF4-FFF2-40B4-BE49-F238E27FC236}">
                <a16:creationId xmlns:a16="http://schemas.microsoft.com/office/drawing/2014/main" id="{B46CDD45-5E19-DBFE-B4EB-05E1E34FD3A6}"/>
              </a:ext>
            </a:extLst>
          </p:cNvPr>
          <p:cNvSpPr>
            <a:spLocks noGrp="1"/>
          </p:cNvSpPr>
          <p:nvPr>
            <p:ph idx="1"/>
          </p:nvPr>
        </p:nvSpPr>
        <p:spPr>
          <a:xfrm>
            <a:off x="655319" y="1226756"/>
            <a:ext cx="9944501" cy="4933412"/>
          </a:xfrm>
        </p:spPr>
        <p:txBody>
          <a:bodyPr>
            <a:normAutofit fontScale="85000" lnSpcReduction="20000"/>
          </a:bodyPr>
          <a:lstStyle/>
          <a:p>
            <a:r>
              <a:rPr lang="en-US" dirty="0"/>
              <a:t>HDLC was initiated by IBM submitting its SDLC in 1970 to ISO, but still close to Bi-sync</a:t>
            </a:r>
            <a:endParaRPr lang="en-US" sz="1600" dirty="0"/>
          </a:p>
          <a:p>
            <a:pPr lvl="1"/>
            <a:r>
              <a:rPr lang="en-US" dirty="0"/>
              <a:t>French contributions drove development of HDLC, so that</a:t>
            </a:r>
          </a:p>
          <a:p>
            <a:pPr lvl="1"/>
            <a:r>
              <a:rPr lang="en-US" dirty="0"/>
              <a:t>SDLC is the </a:t>
            </a:r>
            <a:r>
              <a:rPr lang="en-US" dirty="0" err="1"/>
              <a:t>Sychronous</a:t>
            </a:r>
            <a:r>
              <a:rPr lang="en-US" dirty="0"/>
              <a:t> configuration within HDLC.</a:t>
            </a:r>
          </a:p>
          <a:p>
            <a:pPr lvl="1"/>
            <a:r>
              <a:rPr lang="en-US" dirty="0"/>
              <a:t>As a point-to-point protocol, HDLC could easily be configured to enforce the Watson bounds. </a:t>
            </a:r>
          </a:p>
          <a:p>
            <a:r>
              <a:rPr lang="en-US" dirty="0"/>
              <a:t>It is distinctly in the data-comm mindset, where special cases are preferred to degenerate cases.</a:t>
            </a:r>
          </a:p>
          <a:p>
            <a:pPr lvl="1"/>
            <a:r>
              <a:rPr lang="en-US" dirty="0"/>
              <a:t>The static window is clearly an indication that static buffer allocation was intended at the time.</a:t>
            </a:r>
          </a:p>
          <a:p>
            <a:pPr lvl="1"/>
            <a:r>
              <a:rPr lang="en-US" dirty="0"/>
              <a:t>Using a static window requires the inclusion of the Receiver Not Ready (RNR) and Receiver Ready (RR) commands.</a:t>
            </a:r>
          </a:p>
          <a:p>
            <a:pPr lvl="2"/>
            <a:r>
              <a:rPr lang="en-US" dirty="0"/>
              <a:t>To handle the case, where a PDU has been successfully received but there is insufficient buffer space to receive more PDUs that would be enabled by </a:t>
            </a:r>
            <a:r>
              <a:rPr lang="en-US" dirty="0" err="1"/>
              <a:t>Ack’ing</a:t>
            </a:r>
            <a:r>
              <a:rPr lang="en-US" dirty="0"/>
              <a:t> the one just received. RNR ack’s the just received PDU the window is advanced, but the sender is blocked.  RR unblocks the sender.</a:t>
            </a:r>
          </a:p>
          <a:p>
            <a:pPr lvl="2"/>
            <a:r>
              <a:rPr lang="en-US" dirty="0"/>
              <a:t>Such commands are unnecessary with a dynamic window.</a:t>
            </a:r>
          </a:p>
          <a:p>
            <a:r>
              <a:rPr lang="en-US" dirty="0"/>
              <a:t>Over the years, there have been many variations on HDLC and the use of its elements in other protocols, especially the CRC and the bit-stuffing convention for delimiting.</a:t>
            </a:r>
          </a:p>
          <a:p>
            <a:r>
              <a:rPr lang="en-US" dirty="0"/>
              <a:t>Using Canonical EFCP, while one could do a static window, one would move to a dynamic window, but otherwise it is straightforward. The HDLC frame delimiter and CRC can be used. Other parameters and policies would depend on specific environment, such as propagation time, data rate, etc.</a:t>
            </a:r>
          </a:p>
          <a:p>
            <a:r>
              <a:rPr lang="en-US" dirty="0"/>
              <a:t>Engineering intuition is often correct: It was often the case that product (and chips) separated the flag and CRC as a separate entity from the rest of the protocol. This is consistent with our observation that they are not actually part of the protocol.</a:t>
            </a:r>
          </a:p>
          <a:p>
            <a:pPr lvl="1"/>
            <a:r>
              <a:rPr lang="en-US" dirty="0"/>
              <a:t>Even the order is correct, but in different layers.</a:t>
            </a:r>
          </a:p>
        </p:txBody>
      </p:sp>
    </p:spTree>
    <p:extLst>
      <p:ext uri="{BB962C8B-B14F-4D97-AF65-F5344CB8AC3E}">
        <p14:creationId xmlns:p14="http://schemas.microsoft.com/office/powerpoint/2010/main" val="463085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0823-88B9-4EE5-604D-6DBC943600DB}"/>
              </a:ext>
            </a:extLst>
          </p:cNvPr>
          <p:cNvSpPr>
            <a:spLocks noGrp="1"/>
          </p:cNvSpPr>
          <p:nvPr>
            <p:ph type="title"/>
          </p:nvPr>
        </p:nvSpPr>
        <p:spPr/>
        <p:txBody>
          <a:bodyPr/>
          <a:lstStyle/>
          <a:p>
            <a:r>
              <a:rPr lang="en-US" dirty="0"/>
              <a:t>TCP/UDP/IP</a:t>
            </a:r>
          </a:p>
        </p:txBody>
      </p:sp>
      <p:sp>
        <p:nvSpPr>
          <p:cNvPr id="3" name="Content Placeholder 2">
            <a:extLst>
              <a:ext uri="{FF2B5EF4-FFF2-40B4-BE49-F238E27FC236}">
                <a16:creationId xmlns:a16="http://schemas.microsoft.com/office/drawing/2014/main" id="{A7BC439B-A428-F545-9B34-2BFF53E7E959}"/>
              </a:ext>
            </a:extLst>
          </p:cNvPr>
          <p:cNvSpPr>
            <a:spLocks noGrp="1"/>
          </p:cNvSpPr>
          <p:nvPr>
            <p:ph idx="1"/>
          </p:nvPr>
        </p:nvSpPr>
        <p:spPr>
          <a:xfrm>
            <a:off x="838200" y="1447672"/>
            <a:ext cx="10515600" cy="5410327"/>
          </a:xfrm>
        </p:spPr>
        <p:txBody>
          <a:bodyPr>
            <a:normAutofit/>
          </a:bodyPr>
          <a:lstStyle/>
          <a:p>
            <a:r>
              <a:rPr lang="en-US" dirty="0"/>
              <a:t>There is so much one could say about TCP/IP and its problems. But we will try to keep it short.</a:t>
            </a:r>
          </a:p>
          <a:p>
            <a:r>
              <a:rPr lang="en-US" dirty="0"/>
              <a:t>First, its history</a:t>
            </a:r>
          </a:p>
          <a:p>
            <a:pPr lvl="1"/>
            <a:r>
              <a:rPr lang="en-US" dirty="0"/>
              <a:t>Based on CYCLADES TS, which appeared in 1972.</a:t>
            </a:r>
          </a:p>
          <a:p>
            <a:pPr lvl="1"/>
            <a:r>
              <a:rPr lang="en-US" dirty="0"/>
              <a:t>First draft of TCP appears for limited review in June 1973, with a more ‘final’ draft in Sept 73 as minutes of the June INWG meeting and a July meeting at Stanford, published in IEEE May 1974 by Cerf and Kahn, first full specification 1975.</a:t>
            </a:r>
          </a:p>
          <a:p>
            <a:pPr lvl="1"/>
            <a:r>
              <a:rPr lang="en-US" dirty="0"/>
              <a:t>IP split from TCP in 1978. (Breaking fragmentation/reassembly)</a:t>
            </a:r>
          </a:p>
          <a:p>
            <a:pPr lvl="1"/>
            <a:r>
              <a:rPr lang="en-US" dirty="0"/>
              <a:t>TCP deployed in Jan 1, 1983, which is considerably modified from the 1974 paper.</a:t>
            </a:r>
          </a:p>
          <a:p>
            <a:r>
              <a:rPr lang="en-US" dirty="0"/>
              <a:t>Unique Characteristics</a:t>
            </a:r>
          </a:p>
          <a:p>
            <a:pPr lvl="1"/>
            <a:r>
              <a:rPr lang="en-US" dirty="0"/>
              <a:t>Single header format</a:t>
            </a:r>
          </a:p>
          <a:p>
            <a:pPr lvl="2"/>
            <a:r>
              <a:rPr lang="en-US" dirty="0"/>
              <a:t>Requiring Control Bits rather than PDU types</a:t>
            </a:r>
          </a:p>
          <a:p>
            <a:pPr lvl="1"/>
            <a:r>
              <a:rPr lang="en-US" dirty="0"/>
              <a:t>Byte sequencing</a:t>
            </a:r>
          </a:p>
          <a:p>
            <a:pPr lvl="1"/>
            <a:r>
              <a:rPr lang="en-US" dirty="0"/>
              <a:t>Pseudo-header</a:t>
            </a:r>
          </a:p>
          <a:p>
            <a:pPr lvl="1"/>
            <a:r>
              <a:rPr lang="en-US" dirty="0"/>
              <a:t>Does not separate port-id and connection-endpoint-id</a:t>
            </a:r>
          </a:p>
          <a:p>
            <a:pPr lvl="1"/>
            <a:r>
              <a:rPr lang="en-US" dirty="0"/>
              <a:t>Use of connection-id to identify application type, no means to specify a specific application.</a:t>
            </a:r>
          </a:p>
          <a:p>
            <a:pPr lvl="2"/>
            <a:r>
              <a:rPr lang="en-US" dirty="0"/>
              <a:t>This is carried over from the ARPANET NCP</a:t>
            </a:r>
          </a:p>
          <a:p>
            <a:pPr lvl="1"/>
            <a:r>
              <a:rPr lang="en-US" dirty="0"/>
              <a:t>Stream-oriented API</a:t>
            </a:r>
          </a:p>
        </p:txBody>
      </p:sp>
    </p:spTree>
    <p:extLst>
      <p:ext uri="{BB962C8B-B14F-4D97-AF65-F5344CB8AC3E}">
        <p14:creationId xmlns:p14="http://schemas.microsoft.com/office/powerpoint/2010/main" val="1664368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2C0BF-987C-EBDF-C893-CEEC283BB123}"/>
              </a:ext>
            </a:extLst>
          </p:cNvPr>
          <p:cNvSpPr>
            <a:spLocks noGrp="1"/>
          </p:cNvSpPr>
          <p:nvPr>
            <p:ph type="title"/>
          </p:nvPr>
        </p:nvSpPr>
        <p:spPr>
          <a:xfrm>
            <a:off x="838200" y="96210"/>
            <a:ext cx="10515600" cy="1325563"/>
          </a:xfrm>
        </p:spPr>
        <p:txBody>
          <a:bodyPr/>
          <a:lstStyle/>
          <a:p>
            <a:r>
              <a:rPr lang="en-US" dirty="0"/>
              <a:t>Early peculiarities</a:t>
            </a:r>
          </a:p>
        </p:txBody>
      </p:sp>
      <p:sp>
        <p:nvSpPr>
          <p:cNvPr id="3" name="Content Placeholder 2">
            <a:extLst>
              <a:ext uri="{FF2B5EF4-FFF2-40B4-BE49-F238E27FC236}">
                <a16:creationId xmlns:a16="http://schemas.microsoft.com/office/drawing/2014/main" id="{9383207B-57AD-0B93-C255-BBC4E140870C}"/>
              </a:ext>
            </a:extLst>
          </p:cNvPr>
          <p:cNvSpPr>
            <a:spLocks noGrp="1"/>
          </p:cNvSpPr>
          <p:nvPr>
            <p:ph idx="1"/>
          </p:nvPr>
        </p:nvSpPr>
        <p:spPr>
          <a:xfrm>
            <a:off x="838199" y="1157077"/>
            <a:ext cx="10882745" cy="5382267"/>
          </a:xfrm>
        </p:spPr>
        <p:txBody>
          <a:bodyPr>
            <a:normAutofit lnSpcReduction="10000"/>
          </a:bodyPr>
          <a:lstStyle/>
          <a:p>
            <a:r>
              <a:rPr lang="en-US" dirty="0"/>
              <a:t>The Problem before them in 1972 was, how to do internetworking.</a:t>
            </a:r>
          </a:p>
          <a:p>
            <a:pPr lvl="1"/>
            <a:r>
              <a:rPr lang="en-US" dirty="0"/>
              <a:t>Cerf and Kahn had been concentrating on how to do protocol translation at gateways between networks.</a:t>
            </a:r>
          </a:p>
          <a:p>
            <a:pPr lvl="2"/>
            <a:r>
              <a:rPr lang="en-US" dirty="0"/>
              <a:t>This is very messy and an n</a:t>
            </a:r>
            <a:r>
              <a:rPr lang="en-US" baseline="30000" dirty="0"/>
              <a:t>2 </a:t>
            </a:r>
            <a:r>
              <a:rPr lang="en-US" dirty="0"/>
              <a:t>problem to be avoided, if possible.</a:t>
            </a:r>
          </a:p>
          <a:p>
            <a:pPr lvl="1"/>
            <a:r>
              <a:rPr lang="en-US" dirty="0"/>
              <a:t>First exposed to the concept of datagrams and end-to-end transport, October 1972.</a:t>
            </a:r>
          </a:p>
          <a:p>
            <a:pPr lvl="1"/>
            <a:r>
              <a:rPr lang="en-US" dirty="0"/>
              <a:t>CYCLADES realized that because they assumed hosts were not to be near network switches (routers), simply re-labeling the Transport Layer, an Internet Transport Layer, an overlay over multiple networks, the messy protocol translation problem is completely avoided.</a:t>
            </a:r>
          </a:p>
          <a:p>
            <a:pPr lvl="2"/>
            <a:r>
              <a:rPr lang="en-US" dirty="0"/>
              <a:t>The only requirement on the individual networks is to support the minimal requirements of the Transport Layer, i.e., loss due to congestion and rare memory errors during relaying.</a:t>
            </a:r>
          </a:p>
          <a:p>
            <a:pPr lvl="3"/>
            <a:r>
              <a:rPr lang="en-US" dirty="0"/>
              <a:t>Only requires changing parameters, more address, longer RTT, etc.</a:t>
            </a:r>
          </a:p>
          <a:p>
            <a:pPr lvl="2"/>
            <a:r>
              <a:rPr lang="en-US" dirty="0"/>
              <a:t>Errors caused by the media are dealt with at the Data Link Layer, as they should be.</a:t>
            </a:r>
          </a:p>
          <a:p>
            <a:pPr lvl="1"/>
            <a:r>
              <a:rPr lang="en-US" dirty="0"/>
              <a:t>This is the solution to internetworking.</a:t>
            </a:r>
          </a:p>
          <a:p>
            <a:pPr lvl="2"/>
            <a:r>
              <a:rPr lang="en-US" dirty="0"/>
              <a:t>No mention of it in the Cerf/Kahn 74 paper, only 2-pages on protocol translation. (?)</a:t>
            </a:r>
          </a:p>
          <a:p>
            <a:r>
              <a:rPr lang="en-US" dirty="0"/>
              <a:t>Kahn strongly pursued finding congestion in the ARPANET (Hafner, 1996; Abbate, 1999)</a:t>
            </a:r>
          </a:p>
          <a:p>
            <a:pPr lvl="1"/>
            <a:r>
              <a:rPr lang="en-US" dirty="0"/>
              <a:t>And found it, or did he? Never considered congestion with datagrams in the Internet. However, . . .</a:t>
            </a:r>
          </a:p>
          <a:p>
            <a:pPr lvl="2"/>
            <a:r>
              <a:rPr lang="en-US" dirty="0"/>
              <a:t>Davies pointed it out 1966, and CYCLADES recognized it when they adopted datagrams in 1972 and tasked Waterloo with doing research on it. The Internet didn’t address the issue until 1986, when it collapsed.</a:t>
            </a:r>
          </a:p>
          <a:p>
            <a:pPr lvl="1"/>
            <a:r>
              <a:rPr lang="en-US" dirty="0"/>
              <a:t>There were deadlocks in the ARPANET, which is what Kahn found</a:t>
            </a:r>
          </a:p>
          <a:p>
            <a:pPr lvl="2"/>
            <a:r>
              <a:rPr lang="en-US" dirty="0"/>
              <a:t>The ARPANET was basically virtual-circuit so there was no congestion, just a reassembly problem in the front-end.</a:t>
            </a:r>
          </a:p>
          <a:p>
            <a:pPr lvl="2"/>
            <a:endParaRPr lang="en-US" dirty="0"/>
          </a:p>
          <a:p>
            <a:pPr lvl="2"/>
            <a:endParaRPr lang="en-US" dirty="0"/>
          </a:p>
        </p:txBody>
      </p:sp>
    </p:spTree>
    <p:extLst>
      <p:ext uri="{BB962C8B-B14F-4D97-AF65-F5344CB8AC3E}">
        <p14:creationId xmlns:p14="http://schemas.microsoft.com/office/powerpoint/2010/main" val="128968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dirty="0">
                <a:solidFill>
                  <a:schemeClr val="tx1"/>
                </a:solidFill>
                <a:latin typeface="Times New Roman" panose="02020603050405020304" pitchFamily="18" charset="0"/>
                <a:cs typeface="Times New Roman" panose="02020603050405020304" pitchFamily="18" charset="0"/>
              </a:rPr>
              <a:t>The IP Version 4 </a:t>
            </a:r>
            <a:r>
              <a:rPr lang="it-IT" sz="3200" dirty="0" err="1">
                <a:solidFill>
                  <a:schemeClr val="tx1"/>
                </a:solidFill>
                <a:latin typeface="Times New Roman" panose="02020603050405020304" pitchFamily="18" charset="0"/>
                <a:cs typeface="Times New Roman" panose="02020603050405020304" pitchFamily="18" charset="0"/>
              </a:rPr>
              <a:t>Protocol</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lgn="ctr"/>
            <a:r>
              <a:rPr lang="en-US" dirty="0"/>
              <a:t>The IPv4 (Internet Protocol version 4) header</a:t>
            </a:r>
          </a:p>
        </p:txBody>
      </p:sp>
      <p:pic>
        <p:nvPicPr>
          <p:cNvPr id="9" name="Picture Placeholder 8" descr="Short Description: &#10;A diagram shows the I P v4 (Internet Protocol version 4) header.&#10;&#10;Long Description: &#10;The header is 32 bits. The section below it has four parts labeled, version, I H L, differentiated services, total length. The next section has parts labeled, identification, D F, M F, and fragment offset. The next section is parts labeled, time to live, protocol, and header checksum. The other sections are source address, destination address, options (0 or more words).&#10;"/>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2290916" y="1786661"/>
            <a:ext cx="7610168" cy="3264310"/>
          </a:xfrm>
        </p:spPr>
      </p:pic>
    </p:spTree>
    <p:extLst>
      <p:ext uri="{BB962C8B-B14F-4D97-AF65-F5344CB8AC3E}">
        <p14:creationId xmlns:p14="http://schemas.microsoft.com/office/powerpoint/2010/main" val="29768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5C93A-D4D8-8C7C-5110-7216764EB215}"/>
              </a:ext>
            </a:extLst>
          </p:cNvPr>
          <p:cNvSpPr>
            <a:spLocks noGrp="1"/>
          </p:cNvSpPr>
          <p:nvPr>
            <p:ph type="title"/>
          </p:nvPr>
        </p:nvSpPr>
        <p:spPr/>
        <p:txBody>
          <a:bodyPr/>
          <a:lstStyle/>
          <a:p>
            <a:r>
              <a:rPr lang="en-US" dirty="0"/>
              <a:t>Digression:  Why the Protocol-Id field? (1 of 3)</a:t>
            </a:r>
            <a:br>
              <a:rPr lang="en-US" dirty="0"/>
            </a:br>
            <a:r>
              <a:rPr lang="en-US" sz="2000" dirty="0"/>
              <a:t>Isn’t this a layer violation?</a:t>
            </a:r>
            <a:endParaRPr lang="en-US" dirty="0"/>
          </a:p>
        </p:txBody>
      </p:sp>
      <p:sp>
        <p:nvSpPr>
          <p:cNvPr id="3" name="Content Placeholder 2">
            <a:extLst>
              <a:ext uri="{FF2B5EF4-FFF2-40B4-BE49-F238E27FC236}">
                <a16:creationId xmlns:a16="http://schemas.microsoft.com/office/drawing/2014/main" id="{A5FF8219-1BAD-896C-0940-C416CFAA2ACD}"/>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Yes, </a:t>
            </a:r>
            <a:r>
              <a:rPr lang="en-US" dirty="0"/>
              <a:t>that has always been a question. It was clearly necessary, but why?</a:t>
            </a:r>
          </a:p>
          <a:p>
            <a:pPr lvl="1"/>
            <a:r>
              <a:rPr lang="en-US" dirty="0"/>
              <a:t>In fact, it was the first commentary on the OSI Reference Model, which concluded it was.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you ask an expert, they will tell you that it identifies the protocol in the User-Data.</a:t>
            </a:r>
          </a:p>
          <a:p>
            <a:pPr lvl="1"/>
            <a:r>
              <a:rPr lang="en-US" sz="1800" dirty="0">
                <a:latin typeface="Times New Roman" panose="02020603050405020304" pitchFamily="18" charset="0"/>
                <a:cs typeface="Times New Roman" panose="02020603050405020304" pitchFamily="18" charset="0"/>
              </a:rPr>
              <a:t>But that can’t be right. It can’t identify more than one occurrence of the same protocol.</a:t>
            </a:r>
          </a:p>
          <a:p>
            <a:pPr lvl="1"/>
            <a:r>
              <a:rPr lang="en-US" dirty="0"/>
              <a:t>It only identifies what kind it is, but why?</a:t>
            </a:r>
            <a:endParaRPr lang="en-US" sz="1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we were working on making the Application Layer recursive,</a:t>
            </a:r>
          </a:p>
          <a:p>
            <a:pPr lvl="1"/>
            <a:r>
              <a:rPr lang="en-US" sz="1800" dirty="0">
                <a:latin typeface="Times New Roman" panose="02020603050405020304" pitchFamily="18" charset="0"/>
                <a:cs typeface="Times New Roman" panose="02020603050405020304" pitchFamily="18" charset="0"/>
              </a:rPr>
              <a:t>We found that ACSE (to create application connections) needed to identify the syntax of the Data Transfer Phase. In Application Layer terms, it needed to specify the Presentation-Context.</a:t>
            </a:r>
          </a:p>
          <a:p>
            <a:pPr lvl="1"/>
            <a:r>
              <a:rPr lang="en-US" sz="1800" dirty="0">
                <a:latin typeface="Times New Roman" panose="02020603050405020304" pitchFamily="18" charset="0"/>
                <a:cs typeface="Times New Roman" panose="02020603050405020304" pitchFamily="18" charset="0"/>
              </a:rPr>
              <a:t>THAT was what the Protocol-Id field was doing: identifying the syntax of the User-Data.</a:t>
            </a:r>
          </a:p>
          <a:p>
            <a:r>
              <a:rPr lang="en-US" dirty="0"/>
              <a:t>That answers What it does, but not Why is it needed?</a:t>
            </a:r>
          </a:p>
          <a:p>
            <a:pPr lvl="1"/>
            <a:r>
              <a:rPr lang="en-US" sz="1800" dirty="0">
                <a:latin typeface="Times New Roman" panose="02020603050405020304" pitchFamily="18" charset="0"/>
                <a:cs typeface="Times New Roman" panose="02020603050405020304" pitchFamily="18" charset="0"/>
              </a:rPr>
              <a:t>Other protocols don’t need it.</a:t>
            </a:r>
          </a:p>
          <a:p>
            <a:pPr lvl="1"/>
            <a:r>
              <a:rPr lang="en-US" sz="1800" dirty="0">
                <a:latin typeface="Times New Roman" panose="02020603050405020304" pitchFamily="18" charset="0"/>
                <a:cs typeface="Times New Roman" panose="02020603050405020304" pitchFamily="18" charset="0"/>
              </a:rPr>
              <a:t>Hint:  IP (and Ethernet MAC) don’t have a connection-id, i.e., port-ids.</a:t>
            </a:r>
          </a:p>
          <a:p>
            <a:pPr lvl="2"/>
            <a:r>
              <a:rPr lang="en-US" sz="1600" dirty="0">
                <a:latin typeface="Times New Roman" panose="02020603050405020304" pitchFamily="18" charset="0"/>
                <a:cs typeface="Times New Roman" panose="02020603050405020304" pitchFamily="18" charset="0"/>
              </a:rPr>
              <a:t>Of course not, they’re connectionless!!</a:t>
            </a:r>
          </a:p>
          <a:p>
            <a:pPr marL="0" indent="0">
              <a:buNone/>
            </a:pPr>
            <a:endParaRPr lang="en-US" dirty="0"/>
          </a:p>
        </p:txBody>
      </p:sp>
    </p:spTree>
    <p:extLst>
      <p:ext uri="{BB962C8B-B14F-4D97-AF65-F5344CB8AC3E}">
        <p14:creationId xmlns:p14="http://schemas.microsoft.com/office/powerpoint/2010/main" val="2685592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077FE-8287-F9B6-9253-E57B81CB636F}"/>
              </a:ext>
            </a:extLst>
          </p:cNvPr>
          <p:cNvSpPr>
            <a:spLocks noGrp="1"/>
          </p:cNvSpPr>
          <p:nvPr>
            <p:ph type="title"/>
          </p:nvPr>
        </p:nvSpPr>
        <p:spPr/>
        <p:txBody>
          <a:bodyPr>
            <a:normAutofit/>
          </a:bodyPr>
          <a:lstStyle/>
          <a:p>
            <a:r>
              <a:rPr lang="en-US" sz="2800" dirty="0"/>
              <a:t>Digression: Why the Protocol-Id Field? (2 of 3)</a:t>
            </a:r>
          </a:p>
        </p:txBody>
      </p:sp>
      <p:sp>
        <p:nvSpPr>
          <p:cNvPr id="3" name="Content Placeholder 2">
            <a:extLst>
              <a:ext uri="{FF2B5EF4-FFF2-40B4-BE49-F238E27FC236}">
                <a16:creationId xmlns:a16="http://schemas.microsoft.com/office/drawing/2014/main" id="{C11372C6-0452-D65D-5218-3AB0BFE8161B}"/>
              </a:ext>
            </a:extLst>
          </p:cNvPr>
          <p:cNvSpPr>
            <a:spLocks noGrp="1"/>
          </p:cNvSpPr>
          <p:nvPr>
            <p:ph idx="1"/>
          </p:nvPr>
        </p:nvSpPr>
        <p:spPr>
          <a:xfrm>
            <a:off x="838200" y="1584994"/>
            <a:ext cx="10515600" cy="4351338"/>
          </a:xfrm>
        </p:spPr>
        <p:txBody>
          <a:bodyPr/>
          <a:lstStyle/>
          <a:p>
            <a:r>
              <a:rPr lang="en-US" dirty="0"/>
              <a:t>Note:  These protocols don’t have port-ids because they don’t have an Allocation Phase.</a:t>
            </a:r>
          </a:p>
          <a:p>
            <a:r>
              <a:rPr lang="en-US" dirty="0"/>
              <a:t>Of course not, they’re connectionless!!</a:t>
            </a:r>
          </a:p>
          <a:p>
            <a:pPr lvl="1"/>
            <a:r>
              <a:rPr lang="en-US" dirty="0"/>
              <a:t>The zealousness of the convert. Always more pure than the original.</a:t>
            </a:r>
          </a:p>
          <a:p>
            <a:r>
              <a:rPr lang="en-US" dirty="0"/>
              <a:t>Are they a separate Layer?   Yes.</a:t>
            </a:r>
          </a:p>
          <a:p>
            <a:r>
              <a:rPr lang="en-US" dirty="0"/>
              <a:t>Are the addresses part of IP?  Yes.</a:t>
            </a:r>
          </a:p>
          <a:p>
            <a:r>
              <a:rPr lang="en-US" dirty="0"/>
              <a:t>Then how does the Transport Layer tell the IP Layer where to send the PDU?</a:t>
            </a:r>
          </a:p>
          <a:p>
            <a:pPr lvl="1"/>
            <a:r>
              <a:rPr lang="en-US" dirty="0"/>
              <a:t>Because addresses are exposed at the layer boundary.</a:t>
            </a:r>
          </a:p>
          <a:p>
            <a:pPr lvl="2"/>
            <a:r>
              <a:rPr lang="en-US" dirty="0"/>
              <a:t>The Application makes the mapping from application-name to network-address.</a:t>
            </a:r>
          </a:p>
          <a:p>
            <a:r>
              <a:rPr lang="en-US" dirty="0"/>
              <a:t>But that is a security </a:t>
            </a:r>
            <a:r>
              <a:rPr lang="en-US" dirty="0" err="1"/>
              <a:t>vulernability</a:t>
            </a:r>
            <a:r>
              <a:rPr lang="en-US" dirty="0"/>
              <a:t>.  Yes.</a:t>
            </a:r>
          </a:p>
          <a:p>
            <a:r>
              <a:rPr lang="en-US" dirty="0"/>
              <a:t>There is no Allocation Phase?</a:t>
            </a:r>
          </a:p>
          <a:p>
            <a:pPr marL="457200" lvl="1" indent="0">
              <a:buNone/>
            </a:pPr>
            <a:endParaRPr lang="en-US" dirty="0"/>
          </a:p>
        </p:txBody>
      </p:sp>
    </p:spTree>
    <p:extLst>
      <p:ext uri="{BB962C8B-B14F-4D97-AF65-F5344CB8AC3E}">
        <p14:creationId xmlns:p14="http://schemas.microsoft.com/office/powerpoint/2010/main" val="417525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7F191-5453-249A-2B53-D2914D083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76F469-CFD5-08F8-4B62-4262B8AC9B37}"/>
              </a:ext>
            </a:extLst>
          </p:cNvPr>
          <p:cNvSpPr>
            <a:spLocks noGrp="1"/>
          </p:cNvSpPr>
          <p:nvPr>
            <p:ph type="title"/>
          </p:nvPr>
        </p:nvSpPr>
        <p:spPr/>
        <p:txBody>
          <a:bodyPr>
            <a:normAutofit/>
          </a:bodyPr>
          <a:lstStyle/>
          <a:p>
            <a:r>
              <a:rPr lang="en-US" sz="2800" dirty="0"/>
              <a:t>Digression: Why the Protocol-Id Field? (3 of 3)</a:t>
            </a:r>
          </a:p>
        </p:txBody>
      </p:sp>
      <p:sp>
        <p:nvSpPr>
          <p:cNvPr id="3" name="Content Placeholder 2">
            <a:extLst>
              <a:ext uri="{FF2B5EF4-FFF2-40B4-BE49-F238E27FC236}">
                <a16:creationId xmlns:a16="http://schemas.microsoft.com/office/drawing/2014/main" id="{587E74D0-31E7-5627-5B71-9577FB7110F9}"/>
              </a:ext>
            </a:extLst>
          </p:cNvPr>
          <p:cNvSpPr>
            <a:spLocks noGrp="1"/>
          </p:cNvSpPr>
          <p:nvPr>
            <p:ph idx="1"/>
          </p:nvPr>
        </p:nvSpPr>
        <p:spPr>
          <a:xfrm>
            <a:off x="838200" y="1584994"/>
            <a:ext cx="10515600" cy="4351338"/>
          </a:xfrm>
        </p:spPr>
        <p:txBody>
          <a:bodyPr>
            <a:normAutofit lnSpcReduction="10000"/>
          </a:bodyPr>
          <a:lstStyle/>
          <a:p>
            <a:r>
              <a:rPr lang="en-US" dirty="0"/>
              <a:t>There is no Allocation Phase?</a:t>
            </a:r>
          </a:p>
          <a:p>
            <a:pPr lvl="1"/>
            <a:r>
              <a:rPr lang="en-US" dirty="0"/>
              <a:t>Right! It is connectionless!</a:t>
            </a:r>
          </a:p>
          <a:p>
            <a:pPr lvl="1"/>
            <a:r>
              <a:rPr lang="en-US" dirty="0"/>
              <a:t>The only way to create a UDP flow is manually. It can’t be done from a process?</a:t>
            </a:r>
          </a:p>
          <a:p>
            <a:pPr lvl="1"/>
            <a:r>
              <a:rPr lang="en-US" dirty="0"/>
              <a:t>Well, </a:t>
            </a:r>
            <a:r>
              <a:rPr lang="en-US" dirty="0" err="1"/>
              <a:t>errrr</a:t>
            </a:r>
            <a:r>
              <a:rPr lang="en-US" dirty="0"/>
              <a:t>, not until fairly recently.</a:t>
            </a:r>
          </a:p>
          <a:p>
            <a:r>
              <a:rPr lang="en-US" dirty="0"/>
              <a:t>What does </a:t>
            </a:r>
            <a:r>
              <a:rPr lang="en-US" i="1" dirty="0"/>
              <a:t>Allocation</a:t>
            </a:r>
            <a:r>
              <a:rPr lang="en-US" dirty="0"/>
              <a:t> have to do with connection or connectionless?</a:t>
            </a:r>
          </a:p>
          <a:p>
            <a:pPr lvl="1"/>
            <a:r>
              <a:rPr lang="en-US" dirty="0"/>
              <a:t>Well, nothing really.</a:t>
            </a:r>
          </a:p>
          <a:p>
            <a:r>
              <a:rPr lang="en-US" dirty="0"/>
              <a:t>If there is Allocation, then IP can be folded into the data transfer protocol, simplifying the code and reducing PCI overhead 25%.</a:t>
            </a:r>
          </a:p>
          <a:p>
            <a:pPr lvl="1"/>
            <a:r>
              <a:rPr lang="en-US" dirty="0"/>
              <a:t>But you eliminated IP!  Yea, interesting, isn’t it?  ;-)</a:t>
            </a:r>
          </a:p>
          <a:p>
            <a:r>
              <a:rPr lang="en-US" dirty="0"/>
              <a:t>And eliminates the protocol-id registration authority, fewer is always better.</a:t>
            </a:r>
          </a:p>
          <a:p>
            <a:pPr lvl="1"/>
            <a:r>
              <a:rPr lang="en-US" dirty="0"/>
              <a:t>But don’t you have to add CEP-ids? one for every destination!</a:t>
            </a:r>
          </a:p>
          <a:p>
            <a:pPr lvl="1"/>
            <a:r>
              <a:rPr lang="en-US" dirty="0"/>
              <a:t>No, the (N)-layer will create one flow per destination per QoS class. Fields already exist for that. </a:t>
            </a:r>
          </a:p>
          <a:p>
            <a:pPr lvl="1"/>
            <a:r>
              <a:rPr lang="en-US" dirty="0"/>
              <a:t>Some Layers might want a few sub-classes within a QoS-class (priority within the class).  Those would require perhaps a one-byte field.</a:t>
            </a:r>
          </a:p>
        </p:txBody>
      </p:sp>
    </p:spTree>
    <p:extLst>
      <p:ext uri="{BB962C8B-B14F-4D97-AF65-F5344CB8AC3E}">
        <p14:creationId xmlns:p14="http://schemas.microsoft.com/office/powerpoint/2010/main" val="173453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F781C-0BD1-B9E5-6F95-C6BFEC3C4CBE}"/>
              </a:ext>
            </a:extLst>
          </p:cNvPr>
          <p:cNvSpPr>
            <a:spLocks noGrp="1"/>
          </p:cNvSpPr>
          <p:nvPr>
            <p:ph type="title"/>
          </p:nvPr>
        </p:nvSpPr>
        <p:spPr>
          <a:xfrm>
            <a:off x="838200" y="61150"/>
            <a:ext cx="10515600" cy="1325563"/>
          </a:xfrm>
        </p:spPr>
        <p:txBody>
          <a:bodyPr/>
          <a:lstStyle/>
          <a:p>
            <a:r>
              <a:rPr lang="en-US" dirty="0"/>
              <a:t>IPv6 Changes </a:t>
            </a:r>
            <a:r>
              <a:rPr lang="en-US" sz="2000" dirty="0"/>
              <a:t>(from RFC 8200)</a:t>
            </a:r>
          </a:p>
        </p:txBody>
      </p:sp>
      <p:sp>
        <p:nvSpPr>
          <p:cNvPr id="3" name="Content Placeholder 2">
            <a:extLst>
              <a:ext uri="{FF2B5EF4-FFF2-40B4-BE49-F238E27FC236}">
                <a16:creationId xmlns:a16="http://schemas.microsoft.com/office/drawing/2014/main" id="{7BACD8F9-5B44-DD19-8D68-B9EF748D89AC}"/>
              </a:ext>
            </a:extLst>
          </p:cNvPr>
          <p:cNvSpPr>
            <a:spLocks noGrp="1"/>
          </p:cNvSpPr>
          <p:nvPr>
            <p:ph idx="1"/>
          </p:nvPr>
        </p:nvSpPr>
        <p:spPr>
          <a:xfrm>
            <a:off x="838200" y="1118488"/>
            <a:ext cx="10515600" cy="5050663"/>
          </a:xfrm>
        </p:spPr>
        <p:txBody>
          <a:bodyPr>
            <a:normAutofit fontScale="85000" lnSpcReduction="20000"/>
          </a:bodyPr>
          <a:lstStyle/>
          <a:p>
            <a:r>
              <a:rPr lang="en-US" dirty="0">
                <a:effectLst/>
              </a:rPr>
              <a:t>Expanded Addressing Capabilities</a:t>
            </a:r>
          </a:p>
          <a:p>
            <a:pPr lvl="1"/>
            <a:r>
              <a:rPr lang="en-US" dirty="0">
                <a:effectLst/>
              </a:rPr>
              <a:t>IPv6 increases the IP address size from 32 bits to 128 bits, to support more levels of addressing hierarchy, a much greater number of addressable nodes, and simpler autoconfiguration of addresses. The scalability of multicast routing is improved by adding a "scope" field to multicast addresses. And a new type of address called an "anycast address" is defined; it is used to send a packet to any one of a group of nodes. </a:t>
            </a:r>
          </a:p>
          <a:p>
            <a:pPr lvl="2"/>
            <a:r>
              <a:rPr lang="en-US" dirty="0"/>
              <a:t>With larger addresses, it has become far more complex, various kinds of addresses, but can’t define what their scope is. Some routers can only route on the first 64 bits. Multicast still is a mess with the flawed definition. Still debating how ‘anycast’ works.</a:t>
            </a:r>
          </a:p>
          <a:p>
            <a:r>
              <a:rPr lang="en-US" dirty="0">
                <a:effectLst/>
              </a:rPr>
              <a:t>Header Format Simplification </a:t>
            </a:r>
          </a:p>
          <a:p>
            <a:pPr lvl="1"/>
            <a:r>
              <a:rPr lang="en-US" dirty="0">
                <a:effectLst/>
              </a:rPr>
              <a:t>Some IPv4 header fields have been dropped or made optional, to reduce the common-case processing cost of packet handling and to limit the bandwidth cost of the IPv6 header. </a:t>
            </a:r>
          </a:p>
          <a:p>
            <a:pPr lvl="2"/>
            <a:r>
              <a:rPr lang="en-US" dirty="0"/>
              <a:t>True, but it has led to more complex processing. Router is using the first 192 or 384 bytes to make forwarding decision.</a:t>
            </a:r>
          </a:p>
          <a:p>
            <a:r>
              <a:rPr lang="en-US" dirty="0">
                <a:effectLst/>
              </a:rPr>
              <a:t>Improved Support for Extensions and Options</a:t>
            </a:r>
          </a:p>
          <a:p>
            <a:pPr lvl="1"/>
            <a:r>
              <a:rPr lang="en-US" dirty="0">
                <a:effectLst/>
              </a:rPr>
              <a:t> Changes in the way IP header options are encoded allows for more efficient forwarding, less stringent limits on the length of options, and greater flexibility for introducing new options in the future. 40% of packets with Hop-by-Hop Headers bein</a:t>
            </a:r>
            <a:r>
              <a:rPr lang="en-US" dirty="0"/>
              <a:t>g dropped.</a:t>
            </a:r>
          </a:p>
          <a:p>
            <a:r>
              <a:rPr lang="en-US" dirty="0">
                <a:effectLst/>
              </a:rPr>
              <a:t>Flow Labeling Capability</a:t>
            </a:r>
          </a:p>
          <a:p>
            <a:pPr lvl="1"/>
            <a:r>
              <a:rPr lang="en-US" dirty="0">
                <a:effectLst/>
              </a:rPr>
              <a:t> A new capability is added to enable the labeling of sequences of packets that the sender requests to be treated in the network as a single flow. </a:t>
            </a:r>
          </a:p>
          <a:p>
            <a:pPr lvl="2"/>
            <a:r>
              <a:rPr lang="en-US" dirty="0"/>
              <a:t>Still some debate on its use. Highly likely when it is used, there will be Extension Headers.</a:t>
            </a:r>
          </a:p>
          <a:p>
            <a:r>
              <a:rPr lang="en-US" dirty="0">
                <a:effectLst/>
              </a:rPr>
              <a:t>Authentication and Privacy Capabilities</a:t>
            </a:r>
          </a:p>
          <a:p>
            <a:pPr lvl="1"/>
            <a:r>
              <a:rPr lang="en-US" dirty="0">
                <a:effectLst/>
              </a:rPr>
              <a:t>Extensions to support authentication, data integrity, and (optional) data confidentiality are specified for IPv6. </a:t>
            </a:r>
          </a:p>
          <a:p>
            <a:pPr lvl="1"/>
            <a:r>
              <a:rPr lang="en-US" dirty="0"/>
              <a:t>IPsec same as IPv4</a:t>
            </a:r>
          </a:p>
        </p:txBody>
      </p:sp>
    </p:spTree>
    <p:extLst>
      <p:ext uri="{BB962C8B-B14F-4D97-AF65-F5344CB8AC3E}">
        <p14:creationId xmlns:p14="http://schemas.microsoft.com/office/powerpoint/2010/main" val="1954988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 Version 6  </a:t>
            </a:r>
            <a:r>
              <a:rPr lang="en-US" sz="2000" dirty="0"/>
              <a:t>(from Tanenbaum)</a:t>
            </a:r>
            <a:br>
              <a:rPr lang="en-US" sz="2000" dirty="0"/>
            </a:br>
            <a:r>
              <a:rPr lang="en-US" sz="2000" dirty="0"/>
              <a:t>(the spin doctor version)</a:t>
            </a:r>
          </a:p>
        </p:txBody>
      </p:sp>
      <p:sp>
        <p:nvSpPr>
          <p:cNvPr id="3" name="Text Placeholder 2"/>
          <p:cNvSpPr>
            <a:spLocks noGrp="1"/>
          </p:cNvSpPr>
          <p:nvPr>
            <p:ph type="body" idx="1"/>
          </p:nvPr>
        </p:nvSpPr>
        <p:spPr>
          <a:xfrm>
            <a:off x="609600" y="1612393"/>
            <a:ext cx="10972800" cy="4525963"/>
          </a:xfrm>
        </p:spPr>
        <p:txBody>
          <a:bodyPr/>
          <a:lstStyle/>
          <a:p>
            <a:r>
              <a:rPr lang="en-US" dirty="0"/>
              <a:t>IPv6 major goals</a:t>
            </a:r>
          </a:p>
          <a:p>
            <a:pPr lvl="1"/>
            <a:r>
              <a:rPr lang="en-US" dirty="0"/>
              <a:t>Support billions of hosts</a:t>
            </a:r>
          </a:p>
          <a:p>
            <a:pPr lvl="1"/>
            <a:r>
              <a:rPr lang="en-US" dirty="0"/>
              <a:t>Reduce routing table size </a:t>
            </a:r>
            <a:r>
              <a:rPr lang="en-US" sz="1400" dirty="0">
                <a:latin typeface="Times New Roman"/>
                <a:cs typeface="Times New Roman"/>
              </a:rPr>
              <a:t>(only realized after choosing the design)</a:t>
            </a:r>
          </a:p>
          <a:p>
            <a:pPr lvl="1"/>
            <a:r>
              <a:rPr lang="en-US" dirty="0"/>
              <a:t>Simplify the protocol  </a:t>
            </a:r>
            <a:r>
              <a:rPr lang="en-US" sz="1400" dirty="0">
                <a:latin typeface="Times New Roman"/>
                <a:cs typeface="Times New Roman"/>
              </a:rPr>
              <a:t>(then why all the RFCs?)</a:t>
            </a:r>
          </a:p>
          <a:p>
            <a:pPr lvl="1"/>
            <a:r>
              <a:rPr lang="en-US" dirty="0"/>
              <a:t>Provide better security </a:t>
            </a:r>
            <a:r>
              <a:rPr lang="en-US" sz="1400" dirty="0">
                <a:latin typeface="Times New Roman"/>
                <a:cs typeface="Times New Roman"/>
              </a:rPr>
              <a:t>(hype, same as IPv4)</a:t>
            </a:r>
          </a:p>
          <a:p>
            <a:pPr lvl="1"/>
            <a:r>
              <a:rPr lang="en-US" dirty="0"/>
              <a:t>Attention to type of service </a:t>
            </a:r>
            <a:r>
              <a:rPr lang="en-US" sz="1400" dirty="0">
                <a:latin typeface="Times New Roman"/>
                <a:cs typeface="Times New Roman"/>
              </a:rPr>
              <a:t>(still debated and not clear)</a:t>
            </a:r>
          </a:p>
          <a:p>
            <a:pPr lvl="1"/>
            <a:r>
              <a:rPr lang="en-US" dirty="0"/>
              <a:t>Aid multicasting </a:t>
            </a:r>
            <a:r>
              <a:rPr lang="en-US" sz="1400" dirty="0">
                <a:latin typeface="Times New Roman"/>
                <a:cs typeface="Times New Roman"/>
              </a:rPr>
              <a:t>(same flawed definition, and more complex)</a:t>
            </a:r>
          </a:p>
          <a:p>
            <a:pPr lvl="1"/>
            <a:r>
              <a:rPr lang="en-US" dirty="0"/>
              <a:t>Roaming host without changing address </a:t>
            </a:r>
            <a:r>
              <a:rPr lang="en-US" sz="1400" dirty="0">
                <a:latin typeface="Times New Roman"/>
                <a:cs typeface="Times New Roman"/>
              </a:rPr>
              <a:t>(then it isn’t an address)</a:t>
            </a:r>
          </a:p>
          <a:p>
            <a:pPr lvl="1"/>
            <a:r>
              <a:rPr lang="en-US" dirty="0"/>
              <a:t>Allow future protocol evolution  </a:t>
            </a:r>
            <a:r>
              <a:rPr lang="en-US" sz="1400" dirty="0">
                <a:latin typeface="Times New Roman"/>
                <a:cs typeface="Times New Roman"/>
              </a:rPr>
              <a:t>(design thwarts that, they mean Extension Headers which are worse.)</a:t>
            </a:r>
          </a:p>
          <a:p>
            <a:pPr lvl="1"/>
            <a:r>
              <a:rPr lang="en-US" dirty="0"/>
              <a:t>Permit coexistence of old and new protocols for years</a:t>
            </a:r>
          </a:p>
          <a:p>
            <a:pPr lvl="2"/>
            <a:r>
              <a:rPr lang="en-US" sz="1400" dirty="0">
                <a:latin typeface="Times New Roman"/>
                <a:cs typeface="Times New Roman"/>
              </a:rPr>
              <a:t>(Yes! The only field in common with IPv4 is the version field)</a:t>
            </a:r>
          </a:p>
        </p:txBody>
      </p:sp>
    </p:spTree>
    <p:extLst>
      <p:ext uri="{BB962C8B-B14F-4D97-AF65-F5344CB8AC3E}">
        <p14:creationId xmlns:p14="http://schemas.microsoft.com/office/powerpoint/2010/main" val="910930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The Main IPv6 Header</a:t>
            </a:r>
          </a:p>
        </p:txBody>
      </p:sp>
      <p:sp>
        <p:nvSpPr>
          <p:cNvPr id="3" name="Text Placeholder 2"/>
          <p:cNvSpPr>
            <a:spLocks noGrp="1"/>
          </p:cNvSpPr>
          <p:nvPr>
            <p:ph type="body" idx="1"/>
          </p:nvPr>
        </p:nvSpPr>
        <p:spPr>
          <a:xfrm>
            <a:off x="1981200" y="5401976"/>
            <a:ext cx="8229600" cy="667363"/>
          </a:xfrm>
        </p:spPr>
        <p:txBody>
          <a:bodyPr/>
          <a:lstStyle/>
          <a:p>
            <a:pPr algn="ctr"/>
            <a:r>
              <a:rPr lang="en-US" dirty="0"/>
              <a:t>The IPv6 fixed header (required)</a:t>
            </a:r>
          </a:p>
        </p:txBody>
      </p:sp>
      <p:pic>
        <p:nvPicPr>
          <p:cNvPr id="15" name="Picture Placeholder 14" descr="Short Description:  &#10;An illustration shows the I P V 6 fixed header.&#10;&#10;Long Description:  &#10;The illustration shows the 32 bits header divided into 4 rows as follows. First row is divided into three sections labeled, version, diff. services, and flow label. Second row is divided into 3 sections labeled, payload length, next header, and hop limit. Third row shows source address (16 bytes) and fourth row shows destination address (16 bytes).&#10;&#10;"/>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3382297" y="1531267"/>
            <a:ext cx="5427406" cy="3870708"/>
          </a:xfrm>
        </p:spPr>
      </p:pic>
    </p:spTree>
    <p:extLst>
      <p:ext uri="{BB962C8B-B14F-4D97-AF65-F5344CB8AC3E}">
        <p14:creationId xmlns:p14="http://schemas.microsoft.com/office/powerpoint/2010/main" val="1033227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981200" y="0"/>
            <a:ext cx="8686800" cy="1206500"/>
          </a:xfrm>
        </p:spPr>
        <p:txBody>
          <a:bodyPr/>
          <a:lstStyle/>
          <a:p>
            <a:pPr algn="l" eaLnBrk="1" hangingPunct="1">
              <a:defRPr/>
            </a:pPr>
            <a:r>
              <a:rPr lang="en-US" sz="3200" dirty="0">
                <a:solidFill>
                  <a:srgbClr val="262699"/>
                </a:solidFill>
                <a:cs typeface="+mj-cs"/>
              </a:rPr>
              <a:t>Extension Headers</a:t>
            </a:r>
          </a:p>
        </p:txBody>
      </p:sp>
      <p:sp>
        <p:nvSpPr>
          <p:cNvPr id="87043" name="Rectangle 3"/>
          <p:cNvSpPr>
            <a:spLocks noGrp="1" noChangeArrowheads="1"/>
          </p:cNvSpPr>
          <p:nvPr>
            <p:ph idx="1"/>
          </p:nvPr>
        </p:nvSpPr>
        <p:spPr>
          <a:xfrm>
            <a:off x="1524000" y="5889626"/>
            <a:ext cx="9144000" cy="663575"/>
          </a:xfrm>
        </p:spPr>
        <p:txBody>
          <a:bodyPr/>
          <a:lstStyle/>
          <a:p>
            <a:pPr algn="ctr" eaLnBrk="1" hangingPunct="1">
              <a:buFontTx/>
              <a:buNone/>
              <a:defRPr/>
            </a:pPr>
            <a:r>
              <a:rPr lang="en-US">
                <a:cs typeface="+mn-cs"/>
              </a:rPr>
              <a:t>IPv6 extension headers.</a:t>
            </a:r>
          </a:p>
        </p:txBody>
      </p:sp>
      <p:sp>
        <p:nvSpPr>
          <p:cNvPr id="87044" name="Text Box 4"/>
          <p:cNvSpPr txBox="1">
            <a:spLocks noChangeArrowheads="1"/>
          </p:cNvSpPr>
          <p:nvPr/>
        </p:nvSpPr>
        <p:spPr bwMode="auto">
          <a:xfrm>
            <a:off x="5219700" y="2379663"/>
            <a:ext cx="1189038"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2400">
                <a:solidFill>
                  <a:srgbClr val="000000"/>
                </a:solidFill>
                <a:latin typeface="Times New Roman" charset="0"/>
                <a:ea typeface="ＭＳ Ｐゴシック" charset="0"/>
              </a:rPr>
              <a:t>5-69</a:t>
            </a:r>
          </a:p>
        </p:txBody>
      </p:sp>
      <p:pic>
        <p:nvPicPr>
          <p:cNvPr id="108548" name="Picture 6" descr="5-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4139" y="2179639"/>
            <a:ext cx="7145337" cy="24463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981200" y="0"/>
            <a:ext cx="8686800" cy="1181100"/>
          </a:xfrm>
        </p:spPr>
        <p:txBody>
          <a:bodyPr/>
          <a:lstStyle/>
          <a:p>
            <a:pPr algn="l" eaLnBrk="1" hangingPunct="1">
              <a:defRPr/>
            </a:pPr>
            <a:r>
              <a:rPr lang="en-US" sz="3200" dirty="0">
                <a:solidFill>
                  <a:srgbClr val="262699"/>
                </a:solidFill>
                <a:cs typeface="+mj-cs"/>
              </a:rPr>
              <a:t>Extension Headers (2)</a:t>
            </a:r>
          </a:p>
        </p:txBody>
      </p:sp>
      <p:sp>
        <p:nvSpPr>
          <p:cNvPr id="88067" name="Rectangle 3"/>
          <p:cNvSpPr>
            <a:spLocks noGrp="1" noChangeArrowheads="1"/>
          </p:cNvSpPr>
          <p:nvPr>
            <p:ph idx="1"/>
          </p:nvPr>
        </p:nvSpPr>
        <p:spPr>
          <a:xfrm>
            <a:off x="1752600" y="4648201"/>
            <a:ext cx="8686801" cy="811306"/>
          </a:xfrm>
        </p:spPr>
        <p:txBody>
          <a:bodyPr/>
          <a:lstStyle/>
          <a:p>
            <a:pPr algn="ctr" eaLnBrk="1" hangingPunct="1">
              <a:buFontTx/>
              <a:buNone/>
              <a:defRPr/>
            </a:pPr>
            <a:r>
              <a:rPr lang="en-US" dirty="0">
                <a:cs typeface="+mn-cs"/>
              </a:rPr>
              <a:t>The hop-by-hop extension header for large datagrams (</a:t>
            </a:r>
            <a:r>
              <a:rPr lang="en-US" dirty="0" err="1">
                <a:cs typeface="+mn-cs"/>
              </a:rPr>
              <a:t>jumbograms</a:t>
            </a:r>
            <a:r>
              <a:rPr lang="en-US" dirty="0">
                <a:cs typeface="+mn-cs"/>
              </a:rPr>
              <a:t>).</a:t>
            </a:r>
          </a:p>
        </p:txBody>
      </p:sp>
      <p:pic>
        <p:nvPicPr>
          <p:cNvPr id="110595" name="Picture 5" descr="5-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25" y="2562225"/>
            <a:ext cx="8032750" cy="1352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2006600" y="0"/>
            <a:ext cx="8661400" cy="1231900"/>
          </a:xfrm>
        </p:spPr>
        <p:txBody>
          <a:bodyPr/>
          <a:lstStyle/>
          <a:p>
            <a:pPr algn="l" eaLnBrk="1" hangingPunct="1">
              <a:defRPr/>
            </a:pPr>
            <a:r>
              <a:rPr lang="en-US" sz="3200" dirty="0">
                <a:solidFill>
                  <a:srgbClr val="262699"/>
                </a:solidFill>
                <a:cs typeface="+mj-cs"/>
              </a:rPr>
              <a:t>Extension Headers (3)</a:t>
            </a:r>
          </a:p>
        </p:txBody>
      </p:sp>
      <p:sp>
        <p:nvSpPr>
          <p:cNvPr id="89091" name="Rectangle 3"/>
          <p:cNvSpPr>
            <a:spLocks noGrp="1" noChangeArrowheads="1"/>
          </p:cNvSpPr>
          <p:nvPr>
            <p:ph idx="1"/>
          </p:nvPr>
        </p:nvSpPr>
        <p:spPr>
          <a:xfrm>
            <a:off x="1524000" y="5410200"/>
            <a:ext cx="9144000" cy="838200"/>
          </a:xfrm>
        </p:spPr>
        <p:txBody>
          <a:bodyPr/>
          <a:lstStyle/>
          <a:p>
            <a:pPr algn="ctr" eaLnBrk="1" hangingPunct="1">
              <a:buFontTx/>
              <a:buNone/>
              <a:defRPr/>
            </a:pPr>
            <a:r>
              <a:rPr lang="en-US">
                <a:cs typeface="+mn-cs"/>
              </a:rPr>
              <a:t>The extension header for routing.</a:t>
            </a:r>
          </a:p>
        </p:txBody>
      </p:sp>
      <p:pic>
        <p:nvPicPr>
          <p:cNvPr id="112643" name="Picture 5" descr="5-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2012951"/>
            <a:ext cx="8075613" cy="2411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3900" y="0"/>
            <a:ext cx="8674100" cy="1193800"/>
          </a:xfrm>
        </p:spPr>
        <p:txBody>
          <a:bodyPr/>
          <a:lstStyle/>
          <a:p>
            <a:pPr algn="l">
              <a:defRPr/>
            </a:pPr>
            <a:r>
              <a:rPr lang="en-US" sz="3200" dirty="0">
                <a:solidFill>
                  <a:srgbClr val="262699"/>
                </a:solidFill>
              </a:rPr>
              <a:t>IPv6 Problems: I</a:t>
            </a:r>
          </a:p>
        </p:txBody>
      </p:sp>
      <p:sp>
        <p:nvSpPr>
          <p:cNvPr id="3" name="Content Placeholder 2"/>
          <p:cNvSpPr>
            <a:spLocks noGrp="1"/>
          </p:cNvSpPr>
          <p:nvPr>
            <p:ph idx="1"/>
          </p:nvPr>
        </p:nvSpPr>
        <p:spPr>
          <a:xfrm>
            <a:off x="1207008" y="1099656"/>
            <a:ext cx="8046720" cy="5451491"/>
          </a:xfrm>
        </p:spPr>
        <p:txBody>
          <a:bodyPr/>
          <a:lstStyle/>
          <a:p>
            <a:pPr marL="292100" indent="-266700">
              <a:buFontTx/>
              <a:buChar char="•"/>
              <a:defRPr/>
            </a:pPr>
            <a:r>
              <a:rPr lang="en-US" sz="1800" dirty="0">
                <a:latin typeface="Times New Roman" charset="0"/>
                <a:ea typeface="ＭＳ Ｐゴシック" charset="0"/>
              </a:rPr>
              <a:t>The Biggest Problem is that it Still Names the Interface.</a:t>
            </a:r>
          </a:p>
          <a:p>
            <a:pPr marL="673100" lvl="1" indent="-266700">
              <a:buFontTx/>
              <a:buChar char="•"/>
              <a:defRPr/>
            </a:pPr>
            <a:r>
              <a:rPr lang="en-US" sz="1800" dirty="0">
                <a:latin typeface="Times New Roman" charset="0"/>
                <a:ea typeface="ＭＳ Ｐゴシック" charset="0"/>
              </a:rPr>
              <a:t>No multihoming, very complex mobility, requires using more addresses.</a:t>
            </a:r>
          </a:p>
          <a:p>
            <a:pPr marL="292100" indent="-266700">
              <a:buFontTx/>
              <a:buChar char="•"/>
              <a:defRPr/>
            </a:pPr>
            <a:r>
              <a:rPr lang="en-US" sz="1800" dirty="0">
                <a:latin typeface="Times New Roman" charset="0"/>
                <a:ea typeface="ＭＳ Ｐゴシック" charset="0"/>
              </a:rPr>
              <a:t>Many more addresses.</a:t>
            </a:r>
          </a:p>
          <a:p>
            <a:pPr marL="673100" lvl="1" indent="-266700">
              <a:buFontTx/>
              <a:buChar char="•"/>
              <a:defRPr/>
            </a:pPr>
            <a:r>
              <a:rPr lang="en-US" sz="1600" dirty="0">
                <a:latin typeface="Times New Roman" charset="0"/>
                <a:ea typeface="ＭＳ Ｐゴシック" charset="0"/>
              </a:rPr>
              <a:t>True, but only suppose to route on /64. Luckily some go further, others don’t.</a:t>
            </a:r>
          </a:p>
          <a:p>
            <a:pPr marL="673100" lvl="1" indent="-266700">
              <a:buFontTx/>
              <a:buChar char="•"/>
              <a:defRPr/>
            </a:pPr>
            <a:r>
              <a:rPr lang="en-US" sz="1600" dirty="0">
                <a:latin typeface="Times New Roman" charset="0"/>
                <a:ea typeface="ＭＳ Ｐゴシック" charset="0"/>
              </a:rPr>
              <a:t>Some believe Lower 64 suppose to be a flat ‘endpoint-identifier’ and globally unique</a:t>
            </a:r>
          </a:p>
          <a:p>
            <a:pPr marL="1054100" lvl="2" indent="-266700">
              <a:defRPr/>
            </a:pPr>
            <a:r>
              <a:rPr lang="en-US" sz="1400" dirty="0">
                <a:latin typeface="Times New Roman" charset="0"/>
                <a:ea typeface="ＭＳ Ｐゴシック" charset="0"/>
              </a:rPr>
              <a:t>Names everything twice address is only 64-bits, not 128.</a:t>
            </a:r>
          </a:p>
          <a:p>
            <a:pPr marL="692150" lvl="1" indent="-285750">
              <a:buFont typeface="Arial" panose="020B0604020202020204" pitchFamily="34" charset="0"/>
              <a:buChar char="•"/>
              <a:defRPr/>
            </a:pPr>
            <a:r>
              <a:rPr lang="en-US" sz="1600" dirty="0">
                <a:latin typeface="Times New Roman" charset="0"/>
                <a:ea typeface="ＭＳ Ｐゴシック" charset="0"/>
              </a:rPr>
              <a:t>This gets worse and worse. </a:t>
            </a:r>
          </a:p>
          <a:p>
            <a:pPr marL="292100" indent="-266700">
              <a:buFontTx/>
              <a:buChar char="•"/>
              <a:defRPr/>
            </a:pPr>
            <a:r>
              <a:rPr lang="en-US" sz="1800" dirty="0">
                <a:latin typeface="Times New Roman" charset="0"/>
                <a:ea typeface="ＭＳ Ｐゴシック" charset="0"/>
              </a:rPr>
              <a:t>Using MAC Address (EUI-64) in the lower 64 is a security hole.</a:t>
            </a:r>
          </a:p>
          <a:p>
            <a:pPr marL="1073150" lvl="2" indent="-285750">
              <a:defRPr/>
            </a:pPr>
            <a:r>
              <a:rPr lang="en-US" sz="1400" dirty="0">
                <a:latin typeface="Times New Roman" charset="0"/>
                <a:ea typeface="ＭＳ Ｐゴシック" charset="0"/>
              </a:rPr>
              <a:t>(We have known since the early 80s that this was not a good idea.)</a:t>
            </a:r>
          </a:p>
          <a:p>
            <a:pPr marL="692150" lvl="1" indent="-285750">
              <a:buFontTx/>
              <a:buChar char="•"/>
              <a:defRPr/>
            </a:pPr>
            <a:r>
              <a:rPr lang="en-US" sz="1600" dirty="0">
                <a:latin typeface="Times New Roman" charset="0"/>
                <a:ea typeface="ＭＳ Ｐゴシック" charset="0"/>
              </a:rPr>
              <a:t>Nothing like putting your identity in every packet! NSA must love that!</a:t>
            </a:r>
          </a:p>
          <a:p>
            <a:pPr marL="692150" lvl="1" indent="-285750">
              <a:buFontTx/>
              <a:buChar char="•"/>
              <a:defRPr/>
            </a:pPr>
            <a:r>
              <a:rPr lang="en-US" sz="1600" dirty="0">
                <a:latin typeface="Times New Roman" charset="0"/>
                <a:ea typeface="ＭＳ Ｐゴシック" charset="0"/>
              </a:rPr>
              <a:t>Good news! This has been deprecated, but some still do it.</a:t>
            </a:r>
          </a:p>
          <a:p>
            <a:pPr marL="692150" lvl="1" indent="-285750">
              <a:buFontTx/>
              <a:buChar char="•"/>
              <a:defRPr/>
            </a:pPr>
            <a:r>
              <a:rPr lang="en-US" sz="1600" dirty="0">
                <a:latin typeface="Times New Roman" charset="0"/>
                <a:ea typeface="ＭＳ Ｐゴシック" charset="0"/>
              </a:rPr>
              <a:t>But never recognized that this was what makes the address route-dependent.</a:t>
            </a:r>
          </a:p>
          <a:p>
            <a:pPr marL="1073150" lvl="2" indent="-285750">
              <a:defRPr/>
            </a:pPr>
            <a:r>
              <a:rPr lang="en-US" sz="1400" dirty="0">
                <a:latin typeface="Times New Roman" charset="0"/>
                <a:ea typeface="ＭＳ Ｐゴシック" charset="0"/>
              </a:rPr>
              <a:t>If the idea is used, it will make multihoming and mobility more complex.</a:t>
            </a:r>
          </a:p>
          <a:p>
            <a:pPr marL="311150" indent="-285750">
              <a:buFont typeface="Arial" panose="020B0604020202020204" pitchFamily="34" charset="0"/>
              <a:buChar char="•"/>
              <a:defRPr/>
            </a:pPr>
            <a:r>
              <a:rPr lang="en-US" sz="1800" dirty="0">
                <a:latin typeface="Times New Roman" charset="0"/>
                <a:ea typeface="ＭＳ Ｐゴシック" charset="0"/>
              </a:rPr>
              <a:t>Header Simplification - </a:t>
            </a:r>
            <a:r>
              <a:rPr lang="en-US" sz="1600" dirty="0">
                <a:cs typeface="+mn-cs"/>
              </a:rPr>
              <a:t>Gee whiz! 2% of the problem.</a:t>
            </a:r>
          </a:p>
          <a:p>
            <a:pPr marL="692150" lvl="1" indent="-285750">
              <a:buFont typeface="Arial" panose="020B0604020202020204" pitchFamily="34" charset="0"/>
              <a:buChar char="•"/>
              <a:defRPr/>
            </a:pPr>
            <a:r>
              <a:rPr lang="en-US" sz="1600" dirty="0">
                <a:latin typeface="Times New Roman" charset="0"/>
                <a:ea typeface="ＭＳ Ｐゴシック" charset="0"/>
                <a:cs typeface="+mn-cs"/>
              </a:rPr>
              <a:t>Extension Header processing more than makes up for it. </a:t>
            </a:r>
          </a:p>
          <a:p>
            <a:pPr marL="692150" lvl="1" indent="-285750">
              <a:buFont typeface="Arial" panose="020B0604020202020204" pitchFamily="34" charset="0"/>
              <a:buChar char="•"/>
              <a:defRPr/>
            </a:pPr>
            <a:r>
              <a:rPr lang="en-US" sz="1600" dirty="0">
                <a:latin typeface="Times New Roman" charset="0"/>
                <a:ea typeface="ＭＳ Ｐゴシック" charset="0"/>
                <a:cs typeface="+mn-cs"/>
              </a:rPr>
              <a:t>Protocol-id field is now the last option. </a:t>
            </a:r>
            <a:r>
              <a:rPr lang="en-US" sz="1400" dirty="0">
                <a:latin typeface="Times New Roman" charset="0"/>
                <a:ea typeface="ＭＳ Ｐゴシック" charset="0"/>
                <a:cs typeface="+mn-cs"/>
              </a:rPr>
              <a:t>Hey! They did a degenerate case! Thinking!</a:t>
            </a:r>
          </a:p>
          <a:p>
            <a:pPr marL="1073150" lvl="2" indent="-285750">
              <a:buFont typeface="Arial" panose="020B0604020202020204" pitchFamily="34" charset="0"/>
              <a:buChar char="•"/>
              <a:defRPr/>
            </a:pPr>
            <a:r>
              <a:rPr lang="en-US" sz="1400" dirty="0">
                <a:latin typeface="Times New Roman" charset="0"/>
                <a:ea typeface="ＭＳ Ｐゴシック" charset="0"/>
                <a:cs typeface="+mn-cs"/>
              </a:rPr>
              <a:t>Oops! Two assigned number registries for the same field.</a:t>
            </a:r>
            <a:endParaRPr lang="en-US" sz="1400" dirty="0">
              <a:latin typeface="Times New Roman" charset="0"/>
              <a:ea typeface="ＭＳ Ｐゴシック" charset="0"/>
            </a:endParaRPr>
          </a:p>
          <a:p>
            <a:pPr marL="30162" indent="0">
              <a:buNone/>
            </a:pPr>
            <a:endParaRPr lang="en-US" sz="1800" dirty="0">
              <a:latin typeface="Times New Roman" charset="0"/>
              <a:ea typeface="ＭＳ Ｐゴシック" charset="0"/>
            </a:endParaRPr>
          </a:p>
        </p:txBody>
      </p:sp>
      <p:sp>
        <p:nvSpPr>
          <p:cNvPr id="6" name="Text Box 4">
            <a:extLst>
              <a:ext uri="{FF2B5EF4-FFF2-40B4-BE49-F238E27FC236}">
                <a16:creationId xmlns:a16="http://schemas.microsoft.com/office/drawing/2014/main" id="{0624D80F-D3B6-0379-E8D4-D72DC72E9943}"/>
              </a:ext>
            </a:extLst>
          </p:cNvPr>
          <p:cNvSpPr txBox="1">
            <a:spLocks noChangeArrowheads="1"/>
          </p:cNvSpPr>
          <p:nvPr/>
        </p:nvSpPr>
        <p:spPr bwMode="auto">
          <a:xfrm>
            <a:off x="7467600" y="6306672"/>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Times New Roman" panose="02020603050405020304" pitchFamily="18" charset="0"/>
                <a:ea typeface="ＭＳ Ｐゴシック" charset="0"/>
                <a:cs typeface="Times New Roman" panose="02020603050405020304" pitchFamily="18" charset="0"/>
              </a:rPr>
              <a:t>©   John Day, All Rights Reserved, 2020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6230-3F0D-AB56-E4E2-678DDEBEDA25}"/>
              </a:ext>
            </a:extLst>
          </p:cNvPr>
          <p:cNvSpPr>
            <a:spLocks noGrp="1"/>
          </p:cNvSpPr>
          <p:nvPr>
            <p:ph type="title"/>
          </p:nvPr>
        </p:nvSpPr>
        <p:spPr>
          <a:xfrm>
            <a:off x="838200" y="170877"/>
            <a:ext cx="10515600" cy="1325563"/>
          </a:xfrm>
        </p:spPr>
        <p:txBody>
          <a:bodyPr/>
          <a:lstStyle/>
          <a:p>
            <a:r>
              <a:rPr lang="en-US" dirty="0"/>
              <a:t>IPv6 Problems: II</a:t>
            </a:r>
          </a:p>
        </p:txBody>
      </p:sp>
      <p:sp>
        <p:nvSpPr>
          <p:cNvPr id="3" name="Content Placeholder 2">
            <a:extLst>
              <a:ext uri="{FF2B5EF4-FFF2-40B4-BE49-F238E27FC236}">
                <a16:creationId xmlns:a16="http://schemas.microsoft.com/office/drawing/2014/main" id="{EA3BCB09-6ECC-F691-C3DF-F9C32C25FF95}"/>
              </a:ext>
            </a:extLst>
          </p:cNvPr>
          <p:cNvSpPr>
            <a:spLocks noGrp="1"/>
          </p:cNvSpPr>
          <p:nvPr>
            <p:ph idx="1"/>
          </p:nvPr>
        </p:nvSpPr>
        <p:spPr>
          <a:xfrm>
            <a:off x="838200" y="1228216"/>
            <a:ext cx="10515600" cy="5318888"/>
          </a:xfrm>
        </p:spPr>
        <p:txBody>
          <a:bodyPr>
            <a:normAutofit fontScale="92500" lnSpcReduction="10000"/>
          </a:bodyPr>
          <a:lstStyle/>
          <a:p>
            <a:pPr marL="292100" indent="-266700">
              <a:buFontTx/>
              <a:buChar char="•"/>
              <a:defRPr/>
            </a:pPr>
            <a:r>
              <a:rPr lang="en-US" sz="1800" dirty="0">
                <a:latin typeface="Times New Roman" charset="0"/>
                <a:ea typeface="ＭＳ Ｐゴシック" charset="0"/>
              </a:rPr>
              <a:t>Six (!) kinds of Extension Headers (EH), TLV encoded, and can’t be skipped.</a:t>
            </a:r>
          </a:p>
          <a:p>
            <a:pPr marL="749300" lvl="1" indent="-266700">
              <a:buFontTx/>
              <a:buChar char="•"/>
              <a:defRPr/>
            </a:pPr>
            <a:r>
              <a:rPr lang="en-US" sz="1600" dirty="0">
                <a:latin typeface="Times New Roman" charset="0"/>
                <a:ea typeface="ＭＳ Ｐゴシック" charset="0"/>
              </a:rPr>
              <a:t>Hop-by-Hop</a:t>
            </a:r>
          </a:p>
          <a:p>
            <a:pPr marL="749300" lvl="1" indent="-266700">
              <a:buFontTx/>
              <a:buChar char="•"/>
              <a:defRPr/>
            </a:pPr>
            <a:r>
              <a:rPr lang="en-US" sz="1600" dirty="0">
                <a:latin typeface="Times New Roman" charset="0"/>
                <a:ea typeface="ＭＳ Ｐゴシック" charset="0"/>
              </a:rPr>
              <a:t>Fragmentation</a:t>
            </a:r>
          </a:p>
          <a:p>
            <a:pPr marL="749300" lvl="1" indent="-266700">
              <a:buFontTx/>
              <a:buChar char="•"/>
              <a:defRPr/>
            </a:pPr>
            <a:r>
              <a:rPr lang="en-US" sz="1600" dirty="0">
                <a:latin typeface="Times New Roman" charset="0"/>
                <a:ea typeface="ＭＳ Ｐゴシック" charset="0"/>
              </a:rPr>
              <a:t>Destination</a:t>
            </a:r>
          </a:p>
          <a:p>
            <a:pPr marL="749300" lvl="1" indent="-266700">
              <a:buFontTx/>
              <a:buChar char="•"/>
              <a:defRPr/>
            </a:pPr>
            <a:r>
              <a:rPr lang="en-US" sz="1600" dirty="0">
                <a:latin typeface="Times New Roman" charset="0"/>
                <a:ea typeface="ＭＳ Ｐゴシック" charset="0"/>
              </a:rPr>
              <a:t>Routing</a:t>
            </a:r>
          </a:p>
          <a:p>
            <a:pPr marL="749300" lvl="1" indent="-266700">
              <a:buFontTx/>
              <a:buChar char="•"/>
              <a:defRPr/>
            </a:pPr>
            <a:r>
              <a:rPr lang="en-US" sz="1600" dirty="0">
                <a:latin typeface="Times New Roman" charset="0"/>
                <a:ea typeface="ＭＳ Ｐゴシック" charset="0"/>
              </a:rPr>
              <a:t>Authentication</a:t>
            </a:r>
          </a:p>
          <a:p>
            <a:pPr marL="749300" lvl="1" indent="-266700">
              <a:buFontTx/>
              <a:buChar char="•"/>
              <a:defRPr/>
            </a:pPr>
            <a:r>
              <a:rPr lang="en-US" sz="1600" dirty="0">
                <a:latin typeface="Times New Roman" charset="0"/>
                <a:ea typeface="ＭＳ Ｐゴシック" charset="0"/>
              </a:rPr>
              <a:t>Encapsulation Security Payload</a:t>
            </a:r>
          </a:p>
          <a:p>
            <a:pPr marL="292100" indent="-266700">
              <a:buFontTx/>
              <a:buChar char="•"/>
              <a:defRPr/>
            </a:pPr>
            <a:r>
              <a:rPr lang="en-US" sz="1800" dirty="0">
                <a:latin typeface="Times New Roman" charset="0"/>
                <a:ea typeface="ＭＳ Ｐゴシック" charset="0"/>
              </a:rPr>
              <a:t>While it is recommended that EHs occur in this order, it is not required.</a:t>
            </a:r>
          </a:p>
          <a:p>
            <a:pPr marL="749300" lvl="1" indent="-266700">
              <a:buFontTx/>
              <a:buChar char="•"/>
              <a:defRPr/>
            </a:pPr>
            <a:r>
              <a:rPr lang="en-US" sz="1600" dirty="0">
                <a:latin typeface="Times New Roman" charset="0"/>
                <a:ea typeface="ＭＳ Ｐゴシック" charset="0"/>
              </a:rPr>
              <a:t>Remember this is one of the “improvements”</a:t>
            </a:r>
          </a:p>
          <a:p>
            <a:pPr marL="292100" indent="-266700">
              <a:buFontTx/>
              <a:buChar char="•"/>
              <a:defRPr/>
            </a:pPr>
            <a:r>
              <a:rPr lang="en-US" sz="1800" dirty="0">
                <a:latin typeface="Times New Roman" charset="0"/>
                <a:ea typeface="ＭＳ Ｐゴシック" charset="0"/>
              </a:rPr>
              <a:t>Currently 40% of PDUs with Hop-by-Hop options are dropped.</a:t>
            </a:r>
          </a:p>
          <a:p>
            <a:pPr marL="315912"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Fragmentation </a:t>
            </a:r>
            <a:r>
              <a:rPr lang="en-US" sz="1600" dirty="0">
                <a:latin typeface="Times New Roman" panose="02020603050405020304" pitchFamily="18" charset="0"/>
                <a:cs typeface="Times New Roman" panose="02020603050405020304" pitchFamily="18" charset="0"/>
              </a:rPr>
              <a:t>is only done by the source. </a:t>
            </a:r>
            <a:r>
              <a:rPr lang="en-US" sz="1200" dirty="0">
                <a:latin typeface="Times New Roman" panose="02020603050405020304" pitchFamily="18" charset="0"/>
                <a:cs typeface="Times New Roman" panose="02020603050405020304" pitchFamily="18" charset="0"/>
              </a:rPr>
              <a:t>(Then why is it needed?)</a:t>
            </a:r>
          </a:p>
          <a:p>
            <a:pPr marL="688975" lvl="2" indent="-277813"/>
            <a:r>
              <a:rPr lang="en-US" sz="1600" dirty="0">
                <a:latin typeface="Times New Roman" panose="02020603050405020304" pitchFamily="18" charset="0"/>
                <a:cs typeface="Times New Roman" panose="02020603050405020304" pitchFamily="18" charset="0"/>
              </a:rPr>
              <a:t>The Packet-Id is 32-bits and the offset is 13-bits.</a:t>
            </a:r>
            <a:endParaRPr lang="en-US" sz="1600" dirty="0">
              <a:latin typeface="Times New Roman" charset="0"/>
              <a:ea typeface="ＭＳ Ｐゴシック" charset="0"/>
            </a:endParaRPr>
          </a:p>
          <a:p>
            <a:pPr marL="673100" lvl="1" indent="-266700">
              <a:buFontTx/>
              <a:buChar char="•"/>
              <a:defRPr/>
            </a:pPr>
            <a:r>
              <a:rPr lang="en-US" sz="1600" dirty="0">
                <a:latin typeface="Times New Roman" charset="0"/>
                <a:ea typeface="ＭＳ Ｐゴシック" charset="0"/>
              </a:rPr>
              <a:t>Fragmentation Still Doesn’t Work  (</a:t>
            </a:r>
            <a:r>
              <a:rPr lang="en-US" sz="1300" dirty="0">
                <a:latin typeface="Times New Roman" charset="0"/>
                <a:ea typeface="ＭＳ Ｐゴシック" charset="0"/>
              </a:rPr>
              <a:t>Well, we knew that. How could it?)</a:t>
            </a:r>
          </a:p>
          <a:p>
            <a:pPr marL="688975" lvl="1" indent="-266700">
              <a:buFontTx/>
              <a:buChar char="•"/>
              <a:defRPr/>
            </a:pPr>
            <a:r>
              <a:rPr lang="en-US" sz="1700" dirty="0">
                <a:latin typeface="Times New Roman" charset="0"/>
                <a:ea typeface="ＭＳ Ｐゴシック" charset="0"/>
              </a:rPr>
              <a:t>Interaction of EH and Fragmentation</a:t>
            </a:r>
          </a:p>
          <a:p>
            <a:pPr marL="1149350" lvl="2" indent="-285750">
              <a:buFont typeface="Lucida Grande" charset="0"/>
              <a:buChar char="-"/>
              <a:defRPr/>
            </a:pPr>
            <a:r>
              <a:rPr lang="en-US" sz="1500" dirty="0">
                <a:latin typeface="Times New Roman" charset="0"/>
                <a:ea typeface="ＭＳ Ｐゴシック" charset="0"/>
              </a:rPr>
              <a:t>What happens if the options won’t fit in the first fragment? (no one knows)</a:t>
            </a:r>
          </a:p>
          <a:p>
            <a:pPr marL="215900" indent="-266700">
              <a:buFontTx/>
              <a:buChar char="•"/>
              <a:defRPr/>
            </a:pPr>
            <a:r>
              <a:rPr lang="en-US" sz="1800" dirty="0">
                <a:latin typeface="Times New Roman" charset="0"/>
                <a:ea typeface="ＭＳ Ｐゴシック" charset="0"/>
              </a:rPr>
              <a:t>Segment Routing is using the Routing EH to define the source route with a list of IPv6 addresses.</a:t>
            </a:r>
          </a:p>
          <a:p>
            <a:pPr marL="673100" lvl="1" indent="-266700">
              <a:buFontTx/>
              <a:buChar char="•"/>
              <a:defRPr/>
            </a:pPr>
            <a:r>
              <a:rPr lang="en-US" sz="1600" dirty="0">
                <a:latin typeface="Times New Roman" charset="0"/>
                <a:ea typeface="ＭＳ Ｐゴシック" charset="0"/>
              </a:rPr>
              <a:t>How much room is left for data!?</a:t>
            </a:r>
          </a:p>
          <a:p>
            <a:pPr marL="292100" indent="-266700">
              <a:buFontTx/>
              <a:buChar char="•"/>
              <a:defRPr/>
            </a:pPr>
            <a:r>
              <a:rPr lang="en-US" sz="1800" dirty="0">
                <a:latin typeface="Times New Roman" charset="0"/>
                <a:ea typeface="ＭＳ Ｐゴシック" charset="0"/>
              </a:rPr>
              <a:t>Typical Router will move the first 192 or 384 bytes to faster memory for processing. (!)</a:t>
            </a:r>
          </a:p>
        </p:txBody>
      </p:sp>
    </p:spTree>
    <p:extLst>
      <p:ext uri="{BB962C8B-B14F-4D97-AF65-F5344CB8AC3E}">
        <p14:creationId xmlns:p14="http://schemas.microsoft.com/office/powerpoint/2010/main" val="3015265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930BD-6F04-E17B-FB12-AF9F7C52921A}"/>
              </a:ext>
            </a:extLst>
          </p:cNvPr>
          <p:cNvSpPr>
            <a:spLocks noGrp="1"/>
          </p:cNvSpPr>
          <p:nvPr>
            <p:ph type="title"/>
          </p:nvPr>
        </p:nvSpPr>
        <p:spPr/>
        <p:txBody>
          <a:bodyPr/>
          <a:lstStyle/>
          <a:p>
            <a:r>
              <a:rPr lang="en-US" dirty="0"/>
              <a:t>IPv6 Problems: III</a:t>
            </a:r>
          </a:p>
        </p:txBody>
      </p:sp>
      <p:sp>
        <p:nvSpPr>
          <p:cNvPr id="3" name="Content Placeholder 2">
            <a:extLst>
              <a:ext uri="{FF2B5EF4-FFF2-40B4-BE49-F238E27FC236}">
                <a16:creationId xmlns:a16="http://schemas.microsoft.com/office/drawing/2014/main" id="{88F3824C-B8B2-DDAE-F277-9795F30B95F0}"/>
              </a:ext>
            </a:extLst>
          </p:cNvPr>
          <p:cNvSpPr>
            <a:spLocks noGrp="1"/>
          </p:cNvSpPr>
          <p:nvPr>
            <p:ph idx="1"/>
          </p:nvPr>
        </p:nvSpPr>
        <p:spPr>
          <a:xfrm>
            <a:off x="838200" y="1496441"/>
            <a:ext cx="10515600" cy="4351338"/>
          </a:xfrm>
        </p:spPr>
        <p:txBody>
          <a:bodyPr>
            <a:normAutofit fontScale="92500" lnSpcReduction="20000"/>
          </a:bodyPr>
          <a:lstStyle/>
          <a:p>
            <a:pPr marL="292100" indent="-266700">
              <a:buFontTx/>
              <a:buChar char="•"/>
              <a:defRPr/>
            </a:pPr>
            <a:r>
              <a:rPr lang="en-US" sz="1800" dirty="0">
                <a:latin typeface="Times New Roman" charset="0"/>
                <a:ea typeface="ＭＳ Ｐゴシック" charset="0"/>
              </a:rPr>
              <a:t>MTU Discovery is mandatory, but doesn’t work</a:t>
            </a:r>
          </a:p>
          <a:p>
            <a:pPr marL="692150" lvl="1" indent="-285750">
              <a:buFontTx/>
              <a:buChar char="•"/>
              <a:defRPr/>
            </a:pPr>
            <a:r>
              <a:rPr lang="en-US" sz="1600" dirty="0">
                <a:latin typeface="Times New Roman" charset="0"/>
                <a:ea typeface="ＭＳ Ｐゴシック" charset="0"/>
              </a:rPr>
              <a:t>Not completely useless:  Heartbleed made good use of it!</a:t>
            </a:r>
          </a:p>
          <a:p>
            <a:pPr marL="292100" indent="-266700">
              <a:buFontTx/>
              <a:buChar char="•"/>
              <a:defRPr/>
            </a:pPr>
            <a:r>
              <a:rPr lang="en-US" sz="1800" dirty="0">
                <a:latin typeface="Times New Roman" charset="0"/>
                <a:ea typeface="ＭＳ Ｐゴシック" charset="0"/>
              </a:rPr>
              <a:t>Will Routing Scale to 4.3 billion IPv4 address spaces?</a:t>
            </a:r>
          </a:p>
          <a:p>
            <a:pPr marL="692150" lvl="1" indent="-285750">
              <a:defRPr/>
            </a:pPr>
            <a:r>
              <a:rPr lang="en-US" sz="1600" dirty="0">
                <a:latin typeface="Times New Roman" charset="0"/>
                <a:ea typeface="ＭＳ Ｐゴシック" charset="0"/>
              </a:rPr>
              <a:t>It barely works for one!</a:t>
            </a:r>
          </a:p>
          <a:p>
            <a:pPr marL="398463" indent="-398463" eaLnBrk="1" hangingPunct="1">
              <a:buFont typeface="Times" charset="0"/>
              <a:buChar char="•"/>
              <a:defRPr/>
            </a:pPr>
            <a:r>
              <a:rPr lang="en-US" sz="1800" dirty="0">
                <a:cs typeface="+mn-cs"/>
              </a:rPr>
              <a:t>Improved security - </a:t>
            </a:r>
            <a:r>
              <a:rPr lang="en-US" sz="1400" dirty="0">
                <a:cs typeface="+mn-cs"/>
              </a:rPr>
              <a:t>same as IPv4</a:t>
            </a:r>
          </a:p>
          <a:p>
            <a:pPr marL="855663" lvl="2" indent="-398463">
              <a:buFont typeface="Times" charset="0"/>
              <a:buChar char="•"/>
              <a:defRPr/>
            </a:pPr>
            <a:r>
              <a:rPr lang="en-US" dirty="0"/>
              <a:t>Ground rule: Anything developed before transition must work with both.</a:t>
            </a:r>
          </a:p>
          <a:p>
            <a:pPr marL="855663" lvl="2" indent="-398463">
              <a:buFont typeface="Times" charset="0"/>
              <a:buChar char="•"/>
              <a:defRPr/>
            </a:pPr>
            <a:r>
              <a:rPr lang="en-US" dirty="0"/>
              <a:t>Ironically, IPv6 is better for DDoS attacks because most of the IPv4 space is in use. Highly likely a fake source address is going to generate a reset.</a:t>
            </a:r>
          </a:p>
          <a:p>
            <a:pPr marL="398463" indent="-398463" eaLnBrk="1" hangingPunct="1">
              <a:buFont typeface="Times" charset="0"/>
              <a:buChar char="•"/>
              <a:defRPr/>
            </a:pPr>
            <a:r>
              <a:rPr lang="en-US" sz="1800" dirty="0">
                <a:cs typeface="+mn-cs"/>
              </a:rPr>
              <a:t>Does not address the real problem:  Router table size – </a:t>
            </a:r>
            <a:r>
              <a:rPr lang="en-US" sz="1400" dirty="0">
                <a:cs typeface="+mn-cs"/>
              </a:rPr>
              <a:t>Last heard &gt; 1 Million</a:t>
            </a:r>
          </a:p>
          <a:p>
            <a:pPr marL="398463" indent="-398463" eaLnBrk="1" hangingPunct="1">
              <a:buFont typeface="Times" charset="0"/>
              <a:buChar char="•"/>
              <a:defRPr/>
            </a:pPr>
            <a:r>
              <a:rPr lang="en-US" sz="1800" dirty="0">
                <a:cs typeface="+mn-cs"/>
              </a:rPr>
              <a:t>Transition requires a NAT - </a:t>
            </a:r>
            <a:r>
              <a:rPr lang="en-US" sz="1400" dirty="0">
                <a:cs typeface="+mn-cs"/>
              </a:rPr>
              <a:t>Once you have a NAT, you don</a:t>
            </a:r>
            <a:r>
              <a:rPr lang="en-US" sz="1400" dirty="0">
                <a:latin typeface="Arial"/>
                <a:cs typeface="+mn-cs"/>
              </a:rPr>
              <a:t>’</a:t>
            </a:r>
            <a:r>
              <a:rPr lang="en-US" sz="1400" dirty="0">
                <a:cs typeface="+mn-cs"/>
              </a:rPr>
              <a:t>t need v6</a:t>
            </a:r>
          </a:p>
          <a:p>
            <a:pPr marL="398463" indent="-398463" eaLnBrk="1" hangingPunct="1">
              <a:buFont typeface="Times" charset="0"/>
              <a:buChar char="•"/>
              <a:defRPr/>
            </a:pPr>
            <a:r>
              <a:rPr lang="en-US" sz="1800" dirty="0">
                <a:cs typeface="+mn-cs"/>
              </a:rPr>
              <a:t>The real problem with adoption - </a:t>
            </a:r>
            <a:r>
              <a:rPr lang="en-US" sz="1400" dirty="0">
                <a:cs typeface="+mn-cs"/>
              </a:rPr>
              <a:t>No benefit to whomever pays for the transition.</a:t>
            </a:r>
          </a:p>
          <a:p>
            <a:pPr marL="398463" indent="-398463" eaLnBrk="1" hangingPunct="1">
              <a:buFont typeface="Times" charset="0"/>
              <a:buChar char="•"/>
              <a:defRPr/>
            </a:pPr>
            <a:r>
              <a:rPr lang="en-US" sz="1800" dirty="0">
                <a:cs typeface="+mn-cs"/>
              </a:rPr>
              <a:t>No private addresses - </a:t>
            </a:r>
            <a:r>
              <a:rPr lang="en-US" sz="1400" dirty="0">
                <a:cs typeface="+mn-cs"/>
              </a:rPr>
              <a:t>Had to reverse themselves on this. (twice)</a:t>
            </a:r>
          </a:p>
          <a:p>
            <a:pPr marL="855663" lvl="2" indent="-398463">
              <a:buFont typeface="Times" charset="0"/>
              <a:buChar char="•"/>
              <a:defRPr/>
            </a:pPr>
            <a:r>
              <a:rPr lang="en-US" dirty="0"/>
              <a:t>Much to their chagrin this one of the big points for v6!</a:t>
            </a:r>
          </a:p>
          <a:p>
            <a:pPr marL="398463" indent="-398463" eaLnBrk="1" hangingPunct="1">
              <a:buFont typeface="Times" charset="0"/>
              <a:buChar char="•"/>
              <a:defRPr/>
            </a:pPr>
            <a:r>
              <a:rPr lang="en-US" sz="1800" dirty="0">
                <a:cs typeface="+mn-cs"/>
              </a:rPr>
              <a:t>There are going to be scaling problems:  Route calculation.</a:t>
            </a:r>
          </a:p>
          <a:p>
            <a:pPr marL="398463" indent="-398463" eaLnBrk="1" hangingPunct="1">
              <a:buFont typeface="Times" charset="0"/>
              <a:buChar char="•"/>
              <a:defRPr/>
            </a:pPr>
            <a:r>
              <a:rPr lang="en-US" sz="1800" dirty="0">
                <a:cs typeface="+mn-cs"/>
              </a:rPr>
              <a:t>Know we have left some out.</a:t>
            </a:r>
          </a:p>
          <a:p>
            <a:pPr marL="398463" indent="-398463" eaLnBrk="1" hangingPunct="1">
              <a:buFont typeface="Times" charset="0"/>
              <a:buChar char="•"/>
              <a:defRPr/>
            </a:pPr>
            <a:r>
              <a:rPr lang="en-US" sz="1800" dirty="0">
                <a:cs typeface="+mn-cs"/>
              </a:rPr>
              <a:t>Consequently, IETF has resorted to spin.</a:t>
            </a:r>
            <a:endParaRPr lang="en-US" sz="1800" dirty="0"/>
          </a:p>
        </p:txBody>
      </p:sp>
    </p:spTree>
    <p:extLst>
      <p:ext uri="{BB962C8B-B14F-4D97-AF65-F5344CB8AC3E}">
        <p14:creationId xmlns:p14="http://schemas.microsoft.com/office/powerpoint/2010/main" val="2605715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D5C31-0E89-B494-F44D-EC81F3839138}"/>
              </a:ext>
            </a:extLst>
          </p:cNvPr>
          <p:cNvSpPr>
            <a:spLocks noGrp="1"/>
          </p:cNvSpPr>
          <p:nvPr>
            <p:ph type="title"/>
          </p:nvPr>
        </p:nvSpPr>
        <p:spPr>
          <a:xfrm>
            <a:off x="838200" y="121285"/>
            <a:ext cx="10515600" cy="1325563"/>
          </a:xfrm>
        </p:spPr>
        <p:txBody>
          <a:bodyPr/>
          <a:lstStyle/>
          <a:p>
            <a:r>
              <a:rPr lang="en-US" dirty="0"/>
              <a:t>What is Going on Here?</a:t>
            </a:r>
          </a:p>
        </p:txBody>
      </p:sp>
      <p:sp>
        <p:nvSpPr>
          <p:cNvPr id="3" name="Content Placeholder 2">
            <a:extLst>
              <a:ext uri="{FF2B5EF4-FFF2-40B4-BE49-F238E27FC236}">
                <a16:creationId xmlns:a16="http://schemas.microsoft.com/office/drawing/2014/main" id="{889433FF-3765-6ADA-C191-EB0B90362073}"/>
              </a:ext>
            </a:extLst>
          </p:cNvPr>
          <p:cNvSpPr>
            <a:spLocks noGrp="1"/>
          </p:cNvSpPr>
          <p:nvPr>
            <p:ph idx="1"/>
          </p:nvPr>
        </p:nvSpPr>
        <p:spPr>
          <a:xfrm>
            <a:off x="838200" y="1253331"/>
            <a:ext cx="10515600" cy="4351338"/>
          </a:xfrm>
        </p:spPr>
        <p:txBody>
          <a:bodyPr>
            <a:normAutofit fontScale="92500" lnSpcReduction="20000"/>
          </a:bodyPr>
          <a:lstStyle/>
          <a:p>
            <a:r>
              <a:rPr lang="en-US" dirty="0"/>
              <a:t>When one reads the IPv6 RFCs, one gets an impression of ‘</a:t>
            </a:r>
            <a:r>
              <a:rPr lang="en-US" dirty="0" err="1"/>
              <a:t>whackamole</a:t>
            </a:r>
            <a:r>
              <a:rPr lang="en-US" dirty="0"/>
              <a:t>.’</a:t>
            </a:r>
          </a:p>
          <a:p>
            <a:pPr lvl="1"/>
            <a:r>
              <a:rPr lang="en-US" dirty="0"/>
              <a:t>Things added incrementally as thought of.</a:t>
            </a:r>
          </a:p>
          <a:p>
            <a:pPr lvl="1"/>
            <a:r>
              <a:rPr lang="en-US" dirty="0"/>
              <a:t>There are several hundred IPv6 RFCs. (!)</a:t>
            </a:r>
          </a:p>
          <a:p>
            <a:r>
              <a:rPr lang="en-US" dirty="0"/>
              <a:t>There is no real overall architecture that they are building to.</a:t>
            </a:r>
          </a:p>
          <a:p>
            <a:pPr lvl="1"/>
            <a:r>
              <a:rPr lang="en-US" dirty="0"/>
              <a:t>Defined several kinds of IPv6 addresses but can’t define their scope.</a:t>
            </a:r>
          </a:p>
          <a:p>
            <a:pPr lvl="1"/>
            <a:r>
              <a:rPr lang="en-US" dirty="0"/>
              <a:t>A simple question about anycast was typical: led to discussion citing many different RFCs.</a:t>
            </a:r>
          </a:p>
          <a:p>
            <a:r>
              <a:rPr lang="en-US" dirty="0"/>
              <a:t>What should be done?</a:t>
            </a:r>
          </a:p>
          <a:p>
            <a:pPr lvl="1"/>
            <a:r>
              <a:rPr lang="en-US" dirty="0"/>
              <a:t>First IP was a mistake as we have seen from the structure of data transfer protocols, they naturally cleave between control and data.</a:t>
            </a:r>
          </a:p>
          <a:p>
            <a:pPr lvl="1"/>
            <a:r>
              <a:rPr lang="en-US" dirty="0"/>
              <a:t>All flows must be flow controlled, all layers that relay must have congestion or contention management</a:t>
            </a:r>
          </a:p>
          <a:p>
            <a:pPr lvl="2"/>
            <a:r>
              <a:rPr lang="en-US" dirty="0"/>
              <a:t>Get rid of UDP; run flow control wide open but keep means to shut it down if necessary.</a:t>
            </a:r>
          </a:p>
          <a:p>
            <a:pPr lvl="1"/>
            <a:r>
              <a:rPr lang="en-US" dirty="0"/>
              <a:t>Likely that 128-bit addresses are unnecessary. 32, 48, or 64 should be sufficient.</a:t>
            </a:r>
          </a:p>
          <a:p>
            <a:pPr lvl="2"/>
            <a:r>
              <a:rPr lang="en-US" dirty="0"/>
              <a:t>Forwarding decision can be made based on Address, QoS-cube-id, and maybe a CEP-id but not usually.</a:t>
            </a:r>
          </a:p>
          <a:p>
            <a:pPr lvl="3"/>
            <a:r>
              <a:rPr lang="en-US" dirty="0"/>
              <a:t>Less than 10 bytes</a:t>
            </a:r>
          </a:p>
          <a:p>
            <a:pPr lvl="1"/>
            <a:r>
              <a:rPr lang="en-US" dirty="0"/>
              <a:t>No options, all such information should be distributed by layer management.</a:t>
            </a:r>
          </a:p>
          <a:p>
            <a:pPr lvl="2"/>
            <a:r>
              <a:rPr lang="en-US" dirty="0"/>
              <a:t>Recognizing that source routing is equivalent to virtual circuit.</a:t>
            </a:r>
          </a:p>
          <a:p>
            <a:pPr lvl="1"/>
            <a:r>
              <a:rPr lang="en-US" dirty="0"/>
              <a:t>Orders of magnitude simpler.</a:t>
            </a:r>
          </a:p>
          <a:p>
            <a:endParaRPr lang="en-US" dirty="0"/>
          </a:p>
        </p:txBody>
      </p:sp>
    </p:spTree>
    <p:extLst>
      <p:ext uri="{BB962C8B-B14F-4D97-AF65-F5344CB8AC3E}">
        <p14:creationId xmlns:p14="http://schemas.microsoft.com/office/powerpoint/2010/main" val="3974569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p:txBody>
          <a:bodyPr/>
          <a:lstStyle/>
          <a:p>
            <a:pPr eaLnBrk="1" hangingPunct="1">
              <a:defRPr/>
            </a:pPr>
            <a:r>
              <a:rPr lang="en-US" dirty="0">
                <a:solidFill>
                  <a:schemeClr val="tx1"/>
                </a:solidFill>
                <a:cs typeface="+mj-cs"/>
              </a:rPr>
              <a:t>The TCP Header</a:t>
            </a:r>
          </a:p>
        </p:txBody>
      </p:sp>
      <p:sp>
        <p:nvSpPr>
          <p:cNvPr id="137219" name="Rectangle 3"/>
          <p:cNvSpPr>
            <a:spLocks noGrp="1" noChangeArrowheads="1"/>
          </p:cNvSpPr>
          <p:nvPr>
            <p:ph idx="4294967295"/>
          </p:nvPr>
        </p:nvSpPr>
        <p:spPr>
          <a:xfrm>
            <a:off x="1811338" y="5715000"/>
            <a:ext cx="8856662" cy="838200"/>
          </a:xfrm>
        </p:spPr>
        <p:txBody>
          <a:bodyPr/>
          <a:lstStyle/>
          <a:p>
            <a:pPr algn="ctr" eaLnBrk="1" hangingPunct="1">
              <a:buFontTx/>
              <a:buNone/>
              <a:defRPr/>
            </a:pPr>
            <a:r>
              <a:rPr lang="en-US">
                <a:cs typeface="+mn-cs"/>
              </a:rPr>
              <a:t>The TCP header.</a:t>
            </a:r>
          </a:p>
        </p:txBody>
      </p:sp>
      <p:pic>
        <p:nvPicPr>
          <p:cNvPr id="819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850" y="996951"/>
            <a:ext cx="7361238" cy="4702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idx="4294967295"/>
          </p:nvPr>
        </p:nvSpPr>
        <p:spPr/>
        <p:txBody>
          <a:bodyPr/>
          <a:lstStyle/>
          <a:p>
            <a:pPr eaLnBrk="1" hangingPunct="1">
              <a:defRPr/>
            </a:pPr>
            <a:r>
              <a:rPr lang="en-US" sz="3600" dirty="0">
                <a:solidFill>
                  <a:schemeClr val="tx1"/>
                </a:solidFill>
                <a:cs typeface="+mj-cs"/>
              </a:rPr>
              <a:t>TCP/UDP Pseudo-Header</a:t>
            </a:r>
            <a:endParaRPr lang="en-US" sz="3600" dirty="0">
              <a:cs typeface="+mj-cs"/>
            </a:endParaRPr>
          </a:p>
        </p:txBody>
      </p:sp>
      <p:sp>
        <p:nvSpPr>
          <p:cNvPr id="134147" name="Rectangle 3"/>
          <p:cNvSpPr>
            <a:spLocks noGrp="1" noChangeArrowheads="1"/>
          </p:cNvSpPr>
          <p:nvPr>
            <p:ph idx="4294967295"/>
          </p:nvPr>
        </p:nvSpPr>
        <p:spPr>
          <a:xfrm>
            <a:off x="1778793" y="5443109"/>
            <a:ext cx="8856662" cy="838200"/>
          </a:xfrm>
        </p:spPr>
        <p:txBody>
          <a:bodyPr/>
          <a:lstStyle/>
          <a:p>
            <a:pPr algn="ctr" eaLnBrk="1" hangingPunct="1">
              <a:buFontTx/>
              <a:buNone/>
              <a:defRPr/>
            </a:pPr>
            <a:r>
              <a:rPr lang="en-US" dirty="0">
                <a:cs typeface="+mn-cs"/>
              </a:rPr>
              <a:t>The IPv4 pseudo-header included in the UDP checksum.</a:t>
            </a:r>
          </a:p>
          <a:p>
            <a:pPr algn="ctr" eaLnBrk="1" hangingPunct="1">
              <a:buFontTx/>
              <a:buNone/>
              <a:defRPr/>
            </a:pPr>
            <a:r>
              <a:rPr lang="en-US" dirty="0">
                <a:cs typeface="+mn-cs"/>
              </a:rPr>
              <a:t>And TCP checksum!</a:t>
            </a:r>
          </a:p>
        </p:txBody>
      </p:sp>
      <p:pic>
        <p:nvPicPr>
          <p:cNvPr id="7475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793" y="1397812"/>
            <a:ext cx="8634413" cy="2725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extBox 1"/>
          <p:cNvSpPr txBox="1"/>
          <p:nvPr/>
        </p:nvSpPr>
        <p:spPr>
          <a:xfrm>
            <a:off x="7548355" y="4637567"/>
            <a:ext cx="1159292" cy="523220"/>
          </a:xfrm>
          <a:prstGeom prst="rect">
            <a:avLst/>
          </a:prstGeom>
          <a:noFill/>
        </p:spPr>
        <p:txBody>
          <a:bodyPr wrap="none" rtlCol="0">
            <a:spAutoFit/>
          </a:bodyPr>
          <a:lstStyle/>
          <a:p>
            <a:pPr algn="ctr" fontAlgn="base">
              <a:spcBef>
                <a:spcPct val="0"/>
              </a:spcBef>
              <a:spcAft>
                <a:spcPct val="0"/>
              </a:spcAft>
            </a:pPr>
            <a:r>
              <a:rPr lang="en-US" sz="1400" dirty="0">
                <a:solidFill>
                  <a:srgbClr val="000000"/>
                </a:solidFill>
                <a:latin typeface="Times" charset="0"/>
                <a:ea typeface="ＭＳ Ｐゴシック" charset="0"/>
              </a:rPr>
              <a:t>TCP or UDP</a:t>
            </a:r>
          </a:p>
          <a:p>
            <a:pPr algn="ctr" fontAlgn="base">
              <a:spcBef>
                <a:spcPct val="0"/>
              </a:spcBef>
              <a:spcAft>
                <a:spcPct val="0"/>
              </a:spcAft>
            </a:pPr>
            <a:r>
              <a:rPr lang="en-US" sz="1400" dirty="0">
                <a:solidFill>
                  <a:srgbClr val="000000"/>
                </a:solidFill>
                <a:latin typeface="Times" charset="0"/>
                <a:ea typeface="ＭＳ Ｐゴシック" charset="0"/>
              </a:rPr>
              <a:t>header length</a:t>
            </a:r>
          </a:p>
        </p:txBody>
      </p:sp>
      <p:cxnSp>
        <p:nvCxnSpPr>
          <p:cNvPr id="6" name="Straight Arrow Connector 5"/>
          <p:cNvCxnSpPr>
            <a:cxnSpLocks/>
          </p:cNvCxnSpPr>
          <p:nvPr/>
        </p:nvCxnSpPr>
        <p:spPr bwMode="auto">
          <a:xfrm flipH="1" flipV="1">
            <a:off x="8128001" y="4038267"/>
            <a:ext cx="3437" cy="59930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3" name="TextBox 2"/>
          <p:cNvSpPr txBox="1"/>
          <p:nvPr/>
        </p:nvSpPr>
        <p:spPr>
          <a:xfrm>
            <a:off x="4853108" y="4566408"/>
            <a:ext cx="998365"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Times" charset="0"/>
                <a:ea typeface="ＭＳ Ｐゴシック" charset="0"/>
              </a:rPr>
              <a:t>Or 6 for TCP</a:t>
            </a:r>
          </a:p>
        </p:txBody>
      </p:sp>
      <p:cxnSp>
        <p:nvCxnSpPr>
          <p:cNvPr id="5" name="Straight Arrow Connector 4"/>
          <p:cNvCxnSpPr>
            <a:cxnSpLocks/>
          </p:cNvCxnSpPr>
          <p:nvPr/>
        </p:nvCxnSpPr>
        <p:spPr bwMode="auto">
          <a:xfrm flipV="1">
            <a:off x="5352291" y="4014082"/>
            <a:ext cx="9263" cy="538202"/>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defRPr/>
            </a:pPr>
            <a:r>
              <a:rPr lang="en-US" sz="3600" dirty="0">
                <a:solidFill>
                  <a:schemeClr val="tx1"/>
                </a:solidFill>
                <a:cs typeface="+mj-cs"/>
              </a:rPr>
              <a:t>Introduction to UDP</a:t>
            </a:r>
          </a:p>
        </p:txBody>
      </p:sp>
      <p:sp>
        <p:nvSpPr>
          <p:cNvPr id="45059" name="Rectangle 3"/>
          <p:cNvSpPr>
            <a:spLocks noGrp="1" noChangeArrowheads="1"/>
          </p:cNvSpPr>
          <p:nvPr>
            <p:ph type="body" idx="1"/>
          </p:nvPr>
        </p:nvSpPr>
        <p:spPr>
          <a:xfrm>
            <a:off x="2058988" y="4686300"/>
            <a:ext cx="8084756" cy="1714500"/>
          </a:xfrm>
        </p:spPr>
        <p:txBody>
          <a:bodyPr/>
          <a:lstStyle/>
          <a:p>
            <a:pPr algn="ctr" eaLnBrk="1" hangingPunct="1">
              <a:buFontTx/>
              <a:buNone/>
              <a:defRPr/>
            </a:pPr>
            <a:r>
              <a:rPr lang="en-US" dirty="0">
                <a:cs typeface="+mn-cs"/>
              </a:rPr>
              <a:t>The UDP header.</a:t>
            </a:r>
          </a:p>
          <a:p>
            <a:pPr algn="ctr" eaLnBrk="1" hangingPunct="1">
              <a:buFontTx/>
              <a:buNone/>
              <a:defRPr/>
            </a:pPr>
            <a:r>
              <a:rPr lang="en-US" sz="1800" dirty="0">
                <a:cs typeface="+mn-cs"/>
              </a:rPr>
              <a:t>(In the Model, we have developed this more or less corresponds to the tightly-coupled mechanisms half of the Error and Flow Control Protocols)</a:t>
            </a:r>
          </a:p>
          <a:p>
            <a:pPr algn="ctr" eaLnBrk="1" hangingPunct="1">
              <a:buFontTx/>
              <a:buNone/>
              <a:defRPr/>
            </a:pPr>
            <a:r>
              <a:rPr lang="en-US" sz="1800" dirty="0">
                <a:cs typeface="+mn-cs"/>
              </a:rPr>
              <a:t>UDP should be deprecated. It is a DoS security threat.</a:t>
            </a:r>
          </a:p>
          <a:p>
            <a:pPr algn="ctr" eaLnBrk="1" hangingPunct="1">
              <a:buFontTx/>
              <a:buNone/>
              <a:defRPr/>
            </a:pPr>
            <a:r>
              <a:rPr lang="en-US" sz="1800" dirty="0">
                <a:cs typeface="+mn-cs"/>
              </a:rPr>
              <a:t>There should be no flows in a network that are not flow controlled.</a:t>
            </a:r>
          </a:p>
        </p:txBody>
      </p:sp>
      <p:pic>
        <p:nvPicPr>
          <p:cNvPr id="72707" name="Picture 5" descr="6-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989" y="2682875"/>
            <a:ext cx="8207375" cy="146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0" y="12192"/>
            <a:ext cx="12192000" cy="1143000"/>
          </a:xfrm>
        </p:spPr>
        <p:txBody>
          <a:bodyPr/>
          <a:lstStyle/>
          <a:p>
            <a:pPr eaLnBrk="1" hangingPunct="1">
              <a:defRPr/>
            </a:pPr>
            <a:r>
              <a:rPr lang="en-US" dirty="0">
                <a:solidFill>
                  <a:schemeClr val="tx1"/>
                </a:solidFill>
                <a:cs typeface="+mj-cs"/>
              </a:rPr>
              <a:t>The TCP Service Model</a:t>
            </a:r>
          </a:p>
        </p:txBody>
      </p:sp>
      <p:sp>
        <p:nvSpPr>
          <p:cNvPr id="50179" name="Rectangle 3"/>
          <p:cNvSpPr>
            <a:spLocks noGrp="1" noChangeArrowheads="1"/>
          </p:cNvSpPr>
          <p:nvPr>
            <p:ph type="body" idx="1"/>
          </p:nvPr>
        </p:nvSpPr>
        <p:spPr>
          <a:xfrm>
            <a:off x="1573319" y="4967288"/>
            <a:ext cx="9144000" cy="838200"/>
          </a:xfrm>
        </p:spPr>
        <p:txBody>
          <a:bodyPr/>
          <a:lstStyle/>
          <a:p>
            <a:pPr algn="ctr" eaLnBrk="1" hangingPunct="1">
              <a:buFontTx/>
              <a:buNone/>
              <a:defRPr/>
            </a:pPr>
            <a:r>
              <a:rPr lang="en-US" dirty="0">
                <a:cs typeface="+mn-cs"/>
              </a:rPr>
              <a:t>Some assigned ports.</a:t>
            </a:r>
          </a:p>
          <a:p>
            <a:pPr algn="ctr" eaLnBrk="1" hangingPunct="1">
              <a:buFontTx/>
              <a:buNone/>
              <a:defRPr/>
            </a:pPr>
            <a:r>
              <a:rPr lang="en-US" dirty="0">
                <a:cs typeface="+mn-cs"/>
              </a:rPr>
              <a:t>Overloading the Connection-Id</a:t>
            </a:r>
          </a:p>
          <a:p>
            <a:pPr algn="ctr" eaLnBrk="1" hangingPunct="1">
              <a:buFontTx/>
              <a:buNone/>
              <a:defRPr/>
            </a:pPr>
            <a:r>
              <a:rPr lang="en-US" dirty="0">
                <a:cs typeface="+mn-cs"/>
              </a:rPr>
              <a:t>A kludge becomes institutionalized.</a:t>
            </a:r>
          </a:p>
        </p:txBody>
      </p:sp>
      <p:grpSp>
        <p:nvGrpSpPr>
          <p:cNvPr id="78851" name="Group 39"/>
          <p:cNvGrpSpPr>
            <a:grpSpLocks/>
          </p:cNvGrpSpPr>
          <p:nvPr/>
        </p:nvGrpSpPr>
        <p:grpSpPr bwMode="auto">
          <a:xfrm>
            <a:off x="3492501" y="2097088"/>
            <a:ext cx="6334125" cy="2641600"/>
            <a:chOff x="1192" y="1321"/>
            <a:chExt cx="3338" cy="1664"/>
          </a:xfrm>
        </p:grpSpPr>
        <p:sp>
          <p:nvSpPr>
            <p:cNvPr id="50183" name="Rectangle 7"/>
            <p:cNvSpPr>
              <a:spLocks noChangeArrowheads="1"/>
            </p:cNvSpPr>
            <p:nvPr/>
          </p:nvSpPr>
          <p:spPr bwMode="auto">
            <a:xfrm>
              <a:off x="1192" y="1321"/>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84" name="Rectangle 8"/>
            <p:cNvSpPr>
              <a:spLocks noChangeArrowheads="1"/>
            </p:cNvSpPr>
            <p:nvPr/>
          </p:nvSpPr>
          <p:spPr bwMode="auto">
            <a:xfrm>
              <a:off x="1707" y="1321"/>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85" name="Rectangle 9"/>
            <p:cNvSpPr>
              <a:spLocks noChangeArrowheads="1"/>
            </p:cNvSpPr>
            <p:nvPr/>
          </p:nvSpPr>
          <p:spPr bwMode="auto">
            <a:xfrm>
              <a:off x="2592" y="1321"/>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86" name="Rectangle 10"/>
            <p:cNvSpPr>
              <a:spLocks noChangeArrowheads="1"/>
            </p:cNvSpPr>
            <p:nvPr/>
          </p:nvSpPr>
          <p:spPr bwMode="auto">
            <a:xfrm>
              <a:off x="1192" y="1506"/>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87" name="Rectangle 11"/>
            <p:cNvSpPr>
              <a:spLocks noChangeArrowheads="1"/>
            </p:cNvSpPr>
            <p:nvPr/>
          </p:nvSpPr>
          <p:spPr bwMode="auto">
            <a:xfrm>
              <a:off x="1707" y="1506"/>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88" name="Rectangle 12"/>
            <p:cNvSpPr>
              <a:spLocks noChangeArrowheads="1"/>
            </p:cNvSpPr>
            <p:nvPr/>
          </p:nvSpPr>
          <p:spPr bwMode="auto">
            <a:xfrm>
              <a:off x="2592" y="1506"/>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grpSp>
          <p:nvGrpSpPr>
            <p:cNvPr id="78885" name="Group 24"/>
            <p:cNvGrpSpPr>
              <a:grpSpLocks/>
            </p:cNvGrpSpPr>
            <p:nvPr/>
          </p:nvGrpSpPr>
          <p:grpSpPr bwMode="auto">
            <a:xfrm>
              <a:off x="1192" y="1691"/>
              <a:ext cx="3338" cy="185"/>
              <a:chOff x="1288" y="1865"/>
              <a:chExt cx="3338" cy="185"/>
            </a:xfrm>
          </p:grpSpPr>
          <p:sp>
            <p:nvSpPr>
              <p:cNvPr id="50189" name="Rectangle 13"/>
              <p:cNvSpPr>
                <a:spLocks noChangeArrowheads="1"/>
              </p:cNvSpPr>
              <p:nvPr/>
            </p:nvSpPr>
            <p:spPr bwMode="auto">
              <a:xfrm>
                <a:off x="1288" y="1865"/>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90" name="Rectangle 14"/>
              <p:cNvSpPr>
                <a:spLocks noChangeArrowheads="1"/>
              </p:cNvSpPr>
              <p:nvPr/>
            </p:nvSpPr>
            <p:spPr bwMode="auto">
              <a:xfrm>
                <a:off x="1803" y="1865"/>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91" name="Rectangle 15"/>
              <p:cNvSpPr>
                <a:spLocks noChangeArrowheads="1"/>
              </p:cNvSpPr>
              <p:nvPr/>
            </p:nvSpPr>
            <p:spPr bwMode="auto">
              <a:xfrm>
                <a:off x="2688" y="1865"/>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grpSp>
        <p:grpSp>
          <p:nvGrpSpPr>
            <p:cNvPr id="78886" name="Group 23"/>
            <p:cNvGrpSpPr>
              <a:grpSpLocks/>
            </p:cNvGrpSpPr>
            <p:nvPr/>
          </p:nvGrpSpPr>
          <p:grpSpPr bwMode="auto">
            <a:xfrm>
              <a:off x="1192" y="1876"/>
              <a:ext cx="3338" cy="185"/>
              <a:chOff x="1384" y="1513"/>
              <a:chExt cx="3338" cy="185"/>
            </a:xfrm>
          </p:grpSpPr>
          <p:sp>
            <p:nvSpPr>
              <p:cNvPr id="50192" name="Rectangle 16"/>
              <p:cNvSpPr>
                <a:spLocks noChangeArrowheads="1"/>
              </p:cNvSpPr>
              <p:nvPr/>
            </p:nvSpPr>
            <p:spPr bwMode="auto">
              <a:xfrm>
                <a:off x="1384" y="1513"/>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93" name="Rectangle 17"/>
              <p:cNvSpPr>
                <a:spLocks noChangeArrowheads="1"/>
              </p:cNvSpPr>
              <p:nvPr/>
            </p:nvSpPr>
            <p:spPr bwMode="auto">
              <a:xfrm>
                <a:off x="1899" y="1513"/>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94" name="Rectangle 18"/>
              <p:cNvSpPr>
                <a:spLocks noChangeArrowheads="1"/>
              </p:cNvSpPr>
              <p:nvPr/>
            </p:nvSpPr>
            <p:spPr bwMode="auto">
              <a:xfrm>
                <a:off x="2784" y="1513"/>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grpSp>
        <p:grpSp>
          <p:nvGrpSpPr>
            <p:cNvPr id="78887" name="Group 22"/>
            <p:cNvGrpSpPr>
              <a:grpSpLocks/>
            </p:cNvGrpSpPr>
            <p:nvPr/>
          </p:nvGrpSpPr>
          <p:grpSpPr bwMode="auto">
            <a:xfrm>
              <a:off x="1192" y="2061"/>
              <a:ext cx="3338" cy="185"/>
              <a:chOff x="1480" y="1609"/>
              <a:chExt cx="3338" cy="185"/>
            </a:xfrm>
          </p:grpSpPr>
          <p:sp>
            <p:nvSpPr>
              <p:cNvPr id="50195" name="Rectangle 19"/>
              <p:cNvSpPr>
                <a:spLocks noChangeArrowheads="1"/>
              </p:cNvSpPr>
              <p:nvPr/>
            </p:nvSpPr>
            <p:spPr bwMode="auto">
              <a:xfrm>
                <a:off x="1480" y="1609"/>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96" name="Rectangle 20"/>
              <p:cNvSpPr>
                <a:spLocks noChangeArrowheads="1"/>
              </p:cNvSpPr>
              <p:nvPr/>
            </p:nvSpPr>
            <p:spPr bwMode="auto">
              <a:xfrm>
                <a:off x="1995" y="1609"/>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197" name="Rectangle 21"/>
              <p:cNvSpPr>
                <a:spLocks noChangeArrowheads="1"/>
              </p:cNvSpPr>
              <p:nvPr/>
            </p:nvSpPr>
            <p:spPr bwMode="auto">
              <a:xfrm>
                <a:off x="2880" y="1609"/>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grpSp>
        <p:sp>
          <p:nvSpPr>
            <p:cNvPr id="50201" name="Rectangle 25"/>
            <p:cNvSpPr>
              <a:spLocks noChangeArrowheads="1"/>
            </p:cNvSpPr>
            <p:nvPr/>
          </p:nvSpPr>
          <p:spPr bwMode="auto">
            <a:xfrm>
              <a:off x="1192" y="2245"/>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02" name="Rectangle 26"/>
            <p:cNvSpPr>
              <a:spLocks noChangeArrowheads="1"/>
            </p:cNvSpPr>
            <p:nvPr/>
          </p:nvSpPr>
          <p:spPr bwMode="auto">
            <a:xfrm>
              <a:off x="1707" y="2245"/>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03" name="Rectangle 27"/>
            <p:cNvSpPr>
              <a:spLocks noChangeArrowheads="1"/>
            </p:cNvSpPr>
            <p:nvPr/>
          </p:nvSpPr>
          <p:spPr bwMode="auto">
            <a:xfrm>
              <a:off x="2592" y="2245"/>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04" name="Rectangle 28"/>
            <p:cNvSpPr>
              <a:spLocks noChangeArrowheads="1"/>
            </p:cNvSpPr>
            <p:nvPr/>
          </p:nvSpPr>
          <p:spPr bwMode="auto">
            <a:xfrm>
              <a:off x="1192" y="2430"/>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05" name="Rectangle 29"/>
            <p:cNvSpPr>
              <a:spLocks noChangeArrowheads="1"/>
            </p:cNvSpPr>
            <p:nvPr/>
          </p:nvSpPr>
          <p:spPr bwMode="auto">
            <a:xfrm>
              <a:off x="1707" y="2430"/>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06" name="Rectangle 30"/>
            <p:cNvSpPr>
              <a:spLocks noChangeArrowheads="1"/>
            </p:cNvSpPr>
            <p:nvPr/>
          </p:nvSpPr>
          <p:spPr bwMode="auto">
            <a:xfrm>
              <a:off x="2592" y="2430"/>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grpSp>
          <p:nvGrpSpPr>
            <p:cNvPr id="78894" name="Group 31"/>
            <p:cNvGrpSpPr>
              <a:grpSpLocks/>
            </p:cNvGrpSpPr>
            <p:nvPr/>
          </p:nvGrpSpPr>
          <p:grpSpPr bwMode="auto">
            <a:xfrm>
              <a:off x="1192" y="2615"/>
              <a:ext cx="3338" cy="185"/>
              <a:chOff x="1288" y="1865"/>
              <a:chExt cx="3338" cy="185"/>
            </a:xfrm>
          </p:grpSpPr>
          <p:sp>
            <p:nvSpPr>
              <p:cNvPr id="50208" name="Rectangle 32"/>
              <p:cNvSpPr>
                <a:spLocks noChangeArrowheads="1"/>
              </p:cNvSpPr>
              <p:nvPr/>
            </p:nvSpPr>
            <p:spPr bwMode="auto">
              <a:xfrm>
                <a:off x="1288" y="1865"/>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09" name="Rectangle 33"/>
              <p:cNvSpPr>
                <a:spLocks noChangeArrowheads="1"/>
              </p:cNvSpPr>
              <p:nvPr/>
            </p:nvSpPr>
            <p:spPr bwMode="auto">
              <a:xfrm>
                <a:off x="1803" y="1865"/>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10" name="Rectangle 34"/>
              <p:cNvSpPr>
                <a:spLocks noChangeArrowheads="1"/>
              </p:cNvSpPr>
              <p:nvPr/>
            </p:nvSpPr>
            <p:spPr bwMode="auto">
              <a:xfrm>
                <a:off x="2688" y="1865"/>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grpSp>
        <p:grpSp>
          <p:nvGrpSpPr>
            <p:cNvPr id="78895" name="Group 35"/>
            <p:cNvGrpSpPr>
              <a:grpSpLocks/>
            </p:cNvGrpSpPr>
            <p:nvPr/>
          </p:nvGrpSpPr>
          <p:grpSpPr bwMode="auto">
            <a:xfrm>
              <a:off x="1192" y="2800"/>
              <a:ext cx="3338" cy="185"/>
              <a:chOff x="1384" y="1513"/>
              <a:chExt cx="3338" cy="185"/>
            </a:xfrm>
          </p:grpSpPr>
          <p:sp>
            <p:nvSpPr>
              <p:cNvPr id="50212" name="Rectangle 36"/>
              <p:cNvSpPr>
                <a:spLocks noChangeArrowheads="1"/>
              </p:cNvSpPr>
              <p:nvPr/>
            </p:nvSpPr>
            <p:spPr bwMode="auto">
              <a:xfrm>
                <a:off x="1384" y="1513"/>
                <a:ext cx="515"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13" name="Rectangle 37"/>
              <p:cNvSpPr>
                <a:spLocks noChangeArrowheads="1"/>
              </p:cNvSpPr>
              <p:nvPr/>
            </p:nvSpPr>
            <p:spPr bwMode="auto">
              <a:xfrm>
                <a:off x="1899" y="1513"/>
                <a:ext cx="883"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sp>
            <p:nvSpPr>
              <p:cNvPr id="50214" name="Rectangle 38"/>
              <p:cNvSpPr>
                <a:spLocks noChangeArrowheads="1"/>
              </p:cNvSpPr>
              <p:nvPr/>
            </p:nvSpPr>
            <p:spPr bwMode="auto">
              <a:xfrm>
                <a:off x="2784" y="1513"/>
                <a:ext cx="1938" cy="1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Times" charset="0"/>
                  <a:ea typeface="ＭＳ Ｐゴシック" charset="0"/>
                </a:endParaRPr>
              </a:p>
            </p:txBody>
          </p:sp>
        </p:grpSp>
      </p:grpSp>
      <p:sp>
        <p:nvSpPr>
          <p:cNvPr id="50216" name="Text Box 40"/>
          <p:cNvSpPr txBox="1">
            <a:spLocks noChangeArrowheads="1"/>
          </p:cNvSpPr>
          <p:nvPr/>
        </p:nvSpPr>
        <p:spPr bwMode="auto">
          <a:xfrm>
            <a:off x="3519488" y="2044701"/>
            <a:ext cx="6080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Port</a:t>
            </a:r>
          </a:p>
        </p:txBody>
      </p:sp>
      <p:sp>
        <p:nvSpPr>
          <p:cNvPr id="50218" name="Text Box 42"/>
          <p:cNvSpPr txBox="1">
            <a:spLocks noChangeArrowheads="1"/>
          </p:cNvSpPr>
          <p:nvPr/>
        </p:nvSpPr>
        <p:spPr bwMode="auto">
          <a:xfrm>
            <a:off x="4591051" y="2044701"/>
            <a:ext cx="10445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Protocol</a:t>
            </a:r>
          </a:p>
        </p:txBody>
      </p:sp>
      <p:sp>
        <p:nvSpPr>
          <p:cNvPr id="50219" name="Text Box 43"/>
          <p:cNvSpPr txBox="1">
            <a:spLocks noChangeArrowheads="1"/>
          </p:cNvSpPr>
          <p:nvPr/>
        </p:nvSpPr>
        <p:spPr bwMode="auto">
          <a:xfrm>
            <a:off x="6353175" y="2073276"/>
            <a:ext cx="5794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Use</a:t>
            </a:r>
          </a:p>
        </p:txBody>
      </p:sp>
      <p:sp>
        <p:nvSpPr>
          <p:cNvPr id="50222" name="Text Box 46"/>
          <p:cNvSpPr txBox="1">
            <a:spLocks noChangeArrowheads="1"/>
          </p:cNvSpPr>
          <p:nvPr/>
        </p:nvSpPr>
        <p:spPr bwMode="auto">
          <a:xfrm>
            <a:off x="3582988" y="2306639"/>
            <a:ext cx="438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21</a:t>
            </a:r>
          </a:p>
        </p:txBody>
      </p:sp>
      <p:sp>
        <p:nvSpPr>
          <p:cNvPr id="50223" name="Text Box 47"/>
          <p:cNvSpPr txBox="1">
            <a:spLocks noChangeArrowheads="1"/>
          </p:cNvSpPr>
          <p:nvPr/>
        </p:nvSpPr>
        <p:spPr bwMode="auto">
          <a:xfrm>
            <a:off x="4619625" y="2349501"/>
            <a:ext cx="6223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FTP</a:t>
            </a:r>
          </a:p>
        </p:txBody>
      </p:sp>
      <p:sp>
        <p:nvSpPr>
          <p:cNvPr id="50224" name="Text Box 48"/>
          <p:cNvSpPr txBox="1">
            <a:spLocks noChangeArrowheads="1"/>
          </p:cNvSpPr>
          <p:nvPr/>
        </p:nvSpPr>
        <p:spPr bwMode="auto">
          <a:xfrm>
            <a:off x="6429376" y="2352676"/>
            <a:ext cx="14192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File transfer</a:t>
            </a:r>
          </a:p>
        </p:txBody>
      </p:sp>
      <p:sp>
        <p:nvSpPr>
          <p:cNvPr id="50226" name="Text Box 50"/>
          <p:cNvSpPr txBox="1">
            <a:spLocks noChangeArrowheads="1"/>
          </p:cNvSpPr>
          <p:nvPr/>
        </p:nvSpPr>
        <p:spPr bwMode="auto">
          <a:xfrm>
            <a:off x="3582988" y="2622551"/>
            <a:ext cx="438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23</a:t>
            </a:r>
          </a:p>
        </p:txBody>
      </p:sp>
      <p:sp>
        <p:nvSpPr>
          <p:cNvPr id="50227" name="Text Box 51"/>
          <p:cNvSpPr txBox="1">
            <a:spLocks noChangeArrowheads="1"/>
          </p:cNvSpPr>
          <p:nvPr/>
        </p:nvSpPr>
        <p:spPr bwMode="auto">
          <a:xfrm>
            <a:off x="4627564" y="2662239"/>
            <a:ext cx="83343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Telnet</a:t>
            </a:r>
          </a:p>
        </p:txBody>
      </p:sp>
      <p:sp>
        <p:nvSpPr>
          <p:cNvPr id="50228" name="Text Box 52"/>
          <p:cNvSpPr txBox="1">
            <a:spLocks noChangeArrowheads="1"/>
          </p:cNvSpPr>
          <p:nvPr/>
        </p:nvSpPr>
        <p:spPr bwMode="auto">
          <a:xfrm>
            <a:off x="6351588" y="2627314"/>
            <a:ext cx="15605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Remote login</a:t>
            </a:r>
          </a:p>
        </p:txBody>
      </p:sp>
      <p:sp>
        <p:nvSpPr>
          <p:cNvPr id="50229" name="Text Box 53"/>
          <p:cNvSpPr txBox="1">
            <a:spLocks noChangeArrowheads="1"/>
          </p:cNvSpPr>
          <p:nvPr/>
        </p:nvSpPr>
        <p:spPr bwMode="auto">
          <a:xfrm>
            <a:off x="3582988" y="2936876"/>
            <a:ext cx="438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25</a:t>
            </a:r>
          </a:p>
        </p:txBody>
      </p:sp>
      <p:sp>
        <p:nvSpPr>
          <p:cNvPr id="50230" name="Text Box 54"/>
          <p:cNvSpPr txBox="1">
            <a:spLocks noChangeArrowheads="1"/>
          </p:cNvSpPr>
          <p:nvPr/>
        </p:nvSpPr>
        <p:spPr bwMode="auto">
          <a:xfrm>
            <a:off x="4619626" y="2943226"/>
            <a:ext cx="8477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SMTP</a:t>
            </a:r>
          </a:p>
        </p:txBody>
      </p:sp>
      <p:sp>
        <p:nvSpPr>
          <p:cNvPr id="50231" name="Text Box 55"/>
          <p:cNvSpPr txBox="1">
            <a:spLocks noChangeArrowheads="1"/>
          </p:cNvSpPr>
          <p:nvPr/>
        </p:nvSpPr>
        <p:spPr bwMode="auto">
          <a:xfrm>
            <a:off x="6353176" y="2921001"/>
            <a:ext cx="874713"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E-mail</a:t>
            </a:r>
          </a:p>
        </p:txBody>
      </p:sp>
      <p:sp>
        <p:nvSpPr>
          <p:cNvPr id="50232" name="Text Box 56"/>
          <p:cNvSpPr txBox="1">
            <a:spLocks noChangeArrowheads="1"/>
          </p:cNvSpPr>
          <p:nvPr/>
        </p:nvSpPr>
        <p:spPr bwMode="auto">
          <a:xfrm>
            <a:off x="3582988" y="3216276"/>
            <a:ext cx="438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69</a:t>
            </a:r>
          </a:p>
        </p:txBody>
      </p:sp>
      <p:sp>
        <p:nvSpPr>
          <p:cNvPr id="50233" name="Text Box 57"/>
          <p:cNvSpPr txBox="1">
            <a:spLocks noChangeArrowheads="1"/>
          </p:cNvSpPr>
          <p:nvPr/>
        </p:nvSpPr>
        <p:spPr bwMode="auto">
          <a:xfrm>
            <a:off x="4617263" y="3235325"/>
            <a:ext cx="784189"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TFTP</a:t>
            </a:r>
          </a:p>
        </p:txBody>
      </p:sp>
      <p:sp>
        <p:nvSpPr>
          <p:cNvPr id="50234" name="Text Box 58"/>
          <p:cNvSpPr txBox="1">
            <a:spLocks noChangeArrowheads="1"/>
          </p:cNvSpPr>
          <p:nvPr/>
        </p:nvSpPr>
        <p:spPr bwMode="auto">
          <a:xfrm>
            <a:off x="6350000" y="3222626"/>
            <a:ext cx="31813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Trivial File Transfer Protocol</a:t>
            </a:r>
          </a:p>
        </p:txBody>
      </p:sp>
      <p:sp>
        <p:nvSpPr>
          <p:cNvPr id="50239" name="Text Box 63"/>
          <p:cNvSpPr txBox="1">
            <a:spLocks noChangeArrowheads="1"/>
          </p:cNvSpPr>
          <p:nvPr/>
        </p:nvSpPr>
        <p:spPr bwMode="auto">
          <a:xfrm>
            <a:off x="3582988" y="3567114"/>
            <a:ext cx="438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79</a:t>
            </a:r>
          </a:p>
        </p:txBody>
      </p:sp>
      <p:sp>
        <p:nvSpPr>
          <p:cNvPr id="50240" name="Text Box 64"/>
          <p:cNvSpPr txBox="1">
            <a:spLocks noChangeArrowheads="1"/>
          </p:cNvSpPr>
          <p:nvPr/>
        </p:nvSpPr>
        <p:spPr bwMode="auto">
          <a:xfrm>
            <a:off x="4627564" y="3529014"/>
            <a:ext cx="8477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Finger</a:t>
            </a:r>
          </a:p>
        </p:txBody>
      </p:sp>
      <p:sp>
        <p:nvSpPr>
          <p:cNvPr id="50241" name="Text Box 65"/>
          <p:cNvSpPr txBox="1">
            <a:spLocks noChangeArrowheads="1"/>
          </p:cNvSpPr>
          <p:nvPr/>
        </p:nvSpPr>
        <p:spPr bwMode="auto">
          <a:xfrm>
            <a:off x="6351589" y="3529014"/>
            <a:ext cx="273843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Lookup info about a user</a:t>
            </a:r>
          </a:p>
        </p:txBody>
      </p:sp>
      <p:sp>
        <p:nvSpPr>
          <p:cNvPr id="50242" name="Text Box 66"/>
          <p:cNvSpPr txBox="1">
            <a:spLocks noChangeArrowheads="1"/>
          </p:cNvSpPr>
          <p:nvPr/>
        </p:nvSpPr>
        <p:spPr bwMode="auto">
          <a:xfrm>
            <a:off x="3582988" y="3816351"/>
            <a:ext cx="438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80</a:t>
            </a:r>
          </a:p>
        </p:txBody>
      </p:sp>
      <p:sp>
        <p:nvSpPr>
          <p:cNvPr id="50243" name="Text Box 67"/>
          <p:cNvSpPr txBox="1">
            <a:spLocks noChangeArrowheads="1"/>
          </p:cNvSpPr>
          <p:nvPr/>
        </p:nvSpPr>
        <p:spPr bwMode="auto">
          <a:xfrm>
            <a:off x="4610704" y="3860800"/>
            <a:ext cx="827471"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HTTP</a:t>
            </a:r>
          </a:p>
        </p:txBody>
      </p:sp>
      <p:sp>
        <p:nvSpPr>
          <p:cNvPr id="50244" name="Text Box 68"/>
          <p:cNvSpPr txBox="1">
            <a:spLocks noChangeArrowheads="1"/>
          </p:cNvSpPr>
          <p:nvPr/>
        </p:nvSpPr>
        <p:spPr bwMode="auto">
          <a:xfrm>
            <a:off x="6353175" y="3841751"/>
            <a:ext cx="19891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World Wide Web</a:t>
            </a:r>
          </a:p>
        </p:txBody>
      </p:sp>
      <p:sp>
        <p:nvSpPr>
          <p:cNvPr id="50245" name="Text Box 69"/>
          <p:cNvSpPr txBox="1">
            <a:spLocks noChangeArrowheads="1"/>
          </p:cNvSpPr>
          <p:nvPr/>
        </p:nvSpPr>
        <p:spPr bwMode="auto">
          <a:xfrm>
            <a:off x="3449638" y="4122739"/>
            <a:ext cx="565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110</a:t>
            </a:r>
          </a:p>
        </p:txBody>
      </p:sp>
      <p:sp>
        <p:nvSpPr>
          <p:cNvPr id="50246" name="Text Box 70"/>
          <p:cNvSpPr txBox="1">
            <a:spLocks noChangeArrowheads="1"/>
          </p:cNvSpPr>
          <p:nvPr/>
        </p:nvSpPr>
        <p:spPr bwMode="auto">
          <a:xfrm>
            <a:off x="4640263" y="4111626"/>
            <a:ext cx="8620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POP-3</a:t>
            </a:r>
          </a:p>
        </p:txBody>
      </p:sp>
      <p:sp>
        <p:nvSpPr>
          <p:cNvPr id="50247" name="Text Box 71"/>
          <p:cNvSpPr txBox="1">
            <a:spLocks noChangeArrowheads="1"/>
          </p:cNvSpPr>
          <p:nvPr/>
        </p:nvSpPr>
        <p:spPr bwMode="auto">
          <a:xfrm>
            <a:off x="6351588" y="4127501"/>
            <a:ext cx="23987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Remote e-mail access</a:t>
            </a:r>
          </a:p>
        </p:txBody>
      </p:sp>
      <p:sp>
        <p:nvSpPr>
          <p:cNvPr id="50248" name="Text Box 72"/>
          <p:cNvSpPr txBox="1">
            <a:spLocks noChangeArrowheads="1"/>
          </p:cNvSpPr>
          <p:nvPr/>
        </p:nvSpPr>
        <p:spPr bwMode="auto">
          <a:xfrm>
            <a:off x="3449638" y="4421189"/>
            <a:ext cx="56515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119</a:t>
            </a:r>
          </a:p>
        </p:txBody>
      </p:sp>
      <p:sp>
        <p:nvSpPr>
          <p:cNvPr id="50249" name="Text Box 73"/>
          <p:cNvSpPr txBox="1">
            <a:spLocks noChangeArrowheads="1"/>
          </p:cNvSpPr>
          <p:nvPr/>
        </p:nvSpPr>
        <p:spPr bwMode="auto">
          <a:xfrm>
            <a:off x="4610564" y="4424363"/>
            <a:ext cx="856325"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NNTP</a:t>
            </a:r>
          </a:p>
        </p:txBody>
      </p:sp>
      <p:sp>
        <p:nvSpPr>
          <p:cNvPr id="50250" name="Text Box 74"/>
          <p:cNvSpPr txBox="1">
            <a:spLocks noChangeArrowheads="1"/>
          </p:cNvSpPr>
          <p:nvPr/>
        </p:nvSpPr>
        <p:spPr bwMode="auto">
          <a:xfrm>
            <a:off x="6354764" y="4411664"/>
            <a:ext cx="17430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2000">
                <a:solidFill>
                  <a:srgbClr val="000000"/>
                </a:solidFill>
                <a:latin typeface="Times New Roman" charset="0"/>
                <a:ea typeface="ＭＳ Ｐゴシック" charset="0"/>
              </a:rPr>
              <a:t>USENET news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defRPr/>
            </a:pPr>
            <a:r>
              <a:rPr lang="en-US" dirty="0">
                <a:solidFill>
                  <a:schemeClr val="tx1"/>
                </a:solidFill>
                <a:cs typeface="+mj-cs"/>
              </a:rPr>
              <a:t>The TCP Service Model (2)</a:t>
            </a:r>
          </a:p>
        </p:txBody>
      </p:sp>
      <p:sp>
        <p:nvSpPr>
          <p:cNvPr id="51203" name="Rectangle 3"/>
          <p:cNvSpPr>
            <a:spLocks noGrp="1" noChangeArrowheads="1"/>
          </p:cNvSpPr>
          <p:nvPr>
            <p:ph type="body" idx="1"/>
          </p:nvPr>
        </p:nvSpPr>
        <p:spPr>
          <a:xfrm>
            <a:off x="1957389" y="4535488"/>
            <a:ext cx="8301037" cy="1090612"/>
          </a:xfrm>
        </p:spPr>
        <p:txBody>
          <a:bodyPr/>
          <a:lstStyle/>
          <a:p>
            <a:pPr eaLnBrk="1" hangingPunct="1">
              <a:buFontTx/>
              <a:buNone/>
              <a:defRPr/>
            </a:pPr>
            <a:r>
              <a:rPr lang="en-US">
                <a:solidFill>
                  <a:schemeClr val="accent2"/>
                </a:solidFill>
                <a:cs typeface="+mn-cs"/>
              </a:rPr>
              <a:t>(a)</a:t>
            </a:r>
            <a:r>
              <a:rPr lang="en-US">
                <a:cs typeface="+mn-cs"/>
              </a:rPr>
              <a:t> Four 512-byte segments sent as separate IP datagrams.</a:t>
            </a:r>
          </a:p>
          <a:p>
            <a:pPr eaLnBrk="1" hangingPunct="1">
              <a:buFontTx/>
              <a:buNone/>
              <a:defRPr/>
            </a:pPr>
            <a:r>
              <a:rPr lang="en-US">
                <a:solidFill>
                  <a:schemeClr val="accent2"/>
                </a:solidFill>
                <a:cs typeface="+mn-cs"/>
              </a:rPr>
              <a:t>(b)</a:t>
            </a:r>
            <a:r>
              <a:rPr lang="en-US">
                <a:cs typeface="+mn-cs"/>
              </a:rPr>
              <a:t> The 2048 bytes of data delivered to the application in a single READ CALL.</a:t>
            </a:r>
          </a:p>
        </p:txBody>
      </p:sp>
      <p:pic>
        <p:nvPicPr>
          <p:cNvPr id="79875" name="Picture 5" descr="6-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9450" y="2395539"/>
            <a:ext cx="8434388" cy="1417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628904" y="0"/>
            <a:ext cx="8661400" cy="1143000"/>
          </a:xfrm>
        </p:spPr>
        <p:txBody>
          <a:bodyPr/>
          <a:lstStyle/>
          <a:p>
            <a:pPr algn="l" eaLnBrk="1" hangingPunct="1">
              <a:defRPr/>
            </a:pPr>
            <a:r>
              <a:rPr lang="en-US" sz="3200" dirty="0">
                <a:solidFill>
                  <a:srgbClr val="262699"/>
                </a:solidFill>
                <a:cs typeface="+mj-cs"/>
              </a:rPr>
              <a:t>Problems with TCP: I</a:t>
            </a:r>
          </a:p>
        </p:txBody>
      </p:sp>
      <p:sp>
        <p:nvSpPr>
          <p:cNvPr id="115715" name="Rectangle 3"/>
          <p:cNvSpPr>
            <a:spLocks noGrp="1" noChangeArrowheads="1"/>
          </p:cNvSpPr>
          <p:nvPr>
            <p:ph type="body" idx="1"/>
          </p:nvPr>
        </p:nvSpPr>
        <p:spPr>
          <a:xfrm>
            <a:off x="877824" y="1143000"/>
            <a:ext cx="9509760" cy="4002024"/>
          </a:xfrm>
        </p:spPr>
        <p:txBody>
          <a:bodyPr/>
          <a:lstStyle/>
          <a:p>
            <a:pPr marL="342900" indent="-342900" eaLnBrk="1" hangingPunct="1">
              <a:buFont typeface="Times" charset="0"/>
              <a:buChar char="•"/>
              <a:defRPr/>
            </a:pPr>
            <a:r>
              <a:rPr lang="en-US" sz="2000" dirty="0">
                <a:cs typeface="+mn-cs"/>
              </a:rPr>
              <a:t>We have already covered that the Sockets API is poor design.</a:t>
            </a:r>
          </a:p>
          <a:p>
            <a:pPr marL="723900" lvl="1" indent="-342900" eaLnBrk="1" hangingPunct="1">
              <a:buFont typeface="Times" charset="0"/>
              <a:buChar char="•"/>
              <a:defRPr/>
            </a:pPr>
            <a:r>
              <a:rPr lang="en-US" sz="1800" dirty="0">
                <a:cs typeface="+mn-cs"/>
              </a:rPr>
              <a:t>Requires applications to be modified to use the network. </a:t>
            </a:r>
          </a:p>
          <a:p>
            <a:pPr marL="1104900" lvl="2" indent="-342900" eaLnBrk="1" hangingPunct="1">
              <a:buFont typeface="Times" charset="0"/>
              <a:buChar char="•"/>
              <a:defRPr/>
            </a:pPr>
            <a:r>
              <a:rPr lang="en-US" sz="1600" dirty="0"/>
              <a:t>Delayed Microsoft support of IPv6 by 2 years.</a:t>
            </a:r>
            <a:endParaRPr lang="en-US" sz="1600" dirty="0">
              <a:cs typeface="+mn-cs"/>
            </a:endParaRPr>
          </a:p>
          <a:p>
            <a:pPr marL="723900" lvl="1" indent="-342900" eaLnBrk="1" hangingPunct="1">
              <a:buFont typeface="Times" charset="0"/>
              <a:buChar char="•"/>
              <a:defRPr/>
            </a:pPr>
            <a:r>
              <a:rPr lang="en-US" sz="1800" dirty="0">
                <a:cs typeface="+mn-cs"/>
              </a:rPr>
              <a:t>IOW, the application must know whether or not the requested application is local or remote.</a:t>
            </a:r>
          </a:p>
          <a:p>
            <a:pPr marL="723900" lvl="1" indent="-342900" eaLnBrk="1" hangingPunct="1">
              <a:buFont typeface="Times" charset="0"/>
              <a:buChar char="•"/>
              <a:defRPr/>
            </a:pPr>
            <a:r>
              <a:rPr lang="en-US" sz="1800" dirty="0">
                <a:cs typeface="+mn-cs"/>
              </a:rPr>
              <a:t>It exposes too much of the internal workings of the layer.</a:t>
            </a:r>
          </a:p>
          <a:p>
            <a:pPr marL="342900" indent="-342900" eaLnBrk="1" hangingPunct="1">
              <a:buFont typeface="Times" charset="0"/>
              <a:buChar char="•"/>
              <a:defRPr/>
            </a:pPr>
            <a:r>
              <a:rPr lang="en-US" sz="2000" dirty="0">
                <a:cs typeface="+mn-cs"/>
              </a:rPr>
              <a:t>Overloading connection-id and well-known ports leads to security holes</a:t>
            </a:r>
          </a:p>
          <a:p>
            <a:pPr marL="342900" indent="-342900" eaLnBrk="1" hangingPunct="1">
              <a:buFont typeface="Times" charset="0"/>
              <a:buChar char="•"/>
              <a:defRPr/>
            </a:pPr>
            <a:r>
              <a:rPr lang="en-US" sz="2000" dirty="0">
                <a:cs typeface="+mn-cs"/>
              </a:rPr>
              <a:t>Combining port allocation and synchronization makes security harder.</a:t>
            </a:r>
          </a:p>
          <a:p>
            <a:pPr marL="342900" indent="-342900" eaLnBrk="1" hangingPunct="1">
              <a:buFont typeface="Times" charset="0"/>
              <a:buChar char="•"/>
              <a:defRPr/>
            </a:pPr>
            <a:r>
              <a:rPr lang="en-US" sz="2000" dirty="0"/>
              <a:t>Lesson:  Overloading functions always creates problems.</a:t>
            </a:r>
          </a:p>
          <a:p>
            <a:pPr marL="800100" lvl="1" indent="-342900" eaLnBrk="1" hangingPunct="1">
              <a:buFont typeface="Times" charset="0"/>
              <a:buChar char="•"/>
              <a:defRPr/>
            </a:pPr>
            <a:r>
              <a:rPr lang="en-US" sz="1800" dirty="0"/>
              <a:t>If there are devils is in the details, there is something wrong with the design</a:t>
            </a:r>
            <a:endParaRPr lang="en-US" sz="2000" dirty="0">
              <a:cs typeface="+mn-cs"/>
            </a:endParaRPr>
          </a:p>
          <a:p>
            <a:pPr marL="342900" indent="-342900" eaLnBrk="1" hangingPunct="1">
              <a:buFont typeface="Times" charset="0"/>
              <a:buChar char="•"/>
              <a:defRPr/>
            </a:pPr>
            <a:r>
              <a:rPr lang="en-US" sz="2000" dirty="0">
                <a:cs typeface="+mn-cs"/>
              </a:rPr>
              <a:t>The pseudo-header was a mistake.</a:t>
            </a:r>
          </a:p>
          <a:p>
            <a:pPr marL="723900" lvl="1" indent="-342900" eaLnBrk="1" hangingPunct="1">
              <a:buFont typeface="Times" charset="0"/>
              <a:buChar char="•"/>
              <a:defRPr/>
            </a:pPr>
            <a:r>
              <a:rPr lang="en-US" sz="1600" dirty="0">
                <a:cs typeface="+mn-cs"/>
              </a:rPr>
              <a:t>The standard rationale was that it was protection against mis-delivery of a PDU.</a:t>
            </a:r>
          </a:p>
          <a:p>
            <a:pPr marL="723900" lvl="1" indent="-342900" eaLnBrk="1" hangingPunct="1">
              <a:buFont typeface="Times" charset="0"/>
              <a:buChar char="•"/>
              <a:defRPr/>
            </a:pPr>
            <a:r>
              <a:rPr lang="en-US" sz="1600" dirty="0">
                <a:cs typeface="+mn-cs"/>
              </a:rPr>
              <a:t>How that was supposed to occur has never been explained.</a:t>
            </a:r>
          </a:p>
          <a:p>
            <a:pPr marL="723900" lvl="1" indent="-342900" eaLnBrk="1" hangingPunct="1">
              <a:buFont typeface="Times" charset="0"/>
              <a:buChar char="•"/>
              <a:defRPr/>
            </a:pPr>
            <a:r>
              <a:rPr lang="en-US" sz="1600" dirty="0">
                <a:cs typeface="+mn-cs"/>
              </a:rPr>
              <a:t>The pseudo-header is a major barrier to supporting mobility.</a:t>
            </a:r>
          </a:p>
          <a:p>
            <a:pPr marL="342900" indent="-342900" eaLnBrk="1" hangingPunct="1">
              <a:buFont typeface="Times" charset="0"/>
              <a:buChar char="•"/>
              <a:defRPr/>
            </a:pPr>
            <a:r>
              <a:rPr lang="en-US" sz="2000" dirty="0">
                <a:cs typeface="+mn-cs"/>
              </a:rPr>
              <a:t>Stream-mode was also a mistake.</a:t>
            </a:r>
          </a:p>
          <a:p>
            <a:pPr marL="723900" lvl="1" indent="-342900" eaLnBrk="1" hangingPunct="1">
              <a:buFont typeface="Times" charset="0"/>
              <a:buChar char="•"/>
              <a:defRPr/>
            </a:pPr>
            <a:r>
              <a:rPr lang="en-US" sz="1600" dirty="0">
                <a:cs typeface="+mn-cs"/>
              </a:rPr>
              <a:t>Most applications prefer SDUs, and it makes good software-engineering sense.</a:t>
            </a:r>
          </a:p>
        </p:txBody>
      </p:sp>
      <p:sp>
        <p:nvSpPr>
          <p:cNvPr id="115716" name="Text Box 4"/>
          <p:cNvSpPr txBox="1">
            <a:spLocks noChangeArrowheads="1"/>
          </p:cNvSpPr>
          <p:nvPr/>
        </p:nvSpPr>
        <p:spPr bwMode="auto">
          <a:xfrm>
            <a:off x="74676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000" dirty="0">
                <a:latin typeface="Helvetica" charset="0"/>
              </a:rPr>
              <a:t>©   John Day, All Rights Reserved, 2022</a:t>
            </a:r>
          </a:p>
        </p:txBody>
      </p:sp>
    </p:spTree>
    <p:extLst>
      <p:ext uri="{BB962C8B-B14F-4D97-AF65-F5344CB8AC3E}">
        <p14:creationId xmlns:p14="http://schemas.microsoft.com/office/powerpoint/2010/main" val="320395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57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57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57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7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571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571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571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5715">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5715">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5715">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5715">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5715">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5715">
                                            <p:txEl>
                                              <p:pRg st="13" end="1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571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458216" y="118872"/>
            <a:ext cx="8661400" cy="1143000"/>
          </a:xfrm>
        </p:spPr>
        <p:txBody>
          <a:bodyPr/>
          <a:lstStyle/>
          <a:p>
            <a:pPr algn="l" eaLnBrk="1" hangingPunct="1">
              <a:defRPr/>
            </a:pPr>
            <a:r>
              <a:rPr lang="en-US" sz="3200" dirty="0">
                <a:solidFill>
                  <a:srgbClr val="262699"/>
                </a:solidFill>
                <a:cs typeface="+mj-cs"/>
              </a:rPr>
              <a:t>Problems with TCP: II</a:t>
            </a:r>
          </a:p>
        </p:txBody>
      </p:sp>
      <p:sp>
        <p:nvSpPr>
          <p:cNvPr id="115715" name="Rectangle 3"/>
          <p:cNvSpPr>
            <a:spLocks noGrp="1" noChangeArrowheads="1"/>
          </p:cNvSpPr>
          <p:nvPr>
            <p:ph type="body" idx="1"/>
          </p:nvPr>
        </p:nvSpPr>
        <p:spPr>
          <a:xfrm>
            <a:off x="975360" y="1133856"/>
            <a:ext cx="9619488" cy="4913376"/>
          </a:xfrm>
        </p:spPr>
        <p:txBody>
          <a:bodyPr/>
          <a:lstStyle/>
          <a:p>
            <a:pPr marL="342900" indent="-342900" eaLnBrk="1" hangingPunct="1">
              <a:buFont typeface="Times" charset="0"/>
              <a:buChar char="•"/>
              <a:defRPr/>
            </a:pPr>
            <a:r>
              <a:rPr lang="en-US" sz="2000" dirty="0">
                <a:cs typeface="+mn-cs"/>
              </a:rPr>
              <a:t>Primary design consideration was for very small PDUs (&lt; 5 bytes) for terminal traffic.</a:t>
            </a:r>
          </a:p>
          <a:p>
            <a:pPr marL="723900" lvl="1" indent="-342900" eaLnBrk="1" hangingPunct="1">
              <a:buFont typeface="Times" charset="0"/>
              <a:buChar char="•"/>
              <a:defRPr/>
            </a:pPr>
            <a:r>
              <a:rPr lang="en-US" sz="1600" dirty="0">
                <a:cs typeface="+mn-cs"/>
              </a:rPr>
              <a:t>The rationale for piggybacking Acks,  byte sequencing, but contradicted by large PCI.</a:t>
            </a:r>
          </a:p>
          <a:p>
            <a:pPr marL="723900" lvl="1" indent="-342900" eaLnBrk="1" hangingPunct="1">
              <a:buFont typeface="Times" charset="0"/>
              <a:buChar char="•"/>
              <a:defRPr/>
            </a:pPr>
            <a:r>
              <a:rPr lang="en-US" sz="1600" dirty="0">
                <a:cs typeface="+mn-cs"/>
              </a:rPr>
              <a:t>Not forward looking. Was obsolete by 1990.</a:t>
            </a:r>
          </a:p>
          <a:p>
            <a:pPr marL="342900" indent="-342900" eaLnBrk="1" hangingPunct="1">
              <a:buFont typeface="Times" charset="0"/>
              <a:buChar char="•"/>
              <a:defRPr/>
            </a:pPr>
            <a:r>
              <a:rPr lang="en-US" sz="2000" dirty="0">
                <a:cs typeface="+mn-cs"/>
              </a:rPr>
              <a:t>Single header format runs counter to the inherent structure of these protocols,</a:t>
            </a:r>
          </a:p>
          <a:p>
            <a:pPr marL="723900" lvl="1" indent="-342900" eaLnBrk="1" hangingPunct="1">
              <a:buFont typeface="Times" charset="0"/>
              <a:buChar char="•"/>
              <a:defRPr/>
            </a:pPr>
            <a:r>
              <a:rPr lang="en-US" sz="1800" dirty="0">
                <a:cs typeface="+mn-cs"/>
              </a:rPr>
              <a:t>Which naturally cleaves between data transfer and feedback control.</a:t>
            </a:r>
          </a:p>
          <a:p>
            <a:pPr marL="1104900" lvl="2" indent="-342900" eaLnBrk="1" hangingPunct="1">
              <a:buFont typeface="Times" charset="0"/>
              <a:buChar char="•"/>
              <a:defRPr/>
            </a:pPr>
            <a:r>
              <a:rPr lang="en-US" sz="1600" dirty="0">
                <a:cs typeface="+mn-cs"/>
              </a:rPr>
              <a:t>With separate PDUs, the data transfer overhead is 50% less.</a:t>
            </a:r>
          </a:p>
          <a:p>
            <a:pPr marL="723900" lvl="1" indent="-342900" eaLnBrk="1" hangingPunct="1">
              <a:buFont typeface="Times" charset="0"/>
              <a:buChar char="•"/>
              <a:defRPr/>
            </a:pPr>
            <a:r>
              <a:rPr lang="en-US" sz="1800" dirty="0">
                <a:cs typeface="+mn-cs"/>
              </a:rPr>
              <a:t>Considerable PCI overhead (40 bytes with IP). Complicates implementation.</a:t>
            </a:r>
          </a:p>
          <a:p>
            <a:pPr marL="1104900" lvl="2" indent="-342900" eaLnBrk="1" hangingPunct="1">
              <a:buFont typeface="Times" charset="0"/>
              <a:buChar char="•"/>
              <a:defRPr/>
            </a:pPr>
            <a:r>
              <a:rPr lang="en-US" sz="1600" dirty="0"/>
              <a:t>Traffic peak at 40 bytes (SYNs and Acks) indicates Acks are treated as a separate PDU type. </a:t>
            </a:r>
            <a:endParaRPr lang="en-US" sz="1600" dirty="0">
              <a:cs typeface="+mn-cs"/>
            </a:endParaRPr>
          </a:p>
          <a:p>
            <a:pPr marL="723900" lvl="1" indent="-342900" eaLnBrk="1" hangingPunct="1">
              <a:buFont typeface="Times" charset="0"/>
              <a:buChar char="•"/>
              <a:defRPr/>
            </a:pPr>
            <a:r>
              <a:rPr lang="en-US" sz="1800" dirty="0">
                <a:cs typeface="+mn-cs"/>
              </a:rPr>
              <a:t>And makes separating mechanism and policy cumbersome.</a:t>
            </a:r>
          </a:p>
          <a:p>
            <a:pPr marL="342900" indent="-342900" eaLnBrk="1" hangingPunct="1">
              <a:buFont typeface="Times" charset="0"/>
              <a:buChar char="•"/>
              <a:defRPr/>
            </a:pPr>
            <a:r>
              <a:rPr lang="en-US" sz="2000" dirty="0">
                <a:cs typeface="+mn-cs"/>
              </a:rPr>
              <a:t>Control bits vs PDU types was a bad idea.  Now treated as a PDU type.</a:t>
            </a:r>
          </a:p>
          <a:p>
            <a:pPr marL="800100" lvl="1" indent="-342900" eaLnBrk="1" hangingPunct="1">
              <a:buFont typeface="Times" charset="0"/>
              <a:buChar char="•"/>
              <a:defRPr/>
            </a:pPr>
            <a:r>
              <a:rPr lang="en-US" sz="1800" dirty="0"/>
              <a:t>But complicates implementation. Need to mark fields that are good.</a:t>
            </a:r>
          </a:p>
          <a:p>
            <a:pPr marL="342900" indent="-342900" eaLnBrk="1" hangingPunct="1">
              <a:buFont typeface="Times" charset="0"/>
              <a:buChar char="•"/>
              <a:defRPr/>
            </a:pPr>
            <a:r>
              <a:rPr lang="en-US" sz="2000" dirty="0">
                <a:cs typeface="+mn-cs"/>
              </a:rPr>
              <a:t>Piggybacking acks was a major design feature.</a:t>
            </a:r>
          </a:p>
          <a:p>
            <a:pPr marL="723900" lvl="1" indent="-342900" eaLnBrk="1" hangingPunct="1">
              <a:buFont typeface="Times" charset="0"/>
              <a:buChar char="•"/>
              <a:defRPr/>
            </a:pPr>
            <a:r>
              <a:rPr lang="en-US" sz="1800" dirty="0">
                <a:cs typeface="+mn-cs"/>
              </a:rPr>
              <a:t>No advantage unless data is less than length of PCI.  (terminal traffic)</a:t>
            </a:r>
          </a:p>
          <a:p>
            <a:pPr marL="723900" lvl="1" indent="-342900" eaLnBrk="1" hangingPunct="1">
              <a:buFont typeface="Times" charset="0"/>
              <a:buChar char="•"/>
              <a:defRPr/>
            </a:pPr>
            <a:r>
              <a:rPr lang="en-US" sz="1800" dirty="0">
                <a:cs typeface="+mn-cs"/>
              </a:rPr>
              <a:t>By 100 bytes of data, any efficiency advantage is lost.</a:t>
            </a:r>
          </a:p>
          <a:p>
            <a:pPr marL="723900" lvl="1" indent="-342900" eaLnBrk="1" hangingPunct="1">
              <a:buFont typeface="Times" charset="0"/>
              <a:buChar char="•"/>
              <a:defRPr/>
            </a:pPr>
            <a:r>
              <a:rPr lang="en-US" sz="1800" dirty="0">
                <a:cs typeface="+mn-cs"/>
              </a:rPr>
              <a:t>Most traffic isn’t that symmetrical. Need to optimize its use further complicates the implementation.  </a:t>
            </a:r>
          </a:p>
        </p:txBody>
      </p:sp>
      <p:sp>
        <p:nvSpPr>
          <p:cNvPr id="115716" name="Text Box 4"/>
          <p:cNvSpPr txBox="1">
            <a:spLocks noChangeArrowheads="1"/>
          </p:cNvSpPr>
          <p:nvPr/>
        </p:nvSpPr>
        <p:spPr bwMode="auto">
          <a:xfrm>
            <a:off x="74676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000" dirty="0">
                <a:latin typeface="Helvetica" charset="0"/>
              </a:rPr>
              <a:t>©   John Day, All Rights Reserved, 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57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57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571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571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571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571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571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5715">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571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5715">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5715">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5715">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5715">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571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250952" y="0"/>
            <a:ext cx="8661400" cy="1143000"/>
          </a:xfrm>
        </p:spPr>
        <p:txBody>
          <a:bodyPr/>
          <a:lstStyle/>
          <a:p>
            <a:pPr algn="l" eaLnBrk="1" hangingPunct="1">
              <a:defRPr/>
            </a:pPr>
            <a:r>
              <a:rPr lang="en-US" sz="3200" dirty="0">
                <a:solidFill>
                  <a:srgbClr val="262699"/>
                </a:solidFill>
                <a:cs typeface="+mj-cs"/>
              </a:rPr>
              <a:t>Problems with TCP: III</a:t>
            </a:r>
          </a:p>
        </p:txBody>
      </p:sp>
      <p:sp>
        <p:nvSpPr>
          <p:cNvPr id="115715" name="Rectangle 3"/>
          <p:cNvSpPr>
            <a:spLocks noGrp="1" noChangeArrowheads="1"/>
          </p:cNvSpPr>
          <p:nvPr>
            <p:ph type="body" idx="1"/>
          </p:nvPr>
        </p:nvSpPr>
        <p:spPr>
          <a:xfrm>
            <a:off x="630709" y="1019267"/>
            <a:ext cx="10220171" cy="3735613"/>
          </a:xfrm>
        </p:spPr>
        <p:txBody>
          <a:bodyPr/>
          <a:lstStyle/>
          <a:p>
            <a:pPr marL="342900" indent="-342900" eaLnBrk="1" hangingPunct="1">
              <a:buFont typeface="Times" charset="0"/>
              <a:buChar char="•"/>
              <a:defRPr/>
            </a:pPr>
            <a:r>
              <a:rPr lang="en-US" sz="2000" dirty="0">
                <a:cs typeface="+mn-cs"/>
              </a:rPr>
              <a:t>Byte sequencing was not a good idea.</a:t>
            </a:r>
          </a:p>
          <a:p>
            <a:pPr marL="723900" lvl="1" indent="-342900" eaLnBrk="1" hangingPunct="1">
              <a:buFont typeface="Times" charset="0"/>
              <a:buChar char="•"/>
              <a:defRPr/>
            </a:pPr>
            <a:r>
              <a:rPr lang="en-US" sz="1800" dirty="0">
                <a:cs typeface="+mn-cs"/>
              </a:rPr>
              <a:t>The first objection and most severe is that sequence number space rolls over too soon, leading to the Timestamp option being necessary for virtually all connections.</a:t>
            </a:r>
          </a:p>
          <a:p>
            <a:pPr marL="1104900" lvl="2" indent="-342900" eaLnBrk="1" hangingPunct="1">
              <a:buFont typeface="Times" charset="0"/>
              <a:buChar char="•"/>
              <a:defRPr/>
            </a:pPr>
            <a:r>
              <a:rPr lang="en-US" sz="1600" dirty="0">
                <a:cs typeface="+mn-cs"/>
              </a:rPr>
              <a:t>This problem was raised in the mid-70s. Making sequence number larger would have made the PCI even longer which was already too long for the data rates of the time.</a:t>
            </a:r>
          </a:p>
          <a:p>
            <a:pPr marL="1485900" lvl="3" indent="-342900" eaLnBrk="1" hangingPunct="1">
              <a:buFont typeface="Times" charset="0"/>
              <a:buChar char="•"/>
              <a:defRPr/>
            </a:pPr>
            <a:r>
              <a:rPr lang="en-US" sz="1200" dirty="0">
                <a:cs typeface="+mn-cs"/>
              </a:rPr>
              <a:t>Increasing it requires 2 field be longer: Sequence Number and Ack</a:t>
            </a:r>
          </a:p>
          <a:p>
            <a:pPr marL="723900" lvl="1" indent="-342900" eaLnBrk="1" hangingPunct="1">
              <a:buFont typeface="Times" charset="0"/>
              <a:buChar char="•"/>
              <a:defRPr/>
            </a:pPr>
            <a:r>
              <a:rPr lang="en-US" sz="1800" dirty="0">
                <a:cs typeface="+mn-cs"/>
              </a:rPr>
              <a:t>Three rationales have been given:</a:t>
            </a:r>
          </a:p>
          <a:p>
            <a:pPr marL="1104900" lvl="2" indent="-342900" eaLnBrk="1" hangingPunct="1">
              <a:buFont typeface="Times" charset="0"/>
              <a:buChar char="•"/>
              <a:defRPr/>
            </a:pPr>
            <a:r>
              <a:rPr lang="en-US" sz="1600" dirty="0">
                <a:cs typeface="+mn-cs"/>
              </a:rPr>
              <a:t>It makes fragmentation at gateways easy. (original, a good one)</a:t>
            </a:r>
          </a:p>
          <a:p>
            <a:pPr marL="1104900" lvl="2" indent="-342900" eaLnBrk="1" hangingPunct="1">
              <a:buFont typeface="Times" charset="0"/>
              <a:buChar char="•"/>
              <a:defRPr/>
            </a:pPr>
            <a:r>
              <a:rPr lang="en-US" sz="1600" dirty="0">
                <a:cs typeface="+mn-cs"/>
              </a:rPr>
              <a:t>To facilitate flow control on terminal traffic. (after IP was doing gateway fragmentation)</a:t>
            </a:r>
          </a:p>
          <a:p>
            <a:pPr marL="1104900" lvl="2" indent="-342900" eaLnBrk="1" hangingPunct="1">
              <a:buFont typeface="Times" charset="0"/>
              <a:buChar char="•"/>
              <a:defRPr/>
            </a:pPr>
            <a:r>
              <a:rPr lang="en-US" sz="1600" dirty="0">
                <a:cs typeface="+mn-cs"/>
              </a:rPr>
              <a:t>Fine granularity flow control (after IP was doing gateway fragmentation)</a:t>
            </a:r>
          </a:p>
          <a:p>
            <a:pPr marL="723900" lvl="1" indent="-342900" eaLnBrk="1" hangingPunct="1">
              <a:buFont typeface="Times" charset="0"/>
              <a:buChar char="•"/>
              <a:defRPr/>
            </a:pPr>
            <a:r>
              <a:rPr lang="en-US" sz="1800" dirty="0">
                <a:cs typeface="+mn-cs"/>
              </a:rPr>
              <a:t>These are not good for the following reasons:</a:t>
            </a:r>
          </a:p>
          <a:p>
            <a:pPr marL="1104900" lvl="2" indent="-342900" eaLnBrk="1" hangingPunct="1">
              <a:buFont typeface="Times" charset="0"/>
              <a:buChar char="•"/>
              <a:defRPr/>
            </a:pPr>
            <a:r>
              <a:rPr lang="en-US" sz="1600" dirty="0">
                <a:cs typeface="+mn-cs"/>
              </a:rPr>
              <a:t>When Fragmentation at Gateways was moved to IP, this should have become packet sequencing.</a:t>
            </a:r>
          </a:p>
          <a:p>
            <a:pPr marL="1104900" lvl="2" indent="-342900" eaLnBrk="1" hangingPunct="1">
              <a:buFont typeface="Times" charset="0"/>
              <a:buChar char="•"/>
              <a:defRPr/>
            </a:pPr>
            <a:r>
              <a:rPr lang="en-US" sz="1600" dirty="0">
                <a:cs typeface="+mn-cs"/>
              </a:rPr>
              <a:t>The last two don’t make sense. Set the MTU for the connection to an appropriate value and any granularity of flow control is possible.</a:t>
            </a:r>
          </a:p>
          <a:p>
            <a:pPr marL="1104900" lvl="2" indent="-342900" eaLnBrk="1" hangingPunct="1">
              <a:buFont typeface="Times" charset="0"/>
              <a:buChar char="•"/>
              <a:defRPr/>
            </a:pPr>
            <a:r>
              <a:rPr lang="en-US" sz="1600" dirty="0">
                <a:cs typeface="+mn-cs"/>
              </a:rPr>
              <a:t>Because retransmission is not on the same byte boundaries, re-assembly is unnecessarily complex. (see next sequence of slides).</a:t>
            </a:r>
          </a:p>
          <a:p>
            <a:pPr marL="723900" lvl="1" indent="-342900" eaLnBrk="1" hangingPunct="1">
              <a:buFont typeface="Times" charset="0"/>
              <a:buChar char="•"/>
              <a:defRPr/>
            </a:pPr>
            <a:r>
              <a:rPr lang="en-US" sz="1800" dirty="0"/>
              <a:t>Max MTU should be a property of the layer, so fragmentation at gateways is unnecessary. (MTU on individual connections may be less than Max MTU.)</a:t>
            </a:r>
            <a:endParaRPr lang="en-US" sz="1800" dirty="0">
              <a:cs typeface="+mn-cs"/>
            </a:endParaRPr>
          </a:p>
        </p:txBody>
      </p:sp>
      <p:sp>
        <p:nvSpPr>
          <p:cNvPr id="115716" name="Text Box 4"/>
          <p:cNvSpPr txBox="1">
            <a:spLocks noChangeArrowheads="1"/>
          </p:cNvSpPr>
          <p:nvPr/>
        </p:nvSpPr>
        <p:spPr bwMode="auto">
          <a:xfrm>
            <a:off x="7467600" y="6172201"/>
            <a:ext cx="2578100" cy="244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l" eaLnBrk="0" hangingPunct="0">
              <a:defRPr/>
            </a:pPr>
            <a:r>
              <a:rPr lang="en-US" sz="1000" dirty="0">
                <a:latin typeface="Helvetica" charset="0"/>
              </a:rPr>
              <a:t>©   John Day, All Rights Reserved, 2022</a:t>
            </a:r>
          </a:p>
        </p:txBody>
      </p:sp>
    </p:spTree>
    <p:extLst>
      <p:ext uri="{BB962C8B-B14F-4D97-AF65-F5344CB8AC3E}">
        <p14:creationId xmlns:p14="http://schemas.microsoft.com/office/powerpoint/2010/main" val="355199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57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57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57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71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571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571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571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571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571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571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5715">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571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3338"/>
            <a:ext cx="8229600" cy="1143000"/>
          </a:xfrm>
        </p:spPr>
        <p:txBody>
          <a:bodyPr>
            <a:normAutofit/>
          </a:bodyPr>
          <a:lstStyle/>
          <a:p>
            <a:r>
              <a:rPr lang="en-US" dirty="0"/>
              <a:t>“If It </a:t>
            </a:r>
            <a:r>
              <a:rPr lang="en-US" dirty="0" err="1"/>
              <a:t>Ain’t</a:t>
            </a:r>
            <a:r>
              <a:rPr lang="en-US" dirty="0"/>
              <a:t> One Damn Thing</a:t>
            </a:r>
            <a:br>
              <a:rPr lang="en-US" dirty="0"/>
            </a:br>
            <a:r>
              <a:rPr lang="en-US" dirty="0"/>
              <a:t>It’s Another!”</a:t>
            </a:r>
          </a:p>
        </p:txBody>
      </p:sp>
      <p:sp>
        <p:nvSpPr>
          <p:cNvPr id="3" name="Content Placeholder 2"/>
          <p:cNvSpPr>
            <a:spLocks noGrp="1"/>
          </p:cNvSpPr>
          <p:nvPr>
            <p:ph idx="1"/>
          </p:nvPr>
        </p:nvSpPr>
        <p:spPr>
          <a:xfrm>
            <a:off x="1981200" y="1477536"/>
            <a:ext cx="8356600" cy="5486400"/>
          </a:xfrm>
        </p:spPr>
        <p:txBody>
          <a:bodyPr>
            <a:normAutofit/>
          </a:bodyPr>
          <a:lstStyle/>
          <a:p>
            <a:r>
              <a:rPr lang="en-US" dirty="0"/>
              <a:t>TCP adopted byte sequencing for fragmentation at the gateways between networks. </a:t>
            </a:r>
            <a:r>
              <a:rPr lang="en-US" sz="1400" dirty="0"/>
              <a:t>(Before IP is separated from TCP.)</a:t>
            </a:r>
          </a:p>
          <a:p>
            <a:pPr lvl="1"/>
            <a:r>
              <a:rPr lang="en-US" dirty="0"/>
              <a:t>The byte number of the first byte of data is the sequence number of the packet, the sequence number of the next packet is sequence of the first + length +1</a:t>
            </a:r>
          </a:p>
          <a:p>
            <a:pPr lvl="1"/>
            <a:r>
              <a:rPr lang="en-US" dirty="0"/>
              <a:t>When the packet is fragmented, the byte number of the first byte of data becomes its sequence number of the fragment. Simple! Really pretty elegant.</a:t>
            </a:r>
          </a:p>
          <a:p>
            <a:pPr lvl="1"/>
            <a:r>
              <a:rPr lang="en-US" dirty="0"/>
              <a:t>This avoids having another field </a:t>
            </a:r>
            <a:r>
              <a:rPr lang="en-US" sz="1600" dirty="0"/>
              <a:t>(Fragment Offset and a More Fragment bit) </a:t>
            </a:r>
            <a:r>
              <a:rPr lang="en-US" dirty="0"/>
              <a:t>to identify fragments that isn’t always needed, if there is no fragmentation en route.</a:t>
            </a:r>
          </a:p>
          <a:p>
            <a:pPr lvl="2"/>
            <a:r>
              <a:rPr lang="en-US" dirty="0"/>
              <a:t>In 1974, this idea was worth checking out.</a:t>
            </a:r>
          </a:p>
          <a:p>
            <a:pPr lvl="1"/>
            <a:r>
              <a:rPr lang="en-US" dirty="0"/>
              <a:t>However, even then there was concern that sequence numbers would roll-over too quickly.</a:t>
            </a:r>
          </a:p>
          <a:p>
            <a:pPr lvl="2"/>
            <a:r>
              <a:rPr lang="en-US" dirty="0"/>
              <a:t>Today, majority of TCP connections must use the Extended Sequence Number Option.</a:t>
            </a:r>
          </a:p>
        </p:txBody>
      </p:sp>
      <p:sp>
        <p:nvSpPr>
          <p:cNvPr id="4" name="TextBox 3"/>
          <p:cNvSpPr txBox="1"/>
          <p:nvPr/>
        </p:nvSpPr>
        <p:spPr>
          <a:xfrm>
            <a:off x="6413500" y="583039"/>
            <a:ext cx="2844800" cy="593299"/>
          </a:xfrm>
          <a:prstGeom prst="rect">
            <a:avLst/>
          </a:prstGeom>
          <a:noFill/>
        </p:spPr>
        <p:txBody>
          <a:bodyPr wrap="square" rtlCol="0">
            <a:spAutoFit/>
          </a:bodyPr>
          <a:lstStyle/>
          <a:p>
            <a:pPr algn="r" fontAlgn="base">
              <a:spcBef>
                <a:spcPct val="0"/>
              </a:spcBef>
              <a:spcAft>
                <a:spcPct val="0"/>
              </a:spcAft>
            </a:pPr>
            <a:r>
              <a:rPr lang="en-US" sz="1600" dirty="0">
                <a:solidFill>
                  <a:prstClr val="black"/>
                </a:solidFill>
                <a:latin typeface="Times New Roman"/>
                <a:ea typeface="ＭＳ Ｐゴシック" charset="0"/>
                <a:cs typeface="Times New Roman"/>
              </a:rPr>
              <a:t>-Aristophanes*</a:t>
            </a:r>
          </a:p>
          <a:p>
            <a:pPr algn="r" fontAlgn="base">
              <a:spcBef>
                <a:spcPct val="0"/>
              </a:spcBef>
              <a:spcAft>
                <a:spcPct val="0"/>
              </a:spcAft>
            </a:pPr>
            <a:r>
              <a:rPr lang="en-US" sz="1600" b="1" dirty="0">
                <a:solidFill>
                  <a:prstClr val="black"/>
                </a:solidFill>
                <a:latin typeface="Times New Roman"/>
                <a:ea typeface="ＭＳ Ｐゴシック" charset="0"/>
                <a:cs typeface="Times New Roman"/>
              </a:rPr>
              <a:t>The Birds</a:t>
            </a:r>
            <a:r>
              <a:rPr lang="en-US" sz="1600" dirty="0">
                <a:solidFill>
                  <a:prstClr val="black"/>
                </a:solidFill>
                <a:latin typeface="Times New Roman"/>
                <a:ea typeface="ＭＳ Ｐゴシック" charset="0"/>
                <a:cs typeface="Times New Roman"/>
              </a:rPr>
              <a:t>, 414 BC</a:t>
            </a:r>
          </a:p>
        </p:txBody>
      </p:sp>
      <p:sp>
        <p:nvSpPr>
          <p:cNvPr id="5" name="TextBox 4"/>
          <p:cNvSpPr txBox="1"/>
          <p:nvPr/>
        </p:nvSpPr>
        <p:spPr>
          <a:xfrm>
            <a:off x="7585888" y="5897603"/>
            <a:ext cx="2624912" cy="461665"/>
          </a:xfrm>
          <a:prstGeom prst="rect">
            <a:avLst/>
          </a:prstGeom>
          <a:noFill/>
        </p:spPr>
        <p:txBody>
          <a:bodyPr wrap="none" rtlCol="0">
            <a:spAutoFit/>
          </a:bodyPr>
          <a:lstStyle/>
          <a:p>
            <a:pPr algn="ctr" fontAlgn="base">
              <a:spcBef>
                <a:spcPct val="0"/>
              </a:spcBef>
              <a:spcAft>
                <a:spcPct val="0"/>
              </a:spcAft>
            </a:pPr>
            <a:r>
              <a:rPr lang="en-US" sz="1200" dirty="0">
                <a:solidFill>
                  <a:prstClr val="black"/>
                </a:solidFill>
                <a:latin typeface="Times New Roman"/>
                <a:ea typeface="ＭＳ Ｐゴシック" charset="0"/>
                <a:cs typeface="Times New Roman"/>
              </a:rPr>
              <a:t>*Obviously, a modern translation. ;-)</a:t>
            </a:r>
          </a:p>
          <a:p>
            <a:pPr algn="ctr" fontAlgn="base">
              <a:spcBef>
                <a:spcPct val="0"/>
              </a:spcBef>
              <a:spcAft>
                <a:spcPct val="0"/>
              </a:spcAft>
            </a:pPr>
            <a:r>
              <a:rPr lang="en-US" sz="1200" dirty="0">
                <a:solidFill>
                  <a:prstClr val="black"/>
                </a:solidFill>
                <a:latin typeface="Times New Roman"/>
                <a:ea typeface="ＭＳ Ｐゴシック" charset="0"/>
                <a:cs typeface="Times New Roman"/>
              </a:rPr>
              <a:t>Never thought I would find a use for it!</a:t>
            </a:r>
          </a:p>
        </p:txBody>
      </p:sp>
    </p:spTree>
    <p:extLst>
      <p:ext uri="{BB962C8B-B14F-4D97-AF65-F5344CB8AC3E}">
        <p14:creationId xmlns:p14="http://schemas.microsoft.com/office/powerpoint/2010/main" val="208186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Thing Leads to Another: II</a:t>
            </a:r>
          </a:p>
        </p:txBody>
      </p:sp>
      <p:sp>
        <p:nvSpPr>
          <p:cNvPr id="3" name="Content Placeholder 2"/>
          <p:cNvSpPr>
            <a:spLocks noGrp="1"/>
          </p:cNvSpPr>
          <p:nvPr>
            <p:ph idx="1"/>
          </p:nvPr>
        </p:nvSpPr>
        <p:spPr>
          <a:xfrm>
            <a:off x="1981200" y="1600201"/>
            <a:ext cx="8394700" cy="4051300"/>
          </a:xfrm>
        </p:spPr>
        <p:txBody>
          <a:bodyPr/>
          <a:lstStyle/>
          <a:p>
            <a:r>
              <a:rPr lang="en-US" dirty="0"/>
              <a:t>When IP was separated from TCP, IP used a 16 bit Identifier (per packets), a Fragment Offset, and a More Fragment bit. </a:t>
            </a:r>
          </a:p>
          <a:p>
            <a:pPr lvl="1"/>
            <a:r>
              <a:rPr lang="en-US" dirty="0"/>
              <a:t>This is the solution TCP didn’t use.</a:t>
            </a:r>
          </a:p>
          <a:p>
            <a:pPr lvl="1"/>
            <a:r>
              <a:rPr lang="en-US" dirty="0"/>
              <a:t>The Packet Identifier can repeat fairly quickly</a:t>
            </a:r>
          </a:p>
          <a:p>
            <a:pPr lvl="1"/>
            <a:r>
              <a:rPr lang="en-US" dirty="0"/>
              <a:t>IP doesn’t retransmit, so Fragmentation doesn’t work and never has.</a:t>
            </a:r>
          </a:p>
          <a:p>
            <a:r>
              <a:rPr lang="en-US" dirty="0"/>
              <a:t>TCP retained byte sequencing, even though it wasn’t needed at the gateways.</a:t>
            </a:r>
          </a:p>
          <a:p>
            <a:pPr lvl="1"/>
            <a:r>
              <a:rPr lang="en-US" dirty="0"/>
              <a:t>The ‘rationale’ became, it was needed for finer grain flow control.</a:t>
            </a:r>
          </a:p>
          <a:p>
            <a:pPr lvl="2"/>
            <a:r>
              <a:rPr lang="en-US" dirty="0"/>
              <a:t>If the Maximum Packet Size for the connection is known.</a:t>
            </a:r>
          </a:p>
          <a:p>
            <a:pPr lvl="3"/>
            <a:r>
              <a:rPr lang="en-US" dirty="0"/>
              <a:t>TCP requires it in the first packet</a:t>
            </a:r>
          </a:p>
          <a:p>
            <a:pPr lvl="2"/>
            <a:r>
              <a:rPr lang="en-US" dirty="0"/>
              <a:t>Any granularity can be accommodated with Packet Sequence numbers.</a:t>
            </a:r>
          </a:p>
          <a:p>
            <a:pPr lvl="2"/>
            <a:r>
              <a:rPr lang="en-US" dirty="0"/>
              <a:t>And a larger Sequence Number field (and </a:t>
            </a:r>
            <a:r>
              <a:rPr lang="en-US" dirty="0" err="1"/>
              <a:t>Ack</a:t>
            </a:r>
            <a:r>
              <a:rPr lang="en-US" dirty="0"/>
              <a:t> field) are not required.</a:t>
            </a:r>
          </a:p>
        </p:txBody>
      </p:sp>
    </p:spTree>
    <p:extLst>
      <p:ext uri="{BB962C8B-B14F-4D97-AF65-F5344CB8AC3E}">
        <p14:creationId xmlns:p14="http://schemas.microsoft.com/office/powerpoint/2010/main" val="4232560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Thing Leads to Another: III</a:t>
            </a:r>
          </a:p>
        </p:txBody>
      </p:sp>
      <p:sp>
        <p:nvSpPr>
          <p:cNvPr id="3" name="Content Placeholder 2"/>
          <p:cNvSpPr>
            <a:spLocks noGrp="1"/>
          </p:cNvSpPr>
          <p:nvPr>
            <p:ph idx="1"/>
          </p:nvPr>
        </p:nvSpPr>
        <p:spPr>
          <a:xfrm>
            <a:off x="1981200" y="1417639"/>
            <a:ext cx="8420100" cy="4475627"/>
          </a:xfrm>
        </p:spPr>
        <p:txBody>
          <a:bodyPr>
            <a:normAutofit fontScale="85000" lnSpcReduction="20000"/>
          </a:bodyPr>
          <a:lstStyle/>
          <a:p>
            <a:r>
              <a:rPr lang="en-US" sz="2600" dirty="0"/>
              <a:t>But TCP packets can arrive out of order, so reassembly is necessary.</a:t>
            </a:r>
          </a:p>
          <a:p>
            <a:pPr lvl="1"/>
            <a:r>
              <a:rPr lang="en-US" sz="2100" dirty="0"/>
              <a:t>The simple thing would be to use a doubly linked list kept in sequence number order.</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sz="2100" dirty="0"/>
              <a:t>When out of order packets arrive, insert the new packet after the sequence number less than the new packet and before the sequence number greater than the next packet here.</a:t>
            </a:r>
          </a:p>
          <a:p>
            <a:pPr lvl="1"/>
            <a:endParaRPr lang="en-US" sz="2100" dirty="0"/>
          </a:p>
          <a:p>
            <a:r>
              <a:rPr lang="en-US" sz="2400" dirty="0"/>
              <a:t>But . . . Suppose it is lost . . . .</a:t>
            </a:r>
          </a:p>
        </p:txBody>
      </p:sp>
      <p:cxnSp>
        <p:nvCxnSpPr>
          <p:cNvPr id="101" name="Straight Arrow Connector 100"/>
          <p:cNvCxnSpPr/>
          <p:nvPr/>
        </p:nvCxnSpPr>
        <p:spPr>
          <a:xfrm flipV="1">
            <a:off x="4368801" y="2537930"/>
            <a:ext cx="2410633" cy="23947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5" name="Group 4"/>
          <p:cNvGrpSpPr/>
          <p:nvPr/>
        </p:nvGrpSpPr>
        <p:grpSpPr>
          <a:xfrm>
            <a:off x="3719482" y="2055355"/>
            <a:ext cx="4735542" cy="1908941"/>
            <a:chOff x="2195482" y="2055354"/>
            <a:chExt cx="4735542" cy="1908941"/>
          </a:xfrm>
        </p:grpSpPr>
        <p:grpSp>
          <p:nvGrpSpPr>
            <p:cNvPr id="94" name="Group 93"/>
            <p:cNvGrpSpPr/>
            <p:nvPr/>
          </p:nvGrpSpPr>
          <p:grpSpPr>
            <a:xfrm>
              <a:off x="2263775" y="2462837"/>
              <a:ext cx="4667249" cy="1501458"/>
              <a:chOff x="1125508" y="2452529"/>
              <a:chExt cx="4667249" cy="1501458"/>
            </a:xfrm>
          </p:grpSpPr>
          <p:sp>
            <p:nvSpPr>
              <p:cNvPr id="4" name="Rectangle 3"/>
              <p:cNvSpPr/>
              <p:nvPr/>
            </p:nvSpPr>
            <p:spPr>
              <a:xfrm>
                <a:off x="1125508" y="2452529"/>
                <a:ext cx="685800" cy="368300"/>
              </a:xfrm>
              <a:prstGeom prst="rect">
                <a:avLst/>
              </a:prstGeom>
              <a:no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cxnSp>
            <p:nvCxnSpPr>
              <p:cNvPr id="6" name="Straight Connector 5"/>
              <p:cNvCxnSpPr>
                <a:stCxn id="4" idx="1"/>
                <a:endCxn id="4" idx="3"/>
              </p:cNvCxnSpPr>
              <p:nvPr/>
            </p:nvCxnSpPr>
            <p:spPr>
              <a:xfrm>
                <a:off x="1125508" y="2636679"/>
                <a:ext cx="685800" cy="0"/>
              </a:xfrm>
              <a:prstGeom prst="line">
                <a:avLst/>
              </a:prstGeom>
              <a:ln w="6350"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a:off x="1811308" y="2522540"/>
                <a:ext cx="566708" cy="0"/>
              </a:xfrm>
              <a:prstGeom prst="straightConnector1">
                <a:avLst/>
              </a:prstGeom>
              <a:ln w="63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H="1">
                <a:off x="1811309" y="2745424"/>
                <a:ext cx="566707" cy="6984"/>
              </a:xfrm>
              <a:prstGeom prst="straightConnector1">
                <a:avLst/>
              </a:prstGeom>
              <a:ln w="63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a:off x="2797116" y="2522540"/>
                <a:ext cx="566708" cy="0"/>
              </a:xfrm>
              <a:prstGeom prst="straightConnector1">
                <a:avLst/>
              </a:prstGeom>
              <a:ln w="63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3772034" y="2527622"/>
                <a:ext cx="566708" cy="0"/>
              </a:xfrm>
              <a:prstGeom prst="straightConnector1">
                <a:avLst/>
              </a:prstGeom>
              <a:ln w="63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4740216" y="2574608"/>
                <a:ext cx="566708" cy="0"/>
              </a:xfrm>
              <a:prstGeom prst="straightConnector1">
                <a:avLst/>
              </a:prstGeom>
              <a:ln w="63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nvGrpSpPr>
              <p:cNvPr id="51" name="Group 50"/>
              <p:cNvGrpSpPr/>
              <p:nvPr/>
            </p:nvGrpSpPr>
            <p:grpSpPr>
              <a:xfrm>
                <a:off x="2317498" y="2452529"/>
                <a:ext cx="560609" cy="1485900"/>
                <a:chOff x="2317498" y="2452529"/>
                <a:chExt cx="560609" cy="1485900"/>
              </a:xfrm>
            </p:grpSpPr>
            <p:sp>
              <p:nvSpPr>
                <p:cNvPr id="7" name="Rectangle 6"/>
                <p:cNvSpPr/>
                <p:nvPr/>
              </p:nvSpPr>
              <p:spPr>
                <a:xfrm>
                  <a:off x="2378016" y="2452529"/>
                  <a:ext cx="419100" cy="14859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cxnSp>
              <p:nvCxnSpPr>
                <p:cNvPr id="9" name="Straight Connector 8"/>
                <p:cNvCxnSpPr/>
                <p:nvPr/>
              </p:nvCxnSpPr>
              <p:spPr>
                <a:xfrm>
                  <a:off x="2378016" y="2636679"/>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378016" y="281447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2378016" y="296687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378016" y="312562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317498" y="2752408"/>
                  <a:ext cx="479618" cy="246221"/>
                </a:xfrm>
                <a:prstGeom prst="rect">
                  <a:avLst/>
                </a:prstGeom>
                <a:noFill/>
                <a:ln w="6350" cmpd="sng">
                  <a:noFill/>
                </a:ln>
              </p:spPr>
              <p:txBody>
                <a:bodyPr wrap="none" rtlCol="0">
                  <a:spAutoFit/>
                </a:bodyPr>
                <a:lstStyle/>
                <a:p>
                  <a:pPr defTabSz="457200"/>
                  <a:r>
                    <a:rPr lang="en-US" sz="1000" dirty="0" err="1">
                      <a:solidFill>
                        <a:prstClr val="black"/>
                      </a:solidFill>
                      <a:latin typeface="Times New Roman"/>
                      <a:ea typeface="ＭＳ Ｐゴシック" charset="0"/>
                      <a:cs typeface="Times New Roman"/>
                    </a:rPr>
                    <a:t>Seq</a:t>
                  </a:r>
                  <a:r>
                    <a:rPr lang="en-US" sz="1000" dirty="0">
                      <a:solidFill>
                        <a:prstClr val="black"/>
                      </a:solidFill>
                      <a:latin typeface="Times New Roman"/>
                      <a:ea typeface="ＭＳ Ｐゴシック" charset="0"/>
                      <a:cs typeface="Times New Roman"/>
                    </a:rPr>
                    <a:t> #</a:t>
                  </a:r>
                </a:p>
              </p:txBody>
            </p:sp>
            <p:sp>
              <p:nvSpPr>
                <p:cNvPr id="15" name="TextBox 14"/>
                <p:cNvSpPr txBox="1"/>
                <p:nvPr/>
              </p:nvSpPr>
              <p:spPr>
                <a:xfrm>
                  <a:off x="2330198" y="2898458"/>
                  <a:ext cx="547909" cy="246221"/>
                </a:xfrm>
                <a:prstGeom prst="rect">
                  <a:avLst/>
                </a:prstGeom>
                <a:noFill/>
                <a:ln w="6350" cmpd="sng">
                  <a:noFill/>
                </a:ln>
              </p:spPr>
              <p:txBody>
                <a:bodyPr wrap="none" rtlCol="0">
                  <a:spAutoFit/>
                </a:bodyPr>
                <a:lstStyle/>
                <a:p>
                  <a:pPr defTabSz="457200"/>
                  <a:r>
                    <a:rPr lang="en-US" sz="1000" dirty="0">
                      <a:solidFill>
                        <a:prstClr val="black"/>
                      </a:solidFill>
                      <a:latin typeface="Times New Roman"/>
                      <a:ea typeface="ＭＳ Ｐゴシック" charset="0"/>
                      <a:cs typeface="Times New Roman"/>
                    </a:rPr>
                    <a:t>Length</a:t>
                  </a:r>
                </a:p>
              </p:txBody>
            </p:sp>
            <p:cxnSp>
              <p:nvCxnSpPr>
                <p:cNvPr id="48" name="Straight Connector 47"/>
                <p:cNvCxnSpPr/>
                <p:nvPr/>
              </p:nvCxnSpPr>
              <p:spPr>
                <a:xfrm>
                  <a:off x="2378016" y="2803208"/>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2378016" y="2969737"/>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2378016" y="3136266"/>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2" name="Group 51"/>
              <p:cNvGrpSpPr/>
              <p:nvPr/>
            </p:nvGrpSpPr>
            <p:grpSpPr>
              <a:xfrm>
                <a:off x="3289048" y="2460308"/>
                <a:ext cx="560609" cy="1485900"/>
                <a:chOff x="2317498" y="2452529"/>
                <a:chExt cx="560609" cy="1485900"/>
              </a:xfrm>
            </p:grpSpPr>
            <p:sp>
              <p:nvSpPr>
                <p:cNvPr id="53" name="Rectangle 52"/>
                <p:cNvSpPr/>
                <p:nvPr/>
              </p:nvSpPr>
              <p:spPr>
                <a:xfrm>
                  <a:off x="2378016" y="2452529"/>
                  <a:ext cx="419100" cy="14859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cxnSp>
              <p:nvCxnSpPr>
                <p:cNvPr id="54" name="Straight Connector 53"/>
                <p:cNvCxnSpPr/>
                <p:nvPr/>
              </p:nvCxnSpPr>
              <p:spPr>
                <a:xfrm>
                  <a:off x="2378016" y="2636679"/>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p:nvPr/>
              </p:nvCxnSpPr>
              <p:spPr>
                <a:xfrm>
                  <a:off x="2378016" y="281447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a:off x="2378016" y="296687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a:off x="2378016" y="312562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317498" y="2752408"/>
                  <a:ext cx="479618" cy="246221"/>
                </a:xfrm>
                <a:prstGeom prst="rect">
                  <a:avLst/>
                </a:prstGeom>
                <a:noFill/>
                <a:ln w="6350" cmpd="sng">
                  <a:noFill/>
                </a:ln>
              </p:spPr>
              <p:txBody>
                <a:bodyPr wrap="none" rtlCol="0">
                  <a:spAutoFit/>
                </a:bodyPr>
                <a:lstStyle/>
                <a:p>
                  <a:pPr defTabSz="457200"/>
                  <a:r>
                    <a:rPr lang="en-US" sz="1000" dirty="0" err="1">
                      <a:solidFill>
                        <a:prstClr val="black"/>
                      </a:solidFill>
                      <a:latin typeface="Times New Roman"/>
                      <a:ea typeface="ＭＳ Ｐゴシック" charset="0"/>
                      <a:cs typeface="Times New Roman"/>
                    </a:rPr>
                    <a:t>Seq</a:t>
                  </a:r>
                  <a:r>
                    <a:rPr lang="en-US" sz="1000" dirty="0">
                      <a:solidFill>
                        <a:prstClr val="black"/>
                      </a:solidFill>
                      <a:latin typeface="Times New Roman"/>
                      <a:ea typeface="ＭＳ Ｐゴシック" charset="0"/>
                      <a:cs typeface="Times New Roman"/>
                    </a:rPr>
                    <a:t> #</a:t>
                  </a:r>
                </a:p>
              </p:txBody>
            </p:sp>
            <p:sp>
              <p:nvSpPr>
                <p:cNvPr id="59" name="TextBox 58"/>
                <p:cNvSpPr txBox="1"/>
                <p:nvPr/>
              </p:nvSpPr>
              <p:spPr>
                <a:xfrm>
                  <a:off x="2330198" y="2898458"/>
                  <a:ext cx="547909" cy="246221"/>
                </a:xfrm>
                <a:prstGeom prst="rect">
                  <a:avLst/>
                </a:prstGeom>
                <a:noFill/>
                <a:ln w="6350" cmpd="sng">
                  <a:noFill/>
                </a:ln>
              </p:spPr>
              <p:txBody>
                <a:bodyPr wrap="none" rtlCol="0">
                  <a:spAutoFit/>
                </a:bodyPr>
                <a:lstStyle/>
                <a:p>
                  <a:pPr defTabSz="457200"/>
                  <a:r>
                    <a:rPr lang="en-US" sz="1000" dirty="0">
                      <a:solidFill>
                        <a:prstClr val="black"/>
                      </a:solidFill>
                      <a:latin typeface="Times New Roman"/>
                      <a:ea typeface="ＭＳ Ｐゴシック" charset="0"/>
                      <a:cs typeface="Times New Roman"/>
                    </a:rPr>
                    <a:t>Length</a:t>
                  </a:r>
                </a:p>
              </p:txBody>
            </p:sp>
            <p:cxnSp>
              <p:nvCxnSpPr>
                <p:cNvPr id="60" name="Straight Connector 59"/>
                <p:cNvCxnSpPr/>
                <p:nvPr/>
              </p:nvCxnSpPr>
              <p:spPr>
                <a:xfrm>
                  <a:off x="2378016" y="2803208"/>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2378016" y="2969737"/>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2378016" y="3136266"/>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63" name="Group 62"/>
              <p:cNvGrpSpPr/>
              <p:nvPr/>
            </p:nvGrpSpPr>
            <p:grpSpPr>
              <a:xfrm>
                <a:off x="4260598" y="2468087"/>
                <a:ext cx="560609" cy="1485900"/>
                <a:chOff x="2317498" y="2452529"/>
                <a:chExt cx="560609" cy="1485900"/>
              </a:xfrm>
            </p:grpSpPr>
            <p:sp>
              <p:nvSpPr>
                <p:cNvPr id="64" name="Rectangle 63"/>
                <p:cNvSpPr/>
                <p:nvPr/>
              </p:nvSpPr>
              <p:spPr>
                <a:xfrm>
                  <a:off x="2378016" y="2452529"/>
                  <a:ext cx="419100" cy="14859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cxnSp>
              <p:nvCxnSpPr>
                <p:cNvPr id="65" name="Straight Connector 64"/>
                <p:cNvCxnSpPr/>
                <p:nvPr/>
              </p:nvCxnSpPr>
              <p:spPr>
                <a:xfrm>
                  <a:off x="2378016" y="2636679"/>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2378016" y="281447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2378016" y="296687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2378016" y="312562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2317498" y="2752408"/>
                  <a:ext cx="479618" cy="246221"/>
                </a:xfrm>
                <a:prstGeom prst="rect">
                  <a:avLst/>
                </a:prstGeom>
                <a:noFill/>
                <a:ln w="6350" cmpd="sng">
                  <a:noFill/>
                </a:ln>
              </p:spPr>
              <p:txBody>
                <a:bodyPr wrap="none" rtlCol="0">
                  <a:spAutoFit/>
                </a:bodyPr>
                <a:lstStyle/>
                <a:p>
                  <a:pPr defTabSz="457200"/>
                  <a:r>
                    <a:rPr lang="en-US" sz="1000" dirty="0" err="1">
                      <a:solidFill>
                        <a:prstClr val="black"/>
                      </a:solidFill>
                      <a:latin typeface="Times New Roman"/>
                      <a:ea typeface="ＭＳ Ｐゴシック" charset="0"/>
                      <a:cs typeface="Times New Roman"/>
                    </a:rPr>
                    <a:t>Seq</a:t>
                  </a:r>
                  <a:r>
                    <a:rPr lang="en-US" sz="1000" dirty="0">
                      <a:solidFill>
                        <a:prstClr val="black"/>
                      </a:solidFill>
                      <a:latin typeface="Times New Roman"/>
                      <a:ea typeface="ＭＳ Ｐゴシック" charset="0"/>
                      <a:cs typeface="Times New Roman"/>
                    </a:rPr>
                    <a:t> #</a:t>
                  </a:r>
                </a:p>
              </p:txBody>
            </p:sp>
            <p:sp>
              <p:nvSpPr>
                <p:cNvPr id="70" name="TextBox 69"/>
                <p:cNvSpPr txBox="1"/>
                <p:nvPr/>
              </p:nvSpPr>
              <p:spPr>
                <a:xfrm>
                  <a:off x="2330198" y="2898458"/>
                  <a:ext cx="547909" cy="246221"/>
                </a:xfrm>
                <a:prstGeom prst="rect">
                  <a:avLst/>
                </a:prstGeom>
                <a:noFill/>
                <a:ln w="6350" cmpd="sng">
                  <a:noFill/>
                </a:ln>
              </p:spPr>
              <p:txBody>
                <a:bodyPr wrap="none" rtlCol="0">
                  <a:spAutoFit/>
                </a:bodyPr>
                <a:lstStyle/>
                <a:p>
                  <a:pPr defTabSz="457200"/>
                  <a:r>
                    <a:rPr lang="en-US" sz="1000" dirty="0">
                      <a:solidFill>
                        <a:prstClr val="black"/>
                      </a:solidFill>
                      <a:latin typeface="Times New Roman"/>
                      <a:ea typeface="ＭＳ Ｐゴシック" charset="0"/>
                      <a:cs typeface="Times New Roman"/>
                    </a:rPr>
                    <a:t>Length</a:t>
                  </a:r>
                </a:p>
              </p:txBody>
            </p:sp>
            <p:cxnSp>
              <p:nvCxnSpPr>
                <p:cNvPr id="71" name="Straight Connector 70"/>
                <p:cNvCxnSpPr/>
                <p:nvPr/>
              </p:nvCxnSpPr>
              <p:spPr>
                <a:xfrm>
                  <a:off x="2378016" y="2803208"/>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p:nvPr/>
              </p:nvCxnSpPr>
              <p:spPr>
                <a:xfrm>
                  <a:off x="2378016" y="2969737"/>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a:off x="2378016" y="3136266"/>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5" name="Group 74"/>
              <p:cNvGrpSpPr/>
              <p:nvPr/>
            </p:nvGrpSpPr>
            <p:grpSpPr>
              <a:xfrm>
                <a:off x="5232148" y="2461737"/>
                <a:ext cx="560609" cy="1485900"/>
                <a:chOff x="2317498" y="2452529"/>
                <a:chExt cx="560609" cy="1485900"/>
              </a:xfrm>
            </p:grpSpPr>
            <p:sp>
              <p:nvSpPr>
                <p:cNvPr id="76" name="Rectangle 75"/>
                <p:cNvSpPr/>
                <p:nvPr/>
              </p:nvSpPr>
              <p:spPr>
                <a:xfrm>
                  <a:off x="2378016" y="2452529"/>
                  <a:ext cx="419100" cy="14859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cxnSp>
              <p:nvCxnSpPr>
                <p:cNvPr id="77" name="Straight Connector 76"/>
                <p:cNvCxnSpPr/>
                <p:nvPr/>
              </p:nvCxnSpPr>
              <p:spPr>
                <a:xfrm>
                  <a:off x="2378016" y="2636679"/>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a:off x="2378016" y="281447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a:off x="2378016" y="296687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2378016" y="3125629"/>
                  <a:ext cx="419100" cy="0"/>
                </a:xfrm>
                <a:prstGeom prst="line">
                  <a:avLst/>
                </a:prstGeom>
                <a:ln w="6350" cmpd="sng">
                  <a:no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2317498" y="2752408"/>
                  <a:ext cx="479618" cy="246221"/>
                </a:xfrm>
                <a:prstGeom prst="rect">
                  <a:avLst/>
                </a:prstGeom>
                <a:noFill/>
                <a:ln w="6350" cmpd="sng">
                  <a:noFill/>
                </a:ln>
              </p:spPr>
              <p:txBody>
                <a:bodyPr wrap="none" rtlCol="0">
                  <a:spAutoFit/>
                </a:bodyPr>
                <a:lstStyle/>
                <a:p>
                  <a:pPr defTabSz="457200"/>
                  <a:r>
                    <a:rPr lang="en-US" sz="1000" dirty="0" err="1">
                      <a:solidFill>
                        <a:prstClr val="black"/>
                      </a:solidFill>
                      <a:latin typeface="Times New Roman"/>
                      <a:ea typeface="ＭＳ Ｐゴシック" charset="0"/>
                      <a:cs typeface="Times New Roman"/>
                    </a:rPr>
                    <a:t>Seq</a:t>
                  </a:r>
                  <a:r>
                    <a:rPr lang="en-US" sz="1000" dirty="0">
                      <a:solidFill>
                        <a:prstClr val="black"/>
                      </a:solidFill>
                      <a:latin typeface="Times New Roman"/>
                      <a:ea typeface="ＭＳ Ｐゴシック" charset="0"/>
                      <a:cs typeface="Times New Roman"/>
                    </a:rPr>
                    <a:t> #</a:t>
                  </a:r>
                </a:p>
              </p:txBody>
            </p:sp>
            <p:sp>
              <p:nvSpPr>
                <p:cNvPr id="82" name="TextBox 81"/>
                <p:cNvSpPr txBox="1"/>
                <p:nvPr/>
              </p:nvSpPr>
              <p:spPr>
                <a:xfrm>
                  <a:off x="2330198" y="2898458"/>
                  <a:ext cx="547909" cy="246221"/>
                </a:xfrm>
                <a:prstGeom prst="rect">
                  <a:avLst/>
                </a:prstGeom>
                <a:noFill/>
                <a:ln w="6350" cmpd="sng">
                  <a:noFill/>
                </a:ln>
              </p:spPr>
              <p:txBody>
                <a:bodyPr wrap="none" rtlCol="0">
                  <a:spAutoFit/>
                </a:bodyPr>
                <a:lstStyle/>
                <a:p>
                  <a:pPr defTabSz="457200"/>
                  <a:r>
                    <a:rPr lang="en-US" sz="1000" dirty="0">
                      <a:solidFill>
                        <a:prstClr val="black"/>
                      </a:solidFill>
                      <a:latin typeface="Times New Roman"/>
                      <a:ea typeface="ＭＳ Ｐゴシック" charset="0"/>
                      <a:cs typeface="Times New Roman"/>
                    </a:rPr>
                    <a:t>Length</a:t>
                  </a:r>
                </a:p>
              </p:txBody>
            </p:sp>
            <p:cxnSp>
              <p:nvCxnSpPr>
                <p:cNvPr id="83" name="Straight Connector 82"/>
                <p:cNvCxnSpPr/>
                <p:nvPr/>
              </p:nvCxnSpPr>
              <p:spPr>
                <a:xfrm>
                  <a:off x="2378016" y="2803208"/>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a:off x="2378016" y="2969737"/>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5" name="Straight Connector 84"/>
                <p:cNvCxnSpPr/>
                <p:nvPr/>
              </p:nvCxnSpPr>
              <p:spPr>
                <a:xfrm>
                  <a:off x="2378016" y="3136266"/>
                  <a:ext cx="419100"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86" name="Straight Arrow Connector 85"/>
              <p:cNvCxnSpPr/>
              <p:nvPr/>
            </p:nvCxnSpPr>
            <p:spPr>
              <a:xfrm flipH="1" flipV="1">
                <a:off x="2770158" y="2748916"/>
                <a:ext cx="579408" cy="3492"/>
              </a:xfrm>
              <a:prstGeom prst="straightConnector1">
                <a:avLst/>
              </a:prstGeom>
              <a:ln w="63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H="1">
                <a:off x="3729008" y="2745424"/>
                <a:ext cx="609734" cy="0"/>
              </a:xfrm>
              <a:prstGeom prst="straightConnector1">
                <a:avLst/>
              </a:prstGeom>
              <a:ln w="63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H="1">
                <a:off x="4713258" y="2745424"/>
                <a:ext cx="593666" cy="6984"/>
              </a:xfrm>
              <a:prstGeom prst="straightConnector1">
                <a:avLst/>
              </a:prstGeom>
              <a:ln w="63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3595121" y="2062727"/>
              <a:ext cx="396262" cy="261610"/>
            </a:xfrm>
            <a:prstGeom prst="rect">
              <a:avLst/>
            </a:prstGeom>
            <a:noFill/>
          </p:spPr>
          <p:txBody>
            <a:bodyPr wrap="none" rtlCol="0">
              <a:spAutoFit/>
            </a:bodyPr>
            <a:lstStyle/>
            <a:p>
              <a:pPr defTabSz="457200"/>
              <a:r>
                <a:rPr lang="en-US" sz="1100" dirty="0">
                  <a:solidFill>
                    <a:prstClr val="black"/>
                  </a:solidFill>
                  <a:latin typeface="Times New Roman"/>
                  <a:ea typeface="ＭＳ Ｐゴシック" charset="0"/>
                  <a:cs typeface="Times New Roman"/>
                </a:rPr>
                <a:t>300</a:t>
              </a:r>
            </a:p>
          </p:txBody>
        </p:sp>
        <p:sp>
          <p:nvSpPr>
            <p:cNvPr id="96" name="TextBox 95"/>
            <p:cNvSpPr txBox="1"/>
            <p:nvPr/>
          </p:nvSpPr>
          <p:spPr>
            <a:xfrm>
              <a:off x="4514039" y="2062727"/>
              <a:ext cx="396262" cy="261610"/>
            </a:xfrm>
            <a:prstGeom prst="rect">
              <a:avLst/>
            </a:prstGeom>
            <a:noFill/>
          </p:spPr>
          <p:txBody>
            <a:bodyPr wrap="none" rtlCol="0">
              <a:spAutoFit/>
            </a:bodyPr>
            <a:lstStyle/>
            <a:p>
              <a:pPr defTabSz="457200"/>
              <a:r>
                <a:rPr lang="en-US" sz="1100" dirty="0">
                  <a:solidFill>
                    <a:prstClr val="black"/>
                  </a:solidFill>
                  <a:latin typeface="Times New Roman"/>
                  <a:ea typeface="ＭＳ Ｐゴシック" charset="0"/>
                  <a:cs typeface="Times New Roman"/>
                </a:rPr>
                <a:t>400</a:t>
              </a:r>
            </a:p>
          </p:txBody>
        </p:sp>
        <p:sp>
          <p:nvSpPr>
            <p:cNvPr id="98" name="TextBox 97"/>
            <p:cNvSpPr txBox="1"/>
            <p:nvPr/>
          </p:nvSpPr>
          <p:spPr>
            <a:xfrm>
              <a:off x="5459383" y="2062727"/>
              <a:ext cx="396262" cy="261610"/>
            </a:xfrm>
            <a:prstGeom prst="rect">
              <a:avLst/>
            </a:prstGeom>
            <a:noFill/>
          </p:spPr>
          <p:txBody>
            <a:bodyPr wrap="none" rtlCol="0">
              <a:spAutoFit/>
            </a:bodyPr>
            <a:lstStyle/>
            <a:p>
              <a:pPr defTabSz="457200"/>
              <a:r>
                <a:rPr lang="en-US" sz="1100" dirty="0">
                  <a:solidFill>
                    <a:prstClr val="black"/>
                  </a:solidFill>
                  <a:latin typeface="Times New Roman"/>
                  <a:ea typeface="ＭＳ Ｐゴシック" charset="0"/>
                  <a:cs typeface="Times New Roman"/>
                </a:rPr>
                <a:t>600</a:t>
              </a:r>
            </a:p>
          </p:txBody>
        </p:sp>
        <p:sp>
          <p:nvSpPr>
            <p:cNvPr id="99" name="TextBox 98"/>
            <p:cNvSpPr txBox="1"/>
            <p:nvPr/>
          </p:nvSpPr>
          <p:spPr>
            <a:xfrm>
              <a:off x="6480115" y="2055354"/>
              <a:ext cx="396262" cy="261610"/>
            </a:xfrm>
            <a:prstGeom prst="rect">
              <a:avLst/>
            </a:prstGeom>
            <a:noFill/>
          </p:spPr>
          <p:txBody>
            <a:bodyPr wrap="none" rtlCol="0">
              <a:spAutoFit/>
            </a:bodyPr>
            <a:lstStyle/>
            <a:p>
              <a:pPr defTabSz="457200"/>
              <a:r>
                <a:rPr lang="en-US" sz="1100" dirty="0">
                  <a:solidFill>
                    <a:prstClr val="black"/>
                  </a:solidFill>
                  <a:latin typeface="Times New Roman"/>
                  <a:ea typeface="ＭＳ Ｐゴシック" charset="0"/>
                  <a:cs typeface="Times New Roman"/>
                </a:rPr>
                <a:t>700</a:t>
              </a:r>
            </a:p>
          </p:txBody>
        </p:sp>
        <p:sp>
          <p:nvSpPr>
            <p:cNvPr id="102" name="TextBox 101"/>
            <p:cNvSpPr txBox="1"/>
            <p:nvPr/>
          </p:nvSpPr>
          <p:spPr>
            <a:xfrm>
              <a:off x="2195482" y="2062727"/>
              <a:ext cx="804389" cy="400110"/>
            </a:xfrm>
            <a:prstGeom prst="rect">
              <a:avLst/>
            </a:prstGeom>
            <a:noFill/>
          </p:spPr>
          <p:txBody>
            <a:bodyPr wrap="none" rtlCol="0">
              <a:spAutoFit/>
            </a:bodyPr>
            <a:lstStyle/>
            <a:p>
              <a:pPr algn="ctr" defTabSz="457200"/>
              <a:r>
                <a:rPr lang="en-US" sz="1000" dirty="0">
                  <a:solidFill>
                    <a:prstClr val="black"/>
                  </a:solidFill>
                  <a:latin typeface="Times New Roman"/>
                  <a:ea typeface="ＭＳ Ｐゴシック" charset="0"/>
                  <a:cs typeface="Times New Roman"/>
                </a:rPr>
                <a:t>Reassembly</a:t>
              </a:r>
            </a:p>
            <a:p>
              <a:pPr algn="ctr" defTabSz="457200"/>
              <a:r>
                <a:rPr lang="en-US" sz="1000" dirty="0">
                  <a:solidFill>
                    <a:prstClr val="black"/>
                  </a:solidFill>
                  <a:latin typeface="Times New Roman"/>
                  <a:ea typeface="ＭＳ Ｐゴシック" charset="0"/>
                  <a:cs typeface="Times New Roman"/>
                </a:rPr>
                <a:t>Queue</a:t>
              </a:r>
            </a:p>
          </p:txBody>
        </p:sp>
      </p:grpSp>
    </p:spTree>
    <p:extLst>
      <p:ext uri="{BB962C8B-B14F-4D97-AF65-F5344CB8AC3E}">
        <p14:creationId xmlns:p14="http://schemas.microsoft.com/office/powerpoint/2010/main" val="102447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Thing Leads to Another: IV</a:t>
            </a:r>
          </a:p>
        </p:txBody>
      </p:sp>
      <p:sp>
        <p:nvSpPr>
          <p:cNvPr id="3" name="Content Placeholder 2"/>
          <p:cNvSpPr>
            <a:spLocks noGrp="1"/>
          </p:cNvSpPr>
          <p:nvPr>
            <p:ph idx="1"/>
          </p:nvPr>
        </p:nvSpPr>
        <p:spPr>
          <a:xfrm>
            <a:off x="2146300" y="2908304"/>
            <a:ext cx="8267700" cy="2806697"/>
          </a:xfrm>
        </p:spPr>
        <p:txBody>
          <a:bodyPr>
            <a:normAutofit/>
          </a:bodyPr>
          <a:lstStyle/>
          <a:p>
            <a:r>
              <a:rPr lang="en-US" dirty="0"/>
              <a:t>TCP is not required to retransmit on the same byte boundaries.</a:t>
            </a:r>
          </a:p>
          <a:p>
            <a:pPr lvl="1"/>
            <a:r>
              <a:rPr lang="en-US" dirty="0"/>
              <a:t>That means that one could get Packet 400 and 600 and </a:t>
            </a:r>
          </a:p>
          <a:p>
            <a:pPr lvl="1"/>
            <a:r>
              <a:rPr lang="en-US" dirty="0"/>
              <a:t>Then Packet 500 is lost and retransmitted as Packet 475.</a:t>
            </a:r>
          </a:p>
          <a:p>
            <a:r>
              <a:rPr lang="en-US" dirty="0"/>
              <a:t>Reassembling this in a doubly linked list is going to be very complicated!</a:t>
            </a:r>
          </a:p>
          <a:p>
            <a:pPr lvl="1"/>
            <a:r>
              <a:rPr lang="en-US" dirty="0"/>
              <a:t>Packet 475 would have to be truncated on both ends and a new packet created.</a:t>
            </a:r>
          </a:p>
          <a:p>
            <a:pPr lvl="1"/>
            <a:r>
              <a:rPr lang="en-US" dirty="0"/>
              <a:t>The retransmissions could generate any of the possible combinations.</a:t>
            </a:r>
          </a:p>
          <a:p>
            <a:r>
              <a:rPr lang="en-US" dirty="0"/>
              <a:t>O, but there is an easy solution!</a:t>
            </a:r>
          </a:p>
          <a:p>
            <a:pPr lvl="1"/>
            <a:r>
              <a:rPr lang="en-US" dirty="0"/>
              <a:t>Instead of a doubly linked list, lets use a circle-q!</a:t>
            </a:r>
          </a:p>
          <a:p>
            <a:endParaRPr lang="en-US" dirty="0"/>
          </a:p>
        </p:txBody>
      </p:sp>
      <p:grpSp>
        <p:nvGrpSpPr>
          <p:cNvPr id="10" name="Group 9"/>
          <p:cNvGrpSpPr/>
          <p:nvPr/>
        </p:nvGrpSpPr>
        <p:grpSpPr>
          <a:xfrm>
            <a:off x="2768600" y="1952824"/>
            <a:ext cx="6578600" cy="307777"/>
            <a:chOff x="1244600" y="1952823"/>
            <a:chExt cx="6578600" cy="307777"/>
          </a:xfrm>
        </p:grpSpPr>
        <p:sp>
          <p:nvSpPr>
            <p:cNvPr id="5" name="TextBox 4"/>
            <p:cNvSpPr txBox="1"/>
            <p:nvPr/>
          </p:nvSpPr>
          <p:spPr>
            <a:xfrm>
              <a:off x="1244600" y="1952823"/>
              <a:ext cx="2540000" cy="307777"/>
            </a:xfrm>
            <a:prstGeom prst="rect">
              <a:avLst/>
            </a:prstGeom>
            <a:noFill/>
            <a:ln>
              <a:solidFill>
                <a:schemeClr val="tx1"/>
              </a:solidFill>
            </a:ln>
          </p:spPr>
          <p:txBody>
            <a:bodyPr wrap="square" rtlCol="0">
              <a:spAutoFit/>
            </a:bodyPr>
            <a:lstStyle/>
            <a:p>
              <a:pPr algn="ctr" defTabSz="457200"/>
              <a:r>
                <a:rPr lang="en-US" sz="1400" dirty="0">
                  <a:solidFill>
                    <a:prstClr val="black"/>
                  </a:solidFill>
                  <a:latin typeface="Times New Roman"/>
                  <a:ea typeface="ＭＳ Ｐゴシック" charset="0"/>
                  <a:cs typeface="Times New Roman"/>
                </a:rPr>
                <a:t>Packet 400</a:t>
              </a:r>
            </a:p>
          </p:txBody>
        </p:sp>
        <p:sp>
          <p:nvSpPr>
            <p:cNvPr id="6" name="TextBox 5"/>
            <p:cNvSpPr txBox="1"/>
            <p:nvPr/>
          </p:nvSpPr>
          <p:spPr>
            <a:xfrm>
              <a:off x="4940300" y="1952823"/>
              <a:ext cx="2882900" cy="307777"/>
            </a:xfrm>
            <a:prstGeom prst="rect">
              <a:avLst/>
            </a:prstGeom>
            <a:noFill/>
            <a:ln>
              <a:solidFill>
                <a:schemeClr val="tx1"/>
              </a:solidFill>
            </a:ln>
          </p:spPr>
          <p:txBody>
            <a:bodyPr wrap="square" rtlCol="0">
              <a:spAutoFit/>
            </a:bodyPr>
            <a:lstStyle/>
            <a:p>
              <a:pPr algn="ctr" defTabSz="457200"/>
              <a:r>
                <a:rPr lang="en-US" sz="1400" dirty="0">
                  <a:solidFill>
                    <a:prstClr val="black"/>
                  </a:solidFill>
                  <a:latin typeface="Times New Roman"/>
                  <a:ea typeface="ＭＳ Ｐゴシック" charset="0"/>
                  <a:cs typeface="Times New Roman"/>
                </a:rPr>
                <a:t>Packet 700</a:t>
              </a:r>
            </a:p>
          </p:txBody>
        </p:sp>
      </p:grpSp>
      <p:sp>
        <p:nvSpPr>
          <p:cNvPr id="9" name="TextBox 8"/>
          <p:cNvSpPr txBox="1"/>
          <p:nvPr/>
        </p:nvSpPr>
        <p:spPr>
          <a:xfrm>
            <a:off x="4495800" y="2425701"/>
            <a:ext cx="2971800" cy="307777"/>
          </a:xfrm>
          <a:prstGeom prst="rect">
            <a:avLst/>
          </a:prstGeom>
          <a:noFill/>
          <a:ln>
            <a:solidFill>
              <a:schemeClr val="tx1"/>
            </a:solidFill>
          </a:ln>
        </p:spPr>
        <p:txBody>
          <a:bodyPr wrap="square" rtlCol="0">
            <a:spAutoFit/>
          </a:bodyPr>
          <a:lstStyle/>
          <a:p>
            <a:pPr algn="ctr" defTabSz="457200"/>
            <a:r>
              <a:rPr lang="en-US" sz="1400" dirty="0">
                <a:solidFill>
                  <a:prstClr val="black"/>
                </a:solidFill>
                <a:latin typeface="Times New Roman"/>
                <a:ea typeface="ＭＳ Ｐゴシック" charset="0"/>
                <a:cs typeface="Times New Roman"/>
              </a:rPr>
              <a:t>Packet 475</a:t>
            </a:r>
          </a:p>
        </p:txBody>
      </p:sp>
    </p:spTree>
    <p:extLst>
      <p:ext uri="{BB962C8B-B14F-4D97-AF65-F5344CB8AC3E}">
        <p14:creationId xmlns:p14="http://schemas.microsoft.com/office/powerpoint/2010/main" val="326962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22238"/>
            <a:ext cx="8229600" cy="931862"/>
          </a:xfrm>
        </p:spPr>
        <p:txBody>
          <a:bodyPr/>
          <a:lstStyle/>
          <a:p>
            <a:r>
              <a:rPr lang="en-US" dirty="0"/>
              <a:t>One Thing Leads to Another: V</a:t>
            </a:r>
          </a:p>
        </p:txBody>
      </p:sp>
      <p:sp>
        <p:nvSpPr>
          <p:cNvPr id="3" name="Content Placeholder 2"/>
          <p:cNvSpPr>
            <a:spLocks noGrp="1"/>
          </p:cNvSpPr>
          <p:nvPr>
            <p:ph idx="1"/>
          </p:nvPr>
        </p:nvSpPr>
        <p:spPr>
          <a:xfrm>
            <a:off x="2324100" y="2959100"/>
            <a:ext cx="7747000" cy="3492500"/>
          </a:xfrm>
        </p:spPr>
        <p:txBody>
          <a:bodyPr>
            <a:normAutofit lnSpcReduction="10000"/>
          </a:bodyPr>
          <a:lstStyle/>
          <a:p>
            <a:r>
              <a:rPr lang="en-US" dirty="0"/>
              <a:t>A Circle Q would make it really easy</a:t>
            </a:r>
          </a:p>
          <a:p>
            <a:pPr lvl="1"/>
            <a:r>
              <a:rPr lang="en-US" dirty="0"/>
              <a:t>Allocate a contiguous block of memory with pointers for the head and tail, wraps around as packets are removed from the head and added at the tail.</a:t>
            </a:r>
          </a:p>
          <a:p>
            <a:pPr lvl="1"/>
            <a:r>
              <a:rPr lang="en-US" dirty="0"/>
              <a:t>When Packet 475 arrives, simply start writing it in the circle-q at byte 475 overwriting the parts already received and filling in the parts that were missing! Simple.</a:t>
            </a:r>
          </a:p>
          <a:p>
            <a:r>
              <a:rPr lang="en-US" dirty="0"/>
              <a:t>That would work really well and be very simple.</a:t>
            </a:r>
          </a:p>
          <a:p>
            <a:endParaRPr lang="en-US" dirty="0"/>
          </a:p>
          <a:p>
            <a:r>
              <a:rPr lang="en-US" dirty="0" err="1"/>
              <a:t>Errr</a:t>
            </a:r>
            <a:r>
              <a:rPr lang="en-US" dirty="0"/>
              <a:t>, not so fast. There is a problem.</a:t>
            </a:r>
          </a:p>
          <a:p>
            <a:r>
              <a:rPr lang="en-US" dirty="0"/>
              <a:t>This is static allocation of buffers to connections</a:t>
            </a:r>
          </a:p>
        </p:txBody>
      </p:sp>
      <p:sp>
        <p:nvSpPr>
          <p:cNvPr id="13" name="TextBox 12"/>
          <p:cNvSpPr txBox="1"/>
          <p:nvPr/>
        </p:nvSpPr>
        <p:spPr>
          <a:xfrm>
            <a:off x="3630537" y="2235200"/>
            <a:ext cx="932442" cy="523220"/>
          </a:xfrm>
          <a:prstGeom prst="rect">
            <a:avLst/>
          </a:prstGeom>
          <a:noFill/>
        </p:spPr>
        <p:txBody>
          <a:bodyPr wrap="none" rtlCol="0">
            <a:spAutoFit/>
          </a:bodyPr>
          <a:lstStyle/>
          <a:p>
            <a:pPr algn="ctr" defTabSz="457200"/>
            <a:r>
              <a:rPr lang="en-US" sz="1400" dirty="0">
                <a:solidFill>
                  <a:prstClr val="black"/>
                </a:solidFill>
                <a:latin typeface="Times New Roman"/>
                <a:ea typeface="ＭＳ Ｐゴシック" charset="0"/>
                <a:cs typeface="Times New Roman"/>
              </a:rPr>
              <a:t>Current</a:t>
            </a:r>
          </a:p>
          <a:p>
            <a:pPr algn="ctr" defTabSz="457200"/>
            <a:r>
              <a:rPr lang="en-US" sz="1400" dirty="0">
                <a:solidFill>
                  <a:prstClr val="black"/>
                </a:solidFill>
                <a:latin typeface="Times New Roman"/>
                <a:ea typeface="ＭＳ Ｐゴシック" charset="0"/>
                <a:cs typeface="Times New Roman"/>
              </a:rPr>
              <a:t>Head of Q</a:t>
            </a:r>
          </a:p>
        </p:txBody>
      </p:sp>
      <p:cxnSp>
        <p:nvCxnSpPr>
          <p:cNvPr id="19" name="Straight Arrow Connector 18"/>
          <p:cNvCxnSpPr/>
          <p:nvPr/>
        </p:nvCxnSpPr>
        <p:spPr>
          <a:xfrm flipV="1">
            <a:off x="4096758" y="1993900"/>
            <a:ext cx="0" cy="342900"/>
          </a:xfrm>
          <a:prstGeom prst="straightConnector1">
            <a:avLst/>
          </a:prstGeom>
          <a:ln w="6350" cmpd="sng">
            <a:tailEnd type="arrow"/>
          </a:ln>
        </p:spPr>
        <p:style>
          <a:lnRef idx="2">
            <a:schemeClr val="accent1"/>
          </a:lnRef>
          <a:fillRef idx="0">
            <a:schemeClr val="accent1"/>
          </a:fillRef>
          <a:effectRef idx="1">
            <a:schemeClr val="accent1"/>
          </a:effectRef>
          <a:fontRef idx="minor">
            <a:schemeClr val="tx1"/>
          </a:fontRef>
        </p:style>
      </p:cxnSp>
      <p:grpSp>
        <p:nvGrpSpPr>
          <p:cNvPr id="28" name="Group 27"/>
          <p:cNvGrpSpPr/>
          <p:nvPr/>
        </p:nvGrpSpPr>
        <p:grpSpPr>
          <a:xfrm>
            <a:off x="2743200" y="1673423"/>
            <a:ext cx="6489700" cy="339131"/>
            <a:chOff x="1219200" y="1673422"/>
            <a:chExt cx="6489700" cy="339131"/>
          </a:xfrm>
        </p:grpSpPr>
        <p:sp>
          <p:nvSpPr>
            <p:cNvPr id="15" name="Rectangle 14"/>
            <p:cNvSpPr/>
            <p:nvPr/>
          </p:nvSpPr>
          <p:spPr>
            <a:xfrm>
              <a:off x="1219200" y="1689100"/>
              <a:ext cx="6489700" cy="304800"/>
            </a:xfrm>
            <a:prstGeom prst="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20" name="Rectangle 19"/>
            <p:cNvSpPr/>
            <p:nvPr/>
          </p:nvSpPr>
          <p:spPr>
            <a:xfrm>
              <a:off x="2572758" y="1689100"/>
              <a:ext cx="558800" cy="3048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21" name="Rectangle 20"/>
            <p:cNvSpPr/>
            <p:nvPr/>
          </p:nvSpPr>
          <p:spPr>
            <a:xfrm>
              <a:off x="3131558" y="1689100"/>
              <a:ext cx="558800" cy="304800"/>
            </a:xfrm>
            <a:prstGeom prst="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22" name="Rectangle 21"/>
            <p:cNvSpPr/>
            <p:nvPr/>
          </p:nvSpPr>
          <p:spPr>
            <a:xfrm>
              <a:off x="4406900" y="1686123"/>
              <a:ext cx="558800" cy="3048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23" name="TextBox 22"/>
            <p:cNvSpPr txBox="1"/>
            <p:nvPr/>
          </p:nvSpPr>
          <p:spPr>
            <a:xfrm>
              <a:off x="2677588" y="1673422"/>
              <a:ext cx="453970" cy="307777"/>
            </a:xfrm>
            <a:prstGeom prst="rect">
              <a:avLst/>
            </a:prstGeom>
            <a:noFill/>
          </p:spPr>
          <p:txBody>
            <a:bodyPr wrap="none" rtlCol="0">
              <a:spAutoFit/>
            </a:bodyPr>
            <a:lstStyle/>
            <a:p>
              <a:pPr defTabSz="457200"/>
              <a:r>
                <a:rPr lang="en-US" sz="1400" dirty="0">
                  <a:solidFill>
                    <a:prstClr val="black"/>
                  </a:solidFill>
                  <a:latin typeface="Times New Roman"/>
                  <a:ea typeface="ＭＳ Ｐゴシック" charset="0"/>
                  <a:cs typeface="Times New Roman"/>
                </a:rPr>
                <a:t>300</a:t>
              </a:r>
            </a:p>
          </p:txBody>
        </p:sp>
        <p:sp>
          <p:nvSpPr>
            <p:cNvPr id="24" name="TextBox 23"/>
            <p:cNvSpPr txBox="1"/>
            <p:nvPr/>
          </p:nvSpPr>
          <p:spPr>
            <a:xfrm flipH="1">
              <a:off x="3233154" y="1704776"/>
              <a:ext cx="457204" cy="307777"/>
            </a:xfrm>
            <a:prstGeom prst="rect">
              <a:avLst/>
            </a:prstGeom>
            <a:noFill/>
          </p:spPr>
          <p:txBody>
            <a:bodyPr wrap="square" rtlCol="0">
              <a:spAutoFit/>
            </a:bodyPr>
            <a:lstStyle/>
            <a:p>
              <a:pPr defTabSz="457200"/>
              <a:r>
                <a:rPr lang="en-US" sz="1400" dirty="0">
                  <a:solidFill>
                    <a:prstClr val="black"/>
                  </a:solidFill>
                  <a:latin typeface="Times New Roman"/>
                  <a:ea typeface="ＭＳ Ｐゴシック" charset="0"/>
                  <a:cs typeface="Times New Roman"/>
                </a:rPr>
                <a:t>400</a:t>
              </a:r>
            </a:p>
          </p:txBody>
        </p:sp>
        <p:sp>
          <p:nvSpPr>
            <p:cNvPr id="26" name="TextBox 25"/>
            <p:cNvSpPr txBox="1"/>
            <p:nvPr/>
          </p:nvSpPr>
          <p:spPr>
            <a:xfrm flipH="1">
              <a:off x="4483100" y="1686124"/>
              <a:ext cx="482600" cy="307777"/>
            </a:xfrm>
            <a:prstGeom prst="rect">
              <a:avLst/>
            </a:prstGeom>
            <a:noFill/>
          </p:spPr>
          <p:txBody>
            <a:bodyPr wrap="square" rtlCol="0">
              <a:spAutoFit/>
            </a:bodyPr>
            <a:lstStyle/>
            <a:p>
              <a:pPr defTabSz="457200"/>
              <a:r>
                <a:rPr lang="en-US" sz="1400" dirty="0">
                  <a:solidFill>
                    <a:prstClr val="black"/>
                  </a:solidFill>
                  <a:latin typeface="Times New Roman"/>
                  <a:ea typeface="ＭＳ Ｐゴシック" charset="0"/>
                  <a:cs typeface="Times New Roman"/>
                </a:rPr>
                <a:t>700</a:t>
              </a:r>
            </a:p>
          </p:txBody>
        </p:sp>
      </p:grpSp>
      <p:grpSp>
        <p:nvGrpSpPr>
          <p:cNvPr id="29" name="Group 28"/>
          <p:cNvGrpSpPr/>
          <p:nvPr/>
        </p:nvGrpSpPr>
        <p:grpSpPr>
          <a:xfrm>
            <a:off x="4867778" y="1417639"/>
            <a:ext cx="1342523" cy="307777"/>
            <a:chOff x="3343777" y="1417638"/>
            <a:chExt cx="1342523" cy="307777"/>
          </a:xfrm>
        </p:grpSpPr>
        <p:sp>
          <p:nvSpPr>
            <p:cNvPr id="27" name="Rectangle 26"/>
            <p:cNvSpPr/>
            <p:nvPr/>
          </p:nvSpPr>
          <p:spPr>
            <a:xfrm>
              <a:off x="3343777" y="1417638"/>
              <a:ext cx="1342523" cy="268485"/>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25" name="TextBox 24"/>
            <p:cNvSpPr txBox="1"/>
            <p:nvPr/>
          </p:nvSpPr>
          <p:spPr>
            <a:xfrm flipH="1">
              <a:off x="3877176" y="1417638"/>
              <a:ext cx="529723" cy="307777"/>
            </a:xfrm>
            <a:prstGeom prst="rect">
              <a:avLst/>
            </a:prstGeom>
            <a:noFill/>
          </p:spPr>
          <p:txBody>
            <a:bodyPr wrap="square" rtlCol="0">
              <a:spAutoFit/>
            </a:bodyPr>
            <a:lstStyle/>
            <a:p>
              <a:pPr defTabSz="457200"/>
              <a:r>
                <a:rPr lang="en-US" sz="1400" dirty="0">
                  <a:solidFill>
                    <a:prstClr val="black"/>
                  </a:solidFill>
                  <a:latin typeface="Times New Roman"/>
                  <a:ea typeface="ＭＳ Ｐゴシック" charset="0"/>
                  <a:cs typeface="Times New Roman"/>
                </a:rPr>
                <a:t>475</a:t>
              </a:r>
            </a:p>
          </p:txBody>
        </p:sp>
      </p:grpSp>
      <p:cxnSp>
        <p:nvCxnSpPr>
          <p:cNvPr id="30" name="Straight Arrow Connector 29"/>
          <p:cNvCxnSpPr/>
          <p:nvPr/>
        </p:nvCxnSpPr>
        <p:spPr>
          <a:xfrm flipV="1">
            <a:off x="6522458" y="1993900"/>
            <a:ext cx="0" cy="342900"/>
          </a:xfrm>
          <a:prstGeom prst="straightConnector1">
            <a:avLst/>
          </a:prstGeom>
          <a:ln w="6350" cmpd="sng">
            <a:tailEnd type="arrow"/>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07347" y="2273300"/>
            <a:ext cx="830225" cy="523220"/>
          </a:xfrm>
          <a:prstGeom prst="rect">
            <a:avLst/>
          </a:prstGeom>
          <a:noFill/>
        </p:spPr>
        <p:txBody>
          <a:bodyPr wrap="none" rtlCol="0">
            <a:spAutoFit/>
          </a:bodyPr>
          <a:lstStyle/>
          <a:p>
            <a:pPr algn="ctr" defTabSz="457200"/>
            <a:r>
              <a:rPr lang="en-US" sz="1400" dirty="0">
                <a:solidFill>
                  <a:prstClr val="black"/>
                </a:solidFill>
                <a:latin typeface="Times New Roman"/>
                <a:ea typeface="ＭＳ Ｐゴシック" charset="0"/>
                <a:cs typeface="Times New Roman"/>
              </a:rPr>
              <a:t>Current</a:t>
            </a:r>
          </a:p>
          <a:p>
            <a:pPr algn="ctr" defTabSz="457200"/>
            <a:r>
              <a:rPr lang="en-US" sz="1400" dirty="0">
                <a:solidFill>
                  <a:prstClr val="black"/>
                </a:solidFill>
                <a:latin typeface="Times New Roman"/>
                <a:ea typeface="ＭＳ Ｐゴシック" charset="0"/>
                <a:cs typeface="Times New Roman"/>
              </a:rPr>
              <a:t>Tail of Q</a:t>
            </a:r>
          </a:p>
        </p:txBody>
      </p:sp>
    </p:spTree>
    <p:extLst>
      <p:ext uri="{BB962C8B-B14F-4D97-AF65-F5344CB8AC3E}">
        <p14:creationId xmlns:p14="http://schemas.microsoft.com/office/powerpoint/2010/main" val="363232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2082149" y="311150"/>
            <a:ext cx="7772400" cy="622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0" fontAlgn="base" hangingPunct="0">
              <a:spcBef>
                <a:spcPct val="0"/>
              </a:spcBef>
              <a:spcAft>
                <a:spcPct val="0"/>
              </a:spcAft>
              <a:defRPr/>
            </a:pPr>
            <a:r>
              <a:rPr lang="en-US" altLang="en-US" sz="3200" dirty="0">
                <a:solidFill>
                  <a:srgbClr val="000000"/>
                </a:solidFill>
                <a:latin typeface="Times" charset="0"/>
                <a:ea typeface="ＭＳ Ｐゴシック" charset="0"/>
              </a:rPr>
              <a:t>On Thing Leads to Another: VI</a:t>
            </a:r>
          </a:p>
        </p:txBody>
      </p:sp>
      <p:sp>
        <p:nvSpPr>
          <p:cNvPr id="3075" name="Rectangle 3"/>
          <p:cNvSpPr>
            <a:spLocks noChangeArrowheads="1"/>
          </p:cNvSpPr>
          <p:nvPr/>
        </p:nvSpPr>
        <p:spPr bwMode="auto">
          <a:xfrm>
            <a:off x="2082149" y="1612900"/>
            <a:ext cx="8229600" cy="3695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0" fontAlgn="base" hangingPunct="0">
              <a:spcBef>
                <a:spcPct val="20000"/>
              </a:spcBef>
              <a:spcAft>
                <a:spcPct val="0"/>
              </a:spcAft>
              <a:buFontTx/>
              <a:buChar char="•"/>
              <a:defRPr/>
            </a:pPr>
            <a:r>
              <a:rPr lang="en-US" altLang="en-US" dirty="0">
                <a:solidFill>
                  <a:srgbClr val="000000"/>
                </a:solidFill>
                <a:latin typeface="Times New Roman"/>
                <a:ea typeface="ＭＳ Ｐゴシック" charset="0"/>
                <a:cs typeface="Times New Roman"/>
              </a:rPr>
              <a:t>From Denning, Peter. </a:t>
            </a:r>
            <a:r>
              <a:rPr lang="ja-JP" altLang="en-US" dirty="0">
                <a:solidFill>
                  <a:srgbClr val="000000"/>
                </a:solidFill>
                <a:latin typeface="Times New Roman"/>
                <a:ea typeface="ＭＳ Ｐゴシック" charset="0"/>
                <a:cs typeface="Times New Roman"/>
              </a:rPr>
              <a:t>“</a:t>
            </a:r>
            <a:r>
              <a:rPr lang="en-US" altLang="en-US" dirty="0">
                <a:solidFill>
                  <a:srgbClr val="000000"/>
                </a:solidFill>
                <a:latin typeface="Times New Roman"/>
                <a:ea typeface="ＭＳ Ｐゴシック" charset="0"/>
                <a:cs typeface="Times New Roman"/>
              </a:rPr>
              <a:t>A Statistical Model for Console Behavior in Multiuser Computers</a:t>
            </a:r>
            <a:r>
              <a:rPr lang="ja-JP" altLang="en-US" dirty="0">
                <a:solidFill>
                  <a:srgbClr val="000000"/>
                </a:solidFill>
                <a:latin typeface="Times New Roman"/>
                <a:ea typeface="ＭＳ Ｐゴシック" charset="0"/>
                <a:cs typeface="Times New Roman"/>
              </a:rPr>
              <a:t>”</a:t>
            </a:r>
            <a:r>
              <a:rPr lang="en-US" altLang="en-US" dirty="0">
                <a:solidFill>
                  <a:srgbClr val="000000"/>
                </a:solidFill>
                <a:latin typeface="Times New Roman"/>
                <a:ea typeface="ＭＳ Ｐゴシック" charset="0"/>
                <a:cs typeface="Times New Roman"/>
              </a:rPr>
              <a:t> CACM, Vol.11, No.9 p.605, Sept 1968.</a:t>
            </a:r>
          </a:p>
          <a:p>
            <a:pPr marL="342900" indent="-342900" eaLnBrk="0" fontAlgn="base" hangingPunct="0">
              <a:spcBef>
                <a:spcPct val="20000"/>
              </a:spcBef>
              <a:spcAft>
                <a:spcPct val="0"/>
              </a:spcAft>
              <a:buFontTx/>
              <a:buChar char="•"/>
              <a:defRPr/>
            </a:pPr>
            <a:r>
              <a:rPr lang="en-US" altLang="en-US" dirty="0">
                <a:solidFill>
                  <a:srgbClr val="000000"/>
                </a:solidFill>
                <a:latin typeface="Times New Roman"/>
                <a:ea typeface="ＭＳ Ｐゴシック" charset="0"/>
                <a:cs typeface="Times New Roman"/>
              </a:rPr>
              <a:t>For 50 users and a ratio of characters/interrupt = 10.</a:t>
            </a:r>
          </a:p>
          <a:p>
            <a:pPr marL="342900" indent="-342900" eaLnBrk="0" fontAlgn="base" hangingPunct="0">
              <a:spcBef>
                <a:spcPct val="20000"/>
              </a:spcBef>
              <a:spcAft>
                <a:spcPct val="0"/>
              </a:spcAft>
              <a:buFontTx/>
              <a:buChar char="•"/>
              <a:defRPr/>
            </a:pPr>
            <a:endParaRPr lang="en-US" altLang="en-US" sz="2000" dirty="0">
              <a:solidFill>
                <a:srgbClr val="000000"/>
              </a:solidFill>
              <a:latin typeface="Times" charset="0"/>
              <a:ea typeface="ＭＳ Ｐゴシック" charset="0"/>
            </a:endParaRPr>
          </a:p>
          <a:p>
            <a:pPr marL="342900" indent="-342900" eaLnBrk="0" fontAlgn="base" hangingPunct="0">
              <a:spcBef>
                <a:spcPct val="20000"/>
              </a:spcBef>
              <a:spcAft>
                <a:spcPct val="0"/>
              </a:spcAft>
              <a:buFontTx/>
              <a:buChar char="•"/>
              <a:defRPr/>
            </a:pPr>
            <a:endParaRPr lang="en-US" altLang="en-US" sz="2000" dirty="0">
              <a:solidFill>
                <a:srgbClr val="000000"/>
              </a:solidFill>
              <a:latin typeface="Times" charset="0"/>
              <a:ea typeface="ＭＳ Ｐゴシック" charset="0"/>
            </a:endParaRPr>
          </a:p>
          <a:p>
            <a:pPr marL="342900" indent="-342900" eaLnBrk="0" fontAlgn="base" hangingPunct="0">
              <a:spcBef>
                <a:spcPct val="20000"/>
              </a:spcBef>
              <a:spcAft>
                <a:spcPct val="0"/>
              </a:spcAft>
              <a:buFontTx/>
              <a:buChar char="•"/>
              <a:defRPr/>
            </a:pPr>
            <a:endParaRPr lang="en-US" altLang="en-US" sz="2000" dirty="0">
              <a:solidFill>
                <a:srgbClr val="000000"/>
              </a:solidFill>
              <a:latin typeface="Times" charset="0"/>
              <a:ea typeface="ＭＳ Ｐゴシック" charset="0"/>
            </a:endParaRPr>
          </a:p>
          <a:p>
            <a:pPr marL="342900" indent="-342900" eaLnBrk="0" fontAlgn="base" hangingPunct="0">
              <a:spcBef>
                <a:spcPct val="20000"/>
              </a:spcBef>
              <a:spcAft>
                <a:spcPct val="0"/>
              </a:spcAft>
              <a:buFontTx/>
              <a:buChar char="•"/>
              <a:defRPr/>
            </a:pPr>
            <a:endParaRPr lang="en-US" altLang="en-US" sz="2000" dirty="0">
              <a:solidFill>
                <a:srgbClr val="000000"/>
              </a:solidFill>
              <a:latin typeface="Times" charset="0"/>
              <a:ea typeface="ＭＳ Ｐゴシック" charset="0"/>
            </a:endParaRPr>
          </a:p>
          <a:p>
            <a:pPr marL="342900" indent="-342900" eaLnBrk="0" fontAlgn="base" hangingPunct="0">
              <a:spcBef>
                <a:spcPct val="20000"/>
              </a:spcBef>
              <a:spcAft>
                <a:spcPct val="0"/>
              </a:spcAft>
              <a:buFontTx/>
              <a:buChar char="•"/>
              <a:defRPr/>
            </a:pPr>
            <a:endParaRPr lang="en-US" altLang="en-US" sz="2000" dirty="0">
              <a:solidFill>
                <a:srgbClr val="000000"/>
              </a:solidFill>
              <a:latin typeface="Times" charset="0"/>
              <a:ea typeface="ＭＳ Ｐゴシック" charset="0"/>
            </a:endParaRPr>
          </a:p>
          <a:p>
            <a:pPr marL="342900" indent="-342900" eaLnBrk="0" fontAlgn="base" hangingPunct="0">
              <a:spcBef>
                <a:spcPct val="20000"/>
              </a:spcBef>
              <a:spcAft>
                <a:spcPct val="0"/>
              </a:spcAft>
              <a:buFontTx/>
              <a:buChar char="•"/>
              <a:defRPr/>
            </a:pPr>
            <a:endParaRPr lang="en-US" altLang="en-US" sz="2000" dirty="0">
              <a:solidFill>
                <a:srgbClr val="000000"/>
              </a:solidFill>
              <a:latin typeface="Times" charset="0"/>
              <a:ea typeface="ＭＳ Ｐゴシック" charset="0"/>
            </a:endParaRPr>
          </a:p>
          <a:p>
            <a:pPr marL="342900" indent="-342900" eaLnBrk="0" fontAlgn="base" hangingPunct="0">
              <a:spcBef>
                <a:spcPct val="20000"/>
              </a:spcBef>
              <a:spcAft>
                <a:spcPct val="0"/>
              </a:spcAft>
              <a:buFontTx/>
              <a:buChar char="•"/>
              <a:defRPr/>
            </a:pPr>
            <a:endParaRPr lang="en-US" altLang="en-US" sz="2000" dirty="0">
              <a:solidFill>
                <a:srgbClr val="000000"/>
              </a:solidFill>
              <a:latin typeface="Times" charset="0"/>
              <a:ea typeface="ＭＳ Ｐゴシック" charset="0"/>
            </a:endParaRPr>
          </a:p>
          <a:p>
            <a:pPr marL="342900" indent="-342900" eaLnBrk="0" fontAlgn="base" hangingPunct="0">
              <a:spcBef>
                <a:spcPct val="20000"/>
              </a:spcBef>
              <a:spcAft>
                <a:spcPct val="0"/>
              </a:spcAft>
              <a:buFontTx/>
              <a:buChar char="•"/>
              <a:defRPr/>
            </a:pPr>
            <a:r>
              <a:rPr lang="en-US" altLang="en-US" dirty="0">
                <a:solidFill>
                  <a:srgbClr val="000000"/>
                </a:solidFill>
                <a:latin typeface="Times" charset="0"/>
                <a:ea typeface="ＭＳ Ｐゴシック" charset="0"/>
              </a:rPr>
              <a:t>This result is completely general for static </a:t>
            </a:r>
            <a:r>
              <a:rPr lang="en-US" altLang="en-US" dirty="0" err="1">
                <a:solidFill>
                  <a:srgbClr val="000000"/>
                </a:solidFill>
                <a:latin typeface="Times" charset="0"/>
                <a:ea typeface="ＭＳ Ｐゴシック" charset="0"/>
              </a:rPr>
              <a:t>vs</a:t>
            </a:r>
            <a:r>
              <a:rPr lang="en-US" altLang="en-US" dirty="0">
                <a:solidFill>
                  <a:srgbClr val="000000"/>
                </a:solidFill>
                <a:latin typeface="Times" charset="0"/>
                <a:ea typeface="ＭＳ Ｐゴシック" charset="0"/>
              </a:rPr>
              <a:t> pooled resources.  It is really a no-brainer:  Always pool buffers, unless there is a good reason to ensure it will run out.</a:t>
            </a:r>
          </a:p>
          <a:p>
            <a:pPr marL="800100" lvl="1" indent="-342900" eaLnBrk="0" fontAlgn="base" hangingPunct="0">
              <a:spcBef>
                <a:spcPct val="20000"/>
              </a:spcBef>
              <a:spcAft>
                <a:spcPct val="0"/>
              </a:spcAft>
              <a:buFontTx/>
              <a:buChar char="•"/>
              <a:defRPr/>
            </a:pPr>
            <a:r>
              <a:rPr lang="en-US" altLang="en-US" sz="1600" dirty="0">
                <a:solidFill>
                  <a:srgbClr val="000000"/>
                </a:solidFill>
                <a:latin typeface="Times" charset="0"/>
                <a:ea typeface="ＭＳ Ｐゴシック" charset="0"/>
              </a:rPr>
              <a:t>Takes at least 6 times more memory for static </a:t>
            </a:r>
            <a:r>
              <a:rPr lang="en-US" altLang="en-US" sz="1600" dirty="0" err="1">
                <a:solidFill>
                  <a:srgbClr val="000000"/>
                </a:solidFill>
                <a:latin typeface="Times" charset="0"/>
                <a:ea typeface="ＭＳ Ｐゴシック" charset="0"/>
              </a:rPr>
              <a:t>vs</a:t>
            </a:r>
            <a:r>
              <a:rPr lang="en-US" altLang="en-US" sz="1600" dirty="0">
                <a:solidFill>
                  <a:srgbClr val="000000"/>
                </a:solidFill>
                <a:latin typeface="Times" charset="0"/>
                <a:ea typeface="ＭＳ Ｐゴシック" charset="0"/>
              </a:rPr>
              <a:t> pooled and it isn’t linear.</a:t>
            </a:r>
          </a:p>
          <a:p>
            <a:pPr marL="800100" lvl="1" indent="-342900" eaLnBrk="0" fontAlgn="base" hangingPunct="0">
              <a:spcBef>
                <a:spcPct val="20000"/>
              </a:spcBef>
              <a:spcAft>
                <a:spcPct val="0"/>
              </a:spcAft>
              <a:buFontTx/>
              <a:buChar char="•"/>
              <a:defRPr/>
            </a:pPr>
            <a:r>
              <a:rPr lang="en-US" altLang="en-US" sz="1600" dirty="0">
                <a:solidFill>
                  <a:srgbClr val="000000"/>
                </a:solidFill>
                <a:latin typeface="Times" charset="0"/>
                <a:ea typeface="ＭＳ Ｐゴシック" charset="0"/>
              </a:rPr>
              <a:t>At today’s requirements the difference will be measured in orders of magnitude.</a:t>
            </a:r>
          </a:p>
        </p:txBody>
      </p:sp>
      <p:sp>
        <p:nvSpPr>
          <p:cNvPr id="3076" name="Text Box 4"/>
          <p:cNvSpPr txBox="1">
            <a:spLocks noChangeArrowheads="1"/>
          </p:cNvSpPr>
          <p:nvPr/>
        </p:nvSpPr>
        <p:spPr bwMode="auto">
          <a:xfrm>
            <a:off x="4284664" y="2695504"/>
            <a:ext cx="3475037" cy="2252924"/>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eaLnBrk="0" fontAlgn="base" hangingPunct="0">
              <a:lnSpc>
                <a:spcPct val="60000"/>
              </a:lnSpc>
              <a:spcBef>
                <a:spcPct val="50000"/>
              </a:spcBef>
              <a:spcAft>
                <a:spcPct val="0"/>
              </a:spcAft>
              <a:defRPr/>
            </a:pPr>
            <a:r>
              <a:rPr lang="en-US" altLang="en-US" sz="1200" b="1" u="sng" dirty="0">
                <a:solidFill>
                  <a:srgbClr val="000000"/>
                </a:solidFill>
                <a:latin typeface="Times" charset="0"/>
                <a:ea typeface="ＭＳ Ｐゴシック" charset="0"/>
              </a:rPr>
              <a:t>Total Buffer Size           Probability of Overflow</a:t>
            </a:r>
            <a:endParaRPr lang="en-US" altLang="en-US" sz="1200" u="sng" dirty="0">
              <a:solidFill>
                <a:srgbClr val="000000"/>
              </a:solidFill>
              <a:latin typeface="Times" charset="0"/>
              <a:ea typeface="ＭＳ Ｐゴシック" charset="0"/>
            </a:endParaRP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         (in bytes)                 </a:t>
            </a:r>
            <a:r>
              <a:rPr lang="en-US" altLang="en-US" sz="1200" b="1" u="sng" dirty="0">
                <a:solidFill>
                  <a:srgbClr val="000000"/>
                </a:solidFill>
                <a:latin typeface="Times" charset="0"/>
                <a:ea typeface="ＭＳ Ｐゴシック" charset="0"/>
              </a:rPr>
              <a:t>Pooled               Static</a:t>
            </a:r>
            <a:endParaRPr lang="en-US" altLang="en-US" sz="1200" dirty="0">
              <a:solidFill>
                <a:srgbClr val="000000"/>
              </a:solidFill>
              <a:latin typeface="Times" charset="0"/>
              <a:ea typeface="ＭＳ Ｐゴシック" charset="0"/>
            </a:endParaRP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  750	                  .006	.90</a:t>
            </a: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1000                                   10</a:t>
            </a:r>
            <a:r>
              <a:rPr lang="en-US" altLang="en-US" sz="1200" baseline="30000" dirty="0">
                <a:solidFill>
                  <a:srgbClr val="000000"/>
                </a:solidFill>
                <a:latin typeface="Times" charset="0"/>
                <a:ea typeface="ＭＳ Ｐゴシック" charset="0"/>
              </a:rPr>
              <a:t>-6</a:t>
            </a:r>
            <a:r>
              <a:rPr lang="en-US" altLang="en-US" sz="1200" dirty="0">
                <a:solidFill>
                  <a:srgbClr val="000000"/>
                </a:solidFill>
                <a:latin typeface="Times" charset="0"/>
                <a:ea typeface="ＭＳ Ｐゴシック" charset="0"/>
              </a:rPr>
              <a:t>	.76</a:t>
            </a: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1500			.44</a:t>
            </a: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2000			.22</a:t>
            </a: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2500			.10</a:t>
            </a: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3000			.05</a:t>
            </a: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3500			.02</a:t>
            </a: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4000			.01</a:t>
            </a:r>
          </a:p>
          <a:p>
            <a:pPr eaLnBrk="0" fontAlgn="base" hangingPunct="0">
              <a:lnSpc>
                <a:spcPct val="60000"/>
              </a:lnSpc>
              <a:spcBef>
                <a:spcPct val="50000"/>
              </a:spcBef>
              <a:spcAft>
                <a:spcPct val="0"/>
              </a:spcAft>
              <a:defRPr/>
            </a:pPr>
            <a:r>
              <a:rPr lang="en-US" altLang="en-US" sz="1200" dirty="0">
                <a:solidFill>
                  <a:srgbClr val="000000"/>
                </a:solidFill>
                <a:latin typeface="Times" charset="0"/>
                <a:ea typeface="ＭＳ Ｐゴシック" charset="0"/>
              </a:rPr>
              <a:t>4500			.004</a:t>
            </a:r>
          </a:p>
        </p:txBody>
      </p:sp>
      <p:grpSp>
        <p:nvGrpSpPr>
          <p:cNvPr id="8" name="Group 7"/>
          <p:cNvGrpSpPr/>
          <p:nvPr/>
        </p:nvGrpSpPr>
        <p:grpSpPr>
          <a:xfrm>
            <a:off x="6196950" y="3085600"/>
            <a:ext cx="3480450" cy="1015663"/>
            <a:chOff x="4672950" y="3085599"/>
            <a:chExt cx="3480450" cy="1015663"/>
          </a:xfrm>
        </p:grpSpPr>
        <p:sp>
          <p:nvSpPr>
            <p:cNvPr id="2" name="TextBox 1"/>
            <p:cNvSpPr txBox="1"/>
            <p:nvPr/>
          </p:nvSpPr>
          <p:spPr>
            <a:xfrm>
              <a:off x="6784124" y="3085599"/>
              <a:ext cx="1369276" cy="1015663"/>
            </a:xfrm>
            <a:prstGeom prst="rect">
              <a:avLst/>
            </a:prstGeom>
            <a:noFill/>
          </p:spPr>
          <p:txBody>
            <a:bodyPr wrap="square" rtlCol="0">
              <a:spAutoFit/>
            </a:bodyPr>
            <a:lstStyle/>
            <a:p>
              <a:pPr defTabSz="457200"/>
              <a:r>
                <a:rPr lang="en-US" sz="1200" dirty="0">
                  <a:solidFill>
                    <a:srgbClr val="000000"/>
                  </a:solidFill>
                  <a:latin typeface="Times"/>
                  <a:ea typeface="ＭＳ Ｐゴシック"/>
                </a:rPr>
                <a:t>Blank because the numbers were too small to be represented by the computer. </a:t>
              </a:r>
            </a:p>
          </p:txBody>
        </p:sp>
        <p:cxnSp>
          <p:nvCxnSpPr>
            <p:cNvPr id="4" name="Straight Arrow Connector 3"/>
            <p:cNvCxnSpPr>
              <a:stCxn id="2" idx="1"/>
            </p:cNvCxnSpPr>
            <p:nvPr/>
          </p:nvCxnSpPr>
          <p:spPr bwMode="auto">
            <a:xfrm flipH="1">
              <a:off x="4672950" y="3593431"/>
              <a:ext cx="2111174" cy="77893"/>
            </a:xfrm>
            <a:prstGeom prst="straightConnector1">
              <a:avLst/>
            </a:prstGeom>
            <a:solidFill>
              <a:schemeClr val="accent1"/>
            </a:solidFill>
            <a:ln w="6350"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grpSp>
        <p:nvGrpSpPr>
          <p:cNvPr id="9" name="Group 8"/>
          <p:cNvGrpSpPr/>
          <p:nvPr/>
        </p:nvGrpSpPr>
        <p:grpSpPr>
          <a:xfrm>
            <a:off x="1722961" y="4076701"/>
            <a:ext cx="2655368" cy="830997"/>
            <a:chOff x="198961" y="3821966"/>
            <a:chExt cx="2655368" cy="830997"/>
          </a:xfrm>
        </p:grpSpPr>
        <p:sp>
          <p:nvSpPr>
            <p:cNvPr id="3" name="TextBox 2"/>
            <p:cNvSpPr txBox="1"/>
            <p:nvPr/>
          </p:nvSpPr>
          <p:spPr>
            <a:xfrm>
              <a:off x="198961" y="3821966"/>
              <a:ext cx="1437696" cy="830997"/>
            </a:xfrm>
            <a:prstGeom prst="rect">
              <a:avLst/>
            </a:prstGeom>
            <a:noFill/>
          </p:spPr>
          <p:txBody>
            <a:bodyPr wrap="square" rtlCol="0">
              <a:spAutoFit/>
            </a:bodyPr>
            <a:lstStyle/>
            <a:p>
              <a:pPr defTabSz="457200"/>
              <a:r>
                <a:rPr lang="en-US" sz="1200" dirty="0">
                  <a:solidFill>
                    <a:srgbClr val="000000"/>
                  </a:solidFill>
                  <a:latin typeface="Times"/>
                  <a:ea typeface="ＭＳ Ｐゴシック"/>
                </a:rPr>
                <a:t>It takes to here with static to get to where we started with pooled.</a:t>
              </a:r>
            </a:p>
          </p:txBody>
        </p:sp>
        <p:cxnSp>
          <p:nvCxnSpPr>
            <p:cNvPr id="6" name="Straight Arrow Connector 5"/>
            <p:cNvCxnSpPr/>
            <p:nvPr/>
          </p:nvCxnSpPr>
          <p:spPr bwMode="auto">
            <a:xfrm>
              <a:off x="1165299" y="4076700"/>
              <a:ext cx="1689030" cy="44074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sp>
        <p:nvSpPr>
          <p:cNvPr id="10" name="TextBox 9"/>
          <p:cNvSpPr txBox="1"/>
          <p:nvPr/>
        </p:nvSpPr>
        <p:spPr>
          <a:xfrm>
            <a:off x="2840562" y="920753"/>
            <a:ext cx="5329313" cy="1015663"/>
          </a:xfrm>
          <a:prstGeom prst="rect">
            <a:avLst/>
          </a:prstGeom>
          <a:noFill/>
        </p:spPr>
        <p:txBody>
          <a:bodyPr wrap="square" rtlCol="0">
            <a:spAutoFit/>
          </a:bodyPr>
          <a:lstStyle/>
          <a:p>
            <a:pPr algn="ctr" eaLnBrk="0" fontAlgn="base" hangingPunct="0">
              <a:spcBef>
                <a:spcPct val="0"/>
              </a:spcBef>
              <a:spcAft>
                <a:spcPct val="0"/>
              </a:spcAft>
              <a:defRPr/>
            </a:pPr>
            <a:r>
              <a:rPr lang="en-US" altLang="en-US" dirty="0">
                <a:solidFill>
                  <a:srgbClr val="000000"/>
                </a:solidFill>
                <a:latin typeface="Times" charset="0"/>
                <a:ea typeface="ＭＳ Ｐゴシック" charset="0"/>
              </a:rPr>
              <a:t>Static Allocation Takes Oceans More Resources!</a:t>
            </a:r>
          </a:p>
          <a:p>
            <a:pPr algn="ctr" eaLnBrk="0" fontAlgn="base" hangingPunct="0">
              <a:spcBef>
                <a:spcPct val="0"/>
              </a:spcBef>
              <a:spcAft>
                <a:spcPct val="0"/>
              </a:spcAft>
              <a:defRPr/>
            </a:pPr>
            <a:r>
              <a:rPr lang="en-US" altLang="en-US" sz="2400" dirty="0">
                <a:solidFill>
                  <a:srgbClr val="000000"/>
                </a:solidFill>
                <a:latin typeface="Times" charset="0"/>
                <a:ea typeface="ＭＳ Ｐゴシック" charset="0"/>
              </a:rPr>
              <a:t>Pooled </a:t>
            </a:r>
            <a:r>
              <a:rPr lang="en-US" altLang="en-US" sz="2400" dirty="0" err="1">
                <a:solidFill>
                  <a:srgbClr val="000000"/>
                </a:solidFill>
                <a:latin typeface="Times" charset="0"/>
                <a:ea typeface="ＭＳ Ｐゴシック" charset="0"/>
              </a:rPr>
              <a:t>vs</a:t>
            </a:r>
            <a:r>
              <a:rPr lang="en-US" altLang="en-US" sz="2400" dirty="0">
                <a:solidFill>
                  <a:srgbClr val="000000"/>
                </a:solidFill>
                <a:latin typeface="Times" charset="0"/>
                <a:ea typeface="ＭＳ Ｐゴシック" charset="0"/>
              </a:rPr>
              <a:t> Static Buffers</a:t>
            </a:r>
          </a:p>
          <a:p>
            <a:pPr defTabSz="457200"/>
            <a:endParaRPr lang="en-US" dirty="0">
              <a:solidFill>
                <a:srgbClr val="000000"/>
              </a:solidFill>
              <a:latin typeface="Times"/>
              <a:ea typeface="ＭＳ Ｐゴシック"/>
            </a:endParaRPr>
          </a:p>
        </p:txBody>
      </p:sp>
      <p:sp>
        <p:nvSpPr>
          <p:cNvPr id="12" name="TextBox 11">
            <a:extLst>
              <a:ext uri="{FF2B5EF4-FFF2-40B4-BE49-F238E27FC236}">
                <a16:creationId xmlns:a16="http://schemas.microsoft.com/office/drawing/2014/main" id="{AE6B12E8-509E-923D-2FEF-245E466577EF}"/>
              </a:ext>
            </a:extLst>
          </p:cNvPr>
          <p:cNvSpPr txBox="1"/>
          <p:nvPr/>
        </p:nvSpPr>
        <p:spPr>
          <a:xfrm>
            <a:off x="7878515" y="6535079"/>
            <a:ext cx="2228494" cy="246221"/>
          </a:xfrm>
          <a:prstGeom prst="rect">
            <a:avLst/>
          </a:prstGeom>
          <a:noFill/>
        </p:spPr>
        <p:txBody>
          <a:bodyPr wrap="none" rtlCol="0">
            <a:spAutoFit/>
          </a:bodyPr>
          <a:lstStyle/>
          <a:p>
            <a:pPr algn="ctr" fontAlgn="base">
              <a:spcBef>
                <a:spcPct val="0"/>
              </a:spcBef>
              <a:spcAft>
                <a:spcPct val="0"/>
              </a:spcAft>
            </a:pPr>
            <a:r>
              <a:rPr lang="en-US" sz="1000" dirty="0">
                <a:solidFill>
                  <a:srgbClr val="000000"/>
                </a:solidFill>
                <a:latin typeface="Times" charset="0"/>
                <a:ea typeface="ＭＳ Ｐゴシック" charset="0"/>
              </a:rPr>
              <a:t>© John Day, All Rights Reserved, 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lstStyle/>
          <a:p>
            <a:r>
              <a:rPr lang="en-US" dirty="0"/>
              <a:t>So Now What?</a:t>
            </a:r>
          </a:p>
        </p:txBody>
      </p:sp>
      <p:sp>
        <p:nvSpPr>
          <p:cNvPr id="3" name="Content Placeholder 2"/>
          <p:cNvSpPr>
            <a:spLocks noGrp="1"/>
          </p:cNvSpPr>
          <p:nvPr>
            <p:ph idx="1"/>
          </p:nvPr>
        </p:nvSpPr>
        <p:spPr>
          <a:xfrm>
            <a:off x="1981199" y="1231232"/>
            <a:ext cx="8462211" cy="5133474"/>
          </a:xfrm>
        </p:spPr>
        <p:txBody>
          <a:bodyPr>
            <a:normAutofit/>
          </a:bodyPr>
          <a:lstStyle/>
          <a:p>
            <a:r>
              <a:rPr lang="en-US" dirty="0"/>
              <a:t>Most protocols sequence packets, not bytes. </a:t>
            </a:r>
          </a:p>
          <a:p>
            <a:r>
              <a:rPr lang="en-US" dirty="0"/>
              <a:t>At the very least it appears that one should conclude that retransmission must be on the same byte boundaries.</a:t>
            </a:r>
          </a:p>
          <a:p>
            <a:r>
              <a:rPr lang="en-US" dirty="0"/>
              <a:t>This has three benefits:</a:t>
            </a:r>
          </a:p>
          <a:p>
            <a:pPr lvl="1"/>
            <a:r>
              <a:rPr lang="en-US" dirty="0"/>
              <a:t>A retransmission fits or it doesn’t. Reassembly can be simple.</a:t>
            </a:r>
          </a:p>
          <a:p>
            <a:pPr lvl="1"/>
            <a:r>
              <a:rPr lang="en-US" dirty="0"/>
              <a:t>Static allocation of buffers isn’t required, greatly lowering the probability of buffer overflow.</a:t>
            </a:r>
          </a:p>
          <a:p>
            <a:pPr lvl="2"/>
            <a:r>
              <a:rPr lang="en-US" dirty="0"/>
              <a:t>One could argue that it would be beneficial if the Circle-q was maximum window size.</a:t>
            </a:r>
          </a:p>
          <a:p>
            <a:pPr lvl="1"/>
            <a:r>
              <a:rPr lang="en-US" sz="1900" dirty="0"/>
              <a:t>Packet sequence numbers do not roll over as fast, so a longer sequence number space is not required.</a:t>
            </a:r>
          </a:p>
          <a:p>
            <a:pPr lvl="1"/>
            <a:r>
              <a:rPr lang="en-US" sz="1900" dirty="0"/>
              <a:t>Is it worth two fields being much longer? (sequence number and </a:t>
            </a:r>
            <a:r>
              <a:rPr lang="en-US" sz="1900" dirty="0" err="1"/>
              <a:t>ack</a:t>
            </a:r>
            <a:r>
              <a:rPr lang="en-US" sz="1900" dirty="0"/>
              <a:t>) </a:t>
            </a:r>
          </a:p>
          <a:p>
            <a:pPr lvl="2"/>
            <a:r>
              <a:rPr lang="en-US" sz="1700" dirty="0"/>
              <a:t>The Acknowledgement might be in a different ‘control’ PDU.</a:t>
            </a:r>
          </a:p>
          <a:p>
            <a:r>
              <a:rPr lang="en-US" dirty="0"/>
              <a:t>But We Knew That.</a:t>
            </a:r>
          </a:p>
          <a:p>
            <a:r>
              <a:rPr lang="en-US" dirty="0"/>
              <a:t>Yes, but just think of all we learned about what not to do that those that did it right the first time didn’t learn.  ;-)</a:t>
            </a:r>
          </a:p>
          <a:p>
            <a:endParaRPr lang="en-US" dirty="0"/>
          </a:p>
          <a:p>
            <a:endParaRPr lang="en-US" dirty="0"/>
          </a:p>
        </p:txBody>
      </p:sp>
    </p:spTree>
    <p:extLst>
      <p:ext uri="{BB962C8B-B14F-4D97-AF65-F5344CB8AC3E}">
        <p14:creationId xmlns:p14="http://schemas.microsoft.com/office/powerpoint/2010/main" val="3927589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4E07A-8E9D-B0B1-5834-677E78B45D5D}"/>
              </a:ext>
            </a:extLst>
          </p:cNvPr>
          <p:cNvSpPr>
            <a:spLocks noGrp="1"/>
          </p:cNvSpPr>
          <p:nvPr>
            <p:ph type="title"/>
          </p:nvPr>
        </p:nvSpPr>
        <p:spPr/>
        <p:txBody>
          <a:bodyPr/>
          <a:lstStyle/>
          <a:p>
            <a:r>
              <a:rPr lang="en-US" dirty="0"/>
              <a:t>What Should Have Happened?</a:t>
            </a:r>
          </a:p>
        </p:txBody>
      </p:sp>
      <p:sp>
        <p:nvSpPr>
          <p:cNvPr id="3" name="Content Placeholder 2">
            <a:extLst>
              <a:ext uri="{FF2B5EF4-FFF2-40B4-BE49-F238E27FC236}">
                <a16:creationId xmlns:a16="http://schemas.microsoft.com/office/drawing/2014/main" id="{D5FF9A31-27BC-3E4F-1797-3980F3443CB1}"/>
              </a:ext>
            </a:extLst>
          </p:cNvPr>
          <p:cNvSpPr>
            <a:spLocks noGrp="1"/>
          </p:cNvSpPr>
          <p:nvPr>
            <p:ph idx="1"/>
          </p:nvPr>
        </p:nvSpPr>
        <p:spPr/>
        <p:txBody>
          <a:bodyPr/>
          <a:lstStyle/>
          <a:p>
            <a:r>
              <a:rPr lang="en-US" dirty="0"/>
              <a:t>As we saw earlier in 1976 that ARPA was unwilling to compromise on INWG 96 and ceased to collaborate internationally.</a:t>
            </a:r>
          </a:p>
          <a:p>
            <a:r>
              <a:rPr lang="en-US" dirty="0"/>
              <a:t>INWG 96 had Data Transfer and Control PDUs, packet sequencing, 50% less PCI overhead, SDUs not stream, etc. essentially none of the problems of TCP.</a:t>
            </a:r>
          </a:p>
          <a:p>
            <a:r>
              <a:rPr lang="en-US" dirty="0"/>
              <a:t>INWG 96 became the basis for OSI TP4 to which was added the results from Watson making TP4 a major advance over TCP.</a:t>
            </a:r>
          </a:p>
          <a:p>
            <a:r>
              <a:rPr lang="en-US" dirty="0"/>
              <a:t>OSI TP4 was paired with CLNP, similar to IP but named the node not the interface and didn’t do fragmentation. So it worked.</a:t>
            </a:r>
          </a:p>
          <a:p>
            <a:pPr lvl="1"/>
            <a:r>
              <a:rPr lang="en-US" dirty="0"/>
              <a:t>The only trouble with CLNP were the people who wanted to use the MAC address in the network address.</a:t>
            </a:r>
          </a:p>
        </p:txBody>
      </p:sp>
    </p:spTree>
    <p:extLst>
      <p:ext uri="{BB962C8B-B14F-4D97-AF65-F5344CB8AC3E}">
        <p14:creationId xmlns:p14="http://schemas.microsoft.com/office/powerpoint/2010/main" val="3068752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009973"/>
                </a:solidFill>
              </a:rPr>
              <a:t>TCP Attacks</a:t>
            </a:r>
          </a:p>
        </p:txBody>
      </p:sp>
      <p:sp>
        <p:nvSpPr>
          <p:cNvPr id="3" name="Content Placeholder 2"/>
          <p:cNvSpPr>
            <a:spLocks noGrp="1"/>
          </p:cNvSpPr>
          <p:nvPr>
            <p:ph idx="1"/>
          </p:nvPr>
        </p:nvSpPr>
        <p:spPr>
          <a:xfrm>
            <a:off x="2372447" y="4229100"/>
            <a:ext cx="7795633" cy="2196084"/>
          </a:xfrm>
        </p:spPr>
        <p:txBody>
          <a:bodyPr/>
          <a:lstStyle/>
          <a:p>
            <a:r>
              <a:rPr lang="en-US" sz="2000" dirty="0"/>
              <a:t>This is the classic scenario. It works because Alice has to trust the source address and source port. Well-known ports are all the same.</a:t>
            </a:r>
          </a:p>
          <a:p>
            <a:pPr lvl="1"/>
            <a:r>
              <a:rPr lang="en-US" sz="1600" dirty="0"/>
              <a:t>Receiver has to trust identifiers it didn’t generate.  Analogous to not trusting the length field of a protocol, e.g. </a:t>
            </a:r>
            <a:r>
              <a:rPr lang="en-US" sz="1600" dirty="0" err="1"/>
              <a:t>heartbleed</a:t>
            </a:r>
            <a:r>
              <a:rPr lang="en-US" sz="1600" dirty="0"/>
              <a:t>.</a:t>
            </a:r>
          </a:p>
          <a:p>
            <a:r>
              <a:rPr lang="en-US" sz="2000" dirty="0"/>
              <a:t>Similar things can be done by guessing sequence numbers, or sending spurious resets, etc.</a:t>
            </a:r>
          </a:p>
          <a:p>
            <a:pPr lvl="1"/>
            <a:r>
              <a:rPr lang="en-US" sz="1600" dirty="0"/>
              <a:t>Protocols that follow the theory don’t have these problems.</a:t>
            </a:r>
          </a:p>
        </p:txBody>
      </p:sp>
      <p:cxnSp>
        <p:nvCxnSpPr>
          <p:cNvPr id="5" name="Straight Connector 4"/>
          <p:cNvCxnSpPr/>
          <p:nvPr/>
        </p:nvCxnSpPr>
        <p:spPr>
          <a:xfrm>
            <a:off x="6108700" y="1524000"/>
            <a:ext cx="0" cy="25273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7924800" y="1524000"/>
            <a:ext cx="0" cy="25273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4533900" y="1536700"/>
            <a:ext cx="0" cy="25273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54500" y="1270001"/>
            <a:ext cx="483952" cy="307777"/>
          </a:xfrm>
          <a:prstGeom prst="rect">
            <a:avLst/>
          </a:prstGeom>
          <a:noFill/>
        </p:spPr>
        <p:txBody>
          <a:bodyPr wrap="none" rtlCol="0">
            <a:spAutoFit/>
          </a:bodyPr>
          <a:lstStyle/>
          <a:p>
            <a:pPr fontAlgn="base">
              <a:spcBef>
                <a:spcPct val="0"/>
              </a:spcBef>
              <a:spcAft>
                <a:spcPct val="0"/>
              </a:spcAft>
            </a:pPr>
            <a:r>
              <a:rPr lang="en-US" sz="1400" dirty="0">
                <a:solidFill>
                  <a:prstClr val="black"/>
                </a:solidFill>
                <a:latin typeface="Times" charset="0"/>
                <a:ea typeface="ＭＳ Ｐゴシック" charset="0"/>
                <a:cs typeface="ＭＳ Ｐゴシック" charset="0"/>
                <a:sym typeface="Arial"/>
              </a:rPr>
              <a:t>Bob</a:t>
            </a:r>
          </a:p>
        </p:txBody>
      </p:sp>
      <p:sp>
        <p:nvSpPr>
          <p:cNvPr id="13" name="TextBox 12"/>
          <p:cNvSpPr txBox="1"/>
          <p:nvPr/>
        </p:nvSpPr>
        <p:spPr>
          <a:xfrm>
            <a:off x="5867401" y="1270001"/>
            <a:ext cx="620683" cy="307777"/>
          </a:xfrm>
          <a:prstGeom prst="rect">
            <a:avLst/>
          </a:prstGeom>
          <a:noFill/>
        </p:spPr>
        <p:txBody>
          <a:bodyPr wrap="none" rtlCol="0">
            <a:spAutoFit/>
          </a:bodyPr>
          <a:lstStyle/>
          <a:p>
            <a:pPr fontAlgn="base">
              <a:spcBef>
                <a:spcPct val="0"/>
              </a:spcBef>
              <a:spcAft>
                <a:spcPct val="0"/>
              </a:spcAft>
            </a:pPr>
            <a:r>
              <a:rPr lang="en-US" sz="1400" dirty="0">
                <a:solidFill>
                  <a:prstClr val="black"/>
                </a:solidFill>
                <a:latin typeface="Times" charset="0"/>
                <a:ea typeface="ＭＳ Ｐゴシック" charset="0"/>
                <a:cs typeface="ＭＳ Ｐゴシック" charset="0"/>
                <a:sym typeface="Arial"/>
              </a:rPr>
              <a:t>Trudy</a:t>
            </a:r>
          </a:p>
        </p:txBody>
      </p:sp>
      <p:sp>
        <p:nvSpPr>
          <p:cNvPr id="14" name="TextBox 13"/>
          <p:cNvSpPr txBox="1"/>
          <p:nvPr/>
        </p:nvSpPr>
        <p:spPr>
          <a:xfrm>
            <a:off x="7620001" y="1270001"/>
            <a:ext cx="586281" cy="307777"/>
          </a:xfrm>
          <a:prstGeom prst="rect">
            <a:avLst/>
          </a:prstGeom>
          <a:noFill/>
        </p:spPr>
        <p:txBody>
          <a:bodyPr wrap="none" rtlCol="0">
            <a:spAutoFit/>
          </a:bodyPr>
          <a:lstStyle/>
          <a:p>
            <a:pPr fontAlgn="base">
              <a:spcBef>
                <a:spcPct val="0"/>
              </a:spcBef>
              <a:spcAft>
                <a:spcPct val="0"/>
              </a:spcAft>
            </a:pPr>
            <a:r>
              <a:rPr lang="en-US" sz="1400" dirty="0">
                <a:solidFill>
                  <a:prstClr val="black"/>
                </a:solidFill>
                <a:latin typeface="Times" charset="0"/>
                <a:ea typeface="ＭＳ Ｐゴシック" charset="0"/>
                <a:cs typeface="ＭＳ Ｐゴシック" charset="0"/>
                <a:sym typeface="Arial"/>
              </a:rPr>
              <a:t>Alice</a:t>
            </a:r>
          </a:p>
        </p:txBody>
      </p:sp>
      <p:grpSp>
        <p:nvGrpSpPr>
          <p:cNvPr id="32" name="Group 31"/>
          <p:cNvGrpSpPr/>
          <p:nvPr/>
        </p:nvGrpSpPr>
        <p:grpSpPr>
          <a:xfrm>
            <a:off x="4559300" y="1968500"/>
            <a:ext cx="1574800" cy="523220"/>
            <a:chOff x="3035300" y="1968500"/>
            <a:chExt cx="1574800" cy="523220"/>
          </a:xfrm>
        </p:grpSpPr>
        <p:cxnSp>
          <p:nvCxnSpPr>
            <p:cNvPr id="20" name="Straight Arrow Connector 19"/>
            <p:cNvCxnSpPr/>
            <p:nvPr/>
          </p:nvCxnSpPr>
          <p:spPr>
            <a:xfrm flipH="1">
              <a:off x="3035300" y="2044700"/>
              <a:ext cx="1574800" cy="419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rot="20640000">
              <a:off x="3302000" y="1968500"/>
              <a:ext cx="1057451" cy="523220"/>
            </a:xfrm>
            <a:prstGeom prst="rect">
              <a:avLst/>
            </a:prstGeom>
            <a:noFill/>
          </p:spPr>
          <p:txBody>
            <a:bodyPr wrap="none" rtlCol="0">
              <a:spAutoFit/>
            </a:bodyPr>
            <a:lstStyle/>
            <a:p>
              <a:pPr algn="ctr" fontAlgn="base">
                <a:spcBef>
                  <a:spcPct val="0"/>
                </a:spcBef>
                <a:spcAft>
                  <a:spcPct val="0"/>
                </a:spcAft>
              </a:pPr>
              <a:r>
                <a:rPr lang="en-US" sz="1400" dirty="0">
                  <a:solidFill>
                    <a:prstClr val="black"/>
                  </a:solidFill>
                  <a:latin typeface="Times" charset="0"/>
                  <a:ea typeface="ＭＳ Ｐゴシック" charset="0"/>
                  <a:cs typeface="ＭＳ Ｐゴシック" charset="0"/>
                  <a:sym typeface="Arial"/>
                </a:rPr>
                <a:t>DOS Attack</a:t>
              </a:r>
            </a:p>
            <a:p>
              <a:pPr algn="ctr" fontAlgn="base">
                <a:spcBef>
                  <a:spcPct val="0"/>
                </a:spcBef>
                <a:spcAft>
                  <a:spcPct val="0"/>
                </a:spcAft>
              </a:pPr>
              <a:r>
                <a:rPr lang="en-US" sz="1400" dirty="0">
                  <a:solidFill>
                    <a:prstClr val="black"/>
                  </a:solidFill>
                  <a:latin typeface="Times" charset="0"/>
                  <a:ea typeface="ＭＳ Ｐゴシック" charset="0"/>
                  <a:cs typeface="ＭＳ Ｐゴシック" charset="0"/>
                  <a:sym typeface="Arial"/>
                </a:rPr>
                <a:t>On Bob</a:t>
              </a:r>
            </a:p>
          </p:txBody>
        </p:sp>
      </p:grpSp>
      <p:grpSp>
        <p:nvGrpSpPr>
          <p:cNvPr id="9" name="Group 8"/>
          <p:cNvGrpSpPr/>
          <p:nvPr/>
        </p:nvGrpSpPr>
        <p:grpSpPr>
          <a:xfrm>
            <a:off x="6096000" y="1727200"/>
            <a:ext cx="3683000" cy="533400"/>
            <a:chOff x="4572000" y="1727200"/>
            <a:chExt cx="3683000" cy="533400"/>
          </a:xfrm>
        </p:grpSpPr>
        <p:grpSp>
          <p:nvGrpSpPr>
            <p:cNvPr id="4" name="Group 3"/>
            <p:cNvGrpSpPr/>
            <p:nvPr/>
          </p:nvGrpSpPr>
          <p:grpSpPr>
            <a:xfrm>
              <a:off x="4572000" y="1727200"/>
              <a:ext cx="1854200" cy="533400"/>
              <a:chOff x="4572000" y="1727200"/>
              <a:chExt cx="1854200" cy="533400"/>
            </a:xfrm>
          </p:grpSpPr>
          <p:cxnSp>
            <p:nvCxnSpPr>
              <p:cNvPr id="16" name="Straight Arrow Connector 15"/>
              <p:cNvCxnSpPr/>
              <p:nvPr/>
            </p:nvCxnSpPr>
            <p:spPr>
              <a:xfrm>
                <a:off x="4572000" y="1866900"/>
                <a:ext cx="1854200" cy="3937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rot="600000">
                <a:off x="4940300" y="1727200"/>
                <a:ext cx="787400" cy="307777"/>
              </a:xfrm>
              <a:prstGeom prst="rect">
                <a:avLst/>
              </a:prstGeom>
              <a:noFill/>
            </p:spPr>
            <p:txBody>
              <a:bodyPr wrap="square" rtlCol="0">
                <a:spAutoFit/>
              </a:bodyPr>
              <a:lstStyle/>
              <a:p>
                <a:pPr fontAlgn="base">
                  <a:spcBef>
                    <a:spcPct val="0"/>
                  </a:spcBef>
                  <a:spcAft>
                    <a:spcPct val="0"/>
                  </a:spcAft>
                </a:pPr>
                <a:r>
                  <a:rPr lang="en-US" sz="1400" dirty="0">
                    <a:solidFill>
                      <a:prstClr val="black"/>
                    </a:solidFill>
                    <a:latin typeface="Times" charset="0"/>
                    <a:ea typeface="ＭＳ Ｐゴシック" charset="0"/>
                    <a:cs typeface="ＭＳ Ｐゴシック" charset="0"/>
                    <a:sym typeface="Arial"/>
                  </a:rPr>
                  <a:t>SYN</a:t>
                </a:r>
              </a:p>
            </p:txBody>
          </p:sp>
        </p:grpSp>
        <p:sp>
          <p:nvSpPr>
            <p:cNvPr id="6" name="TextBox 5"/>
            <p:cNvSpPr txBox="1"/>
            <p:nvPr/>
          </p:nvSpPr>
          <p:spPr>
            <a:xfrm>
              <a:off x="6337300" y="1778000"/>
              <a:ext cx="1917700" cy="461665"/>
            </a:xfrm>
            <a:prstGeom prst="rect">
              <a:avLst/>
            </a:prstGeom>
            <a:noFill/>
          </p:spPr>
          <p:txBody>
            <a:bodyPr wrap="square" rtlCol="0">
              <a:spAutoFit/>
            </a:bodyPr>
            <a:lstStyle/>
            <a:p>
              <a:pPr fontAlgn="base">
                <a:spcBef>
                  <a:spcPct val="0"/>
                </a:spcBef>
                <a:spcAft>
                  <a:spcPct val="0"/>
                </a:spcAft>
              </a:pPr>
              <a:r>
                <a:rPr lang="en-US" sz="1200" dirty="0" err="1">
                  <a:solidFill>
                    <a:prstClr val="black"/>
                  </a:solidFill>
                  <a:latin typeface="Times" charset="0"/>
                  <a:ea typeface="ＭＳ Ｐゴシック" charset="0"/>
                  <a:cs typeface="ＭＳ Ｐゴシック" charset="0"/>
                  <a:sym typeface="Arial"/>
                </a:rPr>
                <a:t>Dest</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Addr</a:t>
              </a:r>
              <a:r>
                <a:rPr lang="en-US" sz="1200" dirty="0">
                  <a:solidFill>
                    <a:prstClr val="black"/>
                  </a:solidFill>
                  <a:latin typeface="Times" charset="0"/>
                  <a:ea typeface="ＭＳ Ｐゴシック" charset="0"/>
                  <a:cs typeface="ＭＳ Ｐゴシック" charset="0"/>
                  <a:sym typeface="Arial"/>
                </a:rPr>
                <a:t>: Alice; </a:t>
              </a:r>
              <a:r>
                <a:rPr lang="en-US" sz="1200" dirty="0" err="1">
                  <a:solidFill>
                    <a:prstClr val="black"/>
                  </a:solidFill>
                  <a:latin typeface="Times" charset="0"/>
                  <a:ea typeface="ＭＳ Ｐゴシック" charset="0"/>
                  <a:cs typeface="ＭＳ Ｐゴシック" charset="0"/>
                  <a:sym typeface="Arial"/>
                </a:rPr>
                <a:t>Src</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Addr</a:t>
              </a:r>
              <a:r>
                <a:rPr lang="en-US" sz="1200" dirty="0">
                  <a:solidFill>
                    <a:prstClr val="black"/>
                  </a:solidFill>
                  <a:latin typeface="Times" charset="0"/>
                  <a:ea typeface="ＭＳ Ｐゴシック" charset="0"/>
                  <a:cs typeface="ＭＳ Ｐゴシック" charset="0"/>
                  <a:sym typeface="Arial"/>
                </a:rPr>
                <a:t>: Bob; </a:t>
              </a:r>
              <a:r>
                <a:rPr lang="en-US" sz="1200" dirty="0" err="1">
                  <a:solidFill>
                    <a:prstClr val="black"/>
                  </a:solidFill>
                  <a:latin typeface="Times" charset="0"/>
                  <a:ea typeface="ＭＳ Ｐゴシック" charset="0"/>
                  <a:cs typeface="ＭＳ Ｐゴシック" charset="0"/>
                  <a:sym typeface="Arial"/>
                </a:rPr>
                <a:t>dest</a:t>
              </a:r>
              <a:r>
                <a:rPr lang="en-US" sz="1200" dirty="0">
                  <a:solidFill>
                    <a:prstClr val="black"/>
                  </a:solidFill>
                  <a:latin typeface="Times" charset="0"/>
                  <a:ea typeface="ＭＳ Ｐゴシック" charset="0"/>
                  <a:cs typeface="ＭＳ Ｐゴシック" charset="0"/>
                  <a:sym typeface="Arial"/>
                </a:rPr>
                <a:t> port 80; </a:t>
              </a:r>
              <a:r>
                <a:rPr lang="en-US" sz="1200" dirty="0" err="1">
                  <a:solidFill>
                    <a:prstClr val="black"/>
                  </a:solidFill>
                  <a:latin typeface="Times" charset="0"/>
                  <a:ea typeface="ＭＳ Ｐゴシック" charset="0"/>
                  <a:cs typeface="ＭＳ Ｐゴシック" charset="0"/>
                  <a:sym typeface="Arial"/>
                </a:rPr>
                <a:t>src</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prt</a:t>
              </a:r>
              <a:r>
                <a:rPr lang="en-US" sz="1200" dirty="0">
                  <a:solidFill>
                    <a:prstClr val="black"/>
                  </a:solidFill>
                  <a:latin typeface="Times" charset="0"/>
                  <a:ea typeface="ＭＳ Ｐゴシック" charset="0"/>
                  <a:cs typeface="ＭＳ Ｐゴシック" charset="0"/>
                  <a:sym typeface="Arial"/>
                </a:rPr>
                <a:t>: X</a:t>
              </a:r>
            </a:p>
          </p:txBody>
        </p:sp>
      </p:grpSp>
      <p:grpSp>
        <p:nvGrpSpPr>
          <p:cNvPr id="15" name="Group 14"/>
          <p:cNvGrpSpPr/>
          <p:nvPr/>
        </p:nvGrpSpPr>
        <p:grpSpPr>
          <a:xfrm>
            <a:off x="6070600" y="2298701"/>
            <a:ext cx="3797300" cy="1096665"/>
            <a:chOff x="4546600" y="2298700"/>
            <a:chExt cx="3797300" cy="1096665"/>
          </a:xfrm>
        </p:grpSpPr>
        <p:grpSp>
          <p:nvGrpSpPr>
            <p:cNvPr id="34" name="Group 33"/>
            <p:cNvGrpSpPr/>
            <p:nvPr/>
          </p:nvGrpSpPr>
          <p:grpSpPr>
            <a:xfrm>
              <a:off x="4546600" y="2298700"/>
              <a:ext cx="1930400" cy="736600"/>
              <a:chOff x="4546600" y="2298700"/>
              <a:chExt cx="1930400" cy="736600"/>
            </a:xfrm>
          </p:grpSpPr>
          <p:cxnSp>
            <p:nvCxnSpPr>
              <p:cNvPr id="22" name="Straight Arrow Connector 21"/>
              <p:cNvCxnSpPr/>
              <p:nvPr/>
            </p:nvCxnSpPr>
            <p:spPr>
              <a:xfrm>
                <a:off x="4546600" y="2298700"/>
                <a:ext cx="1892300" cy="736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rot="1260000">
                <a:off x="4699000" y="2413001"/>
                <a:ext cx="1778000" cy="307777"/>
              </a:xfrm>
              <a:prstGeom prst="rect">
                <a:avLst/>
              </a:prstGeom>
              <a:noFill/>
            </p:spPr>
            <p:txBody>
              <a:bodyPr wrap="square" rtlCol="0">
                <a:spAutoFit/>
              </a:bodyPr>
              <a:lstStyle/>
              <a:p>
                <a:pPr fontAlgn="base">
                  <a:spcBef>
                    <a:spcPct val="0"/>
                  </a:spcBef>
                  <a:spcAft>
                    <a:spcPct val="0"/>
                  </a:spcAft>
                </a:pPr>
                <a:r>
                  <a:rPr lang="en-US" sz="1400" dirty="0">
                    <a:solidFill>
                      <a:prstClr val="black"/>
                    </a:solidFill>
                    <a:latin typeface="Times" charset="0"/>
                    <a:ea typeface="ＭＳ Ｐゴシック" charset="0"/>
                    <a:cs typeface="ＭＳ Ｐゴシック" charset="0"/>
                    <a:sym typeface="Arial"/>
                  </a:rPr>
                  <a:t>ACK + </a:t>
                </a:r>
                <a:r>
                  <a:rPr lang="en-US" sz="1200" dirty="0">
                    <a:solidFill>
                      <a:prstClr val="black"/>
                    </a:solidFill>
                    <a:latin typeface="Times" charset="0"/>
                    <a:ea typeface="ＭＳ Ｐゴシック" charset="0"/>
                    <a:cs typeface="ＭＳ Ｐゴシック" charset="0"/>
                    <a:sym typeface="Arial"/>
                  </a:rPr>
                  <a:t>Malicious Data</a:t>
                </a:r>
              </a:p>
            </p:txBody>
          </p:sp>
        </p:grpSp>
        <p:sp>
          <p:nvSpPr>
            <p:cNvPr id="27" name="TextBox 26"/>
            <p:cNvSpPr txBox="1"/>
            <p:nvPr/>
          </p:nvSpPr>
          <p:spPr>
            <a:xfrm>
              <a:off x="6426200" y="2933700"/>
              <a:ext cx="1917700" cy="461665"/>
            </a:xfrm>
            <a:prstGeom prst="rect">
              <a:avLst/>
            </a:prstGeom>
            <a:noFill/>
          </p:spPr>
          <p:txBody>
            <a:bodyPr wrap="square" rtlCol="0">
              <a:spAutoFit/>
            </a:bodyPr>
            <a:lstStyle/>
            <a:p>
              <a:pPr fontAlgn="base">
                <a:spcBef>
                  <a:spcPct val="0"/>
                </a:spcBef>
                <a:spcAft>
                  <a:spcPct val="0"/>
                </a:spcAft>
              </a:pPr>
              <a:r>
                <a:rPr lang="en-US" sz="1200" dirty="0" err="1">
                  <a:solidFill>
                    <a:prstClr val="black"/>
                  </a:solidFill>
                  <a:latin typeface="Times" charset="0"/>
                  <a:ea typeface="ＭＳ Ｐゴシック" charset="0"/>
                  <a:cs typeface="ＭＳ Ｐゴシック" charset="0"/>
                  <a:sym typeface="Arial"/>
                </a:rPr>
                <a:t>Dest</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Addr</a:t>
              </a:r>
              <a:r>
                <a:rPr lang="en-US" sz="1200" dirty="0">
                  <a:solidFill>
                    <a:prstClr val="black"/>
                  </a:solidFill>
                  <a:latin typeface="Times" charset="0"/>
                  <a:ea typeface="ＭＳ Ｐゴシック" charset="0"/>
                  <a:cs typeface="ＭＳ Ｐゴシック" charset="0"/>
                  <a:sym typeface="Arial"/>
                </a:rPr>
                <a:t>: Alice; </a:t>
              </a:r>
              <a:r>
                <a:rPr lang="en-US" sz="1200" dirty="0" err="1">
                  <a:solidFill>
                    <a:prstClr val="black"/>
                  </a:solidFill>
                  <a:latin typeface="Times" charset="0"/>
                  <a:ea typeface="ＭＳ Ｐゴシック" charset="0"/>
                  <a:cs typeface="ＭＳ Ｐゴシック" charset="0"/>
                  <a:sym typeface="Arial"/>
                </a:rPr>
                <a:t>Src</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Addr</a:t>
              </a:r>
              <a:r>
                <a:rPr lang="en-US" sz="1200" dirty="0">
                  <a:solidFill>
                    <a:prstClr val="black"/>
                  </a:solidFill>
                  <a:latin typeface="Times" charset="0"/>
                  <a:ea typeface="ＭＳ Ｐゴシック" charset="0"/>
                  <a:cs typeface="ＭＳ Ｐゴシック" charset="0"/>
                  <a:sym typeface="Arial"/>
                </a:rPr>
                <a:t>: Bob; </a:t>
              </a:r>
              <a:r>
                <a:rPr lang="en-US" sz="1200" dirty="0" err="1">
                  <a:solidFill>
                    <a:prstClr val="black"/>
                  </a:solidFill>
                  <a:latin typeface="Times" charset="0"/>
                  <a:ea typeface="ＭＳ Ｐゴシック" charset="0"/>
                  <a:cs typeface="ＭＳ Ｐゴシック" charset="0"/>
                  <a:sym typeface="Arial"/>
                </a:rPr>
                <a:t>dest</a:t>
              </a:r>
              <a:r>
                <a:rPr lang="en-US" sz="1200" dirty="0">
                  <a:solidFill>
                    <a:prstClr val="black"/>
                  </a:solidFill>
                  <a:latin typeface="Times" charset="0"/>
                  <a:ea typeface="ＭＳ Ｐゴシック" charset="0"/>
                  <a:cs typeface="ＭＳ Ｐゴシック" charset="0"/>
                  <a:sym typeface="Arial"/>
                </a:rPr>
                <a:t> port 80; </a:t>
              </a:r>
              <a:r>
                <a:rPr lang="en-US" sz="1200" dirty="0" err="1">
                  <a:solidFill>
                    <a:prstClr val="black"/>
                  </a:solidFill>
                  <a:latin typeface="Times" charset="0"/>
                  <a:ea typeface="ＭＳ Ｐゴシック" charset="0"/>
                  <a:cs typeface="ＭＳ Ｐゴシック" charset="0"/>
                  <a:sym typeface="Arial"/>
                </a:rPr>
                <a:t>src</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prt</a:t>
              </a:r>
              <a:r>
                <a:rPr lang="en-US" sz="1200" dirty="0">
                  <a:solidFill>
                    <a:prstClr val="black"/>
                  </a:solidFill>
                  <a:latin typeface="Times" charset="0"/>
                  <a:ea typeface="ＭＳ Ｐゴシック" charset="0"/>
                  <a:cs typeface="ＭＳ Ｐゴシック" charset="0"/>
                  <a:sym typeface="Arial"/>
                </a:rPr>
                <a:t>: X</a:t>
              </a:r>
            </a:p>
          </p:txBody>
        </p:sp>
      </p:grpSp>
      <p:grpSp>
        <p:nvGrpSpPr>
          <p:cNvPr id="17" name="Group 16"/>
          <p:cNvGrpSpPr/>
          <p:nvPr/>
        </p:nvGrpSpPr>
        <p:grpSpPr>
          <a:xfrm>
            <a:off x="2311400" y="2514601"/>
            <a:ext cx="5613400" cy="850899"/>
            <a:chOff x="787400" y="2514600"/>
            <a:chExt cx="5613400" cy="850899"/>
          </a:xfrm>
        </p:grpSpPr>
        <p:grpSp>
          <p:nvGrpSpPr>
            <p:cNvPr id="33" name="Group 32"/>
            <p:cNvGrpSpPr/>
            <p:nvPr/>
          </p:nvGrpSpPr>
          <p:grpSpPr>
            <a:xfrm>
              <a:off x="3009900" y="2514600"/>
              <a:ext cx="3390900" cy="571500"/>
              <a:chOff x="3009900" y="2514600"/>
              <a:chExt cx="3390900" cy="571500"/>
            </a:xfrm>
          </p:grpSpPr>
          <p:cxnSp>
            <p:nvCxnSpPr>
              <p:cNvPr id="18" name="Straight Arrow Connector 17"/>
              <p:cNvCxnSpPr/>
              <p:nvPr/>
            </p:nvCxnSpPr>
            <p:spPr>
              <a:xfrm flipH="1">
                <a:off x="3009900" y="2514600"/>
                <a:ext cx="3390900" cy="5715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rot="21000000">
                <a:off x="3162300" y="2616200"/>
                <a:ext cx="952500" cy="307777"/>
              </a:xfrm>
              <a:prstGeom prst="rect">
                <a:avLst/>
              </a:prstGeom>
              <a:noFill/>
            </p:spPr>
            <p:txBody>
              <a:bodyPr wrap="square" rtlCol="0">
                <a:spAutoFit/>
              </a:bodyPr>
              <a:lstStyle/>
              <a:p>
                <a:pPr algn="r" fontAlgn="base">
                  <a:spcBef>
                    <a:spcPct val="0"/>
                  </a:spcBef>
                  <a:spcAft>
                    <a:spcPct val="0"/>
                  </a:spcAft>
                </a:pPr>
                <a:r>
                  <a:rPr lang="en-US" sz="1400" dirty="0">
                    <a:solidFill>
                      <a:prstClr val="black"/>
                    </a:solidFill>
                    <a:latin typeface="Times" charset="0"/>
                    <a:ea typeface="ＭＳ Ｐゴシック" charset="0"/>
                    <a:cs typeface="ＭＳ Ｐゴシック" charset="0"/>
                    <a:sym typeface="Arial"/>
                  </a:rPr>
                  <a:t>SYN ACK</a:t>
                </a:r>
              </a:p>
            </p:txBody>
          </p:sp>
        </p:grpSp>
        <p:sp>
          <p:nvSpPr>
            <p:cNvPr id="24" name="TextBox 23"/>
            <p:cNvSpPr txBox="1"/>
            <p:nvPr/>
          </p:nvSpPr>
          <p:spPr>
            <a:xfrm>
              <a:off x="787400" y="2895600"/>
              <a:ext cx="2222500" cy="469899"/>
            </a:xfrm>
            <a:prstGeom prst="rect">
              <a:avLst/>
            </a:prstGeom>
            <a:noFill/>
          </p:spPr>
          <p:txBody>
            <a:bodyPr wrap="square" rtlCol="0">
              <a:spAutoFit/>
            </a:bodyPr>
            <a:lstStyle/>
            <a:p>
              <a:pPr algn="r" fontAlgn="base">
                <a:spcBef>
                  <a:spcPct val="0"/>
                </a:spcBef>
                <a:spcAft>
                  <a:spcPct val="0"/>
                </a:spcAft>
              </a:pPr>
              <a:r>
                <a:rPr lang="en-US" sz="1200" dirty="0" err="1">
                  <a:solidFill>
                    <a:prstClr val="black"/>
                  </a:solidFill>
                  <a:latin typeface="Times" charset="0"/>
                  <a:ea typeface="ＭＳ Ｐゴシック" charset="0"/>
                  <a:cs typeface="ＭＳ Ｐゴシック" charset="0"/>
                  <a:sym typeface="Arial"/>
                </a:rPr>
                <a:t>Dest</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Addr</a:t>
              </a:r>
              <a:r>
                <a:rPr lang="en-US" sz="1200" dirty="0">
                  <a:solidFill>
                    <a:prstClr val="black"/>
                  </a:solidFill>
                  <a:latin typeface="Times" charset="0"/>
                  <a:ea typeface="ＭＳ Ｐゴシック" charset="0"/>
                  <a:cs typeface="ＭＳ Ｐゴシック" charset="0"/>
                  <a:sym typeface="Arial"/>
                </a:rPr>
                <a:t>: Bob; </a:t>
              </a:r>
              <a:r>
                <a:rPr lang="en-US" sz="1200" dirty="0" err="1">
                  <a:solidFill>
                    <a:prstClr val="black"/>
                  </a:solidFill>
                  <a:latin typeface="Times" charset="0"/>
                  <a:ea typeface="ＭＳ Ｐゴシック" charset="0"/>
                  <a:cs typeface="ＭＳ Ｐゴシック" charset="0"/>
                  <a:sym typeface="Arial"/>
                </a:rPr>
                <a:t>Src</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Addr</a:t>
              </a:r>
              <a:r>
                <a:rPr lang="en-US" sz="1200" dirty="0">
                  <a:solidFill>
                    <a:prstClr val="black"/>
                  </a:solidFill>
                  <a:latin typeface="Times" charset="0"/>
                  <a:ea typeface="ＭＳ Ｐゴシック" charset="0"/>
                  <a:cs typeface="ＭＳ Ｐゴシック" charset="0"/>
                  <a:sym typeface="Arial"/>
                </a:rPr>
                <a:t>: Alice; </a:t>
              </a:r>
              <a:r>
                <a:rPr lang="en-US" sz="1200" dirty="0" err="1">
                  <a:solidFill>
                    <a:prstClr val="black"/>
                  </a:solidFill>
                  <a:latin typeface="Times" charset="0"/>
                  <a:ea typeface="ＭＳ Ｐゴシック" charset="0"/>
                  <a:cs typeface="ＭＳ Ｐゴシック" charset="0"/>
                  <a:sym typeface="Arial"/>
                </a:rPr>
                <a:t>dest</a:t>
              </a:r>
              <a:r>
                <a:rPr lang="en-US" sz="1200" dirty="0">
                  <a:solidFill>
                    <a:prstClr val="black"/>
                  </a:solidFill>
                  <a:latin typeface="Times" charset="0"/>
                  <a:ea typeface="ＭＳ Ｐゴシック" charset="0"/>
                  <a:cs typeface="ＭＳ Ｐゴシック" charset="0"/>
                  <a:sym typeface="Arial"/>
                </a:rPr>
                <a:t> port X; </a:t>
              </a:r>
              <a:r>
                <a:rPr lang="en-US" sz="1200" dirty="0" err="1">
                  <a:solidFill>
                    <a:prstClr val="black"/>
                  </a:solidFill>
                  <a:latin typeface="Times" charset="0"/>
                  <a:ea typeface="ＭＳ Ｐゴシック" charset="0"/>
                  <a:cs typeface="ＭＳ Ｐゴシック" charset="0"/>
                  <a:sym typeface="Arial"/>
                </a:rPr>
                <a:t>src</a:t>
              </a:r>
              <a:r>
                <a:rPr lang="en-US" sz="1200" dirty="0">
                  <a:solidFill>
                    <a:prstClr val="black"/>
                  </a:solidFill>
                  <a:latin typeface="Times" charset="0"/>
                  <a:ea typeface="ＭＳ Ｐゴシック" charset="0"/>
                  <a:cs typeface="ＭＳ Ｐゴシック" charset="0"/>
                  <a:sym typeface="Arial"/>
                </a:rPr>
                <a:t> </a:t>
              </a:r>
              <a:r>
                <a:rPr lang="en-US" sz="1200" dirty="0" err="1">
                  <a:solidFill>
                    <a:prstClr val="black"/>
                  </a:solidFill>
                  <a:latin typeface="Times" charset="0"/>
                  <a:ea typeface="ＭＳ Ｐゴシック" charset="0"/>
                  <a:cs typeface="ＭＳ Ｐゴシック" charset="0"/>
                  <a:sym typeface="Arial"/>
                </a:rPr>
                <a:t>prt</a:t>
              </a:r>
              <a:r>
                <a:rPr lang="en-US" sz="1200" dirty="0">
                  <a:solidFill>
                    <a:prstClr val="black"/>
                  </a:solidFill>
                  <a:latin typeface="Times" charset="0"/>
                  <a:ea typeface="ＭＳ Ｐゴシック" charset="0"/>
                  <a:cs typeface="ＭＳ Ｐゴシック" charset="0"/>
                  <a:sym typeface="Arial"/>
                </a:rPr>
                <a:t>: 80</a:t>
              </a:r>
            </a:p>
          </p:txBody>
        </p:sp>
      </p:grpSp>
      <p:cxnSp>
        <p:nvCxnSpPr>
          <p:cNvPr id="21" name="Straight Connector 20">
            <a:extLst>
              <a:ext uri="{FF2B5EF4-FFF2-40B4-BE49-F238E27FC236}">
                <a16:creationId xmlns:a16="http://schemas.microsoft.com/office/drawing/2014/main" id="{B004A9B7-EDE9-3275-DF81-3DF90A87D345}"/>
              </a:ext>
            </a:extLst>
          </p:cNvPr>
          <p:cNvCxnSpPr/>
          <p:nvPr/>
        </p:nvCxnSpPr>
        <p:spPr>
          <a:xfrm>
            <a:off x="2311400" y="6765235"/>
            <a:ext cx="7556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68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p:cNvSpPr>
          <p:nvPr>
            <p:ph type="title"/>
          </p:nvPr>
        </p:nvSpPr>
        <p:spPr>
          <a:xfrm>
            <a:off x="588264" y="396240"/>
            <a:ext cx="7772400" cy="838200"/>
          </a:xfrm>
        </p:spPr>
        <p:txBody>
          <a:bodyPr/>
          <a:lstStyle/>
          <a:p>
            <a:pPr algn="l"/>
            <a:r>
              <a:rPr dirty="0">
                <a:solidFill>
                  <a:srgbClr val="009973"/>
                </a:solidFill>
              </a:rPr>
              <a:t>Data Transfer Attacks</a:t>
            </a:r>
          </a:p>
        </p:txBody>
      </p:sp>
      <p:sp>
        <p:nvSpPr>
          <p:cNvPr id="184323" name="Rectangle 3"/>
          <p:cNvSpPr>
            <a:spLocks noGrp="1"/>
          </p:cNvSpPr>
          <p:nvPr>
            <p:ph type="body" idx="1"/>
          </p:nvPr>
        </p:nvSpPr>
        <p:spPr>
          <a:xfrm>
            <a:off x="1037844" y="1353312"/>
            <a:ext cx="8349996" cy="4171188"/>
          </a:xfrm>
        </p:spPr>
        <p:txBody>
          <a:bodyPr/>
          <a:lstStyle/>
          <a:p>
            <a:r>
              <a:rPr lang="en-US" sz="2000" dirty="0"/>
              <a:t>Data Transfer in the IPC Model is based on Delta-t </a:t>
            </a:r>
            <a:r>
              <a:rPr lang="en-US" sz="1600" dirty="0"/>
              <a:t>(Watson, 1980)</a:t>
            </a:r>
          </a:p>
          <a:p>
            <a:r>
              <a:rPr lang="en-US" sz="2000" dirty="0"/>
              <a:t>Lot has happened in 30 years, many attacks on TCP have been found:</a:t>
            </a:r>
          </a:p>
          <a:p>
            <a:pPr lvl="1"/>
            <a:r>
              <a:rPr lang="en-US" sz="1800" dirty="0">
                <a:cs typeface="Times New Roman" charset="0"/>
              </a:rPr>
              <a:t>Port scanning		–  Reset Attacks</a:t>
            </a:r>
          </a:p>
          <a:p>
            <a:pPr lvl="1"/>
            <a:r>
              <a:rPr lang="en-US" sz="1800" dirty="0">
                <a:cs typeface="Times New Roman" charset="0"/>
              </a:rPr>
              <a:t>SYN attacks		–  Reassembly Attacks</a:t>
            </a:r>
            <a:endParaRPr lang="en-US" sz="2000" dirty="0">
              <a:cs typeface="Times New Roman" charset="0"/>
            </a:endParaRPr>
          </a:p>
          <a:p>
            <a:r>
              <a:rPr lang="en-US" sz="2000" dirty="0"/>
              <a:t>Long after delta-t was designed, what about delta-t?</a:t>
            </a:r>
          </a:p>
          <a:p>
            <a:r>
              <a:rPr lang="en-US" sz="2000" dirty="0"/>
              <a:t>Short answer:  </a:t>
            </a:r>
          </a:p>
          <a:p>
            <a:pPr lvl="1"/>
            <a:r>
              <a:rPr lang="en-US" sz="1800" dirty="0">
                <a:cs typeface="Times New Roman" charset="0"/>
              </a:rPr>
              <a:t>None of them work  (</a:t>
            </a:r>
            <a:r>
              <a:rPr lang="en-US" sz="1800" dirty="0" err="1">
                <a:cs typeface="Times New Roman" charset="0"/>
              </a:rPr>
              <a:t>Boddapati</a:t>
            </a:r>
            <a:r>
              <a:rPr lang="en-US" sz="1800" dirty="0">
                <a:cs typeface="Times New Roman" charset="0"/>
              </a:rPr>
              <a:t>, et al., 2012)</a:t>
            </a:r>
          </a:p>
          <a:p>
            <a:pPr lvl="2"/>
            <a:r>
              <a:rPr lang="en-US" sz="1600" dirty="0">
                <a:cs typeface="Times New Roman" charset="0"/>
              </a:rPr>
              <a:t>Amazing, totally unexpected</a:t>
            </a:r>
            <a:endParaRPr lang="en-US" sz="1800" dirty="0">
              <a:cs typeface="Times New Roman" charset="0"/>
            </a:endParaRPr>
          </a:p>
          <a:p>
            <a:pPr lvl="1"/>
            <a:r>
              <a:rPr lang="en-US" sz="1800" dirty="0">
                <a:cs typeface="Times New Roman" charset="0"/>
              </a:rPr>
              <a:t>Why not?  </a:t>
            </a:r>
          </a:p>
          <a:p>
            <a:r>
              <a:rPr lang="en-US" sz="2000" dirty="0"/>
              <a:t>Multiple fundamental reasons, but all inherent in the structure:</a:t>
            </a:r>
          </a:p>
          <a:p>
            <a:pPr lvl="1"/>
            <a:r>
              <a:rPr lang="en-US" sz="1800" dirty="0">
                <a:cs typeface="Times New Roman" charset="0"/>
              </a:rPr>
              <a:t>First, have to join the layer (all members are authenticated)</a:t>
            </a:r>
          </a:p>
          <a:p>
            <a:pPr lvl="1"/>
            <a:r>
              <a:rPr lang="en-US" sz="1800" dirty="0">
                <a:cs typeface="Times New Roman" charset="0"/>
              </a:rPr>
              <a:t>Second, No Well-Known Ports</a:t>
            </a:r>
          </a:p>
          <a:p>
            <a:pPr lvl="2"/>
            <a:r>
              <a:rPr lang="en-US" sz="1600" dirty="0">
                <a:cs typeface="Times New Roman" charset="0"/>
              </a:rPr>
              <a:t>Would have to scan all possible application names!</a:t>
            </a:r>
          </a:p>
          <a:p>
            <a:pPr lvl="1"/>
            <a:r>
              <a:rPr lang="en-US" sz="1800" dirty="0">
                <a:cs typeface="Times New Roman" charset="0"/>
              </a:rPr>
              <a:t>Third and more importantly,  . . . </a:t>
            </a:r>
          </a:p>
          <a:p>
            <a:endParaRPr lang="en-US" sz="2000" dirty="0"/>
          </a:p>
        </p:txBody>
      </p:sp>
      <p:cxnSp>
        <p:nvCxnSpPr>
          <p:cNvPr id="2" name="Straight Connector 1">
            <a:extLst>
              <a:ext uri="{FF2B5EF4-FFF2-40B4-BE49-F238E27FC236}">
                <a16:creationId xmlns:a16="http://schemas.microsoft.com/office/drawing/2014/main" id="{ADB1E851-9A32-F450-EEB8-ACB4EF62DF47}"/>
              </a:ext>
            </a:extLst>
          </p:cNvPr>
          <p:cNvCxnSpPr/>
          <p:nvPr/>
        </p:nvCxnSpPr>
        <p:spPr>
          <a:xfrm>
            <a:off x="2311400" y="6765235"/>
            <a:ext cx="7556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2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2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2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323">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23">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323">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4323">
                                            <p:txEl>
                                              <p:pRg st="10" end="1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4323">
                                            <p:txEl>
                                              <p:pRg st="11" end="11"/>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4323">
                                            <p:txEl>
                                              <p:pRg st="12" end="12"/>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432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026"/>
          <p:cNvSpPr>
            <a:spLocks noGrp="1"/>
          </p:cNvSpPr>
          <p:nvPr>
            <p:ph type="title"/>
          </p:nvPr>
        </p:nvSpPr>
        <p:spPr>
          <a:xfrm>
            <a:off x="774702" y="277305"/>
            <a:ext cx="7772400" cy="1143000"/>
          </a:xfrm>
        </p:spPr>
        <p:txBody>
          <a:bodyPr/>
          <a:lstStyle/>
          <a:p>
            <a:pPr algn="l"/>
            <a:r>
              <a:rPr dirty="0">
                <a:solidFill>
                  <a:srgbClr val="009973"/>
                </a:solidFill>
              </a:rPr>
              <a:t>Decoupling Port Allocation and Synchronization</a:t>
            </a:r>
          </a:p>
        </p:txBody>
      </p:sp>
      <p:sp>
        <p:nvSpPr>
          <p:cNvPr id="56322" name="Rectangle 1027"/>
          <p:cNvSpPr>
            <a:spLocks noGrp="1"/>
          </p:cNvSpPr>
          <p:nvPr>
            <p:ph type="body" idx="1"/>
          </p:nvPr>
        </p:nvSpPr>
        <p:spPr>
          <a:xfrm>
            <a:off x="2667000" y="4057651"/>
            <a:ext cx="7543800" cy="2068513"/>
          </a:xfrm>
        </p:spPr>
        <p:txBody>
          <a:bodyPr/>
          <a:lstStyle/>
          <a:p>
            <a:r>
              <a:rPr lang="en-US" sz="2000"/>
              <a:t>No Way to Know What CEP-ids are Being Used, Since There is No Relation Between Port-id and CEP-id.</a:t>
            </a:r>
          </a:p>
          <a:p>
            <a:pPr lvl="1"/>
            <a:r>
              <a:rPr lang="en-US" sz="1800">
                <a:cs typeface="Times New Roman" charset="0"/>
              </a:rPr>
              <a:t>Syn Attack: must guess which of 2</a:t>
            </a:r>
            <a:r>
              <a:rPr lang="en-US" sz="1800" baseline="30000">
                <a:cs typeface="Times New Roman" charset="0"/>
              </a:rPr>
              <a:t>16</a:t>
            </a:r>
            <a:r>
              <a:rPr lang="en-US" sz="1800">
                <a:cs typeface="Times New Roman" charset="0"/>
              </a:rPr>
              <a:t> CEP-id.</a:t>
            </a:r>
          </a:p>
          <a:p>
            <a:pPr lvl="1"/>
            <a:r>
              <a:rPr lang="en-US" sz="1800">
                <a:cs typeface="Times New Roman" charset="0"/>
              </a:rPr>
              <a:t>Data Transfer: must guess CEP-id and seq num within window!</a:t>
            </a:r>
          </a:p>
          <a:p>
            <a:pPr lvl="1"/>
            <a:r>
              <a:rPr lang="en-US" sz="1800">
                <a:cs typeface="Times New Roman" charset="0"/>
              </a:rPr>
              <a:t>Reassembly attack:  Reassembly only done once.</a:t>
            </a:r>
          </a:p>
          <a:p>
            <a:pPr lvl="1"/>
            <a:endParaRPr lang="en-US" sz="1800">
              <a:cs typeface="Times New Roman" charset="0"/>
            </a:endParaRPr>
          </a:p>
        </p:txBody>
      </p:sp>
      <p:grpSp>
        <p:nvGrpSpPr>
          <p:cNvPr id="56323" name="Group 1028"/>
          <p:cNvGrpSpPr>
            <a:grpSpLocks/>
          </p:cNvGrpSpPr>
          <p:nvPr/>
        </p:nvGrpSpPr>
        <p:grpSpPr bwMode="auto">
          <a:xfrm>
            <a:off x="2205038" y="1600200"/>
            <a:ext cx="6759576" cy="2146300"/>
            <a:chOff x="525" y="808"/>
            <a:chExt cx="4258" cy="1352"/>
          </a:xfrm>
        </p:grpSpPr>
        <p:sp>
          <p:nvSpPr>
            <p:cNvPr id="186373" name="Line 1029"/>
            <p:cNvSpPr>
              <a:spLocks noChangeShapeType="1"/>
            </p:cNvSpPr>
            <p:nvPr/>
          </p:nvSpPr>
          <p:spPr bwMode="auto">
            <a:xfrm flipV="1">
              <a:off x="895" y="1294"/>
              <a:ext cx="3888"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74" name="Oval 1030"/>
            <p:cNvSpPr>
              <a:spLocks noChangeArrowheads="1"/>
            </p:cNvSpPr>
            <p:nvPr/>
          </p:nvSpPr>
          <p:spPr bwMode="auto">
            <a:xfrm>
              <a:off x="1391" y="808"/>
              <a:ext cx="280" cy="258"/>
            </a:xfrm>
            <a:prstGeom prst="ellipse">
              <a:avLst/>
            </a:prstGeom>
            <a:solidFill>
              <a:srgbClr val="33CC66"/>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75" name="Line 1031"/>
            <p:cNvSpPr>
              <a:spLocks noChangeShapeType="1"/>
            </p:cNvSpPr>
            <p:nvPr/>
          </p:nvSpPr>
          <p:spPr bwMode="auto">
            <a:xfrm>
              <a:off x="768" y="2152"/>
              <a:ext cx="3968" cy="8"/>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76" name="Oval 1032"/>
            <p:cNvSpPr>
              <a:spLocks noChangeArrowheads="1"/>
            </p:cNvSpPr>
            <p:nvPr/>
          </p:nvSpPr>
          <p:spPr bwMode="auto">
            <a:xfrm>
              <a:off x="1440" y="1720"/>
              <a:ext cx="280" cy="258"/>
            </a:xfrm>
            <a:prstGeom prst="ellipse">
              <a:avLst/>
            </a:prstGeom>
            <a:solidFill>
              <a:srgbClr val="6699FF"/>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77" name="Oval 1033"/>
            <p:cNvSpPr>
              <a:spLocks noChangeArrowheads="1"/>
            </p:cNvSpPr>
            <p:nvPr/>
          </p:nvSpPr>
          <p:spPr bwMode="auto">
            <a:xfrm>
              <a:off x="4303" y="808"/>
              <a:ext cx="280" cy="258"/>
            </a:xfrm>
            <a:prstGeom prst="ellipse">
              <a:avLst/>
            </a:prstGeom>
            <a:solidFill>
              <a:srgbClr val="33CC66"/>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78" name="Oval 1034"/>
            <p:cNvSpPr>
              <a:spLocks noChangeArrowheads="1"/>
            </p:cNvSpPr>
            <p:nvPr/>
          </p:nvSpPr>
          <p:spPr bwMode="auto">
            <a:xfrm>
              <a:off x="4320" y="1720"/>
              <a:ext cx="280" cy="258"/>
            </a:xfrm>
            <a:prstGeom prst="ellipse">
              <a:avLst/>
            </a:prstGeom>
            <a:solidFill>
              <a:srgbClr val="6699FF"/>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nvGrpSpPr>
            <p:cNvPr id="56330" name="Group 1035"/>
            <p:cNvGrpSpPr>
              <a:grpSpLocks/>
            </p:cNvGrpSpPr>
            <p:nvPr/>
          </p:nvGrpSpPr>
          <p:grpSpPr bwMode="auto">
            <a:xfrm>
              <a:off x="525" y="1336"/>
              <a:ext cx="3819" cy="542"/>
              <a:chOff x="613" y="1674"/>
              <a:chExt cx="3819" cy="542"/>
            </a:xfrm>
          </p:grpSpPr>
          <p:sp>
            <p:nvSpPr>
              <p:cNvPr id="186380" name="Line 1036"/>
              <p:cNvSpPr>
                <a:spLocks noChangeShapeType="1"/>
              </p:cNvSpPr>
              <p:nvPr/>
            </p:nvSpPr>
            <p:spPr bwMode="auto">
              <a:xfrm flipV="1">
                <a:off x="1776" y="2200"/>
                <a:ext cx="2656" cy="8"/>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81" name="Text Box 1037"/>
              <p:cNvSpPr txBox="1">
                <a:spLocks noChangeArrowheads="1"/>
              </p:cNvSpPr>
              <p:nvPr/>
            </p:nvSpPr>
            <p:spPr bwMode="auto">
              <a:xfrm>
                <a:off x="2650" y="1984"/>
                <a:ext cx="850"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Synchronization</a:t>
                </a:r>
              </a:p>
            </p:txBody>
          </p:sp>
          <p:sp>
            <p:nvSpPr>
              <p:cNvPr id="186382" name="Line 1038"/>
              <p:cNvSpPr>
                <a:spLocks noChangeShapeType="1"/>
              </p:cNvSpPr>
              <p:nvPr/>
            </p:nvSpPr>
            <p:spPr bwMode="auto">
              <a:xfrm>
                <a:off x="1200" y="1896"/>
                <a:ext cx="544" cy="32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83" name="Text Box 1039"/>
              <p:cNvSpPr txBox="1">
                <a:spLocks noChangeArrowheads="1"/>
              </p:cNvSpPr>
              <p:nvPr/>
            </p:nvSpPr>
            <p:spPr bwMode="auto">
              <a:xfrm>
                <a:off x="613" y="1674"/>
                <a:ext cx="638" cy="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Connection</a:t>
                </a:r>
              </a:p>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Endpoint</a:t>
                </a:r>
              </a:p>
            </p:txBody>
          </p:sp>
        </p:grpSp>
        <p:grpSp>
          <p:nvGrpSpPr>
            <p:cNvPr id="56331" name="Group 1040"/>
            <p:cNvGrpSpPr>
              <a:grpSpLocks/>
            </p:cNvGrpSpPr>
            <p:nvPr/>
          </p:nvGrpSpPr>
          <p:grpSpPr bwMode="auto">
            <a:xfrm>
              <a:off x="1488" y="952"/>
              <a:ext cx="3032" cy="670"/>
              <a:chOff x="1488" y="952"/>
              <a:chExt cx="3032" cy="670"/>
            </a:xfrm>
          </p:grpSpPr>
          <p:grpSp>
            <p:nvGrpSpPr>
              <p:cNvPr id="56335" name="Group 1041"/>
              <p:cNvGrpSpPr>
                <a:grpSpLocks/>
              </p:cNvGrpSpPr>
              <p:nvPr/>
            </p:nvGrpSpPr>
            <p:grpSpPr bwMode="auto">
              <a:xfrm>
                <a:off x="1488" y="1234"/>
                <a:ext cx="3032" cy="388"/>
                <a:chOff x="1488" y="1234"/>
                <a:chExt cx="3032" cy="388"/>
              </a:xfrm>
            </p:grpSpPr>
            <p:grpSp>
              <p:nvGrpSpPr>
                <p:cNvPr id="56339" name="Group 1042"/>
                <p:cNvGrpSpPr>
                  <a:grpSpLocks/>
                </p:cNvGrpSpPr>
                <p:nvPr/>
              </p:nvGrpSpPr>
              <p:grpSpPr bwMode="auto">
                <a:xfrm>
                  <a:off x="1712" y="1352"/>
                  <a:ext cx="2552" cy="270"/>
                  <a:chOff x="1760" y="1470"/>
                  <a:chExt cx="2552" cy="270"/>
                </a:xfrm>
              </p:grpSpPr>
              <p:sp>
                <p:nvSpPr>
                  <p:cNvPr id="186387" name="Rectangle 1043"/>
                  <p:cNvSpPr>
                    <a:spLocks noChangeArrowheads="1"/>
                  </p:cNvSpPr>
                  <p:nvPr/>
                </p:nvSpPr>
                <p:spPr bwMode="auto">
                  <a:xfrm>
                    <a:off x="1760"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88" name="Rectangle 1044"/>
                  <p:cNvSpPr>
                    <a:spLocks noChangeArrowheads="1"/>
                  </p:cNvSpPr>
                  <p:nvPr/>
                </p:nvSpPr>
                <p:spPr bwMode="auto">
                  <a:xfrm>
                    <a:off x="3928"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89" name="Line 1045"/>
                  <p:cNvSpPr>
                    <a:spLocks noChangeShapeType="1"/>
                  </p:cNvSpPr>
                  <p:nvPr/>
                </p:nvSpPr>
                <p:spPr bwMode="auto">
                  <a:xfrm>
                    <a:off x="2144" y="1640"/>
                    <a:ext cx="1776" cy="8"/>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90" name="Text Box 1046"/>
                  <p:cNvSpPr txBox="1">
                    <a:spLocks noChangeArrowheads="1"/>
                  </p:cNvSpPr>
                  <p:nvPr/>
                </p:nvSpPr>
                <p:spPr bwMode="auto">
                  <a:xfrm>
                    <a:off x="2679" y="1470"/>
                    <a:ext cx="80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Port Allocation</a:t>
                    </a:r>
                  </a:p>
                </p:txBody>
              </p:sp>
            </p:grpSp>
            <p:sp>
              <p:nvSpPr>
                <p:cNvPr id="186391" name="Oval 1047"/>
                <p:cNvSpPr>
                  <a:spLocks noChangeArrowheads="1"/>
                </p:cNvSpPr>
                <p:nvPr/>
              </p:nvSpPr>
              <p:spPr bwMode="auto">
                <a:xfrm>
                  <a:off x="1488" y="1234"/>
                  <a:ext cx="136" cy="12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92" name="Oval 1048"/>
                <p:cNvSpPr>
                  <a:spLocks noChangeArrowheads="1"/>
                </p:cNvSpPr>
                <p:nvPr/>
              </p:nvSpPr>
              <p:spPr bwMode="auto">
                <a:xfrm>
                  <a:off x="4384" y="1234"/>
                  <a:ext cx="136" cy="12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sp>
            <p:nvSpPr>
              <p:cNvPr id="186393" name="Text Box 1049"/>
              <p:cNvSpPr txBox="1">
                <a:spLocks noChangeArrowheads="1"/>
              </p:cNvSpPr>
              <p:nvPr/>
            </p:nvSpPr>
            <p:spPr bwMode="auto">
              <a:xfrm>
                <a:off x="2622" y="952"/>
                <a:ext cx="427"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Port-id</a:t>
                </a:r>
              </a:p>
            </p:txBody>
          </p:sp>
          <p:sp>
            <p:nvSpPr>
              <p:cNvPr id="186394" name="Line 1050"/>
              <p:cNvSpPr>
                <a:spLocks noChangeShapeType="1"/>
              </p:cNvSpPr>
              <p:nvPr/>
            </p:nvSpPr>
            <p:spPr bwMode="auto">
              <a:xfrm flipH="1">
                <a:off x="1632" y="1074"/>
                <a:ext cx="992" cy="17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86395" name="Line 1051"/>
              <p:cNvSpPr>
                <a:spLocks noChangeShapeType="1"/>
              </p:cNvSpPr>
              <p:nvPr/>
            </p:nvSpPr>
            <p:spPr bwMode="auto">
              <a:xfrm>
                <a:off x="3064" y="1050"/>
                <a:ext cx="1272" cy="21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sp>
          <p:nvSpPr>
            <p:cNvPr id="56332" name="Line 1052"/>
            <p:cNvSpPr>
              <a:spLocks noChangeShapeType="1"/>
            </p:cNvSpPr>
            <p:nvPr/>
          </p:nvSpPr>
          <p:spPr bwMode="auto">
            <a:xfrm>
              <a:off x="1544" y="1063"/>
              <a:ext cx="0" cy="646"/>
            </a:xfrm>
            <a:prstGeom prst="line">
              <a:avLst/>
            </a:prstGeom>
            <a:noFill/>
            <a:ln w="28575">
              <a:solidFill>
                <a:schemeClr val="tx1"/>
              </a:solidFill>
              <a:prstDash val="dash"/>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pPr fontAlgn="base">
                <a:spcBef>
                  <a:spcPct val="0"/>
                </a:spcBef>
                <a:spcAft>
                  <a:spcPct val="0"/>
                </a:spcAft>
              </a:pPr>
              <a:endParaRPr lang="en-US" sz="1400">
                <a:solidFill>
                  <a:prstClr val="black"/>
                </a:solidFill>
                <a:latin typeface="Times" charset="0"/>
                <a:ea typeface="ＭＳ Ｐゴシック" charset="0"/>
                <a:cs typeface="ＭＳ Ｐゴシック" charset="0"/>
                <a:sym typeface="Arial"/>
              </a:endParaRPr>
            </a:p>
          </p:txBody>
        </p:sp>
        <p:sp>
          <p:nvSpPr>
            <p:cNvPr id="56333" name="Line 1053"/>
            <p:cNvSpPr>
              <a:spLocks noChangeShapeType="1"/>
            </p:cNvSpPr>
            <p:nvPr/>
          </p:nvSpPr>
          <p:spPr bwMode="auto">
            <a:xfrm>
              <a:off x="4444" y="1062"/>
              <a:ext cx="0" cy="646"/>
            </a:xfrm>
            <a:prstGeom prst="line">
              <a:avLst/>
            </a:prstGeom>
            <a:noFill/>
            <a:ln w="28575">
              <a:solidFill>
                <a:schemeClr val="tx1"/>
              </a:solidFill>
              <a:prstDash val="dash"/>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pPr fontAlgn="base">
                <a:spcBef>
                  <a:spcPct val="0"/>
                </a:spcBef>
                <a:spcAft>
                  <a:spcPct val="0"/>
                </a:spcAft>
              </a:pPr>
              <a:endParaRPr lang="en-US" sz="1400">
                <a:solidFill>
                  <a:prstClr val="black"/>
                </a:solidFill>
                <a:latin typeface="Times" charset="0"/>
                <a:ea typeface="ＭＳ Ｐゴシック" charset="0"/>
                <a:cs typeface="ＭＳ Ｐゴシック" charset="0"/>
                <a:sym typeface="Arial"/>
              </a:endParaRPr>
            </a:p>
          </p:txBody>
        </p:sp>
        <p:sp>
          <p:nvSpPr>
            <p:cNvPr id="56334" name="Text Box 1054"/>
            <p:cNvSpPr txBox="1">
              <a:spLocks noChangeArrowheads="1"/>
            </p:cNvSpPr>
            <p:nvPr/>
          </p:nvSpPr>
          <p:spPr bwMode="auto">
            <a:xfrm>
              <a:off x="2275" y="1864"/>
              <a:ext cx="1210" cy="19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lvl1pPr eaLnBrk="0" hangingPunct="0">
                <a:defRPr sz="1400">
                  <a:solidFill>
                    <a:schemeClr val="tx1"/>
                  </a:solidFill>
                  <a:latin typeface="Times" charset="0"/>
                  <a:ea typeface="ＭＳ Ｐゴシック" charset="0"/>
                  <a:cs typeface="ＭＳ Ｐゴシック" charset="0"/>
                </a:defRPr>
              </a:lvl1pPr>
              <a:lvl2pPr marL="742950" indent="-285750" eaLnBrk="0" hangingPunct="0">
                <a:defRPr sz="1400">
                  <a:solidFill>
                    <a:schemeClr val="tx1"/>
                  </a:solidFill>
                  <a:latin typeface="Times" charset="0"/>
                  <a:ea typeface="ＭＳ Ｐゴシック" charset="0"/>
                </a:defRPr>
              </a:lvl2pPr>
              <a:lvl3pPr marL="1143000" indent="-228600" eaLnBrk="0" hangingPunct="0">
                <a:defRPr sz="1400">
                  <a:solidFill>
                    <a:schemeClr val="tx1"/>
                  </a:solidFill>
                  <a:latin typeface="Times" charset="0"/>
                  <a:ea typeface="ＭＳ Ｐゴシック" charset="0"/>
                </a:defRPr>
              </a:lvl3pPr>
              <a:lvl4pPr marL="1600200" indent="-228600" eaLnBrk="0" hangingPunct="0">
                <a:defRPr sz="1400">
                  <a:solidFill>
                    <a:schemeClr val="tx1"/>
                  </a:solidFill>
                  <a:latin typeface="Times" charset="0"/>
                  <a:ea typeface="ＭＳ Ｐゴシック" charset="0"/>
                </a:defRPr>
              </a:lvl4pPr>
              <a:lvl5pPr marL="2057400" indent="-228600" eaLnBrk="0" hangingPunct="0">
                <a:defRPr sz="1400">
                  <a:solidFill>
                    <a:schemeClr val="tx1"/>
                  </a:solidFill>
                  <a:latin typeface="Times" charset="0"/>
                  <a:ea typeface="ＭＳ Ｐゴシック" charset="0"/>
                </a:defRPr>
              </a:lvl5pPr>
              <a:lvl6pPr marL="2514600" indent="-228600" eaLnBrk="0" fontAlgn="base" hangingPunct="0">
                <a:spcBef>
                  <a:spcPct val="0"/>
                </a:spcBef>
                <a:spcAft>
                  <a:spcPct val="0"/>
                </a:spcAft>
                <a:defRPr sz="1400">
                  <a:solidFill>
                    <a:schemeClr val="tx1"/>
                  </a:solidFill>
                  <a:latin typeface="Times" charset="0"/>
                  <a:ea typeface="ＭＳ Ｐゴシック" charset="0"/>
                </a:defRPr>
              </a:lvl6pPr>
              <a:lvl7pPr marL="2971800" indent="-228600" eaLnBrk="0" fontAlgn="base" hangingPunct="0">
                <a:spcBef>
                  <a:spcPct val="0"/>
                </a:spcBef>
                <a:spcAft>
                  <a:spcPct val="0"/>
                </a:spcAft>
                <a:defRPr sz="1400">
                  <a:solidFill>
                    <a:schemeClr val="tx1"/>
                  </a:solidFill>
                  <a:latin typeface="Times" charset="0"/>
                  <a:ea typeface="ＭＳ Ｐゴシック" charset="0"/>
                </a:defRPr>
              </a:lvl7pPr>
              <a:lvl8pPr marL="3429000" indent="-228600" eaLnBrk="0" fontAlgn="base" hangingPunct="0">
                <a:spcBef>
                  <a:spcPct val="0"/>
                </a:spcBef>
                <a:spcAft>
                  <a:spcPct val="0"/>
                </a:spcAft>
                <a:defRPr sz="1400">
                  <a:solidFill>
                    <a:schemeClr val="tx1"/>
                  </a:solidFill>
                  <a:latin typeface="Times" charset="0"/>
                  <a:ea typeface="ＭＳ Ｐゴシック" charset="0"/>
                </a:defRPr>
              </a:lvl8pPr>
              <a:lvl9pPr marL="3886200" indent="-228600" eaLnBrk="0" fontAlgn="base" hangingPunct="0">
                <a:spcBef>
                  <a:spcPct val="0"/>
                </a:spcBef>
                <a:spcAft>
                  <a:spcPct val="0"/>
                </a:spcAft>
                <a:defRPr sz="1400">
                  <a:solidFill>
                    <a:schemeClr val="tx1"/>
                  </a:solidFill>
                  <a:latin typeface="Times" charset="0"/>
                  <a:ea typeface="ＭＳ Ｐゴシック" charset="0"/>
                </a:defRPr>
              </a:lvl9pPr>
            </a:lstStyle>
            <a:p>
              <a:pPr algn="ctr" fontAlgn="base">
                <a:spcBef>
                  <a:spcPct val="50000"/>
                </a:spcBef>
                <a:spcAft>
                  <a:spcPct val="0"/>
                </a:spcAft>
              </a:pPr>
              <a:r>
                <a:rPr lang="en-US">
                  <a:solidFill>
                    <a:prstClr val="black"/>
                  </a:solidFill>
                  <a:sym typeface="Arial"/>
                </a:rPr>
                <a:t>Connection</a:t>
              </a:r>
            </a:p>
          </p:txBody>
        </p:sp>
      </p:grpSp>
      <p:cxnSp>
        <p:nvCxnSpPr>
          <p:cNvPr id="2" name="Straight Connector 1">
            <a:extLst>
              <a:ext uri="{FF2B5EF4-FFF2-40B4-BE49-F238E27FC236}">
                <a16:creationId xmlns:a16="http://schemas.microsoft.com/office/drawing/2014/main" id="{EB2EBBFE-EBFF-E77A-5695-C78D80C80B07}"/>
              </a:ext>
            </a:extLst>
          </p:cNvPr>
          <p:cNvCxnSpPr/>
          <p:nvPr/>
        </p:nvCxnSpPr>
        <p:spPr>
          <a:xfrm>
            <a:off x="2311400" y="6765235"/>
            <a:ext cx="7556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066E-E8B5-41A0-7E95-F842D990130E}"/>
              </a:ext>
            </a:extLst>
          </p:cNvPr>
          <p:cNvSpPr>
            <a:spLocks noGrp="1"/>
          </p:cNvSpPr>
          <p:nvPr>
            <p:ph type="title"/>
          </p:nvPr>
        </p:nvSpPr>
        <p:spPr/>
        <p:txBody>
          <a:bodyPr/>
          <a:lstStyle/>
          <a:p>
            <a:pPr algn="l"/>
            <a:r>
              <a:rPr lang="en-US" sz="3200" dirty="0">
                <a:solidFill>
                  <a:schemeClr val="tx1"/>
                </a:solidFill>
              </a:rPr>
              <a:t>Summarizing TCP</a:t>
            </a:r>
          </a:p>
        </p:txBody>
      </p:sp>
      <p:sp>
        <p:nvSpPr>
          <p:cNvPr id="3" name="Content Placeholder 2">
            <a:extLst>
              <a:ext uri="{FF2B5EF4-FFF2-40B4-BE49-F238E27FC236}">
                <a16:creationId xmlns:a16="http://schemas.microsoft.com/office/drawing/2014/main" id="{148444C5-4F66-1E64-D0FB-2262FBF04030}"/>
              </a:ext>
            </a:extLst>
          </p:cNvPr>
          <p:cNvSpPr>
            <a:spLocks noGrp="1"/>
          </p:cNvSpPr>
          <p:nvPr>
            <p:ph idx="1"/>
          </p:nvPr>
        </p:nvSpPr>
        <p:spPr>
          <a:xfrm>
            <a:off x="965200" y="1371600"/>
            <a:ext cx="10058400" cy="4297363"/>
          </a:xfrm>
        </p:spPr>
        <p:txBody>
          <a:bodyPr/>
          <a:lstStyle/>
          <a:p>
            <a:r>
              <a:rPr lang="en-US" sz="2000" dirty="0"/>
              <a:t>If TCP has all of these problems, then why has it become so dominant?</a:t>
            </a:r>
          </a:p>
          <a:p>
            <a:pPr lvl="1"/>
            <a:r>
              <a:rPr lang="en-US" sz="1800" dirty="0"/>
              <a:t>With the exception of the security attacks, </a:t>
            </a:r>
          </a:p>
          <a:p>
            <a:pPr lvl="1"/>
            <a:r>
              <a:rPr lang="en-US" sz="1800" dirty="0"/>
              <a:t>All of these problems were known before TCP was adopted.</a:t>
            </a:r>
          </a:p>
          <a:p>
            <a:pPr lvl="1"/>
            <a:r>
              <a:rPr lang="en-US" sz="1800" dirty="0"/>
              <a:t>Frankly, the reason is that the author controlled the purse strings and orders of magnitude more money than everyone else combined.</a:t>
            </a:r>
          </a:p>
          <a:p>
            <a:r>
              <a:rPr lang="en-US" sz="2200" dirty="0"/>
              <a:t>There is a reason that media layer protocols are better than transport layer at meeting requirements.</a:t>
            </a:r>
          </a:p>
          <a:p>
            <a:pPr lvl="1"/>
            <a:r>
              <a:rPr lang="en-US" sz="1800" dirty="0"/>
              <a:t>Media layer protocols are tailored to a single set of requirements, the characteristics of the media.</a:t>
            </a:r>
          </a:p>
          <a:p>
            <a:pPr lvl="1"/>
            <a:r>
              <a:rPr lang="en-US" sz="1800" dirty="0"/>
              <a:t>Transport layer protocols must support applications which have much wider requirements.</a:t>
            </a:r>
          </a:p>
          <a:p>
            <a:pPr lvl="2"/>
            <a:r>
              <a:rPr lang="en-US" sz="1600" dirty="0"/>
              <a:t>Given that there are roughly 8 mechanisms in these protocols, expecting one set of policies to be appropriate for all applications is equivalent of saying there is one point in an 8-dimensional space that solves everything. An absurd expectation.</a:t>
            </a:r>
          </a:p>
          <a:p>
            <a:r>
              <a:rPr lang="en-US" sz="2000" dirty="0"/>
              <a:t>A Canonical EFCP configuration would follow closer to TP4 than TCP, with 16-bit ports, 16 or 32-bit sequence numbers. Main policies determined by QoS parameters and QoS-cube definitions. Congestion management would follow Jain with 1 or more ECN-bits and early notification.</a:t>
            </a:r>
          </a:p>
        </p:txBody>
      </p:sp>
      <p:cxnSp>
        <p:nvCxnSpPr>
          <p:cNvPr id="4" name="Straight Connector 3">
            <a:extLst>
              <a:ext uri="{FF2B5EF4-FFF2-40B4-BE49-F238E27FC236}">
                <a16:creationId xmlns:a16="http://schemas.microsoft.com/office/drawing/2014/main" id="{A553FF3B-B095-B47D-B93C-866B7A63F9F5}"/>
              </a:ext>
            </a:extLst>
          </p:cNvPr>
          <p:cNvCxnSpPr/>
          <p:nvPr/>
        </p:nvCxnSpPr>
        <p:spPr>
          <a:xfrm>
            <a:off x="2311400" y="6765235"/>
            <a:ext cx="7556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3352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B21F02-ADA3-03AF-0374-43910115F646}"/>
              </a:ext>
            </a:extLst>
          </p:cNvPr>
          <p:cNvSpPr>
            <a:spLocks noGrp="1"/>
          </p:cNvSpPr>
          <p:nvPr>
            <p:ph type="title"/>
          </p:nvPr>
        </p:nvSpPr>
        <p:spPr>
          <a:xfrm>
            <a:off x="609600" y="274638"/>
            <a:ext cx="10972800" cy="1143000"/>
          </a:xfrm>
        </p:spPr>
        <p:txBody>
          <a:bodyPr/>
          <a:lstStyle/>
          <a:p>
            <a:pPr algn="l"/>
            <a:r>
              <a:rPr lang="en-US" dirty="0"/>
              <a:t>SCTP– Stream Control Transport Protocol</a:t>
            </a:r>
          </a:p>
        </p:txBody>
      </p:sp>
      <p:sp>
        <p:nvSpPr>
          <p:cNvPr id="5" name="Content Placeholder 2">
            <a:extLst>
              <a:ext uri="{FF2B5EF4-FFF2-40B4-BE49-F238E27FC236}">
                <a16:creationId xmlns:a16="http://schemas.microsoft.com/office/drawing/2014/main" id="{5E8A51D5-10FD-AAB5-537A-01B642C2B398}"/>
              </a:ext>
            </a:extLst>
          </p:cNvPr>
          <p:cNvSpPr>
            <a:spLocks noGrp="1"/>
          </p:cNvSpPr>
          <p:nvPr>
            <p:ph idx="1"/>
          </p:nvPr>
        </p:nvSpPr>
        <p:spPr>
          <a:xfrm>
            <a:off x="609600" y="1600201"/>
            <a:ext cx="10972800" cy="4525963"/>
          </a:xfrm>
        </p:spPr>
        <p:txBody>
          <a:bodyPr/>
          <a:lstStyle/>
          <a:p>
            <a:r>
              <a:rPr lang="en-US" dirty="0"/>
              <a:t>SCTP was originally developed to support telephony signaling and combining multi-media streams</a:t>
            </a:r>
          </a:p>
          <a:p>
            <a:r>
              <a:rPr lang="en-US" dirty="0"/>
              <a:t>Its major features are:</a:t>
            </a:r>
          </a:p>
          <a:p>
            <a:pPr lvl="1"/>
            <a:r>
              <a:rPr lang="en-US" dirty="0"/>
              <a:t>Decreased Connection Establishment Latency</a:t>
            </a:r>
          </a:p>
          <a:p>
            <a:pPr lvl="1"/>
            <a:r>
              <a:rPr lang="en-US" dirty="0"/>
              <a:t>Separate Streams to Avoid Head of Line Blocking</a:t>
            </a:r>
          </a:p>
          <a:p>
            <a:pPr lvl="1"/>
            <a:r>
              <a:rPr lang="en-US" dirty="0"/>
              <a:t>Fault Tolerance – Multihoming/Load Leveling</a:t>
            </a:r>
          </a:p>
          <a:p>
            <a:pPr lvl="1"/>
            <a:r>
              <a:rPr lang="en-US" dirty="0"/>
              <a:t>Better Security, resist DoS SYN attacks</a:t>
            </a:r>
          </a:p>
          <a:p>
            <a:pPr lvl="1"/>
            <a:r>
              <a:rPr lang="en-US" dirty="0"/>
              <a:t>Congestion Management</a:t>
            </a:r>
          </a:p>
        </p:txBody>
      </p:sp>
    </p:spTree>
    <p:extLst>
      <p:ext uri="{BB962C8B-B14F-4D97-AF65-F5344CB8AC3E}">
        <p14:creationId xmlns:p14="http://schemas.microsoft.com/office/powerpoint/2010/main" val="854357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026CA1-B3BA-BDD3-95B6-5F44A49B7DC4}"/>
              </a:ext>
            </a:extLst>
          </p:cNvPr>
          <p:cNvSpPr>
            <a:spLocks noGrp="1"/>
          </p:cNvSpPr>
          <p:nvPr>
            <p:ph type="title"/>
          </p:nvPr>
        </p:nvSpPr>
        <p:spPr>
          <a:xfrm>
            <a:off x="609600" y="274638"/>
            <a:ext cx="10972800" cy="1143000"/>
          </a:xfrm>
        </p:spPr>
        <p:txBody>
          <a:bodyPr/>
          <a:lstStyle/>
          <a:p>
            <a:pPr algn="l"/>
            <a:r>
              <a:rPr lang="en-US" dirty="0"/>
              <a:t>Decreased Connection Establishment Latency</a:t>
            </a:r>
          </a:p>
        </p:txBody>
      </p:sp>
      <p:sp>
        <p:nvSpPr>
          <p:cNvPr id="5" name="Content Placeholder 2">
            <a:extLst>
              <a:ext uri="{FF2B5EF4-FFF2-40B4-BE49-F238E27FC236}">
                <a16:creationId xmlns:a16="http://schemas.microsoft.com/office/drawing/2014/main" id="{AD87D759-BB5B-56FC-6579-802B18B96123}"/>
              </a:ext>
            </a:extLst>
          </p:cNvPr>
          <p:cNvSpPr>
            <a:spLocks noGrp="1"/>
          </p:cNvSpPr>
          <p:nvPr>
            <p:ph idx="1"/>
          </p:nvPr>
        </p:nvSpPr>
        <p:spPr>
          <a:xfrm>
            <a:off x="609600" y="1624585"/>
            <a:ext cx="10972800" cy="4525963"/>
          </a:xfrm>
        </p:spPr>
        <p:txBody>
          <a:bodyPr/>
          <a:lstStyle/>
          <a:p>
            <a:r>
              <a:rPr lang="en-US" dirty="0"/>
              <a:t>The additional delay in starting data transfer because the 3-way handshake does not allow data to be transferred until the 3</a:t>
            </a:r>
            <a:r>
              <a:rPr lang="en-US" baseline="30000" dirty="0"/>
              <a:t>rd</a:t>
            </a:r>
            <a:r>
              <a:rPr lang="en-US" dirty="0"/>
              <a:t> leg of the handshake. SCTP attempts to avoid this.</a:t>
            </a:r>
          </a:p>
          <a:p>
            <a:pPr lvl="1"/>
            <a:r>
              <a:rPr lang="en-US" dirty="0"/>
              <a:t>However, the designers of SCTP were unaware that the 3-way handshake is irrelevant to synchronization. </a:t>
            </a:r>
          </a:p>
          <a:p>
            <a:pPr lvl="2"/>
            <a:r>
              <a:rPr lang="en-US" dirty="0"/>
              <a:t>They would have to be careful since they can’t separate port allocation and synchronization because of the well-known ports.</a:t>
            </a:r>
          </a:p>
          <a:p>
            <a:pPr lvl="1"/>
            <a:r>
              <a:rPr lang="en-US" dirty="0"/>
              <a:t>They ignore the latency involved in querying DNS.</a:t>
            </a:r>
          </a:p>
          <a:p>
            <a:pPr lvl="1"/>
            <a:r>
              <a:rPr lang="en-US" dirty="0"/>
              <a:t>They do it by combining the initial exchange in a 4-way handshake  that includes establishing encryption and authentication.</a:t>
            </a:r>
          </a:p>
          <a:p>
            <a:pPr lvl="2"/>
            <a:r>
              <a:rPr lang="en-US" dirty="0"/>
              <a:t>This should be in the Application Layer, given the rule that every layer should protect itself.</a:t>
            </a:r>
          </a:p>
        </p:txBody>
      </p:sp>
    </p:spTree>
    <p:extLst>
      <p:ext uri="{BB962C8B-B14F-4D97-AF65-F5344CB8AC3E}">
        <p14:creationId xmlns:p14="http://schemas.microsoft.com/office/powerpoint/2010/main" val="387374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8B1216-25F6-F978-DC49-2C5FA6D33CC4}"/>
              </a:ext>
            </a:extLst>
          </p:cNvPr>
          <p:cNvSpPr>
            <a:spLocks noGrp="1"/>
          </p:cNvSpPr>
          <p:nvPr>
            <p:ph type="title"/>
          </p:nvPr>
        </p:nvSpPr>
        <p:spPr>
          <a:xfrm>
            <a:off x="609600" y="160336"/>
            <a:ext cx="10972800" cy="1143000"/>
          </a:xfrm>
        </p:spPr>
        <p:txBody>
          <a:bodyPr/>
          <a:lstStyle/>
          <a:p>
            <a:pPr algn="l"/>
            <a:r>
              <a:rPr lang="en-US" dirty="0"/>
              <a:t>Streams and Head of Line Blocking</a:t>
            </a:r>
          </a:p>
        </p:txBody>
      </p:sp>
      <p:sp>
        <p:nvSpPr>
          <p:cNvPr id="5" name="Content Placeholder 2">
            <a:extLst>
              <a:ext uri="{FF2B5EF4-FFF2-40B4-BE49-F238E27FC236}">
                <a16:creationId xmlns:a16="http://schemas.microsoft.com/office/drawing/2014/main" id="{0F7C7AB9-6588-7A01-C09F-0315407C25FD}"/>
              </a:ext>
            </a:extLst>
          </p:cNvPr>
          <p:cNvSpPr>
            <a:spLocks noGrp="1"/>
          </p:cNvSpPr>
          <p:nvPr>
            <p:ph idx="1"/>
          </p:nvPr>
        </p:nvSpPr>
        <p:spPr>
          <a:xfrm>
            <a:off x="609600" y="1013618"/>
            <a:ext cx="11042650" cy="5844382"/>
          </a:xfrm>
        </p:spPr>
        <p:txBody>
          <a:bodyPr>
            <a:normAutofit fontScale="92500" lnSpcReduction="10000"/>
          </a:bodyPr>
          <a:lstStyle/>
          <a:p>
            <a:r>
              <a:rPr lang="en-US" dirty="0"/>
              <a:t>As we have seen, the early Web opened separate connections for each object on the page. This led to the elephant and mice problem and the fast exhaustion of TCBs.</a:t>
            </a:r>
          </a:p>
          <a:p>
            <a:r>
              <a:rPr lang="en-US" dirty="0"/>
              <a:t>Recognizing that most objects were at the same server, HTTP1.1 and HTTP2 allowed more than one request on the same TCP connection.</a:t>
            </a:r>
          </a:p>
          <a:p>
            <a:pPr lvl="1"/>
            <a:r>
              <a:rPr lang="en-US" dirty="0"/>
              <a:t>From Tanenbaum, HTTP1.1 allows more than one serially, while HTTP2 allows asynchronous responses.</a:t>
            </a:r>
          </a:p>
          <a:p>
            <a:r>
              <a:rPr lang="en-US" dirty="0"/>
              <a:t>However, this led to Head of Line Blocking as an issue:</a:t>
            </a:r>
          </a:p>
          <a:p>
            <a:pPr lvl="1"/>
            <a:r>
              <a:rPr lang="en-US" dirty="0"/>
              <a:t>A lost PDU blocked all subsequent responses until a retransmission could fill in the gap</a:t>
            </a:r>
          </a:p>
          <a:p>
            <a:pPr lvl="1"/>
            <a:r>
              <a:rPr lang="en-US" dirty="0"/>
              <a:t>A long response would delay short responses.</a:t>
            </a:r>
          </a:p>
          <a:p>
            <a:r>
              <a:rPr lang="en-US" dirty="0"/>
              <a:t>Streams attempt to solve this problem.</a:t>
            </a:r>
          </a:p>
          <a:p>
            <a:pPr lvl="1"/>
            <a:r>
              <a:rPr lang="en-US" dirty="0"/>
              <a:t>An SCTP stream is a unidirectional data flow within an SCTP association.</a:t>
            </a:r>
          </a:p>
          <a:p>
            <a:pPr lvl="1"/>
            <a:r>
              <a:rPr lang="en-US" dirty="0"/>
              <a:t>“There are two levels of sequence numbers: for the transport connection, [Transmission Sequence Numbers, TSNs],  and for each stream, [Stream Sequence Numbers, SSNs].  Independent application objects can be transmitted in different streams to maintain their logical separation during transfer and delivery.”</a:t>
            </a:r>
          </a:p>
          <a:p>
            <a:pPr lvl="2"/>
            <a:r>
              <a:rPr lang="en-US" dirty="0"/>
              <a:t>There are similarities to ‘connections’ in the ARPANET NCP.</a:t>
            </a:r>
          </a:p>
          <a:p>
            <a:pPr lvl="1"/>
            <a:r>
              <a:rPr lang="en-US" dirty="0"/>
              <a:t>It appears SSNs are used entirely for ordering. TSNs provide ”integrated loss detection and recovery across streams; loss in one stream can be detected via acks for data on other streams.”</a:t>
            </a:r>
          </a:p>
          <a:p>
            <a:pPr lvl="2"/>
            <a:r>
              <a:rPr lang="en-US" dirty="0"/>
              <a:t>This would imply that the TSNs can tell what stream a PDU belongs to and the use of Selective Ack to avoid blocking.</a:t>
            </a:r>
          </a:p>
          <a:p>
            <a:pPr lvl="1"/>
            <a:r>
              <a:rPr lang="en-US" dirty="0"/>
              <a:t>SDUs from one stream may be concatenated into PDU user data. (combining data from different streams would cause blocking.)</a:t>
            </a:r>
          </a:p>
          <a:p>
            <a:pPr lvl="1"/>
            <a:r>
              <a:rPr lang="en-US" dirty="0"/>
              <a:t>Flow control is at both levels, retransmission control only on the streams. </a:t>
            </a:r>
          </a:p>
        </p:txBody>
      </p:sp>
      <p:sp>
        <p:nvSpPr>
          <p:cNvPr id="6" name="TextBox 5">
            <a:extLst>
              <a:ext uri="{FF2B5EF4-FFF2-40B4-BE49-F238E27FC236}">
                <a16:creationId xmlns:a16="http://schemas.microsoft.com/office/drawing/2014/main" id="{D0BCD1DE-9EB3-8FB4-6CD6-29708172DDB7}"/>
              </a:ext>
            </a:extLst>
          </p:cNvPr>
          <p:cNvSpPr txBox="1"/>
          <p:nvPr/>
        </p:nvSpPr>
        <p:spPr>
          <a:xfrm>
            <a:off x="9802368" y="668121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29999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85EE-2770-9C04-1B25-10A9AA517C1C}"/>
              </a:ext>
            </a:extLst>
          </p:cNvPr>
          <p:cNvSpPr>
            <a:spLocks noGrp="1"/>
          </p:cNvSpPr>
          <p:nvPr>
            <p:ph type="title"/>
          </p:nvPr>
        </p:nvSpPr>
        <p:spPr/>
        <p:txBody>
          <a:bodyPr/>
          <a:lstStyle/>
          <a:p>
            <a:r>
              <a:rPr lang="en-US" dirty="0"/>
              <a:t>Congestion Management	</a:t>
            </a:r>
          </a:p>
        </p:txBody>
      </p:sp>
      <p:sp>
        <p:nvSpPr>
          <p:cNvPr id="3" name="Content Placeholder 2">
            <a:extLst>
              <a:ext uri="{FF2B5EF4-FFF2-40B4-BE49-F238E27FC236}">
                <a16:creationId xmlns:a16="http://schemas.microsoft.com/office/drawing/2014/main" id="{6085A02C-279A-DAF2-2AD5-838732A6A1B5}"/>
              </a:ext>
            </a:extLst>
          </p:cNvPr>
          <p:cNvSpPr>
            <a:spLocks noGrp="1"/>
          </p:cNvSpPr>
          <p:nvPr>
            <p:ph idx="1"/>
          </p:nvPr>
        </p:nvSpPr>
        <p:spPr/>
        <p:txBody>
          <a:bodyPr/>
          <a:lstStyle/>
          <a:p>
            <a:r>
              <a:rPr lang="en-US" dirty="0"/>
              <a:t>Congestion Management is done by a shim layer between the Network and Transport Layers.</a:t>
            </a:r>
          </a:p>
          <a:p>
            <a:r>
              <a:rPr lang="en-US" dirty="0"/>
              <a:t>An SCTP association is subject to congestion control much like a TCP connection, thus all streams are subject to the same effects.</a:t>
            </a:r>
          </a:p>
          <a:p>
            <a:r>
              <a:rPr lang="en-US" dirty="0"/>
              <a:t>The standard is stuck in the Internet rut and is using implicit detection and AIMD.</a:t>
            </a:r>
          </a:p>
          <a:p>
            <a:pPr lvl="1"/>
            <a:r>
              <a:rPr lang="en-US" dirty="0"/>
              <a:t>AIMD is not a problem, but</a:t>
            </a:r>
          </a:p>
          <a:p>
            <a:r>
              <a:rPr lang="en-US" dirty="0"/>
              <a:t>Implicit Detection is, of course. Far too late, will generate considerable retransmissions, and more HOL blocking.  Furthermore, it is predatory. Both counter to the SCTP goals.</a:t>
            </a:r>
          </a:p>
          <a:p>
            <a:pPr marL="0" indent="0">
              <a:buNone/>
            </a:pPr>
            <a:endParaRPr lang="en-US" dirty="0"/>
          </a:p>
        </p:txBody>
      </p:sp>
    </p:spTree>
    <p:extLst>
      <p:ext uri="{BB962C8B-B14F-4D97-AF65-F5344CB8AC3E}">
        <p14:creationId xmlns:p14="http://schemas.microsoft.com/office/powerpoint/2010/main" val="4259711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7005F-6A43-FCD5-FCF9-5FCE7B32975F}"/>
              </a:ext>
            </a:extLst>
          </p:cNvPr>
          <p:cNvSpPr>
            <a:spLocks noGrp="1"/>
          </p:cNvSpPr>
          <p:nvPr>
            <p:ph type="title"/>
          </p:nvPr>
        </p:nvSpPr>
        <p:spPr>
          <a:xfrm>
            <a:off x="406400" y="161925"/>
            <a:ext cx="10515600" cy="1325563"/>
          </a:xfrm>
        </p:spPr>
        <p:txBody>
          <a:bodyPr/>
          <a:lstStyle/>
          <a:p>
            <a:r>
              <a:rPr lang="en-US" dirty="0"/>
              <a:t>Fault Tolerance – Multihoming</a:t>
            </a:r>
          </a:p>
        </p:txBody>
      </p:sp>
      <p:sp>
        <p:nvSpPr>
          <p:cNvPr id="3" name="Content Placeholder 2">
            <a:extLst>
              <a:ext uri="{FF2B5EF4-FFF2-40B4-BE49-F238E27FC236}">
                <a16:creationId xmlns:a16="http://schemas.microsoft.com/office/drawing/2014/main" id="{66B21B75-01F9-A6A3-6593-8B416C25EC2A}"/>
              </a:ext>
            </a:extLst>
          </p:cNvPr>
          <p:cNvSpPr>
            <a:spLocks noGrp="1"/>
          </p:cNvSpPr>
          <p:nvPr>
            <p:ph idx="1"/>
          </p:nvPr>
        </p:nvSpPr>
        <p:spPr>
          <a:xfrm>
            <a:off x="596900" y="1393824"/>
            <a:ext cx="10515600" cy="4803775"/>
          </a:xfrm>
        </p:spPr>
        <p:txBody>
          <a:bodyPr>
            <a:normAutofit fontScale="92500" lnSpcReduction="10000"/>
          </a:bodyPr>
          <a:lstStyle/>
          <a:p>
            <a:r>
              <a:rPr lang="en-US" dirty="0"/>
              <a:t>Multihoming has been a recognized problem for the ‘Net since 1972.</a:t>
            </a:r>
          </a:p>
          <a:p>
            <a:pPr lvl="1"/>
            <a:r>
              <a:rPr lang="en-US" dirty="0"/>
              <a:t>The solution has been known since 1972:  the network address must name the node not the interface.</a:t>
            </a:r>
          </a:p>
          <a:p>
            <a:pPr lvl="2"/>
            <a:r>
              <a:rPr lang="en-US" dirty="0"/>
              <a:t>And it does in routers</a:t>
            </a:r>
          </a:p>
          <a:p>
            <a:pPr lvl="1"/>
            <a:r>
              <a:rPr lang="en-US" dirty="0"/>
              <a:t>Despite attempts to fix it, the Internet has never done it because they have been mis-informed against it.</a:t>
            </a:r>
          </a:p>
          <a:p>
            <a:pPr lvl="2"/>
            <a:r>
              <a:rPr lang="en-US" dirty="0"/>
              <a:t>Well, mainly because OSI </a:t>
            </a:r>
            <a:r>
              <a:rPr lang="en-US" i="1" dirty="0"/>
              <a:t>did</a:t>
            </a:r>
            <a:r>
              <a:rPr lang="en-US" dirty="0"/>
              <a:t> fix it.</a:t>
            </a:r>
          </a:p>
          <a:p>
            <a:pPr lvl="1"/>
            <a:r>
              <a:rPr lang="en-US" dirty="0"/>
              <a:t>Over the years, it has become abundantly clear that the only solution to multihoming (and the simplest) is to route on the node address.</a:t>
            </a:r>
          </a:p>
          <a:p>
            <a:pPr lvl="2"/>
            <a:r>
              <a:rPr lang="en-US" dirty="0"/>
              <a:t>A MAC address and an IP address name the same thing, the (N-1)-protocol machine.</a:t>
            </a:r>
          </a:p>
          <a:p>
            <a:pPr lvl="2"/>
            <a:r>
              <a:rPr lang="en-US" dirty="0"/>
              <a:t>(As we know, doing this correctly is less overhead and simpler than any of these kludges that don’t work.)</a:t>
            </a:r>
          </a:p>
          <a:p>
            <a:r>
              <a:rPr lang="en-US" dirty="0"/>
              <a:t>SCTP says it supports multihoming by being able to </a:t>
            </a:r>
            <a:r>
              <a:rPr lang="en-US" i="1" dirty="0"/>
              <a:t>send</a:t>
            </a:r>
            <a:r>
              <a:rPr lang="en-US" dirty="0"/>
              <a:t> data on more than one interface.</a:t>
            </a:r>
          </a:p>
          <a:p>
            <a:pPr lvl="1"/>
            <a:r>
              <a:rPr lang="en-US" dirty="0"/>
              <a:t>However, the problem is being able to </a:t>
            </a:r>
            <a:r>
              <a:rPr lang="en-US" i="1" dirty="0"/>
              <a:t>receive</a:t>
            </a:r>
            <a:r>
              <a:rPr lang="en-US" dirty="0"/>
              <a:t> data on more than one interface!</a:t>
            </a:r>
          </a:p>
          <a:p>
            <a:pPr lvl="1"/>
            <a:r>
              <a:rPr lang="en-US" dirty="0"/>
              <a:t>SCTP attempts to detect the failure of the destination interface and then send on another one.</a:t>
            </a:r>
          </a:p>
          <a:p>
            <a:pPr lvl="2"/>
            <a:r>
              <a:rPr lang="en-US" dirty="0"/>
              <a:t>Remember avoiding retransmissions and thus delaying the delivery of web objects is a prime design goal.</a:t>
            </a:r>
          </a:p>
          <a:p>
            <a:pPr lvl="2"/>
            <a:r>
              <a:rPr lang="en-US" dirty="0"/>
              <a:t>It can take considerable time (several retransmissions) to detect an interface failure. Meanwhile retransmissions are being generated. Much faster and simpler to do it right.</a:t>
            </a:r>
          </a:p>
          <a:p>
            <a:pPr lvl="2"/>
            <a:r>
              <a:rPr lang="en-US" dirty="0"/>
              <a:t>SCTP attempts to ameliorate the problem with a heartbeat packet, i.e., polling when there is no data.</a:t>
            </a:r>
          </a:p>
          <a:p>
            <a:pPr lvl="3"/>
            <a:r>
              <a:rPr lang="en-US" dirty="0"/>
              <a:t>Wasted capacity, must be fairly frequent to be responsive and it will still take multiple heartbeats to detect a failure.</a:t>
            </a:r>
          </a:p>
          <a:p>
            <a:r>
              <a:rPr lang="en-US" dirty="0"/>
              <a:t>The best that can be said is that SCTP supports Load-Leveling not multihoming.</a:t>
            </a:r>
          </a:p>
          <a:p>
            <a:pPr lvl="1"/>
            <a:endParaRPr lang="en-US" dirty="0"/>
          </a:p>
        </p:txBody>
      </p:sp>
    </p:spTree>
    <p:extLst>
      <p:ext uri="{BB962C8B-B14F-4D97-AF65-F5344CB8AC3E}">
        <p14:creationId xmlns:p14="http://schemas.microsoft.com/office/powerpoint/2010/main" val="4174788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061FC-DEE0-06A1-402C-E5CB47C2C18C}"/>
              </a:ext>
            </a:extLst>
          </p:cNvPr>
          <p:cNvSpPr>
            <a:spLocks noGrp="1"/>
          </p:cNvSpPr>
          <p:nvPr>
            <p:ph type="title"/>
          </p:nvPr>
        </p:nvSpPr>
        <p:spPr>
          <a:xfrm>
            <a:off x="838200" y="0"/>
            <a:ext cx="10515600" cy="1325563"/>
          </a:xfrm>
        </p:spPr>
        <p:txBody>
          <a:bodyPr/>
          <a:lstStyle/>
          <a:p>
            <a:r>
              <a:rPr lang="en-US" dirty="0"/>
              <a:t>Deflecting SYN Attacks</a:t>
            </a:r>
          </a:p>
        </p:txBody>
      </p:sp>
      <p:sp>
        <p:nvSpPr>
          <p:cNvPr id="3" name="Content Placeholder 2">
            <a:extLst>
              <a:ext uri="{FF2B5EF4-FFF2-40B4-BE49-F238E27FC236}">
                <a16:creationId xmlns:a16="http://schemas.microsoft.com/office/drawing/2014/main" id="{84AA2CE7-C27E-C612-0F78-75ADF68BBAC7}"/>
              </a:ext>
            </a:extLst>
          </p:cNvPr>
          <p:cNvSpPr>
            <a:spLocks noGrp="1"/>
          </p:cNvSpPr>
          <p:nvPr>
            <p:ph idx="1"/>
          </p:nvPr>
        </p:nvSpPr>
        <p:spPr>
          <a:xfrm>
            <a:off x="927769" y="938588"/>
            <a:ext cx="10515600" cy="5558465"/>
          </a:xfrm>
        </p:spPr>
        <p:txBody>
          <a:bodyPr>
            <a:normAutofit fontScale="92500" lnSpcReduction="10000"/>
          </a:bodyPr>
          <a:lstStyle/>
          <a:p>
            <a:r>
              <a:rPr lang="en-US" dirty="0"/>
              <a:t>In TCP, a common DoS attack is to overwhelm the server with SYNs (connection requests) and tie up considerable memory with allocated TCBs. </a:t>
            </a:r>
          </a:p>
          <a:p>
            <a:pPr lvl="1"/>
            <a:r>
              <a:rPr lang="en-US" dirty="0"/>
              <a:t>(The server must hold them for 120 seconds before they can be discarded.)</a:t>
            </a:r>
          </a:p>
          <a:p>
            <a:r>
              <a:rPr lang="en-US" dirty="0"/>
              <a:t>SCTP attempts to deflect these attacks with a 4-way handshake which does not increase establishment latency as follows:</a:t>
            </a:r>
          </a:p>
          <a:p>
            <a:pPr lvl="1"/>
            <a:r>
              <a:rPr lang="en-US" dirty="0"/>
              <a:t>A sends an INIT to B. (A is potentially malicious)</a:t>
            </a:r>
          </a:p>
          <a:p>
            <a:pPr lvl="1"/>
            <a:r>
              <a:rPr lang="en-US" dirty="0"/>
              <a:t>When B receives the INIT, it does not allocate resources but returns an INIT-ACK with a cookie containing 1) necessary details to identify and process the association; 2) life span of the cookie; and 3) a signature to verify the integrity of the cookie and its authenticity.</a:t>
            </a:r>
          </a:p>
          <a:p>
            <a:pPr lvl="1"/>
            <a:r>
              <a:rPr lang="en-US" dirty="0"/>
              <a:t>When A receives the SYN-ACK it responds with a COOKIE-ECHO, which may carry application data.</a:t>
            </a:r>
          </a:p>
          <a:p>
            <a:pPr lvl="1"/>
            <a:r>
              <a:rPr lang="en-US" dirty="0"/>
              <a:t>When B receives the COOKIE-ECHO, it checks the validity of the cookie. If successful, B allocates resources, responds with a COOKIE-ACK and the association is established.</a:t>
            </a:r>
          </a:p>
          <a:p>
            <a:r>
              <a:rPr lang="en-US" dirty="0"/>
              <a:t>Note that B does not keep any data about the initial request, it can get everything it needs from the cookie to finally establish the association once it has determined A is serious. The only overhead is generating the cookie, which is small. </a:t>
            </a:r>
            <a:r>
              <a:rPr lang="en-US" sz="1700" dirty="0"/>
              <a:t>(the cookie can’t be forged?)</a:t>
            </a:r>
          </a:p>
          <a:p>
            <a:pPr lvl="1"/>
            <a:r>
              <a:rPr lang="en-US" dirty="0"/>
              <a:t>Notice this does not stop the DoS attack, it merely avoids the overhead. </a:t>
            </a:r>
          </a:p>
          <a:p>
            <a:pPr lvl="1"/>
            <a:r>
              <a:rPr lang="en-US" dirty="0"/>
              <a:t>In an environment where the layer is a secure container, i.e., all members are authenticated, There are two possibilities: a malicious Application could generate many Allocates, but an uncompromised IPC Process, which would allocate ports with a cookie and do nothing. Once detected, the layer could isolate the Application. If the IPC Process is compromised, the IPC Process would be evicted from the layer and any questionable connection attempts discarded. (Note all of this occurs with Layer Management, meanwhile data transfer is unaffected.</a:t>
            </a:r>
          </a:p>
          <a:p>
            <a:pPr lvl="1"/>
            <a:endParaRPr lang="en-US" dirty="0"/>
          </a:p>
        </p:txBody>
      </p:sp>
    </p:spTree>
    <p:extLst>
      <p:ext uri="{BB962C8B-B14F-4D97-AF65-F5344CB8AC3E}">
        <p14:creationId xmlns:p14="http://schemas.microsoft.com/office/powerpoint/2010/main" val="1078165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6C0D1-60BA-4C93-F7A9-18C5F1AFA9E7}"/>
              </a:ext>
            </a:extLst>
          </p:cNvPr>
          <p:cNvSpPr>
            <a:spLocks noGrp="1"/>
          </p:cNvSpPr>
          <p:nvPr>
            <p:ph type="title"/>
          </p:nvPr>
        </p:nvSpPr>
        <p:spPr/>
        <p:txBody>
          <a:bodyPr/>
          <a:lstStyle/>
          <a:p>
            <a:r>
              <a:rPr lang="en-US" dirty="0"/>
              <a:t>QUIC</a:t>
            </a:r>
          </a:p>
        </p:txBody>
      </p:sp>
      <p:sp>
        <p:nvSpPr>
          <p:cNvPr id="3" name="Content Placeholder 2">
            <a:extLst>
              <a:ext uri="{FF2B5EF4-FFF2-40B4-BE49-F238E27FC236}">
                <a16:creationId xmlns:a16="http://schemas.microsoft.com/office/drawing/2014/main" id="{0BFE524A-06D0-5334-5F0F-C330D1D57E45}"/>
              </a:ext>
            </a:extLst>
          </p:cNvPr>
          <p:cNvSpPr>
            <a:spLocks noGrp="1"/>
          </p:cNvSpPr>
          <p:nvPr>
            <p:ph idx="1"/>
          </p:nvPr>
        </p:nvSpPr>
        <p:spPr>
          <a:xfrm>
            <a:off x="838200" y="1447672"/>
            <a:ext cx="10515600" cy="4819015"/>
          </a:xfrm>
        </p:spPr>
        <p:txBody>
          <a:bodyPr/>
          <a:lstStyle/>
          <a:p>
            <a:r>
              <a:rPr lang="en-US" dirty="0"/>
              <a:t>QUIC provides similar services to SCTP, but goes further:</a:t>
            </a:r>
          </a:p>
          <a:p>
            <a:pPr lvl="1"/>
            <a:r>
              <a:rPr lang="en-US" dirty="0"/>
              <a:t>Improves latency of connection establishment</a:t>
            </a:r>
          </a:p>
          <a:p>
            <a:pPr lvl="1"/>
            <a:r>
              <a:rPr lang="en-US" dirty="0"/>
              <a:t>Authenticates the application and encrypts most of the data stream</a:t>
            </a:r>
          </a:p>
          <a:p>
            <a:pPr lvl="1"/>
            <a:r>
              <a:rPr lang="en-US" dirty="0"/>
              <a:t>Attacks the Head of Line blocking problem.</a:t>
            </a:r>
          </a:p>
          <a:p>
            <a:pPr lvl="1"/>
            <a:r>
              <a:rPr lang="en-US" dirty="0"/>
              <a:t>Congestion control is a plug-in</a:t>
            </a:r>
          </a:p>
          <a:p>
            <a:pPr lvl="1"/>
            <a:r>
              <a:rPr lang="en-US" dirty="0"/>
              <a:t>Multiplexing</a:t>
            </a:r>
          </a:p>
          <a:p>
            <a:pPr lvl="1"/>
            <a:r>
              <a:rPr lang="en-US" dirty="0"/>
              <a:t>Able to change the IP address without losing the connection</a:t>
            </a:r>
          </a:p>
          <a:p>
            <a:r>
              <a:rPr lang="en-US" dirty="0"/>
              <a:t>QUIC operates over UDP and incorporates TLS1.3 with the Application</a:t>
            </a:r>
          </a:p>
          <a:p>
            <a:pPr lvl="1"/>
            <a:r>
              <a:rPr lang="en-US" dirty="0"/>
              <a:t>The purpose of this is to get around the pseudo-header. </a:t>
            </a:r>
          </a:p>
          <a:p>
            <a:pPr lvl="1"/>
            <a:r>
              <a:rPr lang="en-US" dirty="0"/>
              <a:t>(Although only TCP and UDP use it. Other proposed Transport Protocols don’t.)</a:t>
            </a:r>
          </a:p>
          <a:p>
            <a:r>
              <a:rPr lang="en-US" dirty="0"/>
              <a:t>Oddly enough, the fundamental problem that QUIC is trying to solve is the inability (without much greater complexity) to create a connection to a specific instance of an application process, which is not supported by the Internet.</a:t>
            </a:r>
          </a:p>
          <a:p>
            <a:pPr lvl="1"/>
            <a:endParaRPr lang="en-US" dirty="0"/>
          </a:p>
        </p:txBody>
      </p:sp>
    </p:spTree>
    <p:extLst>
      <p:ext uri="{BB962C8B-B14F-4D97-AF65-F5344CB8AC3E}">
        <p14:creationId xmlns:p14="http://schemas.microsoft.com/office/powerpoint/2010/main" val="2456532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5AC2E-F8CB-870A-7CEA-36176A1714E1}"/>
              </a:ext>
            </a:extLst>
          </p:cNvPr>
          <p:cNvSpPr>
            <a:spLocks noGrp="1"/>
          </p:cNvSpPr>
          <p:nvPr>
            <p:ph type="title"/>
          </p:nvPr>
        </p:nvSpPr>
        <p:spPr/>
        <p:txBody>
          <a:bodyPr/>
          <a:lstStyle/>
          <a:p>
            <a:r>
              <a:rPr lang="en-US" dirty="0"/>
              <a:t>Deployment and Change Issues</a:t>
            </a:r>
          </a:p>
        </p:txBody>
      </p:sp>
      <p:sp>
        <p:nvSpPr>
          <p:cNvPr id="3" name="Content Placeholder 2">
            <a:extLst>
              <a:ext uri="{FF2B5EF4-FFF2-40B4-BE49-F238E27FC236}">
                <a16:creationId xmlns:a16="http://schemas.microsoft.com/office/drawing/2014/main" id="{26E69BC8-F4F9-1325-053C-74CFF9479B3D}"/>
              </a:ext>
            </a:extLst>
          </p:cNvPr>
          <p:cNvSpPr>
            <a:spLocks noGrp="1"/>
          </p:cNvSpPr>
          <p:nvPr>
            <p:ph idx="1"/>
          </p:nvPr>
        </p:nvSpPr>
        <p:spPr/>
        <p:txBody>
          <a:bodyPr/>
          <a:lstStyle/>
          <a:p>
            <a:r>
              <a:rPr lang="en-US" dirty="0"/>
              <a:t>A Lot of the Rationale for QUIC using UDP is being able to deploy and change it.</a:t>
            </a:r>
          </a:p>
          <a:p>
            <a:pPr lvl="1"/>
            <a:r>
              <a:rPr lang="en-US" dirty="0"/>
              <a:t>Having the implementation in user space is also an advantage during the development phase.*</a:t>
            </a:r>
          </a:p>
          <a:p>
            <a:pPr lvl="1"/>
            <a:r>
              <a:rPr lang="en-US" dirty="0"/>
              <a:t>Once it is solid, move to the kernel which Apple has already done.</a:t>
            </a:r>
          </a:p>
          <a:p>
            <a:r>
              <a:rPr lang="en-US" dirty="0"/>
              <a:t>They see Middleboxes as a primary barrier to deployment, e.g., firewalls, NATs, etc.</a:t>
            </a:r>
          </a:p>
          <a:p>
            <a:pPr lvl="1"/>
            <a:r>
              <a:rPr lang="en-US" dirty="0"/>
              <a:t>I would agree. Middleboxes are a patch/kludge to get around a flaw in the Internet.</a:t>
            </a:r>
          </a:p>
          <a:p>
            <a:r>
              <a:rPr lang="en-US" dirty="0"/>
              <a:t>Implementation issues. These protocols tend to execute in the kernel.  Kernel (OS) updates are made less often. They recognize that servers are upgraded more quickly.</a:t>
            </a:r>
          </a:p>
          <a:p>
            <a:r>
              <a:rPr lang="en-US" dirty="0"/>
              <a:t>Even new versions in user space understandably require some check out as well.</a:t>
            </a:r>
          </a:p>
          <a:p>
            <a:r>
              <a:rPr lang="en-US" dirty="0"/>
              <a:t>All contribute to how fast new protocols can be deployed.                                                                                                                                                                                                                                                                                                                                       </a:t>
            </a:r>
          </a:p>
        </p:txBody>
      </p:sp>
    </p:spTree>
    <p:extLst>
      <p:ext uri="{BB962C8B-B14F-4D97-AF65-F5344CB8AC3E}">
        <p14:creationId xmlns:p14="http://schemas.microsoft.com/office/powerpoint/2010/main" val="3213999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735D5-5A69-E98E-1BC4-26EB7BADB38D}"/>
              </a:ext>
            </a:extLst>
          </p:cNvPr>
          <p:cNvSpPr>
            <a:spLocks noGrp="1"/>
          </p:cNvSpPr>
          <p:nvPr>
            <p:ph type="title"/>
          </p:nvPr>
        </p:nvSpPr>
        <p:spPr/>
        <p:txBody>
          <a:bodyPr/>
          <a:lstStyle/>
          <a:p>
            <a:r>
              <a:rPr lang="en-US" dirty="0"/>
              <a:t>Handshake Delay</a:t>
            </a:r>
          </a:p>
        </p:txBody>
      </p:sp>
      <p:sp>
        <p:nvSpPr>
          <p:cNvPr id="3" name="Content Placeholder 2">
            <a:extLst>
              <a:ext uri="{FF2B5EF4-FFF2-40B4-BE49-F238E27FC236}">
                <a16:creationId xmlns:a16="http://schemas.microsoft.com/office/drawing/2014/main" id="{1A8B5868-32F1-EB30-D90B-A03587E5BF70}"/>
              </a:ext>
            </a:extLst>
          </p:cNvPr>
          <p:cNvSpPr>
            <a:spLocks noGrp="1"/>
          </p:cNvSpPr>
          <p:nvPr>
            <p:ph idx="1"/>
          </p:nvPr>
        </p:nvSpPr>
        <p:spPr/>
        <p:txBody>
          <a:bodyPr/>
          <a:lstStyle/>
          <a:p>
            <a:r>
              <a:rPr lang="en-US" dirty="0"/>
              <a:t>QUIC uses the same 4-way handshake SCTP does with a few twists.</a:t>
            </a:r>
          </a:p>
          <a:p>
            <a:pPr lvl="1"/>
            <a:r>
              <a:rPr lang="en-US" dirty="0"/>
              <a:t>I had thought that perhaps they had discovered Watson’s theorem, but from the description it appears not.</a:t>
            </a:r>
          </a:p>
          <a:p>
            <a:pPr lvl="1"/>
            <a:r>
              <a:rPr lang="en-US" dirty="0"/>
              <a:t>QUIC has the same problem as SCTP. Well-known ports prevent taking advantage of the implications of Watson’s results.</a:t>
            </a:r>
          </a:p>
          <a:p>
            <a:r>
              <a:rPr lang="en-US" dirty="0"/>
              <a:t>If members of a layer are authenticated and there is access control, how much of this is necessary?</a:t>
            </a:r>
          </a:p>
          <a:p>
            <a:r>
              <a:rPr lang="en-US" dirty="0"/>
              <a:t>They are able to send Data with the first PDU.</a:t>
            </a:r>
          </a:p>
          <a:p>
            <a:pPr lvl="1"/>
            <a:r>
              <a:rPr lang="en-US" dirty="0"/>
              <a:t>More on this later.</a:t>
            </a:r>
          </a:p>
          <a:p>
            <a:endParaRPr lang="en-US" dirty="0"/>
          </a:p>
          <a:p>
            <a:endParaRPr lang="en-US" dirty="0"/>
          </a:p>
        </p:txBody>
      </p:sp>
    </p:spTree>
    <p:extLst>
      <p:ext uri="{BB962C8B-B14F-4D97-AF65-F5344CB8AC3E}">
        <p14:creationId xmlns:p14="http://schemas.microsoft.com/office/powerpoint/2010/main" val="170466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90C0F-B1D8-98FA-6B9E-408232CB697E}"/>
              </a:ext>
            </a:extLst>
          </p:cNvPr>
          <p:cNvSpPr>
            <a:spLocks noGrp="1"/>
          </p:cNvSpPr>
          <p:nvPr>
            <p:ph type="title"/>
          </p:nvPr>
        </p:nvSpPr>
        <p:spPr/>
        <p:txBody>
          <a:bodyPr/>
          <a:lstStyle/>
          <a:p>
            <a:r>
              <a:rPr lang="en-US" dirty="0"/>
              <a:t>Security</a:t>
            </a:r>
          </a:p>
        </p:txBody>
      </p:sp>
      <p:sp>
        <p:nvSpPr>
          <p:cNvPr id="3" name="Content Placeholder 2">
            <a:extLst>
              <a:ext uri="{FF2B5EF4-FFF2-40B4-BE49-F238E27FC236}">
                <a16:creationId xmlns:a16="http://schemas.microsoft.com/office/drawing/2014/main" id="{8C2DE112-6BF6-FA86-F9D6-2C673F0EA686}"/>
              </a:ext>
            </a:extLst>
          </p:cNvPr>
          <p:cNvSpPr>
            <a:spLocks noGrp="1"/>
          </p:cNvSpPr>
          <p:nvPr>
            <p:ph idx="1"/>
          </p:nvPr>
        </p:nvSpPr>
        <p:spPr/>
        <p:txBody>
          <a:bodyPr/>
          <a:lstStyle/>
          <a:p>
            <a:r>
              <a:rPr lang="en-US" dirty="0"/>
              <a:t>The connection establishment combines the initial connection and TLS1.3.</a:t>
            </a:r>
          </a:p>
          <a:p>
            <a:r>
              <a:rPr lang="en-US" dirty="0"/>
              <a:t>“</a:t>
            </a:r>
            <a:r>
              <a:rPr lang="en-US" dirty="0">
                <a:effectLst/>
              </a:rPr>
              <a:t>QUIC’s cryptography . . . provides two levels of secrecy: initial client data is encrypted using initial keys, and subsequent client data and all server data are encrypted using forward-secure keys. The initial keys provide protection analogous to TLS session resumption with session tickets. The forward-secure keys are ephemeral and provide even greater protection.”</a:t>
            </a:r>
          </a:p>
          <a:p>
            <a:r>
              <a:rPr lang="en-US" dirty="0"/>
              <a:t>This is still significant overhead.</a:t>
            </a:r>
          </a:p>
          <a:p>
            <a:r>
              <a:rPr lang="en-US" dirty="0"/>
              <a:t>Architecturally, this is not good. Every layer should protect itself, not trust another layer to do it.</a:t>
            </a:r>
          </a:p>
          <a:p>
            <a:endParaRPr lang="en-US" dirty="0"/>
          </a:p>
        </p:txBody>
      </p:sp>
    </p:spTree>
    <p:extLst>
      <p:ext uri="{BB962C8B-B14F-4D97-AF65-F5344CB8AC3E}">
        <p14:creationId xmlns:p14="http://schemas.microsoft.com/office/powerpoint/2010/main" val="288166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8751F-14A4-2235-CEC7-CA9CC2B3604D}"/>
              </a:ext>
            </a:extLst>
          </p:cNvPr>
          <p:cNvSpPr>
            <a:spLocks noGrp="1"/>
          </p:cNvSpPr>
          <p:nvPr>
            <p:ph type="title"/>
          </p:nvPr>
        </p:nvSpPr>
        <p:spPr/>
        <p:txBody>
          <a:bodyPr/>
          <a:lstStyle/>
          <a:p>
            <a:r>
              <a:rPr lang="en-US" dirty="0"/>
              <a:t>Avoiding Head of Line Blocking: I</a:t>
            </a:r>
          </a:p>
        </p:txBody>
      </p:sp>
      <p:sp>
        <p:nvSpPr>
          <p:cNvPr id="3" name="Content Placeholder 2">
            <a:extLst>
              <a:ext uri="{FF2B5EF4-FFF2-40B4-BE49-F238E27FC236}">
                <a16:creationId xmlns:a16="http://schemas.microsoft.com/office/drawing/2014/main" id="{03B753F6-9A79-7FCD-A64B-6569DA85D549}"/>
              </a:ext>
            </a:extLst>
          </p:cNvPr>
          <p:cNvSpPr>
            <a:spLocks noGrp="1"/>
          </p:cNvSpPr>
          <p:nvPr>
            <p:ph idx="1"/>
          </p:nvPr>
        </p:nvSpPr>
        <p:spPr/>
        <p:txBody>
          <a:bodyPr/>
          <a:lstStyle/>
          <a:p>
            <a:r>
              <a:rPr lang="en-US" dirty="0"/>
              <a:t>They note that HTTP1.1 suggests limiting the number of transport connections, while HTTP2 recommends a single transport connection.</a:t>
            </a:r>
          </a:p>
          <a:p>
            <a:pPr lvl="1"/>
            <a:r>
              <a:rPr lang="en-US" dirty="0"/>
              <a:t>Not sure I believe this. It may be implied, but is it required?</a:t>
            </a:r>
          </a:p>
          <a:p>
            <a:r>
              <a:rPr lang="en-US" dirty="0"/>
              <a:t>Connections for web objects transferred so little data and there were so many of them that TCBs were consumed so fast that the </a:t>
            </a:r>
          </a:p>
          <a:p>
            <a:pPr lvl="1"/>
            <a:r>
              <a:rPr lang="en-US" dirty="0"/>
              <a:t>port-id space was exhausted before port-ids could be reused and </a:t>
            </a:r>
          </a:p>
          <a:p>
            <a:pPr lvl="1"/>
            <a:r>
              <a:rPr lang="en-US" dirty="0"/>
              <a:t>so little data was sent on each connection that they were unaffected by TCP congestion control and consumed more than their fair share of capacity, often referred to as the ‘elephant and mice problem.’</a:t>
            </a:r>
          </a:p>
          <a:p>
            <a:pPr lvl="2"/>
            <a:r>
              <a:rPr lang="en-US" dirty="0"/>
              <a:t>The authors of QUIC seemed to have lost track of this and the authors of HTTP seem to be too specific in what they write. An example of doing the arithmetic and ignoring the algebra.</a:t>
            </a:r>
          </a:p>
          <a:p>
            <a:r>
              <a:rPr lang="en-US" dirty="0"/>
              <a:t>Multiplexing streams on to separate connections for short requests and longer requests, even if there are separate connections for each long request ameliorates both issues.</a:t>
            </a:r>
          </a:p>
          <a:p>
            <a:r>
              <a:rPr lang="en-US" dirty="0"/>
              <a:t>More on this below.</a:t>
            </a:r>
          </a:p>
        </p:txBody>
      </p:sp>
    </p:spTree>
    <p:extLst>
      <p:ext uri="{BB962C8B-B14F-4D97-AF65-F5344CB8AC3E}">
        <p14:creationId xmlns:p14="http://schemas.microsoft.com/office/powerpoint/2010/main" val="3050843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6DCEB-3555-7177-4EF6-44092A08F1F0}"/>
              </a:ext>
            </a:extLst>
          </p:cNvPr>
          <p:cNvSpPr>
            <a:spLocks noGrp="1"/>
          </p:cNvSpPr>
          <p:nvPr>
            <p:ph type="title"/>
          </p:nvPr>
        </p:nvSpPr>
        <p:spPr>
          <a:xfrm>
            <a:off x="838200" y="145669"/>
            <a:ext cx="10515600" cy="1325563"/>
          </a:xfrm>
        </p:spPr>
        <p:txBody>
          <a:bodyPr/>
          <a:lstStyle/>
          <a:p>
            <a:r>
              <a:rPr lang="en-US" dirty="0"/>
              <a:t>Avoiding Head of Line Blocking: II</a:t>
            </a:r>
          </a:p>
        </p:txBody>
      </p:sp>
      <p:sp>
        <p:nvSpPr>
          <p:cNvPr id="3" name="Content Placeholder 2">
            <a:extLst>
              <a:ext uri="{FF2B5EF4-FFF2-40B4-BE49-F238E27FC236}">
                <a16:creationId xmlns:a16="http://schemas.microsoft.com/office/drawing/2014/main" id="{54830273-2307-A773-74C5-BA59E3FBA50A}"/>
              </a:ext>
            </a:extLst>
          </p:cNvPr>
          <p:cNvSpPr>
            <a:spLocks noGrp="1"/>
          </p:cNvSpPr>
          <p:nvPr>
            <p:ph idx="1"/>
          </p:nvPr>
        </p:nvSpPr>
        <p:spPr>
          <a:xfrm>
            <a:off x="838200" y="1350137"/>
            <a:ext cx="10515600" cy="4351338"/>
          </a:xfrm>
        </p:spPr>
        <p:txBody>
          <a:bodyPr>
            <a:normAutofit/>
          </a:bodyPr>
          <a:lstStyle/>
          <a:p>
            <a:r>
              <a:rPr lang="en-US" dirty="0"/>
              <a:t>QUIC multiplexes multiple streams onto a single lower transport QUIC connection using UDP.</a:t>
            </a:r>
          </a:p>
          <a:p>
            <a:r>
              <a:rPr lang="en-US" dirty="0"/>
              <a:t>Basically, the point is for the Streams to generate SDUs that are multiplexed into the QUIC PDU.</a:t>
            </a:r>
          </a:p>
          <a:p>
            <a:pPr lvl="1"/>
            <a:r>
              <a:rPr lang="en-US" dirty="0"/>
              <a:t>The maximum SDU size supported is 2</a:t>
            </a:r>
            <a:r>
              <a:rPr lang="en-US" baseline="30000" dirty="0"/>
              <a:t>64</a:t>
            </a:r>
            <a:r>
              <a:rPr lang="en-US" dirty="0"/>
              <a:t> bytes.</a:t>
            </a:r>
          </a:p>
          <a:p>
            <a:pPr lvl="1"/>
            <a:r>
              <a:rPr lang="en-US" dirty="0"/>
              <a:t>“</a:t>
            </a:r>
            <a:r>
              <a:rPr lang="en-US" sz="1800" dirty="0">
                <a:effectLst/>
              </a:rPr>
              <a:t>Streams are identified by </a:t>
            </a:r>
            <a:r>
              <a:rPr lang="en-US" sz="1800" i="1" dirty="0">
                <a:effectLst/>
              </a:rPr>
              <a:t>stream IDs</a:t>
            </a:r>
            <a:r>
              <a:rPr lang="en-US" sz="1800" dirty="0">
                <a:effectLst/>
              </a:rPr>
              <a:t>, which are statically allocated as odd IDs for client-initiated streams and even IDs for server-initiated streams to avoid collisions. Stream creation is implicit when sending the first bytes on an as-yet unused stream, and stream closing is indicated to the peer by setting a "FIN" bit on the last stream frame.</a:t>
            </a:r>
            <a:r>
              <a:rPr lang="en-US" dirty="0">
                <a:latin typeface="NimbusRomNo9L"/>
              </a:rPr>
              <a:t>”</a:t>
            </a:r>
          </a:p>
          <a:p>
            <a:pPr lvl="2"/>
            <a:r>
              <a:rPr lang="en-US" dirty="0"/>
              <a:t>This will mask the different QoS of the streams and even multiplex QoS-incompatible streams</a:t>
            </a:r>
          </a:p>
          <a:p>
            <a:pPr lvl="1"/>
            <a:r>
              <a:rPr lang="en-US" dirty="0"/>
              <a:t>“</a:t>
            </a:r>
            <a:r>
              <a:rPr lang="en-US" sz="1800" dirty="0">
                <a:effectLst/>
              </a:rPr>
              <a:t>If either the sender or the receiver determines that the data on a stream is no longer needed, then the stream can be canceled without having to tear down the entire QUIC connection.” </a:t>
            </a:r>
          </a:p>
          <a:p>
            <a:pPr lvl="2"/>
            <a:r>
              <a:rPr lang="en-US" dirty="0"/>
              <a:t>Easier to just wait 2 or 3∆t and it can be deleted (or reused).</a:t>
            </a:r>
          </a:p>
          <a:p>
            <a:pPr lvl="1"/>
            <a:r>
              <a:rPr lang="en-US" dirty="0"/>
              <a:t>SDUs are delivered in QUIC frames and demultiplexed into the streams.</a:t>
            </a:r>
          </a:p>
          <a:p>
            <a:pPr lvl="1"/>
            <a:r>
              <a:rPr lang="en-US" dirty="0"/>
              <a:t>QUIC uses HTTP2 priorities to service the streams.</a:t>
            </a:r>
          </a:p>
        </p:txBody>
      </p:sp>
    </p:spTree>
    <p:extLst>
      <p:ext uri="{BB962C8B-B14F-4D97-AF65-F5344CB8AC3E}">
        <p14:creationId xmlns:p14="http://schemas.microsoft.com/office/powerpoint/2010/main" val="300730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2C886-F214-D6D5-3AA4-2528161AFF5D}"/>
              </a:ext>
            </a:extLst>
          </p:cNvPr>
          <p:cNvSpPr>
            <a:spLocks noGrp="1"/>
          </p:cNvSpPr>
          <p:nvPr>
            <p:ph type="title"/>
          </p:nvPr>
        </p:nvSpPr>
        <p:spPr/>
        <p:txBody>
          <a:bodyPr/>
          <a:lstStyle/>
          <a:p>
            <a:r>
              <a:rPr lang="en-US" dirty="0"/>
              <a:t>Flow Control</a:t>
            </a:r>
          </a:p>
        </p:txBody>
      </p:sp>
      <p:sp>
        <p:nvSpPr>
          <p:cNvPr id="3" name="Content Placeholder 2">
            <a:extLst>
              <a:ext uri="{FF2B5EF4-FFF2-40B4-BE49-F238E27FC236}">
                <a16:creationId xmlns:a16="http://schemas.microsoft.com/office/drawing/2014/main" id="{28125CB9-C86E-E820-8026-062780908962}"/>
              </a:ext>
            </a:extLst>
          </p:cNvPr>
          <p:cNvSpPr>
            <a:spLocks noGrp="1"/>
          </p:cNvSpPr>
          <p:nvPr>
            <p:ph idx="1"/>
          </p:nvPr>
        </p:nvSpPr>
        <p:spPr>
          <a:xfrm>
            <a:off x="838200" y="1521555"/>
            <a:ext cx="10515600" cy="4971320"/>
          </a:xfrm>
        </p:spPr>
        <p:txBody>
          <a:bodyPr>
            <a:normAutofit lnSpcReduction="10000"/>
          </a:bodyPr>
          <a:lstStyle/>
          <a:p>
            <a:r>
              <a:rPr lang="en-US" dirty="0"/>
              <a:t>Flow control is intended to keep the sender from overrunning the receiver. In QUIC there are two levels of flow control:  the QUIC connection and the streams.</a:t>
            </a:r>
          </a:p>
          <a:p>
            <a:pPr lvl="1"/>
            <a:r>
              <a:rPr lang="en-US" dirty="0">
                <a:effectLst/>
              </a:rPr>
              <a:t>There is a general rule that whenever there </a:t>
            </a:r>
            <a:r>
              <a:rPr lang="en-US" dirty="0"/>
              <a:t>are multiple (N)-flows multiplexed onto an (N-1)-flow, flow control on the (N)-flows is necessary.</a:t>
            </a:r>
            <a:endParaRPr lang="en-US" dirty="0">
              <a:effectLst/>
            </a:endParaRPr>
          </a:p>
          <a:p>
            <a:pPr lvl="1"/>
            <a:r>
              <a:rPr lang="en-US" dirty="0">
                <a:effectLst/>
              </a:rPr>
              <a:t>“QUIC ameliorates this potential head-of-line blocking among streams by limiting the buffers that a single stream can consume.”</a:t>
            </a:r>
          </a:p>
          <a:p>
            <a:pPr lvl="2"/>
            <a:r>
              <a:rPr lang="en-US" sz="1400" dirty="0"/>
              <a:t>This sounds like blocking streams that could be accepting data.</a:t>
            </a:r>
            <a:endParaRPr lang="en-US" sz="1400" dirty="0">
              <a:effectLst/>
            </a:endParaRPr>
          </a:p>
          <a:p>
            <a:pPr lvl="1"/>
            <a:r>
              <a:rPr lang="en-US" dirty="0">
                <a:effectLst/>
              </a:rPr>
              <a:t>“QUIC thus employs </a:t>
            </a:r>
            <a:r>
              <a:rPr lang="en-US" i="1" dirty="0">
                <a:effectLst/>
              </a:rPr>
              <a:t>connection-level flow control</a:t>
            </a:r>
            <a:r>
              <a:rPr lang="en-US" dirty="0">
                <a:effectLst/>
              </a:rPr>
              <a:t>, which limits the aggregate buffer that a sender can consume at the receiver across all streams, and </a:t>
            </a:r>
            <a:r>
              <a:rPr lang="en-US" i="1" dirty="0">
                <a:effectLst/>
              </a:rPr>
              <a:t>stream-level flow control</a:t>
            </a:r>
            <a:r>
              <a:rPr lang="en-US" dirty="0">
                <a:effectLst/>
              </a:rPr>
              <a:t>, which limits the buffer that a sender can consume on any given stream.” </a:t>
            </a:r>
          </a:p>
          <a:p>
            <a:pPr lvl="1"/>
            <a:r>
              <a:rPr lang="en-US" dirty="0">
                <a:effectLst/>
              </a:rPr>
              <a:t>Similar to HTTP/2 [R</a:t>
            </a:r>
            <a:r>
              <a:rPr lang="en-US" sz="1800" dirty="0">
                <a:effectLst/>
              </a:rPr>
              <a:t>FC7540], QUIC employs credit-based flow-control. A QUIC receiver advertises the absolute byte offset within each stream up to which the receiver is willing to receive data. As data is sent, received, and delivered on a particular stream, the receiver periodically sends </a:t>
            </a:r>
            <a:r>
              <a:rPr lang="en-US" sz="1800" i="1" dirty="0">
                <a:effectLst/>
              </a:rPr>
              <a:t>window update frames </a:t>
            </a:r>
            <a:r>
              <a:rPr lang="en-US" sz="1800" dirty="0">
                <a:effectLst/>
              </a:rPr>
              <a:t>that increase the advertised offset limit for that stream, allowing the peer to send more data on that stream. Connection-level flow control works in the same way as stream-level flow control, but the bytes delivered, and the highest received offset are aggregated across all streams. </a:t>
            </a:r>
          </a:p>
          <a:p>
            <a:pPr lvl="2"/>
            <a:r>
              <a:rPr lang="en-US" dirty="0"/>
              <a:t>Unsurprisingly, the connection-level window is much larger than the stream windows. Otherwise, it would be a bottleneck. It also uses auto-tuning analogous to TCP.</a:t>
            </a:r>
            <a:endParaRPr lang="en-US" dirty="0">
              <a:effectLst/>
            </a:endParaRPr>
          </a:p>
          <a:p>
            <a:pPr lvl="2"/>
            <a:r>
              <a:rPr lang="en-US" dirty="0"/>
              <a:t>This appears to imply that QUIC uses byte-sequencing and allocates buffers to connections, not good on both counts.</a:t>
            </a:r>
          </a:p>
          <a:p>
            <a:pPr lvl="1"/>
            <a:endParaRPr lang="en-US" dirty="0"/>
          </a:p>
          <a:p>
            <a:pPr lvl="1"/>
            <a:endParaRPr lang="en-US" dirty="0"/>
          </a:p>
          <a:p>
            <a:pPr marL="0" indent="0">
              <a:buNone/>
            </a:pPr>
            <a:endParaRPr lang="en-US" dirty="0"/>
          </a:p>
        </p:txBody>
      </p:sp>
    </p:spTree>
    <p:extLst>
      <p:ext uri="{BB962C8B-B14F-4D97-AF65-F5344CB8AC3E}">
        <p14:creationId xmlns:p14="http://schemas.microsoft.com/office/powerpoint/2010/main" val="327120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412DF-4A53-B64C-4CE3-28044A9C50A9}"/>
              </a:ext>
            </a:extLst>
          </p:cNvPr>
          <p:cNvSpPr>
            <a:spLocks noGrp="1"/>
          </p:cNvSpPr>
          <p:nvPr>
            <p:ph type="title"/>
          </p:nvPr>
        </p:nvSpPr>
        <p:spPr>
          <a:xfrm>
            <a:off x="838200" y="170053"/>
            <a:ext cx="10515600" cy="1325563"/>
          </a:xfrm>
        </p:spPr>
        <p:txBody>
          <a:bodyPr/>
          <a:lstStyle/>
          <a:p>
            <a:r>
              <a:rPr lang="en-US" dirty="0"/>
              <a:t>Retransmission Control </a:t>
            </a:r>
          </a:p>
        </p:txBody>
      </p:sp>
      <p:sp>
        <p:nvSpPr>
          <p:cNvPr id="3" name="Content Placeholder 2">
            <a:extLst>
              <a:ext uri="{FF2B5EF4-FFF2-40B4-BE49-F238E27FC236}">
                <a16:creationId xmlns:a16="http://schemas.microsoft.com/office/drawing/2014/main" id="{B9CCBF09-6BF1-85B2-084A-7685B6CF4EE1}"/>
              </a:ext>
            </a:extLst>
          </p:cNvPr>
          <p:cNvSpPr>
            <a:spLocks noGrp="1"/>
          </p:cNvSpPr>
          <p:nvPr>
            <p:ph idx="1"/>
          </p:nvPr>
        </p:nvSpPr>
        <p:spPr>
          <a:xfrm>
            <a:off x="838200" y="1363269"/>
            <a:ext cx="10515600" cy="4351338"/>
          </a:xfrm>
        </p:spPr>
        <p:txBody>
          <a:bodyPr/>
          <a:lstStyle/>
          <a:p>
            <a:r>
              <a:rPr lang="en-US" dirty="0"/>
              <a:t>QUIC uses monotonically increasing sequence numbers for all PDUs including retransmissions.</a:t>
            </a:r>
          </a:p>
          <a:p>
            <a:pPr lvl="1"/>
            <a:r>
              <a:rPr lang="en-US" dirty="0"/>
              <a:t>This is intended to disambiguate original PDUs from retransmissions to improve RTT estimates.</a:t>
            </a:r>
          </a:p>
          <a:p>
            <a:pPr lvl="2"/>
            <a:r>
              <a:rPr lang="en-US" dirty="0"/>
              <a:t>Constraining TTL in IP to be less than 1.5 RTTs would obviate the need for this.</a:t>
            </a:r>
          </a:p>
          <a:p>
            <a:pPr lvl="1"/>
            <a:r>
              <a:rPr lang="en-US" dirty="0"/>
              <a:t>A QUIC PDU consists of stream frames, so it is the stream sequence numbers that determine where the retransmitted stream-PDUs in a retransmitted QUIC-PDU go.</a:t>
            </a:r>
          </a:p>
          <a:p>
            <a:pPr lvl="2"/>
            <a:r>
              <a:rPr lang="en-US" dirty="0">
                <a:effectLst/>
              </a:rPr>
              <a:t>“QUIC acknowledgments explicitly encode the delay between the receipt of a packet and its acknowledgment being sent. Together with monotonically-increasing packet numbers, this allows for precise network round-trip time (</a:t>
            </a:r>
            <a:r>
              <a:rPr lang="en-US" i="1" dirty="0">
                <a:effectLst/>
              </a:rPr>
              <a:t>RTT</a:t>
            </a:r>
            <a:r>
              <a:rPr lang="en-US" dirty="0">
                <a:effectLst/>
              </a:rPr>
              <a:t>) estimation, which aids in loss detection.” </a:t>
            </a:r>
          </a:p>
          <a:p>
            <a:pPr lvl="2"/>
            <a:r>
              <a:rPr lang="en-US" dirty="0"/>
              <a:t>They also note that this can be used by delay-sensing congestion schemes. However, this indicates implicit detection which is going to imply more retransmission and more head-of-line blocking in the streams.</a:t>
            </a:r>
          </a:p>
          <a:p>
            <a:pPr lvl="1"/>
            <a:r>
              <a:rPr lang="en-US" sz="1800" dirty="0">
                <a:effectLst/>
              </a:rPr>
              <a:t>“QUIC’s acknowledgments support up to 256 ACK blocks, making QUIC more resilient to reordering and loss than TCP with SACK [RFC2018]. Consequently, QUIC can keep more bytes on the wire in the presence of reordering or loss.”</a:t>
            </a:r>
          </a:p>
          <a:p>
            <a:pPr lvl="2"/>
            <a:r>
              <a:rPr lang="en-US" dirty="0"/>
              <a:t>In essence, QUIC retransmissions are SACK retransmissions, which are essentially fast recovery of loss from congestion control.</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313750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D4529-6B07-5B3A-47D4-C336A1CAFA48}"/>
              </a:ext>
            </a:extLst>
          </p:cNvPr>
          <p:cNvSpPr>
            <a:spLocks noGrp="1"/>
          </p:cNvSpPr>
          <p:nvPr>
            <p:ph type="title"/>
          </p:nvPr>
        </p:nvSpPr>
        <p:spPr/>
        <p:txBody>
          <a:bodyPr/>
          <a:lstStyle/>
          <a:p>
            <a:r>
              <a:rPr lang="en-US" dirty="0"/>
              <a:t>Congestion Control</a:t>
            </a:r>
          </a:p>
        </p:txBody>
      </p:sp>
      <p:sp>
        <p:nvSpPr>
          <p:cNvPr id="3" name="Content Placeholder 2">
            <a:extLst>
              <a:ext uri="{FF2B5EF4-FFF2-40B4-BE49-F238E27FC236}">
                <a16:creationId xmlns:a16="http://schemas.microsoft.com/office/drawing/2014/main" id="{0577919A-0A7E-80A0-B03A-E9DFFE2DCDF6}"/>
              </a:ext>
            </a:extLst>
          </p:cNvPr>
          <p:cNvSpPr>
            <a:spLocks noGrp="1"/>
          </p:cNvSpPr>
          <p:nvPr>
            <p:ph idx="1"/>
          </p:nvPr>
        </p:nvSpPr>
        <p:spPr>
          <a:xfrm>
            <a:off x="838200" y="1520825"/>
            <a:ext cx="10515600" cy="4351338"/>
          </a:xfrm>
        </p:spPr>
        <p:txBody>
          <a:bodyPr/>
          <a:lstStyle/>
          <a:p>
            <a:r>
              <a:rPr lang="en-US" dirty="0"/>
              <a:t>Wisely, they made congestion control a plug-in so it can be experimented with.</a:t>
            </a:r>
          </a:p>
          <a:p>
            <a:r>
              <a:rPr lang="en-US" dirty="0"/>
              <a:t>Their default is to use TCP-Cubic, but as we saw with the reference to BBR, they are considering that.</a:t>
            </a:r>
          </a:p>
          <a:p>
            <a:r>
              <a:rPr lang="en-US" dirty="0"/>
              <a:t>However, all indications are they are still stuck in variations on the Jacobson model, which we know to be fundamentally flawed.</a:t>
            </a:r>
          </a:p>
          <a:p>
            <a:r>
              <a:rPr lang="en-US" dirty="0"/>
              <a:t>SACK is used to recover dropped PDUs at the connection level more quickly, but they are still to many retransmissions. This will also complicate reassembly at streams.</a:t>
            </a:r>
          </a:p>
          <a:p>
            <a:r>
              <a:rPr lang="en-US" dirty="0"/>
              <a:t>RTO is likely between 1 and 3 seconds, which seems very long.</a:t>
            </a:r>
          </a:p>
          <a:p>
            <a:r>
              <a:rPr lang="en-US" dirty="0"/>
              <a:t>These approaches will all generate a large number of retransmissions, which will, of course, cause head-of-line blocking. Just what QUIC is designed to avoid.</a:t>
            </a:r>
          </a:p>
          <a:p>
            <a:r>
              <a:rPr lang="en-US" dirty="0"/>
              <a:t>As long as, QUIC does not use ECN and very early notification, it is a non-starter. </a:t>
            </a:r>
          </a:p>
        </p:txBody>
      </p:sp>
    </p:spTree>
    <p:extLst>
      <p:ext uri="{BB962C8B-B14F-4D97-AF65-F5344CB8AC3E}">
        <p14:creationId xmlns:p14="http://schemas.microsoft.com/office/powerpoint/2010/main" val="14597849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5142A-C255-5FC3-3CD8-4BD4F42364BC}"/>
              </a:ext>
            </a:extLst>
          </p:cNvPr>
          <p:cNvSpPr>
            <a:spLocks noGrp="1"/>
          </p:cNvSpPr>
          <p:nvPr>
            <p:ph type="title"/>
          </p:nvPr>
        </p:nvSpPr>
        <p:spPr>
          <a:xfrm>
            <a:off x="838200" y="365125"/>
            <a:ext cx="10515600" cy="841883"/>
          </a:xfrm>
        </p:spPr>
        <p:txBody>
          <a:bodyPr/>
          <a:lstStyle/>
          <a:p>
            <a:r>
              <a:rPr lang="en-US" dirty="0"/>
              <a:t>Incongruities in SCTP and QUIC</a:t>
            </a:r>
          </a:p>
        </p:txBody>
      </p:sp>
      <p:sp>
        <p:nvSpPr>
          <p:cNvPr id="3" name="Content Placeholder 2">
            <a:extLst>
              <a:ext uri="{FF2B5EF4-FFF2-40B4-BE49-F238E27FC236}">
                <a16:creationId xmlns:a16="http://schemas.microsoft.com/office/drawing/2014/main" id="{109CAF5C-8687-2A0F-1F4F-666A78B6BFDD}"/>
              </a:ext>
            </a:extLst>
          </p:cNvPr>
          <p:cNvSpPr>
            <a:spLocks noGrp="1"/>
          </p:cNvSpPr>
          <p:nvPr>
            <p:ph idx="1"/>
          </p:nvPr>
        </p:nvSpPr>
        <p:spPr>
          <a:xfrm>
            <a:off x="838200" y="1362329"/>
            <a:ext cx="10515600" cy="4351338"/>
          </a:xfrm>
        </p:spPr>
        <p:txBody>
          <a:bodyPr/>
          <a:lstStyle/>
          <a:p>
            <a:r>
              <a:rPr lang="en-US" dirty="0"/>
              <a:t>Often their major design goals make their optimizations have minimal effect.</a:t>
            </a:r>
          </a:p>
          <a:p>
            <a:pPr lvl="1"/>
            <a:r>
              <a:rPr lang="en-US" dirty="0"/>
              <a:t>However, note that for Google even small improvements can imply major savings.</a:t>
            </a:r>
          </a:p>
          <a:p>
            <a:r>
              <a:rPr lang="en-US" dirty="0"/>
              <a:t>A major design goal of these protocols is to avoid short connections.</a:t>
            </a:r>
          </a:p>
          <a:p>
            <a:pPr lvl="1"/>
            <a:r>
              <a:rPr lang="en-US" dirty="0"/>
              <a:t>The more data a connection can send, the less impact connection establishment delay is.</a:t>
            </a:r>
          </a:p>
          <a:p>
            <a:pPr lvl="1"/>
            <a:r>
              <a:rPr lang="en-US" dirty="0"/>
              <a:t>The more the elephant/mice problem is avoided.</a:t>
            </a:r>
          </a:p>
          <a:p>
            <a:r>
              <a:rPr lang="en-US" dirty="0"/>
              <a:t>A major design goal is avoiding Head of Line Blocking which is caused by retransmissions</a:t>
            </a:r>
          </a:p>
          <a:p>
            <a:pPr lvl="1"/>
            <a:r>
              <a:rPr lang="en-US" dirty="0"/>
              <a:t>Most retransmissions are caused by congestion control</a:t>
            </a:r>
          </a:p>
          <a:p>
            <a:pPr lvl="1"/>
            <a:r>
              <a:rPr lang="en-US" dirty="0"/>
              <a:t>All the congestion strategies considered maximize retransmissions by late notification.</a:t>
            </a:r>
          </a:p>
          <a:p>
            <a:pPr lvl="1"/>
            <a:r>
              <a:rPr lang="en-US" dirty="0"/>
              <a:t>Hence increasing Head of Line Blocking. HOWEVER,</a:t>
            </a:r>
          </a:p>
          <a:p>
            <a:pPr lvl="1"/>
            <a:r>
              <a:rPr lang="en-US" dirty="0"/>
              <a:t>80+% of connections never get out of slow-start so are rarely generating retransmissions.</a:t>
            </a:r>
          </a:p>
          <a:p>
            <a:pPr lvl="2"/>
            <a:r>
              <a:rPr lang="en-US" dirty="0"/>
              <a:t>Data backs this up.</a:t>
            </a:r>
          </a:p>
          <a:p>
            <a:pPr lvl="1"/>
            <a:r>
              <a:rPr lang="en-US" dirty="0"/>
              <a:t>Congestion control of limited scope at level of SNDC would be more effective over aggregate flows.</a:t>
            </a:r>
          </a:p>
          <a:p>
            <a:r>
              <a:rPr lang="en-US" dirty="0"/>
              <a:t>These protocols are a hack.</a:t>
            </a:r>
          </a:p>
          <a:p>
            <a:pPr lvl="1"/>
            <a:endParaRPr lang="en-US" dirty="0"/>
          </a:p>
        </p:txBody>
      </p:sp>
    </p:spTree>
    <p:extLst>
      <p:ext uri="{BB962C8B-B14F-4D97-AF65-F5344CB8AC3E}">
        <p14:creationId xmlns:p14="http://schemas.microsoft.com/office/powerpoint/2010/main" val="97166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C1CEC-F427-C428-2FC2-9960488CE031}"/>
              </a:ext>
            </a:extLst>
          </p:cNvPr>
          <p:cNvSpPr>
            <a:spLocks noGrp="1"/>
          </p:cNvSpPr>
          <p:nvPr>
            <p:ph type="title"/>
          </p:nvPr>
        </p:nvSpPr>
        <p:spPr>
          <a:xfrm>
            <a:off x="762000" y="231013"/>
            <a:ext cx="10515600" cy="1325563"/>
          </a:xfrm>
        </p:spPr>
        <p:txBody>
          <a:bodyPr/>
          <a:lstStyle/>
          <a:p>
            <a:r>
              <a:rPr lang="en-US" dirty="0"/>
              <a:t>NAT Rebinding and Connection Migration</a:t>
            </a:r>
          </a:p>
        </p:txBody>
      </p:sp>
      <p:sp>
        <p:nvSpPr>
          <p:cNvPr id="3" name="Content Placeholder 2">
            <a:extLst>
              <a:ext uri="{FF2B5EF4-FFF2-40B4-BE49-F238E27FC236}">
                <a16:creationId xmlns:a16="http://schemas.microsoft.com/office/drawing/2014/main" id="{C78E8FA2-7CEC-0C9A-8072-DE697BEA13A0}"/>
              </a:ext>
            </a:extLst>
          </p:cNvPr>
          <p:cNvSpPr>
            <a:spLocks noGrp="1"/>
          </p:cNvSpPr>
          <p:nvPr>
            <p:ph idx="1"/>
          </p:nvPr>
        </p:nvSpPr>
        <p:spPr/>
        <p:txBody>
          <a:bodyPr/>
          <a:lstStyle/>
          <a:p>
            <a:r>
              <a:rPr lang="en-US" sz="1800" dirty="0">
                <a:effectLst/>
              </a:rPr>
              <a:t>“QUIC connections are identified by a 64-bit Connection ID. QUIC’s Connection ID enables connections to survive changes to the client’s IP and port. Such changes can be caused by NAT timeout and rebinding (which tend to be more aggressive for UDP than for TCP) or by the client changing network connectivity to a new IP address.” </a:t>
            </a:r>
          </a:p>
          <a:p>
            <a:r>
              <a:rPr lang="en-US" sz="1800" dirty="0">
                <a:effectLst/>
              </a:rPr>
              <a:t>“While QUIC endpoints simply elide the problem of NAT rebinding by using the Connection ID to identify connections, client-initiated connection migration is a work in progress with limited deployment at this point.“</a:t>
            </a:r>
          </a:p>
          <a:p>
            <a:pPr lvl="1"/>
            <a:r>
              <a:rPr lang="en-US" sz="1600" dirty="0"/>
              <a:t>IOW, it doesn’t work yet.</a:t>
            </a:r>
          </a:p>
          <a:p>
            <a:pPr marL="0" indent="0">
              <a:buNone/>
            </a:pPr>
            <a:endParaRPr lang="en-US" dirty="0"/>
          </a:p>
        </p:txBody>
      </p:sp>
    </p:spTree>
    <p:extLst>
      <p:ext uri="{BB962C8B-B14F-4D97-AF65-F5344CB8AC3E}">
        <p14:creationId xmlns:p14="http://schemas.microsoft.com/office/powerpoint/2010/main" val="209599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2D42-5524-95CA-1D43-4BE59C446453}"/>
              </a:ext>
            </a:extLst>
          </p:cNvPr>
          <p:cNvSpPr>
            <a:spLocks noGrp="1"/>
          </p:cNvSpPr>
          <p:nvPr>
            <p:ph type="title"/>
          </p:nvPr>
        </p:nvSpPr>
        <p:spPr/>
        <p:txBody>
          <a:bodyPr/>
          <a:lstStyle/>
          <a:p>
            <a:r>
              <a:rPr lang="en-US" dirty="0"/>
              <a:t>Doing SCTP/QUIC-like configuration in the Model</a:t>
            </a:r>
          </a:p>
        </p:txBody>
      </p:sp>
      <p:sp>
        <p:nvSpPr>
          <p:cNvPr id="3" name="Content Placeholder 2">
            <a:extLst>
              <a:ext uri="{FF2B5EF4-FFF2-40B4-BE49-F238E27FC236}">
                <a16:creationId xmlns:a16="http://schemas.microsoft.com/office/drawing/2014/main" id="{85BA71D2-9DC7-462E-EEDA-9C36C51958B1}"/>
              </a:ext>
            </a:extLst>
          </p:cNvPr>
          <p:cNvSpPr>
            <a:spLocks noGrp="1"/>
          </p:cNvSpPr>
          <p:nvPr>
            <p:ph idx="1"/>
          </p:nvPr>
        </p:nvSpPr>
        <p:spPr/>
        <p:txBody>
          <a:bodyPr/>
          <a:lstStyle/>
          <a:p>
            <a:r>
              <a:rPr lang="en-US" dirty="0"/>
              <a:t>It appears that this is two layers. The details could be worked out by the class.</a:t>
            </a:r>
          </a:p>
          <a:p>
            <a:pPr lvl="1"/>
            <a:r>
              <a:rPr lang="en-US" dirty="0"/>
              <a:t>The upper layer does retransmission and flow control on individual streams.</a:t>
            </a:r>
          </a:p>
          <a:p>
            <a:pPr lvl="1"/>
            <a:r>
              <a:rPr lang="en-US" dirty="0"/>
              <a:t>The lower layer does flow control only.</a:t>
            </a:r>
          </a:p>
          <a:p>
            <a:pPr lvl="2"/>
            <a:r>
              <a:rPr lang="en-US" dirty="0"/>
              <a:t>Pack multiple SDUs per PDU with compatible QoS, especially for short requests</a:t>
            </a:r>
          </a:p>
          <a:p>
            <a:pPr lvl="1"/>
            <a:r>
              <a:rPr lang="en-US" dirty="0"/>
              <a:t>Separate lower layer connections for different roles, e.g., short requests/long requests</a:t>
            </a:r>
          </a:p>
          <a:p>
            <a:pPr lvl="2"/>
            <a:r>
              <a:rPr lang="en-US" dirty="0"/>
              <a:t>Enable out of order deliver.</a:t>
            </a:r>
          </a:p>
          <a:p>
            <a:pPr lvl="1"/>
            <a:r>
              <a:rPr lang="en-US" dirty="0"/>
              <a:t>How to indicate to lower layer concatenation of SDUs.</a:t>
            </a:r>
          </a:p>
          <a:p>
            <a:pPr lvl="2"/>
            <a:r>
              <a:rPr lang="en-US" dirty="0"/>
              <a:t>SDU should contain (N)-port-id, &lt;data&gt;</a:t>
            </a:r>
          </a:p>
          <a:p>
            <a:pPr lvl="1"/>
            <a:r>
              <a:rPr lang="en-US" dirty="0"/>
              <a:t>The SCTP 4-way handshake might be used for Flow Allocation.</a:t>
            </a:r>
          </a:p>
          <a:p>
            <a:pPr lvl="2"/>
            <a:r>
              <a:rPr lang="en-US" dirty="0"/>
              <a:t>The DoS attack will be first encountered by the resolution of the application-name, long before getting to the destination.</a:t>
            </a:r>
          </a:p>
          <a:p>
            <a:pPr lvl="2"/>
            <a:r>
              <a:rPr lang="en-US" dirty="0"/>
              <a:t>There are two cases here: whether the IPC Process has been compromised or not.</a:t>
            </a:r>
          </a:p>
          <a:p>
            <a:pPr lvl="2"/>
            <a:r>
              <a:rPr lang="en-US" dirty="0"/>
              <a:t>If not, then DoS is limited to Allocate requests, and something should be done there.</a:t>
            </a:r>
          </a:p>
          <a:p>
            <a:pPr lvl="2"/>
            <a:r>
              <a:rPr lang="en-US" dirty="0"/>
              <a:t>If it can be, then detect the attack and evict the IPC Process. (Notice that it could be detected in the first place consulted for the address of the destination or for DDoS at a front-end to the servers.)</a:t>
            </a:r>
          </a:p>
        </p:txBody>
      </p:sp>
    </p:spTree>
    <p:extLst>
      <p:ext uri="{BB962C8B-B14F-4D97-AF65-F5344CB8AC3E}">
        <p14:creationId xmlns:p14="http://schemas.microsoft.com/office/powerpoint/2010/main" val="423097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a:ea typeface="ＭＳ Ｐゴシック"/>
        <a:cs typeface=""/>
      </a:majorFont>
      <a:minorFont>
        <a:latin typeface="Time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Times" charset="0"/>
            <a:ea typeface="ＭＳ Ｐゴシック"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Custom Design">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565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Custom 1">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4044</TotalTime>
  <Words>9114</Words>
  <Application>Microsoft Macintosh PowerPoint</Application>
  <PresentationFormat>Widescreen</PresentationFormat>
  <Paragraphs>722</Paragraphs>
  <Slides>58</Slides>
  <Notes>27</Notes>
  <HiddenSlides>0</HiddenSlides>
  <MMClips>0</MMClips>
  <ScaleCrop>false</ScaleCrop>
  <HeadingPairs>
    <vt:vector size="6" baseType="variant">
      <vt:variant>
        <vt:lpstr>Fonts Used</vt:lpstr>
      </vt:variant>
      <vt:variant>
        <vt:i4>10</vt:i4>
      </vt:variant>
      <vt:variant>
        <vt:lpstr>Theme</vt:lpstr>
      </vt:variant>
      <vt:variant>
        <vt:i4>7</vt:i4>
      </vt:variant>
      <vt:variant>
        <vt:lpstr>Slide Titles</vt:lpstr>
      </vt:variant>
      <vt:variant>
        <vt:i4>58</vt:i4>
      </vt:variant>
    </vt:vector>
  </HeadingPairs>
  <TitlesOfParts>
    <vt:vector size="75" baseType="lpstr">
      <vt:lpstr>Arial</vt:lpstr>
      <vt:lpstr>Calibri</vt:lpstr>
      <vt:lpstr>Calibri Light</vt:lpstr>
      <vt:lpstr>Helvetica</vt:lpstr>
      <vt:lpstr>Lucida Grande</vt:lpstr>
      <vt:lpstr>NimbusRomNo9L</vt:lpstr>
      <vt:lpstr>Noto Sans Symbols</vt:lpstr>
      <vt:lpstr>Times</vt:lpstr>
      <vt:lpstr>Times New Roman</vt:lpstr>
      <vt:lpstr>Verdana</vt:lpstr>
      <vt:lpstr>Office Theme</vt:lpstr>
      <vt:lpstr>1_Office Theme</vt:lpstr>
      <vt:lpstr>1_Blank Presentation</vt:lpstr>
      <vt:lpstr>Tannenbaum</vt:lpstr>
      <vt:lpstr>3_Custom Design</vt:lpstr>
      <vt:lpstr>6_508 Lecture</vt:lpstr>
      <vt:lpstr>1_Tannenbaum</vt:lpstr>
      <vt:lpstr>Applying the Theory: HDLC, IP, TCP, SCTP, QUIC</vt:lpstr>
      <vt:lpstr>The Plan</vt:lpstr>
      <vt:lpstr>HDLC</vt:lpstr>
      <vt:lpstr>HDLC</vt:lpstr>
      <vt:lpstr>TCP/UDP/IP</vt:lpstr>
      <vt:lpstr>Early peculiarities</vt:lpstr>
      <vt:lpstr>The IP Version 4 Protocol</vt:lpstr>
      <vt:lpstr>Digression:  Why the Protocol-Id field? (1 of 3) Isn’t this a layer violation?</vt:lpstr>
      <vt:lpstr>Digression: Why the Protocol-Id Field? (2 of 3)</vt:lpstr>
      <vt:lpstr>Digression: Why the Protocol-Id Field? (3 of 3)</vt:lpstr>
      <vt:lpstr>IPv6 Changes (from RFC 8200)</vt:lpstr>
      <vt:lpstr>IP Version 6  (from Tanenbaum) (the spin doctor version)</vt:lpstr>
      <vt:lpstr>The Main IPv6 Header</vt:lpstr>
      <vt:lpstr>Extension Headers</vt:lpstr>
      <vt:lpstr>Extension Headers (2)</vt:lpstr>
      <vt:lpstr>Extension Headers (3)</vt:lpstr>
      <vt:lpstr>IPv6 Problems: I</vt:lpstr>
      <vt:lpstr>IPv6 Problems: II</vt:lpstr>
      <vt:lpstr>IPv6 Problems: III</vt:lpstr>
      <vt:lpstr>What is Going on Here?</vt:lpstr>
      <vt:lpstr>The TCP Header</vt:lpstr>
      <vt:lpstr>TCP/UDP Pseudo-Header</vt:lpstr>
      <vt:lpstr>Introduction to UDP</vt:lpstr>
      <vt:lpstr>The TCP Service Model</vt:lpstr>
      <vt:lpstr>The TCP Service Model (2)</vt:lpstr>
      <vt:lpstr>Problems with TCP: I</vt:lpstr>
      <vt:lpstr>Problems with TCP: II</vt:lpstr>
      <vt:lpstr>Problems with TCP: III</vt:lpstr>
      <vt:lpstr>“If It Ain’t One Damn Thing It’s Another!”</vt:lpstr>
      <vt:lpstr>One Thing Leads to Another: II</vt:lpstr>
      <vt:lpstr>One Thing Leads to Another: III</vt:lpstr>
      <vt:lpstr>One Thing Leads to Another: IV</vt:lpstr>
      <vt:lpstr>One Thing Leads to Another: V</vt:lpstr>
      <vt:lpstr>PowerPoint Presentation</vt:lpstr>
      <vt:lpstr>So Now What?</vt:lpstr>
      <vt:lpstr>What Should Have Happened?</vt:lpstr>
      <vt:lpstr>TCP Attacks</vt:lpstr>
      <vt:lpstr>Data Transfer Attacks</vt:lpstr>
      <vt:lpstr>Decoupling Port Allocation and Synchronization</vt:lpstr>
      <vt:lpstr>Summarizing TCP</vt:lpstr>
      <vt:lpstr>SCTP– Stream Control Transport Protocol</vt:lpstr>
      <vt:lpstr>Decreased Connection Establishment Latency</vt:lpstr>
      <vt:lpstr>Streams and Head of Line Blocking</vt:lpstr>
      <vt:lpstr>Congestion Management </vt:lpstr>
      <vt:lpstr>Fault Tolerance – Multihoming</vt:lpstr>
      <vt:lpstr>Deflecting SYN Attacks</vt:lpstr>
      <vt:lpstr>QUIC</vt:lpstr>
      <vt:lpstr>Deployment and Change Issues</vt:lpstr>
      <vt:lpstr>Handshake Delay</vt:lpstr>
      <vt:lpstr>Security</vt:lpstr>
      <vt:lpstr>Avoiding Head of Line Blocking: I</vt:lpstr>
      <vt:lpstr>Avoiding Head of Line Blocking: II</vt:lpstr>
      <vt:lpstr>Flow Control</vt:lpstr>
      <vt:lpstr>Retransmission Control </vt:lpstr>
      <vt:lpstr>Congestion Control</vt:lpstr>
      <vt:lpstr>Incongruities in SCTP and QUIC</vt:lpstr>
      <vt:lpstr>NAT Rebinding and Connection Migration</vt:lpstr>
      <vt:lpstr>Doing SCTP/QUIC-like configuration in the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Applying the Theory: TCP, SCTP, QUIC</dc:title>
  <dc:creator>John Day</dc:creator>
  <cp:lastModifiedBy>Day, John</cp:lastModifiedBy>
  <cp:revision>49</cp:revision>
  <dcterms:created xsi:type="dcterms:W3CDTF">2022-09-15T18:43:20Z</dcterms:created>
  <dcterms:modified xsi:type="dcterms:W3CDTF">2026-01-14T16:23:39Z</dcterms:modified>
</cp:coreProperties>
</file>