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 id="2147483837" r:id="rId3"/>
    <p:sldMasterId id="2147483849" r:id="rId4"/>
    <p:sldMasterId id="2147483861" r:id="rId5"/>
  </p:sldMasterIdLst>
  <p:notesMasterIdLst>
    <p:notesMasterId r:id="rId49"/>
  </p:notesMasterIdLst>
  <p:sldIdLst>
    <p:sldId id="256" r:id="rId6"/>
    <p:sldId id="430" r:id="rId7"/>
    <p:sldId id="258" r:id="rId8"/>
    <p:sldId id="259" r:id="rId9"/>
    <p:sldId id="276" r:id="rId10"/>
    <p:sldId id="378" r:id="rId11"/>
    <p:sldId id="426" r:id="rId12"/>
    <p:sldId id="352" r:id="rId13"/>
    <p:sldId id="379" r:id="rId14"/>
    <p:sldId id="386" r:id="rId15"/>
    <p:sldId id="411" r:id="rId16"/>
    <p:sldId id="412" r:id="rId17"/>
    <p:sldId id="355" r:id="rId18"/>
    <p:sldId id="387" r:id="rId19"/>
    <p:sldId id="359" r:id="rId20"/>
    <p:sldId id="388" r:id="rId21"/>
    <p:sldId id="356" r:id="rId22"/>
    <p:sldId id="413" r:id="rId23"/>
    <p:sldId id="390" r:id="rId24"/>
    <p:sldId id="391" r:id="rId25"/>
    <p:sldId id="392" r:id="rId26"/>
    <p:sldId id="393" r:id="rId27"/>
    <p:sldId id="394" r:id="rId28"/>
    <p:sldId id="395" r:id="rId29"/>
    <p:sldId id="396" r:id="rId30"/>
    <p:sldId id="397" r:id="rId31"/>
    <p:sldId id="401" r:id="rId32"/>
    <p:sldId id="398" r:id="rId33"/>
    <p:sldId id="399" r:id="rId34"/>
    <p:sldId id="432" r:id="rId35"/>
    <p:sldId id="433" r:id="rId36"/>
    <p:sldId id="434" r:id="rId37"/>
    <p:sldId id="400" r:id="rId38"/>
    <p:sldId id="654" r:id="rId39"/>
    <p:sldId id="428" r:id="rId40"/>
    <p:sldId id="429" r:id="rId41"/>
    <p:sldId id="431" r:id="rId42"/>
    <p:sldId id="260" r:id="rId43"/>
    <p:sldId id="652" r:id="rId44"/>
    <p:sldId id="653" r:id="rId45"/>
    <p:sldId id="406" r:id="rId46"/>
    <p:sldId id="407" r:id="rId47"/>
    <p:sldId id="409" r:id="rId48"/>
  </p:sldIdLst>
  <p:sldSz cx="9144000" cy="6858000" type="screen4x3"/>
  <p:notesSz cx="6858000" cy="9144000"/>
  <p:defaultTextStyle>
    <a:defPPr>
      <a:defRPr lang="en-US"/>
    </a:defPPr>
    <a:lvl1pPr algn="l" rtl="0" eaLnBrk="0" fontAlgn="base" hangingPunct="0">
      <a:spcBef>
        <a:spcPct val="0"/>
      </a:spcBef>
      <a:spcAft>
        <a:spcPct val="0"/>
      </a:spcAft>
      <a:defRPr sz="1200" b="1" kern="1200">
        <a:solidFill>
          <a:schemeClr val="tx1"/>
        </a:solidFill>
        <a:latin typeface="Times" charset="0"/>
        <a:ea typeface="ＭＳ Ｐゴシック" charset="0"/>
        <a:cs typeface="ＭＳ Ｐゴシック" charset="0"/>
      </a:defRPr>
    </a:lvl1pPr>
    <a:lvl2pPr marL="457200" algn="l" rtl="0" eaLnBrk="0" fontAlgn="base" hangingPunct="0">
      <a:spcBef>
        <a:spcPct val="0"/>
      </a:spcBef>
      <a:spcAft>
        <a:spcPct val="0"/>
      </a:spcAft>
      <a:defRPr sz="1200" b="1" kern="1200">
        <a:solidFill>
          <a:schemeClr val="tx1"/>
        </a:solidFill>
        <a:latin typeface="Times" charset="0"/>
        <a:ea typeface="ＭＳ Ｐゴシック" charset="0"/>
        <a:cs typeface="ＭＳ Ｐゴシック" charset="0"/>
      </a:defRPr>
    </a:lvl2pPr>
    <a:lvl3pPr marL="914400" algn="l" rtl="0" eaLnBrk="0" fontAlgn="base" hangingPunct="0">
      <a:spcBef>
        <a:spcPct val="0"/>
      </a:spcBef>
      <a:spcAft>
        <a:spcPct val="0"/>
      </a:spcAft>
      <a:defRPr sz="1200" b="1" kern="1200">
        <a:solidFill>
          <a:schemeClr val="tx1"/>
        </a:solidFill>
        <a:latin typeface="Times" charset="0"/>
        <a:ea typeface="ＭＳ Ｐゴシック" charset="0"/>
        <a:cs typeface="ＭＳ Ｐゴシック" charset="0"/>
      </a:defRPr>
    </a:lvl3pPr>
    <a:lvl4pPr marL="1371600" algn="l" rtl="0" eaLnBrk="0" fontAlgn="base" hangingPunct="0">
      <a:spcBef>
        <a:spcPct val="0"/>
      </a:spcBef>
      <a:spcAft>
        <a:spcPct val="0"/>
      </a:spcAft>
      <a:defRPr sz="1200" b="1" kern="1200">
        <a:solidFill>
          <a:schemeClr val="tx1"/>
        </a:solidFill>
        <a:latin typeface="Times" charset="0"/>
        <a:ea typeface="ＭＳ Ｐゴシック" charset="0"/>
        <a:cs typeface="ＭＳ Ｐゴシック" charset="0"/>
      </a:defRPr>
    </a:lvl4pPr>
    <a:lvl5pPr marL="1828800" algn="l" rtl="0" eaLnBrk="0" fontAlgn="base" hangingPunct="0">
      <a:spcBef>
        <a:spcPct val="0"/>
      </a:spcBef>
      <a:spcAft>
        <a:spcPct val="0"/>
      </a:spcAft>
      <a:defRPr sz="1200" b="1" kern="1200">
        <a:solidFill>
          <a:schemeClr val="tx1"/>
        </a:solidFill>
        <a:latin typeface="Times" charset="0"/>
        <a:ea typeface="ＭＳ Ｐゴシック" charset="0"/>
        <a:cs typeface="ＭＳ Ｐゴシック" charset="0"/>
      </a:defRPr>
    </a:lvl5pPr>
    <a:lvl6pPr marL="2286000" algn="l" defTabSz="457200" rtl="0" eaLnBrk="1" latinLnBrk="0" hangingPunct="1">
      <a:defRPr sz="1200" b="1" kern="1200">
        <a:solidFill>
          <a:schemeClr val="tx1"/>
        </a:solidFill>
        <a:latin typeface="Times" charset="0"/>
        <a:ea typeface="ＭＳ Ｐゴシック" charset="0"/>
        <a:cs typeface="ＭＳ Ｐゴシック" charset="0"/>
      </a:defRPr>
    </a:lvl6pPr>
    <a:lvl7pPr marL="2743200" algn="l" defTabSz="457200" rtl="0" eaLnBrk="1" latinLnBrk="0" hangingPunct="1">
      <a:defRPr sz="1200" b="1" kern="1200">
        <a:solidFill>
          <a:schemeClr val="tx1"/>
        </a:solidFill>
        <a:latin typeface="Times" charset="0"/>
        <a:ea typeface="ＭＳ Ｐゴシック" charset="0"/>
        <a:cs typeface="ＭＳ Ｐゴシック" charset="0"/>
      </a:defRPr>
    </a:lvl7pPr>
    <a:lvl8pPr marL="3200400" algn="l" defTabSz="457200" rtl="0" eaLnBrk="1" latinLnBrk="0" hangingPunct="1">
      <a:defRPr sz="1200" b="1" kern="1200">
        <a:solidFill>
          <a:schemeClr val="tx1"/>
        </a:solidFill>
        <a:latin typeface="Times" charset="0"/>
        <a:ea typeface="ＭＳ Ｐゴシック" charset="0"/>
        <a:cs typeface="ＭＳ Ｐゴシック" charset="0"/>
      </a:defRPr>
    </a:lvl8pPr>
    <a:lvl9pPr marL="3657600" algn="l" defTabSz="457200" rtl="0" eaLnBrk="1" latinLnBrk="0" hangingPunct="1">
      <a:defRPr sz="1200" b="1" kern="1200">
        <a:solidFill>
          <a:schemeClr val="tx1"/>
        </a:solidFill>
        <a:latin typeface="Times"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E8E8E8"/>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11"/>
    <p:restoredTop sz="88707"/>
  </p:normalViewPr>
  <p:slideViewPr>
    <p:cSldViewPr>
      <p:cViewPr varScale="1">
        <p:scale>
          <a:sx n="113" d="100"/>
          <a:sy n="113" d="100"/>
        </p:scale>
        <p:origin x="2144" y="176"/>
      </p:cViewPr>
      <p:guideLst>
        <p:guide orient="horz" pos="2160"/>
        <p:guide pos="2880"/>
      </p:guideLst>
    </p:cSldViewPr>
  </p:slideViewPr>
  <p:outlineViewPr>
    <p:cViewPr>
      <p:scale>
        <a:sx n="100" d="100"/>
        <a:sy n="100" d="100"/>
      </p:scale>
      <p:origin x="0" y="53128"/>
    </p:cViewPr>
  </p:outlineViewPr>
  <p:notesTextViewPr>
    <p:cViewPr>
      <p:scale>
        <a:sx n="100" d="100"/>
        <a:sy n="100" d="100"/>
      </p:scale>
      <p:origin x="0" y="0"/>
    </p:cViewPr>
  </p:notesTextViewPr>
  <p:sorterViewPr>
    <p:cViewPr>
      <p:scale>
        <a:sx n="1" d="1"/>
        <a:sy n="1" d="1"/>
      </p:scale>
      <p:origin x="0" y="85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tableStyles" Target="tableStyles.xml"/><Relationship Id="rId5" Type="http://schemas.openxmlformats.org/officeDocument/2006/relationships/slideMaster" Target="slideMasters/slideMaster5.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8" Type="http://schemas.openxmlformats.org/officeDocument/2006/relationships/slide" Target="slides/slide3.xml"/><Relationship Id="rId51"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defRPr b="0">
                <a:cs typeface="+mn-cs"/>
              </a:defRPr>
            </a:lvl1pPr>
          </a:lstStyle>
          <a:p>
            <a:pPr>
              <a:defRPr/>
            </a:pPr>
            <a:endParaRPr lang="en-US"/>
          </a:p>
        </p:txBody>
      </p:sp>
      <p:sp>
        <p:nvSpPr>
          <p:cNvPr id="2867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r">
              <a:defRPr b="0">
                <a:cs typeface="+mn-cs"/>
              </a:defRPr>
            </a:lvl1pPr>
          </a:lstStyle>
          <a:p>
            <a:pPr>
              <a:defRPr/>
            </a:pPr>
            <a:endParaRPr lang="en-US"/>
          </a:p>
        </p:txBody>
      </p:sp>
      <p:sp>
        <p:nvSpPr>
          <p:cNvPr id="286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2867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67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lvl1pPr>
              <a:defRPr b="0">
                <a:cs typeface="+mn-cs"/>
              </a:defRPr>
            </a:lvl1pPr>
          </a:lstStyle>
          <a:p>
            <a:pPr>
              <a:defRPr/>
            </a:pPr>
            <a:endParaRPr lang="en-US"/>
          </a:p>
        </p:txBody>
      </p:sp>
      <p:sp>
        <p:nvSpPr>
          <p:cNvPr id="2867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lvl1pPr algn="r">
              <a:defRPr b="0">
                <a:cs typeface="+mn-cs"/>
              </a:defRPr>
            </a:lvl1pPr>
          </a:lstStyle>
          <a:p>
            <a:pPr>
              <a:defRPr/>
            </a:pPr>
            <a:fld id="{655A9C11-0B63-BF4A-B820-87FA640E4DEC}" type="slidenum">
              <a:rPr lang="en-US"/>
              <a:pPr>
                <a:defRPr/>
              </a:pPr>
              <a:t>‹#›</a:t>
            </a:fld>
            <a:endParaRPr lang="en-US"/>
          </a:p>
        </p:txBody>
      </p:sp>
    </p:spTree>
    <p:extLst>
      <p:ext uri="{BB962C8B-B14F-4D97-AF65-F5344CB8AC3E}">
        <p14:creationId xmlns:p14="http://schemas.microsoft.com/office/powerpoint/2010/main" val="60513682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Times"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Times"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Times"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Times"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F88C2E6-AFB1-C740-A267-E12F373E07A7}" type="slidenum">
              <a:rPr lang="en-US"/>
              <a:pPr>
                <a:defRPr/>
              </a:pPr>
              <a:t>1</a:t>
            </a:fld>
            <a:endParaRPr lang="en-US"/>
          </a:p>
        </p:txBody>
      </p:sp>
      <p:sp>
        <p:nvSpPr>
          <p:cNvPr id="3686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6867" name="Rectangle 3"/>
          <p:cNvSpPr>
            <a:spLocks noGrp="1" noChangeArrowheads="1"/>
          </p:cNvSpPr>
          <p:nvPr>
            <p:ph type="body" idx="1"/>
          </p:nvPr>
        </p:nvSpPr>
        <p:spPr/>
        <p:txBody>
          <a:bodyPr/>
          <a:lstStyle/>
          <a:p>
            <a:pPr>
              <a:defRPr/>
            </a:pPr>
            <a:r>
              <a:rPr lang="en-US" dirty="0">
                <a:cs typeface="+mn-cs"/>
              </a:rPr>
              <a:t>Read to my kids entirely too many times.  There is a lot in this talk because there is a lot they never taught you.  So pay close attention.  I am going to make use of the implications from the model outlined in my book.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they didn’t. Not their fault. It was too early, given their task.</a:t>
            </a:r>
          </a:p>
        </p:txBody>
      </p:sp>
      <p:sp>
        <p:nvSpPr>
          <p:cNvPr id="4" name="Slide Number Placeholder 3"/>
          <p:cNvSpPr>
            <a:spLocks noGrp="1"/>
          </p:cNvSpPr>
          <p:nvPr>
            <p:ph type="sldNum" sz="quarter" idx="10"/>
          </p:nvPr>
        </p:nvSpPr>
        <p:spPr/>
        <p:txBody>
          <a:bodyPr/>
          <a:lstStyle/>
          <a:p>
            <a:pPr>
              <a:defRPr/>
            </a:pPr>
            <a:fld id="{655A9C11-0B63-BF4A-B820-87FA640E4DEC}" type="slidenum">
              <a:rPr lang="en-US" smtClean="0"/>
              <a:pPr>
                <a:defRPr/>
              </a:pPr>
              <a:t>2</a:t>
            </a:fld>
            <a:endParaRPr lang="en-US"/>
          </a:p>
        </p:txBody>
      </p:sp>
    </p:spTree>
    <p:extLst>
      <p:ext uri="{BB962C8B-B14F-4D97-AF65-F5344CB8AC3E}">
        <p14:creationId xmlns:p14="http://schemas.microsoft.com/office/powerpoint/2010/main" val="37624015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24C5FA4E-5D39-264C-AD77-AFEF4B03E4FD}" type="slidenum">
              <a:rPr lang="en-US"/>
              <a:pPr>
                <a:defRPr/>
              </a:pPr>
              <a:t>3</a:t>
            </a:fld>
            <a:endParaRPr lang="en-US"/>
          </a:p>
        </p:txBody>
      </p:sp>
      <p:sp>
        <p:nvSpPr>
          <p:cNvPr id="4096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40963" name="Rectangle 3"/>
          <p:cNvSpPr>
            <a:spLocks noGrp="1" noChangeArrowheads="1"/>
          </p:cNvSpPr>
          <p:nvPr>
            <p:ph type="body" idx="1"/>
          </p:nvPr>
        </p:nvSpPr>
        <p:spPr/>
        <p:txBody>
          <a:bodyPr/>
          <a:lstStyle/>
          <a:p>
            <a:pPr>
              <a:defRPr/>
            </a:pPr>
            <a:endParaRPr lang="en-US">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0749E70D-1391-C341-8FF7-AA76170807D2}" type="slidenum">
              <a:rPr lang="en-US"/>
              <a:pPr>
                <a:defRPr/>
              </a:pPr>
              <a:t>4</a:t>
            </a:fld>
            <a:endParaRPr lang="en-US"/>
          </a:p>
        </p:txBody>
      </p:sp>
      <p:sp>
        <p:nvSpPr>
          <p:cNvPr id="4198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41987" name="Rectangle 3"/>
          <p:cNvSpPr>
            <a:spLocks noGrp="1" noChangeArrowheads="1"/>
          </p:cNvSpPr>
          <p:nvPr>
            <p:ph type="body" idx="1"/>
          </p:nvPr>
        </p:nvSpPr>
        <p:spPr/>
        <p:txBody>
          <a:bodyPr/>
          <a:lstStyle/>
          <a:p>
            <a:pPr>
              <a:defRPr/>
            </a:pPr>
            <a:r>
              <a:rPr lang="en-US">
                <a:cs typeface="+mn-cs"/>
              </a:rPr>
              <a:t>There was a lot of discussion of the topic.  Jon Schoch writes some of it down in the late 70s.  Then Jerry Saltzer builds on that.</a:t>
            </a:r>
          </a:p>
          <a:p>
            <a:pPr>
              <a:defRPr/>
            </a:pPr>
            <a:endParaRPr lang="en-US">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127F0A0E-024A-EB41-BAD2-E78D74B1A9E8}" type="slidenum">
              <a:rPr lang="en-US"/>
              <a:pPr>
                <a:defRPr/>
              </a:pPr>
              <a:t>5</a:t>
            </a:fld>
            <a:endParaRPr lang="en-US"/>
          </a:p>
        </p:txBody>
      </p:sp>
      <p:sp>
        <p:nvSpPr>
          <p:cNvPr id="4301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43011" name="Rectangle 3"/>
          <p:cNvSpPr>
            <a:spLocks noGrp="1" noChangeArrowheads="1"/>
          </p:cNvSpPr>
          <p:nvPr>
            <p:ph type="body" idx="1"/>
          </p:nvPr>
        </p:nvSpPr>
        <p:spPr/>
        <p:txBody>
          <a:bodyPr/>
          <a:lstStyle/>
          <a:p>
            <a:pPr>
              <a:defRPr/>
            </a:pPr>
            <a:r>
              <a:rPr lang="en-US">
                <a:cs typeface="+mn-cs"/>
              </a:rPr>
              <a:t>It wasn</a:t>
            </a:r>
            <a:r>
              <a:rPr lang="ja-JP" altLang="en-US">
                <a:latin typeface="Arial"/>
                <a:cs typeface="+mn-cs"/>
              </a:rPr>
              <a:t>’</a:t>
            </a:r>
            <a:r>
              <a:rPr lang="en-US">
                <a:cs typeface="+mn-cs"/>
              </a:rPr>
              <a:t>t the ARPNet</a:t>
            </a:r>
            <a:r>
              <a:rPr lang="ja-JP" altLang="en-US">
                <a:latin typeface="Arial"/>
                <a:cs typeface="+mn-cs"/>
              </a:rPr>
              <a:t>’</a:t>
            </a:r>
            <a:r>
              <a:rPr lang="en-US">
                <a:cs typeface="+mn-cs"/>
              </a:rPr>
              <a:t>s fault.  They were first, their priorities were necessarily elsewhere.  XNS, CYCLADES all got it right.  Only the Internet seemingly didn</a:t>
            </a:r>
            <a:r>
              <a:rPr lang="ja-JP" altLang="en-US">
                <a:latin typeface="Arial"/>
                <a:cs typeface="+mn-cs"/>
              </a:rPr>
              <a:t>’</a:t>
            </a:r>
            <a:r>
              <a:rPr lang="en-US">
                <a:cs typeface="+mn-cs"/>
              </a:rPr>
              <a:t>t get the memo. </a:t>
            </a:r>
          </a:p>
          <a:p>
            <a:pPr>
              <a:defRPr/>
            </a:pPr>
            <a:r>
              <a:rPr lang="en-US">
                <a:cs typeface="+mn-cs"/>
              </a:rPr>
              <a:t>Operating Systems have always been our guide in networking.  (If they haven</a:t>
            </a:r>
            <a:r>
              <a:rPr lang="ja-JP" altLang="en-US">
                <a:latin typeface="Arial"/>
                <a:cs typeface="+mn-cs"/>
              </a:rPr>
              <a:t>’</a:t>
            </a:r>
            <a:r>
              <a:rPr lang="en-US">
                <a:cs typeface="+mn-cs"/>
              </a:rPr>
              <a:t>t been yours, you are doing it wrong.)</a:t>
            </a:r>
          </a:p>
          <a:p>
            <a:pPr>
              <a:defRPr/>
            </a:pPr>
            <a:endParaRPr lang="en-US">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8EED671-9370-5D4C-944B-4DD11386E118}" type="slidenum">
              <a:rPr lang="en-US"/>
              <a:pPr>
                <a:defRPr/>
              </a:pPr>
              <a:t>6</a:t>
            </a:fld>
            <a:endParaRPr lang="en-US"/>
          </a:p>
        </p:txBody>
      </p:sp>
      <p:sp>
        <p:nvSpPr>
          <p:cNvPr id="495618" name="Rectangle 2"/>
          <p:cNvSpPr>
            <a:spLocks noGrp="1" noRot="1" noChangeAspect="1" noChangeArrowheads="1"/>
          </p:cNvSpPr>
          <p:nvPr>
            <p:ph type="sldImg"/>
          </p:nvPr>
        </p:nvSpPr>
        <p:spPr>
          <a:solidFill>
            <a:srgbClr val="FFFFFF"/>
          </a:solidFill>
          <a:ln/>
          <a:extLst>
            <a:ext uri="{FAA26D3D-D897-4be2-8F04-BA451C77F1D7}">
              <ma14:placeholderFlag xmlns:ma14="http://schemas.microsoft.com/office/mac/drawingml/2011/main" xmlns="" val="1"/>
            </a:ext>
          </a:extLst>
        </p:spPr>
      </p:sp>
      <p:sp>
        <p:nvSpPr>
          <p:cNvPr id="495619"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endParaRPr lang="en-US">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another of the differences between the ITU</a:t>
            </a:r>
            <a:r>
              <a:rPr lang="en-US" baseline="0" dirty="0"/>
              <a:t> or beads-on-a-string model and the layered model.  In the ITU model, end devices are attached to the network; in the layered model, they are part of the network.</a:t>
            </a:r>
            <a:endParaRPr lang="en-US" dirty="0"/>
          </a:p>
        </p:txBody>
      </p:sp>
      <p:sp>
        <p:nvSpPr>
          <p:cNvPr id="4" name="Slide Number Placeholder 3"/>
          <p:cNvSpPr>
            <a:spLocks noGrp="1"/>
          </p:cNvSpPr>
          <p:nvPr>
            <p:ph type="sldNum" sz="quarter" idx="10"/>
          </p:nvPr>
        </p:nvSpPr>
        <p:spPr/>
        <p:txBody>
          <a:bodyPr/>
          <a:lstStyle/>
          <a:p>
            <a:pPr>
              <a:defRPr/>
            </a:pPr>
            <a:fld id="{655A9C11-0B63-BF4A-B820-87FA640E4DEC}" type="slidenum">
              <a:rPr lang="en-US" smtClean="0"/>
              <a:pPr>
                <a:defRPr/>
              </a:pPr>
              <a:t>7</a:t>
            </a:fld>
            <a:endParaRPr lang="en-US"/>
          </a:p>
        </p:txBody>
      </p:sp>
    </p:spTree>
    <p:extLst>
      <p:ext uri="{BB962C8B-B14F-4D97-AF65-F5344CB8AC3E}">
        <p14:creationId xmlns:p14="http://schemas.microsoft.com/office/powerpoint/2010/main" val="18295484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559FE89-A995-3D4B-88DD-F8B54F9EB8C8}" type="slidenum">
              <a:rPr lang="en-US"/>
              <a:pPr>
                <a:defRPr/>
              </a:pPr>
              <a:t>8</a:t>
            </a:fld>
            <a:endParaRPr lang="en-US"/>
          </a:p>
        </p:txBody>
      </p:sp>
      <p:sp>
        <p:nvSpPr>
          <p:cNvPr id="441346" name="Rectangle 2"/>
          <p:cNvSpPr>
            <a:spLocks noGrp="1" noRot="1" noChangeAspect="1" noChangeArrowheads="1"/>
          </p:cNvSpPr>
          <p:nvPr>
            <p:ph type="sldImg"/>
          </p:nvPr>
        </p:nvSpPr>
        <p:spPr>
          <a:solidFill>
            <a:srgbClr val="FFFFFF"/>
          </a:solidFill>
          <a:ln/>
          <a:extLst>
            <a:ext uri="{FAA26D3D-D897-4be2-8F04-BA451C77F1D7}">
              <ma14:placeholderFlag xmlns:ma14="http://schemas.microsoft.com/office/mac/drawingml/2011/main" xmlns="" val="1"/>
            </a:ext>
          </a:extLst>
        </p:spPr>
      </p:sp>
      <p:sp>
        <p:nvSpPr>
          <p:cNvPr id="441347"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endParaRPr lang="en-US">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11627E77-10C6-3A41-9B13-EA521BE68F53}" type="slidenum">
              <a:rPr lang="en-US"/>
              <a:pPr>
                <a:defRPr/>
              </a:pPr>
              <a:t>9</a:t>
            </a:fld>
            <a:endParaRPr lang="en-US"/>
          </a:p>
        </p:txBody>
      </p:sp>
      <p:sp>
        <p:nvSpPr>
          <p:cNvPr id="497666" name="Rectangle 2"/>
          <p:cNvSpPr>
            <a:spLocks noGrp="1" noRot="1" noChangeAspect="1" noChangeArrowheads="1"/>
          </p:cNvSpPr>
          <p:nvPr>
            <p:ph type="sldImg"/>
          </p:nvPr>
        </p:nvSpPr>
        <p:spPr>
          <a:solidFill>
            <a:srgbClr val="FFFFFF"/>
          </a:solidFill>
          <a:ln/>
          <a:extLst>
            <a:ext uri="{FAA26D3D-D897-4be2-8F04-BA451C77F1D7}">
              <ma14:placeholderFlag xmlns:ma14="http://schemas.microsoft.com/office/mac/drawingml/2011/main" xmlns="" val="1"/>
            </a:ext>
          </a:extLst>
        </p:spPr>
      </p:sp>
      <p:sp>
        <p:nvSpPr>
          <p:cNvPr id="497667"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endParaRPr lang="en-US">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532C8E1-8820-3A4F-8DD0-E03BF390F556}" type="slidenum">
              <a:rPr lang="en-US"/>
              <a:pPr>
                <a:defRPr/>
              </a:pPr>
              <a:t>10</a:t>
            </a:fld>
            <a:endParaRPr lang="en-US"/>
          </a:p>
        </p:txBody>
      </p:sp>
      <p:sp>
        <p:nvSpPr>
          <p:cNvPr id="512002" name="Rectangle 2"/>
          <p:cNvSpPr>
            <a:spLocks noGrp="1" noRot="1" noChangeAspect="1" noChangeArrowheads="1"/>
          </p:cNvSpPr>
          <p:nvPr>
            <p:ph type="sldImg"/>
          </p:nvPr>
        </p:nvSpPr>
        <p:spPr>
          <a:solidFill>
            <a:srgbClr val="FFFFFF"/>
          </a:solidFill>
          <a:ln/>
          <a:extLst>
            <a:ext uri="{FAA26D3D-D897-4be2-8F04-BA451C77F1D7}">
              <ma14:placeholderFlag xmlns:ma14="http://schemas.microsoft.com/office/mac/drawingml/2011/main" xmlns="" val="1"/>
            </a:ext>
          </a:extLst>
        </p:spPr>
      </p:sp>
      <p:sp>
        <p:nvSpPr>
          <p:cNvPr id="512003"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endParaRPr lang="en-US">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D90CE65B-AE46-8F47-965D-741182DA0A31}" type="slidenum">
              <a:rPr lang="en-US">
                <a:solidFill>
                  <a:srgbClr val="000000"/>
                </a:solidFill>
                <a:latin typeface="Calibri"/>
              </a:rPr>
              <a:pPr>
                <a:defRPr/>
              </a:pPr>
              <a:t>11</a:t>
            </a:fld>
            <a:endParaRPr lang="en-US">
              <a:solidFill>
                <a:srgbClr val="000000"/>
              </a:solidFill>
              <a:latin typeface="Calibri"/>
            </a:endParaRPr>
          </a:p>
        </p:txBody>
      </p:sp>
      <p:sp>
        <p:nvSpPr>
          <p:cNvPr id="445442" name="Rectangle 2"/>
          <p:cNvSpPr>
            <a:spLocks noGrp="1" noRot="1" noChangeAspect="1" noChangeArrowheads="1"/>
          </p:cNvSpPr>
          <p:nvPr>
            <p:ph type="sldImg"/>
          </p:nvPr>
        </p:nvSpPr>
        <p:spPr>
          <a:solidFill>
            <a:srgbClr val="FFFFFF"/>
          </a:solidFill>
          <a:ln/>
          <a:extLst>
            <a:ext uri="{FAA26D3D-D897-4be2-8F04-BA451C77F1D7}">
              <ma14:placeholderFlag xmlns:ma14="http://schemas.microsoft.com/office/mac/drawingml/2011/main" xmlns="" val="1"/>
            </a:ext>
          </a:extLst>
        </p:spPr>
      </p:sp>
      <p:sp>
        <p:nvSpPr>
          <p:cNvPr id="445443"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endParaRPr lang="en-US">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6891DE07-DC3A-B440-A214-970110627E60}" type="slidenum">
              <a:rPr lang="en-US">
                <a:solidFill>
                  <a:srgbClr val="000000"/>
                </a:solidFill>
                <a:latin typeface="Calibri"/>
              </a:rPr>
              <a:pPr>
                <a:defRPr/>
              </a:pPr>
              <a:t>12</a:t>
            </a:fld>
            <a:endParaRPr lang="en-US">
              <a:solidFill>
                <a:srgbClr val="000000"/>
              </a:solidFill>
              <a:latin typeface="Calibri"/>
            </a:endParaRPr>
          </a:p>
        </p:txBody>
      </p:sp>
      <p:sp>
        <p:nvSpPr>
          <p:cNvPr id="447490" name="Rectangle 2"/>
          <p:cNvSpPr>
            <a:spLocks noGrp="1" noRot="1" noChangeAspect="1" noChangeArrowheads="1"/>
          </p:cNvSpPr>
          <p:nvPr>
            <p:ph type="sldImg"/>
          </p:nvPr>
        </p:nvSpPr>
        <p:spPr>
          <a:solidFill>
            <a:srgbClr val="FFFFFF"/>
          </a:solidFill>
          <a:ln/>
          <a:extLst>
            <a:ext uri="{FAA26D3D-D897-4be2-8F04-BA451C77F1D7}">
              <ma14:placeholderFlag xmlns:ma14="http://schemas.microsoft.com/office/mac/drawingml/2011/main" xmlns="" val="1"/>
            </a:ext>
          </a:extLst>
        </p:spPr>
      </p:sp>
      <p:sp>
        <p:nvSpPr>
          <p:cNvPr id="447491"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endParaRPr lang="en-US">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68A6AB0-093D-2A4F-A633-B9DA17AA0BC0}" type="slidenum">
              <a:rPr lang="en-US"/>
              <a:pPr>
                <a:defRPr/>
              </a:pPr>
              <a:t>13</a:t>
            </a:fld>
            <a:endParaRPr lang="en-US"/>
          </a:p>
        </p:txBody>
      </p:sp>
      <p:sp>
        <p:nvSpPr>
          <p:cNvPr id="449538" name="Rectangle 2"/>
          <p:cNvSpPr>
            <a:spLocks noGrp="1" noRot="1" noChangeAspect="1" noChangeArrowheads="1"/>
          </p:cNvSpPr>
          <p:nvPr>
            <p:ph type="sldImg"/>
          </p:nvPr>
        </p:nvSpPr>
        <p:spPr>
          <a:solidFill>
            <a:srgbClr val="FFFFFF"/>
          </a:solidFill>
          <a:ln/>
          <a:extLst>
            <a:ext uri="{FAA26D3D-D897-4be2-8F04-BA451C77F1D7}">
              <ma14:placeholderFlag xmlns:ma14="http://schemas.microsoft.com/office/mac/drawingml/2011/main" xmlns="" val="1"/>
            </a:ext>
          </a:extLst>
        </p:spPr>
      </p:sp>
      <p:sp>
        <p:nvSpPr>
          <p:cNvPr id="449539"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r>
              <a:rPr lang="en-US">
                <a:cs typeface="+mn-cs"/>
              </a:rPr>
              <a:t>We don</a:t>
            </a:r>
            <a:r>
              <a:rPr lang="ja-JP" altLang="en-US">
                <a:latin typeface="Arial"/>
                <a:cs typeface="+mn-cs"/>
              </a:rPr>
              <a:t>’</a:t>
            </a:r>
            <a:r>
              <a:rPr lang="en-US">
                <a:cs typeface="+mn-cs"/>
              </a:rPr>
              <a:t>t do multihoming for ROUTERS let alone hosts.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D66007CE-3E83-FC41-ADBD-3486190F3E03}" type="slidenum">
              <a:rPr lang="en-US"/>
              <a:pPr>
                <a:defRPr/>
              </a:pPr>
              <a:t>14</a:t>
            </a:fld>
            <a:endParaRPr lang="en-US"/>
          </a:p>
        </p:txBody>
      </p:sp>
      <p:sp>
        <p:nvSpPr>
          <p:cNvPr id="514050" name="Rectangle 2"/>
          <p:cNvSpPr>
            <a:spLocks noGrp="1" noRot="1" noChangeAspect="1" noChangeArrowheads="1"/>
          </p:cNvSpPr>
          <p:nvPr>
            <p:ph type="sldImg"/>
          </p:nvPr>
        </p:nvSpPr>
        <p:spPr>
          <a:solidFill>
            <a:srgbClr val="FFFFFF"/>
          </a:solidFill>
          <a:ln/>
          <a:extLst>
            <a:ext uri="{FAA26D3D-D897-4be2-8F04-BA451C77F1D7}">
              <ma14:placeholderFlag xmlns:ma14="http://schemas.microsoft.com/office/mac/drawingml/2011/main" xmlns="" val="1"/>
            </a:ext>
          </a:extLst>
        </p:spPr>
      </p:sp>
      <p:sp>
        <p:nvSpPr>
          <p:cNvPr id="514051"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endParaRPr lang="en-US">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93279AA-6783-B54F-9692-DD96F76CA7F1}" type="slidenum">
              <a:rPr lang="en-US"/>
              <a:pPr>
                <a:defRPr/>
              </a:pPr>
              <a:t>15</a:t>
            </a:fld>
            <a:endParaRPr lang="en-US"/>
          </a:p>
        </p:txBody>
      </p:sp>
      <p:sp>
        <p:nvSpPr>
          <p:cNvPr id="457730" name="Rectangle 2"/>
          <p:cNvSpPr>
            <a:spLocks noGrp="1" noRot="1" noChangeAspect="1" noChangeArrowheads="1"/>
          </p:cNvSpPr>
          <p:nvPr>
            <p:ph type="sldImg"/>
          </p:nvPr>
        </p:nvSpPr>
        <p:spPr>
          <a:solidFill>
            <a:srgbClr val="FFFFFF"/>
          </a:solidFill>
          <a:ln/>
          <a:extLst>
            <a:ext uri="{FAA26D3D-D897-4be2-8F04-BA451C77F1D7}">
              <ma14:placeholderFlag xmlns:ma14="http://schemas.microsoft.com/office/mac/drawingml/2011/main" xmlns="" val="1"/>
            </a:ext>
          </a:extLst>
        </p:spPr>
      </p:sp>
      <p:sp>
        <p:nvSpPr>
          <p:cNvPr id="457731"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endParaRPr lang="en-US">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02A0B3B-8ED6-084C-8670-5A12C9B9EBDE}" type="slidenum">
              <a:rPr lang="en-US"/>
              <a:pPr>
                <a:defRPr/>
              </a:pPr>
              <a:t>16</a:t>
            </a:fld>
            <a:endParaRPr lang="en-US"/>
          </a:p>
        </p:txBody>
      </p:sp>
      <p:sp>
        <p:nvSpPr>
          <p:cNvPr id="516098" name="Rectangle 2"/>
          <p:cNvSpPr>
            <a:spLocks noGrp="1" noRot="1" noChangeAspect="1" noChangeArrowheads="1"/>
          </p:cNvSpPr>
          <p:nvPr>
            <p:ph type="sldImg"/>
          </p:nvPr>
        </p:nvSpPr>
        <p:spPr>
          <a:solidFill>
            <a:srgbClr val="FFFFFF"/>
          </a:solidFill>
          <a:ln/>
          <a:extLst>
            <a:ext uri="{FAA26D3D-D897-4be2-8F04-BA451C77F1D7}">
              <ma14:placeholderFlag xmlns:ma14="http://schemas.microsoft.com/office/mac/drawingml/2011/main" xmlns="" val="1"/>
            </a:ext>
          </a:extLst>
        </p:spPr>
      </p:sp>
      <p:sp>
        <p:nvSpPr>
          <p:cNvPr id="516099"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endParaRPr lang="en-US">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C72B18AB-73CB-8E40-B43F-9462F3D6E2D2}" type="slidenum">
              <a:rPr lang="en-US"/>
              <a:pPr>
                <a:defRPr/>
              </a:pPr>
              <a:t>17</a:t>
            </a:fld>
            <a:endParaRPr lang="en-US"/>
          </a:p>
        </p:txBody>
      </p:sp>
      <p:sp>
        <p:nvSpPr>
          <p:cNvPr id="451586" name="Rectangle 2"/>
          <p:cNvSpPr>
            <a:spLocks noGrp="1" noRot="1" noChangeAspect="1" noChangeArrowheads="1"/>
          </p:cNvSpPr>
          <p:nvPr>
            <p:ph type="sldImg"/>
          </p:nvPr>
        </p:nvSpPr>
        <p:spPr>
          <a:solidFill>
            <a:srgbClr val="FFFFFF"/>
          </a:solidFill>
          <a:ln/>
          <a:extLst>
            <a:ext uri="{FAA26D3D-D897-4be2-8F04-BA451C77F1D7}">
              <ma14:placeholderFlag xmlns:ma14="http://schemas.microsoft.com/office/mac/drawingml/2011/main" xmlns="" val="1"/>
            </a:ext>
          </a:extLst>
        </p:spPr>
      </p:sp>
      <p:sp>
        <p:nvSpPr>
          <p:cNvPr id="451587"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endParaRPr lang="en-US">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A0D1424-7662-0845-973D-A36DB7B714F7}" type="slidenum">
              <a:rPr lang="en-US"/>
              <a:pPr>
                <a:defRPr/>
              </a:pPr>
              <a:t>18</a:t>
            </a:fld>
            <a:endParaRPr lang="en-US"/>
          </a:p>
        </p:txBody>
      </p:sp>
      <p:sp>
        <p:nvSpPr>
          <p:cNvPr id="520194" name="Rectangle 2"/>
          <p:cNvSpPr>
            <a:spLocks noGrp="1" noRot="1" noChangeAspect="1" noChangeArrowheads="1"/>
          </p:cNvSpPr>
          <p:nvPr>
            <p:ph type="sldImg"/>
          </p:nvPr>
        </p:nvSpPr>
        <p:spPr>
          <a:solidFill>
            <a:srgbClr val="FFFFFF"/>
          </a:solidFill>
          <a:ln/>
          <a:extLst>
            <a:ext uri="{FAA26D3D-D897-4be2-8F04-BA451C77F1D7}">
              <ma14:placeholderFlag xmlns:ma14="http://schemas.microsoft.com/office/mac/drawingml/2011/main" xmlns="" val="1"/>
            </a:ext>
          </a:extLst>
        </p:spPr>
      </p:sp>
      <p:sp>
        <p:nvSpPr>
          <p:cNvPr id="520195"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r>
              <a:rPr lang="en-US">
                <a:cs typeface="+mn-cs"/>
              </a:rPr>
              <a:t>The latter problem is really the scary one, but the IAB figures the first one is the one everyone will understand.  Big mistake.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AC76246-7D9B-0B42-AD40-76BEC442D2D2}" type="slidenum">
              <a:rPr lang="en-US"/>
              <a:pPr>
                <a:defRPr/>
              </a:pPr>
              <a:t>19</a:t>
            </a:fld>
            <a:endParaRPr lang="en-US"/>
          </a:p>
        </p:txBody>
      </p:sp>
      <p:sp>
        <p:nvSpPr>
          <p:cNvPr id="520194" name="Rectangle 2"/>
          <p:cNvSpPr>
            <a:spLocks noGrp="1" noRot="1" noChangeAspect="1" noChangeArrowheads="1"/>
          </p:cNvSpPr>
          <p:nvPr>
            <p:ph type="sldImg"/>
          </p:nvPr>
        </p:nvSpPr>
        <p:spPr>
          <a:solidFill>
            <a:srgbClr val="FFFFFF"/>
          </a:solidFill>
          <a:ln/>
          <a:extLst>
            <a:ext uri="{FAA26D3D-D897-4be2-8F04-BA451C77F1D7}">
              <ma14:placeholderFlag xmlns:ma14="http://schemas.microsoft.com/office/mac/drawingml/2011/main" xmlns="" val="1"/>
            </a:ext>
          </a:extLst>
        </p:spPr>
      </p:sp>
      <p:sp>
        <p:nvSpPr>
          <p:cNvPr id="520195"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r>
              <a:rPr lang="en-US">
                <a:cs typeface="+mn-cs"/>
              </a:rPr>
              <a:t>The latter problem is really the scary one, but the IAB figures the first one is the one everyone will understand.  Big mistake.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4A8EACD-07B5-DA4E-9C60-129CC14E5220}" type="slidenum">
              <a:rPr lang="en-US"/>
              <a:pPr>
                <a:defRPr/>
              </a:pPr>
              <a:t>20</a:t>
            </a:fld>
            <a:endParaRPr lang="en-US"/>
          </a:p>
        </p:txBody>
      </p:sp>
      <p:sp>
        <p:nvSpPr>
          <p:cNvPr id="522242" name="Rectangle 2"/>
          <p:cNvSpPr>
            <a:spLocks noGrp="1" noRot="1" noChangeAspect="1" noChangeArrowheads="1"/>
          </p:cNvSpPr>
          <p:nvPr>
            <p:ph type="sldImg"/>
          </p:nvPr>
        </p:nvSpPr>
        <p:spPr>
          <a:solidFill>
            <a:srgbClr val="FFFFFF"/>
          </a:solidFill>
          <a:ln/>
          <a:extLst>
            <a:ext uri="{FAA26D3D-D897-4be2-8F04-BA451C77F1D7}">
              <ma14:placeholderFlag xmlns:ma14="http://schemas.microsoft.com/office/mac/drawingml/2011/main" xmlns="" val="1"/>
            </a:ext>
          </a:extLst>
        </p:spPr>
      </p:sp>
      <p:sp>
        <p:nvSpPr>
          <p:cNvPr id="522243"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r>
              <a:rPr lang="en-US">
                <a:cs typeface="+mn-cs"/>
              </a:rPr>
              <a:t>Isn</a:t>
            </a:r>
            <a:r>
              <a:rPr lang="ja-JP" altLang="en-US">
                <a:latin typeface="Arial"/>
                <a:cs typeface="+mn-cs"/>
              </a:rPr>
              <a:t>’</a:t>
            </a:r>
            <a:r>
              <a:rPr lang="en-US">
                <a:cs typeface="+mn-cs"/>
              </a:rPr>
              <a:t>t it odd that a DoD network doesn</a:t>
            </a:r>
            <a:r>
              <a:rPr lang="ja-JP" altLang="en-US">
                <a:latin typeface="Arial"/>
                <a:cs typeface="+mn-cs"/>
              </a:rPr>
              <a:t>’</a:t>
            </a:r>
            <a:r>
              <a:rPr lang="en-US">
                <a:cs typeface="+mn-cs"/>
              </a:rPr>
              <a:t>t support redundancy.  Lots of excuse for not doing it.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96FF90C2-B6E9-6A4F-9EE7-A9F447890A76}" type="slidenum">
              <a:rPr lang="en-US"/>
              <a:pPr>
                <a:defRPr/>
              </a:pPr>
              <a:t>21</a:t>
            </a:fld>
            <a:endParaRPr lang="en-US"/>
          </a:p>
        </p:txBody>
      </p:sp>
      <p:sp>
        <p:nvSpPr>
          <p:cNvPr id="524290" name="Rectangle 2"/>
          <p:cNvSpPr>
            <a:spLocks noGrp="1" noRot="1" noChangeAspect="1" noChangeArrowheads="1"/>
          </p:cNvSpPr>
          <p:nvPr>
            <p:ph type="sldImg"/>
          </p:nvPr>
        </p:nvSpPr>
        <p:spPr>
          <a:solidFill>
            <a:srgbClr val="FFFFFF"/>
          </a:solidFill>
          <a:ln/>
          <a:extLst>
            <a:ext uri="{FAA26D3D-D897-4be2-8F04-BA451C77F1D7}">
              <ma14:placeholderFlag xmlns:ma14="http://schemas.microsoft.com/office/mac/drawingml/2011/main" xmlns="" val="1"/>
            </a:ext>
          </a:extLst>
        </p:spPr>
      </p:sp>
      <p:sp>
        <p:nvSpPr>
          <p:cNvPr id="524291"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r>
              <a:rPr lang="en-US">
                <a:cs typeface="+mn-cs"/>
              </a:rPr>
              <a:t>So by the Mid-90s things are back to the status quo.  V6 and loc/id</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0AC233CF-92EF-9D4A-BAC6-E50962DCF18B}" type="slidenum">
              <a:rPr lang="en-US"/>
              <a:pPr>
                <a:defRPr/>
              </a:pPr>
              <a:t>22</a:t>
            </a:fld>
            <a:endParaRPr lang="en-US"/>
          </a:p>
        </p:txBody>
      </p:sp>
      <p:sp>
        <p:nvSpPr>
          <p:cNvPr id="526338" name="Rectangle 2"/>
          <p:cNvSpPr>
            <a:spLocks noGrp="1" noRot="1" noChangeAspect="1" noChangeArrowheads="1"/>
          </p:cNvSpPr>
          <p:nvPr>
            <p:ph type="sldImg"/>
          </p:nvPr>
        </p:nvSpPr>
        <p:spPr>
          <a:solidFill>
            <a:srgbClr val="FFFFFF"/>
          </a:solidFill>
          <a:ln/>
          <a:extLst>
            <a:ext uri="{FAA26D3D-D897-4be2-8F04-BA451C77F1D7}">
              <ma14:placeholderFlag xmlns:ma14="http://schemas.microsoft.com/office/mac/drawingml/2011/main" xmlns="" val="1"/>
            </a:ext>
          </a:extLst>
        </p:spPr>
      </p:sp>
      <p:sp>
        <p:nvSpPr>
          <p:cNvPr id="526339"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endParaRPr lang="en-US">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EC997118-505A-534B-B6D5-02C4C3C94731}" type="slidenum">
              <a:rPr lang="en-US"/>
              <a:pPr>
                <a:defRPr/>
              </a:pPr>
              <a:t>23</a:t>
            </a:fld>
            <a:endParaRPr lang="en-US"/>
          </a:p>
        </p:txBody>
      </p:sp>
      <p:sp>
        <p:nvSpPr>
          <p:cNvPr id="528386" name="Rectangle 2"/>
          <p:cNvSpPr>
            <a:spLocks noGrp="1" noRot="1" noChangeAspect="1" noChangeArrowheads="1"/>
          </p:cNvSpPr>
          <p:nvPr>
            <p:ph type="sldImg"/>
          </p:nvPr>
        </p:nvSpPr>
        <p:spPr>
          <a:solidFill>
            <a:srgbClr val="FFFFFF"/>
          </a:solidFill>
          <a:ln/>
          <a:extLst>
            <a:ext uri="{FAA26D3D-D897-4be2-8F04-BA451C77F1D7}">
              <ma14:placeholderFlag xmlns:ma14="http://schemas.microsoft.com/office/mac/drawingml/2011/main" xmlns="" val="1"/>
            </a:ext>
          </a:extLst>
        </p:spPr>
      </p:sp>
      <p:sp>
        <p:nvSpPr>
          <p:cNvPr id="528387"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r>
              <a:rPr lang="en-US">
                <a:cs typeface="+mn-cs"/>
              </a:rPr>
              <a:t>After about 1995, the assumption is established that the current protocol structure is the only possible protocol structure.  Every naming and addressing paper written during this period assumes loc/id split is the way to go.</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44236940-2C56-7C40-8435-55E9F55FB057}" type="slidenum">
              <a:rPr lang="en-US"/>
              <a:pPr>
                <a:defRPr/>
              </a:pPr>
              <a:t>24</a:t>
            </a:fld>
            <a:endParaRPr lang="en-US"/>
          </a:p>
        </p:txBody>
      </p:sp>
      <p:sp>
        <p:nvSpPr>
          <p:cNvPr id="530434" name="Rectangle 2"/>
          <p:cNvSpPr>
            <a:spLocks noGrp="1" noRot="1" noChangeAspect="1" noChangeArrowheads="1"/>
          </p:cNvSpPr>
          <p:nvPr>
            <p:ph type="sldImg"/>
          </p:nvPr>
        </p:nvSpPr>
        <p:spPr>
          <a:solidFill>
            <a:srgbClr val="FFFFFF"/>
          </a:solidFill>
          <a:ln/>
          <a:extLst>
            <a:ext uri="{FAA26D3D-D897-4be2-8F04-BA451C77F1D7}">
              <ma14:placeholderFlag xmlns:ma14="http://schemas.microsoft.com/office/mac/drawingml/2011/main" xmlns="" val="1"/>
            </a:ext>
          </a:extLst>
        </p:spPr>
      </p:sp>
      <p:sp>
        <p:nvSpPr>
          <p:cNvPr id="530435"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endParaRPr lang="en-US">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EAC0E42-B648-D545-95F3-45773D275017}" type="slidenum">
              <a:rPr lang="en-US"/>
              <a:pPr>
                <a:defRPr/>
              </a:pPr>
              <a:t>25</a:t>
            </a:fld>
            <a:endParaRPr lang="en-US"/>
          </a:p>
        </p:txBody>
      </p:sp>
      <p:sp>
        <p:nvSpPr>
          <p:cNvPr id="532482" name="Rectangle 2"/>
          <p:cNvSpPr>
            <a:spLocks noGrp="1" noRot="1" noChangeAspect="1" noChangeArrowheads="1"/>
          </p:cNvSpPr>
          <p:nvPr>
            <p:ph type="sldImg"/>
          </p:nvPr>
        </p:nvSpPr>
        <p:spPr>
          <a:solidFill>
            <a:srgbClr val="FFFFFF"/>
          </a:solidFill>
          <a:ln/>
          <a:extLst>
            <a:ext uri="{FAA26D3D-D897-4be2-8F04-BA451C77F1D7}">
              <ma14:placeholderFlag xmlns:ma14="http://schemas.microsoft.com/office/mac/drawingml/2011/main" xmlns="" val="1"/>
            </a:ext>
          </a:extLst>
        </p:spPr>
      </p:sp>
      <p:sp>
        <p:nvSpPr>
          <p:cNvPr id="532483"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endParaRPr lang="en-US">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9FC0D9CF-F7B9-D041-8CC0-B917EA8001C1}" type="slidenum">
              <a:rPr lang="en-US"/>
              <a:pPr>
                <a:defRPr/>
              </a:pPr>
              <a:t>26</a:t>
            </a:fld>
            <a:endParaRPr lang="en-US"/>
          </a:p>
        </p:txBody>
      </p:sp>
      <p:sp>
        <p:nvSpPr>
          <p:cNvPr id="534530" name="Rectangle 2"/>
          <p:cNvSpPr>
            <a:spLocks noGrp="1" noRot="1" noChangeAspect="1" noChangeArrowheads="1"/>
          </p:cNvSpPr>
          <p:nvPr>
            <p:ph type="sldImg"/>
          </p:nvPr>
        </p:nvSpPr>
        <p:spPr>
          <a:solidFill>
            <a:srgbClr val="FFFFFF"/>
          </a:solidFill>
          <a:ln/>
          <a:extLst>
            <a:ext uri="{FAA26D3D-D897-4be2-8F04-BA451C77F1D7}">
              <ma14:placeholderFlag xmlns:ma14="http://schemas.microsoft.com/office/mac/drawingml/2011/main" xmlns="" val="1"/>
            </a:ext>
          </a:extLst>
        </p:spPr>
      </p:sp>
      <p:sp>
        <p:nvSpPr>
          <p:cNvPr id="534531"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r>
              <a:rPr lang="en-US">
                <a:cs typeface="+mn-cs"/>
              </a:rPr>
              <a:t>Sure sounds like they didn</a:t>
            </a:r>
            <a:r>
              <a:rPr lang="ja-JP" altLang="en-US">
                <a:latin typeface="Arial"/>
                <a:cs typeface="+mn-cs"/>
              </a:rPr>
              <a:t>’</a:t>
            </a:r>
            <a:r>
              <a:rPr lang="en-US">
                <a:cs typeface="+mn-cs"/>
              </a:rPr>
              <a:t>t want to fix it.  But why?</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198DEDEF-6052-274C-95AA-9958792AEA28}" type="slidenum">
              <a:rPr lang="en-US"/>
              <a:pPr>
                <a:defRPr/>
              </a:pPr>
              <a:t>27</a:t>
            </a:fld>
            <a:endParaRPr lang="en-US"/>
          </a:p>
        </p:txBody>
      </p:sp>
      <p:sp>
        <p:nvSpPr>
          <p:cNvPr id="542722" name="Rectangle 2"/>
          <p:cNvSpPr>
            <a:spLocks noGrp="1" noRot="1" noChangeAspect="1" noChangeArrowheads="1"/>
          </p:cNvSpPr>
          <p:nvPr>
            <p:ph type="sldImg"/>
          </p:nvPr>
        </p:nvSpPr>
        <p:spPr>
          <a:solidFill>
            <a:srgbClr val="FFFFFF"/>
          </a:solidFill>
          <a:ln/>
          <a:extLst>
            <a:ext uri="{FAA26D3D-D897-4be2-8F04-BA451C77F1D7}">
              <ma14:placeholderFlag xmlns:ma14="http://schemas.microsoft.com/office/mac/drawingml/2011/main" xmlns="" val="1"/>
            </a:ext>
          </a:extLst>
        </p:spPr>
      </p:sp>
      <p:sp>
        <p:nvSpPr>
          <p:cNvPr id="542723"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endParaRPr lang="en-US">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068B019B-CF81-5D4E-B2DC-641E8C337E86}" type="slidenum">
              <a:rPr lang="en-US"/>
              <a:pPr>
                <a:defRPr/>
              </a:pPr>
              <a:t>28</a:t>
            </a:fld>
            <a:endParaRPr lang="en-US"/>
          </a:p>
        </p:txBody>
      </p:sp>
      <p:sp>
        <p:nvSpPr>
          <p:cNvPr id="536578" name="Rectangle 2"/>
          <p:cNvSpPr>
            <a:spLocks noGrp="1" noRot="1" noChangeAspect="1" noChangeArrowheads="1"/>
          </p:cNvSpPr>
          <p:nvPr>
            <p:ph type="sldImg"/>
          </p:nvPr>
        </p:nvSpPr>
        <p:spPr>
          <a:solidFill>
            <a:srgbClr val="FFFFFF"/>
          </a:solidFill>
          <a:ln/>
          <a:extLst>
            <a:ext uri="{FAA26D3D-D897-4be2-8F04-BA451C77F1D7}">
              <ma14:placeholderFlag xmlns:ma14="http://schemas.microsoft.com/office/mac/drawingml/2011/main" xmlns="" val="1"/>
            </a:ext>
          </a:extLst>
        </p:spPr>
      </p:sp>
      <p:sp>
        <p:nvSpPr>
          <p:cNvPr id="536579"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endParaRPr lang="en-US">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1A50DBC2-920C-1C4C-A2AC-D435B4495892}" type="slidenum">
              <a:rPr lang="en-US"/>
              <a:pPr>
                <a:defRPr/>
              </a:pPr>
              <a:t>29</a:t>
            </a:fld>
            <a:endParaRPr lang="en-US"/>
          </a:p>
        </p:txBody>
      </p:sp>
      <p:sp>
        <p:nvSpPr>
          <p:cNvPr id="538626" name="Rectangle 2"/>
          <p:cNvSpPr>
            <a:spLocks noGrp="1" noRot="1" noChangeAspect="1" noChangeArrowheads="1"/>
          </p:cNvSpPr>
          <p:nvPr>
            <p:ph type="sldImg"/>
          </p:nvPr>
        </p:nvSpPr>
        <p:spPr>
          <a:solidFill>
            <a:srgbClr val="FFFFFF"/>
          </a:solidFill>
          <a:ln/>
          <a:extLst>
            <a:ext uri="{FAA26D3D-D897-4be2-8F04-BA451C77F1D7}">
              <ma14:placeholderFlag xmlns:ma14="http://schemas.microsoft.com/office/mac/drawingml/2011/main" xmlns="" val="1"/>
            </a:ext>
          </a:extLst>
        </p:spPr>
      </p:sp>
      <p:sp>
        <p:nvSpPr>
          <p:cNvPr id="538627"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r>
              <a:rPr lang="en-US">
                <a:cs typeface="+mn-cs"/>
              </a:rPr>
              <a:t>Don</a:t>
            </a:r>
            <a:r>
              <a:rPr lang="ja-JP" altLang="en-US">
                <a:latin typeface="Arial"/>
                <a:cs typeface="+mn-cs"/>
              </a:rPr>
              <a:t>’</a:t>
            </a:r>
            <a:r>
              <a:rPr lang="en-US">
                <a:cs typeface="+mn-cs"/>
              </a:rPr>
              <a:t>t look at me.  I knew it was wrong. Never bothered to figure out why.  I have enough trouble figuring out the right way to do things without trying to figure out why all the wrong ways are wrong.  But okay, I will think about it.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655A9C11-0B63-BF4A-B820-87FA640E4DEC}" type="slidenum">
              <a:rPr lang="en-US" smtClean="0"/>
              <a:pPr>
                <a:defRPr/>
              </a:pPr>
              <a:t>30</a:t>
            </a:fld>
            <a:endParaRPr lang="en-US"/>
          </a:p>
        </p:txBody>
      </p:sp>
    </p:spTree>
    <p:extLst>
      <p:ext uri="{BB962C8B-B14F-4D97-AF65-F5344CB8AC3E}">
        <p14:creationId xmlns:p14="http://schemas.microsoft.com/office/powerpoint/2010/main" val="35018872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4D89FB28-0F41-D24D-9003-4D0CDDE084AF}" type="slidenum">
              <a:rPr lang="en-US"/>
              <a:pPr>
                <a:defRPr/>
              </a:pPr>
              <a:t>33</a:t>
            </a:fld>
            <a:endParaRPr lang="en-US"/>
          </a:p>
        </p:txBody>
      </p:sp>
      <p:sp>
        <p:nvSpPr>
          <p:cNvPr id="540674" name="Rectangle 2"/>
          <p:cNvSpPr>
            <a:spLocks noGrp="1" noRot="1" noChangeAspect="1" noChangeArrowheads="1"/>
          </p:cNvSpPr>
          <p:nvPr>
            <p:ph type="sldImg"/>
          </p:nvPr>
        </p:nvSpPr>
        <p:spPr>
          <a:solidFill>
            <a:srgbClr val="FFFFFF"/>
          </a:solidFill>
          <a:ln/>
          <a:extLst>
            <a:ext uri="{FAA26D3D-D897-4be2-8F04-BA451C77F1D7}">
              <ma14:placeholderFlag xmlns:ma14="http://schemas.microsoft.com/office/mac/drawingml/2011/main" xmlns="" val="1"/>
            </a:ext>
          </a:extLst>
        </p:spPr>
      </p:sp>
      <p:sp>
        <p:nvSpPr>
          <p:cNvPr id="540675"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r>
              <a:rPr lang="en-US">
                <a:cs typeface="+mn-cs"/>
              </a:rPr>
              <a:t>The locators are aggregatable like IP addresses and we know that a system can have multiple locators but a single endpoint.  Locators must be the PoAs.  That means that the EID is at the the node. But what we are interested in is the thing the packet is delivered to.  That isn</a:t>
            </a:r>
            <a:r>
              <a:rPr lang="ja-JP" altLang="en-US">
                <a:latin typeface="Arial"/>
                <a:cs typeface="+mn-cs"/>
              </a:rPr>
              <a:t>’</a:t>
            </a:r>
            <a:r>
              <a:rPr lang="en-US">
                <a:cs typeface="+mn-cs"/>
              </a:rPr>
              <a:t>t the locator. It is the EID. That means!</a:t>
            </a:r>
          </a:p>
          <a:p>
            <a:pPr>
              <a:defRPr/>
            </a:pPr>
            <a:r>
              <a:rPr lang="en-US">
                <a:cs typeface="+mn-cs"/>
              </a:rPr>
              <a:t>How did they make this mistake?  The age-old myth (or is that sloppy thinking) that IP addresses name the host.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655A9C11-0B63-BF4A-B820-87FA640E4DEC}" type="slidenum">
              <a:rPr lang="en-US" smtClean="0"/>
              <a:pPr>
                <a:defRPr/>
              </a:pPr>
              <a:t>36</a:t>
            </a:fld>
            <a:endParaRPr lang="en-US"/>
          </a:p>
        </p:txBody>
      </p:sp>
    </p:spTree>
    <p:extLst>
      <p:ext uri="{BB962C8B-B14F-4D97-AF65-F5344CB8AC3E}">
        <p14:creationId xmlns:p14="http://schemas.microsoft.com/office/powerpoint/2010/main" val="1961598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Rot="1" noChangeAspect="1" noChangeArrowheads="1"/>
          </p:cNvSpPr>
          <p:nvPr>
            <p:ph type="sldImg"/>
          </p:nvPr>
        </p:nvSpPr>
        <p:spPr>
          <a:solidFill>
            <a:srgbClr val="FFFFFF"/>
          </a:solidFill>
          <a:ln/>
          <a:extLst>
            <a:ext uri="{FAA26D3D-D897-4be2-8F04-BA451C77F1D7}">
              <ma14:placeholderFlag xmlns:ma14="http://schemas.microsoft.com/office/mac/drawingml/2011/main" xmlns="" val="1"/>
            </a:ext>
          </a:extLst>
        </p:spPr>
      </p:sp>
      <p:sp>
        <p:nvSpPr>
          <p:cNvPr id="108547"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defRPr/>
            </a:pPr>
            <a:endParaRPr lang="en-US" dirty="0">
              <a:cs typeface="+mn-cs"/>
            </a:endParaRPr>
          </a:p>
        </p:txBody>
      </p:sp>
    </p:spTree>
    <p:extLst>
      <p:ext uri="{BB962C8B-B14F-4D97-AF65-F5344CB8AC3E}">
        <p14:creationId xmlns:p14="http://schemas.microsoft.com/office/powerpoint/2010/main" val="2302203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Rot="1" noChangeAspect="1" noChangeArrowheads="1"/>
          </p:cNvSpPr>
          <p:nvPr>
            <p:ph type="sldImg"/>
          </p:nvPr>
        </p:nvSpPr>
        <p:spPr>
          <a:solidFill>
            <a:srgbClr val="FFFFFF"/>
          </a:solidFill>
          <a:ln/>
          <a:extLst>
            <a:ext uri="{FAA26D3D-D897-4be2-8F04-BA451C77F1D7}">
              <ma14:placeholderFlag xmlns="" xmlns:ma14="http://schemas.microsoft.com/office/mac/drawingml/2011/main" val="1"/>
            </a:ext>
          </a:extLst>
        </p:spPr>
      </p:sp>
      <p:sp>
        <p:nvSpPr>
          <p:cNvPr id="108547"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defRPr/>
            </a:pPr>
            <a:endParaRPr lang="en-US" dirty="0">
              <a:cs typeface="+mn-cs"/>
            </a:endParaRPr>
          </a:p>
        </p:txBody>
      </p:sp>
    </p:spTree>
    <p:extLst>
      <p:ext uri="{BB962C8B-B14F-4D97-AF65-F5344CB8AC3E}">
        <p14:creationId xmlns:p14="http://schemas.microsoft.com/office/powerpoint/2010/main" val="27303782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2E295EFA-84B1-1B4A-904C-EF6D23F7D1EC}" type="slidenum">
              <a:rPr lang="en-US"/>
              <a:pPr>
                <a:defRPr/>
              </a:pPr>
              <a:t>41</a:t>
            </a:fld>
            <a:endParaRPr lang="en-US"/>
          </a:p>
        </p:txBody>
      </p:sp>
      <p:sp>
        <p:nvSpPr>
          <p:cNvPr id="552962" name="Rectangle 2"/>
          <p:cNvSpPr>
            <a:spLocks noGrp="1" noRot="1" noChangeAspect="1" noChangeArrowheads="1"/>
          </p:cNvSpPr>
          <p:nvPr>
            <p:ph type="sldImg"/>
          </p:nvPr>
        </p:nvSpPr>
        <p:spPr>
          <a:solidFill>
            <a:srgbClr val="FFFFFF"/>
          </a:solidFill>
          <a:ln/>
          <a:extLst>
            <a:ext uri="{FAA26D3D-D897-4be2-8F04-BA451C77F1D7}">
              <ma14:placeholderFlag xmlns:ma14="http://schemas.microsoft.com/office/mac/drawingml/2011/main" xmlns="" val="1"/>
            </a:ext>
          </a:extLst>
        </p:spPr>
      </p:sp>
      <p:sp>
        <p:nvSpPr>
          <p:cNvPr id="552963"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r>
              <a:rPr lang="en-US">
                <a:cs typeface="+mn-cs"/>
              </a:rPr>
              <a:t>We have known about this problem since 1972.  We immediately knew the answer, Saltzer finally explained it in 1982 (although he missed a case). And is all the more onerous by the fact that IPv7 tried to fix it in 1992 and it was already deployed in the routers.  The last 15 years of IPv6 development have been a complete waste of time and money and now endangers the future of the Internet.</a:t>
            </a:r>
          </a:p>
          <a:p>
            <a:pPr>
              <a:defRPr/>
            </a:pPr>
            <a:endParaRPr lang="en-US">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C407B50-FFC2-EC4A-9D38-31BFFF41F479}" type="slidenum">
              <a:rPr lang="en-US"/>
              <a:pPr>
                <a:defRPr/>
              </a:pPr>
              <a:t>42</a:t>
            </a:fld>
            <a:endParaRPr lang="en-US"/>
          </a:p>
        </p:txBody>
      </p:sp>
      <p:sp>
        <p:nvSpPr>
          <p:cNvPr id="555010" name="Rectangle 2"/>
          <p:cNvSpPr>
            <a:spLocks noGrp="1" noRot="1" noChangeAspect="1" noChangeArrowheads="1"/>
          </p:cNvSpPr>
          <p:nvPr>
            <p:ph type="sldImg"/>
          </p:nvPr>
        </p:nvSpPr>
        <p:spPr>
          <a:solidFill>
            <a:srgbClr val="FFFFFF"/>
          </a:solidFill>
          <a:ln/>
          <a:extLst>
            <a:ext uri="{FAA26D3D-D897-4be2-8F04-BA451C77F1D7}">
              <ma14:placeholderFlag xmlns:ma14="http://schemas.microsoft.com/office/mac/drawingml/2011/main" xmlns="" val="1"/>
            </a:ext>
          </a:extLst>
        </p:spPr>
      </p:sp>
      <p:sp>
        <p:nvSpPr>
          <p:cNvPr id="555011"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r>
              <a:rPr lang="en-US">
                <a:cs typeface="+mn-cs"/>
              </a:rPr>
              <a:t>The bunch of keystone cops called the RRG has talked themselves into the idea that the </a:t>
            </a:r>
            <a:r>
              <a:rPr lang="ja-JP" altLang="en-US">
                <a:latin typeface="Arial"/>
                <a:cs typeface="+mn-cs"/>
              </a:rPr>
              <a:t>“</a:t>
            </a:r>
            <a:r>
              <a:rPr lang="en-US">
                <a:cs typeface="+mn-cs"/>
              </a:rPr>
              <a:t>id</a:t>
            </a:r>
            <a:r>
              <a:rPr lang="ja-JP" altLang="en-US">
                <a:latin typeface="Arial"/>
                <a:cs typeface="+mn-cs"/>
              </a:rPr>
              <a:t>”</a:t>
            </a:r>
            <a:r>
              <a:rPr lang="en-US">
                <a:cs typeface="+mn-cs"/>
              </a:rPr>
              <a:t> must be aggregatable.  Gee I wonder why!?  Old Joke from the eastern block.</a:t>
            </a:r>
          </a:p>
          <a:p>
            <a:pPr>
              <a:defRPr/>
            </a:pPr>
            <a:r>
              <a:rPr lang="en-US">
                <a:cs typeface="+mn-cs"/>
              </a:rPr>
              <a:t>The identifer names an </a:t>
            </a:r>
            <a:r>
              <a:rPr lang="ja-JP" altLang="en-US">
                <a:latin typeface="Arial"/>
                <a:cs typeface="+mn-cs"/>
              </a:rPr>
              <a:t>“</a:t>
            </a:r>
            <a:r>
              <a:rPr lang="en-US">
                <a:cs typeface="+mn-cs"/>
              </a:rPr>
              <a:t>endpoint.</a:t>
            </a:r>
            <a:r>
              <a:rPr lang="ja-JP" altLang="en-US">
                <a:latin typeface="Arial"/>
                <a:cs typeface="+mn-cs"/>
              </a:rPr>
              <a:t>”</a:t>
            </a:r>
            <a:r>
              <a:rPr lang="en-US">
                <a:cs typeface="+mn-cs"/>
              </a:rPr>
              <a:t>  The endpoint can only be an application-entity-instance.</a:t>
            </a:r>
          </a:p>
          <a:p>
            <a:pPr>
              <a:defRPr/>
            </a:pPr>
            <a:r>
              <a:rPr lang="en-US">
                <a:cs typeface="+mn-cs"/>
              </a:rPr>
              <a:t>This takes us from a quarter of an architecture to a third an architecture.</a:t>
            </a:r>
          </a:p>
          <a:p>
            <a:pPr>
              <a:defRPr/>
            </a:pPr>
            <a:endParaRPr lang="en-US">
              <a:cs typeface="+mn-c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559C591F-B693-3E48-9252-2DC7B3DFC450}" type="slidenum">
              <a:rPr lang="en-US"/>
              <a:pPr>
                <a:defRPr/>
              </a:pPr>
              <a:t>43</a:t>
            </a:fld>
            <a:endParaRPr lang="en-US"/>
          </a:p>
        </p:txBody>
      </p:sp>
      <p:sp>
        <p:nvSpPr>
          <p:cNvPr id="558082" name="Rectangle 2"/>
          <p:cNvSpPr>
            <a:spLocks noGrp="1" noRot="1" noChangeAspect="1" noChangeArrowheads="1"/>
          </p:cNvSpPr>
          <p:nvPr>
            <p:ph type="sldImg"/>
          </p:nvPr>
        </p:nvSpPr>
        <p:spPr>
          <a:solidFill>
            <a:srgbClr val="FFFFFF"/>
          </a:solidFill>
          <a:ln/>
          <a:extLst>
            <a:ext uri="{FAA26D3D-D897-4be2-8F04-BA451C77F1D7}">
              <ma14:placeholderFlag xmlns:ma14="http://schemas.microsoft.com/office/mac/drawingml/2011/main" xmlns="" val="1"/>
            </a:ext>
          </a:extLst>
        </p:spPr>
      </p:sp>
      <p:sp>
        <p:nvSpPr>
          <p:cNvPr id="558083"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endParaRPr lang="en-US">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fld id="{A154F9B2-B873-9B49-B25B-B7FEC09CC757}" type="datetime3">
              <a:rPr lang="en-US"/>
              <a:pPr>
                <a:defRPr/>
              </a:pPr>
              <a:t>14 January 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a:t>
            </a:r>
          </a:p>
        </p:txBody>
      </p:sp>
      <p:sp>
        <p:nvSpPr>
          <p:cNvPr id="6" name="Rectangle 6"/>
          <p:cNvSpPr>
            <a:spLocks noGrp="1" noChangeArrowheads="1"/>
          </p:cNvSpPr>
          <p:nvPr>
            <p:ph type="sldNum" sz="quarter" idx="12"/>
          </p:nvPr>
        </p:nvSpPr>
        <p:spPr>
          <a:ln/>
        </p:spPr>
        <p:txBody>
          <a:bodyPr/>
          <a:lstStyle>
            <a:lvl1pPr>
              <a:defRPr/>
            </a:lvl1pPr>
          </a:lstStyle>
          <a:p>
            <a:pPr>
              <a:defRPr/>
            </a:pPr>
            <a:fld id="{D870CD54-3397-C749-A4AC-20526C2B00F5}" type="slidenum">
              <a:rPr lang="en-US"/>
              <a:pPr>
                <a:defRPr/>
              </a:pPr>
              <a:t>‹#›</a:t>
            </a:fld>
            <a:endParaRPr lang="en-US"/>
          </a:p>
        </p:txBody>
      </p:sp>
    </p:spTree>
    <p:extLst>
      <p:ext uri="{BB962C8B-B14F-4D97-AF65-F5344CB8AC3E}">
        <p14:creationId xmlns:p14="http://schemas.microsoft.com/office/powerpoint/2010/main" val="1134310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r>
              <a:rPr lang="en-US"/>
              <a:t>.</a:t>
            </a:r>
          </a:p>
        </p:txBody>
      </p:sp>
      <p:sp>
        <p:nvSpPr>
          <p:cNvPr id="6" name="Rectangle 6"/>
          <p:cNvSpPr>
            <a:spLocks noGrp="1" noChangeArrowheads="1"/>
          </p:cNvSpPr>
          <p:nvPr>
            <p:ph type="sldNum" sz="quarter" idx="12"/>
          </p:nvPr>
        </p:nvSpPr>
        <p:spPr>
          <a:ln/>
        </p:spPr>
        <p:txBody>
          <a:bodyPr/>
          <a:lstStyle>
            <a:lvl1pPr>
              <a:defRPr/>
            </a:lvl1pPr>
          </a:lstStyle>
          <a:p>
            <a:pPr>
              <a:defRPr/>
            </a:pPr>
            <a:fld id="{387784B1-C076-7041-9578-8D2F54B7CB27}" type="slidenum">
              <a:rPr lang="en-US"/>
              <a:pPr>
                <a:defRPr/>
              </a:pPr>
              <a:t>‹#›</a:t>
            </a:fld>
            <a:endParaRPr lang="en-US"/>
          </a:p>
        </p:txBody>
      </p:sp>
    </p:spTree>
    <p:extLst>
      <p:ext uri="{BB962C8B-B14F-4D97-AF65-F5344CB8AC3E}">
        <p14:creationId xmlns:p14="http://schemas.microsoft.com/office/powerpoint/2010/main" val="8153016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4AF9D277-CEFC-5641-B9BC-E4DE8EE6A970}" type="datetime3">
              <a:rPr lang="en-US"/>
              <a:pPr>
                <a:defRPr/>
              </a:pPr>
              <a:t>14 January 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a:t>
            </a:r>
          </a:p>
        </p:txBody>
      </p:sp>
      <p:sp>
        <p:nvSpPr>
          <p:cNvPr id="6" name="Rectangle 6"/>
          <p:cNvSpPr>
            <a:spLocks noGrp="1" noChangeArrowheads="1"/>
          </p:cNvSpPr>
          <p:nvPr>
            <p:ph type="sldNum" sz="quarter" idx="12"/>
          </p:nvPr>
        </p:nvSpPr>
        <p:spPr>
          <a:ln/>
        </p:spPr>
        <p:txBody>
          <a:bodyPr/>
          <a:lstStyle>
            <a:lvl1pPr>
              <a:defRPr/>
            </a:lvl1pPr>
          </a:lstStyle>
          <a:p>
            <a:pPr>
              <a:defRPr/>
            </a:pPr>
            <a:fld id="{830485BC-2790-9A42-9BA5-D9045FE701E6}" type="slidenum">
              <a:rPr lang="en-US"/>
              <a:pPr>
                <a:defRPr/>
              </a:pPr>
              <a:t>‹#›</a:t>
            </a:fld>
            <a:endParaRPr lang="en-US"/>
          </a:p>
        </p:txBody>
      </p:sp>
    </p:spTree>
    <p:extLst>
      <p:ext uri="{BB962C8B-B14F-4D97-AF65-F5344CB8AC3E}">
        <p14:creationId xmlns:p14="http://schemas.microsoft.com/office/powerpoint/2010/main" val="3178769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D31DA8A4-7D92-774B-82C9-687FED33A795}" type="datetime3">
              <a:rPr lang="en-US"/>
              <a:pPr>
                <a:defRPr/>
              </a:pPr>
              <a:t>14 January 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a:t>
            </a:r>
          </a:p>
        </p:txBody>
      </p:sp>
      <p:sp>
        <p:nvSpPr>
          <p:cNvPr id="7" name="Rectangle 6"/>
          <p:cNvSpPr>
            <a:spLocks noGrp="1" noChangeArrowheads="1"/>
          </p:cNvSpPr>
          <p:nvPr>
            <p:ph type="sldNum" sz="quarter" idx="12"/>
          </p:nvPr>
        </p:nvSpPr>
        <p:spPr>
          <a:ln/>
        </p:spPr>
        <p:txBody>
          <a:bodyPr/>
          <a:lstStyle>
            <a:lvl1pPr>
              <a:defRPr/>
            </a:lvl1pPr>
          </a:lstStyle>
          <a:p>
            <a:pPr>
              <a:defRPr/>
            </a:pPr>
            <a:fld id="{E5C13F4C-5027-DE4E-967E-0714EDC1A778}" type="slidenum">
              <a:rPr lang="en-US"/>
              <a:pPr>
                <a:defRPr/>
              </a:pPr>
              <a:t>‹#›</a:t>
            </a:fld>
            <a:endParaRPr lang="en-US"/>
          </a:p>
        </p:txBody>
      </p:sp>
    </p:spTree>
    <p:extLst>
      <p:ext uri="{BB962C8B-B14F-4D97-AF65-F5344CB8AC3E}">
        <p14:creationId xmlns:p14="http://schemas.microsoft.com/office/powerpoint/2010/main" val="2374065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fld id="{54B0E995-C1AA-174B-8576-1CB7A83AA37B}" type="datetime3">
              <a:rPr lang="en-US"/>
              <a:pPr>
                <a:defRPr/>
              </a:pPr>
              <a:t>14 January 2026</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r>
              <a:rPr lang="en-US"/>
              <a:t>.</a:t>
            </a:r>
          </a:p>
        </p:txBody>
      </p:sp>
      <p:sp>
        <p:nvSpPr>
          <p:cNvPr id="9" name="Rectangle 6"/>
          <p:cNvSpPr>
            <a:spLocks noGrp="1" noChangeArrowheads="1"/>
          </p:cNvSpPr>
          <p:nvPr>
            <p:ph type="sldNum" sz="quarter" idx="12"/>
          </p:nvPr>
        </p:nvSpPr>
        <p:spPr>
          <a:ln/>
        </p:spPr>
        <p:txBody>
          <a:bodyPr/>
          <a:lstStyle>
            <a:lvl1pPr>
              <a:defRPr/>
            </a:lvl1pPr>
          </a:lstStyle>
          <a:p>
            <a:pPr>
              <a:defRPr/>
            </a:pPr>
            <a:fld id="{E9023F7C-3842-C142-A42A-6325051A4200}" type="slidenum">
              <a:rPr lang="en-US"/>
              <a:pPr>
                <a:defRPr/>
              </a:pPr>
              <a:t>‹#›</a:t>
            </a:fld>
            <a:endParaRPr lang="en-US"/>
          </a:p>
        </p:txBody>
      </p:sp>
    </p:spTree>
    <p:extLst>
      <p:ext uri="{BB962C8B-B14F-4D97-AF65-F5344CB8AC3E}">
        <p14:creationId xmlns:p14="http://schemas.microsoft.com/office/powerpoint/2010/main" val="15776917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fld id="{4655E159-FA65-4642-81CE-F5399A9C7F95}" type="datetime3">
              <a:rPr lang="en-US"/>
              <a:pPr>
                <a:defRPr/>
              </a:pPr>
              <a:t>14 January 2026</a:t>
            </a:fld>
            <a:endParaRPr lang="en-US"/>
          </a:p>
        </p:txBody>
      </p:sp>
      <p:sp>
        <p:nvSpPr>
          <p:cNvPr id="4" name="Rectangle 5"/>
          <p:cNvSpPr>
            <a:spLocks noGrp="1" noChangeArrowheads="1"/>
          </p:cNvSpPr>
          <p:nvPr>
            <p:ph type="ftr" sz="quarter" idx="11"/>
          </p:nvPr>
        </p:nvSpPr>
        <p:spPr>
          <a:ln/>
        </p:spPr>
        <p:txBody>
          <a:bodyPr/>
          <a:lstStyle>
            <a:lvl1pPr>
              <a:defRPr/>
            </a:lvl1pPr>
          </a:lstStyle>
          <a:p>
            <a:pPr>
              <a:defRPr/>
            </a:pPr>
            <a:r>
              <a:rPr lang="en-US"/>
              <a:t>.</a:t>
            </a:r>
          </a:p>
        </p:txBody>
      </p:sp>
      <p:sp>
        <p:nvSpPr>
          <p:cNvPr id="5" name="Rectangle 6"/>
          <p:cNvSpPr>
            <a:spLocks noGrp="1" noChangeArrowheads="1"/>
          </p:cNvSpPr>
          <p:nvPr>
            <p:ph type="sldNum" sz="quarter" idx="12"/>
          </p:nvPr>
        </p:nvSpPr>
        <p:spPr>
          <a:ln/>
        </p:spPr>
        <p:txBody>
          <a:bodyPr/>
          <a:lstStyle>
            <a:lvl1pPr>
              <a:defRPr/>
            </a:lvl1pPr>
          </a:lstStyle>
          <a:p>
            <a:pPr>
              <a:defRPr/>
            </a:pPr>
            <a:fld id="{36A68BB5-FDE5-CD42-BBC2-FB40ED2386AC}" type="slidenum">
              <a:rPr lang="en-US"/>
              <a:pPr>
                <a:defRPr/>
              </a:pPr>
              <a:t>‹#›</a:t>
            </a:fld>
            <a:endParaRPr lang="en-US"/>
          </a:p>
        </p:txBody>
      </p:sp>
    </p:spTree>
    <p:extLst>
      <p:ext uri="{BB962C8B-B14F-4D97-AF65-F5344CB8AC3E}">
        <p14:creationId xmlns:p14="http://schemas.microsoft.com/office/powerpoint/2010/main" val="983941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CBF4C81F-A52B-A14E-9304-5F492CCEDCDC}" type="datetime3">
              <a:rPr lang="en-US"/>
              <a:pPr>
                <a:defRPr/>
              </a:pPr>
              <a:t>14 January 2026</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a:t>.</a:t>
            </a:r>
          </a:p>
        </p:txBody>
      </p:sp>
      <p:sp>
        <p:nvSpPr>
          <p:cNvPr id="4" name="Rectangle 6"/>
          <p:cNvSpPr>
            <a:spLocks noGrp="1" noChangeArrowheads="1"/>
          </p:cNvSpPr>
          <p:nvPr>
            <p:ph type="sldNum" sz="quarter" idx="12"/>
          </p:nvPr>
        </p:nvSpPr>
        <p:spPr>
          <a:ln/>
        </p:spPr>
        <p:txBody>
          <a:bodyPr/>
          <a:lstStyle>
            <a:lvl1pPr>
              <a:defRPr/>
            </a:lvl1pPr>
          </a:lstStyle>
          <a:p>
            <a:pPr>
              <a:defRPr/>
            </a:pPr>
            <a:fld id="{69099406-CFAA-9E4F-AC3E-6F4D350E9882}" type="slidenum">
              <a:rPr lang="en-US"/>
              <a:pPr>
                <a:defRPr/>
              </a:pPr>
              <a:t>‹#›</a:t>
            </a:fld>
            <a:endParaRPr lang="en-US"/>
          </a:p>
        </p:txBody>
      </p:sp>
    </p:spTree>
    <p:extLst>
      <p:ext uri="{BB962C8B-B14F-4D97-AF65-F5344CB8AC3E}">
        <p14:creationId xmlns:p14="http://schemas.microsoft.com/office/powerpoint/2010/main" val="8927272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106FCE70-F3EE-A149-8477-6870046CBAF7}" type="datetime3">
              <a:rPr lang="en-US"/>
              <a:pPr>
                <a:defRPr/>
              </a:pPr>
              <a:t>14 January 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a:t>
            </a:r>
          </a:p>
        </p:txBody>
      </p:sp>
      <p:sp>
        <p:nvSpPr>
          <p:cNvPr id="7" name="Rectangle 6"/>
          <p:cNvSpPr>
            <a:spLocks noGrp="1" noChangeArrowheads="1"/>
          </p:cNvSpPr>
          <p:nvPr>
            <p:ph type="sldNum" sz="quarter" idx="12"/>
          </p:nvPr>
        </p:nvSpPr>
        <p:spPr>
          <a:ln/>
        </p:spPr>
        <p:txBody>
          <a:bodyPr/>
          <a:lstStyle>
            <a:lvl1pPr>
              <a:defRPr/>
            </a:lvl1pPr>
          </a:lstStyle>
          <a:p>
            <a:pPr>
              <a:defRPr/>
            </a:pPr>
            <a:fld id="{08F747CA-6B3B-0A4C-86EC-596CF09000E0}" type="slidenum">
              <a:rPr lang="en-US"/>
              <a:pPr>
                <a:defRPr/>
              </a:pPr>
              <a:t>‹#›</a:t>
            </a:fld>
            <a:endParaRPr lang="en-US"/>
          </a:p>
        </p:txBody>
      </p:sp>
    </p:spTree>
    <p:extLst>
      <p:ext uri="{BB962C8B-B14F-4D97-AF65-F5344CB8AC3E}">
        <p14:creationId xmlns:p14="http://schemas.microsoft.com/office/powerpoint/2010/main" val="91803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DCE30FF9-0FA5-AB4D-83B2-0BF18DD0E856}" type="datetime3">
              <a:rPr lang="en-US"/>
              <a:pPr>
                <a:defRPr/>
              </a:pPr>
              <a:t>14 January 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a:t>
            </a:r>
          </a:p>
        </p:txBody>
      </p:sp>
      <p:sp>
        <p:nvSpPr>
          <p:cNvPr id="7" name="Rectangle 6"/>
          <p:cNvSpPr>
            <a:spLocks noGrp="1" noChangeArrowheads="1"/>
          </p:cNvSpPr>
          <p:nvPr>
            <p:ph type="sldNum" sz="quarter" idx="12"/>
          </p:nvPr>
        </p:nvSpPr>
        <p:spPr>
          <a:ln/>
        </p:spPr>
        <p:txBody>
          <a:bodyPr/>
          <a:lstStyle>
            <a:lvl1pPr>
              <a:defRPr/>
            </a:lvl1pPr>
          </a:lstStyle>
          <a:p>
            <a:pPr>
              <a:defRPr/>
            </a:pPr>
            <a:fld id="{65528C93-5B31-B745-B2FC-B45159338248}" type="slidenum">
              <a:rPr lang="en-US"/>
              <a:pPr>
                <a:defRPr/>
              </a:pPr>
              <a:t>‹#›</a:t>
            </a:fld>
            <a:endParaRPr lang="en-US"/>
          </a:p>
        </p:txBody>
      </p:sp>
    </p:spTree>
    <p:extLst>
      <p:ext uri="{BB962C8B-B14F-4D97-AF65-F5344CB8AC3E}">
        <p14:creationId xmlns:p14="http://schemas.microsoft.com/office/powerpoint/2010/main" val="1263778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FA371DAE-01F5-4140-85D9-A5C6F5AF5E05}" type="datetime3">
              <a:rPr lang="en-US"/>
              <a:pPr>
                <a:defRPr/>
              </a:pPr>
              <a:t>14 January 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a:t>
            </a:r>
          </a:p>
        </p:txBody>
      </p:sp>
      <p:sp>
        <p:nvSpPr>
          <p:cNvPr id="6" name="Rectangle 6"/>
          <p:cNvSpPr>
            <a:spLocks noGrp="1" noChangeArrowheads="1"/>
          </p:cNvSpPr>
          <p:nvPr>
            <p:ph type="sldNum" sz="quarter" idx="12"/>
          </p:nvPr>
        </p:nvSpPr>
        <p:spPr>
          <a:ln/>
        </p:spPr>
        <p:txBody>
          <a:bodyPr/>
          <a:lstStyle>
            <a:lvl1pPr>
              <a:defRPr/>
            </a:lvl1pPr>
          </a:lstStyle>
          <a:p>
            <a:pPr>
              <a:defRPr/>
            </a:pPr>
            <a:fld id="{FFCF7F8A-7432-8044-A70F-F4C1D907622B}" type="slidenum">
              <a:rPr lang="en-US"/>
              <a:pPr>
                <a:defRPr/>
              </a:pPr>
              <a:t>‹#›</a:t>
            </a:fld>
            <a:endParaRPr lang="en-US"/>
          </a:p>
        </p:txBody>
      </p:sp>
    </p:spTree>
    <p:extLst>
      <p:ext uri="{BB962C8B-B14F-4D97-AF65-F5344CB8AC3E}">
        <p14:creationId xmlns:p14="http://schemas.microsoft.com/office/powerpoint/2010/main" val="37832789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70C5AEBA-C899-A948-95F9-CCC2AB465E90}" type="datetime3">
              <a:rPr lang="en-US"/>
              <a:pPr>
                <a:defRPr/>
              </a:pPr>
              <a:t>14 January 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a:t>
            </a:r>
          </a:p>
        </p:txBody>
      </p:sp>
      <p:sp>
        <p:nvSpPr>
          <p:cNvPr id="6" name="Rectangle 6"/>
          <p:cNvSpPr>
            <a:spLocks noGrp="1" noChangeArrowheads="1"/>
          </p:cNvSpPr>
          <p:nvPr>
            <p:ph type="sldNum" sz="quarter" idx="12"/>
          </p:nvPr>
        </p:nvSpPr>
        <p:spPr>
          <a:ln/>
        </p:spPr>
        <p:txBody>
          <a:bodyPr/>
          <a:lstStyle>
            <a:lvl1pPr>
              <a:defRPr/>
            </a:lvl1pPr>
          </a:lstStyle>
          <a:p>
            <a:pPr>
              <a:defRPr/>
            </a:pPr>
            <a:fld id="{58EFF8C1-4AFC-8E41-A06D-0DB6A279FFAE}" type="slidenum">
              <a:rPr lang="en-US"/>
              <a:pPr>
                <a:defRPr/>
              </a:pPr>
              <a:t>‹#›</a:t>
            </a:fld>
            <a:endParaRPr lang="en-US"/>
          </a:p>
        </p:txBody>
      </p:sp>
    </p:spTree>
    <p:extLst>
      <p:ext uri="{BB962C8B-B14F-4D97-AF65-F5344CB8AC3E}">
        <p14:creationId xmlns:p14="http://schemas.microsoft.com/office/powerpoint/2010/main" val="28632941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lvl1pPr>
              <a:defRPr>
                <a:latin typeface="Times"/>
                <a:ea typeface="ＭＳ Ｐゴシック"/>
              </a:defRPr>
            </a:lvl1pPr>
          </a:lstStyle>
          <a:p>
            <a:pPr>
              <a:defRPr/>
            </a:pPr>
            <a:fld id="{A642119A-1B86-C849-8964-C4A7ED5F3FC8}" type="datetime3">
              <a:rPr lang="en-US"/>
              <a:pPr>
                <a:defRPr/>
              </a:pPr>
              <a:t>14 January 2026</a:t>
            </a:fld>
            <a:endParaRPr lang="en-US"/>
          </a:p>
        </p:txBody>
      </p:sp>
      <p:sp>
        <p:nvSpPr>
          <p:cNvPr id="5" name="Rectangle 5"/>
          <p:cNvSpPr>
            <a:spLocks noGrp="1" noChangeArrowheads="1"/>
          </p:cNvSpPr>
          <p:nvPr>
            <p:ph type="ftr" sz="quarter" idx="11"/>
          </p:nvPr>
        </p:nvSpPr>
        <p:spPr/>
        <p:txBody>
          <a:bodyPr/>
          <a:lstStyle>
            <a:lvl1pPr>
              <a:defRPr>
                <a:latin typeface="Times"/>
                <a:ea typeface="ＭＳ Ｐゴシック"/>
              </a:defRPr>
            </a:lvl1pPr>
          </a:lstStyle>
          <a:p>
            <a:pPr>
              <a:defRPr/>
            </a:pPr>
            <a:r>
              <a:rPr lang="en-US"/>
              <a:t>.</a:t>
            </a:r>
          </a:p>
        </p:txBody>
      </p:sp>
      <p:sp>
        <p:nvSpPr>
          <p:cNvPr id="6" name="Rectangle 6"/>
          <p:cNvSpPr>
            <a:spLocks noGrp="1" noChangeArrowheads="1"/>
          </p:cNvSpPr>
          <p:nvPr>
            <p:ph type="sldNum" sz="quarter" idx="12"/>
          </p:nvPr>
        </p:nvSpPr>
        <p:spPr/>
        <p:txBody>
          <a:bodyPr/>
          <a:lstStyle>
            <a:lvl1pPr>
              <a:defRPr>
                <a:latin typeface="Times"/>
                <a:ea typeface="ＭＳ Ｐゴシック"/>
              </a:defRPr>
            </a:lvl1pPr>
          </a:lstStyle>
          <a:p>
            <a:pPr>
              <a:defRPr/>
            </a:pPr>
            <a:fld id="{06420339-CA68-D045-BC9C-BD8744AF6A38}" type="slidenum">
              <a:rPr lang="en-US"/>
              <a:pPr>
                <a:defRPr/>
              </a:pPr>
              <a:t>‹#›</a:t>
            </a:fld>
            <a:endParaRPr lang="en-US"/>
          </a:p>
        </p:txBody>
      </p:sp>
    </p:spTree>
    <p:extLst>
      <p:ext uri="{BB962C8B-B14F-4D97-AF65-F5344CB8AC3E}">
        <p14:creationId xmlns:p14="http://schemas.microsoft.com/office/powerpoint/2010/main" val="5892050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a:latin typeface="Times"/>
                <a:ea typeface="ＭＳ Ｐゴシック"/>
              </a:defRPr>
            </a:lvl1pPr>
          </a:lstStyle>
          <a:p>
            <a:pPr>
              <a:defRPr/>
            </a:pPr>
            <a:fld id="{D11ABE32-6E3D-9D4E-AC44-29667F0773FC}" type="datetime3">
              <a:rPr lang="en-US"/>
              <a:pPr>
                <a:defRPr/>
              </a:pPr>
              <a:t>14 January 2026</a:t>
            </a:fld>
            <a:endParaRPr lang="en-US"/>
          </a:p>
        </p:txBody>
      </p:sp>
      <p:sp>
        <p:nvSpPr>
          <p:cNvPr id="5" name="Rectangle 5"/>
          <p:cNvSpPr>
            <a:spLocks noGrp="1" noChangeArrowheads="1"/>
          </p:cNvSpPr>
          <p:nvPr>
            <p:ph type="ftr" sz="quarter" idx="11"/>
          </p:nvPr>
        </p:nvSpPr>
        <p:spPr/>
        <p:txBody>
          <a:bodyPr/>
          <a:lstStyle>
            <a:lvl1pPr>
              <a:defRPr>
                <a:latin typeface="Times"/>
                <a:ea typeface="ＭＳ Ｐゴシック"/>
              </a:defRPr>
            </a:lvl1pPr>
          </a:lstStyle>
          <a:p>
            <a:pPr>
              <a:defRPr/>
            </a:pPr>
            <a:r>
              <a:rPr lang="en-US"/>
              <a:t>.</a:t>
            </a:r>
          </a:p>
        </p:txBody>
      </p:sp>
      <p:sp>
        <p:nvSpPr>
          <p:cNvPr id="6" name="Rectangle 6"/>
          <p:cNvSpPr>
            <a:spLocks noGrp="1" noChangeArrowheads="1"/>
          </p:cNvSpPr>
          <p:nvPr>
            <p:ph type="sldNum" sz="quarter" idx="12"/>
          </p:nvPr>
        </p:nvSpPr>
        <p:spPr/>
        <p:txBody>
          <a:bodyPr/>
          <a:lstStyle>
            <a:lvl1pPr>
              <a:defRPr>
                <a:latin typeface="Times"/>
                <a:ea typeface="ＭＳ Ｐゴシック"/>
              </a:defRPr>
            </a:lvl1pPr>
          </a:lstStyle>
          <a:p>
            <a:pPr>
              <a:defRPr/>
            </a:pPr>
            <a:fld id="{982917A5-9D07-EA4B-8623-49FCEAF17766}" type="slidenum">
              <a:rPr lang="en-US"/>
              <a:pPr>
                <a:defRPr/>
              </a:pPr>
              <a:t>‹#›</a:t>
            </a:fld>
            <a:endParaRPr lang="en-US"/>
          </a:p>
        </p:txBody>
      </p:sp>
    </p:spTree>
    <p:extLst>
      <p:ext uri="{BB962C8B-B14F-4D97-AF65-F5344CB8AC3E}">
        <p14:creationId xmlns:p14="http://schemas.microsoft.com/office/powerpoint/2010/main" val="20249378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p:txBody>
          <a:bodyPr/>
          <a:lstStyle>
            <a:lvl1pPr>
              <a:defRPr>
                <a:latin typeface="Times"/>
                <a:ea typeface="ＭＳ Ｐゴシック"/>
              </a:defRPr>
            </a:lvl1pPr>
          </a:lstStyle>
          <a:p>
            <a:pPr>
              <a:defRPr/>
            </a:pPr>
            <a:fld id="{FD17CE84-6E74-8045-84FE-D69DCB36704D}" type="datetime3">
              <a:rPr lang="en-US"/>
              <a:pPr>
                <a:defRPr/>
              </a:pPr>
              <a:t>14 January 2026</a:t>
            </a:fld>
            <a:endParaRPr lang="en-US"/>
          </a:p>
        </p:txBody>
      </p:sp>
      <p:sp>
        <p:nvSpPr>
          <p:cNvPr id="5" name="Rectangle 5"/>
          <p:cNvSpPr>
            <a:spLocks noGrp="1" noChangeArrowheads="1"/>
          </p:cNvSpPr>
          <p:nvPr>
            <p:ph type="ftr" sz="quarter" idx="11"/>
          </p:nvPr>
        </p:nvSpPr>
        <p:spPr/>
        <p:txBody>
          <a:bodyPr/>
          <a:lstStyle>
            <a:lvl1pPr>
              <a:defRPr>
                <a:latin typeface="Times"/>
                <a:ea typeface="ＭＳ Ｐゴシック"/>
              </a:defRPr>
            </a:lvl1pPr>
          </a:lstStyle>
          <a:p>
            <a:pPr>
              <a:defRPr/>
            </a:pPr>
            <a:r>
              <a:rPr lang="en-US"/>
              <a:t>.</a:t>
            </a:r>
          </a:p>
        </p:txBody>
      </p:sp>
      <p:sp>
        <p:nvSpPr>
          <p:cNvPr id="6" name="Rectangle 6"/>
          <p:cNvSpPr>
            <a:spLocks noGrp="1" noChangeArrowheads="1"/>
          </p:cNvSpPr>
          <p:nvPr>
            <p:ph type="sldNum" sz="quarter" idx="12"/>
          </p:nvPr>
        </p:nvSpPr>
        <p:spPr/>
        <p:txBody>
          <a:bodyPr/>
          <a:lstStyle>
            <a:lvl1pPr>
              <a:defRPr>
                <a:latin typeface="Times"/>
                <a:ea typeface="ＭＳ Ｐゴシック"/>
              </a:defRPr>
            </a:lvl1pPr>
          </a:lstStyle>
          <a:p>
            <a:pPr>
              <a:defRPr/>
            </a:pPr>
            <a:fld id="{71A39505-64F8-7448-858B-82DDF9C10B2F}" type="slidenum">
              <a:rPr lang="en-US"/>
              <a:pPr>
                <a:defRPr/>
              </a:pPr>
              <a:t>‹#›</a:t>
            </a:fld>
            <a:endParaRPr lang="en-US"/>
          </a:p>
        </p:txBody>
      </p:sp>
    </p:spTree>
    <p:extLst>
      <p:ext uri="{BB962C8B-B14F-4D97-AF65-F5344CB8AC3E}">
        <p14:creationId xmlns:p14="http://schemas.microsoft.com/office/powerpoint/2010/main" val="14778395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lvl1pPr>
              <a:defRPr>
                <a:latin typeface="Times"/>
                <a:ea typeface="ＭＳ Ｐゴシック"/>
              </a:defRPr>
            </a:lvl1pPr>
          </a:lstStyle>
          <a:p>
            <a:pPr>
              <a:defRPr/>
            </a:pPr>
            <a:fld id="{AE0E89B0-6F97-CF4E-86A3-8193AE1FB7BA}" type="datetime3">
              <a:rPr lang="en-US"/>
              <a:pPr>
                <a:defRPr/>
              </a:pPr>
              <a:t>14 January 2026</a:t>
            </a:fld>
            <a:endParaRPr lang="en-US"/>
          </a:p>
        </p:txBody>
      </p:sp>
      <p:sp>
        <p:nvSpPr>
          <p:cNvPr id="6" name="Rectangle 5"/>
          <p:cNvSpPr>
            <a:spLocks noGrp="1" noChangeArrowheads="1"/>
          </p:cNvSpPr>
          <p:nvPr>
            <p:ph type="ftr" sz="quarter" idx="11"/>
          </p:nvPr>
        </p:nvSpPr>
        <p:spPr/>
        <p:txBody>
          <a:bodyPr/>
          <a:lstStyle>
            <a:lvl1pPr>
              <a:defRPr>
                <a:latin typeface="Times"/>
                <a:ea typeface="ＭＳ Ｐゴシック"/>
              </a:defRPr>
            </a:lvl1pPr>
          </a:lstStyle>
          <a:p>
            <a:pPr>
              <a:defRPr/>
            </a:pPr>
            <a:r>
              <a:rPr lang="en-US"/>
              <a:t>.</a:t>
            </a:r>
          </a:p>
        </p:txBody>
      </p:sp>
      <p:sp>
        <p:nvSpPr>
          <p:cNvPr id="7" name="Rectangle 6"/>
          <p:cNvSpPr>
            <a:spLocks noGrp="1" noChangeArrowheads="1"/>
          </p:cNvSpPr>
          <p:nvPr>
            <p:ph type="sldNum" sz="quarter" idx="12"/>
          </p:nvPr>
        </p:nvSpPr>
        <p:spPr/>
        <p:txBody>
          <a:bodyPr/>
          <a:lstStyle>
            <a:lvl1pPr>
              <a:defRPr>
                <a:latin typeface="Times"/>
                <a:ea typeface="ＭＳ Ｐゴシック"/>
              </a:defRPr>
            </a:lvl1pPr>
          </a:lstStyle>
          <a:p>
            <a:pPr>
              <a:defRPr/>
            </a:pPr>
            <a:fld id="{9F4B9500-732C-7C4C-B3E9-A8A0017C45C1}" type="slidenum">
              <a:rPr lang="en-US"/>
              <a:pPr>
                <a:defRPr/>
              </a:pPr>
              <a:t>‹#›</a:t>
            </a:fld>
            <a:endParaRPr lang="en-US"/>
          </a:p>
        </p:txBody>
      </p:sp>
    </p:spTree>
    <p:extLst>
      <p:ext uri="{BB962C8B-B14F-4D97-AF65-F5344CB8AC3E}">
        <p14:creationId xmlns:p14="http://schemas.microsoft.com/office/powerpoint/2010/main" val="19186530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lvl1pPr>
              <a:defRPr>
                <a:latin typeface="Times"/>
                <a:ea typeface="ＭＳ Ｐゴシック"/>
              </a:defRPr>
            </a:lvl1pPr>
          </a:lstStyle>
          <a:p>
            <a:pPr>
              <a:defRPr/>
            </a:pPr>
            <a:fld id="{C34DB22D-7642-F64A-8ACD-1F0753EDDD9F}" type="datetime3">
              <a:rPr lang="en-US"/>
              <a:pPr>
                <a:defRPr/>
              </a:pPr>
              <a:t>14 January 2026</a:t>
            </a:fld>
            <a:endParaRPr lang="en-US"/>
          </a:p>
        </p:txBody>
      </p:sp>
      <p:sp>
        <p:nvSpPr>
          <p:cNvPr id="8" name="Rectangle 5"/>
          <p:cNvSpPr>
            <a:spLocks noGrp="1" noChangeArrowheads="1"/>
          </p:cNvSpPr>
          <p:nvPr>
            <p:ph type="ftr" sz="quarter" idx="11"/>
          </p:nvPr>
        </p:nvSpPr>
        <p:spPr/>
        <p:txBody>
          <a:bodyPr/>
          <a:lstStyle>
            <a:lvl1pPr>
              <a:defRPr>
                <a:latin typeface="Times"/>
                <a:ea typeface="ＭＳ Ｐゴシック"/>
              </a:defRPr>
            </a:lvl1pPr>
          </a:lstStyle>
          <a:p>
            <a:pPr>
              <a:defRPr/>
            </a:pPr>
            <a:r>
              <a:rPr lang="en-US"/>
              <a:t>.</a:t>
            </a:r>
          </a:p>
        </p:txBody>
      </p:sp>
      <p:sp>
        <p:nvSpPr>
          <p:cNvPr id="9" name="Rectangle 6"/>
          <p:cNvSpPr>
            <a:spLocks noGrp="1" noChangeArrowheads="1"/>
          </p:cNvSpPr>
          <p:nvPr>
            <p:ph type="sldNum" sz="quarter" idx="12"/>
          </p:nvPr>
        </p:nvSpPr>
        <p:spPr/>
        <p:txBody>
          <a:bodyPr/>
          <a:lstStyle>
            <a:lvl1pPr>
              <a:defRPr>
                <a:latin typeface="Times"/>
                <a:ea typeface="ＭＳ Ｐゴシック"/>
              </a:defRPr>
            </a:lvl1pPr>
          </a:lstStyle>
          <a:p>
            <a:pPr>
              <a:defRPr/>
            </a:pPr>
            <a:fld id="{C472A133-A5CF-A841-91A6-033657E400AE}" type="slidenum">
              <a:rPr lang="en-US"/>
              <a:pPr>
                <a:defRPr/>
              </a:pPr>
              <a:t>‹#›</a:t>
            </a:fld>
            <a:endParaRPr lang="en-US"/>
          </a:p>
        </p:txBody>
      </p:sp>
    </p:spTree>
    <p:extLst>
      <p:ext uri="{BB962C8B-B14F-4D97-AF65-F5344CB8AC3E}">
        <p14:creationId xmlns:p14="http://schemas.microsoft.com/office/powerpoint/2010/main" val="22577667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p:txBody>
          <a:bodyPr/>
          <a:lstStyle>
            <a:lvl1pPr>
              <a:defRPr>
                <a:latin typeface="Times"/>
                <a:ea typeface="ＭＳ Ｐゴシック"/>
              </a:defRPr>
            </a:lvl1pPr>
          </a:lstStyle>
          <a:p>
            <a:pPr>
              <a:defRPr/>
            </a:pPr>
            <a:fld id="{40F248A1-7DF6-8C42-BA75-4B37CFBA734C}" type="datetime3">
              <a:rPr lang="en-US"/>
              <a:pPr>
                <a:defRPr/>
              </a:pPr>
              <a:t>14 January 2026</a:t>
            </a:fld>
            <a:endParaRPr lang="en-US"/>
          </a:p>
        </p:txBody>
      </p:sp>
      <p:sp>
        <p:nvSpPr>
          <p:cNvPr id="4" name="Rectangle 5"/>
          <p:cNvSpPr>
            <a:spLocks noGrp="1" noChangeArrowheads="1"/>
          </p:cNvSpPr>
          <p:nvPr>
            <p:ph type="ftr" sz="quarter" idx="11"/>
          </p:nvPr>
        </p:nvSpPr>
        <p:spPr/>
        <p:txBody>
          <a:bodyPr/>
          <a:lstStyle>
            <a:lvl1pPr>
              <a:defRPr>
                <a:latin typeface="Times"/>
                <a:ea typeface="ＭＳ Ｐゴシック"/>
              </a:defRPr>
            </a:lvl1pPr>
          </a:lstStyle>
          <a:p>
            <a:pPr>
              <a:defRPr/>
            </a:pPr>
            <a:r>
              <a:rPr lang="en-US"/>
              <a:t>.</a:t>
            </a:r>
          </a:p>
        </p:txBody>
      </p:sp>
      <p:sp>
        <p:nvSpPr>
          <p:cNvPr id="5" name="Rectangle 6"/>
          <p:cNvSpPr>
            <a:spLocks noGrp="1" noChangeArrowheads="1"/>
          </p:cNvSpPr>
          <p:nvPr>
            <p:ph type="sldNum" sz="quarter" idx="12"/>
          </p:nvPr>
        </p:nvSpPr>
        <p:spPr/>
        <p:txBody>
          <a:bodyPr/>
          <a:lstStyle>
            <a:lvl1pPr>
              <a:defRPr>
                <a:latin typeface="Times"/>
                <a:ea typeface="ＭＳ Ｐゴシック"/>
              </a:defRPr>
            </a:lvl1pPr>
          </a:lstStyle>
          <a:p>
            <a:pPr>
              <a:defRPr/>
            </a:pPr>
            <a:fld id="{91E818A8-F7E6-294E-A361-C2845DC0EA61}" type="slidenum">
              <a:rPr lang="en-US"/>
              <a:pPr>
                <a:defRPr/>
              </a:pPr>
              <a:t>‹#›</a:t>
            </a:fld>
            <a:endParaRPr lang="en-US"/>
          </a:p>
        </p:txBody>
      </p:sp>
    </p:spTree>
    <p:extLst>
      <p:ext uri="{BB962C8B-B14F-4D97-AF65-F5344CB8AC3E}">
        <p14:creationId xmlns:p14="http://schemas.microsoft.com/office/powerpoint/2010/main" val="20715229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atin typeface="Times"/>
                <a:ea typeface="ＭＳ Ｐゴシック"/>
              </a:defRPr>
            </a:lvl1pPr>
          </a:lstStyle>
          <a:p>
            <a:pPr>
              <a:defRPr/>
            </a:pPr>
            <a:fld id="{957C72F3-B940-6043-B0BB-C62190854A77}" type="datetime3">
              <a:rPr lang="en-US"/>
              <a:pPr>
                <a:defRPr/>
              </a:pPr>
              <a:t>14 January 2026</a:t>
            </a:fld>
            <a:endParaRPr lang="en-US"/>
          </a:p>
        </p:txBody>
      </p:sp>
      <p:sp>
        <p:nvSpPr>
          <p:cNvPr id="3" name="Rectangle 5"/>
          <p:cNvSpPr>
            <a:spLocks noGrp="1" noChangeArrowheads="1"/>
          </p:cNvSpPr>
          <p:nvPr>
            <p:ph type="ftr" sz="quarter" idx="11"/>
          </p:nvPr>
        </p:nvSpPr>
        <p:spPr/>
        <p:txBody>
          <a:bodyPr/>
          <a:lstStyle>
            <a:lvl1pPr>
              <a:defRPr>
                <a:latin typeface="Times"/>
                <a:ea typeface="ＭＳ Ｐゴシック"/>
              </a:defRPr>
            </a:lvl1pPr>
          </a:lstStyle>
          <a:p>
            <a:pPr>
              <a:defRPr/>
            </a:pPr>
            <a:r>
              <a:rPr lang="en-US"/>
              <a:t>.</a:t>
            </a:r>
          </a:p>
        </p:txBody>
      </p:sp>
      <p:sp>
        <p:nvSpPr>
          <p:cNvPr id="4" name="Rectangle 6"/>
          <p:cNvSpPr>
            <a:spLocks noGrp="1" noChangeArrowheads="1"/>
          </p:cNvSpPr>
          <p:nvPr>
            <p:ph type="sldNum" sz="quarter" idx="12"/>
          </p:nvPr>
        </p:nvSpPr>
        <p:spPr/>
        <p:txBody>
          <a:bodyPr/>
          <a:lstStyle>
            <a:lvl1pPr>
              <a:defRPr>
                <a:latin typeface="Times"/>
                <a:ea typeface="ＭＳ Ｐゴシック"/>
              </a:defRPr>
            </a:lvl1pPr>
          </a:lstStyle>
          <a:p>
            <a:pPr>
              <a:defRPr/>
            </a:pPr>
            <a:fld id="{F3D50E2D-5CCD-6845-BAE1-D0FFC93BD9E7}" type="slidenum">
              <a:rPr lang="en-US"/>
              <a:pPr>
                <a:defRPr/>
              </a:pPr>
              <a:t>‹#›</a:t>
            </a:fld>
            <a:endParaRPr lang="en-US"/>
          </a:p>
        </p:txBody>
      </p:sp>
    </p:spTree>
    <p:extLst>
      <p:ext uri="{BB962C8B-B14F-4D97-AF65-F5344CB8AC3E}">
        <p14:creationId xmlns:p14="http://schemas.microsoft.com/office/powerpoint/2010/main" val="25356522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lvl1pPr>
              <a:defRPr>
                <a:latin typeface="Times"/>
                <a:ea typeface="ＭＳ Ｐゴシック"/>
              </a:defRPr>
            </a:lvl1pPr>
          </a:lstStyle>
          <a:p>
            <a:pPr>
              <a:defRPr/>
            </a:pPr>
            <a:fld id="{2E1DF719-2E7A-D344-95DE-462ABBCAF0B3}" type="datetime3">
              <a:rPr lang="en-US"/>
              <a:pPr>
                <a:defRPr/>
              </a:pPr>
              <a:t>14 January 2026</a:t>
            </a:fld>
            <a:endParaRPr lang="en-US"/>
          </a:p>
        </p:txBody>
      </p:sp>
      <p:sp>
        <p:nvSpPr>
          <p:cNvPr id="6" name="Rectangle 5"/>
          <p:cNvSpPr>
            <a:spLocks noGrp="1" noChangeArrowheads="1"/>
          </p:cNvSpPr>
          <p:nvPr>
            <p:ph type="ftr" sz="quarter" idx="11"/>
          </p:nvPr>
        </p:nvSpPr>
        <p:spPr/>
        <p:txBody>
          <a:bodyPr/>
          <a:lstStyle>
            <a:lvl1pPr>
              <a:defRPr>
                <a:latin typeface="Times"/>
                <a:ea typeface="ＭＳ Ｐゴシック"/>
              </a:defRPr>
            </a:lvl1pPr>
          </a:lstStyle>
          <a:p>
            <a:pPr>
              <a:defRPr/>
            </a:pPr>
            <a:r>
              <a:rPr lang="en-US"/>
              <a:t>.</a:t>
            </a:r>
          </a:p>
        </p:txBody>
      </p:sp>
      <p:sp>
        <p:nvSpPr>
          <p:cNvPr id="7" name="Rectangle 6"/>
          <p:cNvSpPr>
            <a:spLocks noGrp="1" noChangeArrowheads="1"/>
          </p:cNvSpPr>
          <p:nvPr>
            <p:ph type="sldNum" sz="quarter" idx="12"/>
          </p:nvPr>
        </p:nvSpPr>
        <p:spPr/>
        <p:txBody>
          <a:bodyPr/>
          <a:lstStyle>
            <a:lvl1pPr>
              <a:defRPr>
                <a:latin typeface="Times"/>
                <a:ea typeface="ＭＳ Ｐゴシック"/>
              </a:defRPr>
            </a:lvl1pPr>
          </a:lstStyle>
          <a:p>
            <a:pPr>
              <a:defRPr/>
            </a:pPr>
            <a:fld id="{3E484BDA-29D9-654F-A280-55406C9D6322}" type="slidenum">
              <a:rPr lang="en-US"/>
              <a:pPr>
                <a:defRPr/>
              </a:pPr>
              <a:t>‹#›</a:t>
            </a:fld>
            <a:endParaRPr lang="en-US"/>
          </a:p>
        </p:txBody>
      </p:sp>
    </p:spTree>
    <p:extLst>
      <p:ext uri="{BB962C8B-B14F-4D97-AF65-F5344CB8AC3E}">
        <p14:creationId xmlns:p14="http://schemas.microsoft.com/office/powerpoint/2010/main" val="32259871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lvl1pPr>
              <a:defRPr>
                <a:latin typeface="Times"/>
                <a:ea typeface="ＭＳ Ｐゴシック"/>
              </a:defRPr>
            </a:lvl1pPr>
          </a:lstStyle>
          <a:p>
            <a:pPr>
              <a:defRPr/>
            </a:pPr>
            <a:fld id="{645FEB2B-E2B1-C942-88B2-8B9D0FC61BEC}" type="datetime3">
              <a:rPr lang="en-US"/>
              <a:pPr>
                <a:defRPr/>
              </a:pPr>
              <a:t>14 January 2026</a:t>
            </a:fld>
            <a:endParaRPr lang="en-US"/>
          </a:p>
        </p:txBody>
      </p:sp>
      <p:sp>
        <p:nvSpPr>
          <p:cNvPr id="6" name="Rectangle 5"/>
          <p:cNvSpPr>
            <a:spLocks noGrp="1" noChangeArrowheads="1"/>
          </p:cNvSpPr>
          <p:nvPr>
            <p:ph type="ftr" sz="quarter" idx="11"/>
          </p:nvPr>
        </p:nvSpPr>
        <p:spPr/>
        <p:txBody>
          <a:bodyPr/>
          <a:lstStyle>
            <a:lvl1pPr>
              <a:defRPr>
                <a:latin typeface="Times"/>
                <a:ea typeface="ＭＳ Ｐゴシック"/>
              </a:defRPr>
            </a:lvl1pPr>
          </a:lstStyle>
          <a:p>
            <a:pPr>
              <a:defRPr/>
            </a:pPr>
            <a:r>
              <a:rPr lang="en-US"/>
              <a:t>.</a:t>
            </a:r>
          </a:p>
        </p:txBody>
      </p:sp>
      <p:sp>
        <p:nvSpPr>
          <p:cNvPr id="7" name="Rectangle 6"/>
          <p:cNvSpPr>
            <a:spLocks noGrp="1" noChangeArrowheads="1"/>
          </p:cNvSpPr>
          <p:nvPr>
            <p:ph type="sldNum" sz="quarter" idx="12"/>
          </p:nvPr>
        </p:nvSpPr>
        <p:spPr/>
        <p:txBody>
          <a:bodyPr/>
          <a:lstStyle>
            <a:lvl1pPr>
              <a:defRPr>
                <a:latin typeface="Times"/>
                <a:ea typeface="ＭＳ Ｐゴシック"/>
              </a:defRPr>
            </a:lvl1pPr>
          </a:lstStyle>
          <a:p>
            <a:pPr>
              <a:defRPr/>
            </a:pPr>
            <a:fld id="{EAA390E4-13BF-EE43-A91A-4ED9A5910431}" type="slidenum">
              <a:rPr lang="en-US"/>
              <a:pPr>
                <a:defRPr/>
              </a:pPr>
              <a:t>‹#›</a:t>
            </a:fld>
            <a:endParaRPr lang="en-US"/>
          </a:p>
        </p:txBody>
      </p:sp>
    </p:spTree>
    <p:extLst>
      <p:ext uri="{BB962C8B-B14F-4D97-AF65-F5344CB8AC3E}">
        <p14:creationId xmlns:p14="http://schemas.microsoft.com/office/powerpoint/2010/main" val="7910175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a:latin typeface="Times"/>
                <a:ea typeface="ＭＳ Ｐゴシック"/>
              </a:defRPr>
            </a:lvl1pPr>
          </a:lstStyle>
          <a:p>
            <a:pPr>
              <a:defRPr/>
            </a:pPr>
            <a:fld id="{9DA59530-48DD-924B-92E1-1AC2AFB2C382}" type="datetime3">
              <a:rPr lang="en-US"/>
              <a:pPr>
                <a:defRPr/>
              </a:pPr>
              <a:t>14 January 2026</a:t>
            </a:fld>
            <a:endParaRPr lang="en-US"/>
          </a:p>
        </p:txBody>
      </p:sp>
      <p:sp>
        <p:nvSpPr>
          <p:cNvPr id="5" name="Rectangle 5"/>
          <p:cNvSpPr>
            <a:spLocks noGrp="1" noChangeArrowheads="1"/>
          </p:cNvSpPr>
          <p:nvPr>
            <p:ph type="ftr" sz="quarter" idx="11"/>
          </p:nvPr>
        </p:nvSpPr>
        <p:spPr/>
        <p:txBody>
          <a:bodyPr/>
          <a:lstStyle>
            <a:lvl1pPr>
              <a:defRPr>
                <a:latin typeface="Times"/>
                <a:ea typeface="ＭＳ Ｐゴシック"/>
              </a:defRPr>
            </a:lvl1pPr>
          </a:lstStyle>
          <a:p>
            <a:pPr>
              <a:defRPr/>
            </a:pPr>
            <a:r>
              <a:rPr lang="en-US"/>
              <a:t>.</a:t>
            </a:r>
          </a:p>
        </p:txBody>
      </p:sp>
      <p:sp>
        <p:nvSpPr>
          <p:cNvPr id="6" name="Rectangle 6"/>
          <p:cNvSpPr>
            <a:spLocks noGrp="1" noChangeArrowheads="1"/>
          </p:cNvSpPr>
          <p:nvPr>
            <p:ph type="sldNum" sz="quarter" idx="12"/>
          </p:nvPr>
        </p:nvSpPr>
        <p:spPr/>
        <p:txBody>
          <a:bodyPr/>
          <a:lstStyle>
            <a:lvl1pPr>
              <a:defRPr>
                <a:latin typeface="Times"/>
                <a:ea typeface="ＭＳ Ｐゴシック"/>
              </a:defRPr>
            </a:lvl1pPr>
          </a:lstStyle>
          <a:p>
            <a:pPr>
              <a:defRPr/>
            </a:pPr>
            <a:fld id="{42104195-1E18-314C-A6F9-4CE3F24912E6}" type="slidenum">
              <a:rPr lang="en-US"/>
              <a:pPr>
                <a:defRPr/>
              </a:pPr>
              <a:t>‹#›</a:t>
            </a:fld>
            <a:endParaRPr lang="en-US"/>
          </a:p>
        </p:txBody>
      </p:sp>
    </p:spTree>
    <p:extLst>
      <p:ext uri="{BB962C8B-B14F-4D97-AF65-F5344CB8AC3E}">
        <p14:creationId xmlns:p14="http://schemas.microsoft.com/office/powerpoint/2010/main" val="36139789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a:latin typeface="Times"/>
                <a:ea typeface="ＭＳ Ｐゴシック"/>
              </a:defRPr>
            </a:lvl1pPr>
          </a:lstStyle>
          <a:p>
            <a:pPr>
              <a:defRPr/>
            </a:pPr>
            <a:fld id="{A3B8F772-35EC-6F43-931E-23924C2E776F}" type="datetime3">
              <a:rPr lang="en-US"/>
              <a:pPr>
                <a:defRPr/>
              </a:pPr>
              <a:t>14 January 2026</a:t>
            </a:fld>
            <a:endParaRPr lang="en-US"/>
          </a:p>
        </p:txBody>
      </p:sp>
      <p:sp>
        <p:nvSpPr>
          <p:cNvPr id="5" name="Rectangle 5"/>
          <p:cNvSpPr>
            <a:spLocks noGrp="1" noChangeArrowheads="1"/>
          </p:cNvSpPr>
          <p:nvPr>
            <p:ph type="ftr" sz="quarter" idx="11"/>
          </p:nvPr>
        </p:nvSpPr>
        <p:spPr/>
        <p:txBody>
          <a:bodyPr/>
          <a:lstStyle>
            <a:lvl1pPr>
              <a:defRPr>
                <a:latin typeface="Times"/>
                <a:ea typeface="ＭＳ Ｐゴシック"/>
              </a:defRPr>
            </a:lvl1pPr>
          </a:lstStyle>
          <a:p>
            <a:pPr>
              <a:defRPr/>
            </a:pPr>
            <a:r>
              <a:rPr lang="en-US"/>
              <a:t>.</a:t>
            </a:r>
          </a:p>
        </p:txBody>
      </p:sp>
      <p:sp>
        <p:nvSpPr>
          <p:cNvPr id="6" name="Rectangle 6"/>
          <p:cNvSpPr>
            <a:spLocks noGrp="1" noChangeArrowheads="1"/>
          </p:cNvSpPr>
          <p:nvPr>
            <p:ph type="sldNum" sz="quarter" idx="12"/>
          </p:nvPr>
        </p:nvSpPr>
        <p:spPr/>
        <p:txBody>
          <a:bodyPr/>
          <a:lstStyle>
            <a:lvl1pPr>
              <a:defRPr>
                <a:latin typeface="Times"/>
                <a:ea typeface="ＭＳ Ｐゴシック"/>
              </a:defRPr>
            </a:lvl1pPr>
          </a:lstStyle>
          <a:p>
            <a:pPr>
              <a:defRPr/>
            </a:pPr>
            <a:fld id="{46DA8A57-323E-7E46-85C0-8B155315DFBB}" type="slidenum">
              <a:rPr lang="en-US"/>
              <a:pPr>
                <a:defRPr/>
              </a:pPr>
              <a:t>‹#›</a:t>
            </a:fld>
            <a:endParaRPr lang="en-US"/>
          </a:p>
        </p:txBody>
      </p:sp>
    </p:spTree>
    <p:extLst>
      <p:ext uri="{BB962C8B-B14F-4D97-AF65-F5344CB8AC3E}">
        <p14:creationId xmlns:p14="http://schemas.microsoft.com/office/powerpoint/2010/main" val="422568480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fld id="{A154F9B2-B873-9B49-B25B-B7FEC09CC757}" type="datetime3">
              <a:rPr lang="en-US">
                <a:solidFill>
                  <a:srgbClr val="000000"/>
                </a:solidFill>
              </a:rPr>
              <a:pPr>
                <a:defRPr/>
              </a:pPr>
              <a:t>14 January 2026</a:t>
            </a:fld>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r>
              <a:rPr lang="en-US">
                <a:solidFill>
                  <a:srgbClr val="000000"/>
                </a:solidFill>
              </a:rPr>
              <a:t>.</a:t>
            </a:r>
          </a:p>
        </p:txBody>
      </p:sp>
      <p:sp>
        <p:nvSpPr>
          <p:cNvPr id="6" name="Rectangle 6"/>
          <p:cNvSpPr>
            <a:spLocks noGrp="1" noChangeArrowheads="1"/>
          </p:cNvSpPr>
          <p:nvPr>
            <p:ph type="sldNum" sz="quarter" idx="12"/>
          </p:nvPr>
        </p:nvSpPr>
        <p:spPr>
          <a:ln/>
        </p:spPr>
        <p:txBody>
          <a:bodyPr/>
          <a:lstStyle>
            <a:lvl1pPr>
              <a:defRPr/>
            </a:lvl1pPr>
          </a:lstStyle>
          <a:p>
            <a:pPr>
              <a:defRPr/>
            </a:pPr>
            <a:fld id="{D870CD54-3397-C749-A4AC-20526C2B00F5}"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1343101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07F1AB86-1AD0-824F-BC17-575697053103}" type="datetime3">
              <a:rPr lang="en-US">
                <a:solidFill>
                  <a:srgbClr val="000000"/>
                </a:solidFill>
              </a:rPr>
              <a:pPr>
                <a:defRPr/>
              </a:pPr>
              <a:t>14 January 2026</a:t>
            </a:fld>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r>
              <a:rPr lang="en-US">
                <a:solidFill>
                  <a:srgbClr val="000000"/>
                </a:solidFill>
              </a:rPr>
              <a:t>.</a:t>
            </a:r>
          </a:p>
        </p:txBody>
      </p:sp>
      <p:sp>
        <p:nvSpPr>
          <p:cNvPr id="6" name="Rectangle 6"/>
          <p:cNvSpPr>
            <a:spLocks noGrp="1" noChangeArrowheads="1"/>
          </p:cNvSpPr>
          <p:nvPr>
            <p:ph type="sldNum" sz="quarter" idx="12"/>
          </p:nvPr>
        </p:nvSpPr>
        <p:spPr>
          <a:ln/>
        </p:spPr>
        <p:txBody>
          <a:bodyPr/>
          <a:lstStyle>
            <a:lvl1pPr>
              <a:defRPr/>
            </a:lvl1pPr>
          </a:lstStyle>
          <a:p>
            <a:pPr>
              <a:defRPr/>
            </a:pPr>
            <a:fld id="{387784B1-C076-7041-9578-8D2F54B7CB27}"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8153016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4AF9D277-CEFC-5641-B9BC-E4DE8EE6A970}" type="datetime3">
              <a:rPr lang="en-US">
                <a:solidFill>
                  <a:srgbClr val="000000"/>
                </a:solidFill>
              </a:rPr>
              <a:pPr>
                <a:defRPr/>
              </a:pPr>
              <a:t>14 January 2026</a:t>
            </a:fld>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r>
              <a:rPr lang="en-US">
                <a:solidFill>
                  <a:srgbClr val="000000"/>
                </a:solidFill>
              </a:rPr>
              <a:t>.</a:t>
            </a:r>
          </a:p>
        </p:txBody>
      </p:sp>
      <p:sp>
        <p:nvSpPr>
          <p:cNvPr id="6" name="Rectangle 6"/>
          <p:cNvSpPr>
            <a:spLocks noGrp="1" noChangeArrowheads="1"/>
          </p:cNvSpPr>
          <p:nvPr>
            <p:ph type="sldNum" sz="quarter" idx="12"/>
          </p:nvPr>
        </p:nvSpPr>
        <p:spPr>
          <a:ln/>
        </p:spPr>
        <p:txBody>
          <a:bodyPr/>
          <a:lstStyle>
            <a:lvl1pPr>
              <a:defRPr/>
            </a:lvl1pPr>
          </a:lstStyle>
          <a:p>
            <a:pPr>
              <a:defRPr/>
            </a:pPr>
            <a:fld id="{830485BC-2790-9A42-9BA5-D9045FE701E6}"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1787695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D31DA8A4-7D92-774B-82C9-687FED33A795}" type="datetime3">
              <a:rPr lang="en-US">
                <a:solidFill>
                  <a:srgbClr val="000000"/>
                </a:solidFill>
              </a:rPr>
              <a:pPr>
                <a:defRPr/>
              </a:pPr>
              <a:t>14 January 2026</a:t>
            </a:fld>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r>
              <a:rPr lang="en-US">
                <a:solidFill>
                  <a:srgbClr val="000000"/>
                </a:solidFill>
              </a:rPr>
              <a:t>.</a:t>
            </a:r>
          </a:p>
        </p:txBody>
      </p:sp>
      <p:sp>
        <p:nvSpPr>
          <p:cNvPr id="7" name="Rectangle 6"/>
          <p:cNvSpPr>
            <a:spLocks noGrp="1" noChangeArrowheads="1"/>
          </p:cNvSpPr>
          <p:nvPr>
            <p:ph type="sldNum" sz="quarter" idx="12"/>
          </p:nvPr>
        </p:nvSpPr>
        <p:spPr>
          <a:ln/>
        </p:spPr>
        <p:txBody>
          <a:bodyPr/>
          <a:lstStyle>
            <a:lvl1pPr>
              <a:defRPr/>
            </a:lvl1pPr>
          </a:lstStyle>
          <a:p>
            <a:pPr>
              <a:defRPr/>
            </a:pPr>
            <a:fld id="{E5C13F4C-5027-DE4E-967E-0714EDC1A77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3740651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fld id="{54B0E995-C1AA-174B-8576-1CB7A83AA37B}" type="datetime3">
              <a:rPr lang="en-US">
                <a:solidFill>
                  <a:srgbClr val="000000"/>
                </a:solidFill>
              </a:rPr>
              <a:pPr>
                <a:defRPr/>
              </a:pPr>
              <a:t>14 January 2026</a:t>
            </a:fld>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r>
              <a:rPr lang="en-US">
                <a:solidFill>
                  <a:srgbClr val="000000"/>
                </a:solidFill>
              </a:rPr>
              <a:t>.</a:t>
            </a:r>
          </a:p>
        </p:txBody>
      </p:sp>
      <p:sp>
        <p:nvSpPr>
          <p:cNvPr id="9" name="Rectangle 6"/>
          <p:cNvSpPr>
            <a:spLocks noGrp="1" noChangeArrowheads="1"/>
          </p:cNvSpPr>
          <p:nvPr>
            <p:ph type="sldNum" sz="quarter" idx="12"/>
          </p:nvPr>
        </p:nvSpPr>
        <p:spPr>
          <a:ln/>
        </p:spPr>
        <p:txBody>
          <a:bodyPr/>
          <a:lstStyle>
            <a:lvl1pPr>
              <a:defRPr/>
            </a:lvl1pPr>
          </a:lstStyle>
          <a:p>
            <a:pPr>
              <a:defRPr/>
            </a:pPr>
            <a:fld id="{E9023F7C-3842-C142-A42A-6325051A4200}"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5776917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fld id="{4655E159-FA65-4642-81CE-F5399A9C7F95}" type="datetime3">
              <a:rPr lang="en-US">
                <a:solidFill>
                  <a:srgbClr val="000000"/>
                </a:solidFill>
              </a:rPr>
              <a:pPr>
                <a:defRPr/>
              </a:pPr>
              <a:t>14 January 2026</a:t>
            </a:fld>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r>
              <a:rPr lang="en-US">
                <a:solidFill>
                  <a:srgbClr val="000000"/>
                </a:solidFill>
              </a:rPr>
              <a:t>.</a:t>
            </a:r>
          </a:p>
        </p:txBody>
      </p:sp>
      <p:sp>
        <p:nvSpPr>
          <p:cNvPr id="5" name="Rectangle 6"/>
          <p:cNvSpPr>
            <a:spLocks noGrp="1" noChangeArrowheads="1"/>
          </p:cNvSpPr>
          <p:nvPr>
            <p:ph type="sldNum" sz="quarter" idx="12"/>
          </p:nvPr>
        </p:nvSpPr>
        <p:spPr>
          <a:ln/>
        </p:spPr>
        <p:txBody>
          <a:bodyPr/>
          <a:lstStyle>
            <a:lvl1pPr>
              <a:defRPr/>
            </a:lvl1pPr>
          </a:lstStyle>
          <a:p>
            <a:pPr>
              <a:defRPr/>
            </a:pPr>
            <a:fld id="{36A68BB5-FDE5-CD42-BBC2-FB40ED2386AC}"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9839412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CBF4C81F-A52B-A14E-9304-5F492CCEDCDC}" type="datetime3">
              <a:rPr lang="en-US">
                <a:solidFill>
                  <a:srgbClr val="000000"/>
                </a:solidFill>
              </a:rPr>
              <a:pPr>
                <a:defRPr/>
              </a:pPr>
              <a:t>14 January 2026</a:t>
            </a:fld>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r>
              <a:rPr lang="en-US">
                <a:solidFill>
                  <a:srgbClr val="000000"/>
                </a:solidFill>
              </a:rPr>
              <a:t>.</a:t>
            </a:r>
          </a:p>
        </p:txBody>
      </p:sp>
      <p:sp>
        <p:nvSpPr>
          <p:cNvPr id="4" name="Rectangle 6"/>
          <p:cNvSpPr>
            <a:spLocks noGrp="1" noChangeArrowheads="1"/>
          </p:cNvSpPr>
          <p:nvPr>
            <p:ph type="sldNum" sz="quarter" idx="12"/>
          </p:nvPr>
        </p:nvSpPr>
        <p:spPr>
          <a:ln/>
        </p:spPr>
        <p:txBody>
          <a:bodyPr/>
          <a:lstStyle>
            <a:lvl1pPr>
              <a:defRPr/>
            </a:lvl1pPr>
          </a:lstStyle>
          <a:p>
            <a:pPr>
              <a:defRPr/>
            </a:pPr>
            <a:fld id="{69099406-CFAA-9E4F-AC3E-6F4D350E9882}"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89272725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106FCE70-F3EE-A149-8477-6870046CBAF7}" type="datetime3">
              <a:rPr lang="en-US">
                <a:solidFill>
                  <a:srgbClr val="000000"/>
                </a:solidFill>
              </a:rPr>
              <a:pPr>
                <a:defRPr/>
              </a:pPr>
              <a:t>14 January 2026</a:t>
            </a:fld>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r>
              <a:rPr lang="en-US">
                <a:solidFill>
                  <a:srgbClr val="000000"/>
                </a:solidFill>
              </a:rPr>
              <a:t>.</a:t>
            </a:r>
          </a:p>
        </p:txBody>
      </p:sp>
      <p:sp>
        <p:nvSpPr>
          <p:cNvPr id="7" name="Rectangle 6"/>
          <p:cNvSpPr>
            <a:spLocks noGrp="1" noChangeArrowheads="1"/>
          </p:cNvSpPr>
          <p:nvPr>
            <p:ph type="sldNum" sz="quarter" idx="12"/>
          </p:nvPr>
        </p:nvSpPr>
        <p:spPr>
          <a:ln/>
        </p:spPr>
        <p:txBody>
          <a:bodyPr/>
          <a:lstStyle>
            <a:lvl1pPr>
              <a:defRPr/>
            </a:lvl1pPr>
          </a:lstStyle>
          <a:p>
            <a:pPr>
              <a:defRPr/>
            </a:pPr>
            <a:fld id="{08F747CA-6B3B-0A4C-86EC-596CF09000E0}"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9180308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DCE30FF9-0FA5-AB4D-83B2-0BF18DD0E856}" type="datetime3">
              <a:rPr lang="en-US">
                <a:solidFill>
                  <a:srgbClr val="000000"/>
                </a:solidFill>
              </a:rPr>
              <a:pPr>
                <a:defRPr/>
              </a:pPr>
              <a:t>14 January 2026</a:t>
            </a:fld>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r>
              <a:rPr lang="en-US">
                <a:solidFill>
                  <a:srgbClr val="000000"/>
                </a:solidFill>
              </a:rPr>
              <a:t>.</a:t>
            </a:r>
          </a:p>
        </p:txBody>
      </p:sp>
      <p:sp>
        <p:nvSpPr>
          <p:cNvPr id="7" name="Rectangle 6"/>
          <p:cNvSpPr>
            <a:spLocks noGrp="1" noChangeArrowheads="1"/>
          </p:cNvSpPr>
          <p:nvPr>
            <p:ph type="sldNum" sz="quarter" idx="12"/>
          </p:nvPr>
        </p:nvSpPr>
        <p:spPr>
          <a:ln/>
        </p:spPr>
        <p:txBody>
          <a:bodyPr/>
          <a:lstStyle>
            <a:lvl1pPr>
              <a:defRPr/>
            </a:lvl1pPr>
          </a:lstStyle>
          <a:p>
            <a:pPr>
              <a:defRPr/>
            </a:pPr>
            <a:fld id="{65528C93-5B31-B745-B2FC-B4515933824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26377806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FA371DAE-01F5-4140-85D9-A5C6F5AF5E05}" type="datetime3">
              <a:rPr lang="en-US">
                <a:solidFill>
                  <a:srgbClr val="000000"/>
                </a:solidFill>
              </a:rPr>
              <a:pPr>
                <a:defRPr/>
              </a:pPr>
              <a:t>14 January 2026</a:t>
            </a:fld>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r>
              <a:rPr lang="en-US">
                <a:solidFill>
                  <a:srgbClr val="000000"/>
                </a:solidFill>
              </a:rPr>
              <a:t>.</a:t>
            </a:r>
          </a:p>
        </p:txBody>
      </p:sp>
      <p:sp>
        <p:nvSpPr>
          <p:cNvPr id="6" name="Rectangle 6"/>
          <p:cNvSpPr>
            <a:spLocks noGrp="1" noChangeArrowheads="1"/>
          </p:cNvSpPr>
          <p:nvPr>
            <p:ph type="sldNum" sz="quarter" idx="12"/>
          </p:nvPr>
        </p:nvSpPr>
        <p:spPr>
          <a:ln/>
        </p:spPr>
        <p:txBody>
          <a:bodyPr/>
          <a:lstStyle>
            <a:lvl1pPr>
              <a:defRPr/>
            </a:lvl1pPr>
          </a:lstStyle>
          <a:p>
            <a:pPr>
              <a:defRPr/>
            </a:pPr>
            <a:fld id="{FFCF7F8A-7432-8044-A70F-F4C1D907622B}"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78327898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70C5AEBA-C899-A948-95F9-CCC2AB465E90}" type="datetime3">
              <a:rPr lang="en-US">
                <a:solidFill>
                  <a:srgbClr val="000000"/>
                </a:solidFill>
              </a:rPr>
              <a:pPr>
                <a:defRPr/>
              </a:pPr>
              <a:t>14 January 2026</a:t>
            </a:fld>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r>
              <a:rPr lang="en-US">
                <a:solidFill>
                  <a:srgbClr val="000000"/>
                </a:solidFill>
              </a:rPr>
              <a:t>.</a:t>
            </a:r>
          </a:p>
        </p:txBody>
      </p:sp>
      <p:sp>
        <p:nvSpPr>
          <p:cNvPr id="6" name="Rectangle 6"/>
          <p:cNvSpPr>
            <a:spLocks noGrp="1" noChangeArrowheads="1"/>
          </p:cNvSpPr>
          <p:nvPr>
            <p:ph type="sldNum" sz="quarter" idx="12"/>
          </p:nvPr>
        </p:nvSpPr>
        <p:spPr>
          <a:ln/>
        </p:spPr>
        <p:txBody>
          <a:bodyPr/>
          <a:lstStyle>
            <a:lvl1pPr>
              <a:defRPr/>
            </a:lvl1pPr>
          </a:lstStyle>
          <a:p>
            <a:pPr>
              <a:defRPr/>
            </a:pPr>
            <a:fld id="{58EFF8C1-4AFC-8E41-A06D-0DB6A279FFAE}"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86329414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A207737-EACD-B049-9021-1F53842A5D0F}" type="datetimeFigureOut">
              <a:rPr lang="en-US" smtClean="0"/>
              <a:t>1/14/26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1DBF19-87B7-564B-A789-B874D71D9FD0}" type="slidenum">
              <a:rPr lang="en-US" smtClean="0"/>
              <a:t>‹#›</a:t>
            </a:fld>
            <a:endParaRPr lang="en-US"/>
          </a:p>
        </p:txBody>
      </p:sp>
    </p:spTree>
    <p:extLst>
      <p:ext uri="{BB962C8B-B14F-4D97-AF65-F5344CB8AC3E}">
        <p14:creationId xmlns:p14="http://schemas.microsoft.com/office/powerpoint/2010/main" val="34737653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A207737-EACD-B049-9021-1F53842A5D0F}" type="datetimeFigureOut">
              <a:rPr lang="en-US" smtClean="0"/>
              <a:t>1/14/26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1DBF19-87B7-564B-A789-B874D71D9FD0}" type="slidenum">
              <a:rPr lang="en-US" smtClean="0"/>
              <a:t>‹#›</a:t>
            </a:fld>
            <a:endParaRPr lang="en-US"/>
          </a:p>
        </p:txBody>
      </p:sp>
    </p:spTree>
    <p:extLst>
      <p:ext uri="{BB962C8B-B14F-4D97-AF65-F5344CB8AC3E}">
        <p14:creationId xmlns:p14="http://schemas.microsoft.com/office/powerpoint/2010/main" val="39266565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207737-EACD-B049-9021-1F53842A5D0F}" type="datetimeFigureOut">
              <a:rPr lang="en-US" smtClean="0"/>
              <a:t>1/14/26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1DBF19-87B7-564B-A789-B874D71D9FD0}" type="slidenum">
              <a:rPr lang="en-US" smtClean="0"/>
              <a:t>‹#›</a:t>
            </a:fld>
            <a:endParaRPr lang="en-US"/>
          </a:p>
        </p:txBody>
      </p:sp>
    </p:spTree>
    <p:extLst>
      <p:ext uri="{BB962C8B-B14F-4D97-AF65-F5344CB8AC3E}">
        <p14:creationId xmlns:p14="http://schemas.microsoft.com/office/powerpoint/2010/main" val="281402800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A207737-EACD-B049-9021-1F53842A5D0F}" type="datetimeFigureOut">
              <a:rPr lang="en-US" smtClean="0"/>
              <a:t>1/14/26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1DBF19-87B7-564B-A789-B874D71D9FD0}" type="slidenum">
              <a:rPr lang="en-US" smtClean="0"/>
              <a:t>‹#›</a:t>
            </a:fld>
            <a:endParaRPr lang="en-US"/>
          </a:p>
        </p:txBody>
      </p:sp>
    </p:spTree>
    <p:extLst>
      <p:ext uri="{BB962C8B-B14F-4D97-AF65-F5344CB8AC3E}">
        <p14:creationId xmlns:p14="http://schemas.microsoft.com/office/powerpoint/2010/main" val="17271748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A207737-EACD-B049-9021-1F53842A5D0F}" type="datetimeFigureOut">
              <a:rPr lang="en-US" smtClean="0"/>
              <a:t>1/14/26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81DBF19-87B7-564B-A789-B874D71D9FD0}" type="slidenum">
              <a:rPr lang="en-US" smtClean="0"/>
              <a:t>‹#›</a:t>
            </a:fld>
            <a:endParaRPr lang="en-US"/>
          </a:p>
        </p:txBody>
      </p:sp>
    </p:spTree>
    <p:extLst>
      <p:ext uri="{BB962C8B-B14F-4D97-AF65-F5344CB8AC3E}">
        <p14:creationId xmlns:p14="http://schemas.microsoft.com/office/powerpoint/2010/main" val="334086129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A207737-EACD-B049-9021-1F53842A5D0F}" type="datetimeFigureOut">
              <a:rPr lang="en-US" smtClean="0"/>
              <a:t>1/14/26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81DBF19-87B7-564B-A789-B874D71D9FD0}" type="slidenum">
              <a:rPr lang="en-US" smtClean="0"/>
              <a:t>‹#›</a:t>
            </a:fld>
            <a:endParaRPr lang="en-US"/>
          </a:p>
        </p:txBody>
      </p:sp>
    </p:spTree>
    <p:extLst>
      <p:ext uri="{BB962C8B-B14F-4D97-AF65-F5344CB8AC3E}">
        <p14:creationId xmlns:p14="http://schemas.microsoft.com/office/powerpoint/2010/main" val="181815369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207737-EACD-B049-9021-1F53842A5D0F}" type="datetimeFigureOut">
              <a:rPr lang="en-US" smtClean="0"/>
              <a:t>1/14/26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81DBF19-87B7-564B-A789-B874D71D9FD0}" type="slidenum">
              <a:rPr lang="en-US" smtClean="0"/>
              <a:t>‹#›</a:t>
            </a:fld>
            <a:endParaRPr lang="en-US"/>
          </a:p>
        </p:txBody>
      </p:sp>
    </p:spTree>
    <p:extLst>
      <p:ext uri="{BB962C8B-B14F-4D97-AF65-F5344CB8AC3E}">
        <p14:creationId xmlns:p14="http://schemas.microsoft.com/office/powerpoint/2010/main" val="14711245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A207737-EACD-B049-9021-1F53842A5D0F}" type="datetimeFigureOut">
              <a:rPr lang="en-US" smtClean="0"/>
              <a:t>1/14/26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1DBF19-87B7-564B-A789-B874D71D9FD0}" type="slidenum">
              <a:rPr lang="en-US" smtClean="0"/>
              <a:t>‹#›</a:t>
            </a:fld>
            <a:endParaRPr lang="en-US"/>
          </a:p>
        </p:txBody>
      </p:sp>
    </p:spTree>
    <p:extLst>
      <p:ext uri="{BB962C8B-B14F-4D97-AF65-F5344CB8AC3E}">
        <p14:creationId xmlns:p14="http://schemas.microsoft.com/office/powerpoint/2010/main" val="99220506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A207737-EACD-B049-9021-1F53842A5D0F}" type="datetimeFigureOut">
              <a:rPr lang="en-US" smtClean="0"/>
              <a:t>1/14/26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1DBF19-87B7-564B-A789-B874D71D9FD0}" type="slidenum">
              <a:rPr lang="en-US" smtClean="0"/>
              <a:t>‹#›</a:t>
            </a:fld>
            <a:endParaRPr lang="en-US"/>
          </a:p>
        </p:txBody>
      </p:sp>
    </p:spTree>
    <p:extLst>
      <p:ext uri="{BB962C8B-B14F-4D97-AF65-F5344CB8AC3E}">
        <p14:creationId xmlns:p14="http://schemas.microsoft.com/office/powerpoint/2010/main" val="226199267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A207737-EACD-B049-9021-1F53842A5D0F}" type="datetimeFigureOut">
              <a:rPr lang="en-US" smtClean="0"/>
              <a:t>1/14/26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1DBF19-87B7-564B-A789-B874D71D9FD0}" type="slidenum">
              <a:rPr lang="en-US" smtClean="0"/>
              <a:t>‹#›</a:t>
            </a:fld>
            <a:endParaRPr lang="en-US"/>
          </a:p>
        </p:txBody>
      </p:sp>
    </p:spTree>
    <p:extLst>
      <p:ext uri="{BB962C8B-B14F-4D97-AF65-F5344CB8AC3E}">
        <p14:creationId xmlns:p14="http://schemas.microsoft.com/office/powerpoint/2010/main" val="38651560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A207737-EACD-B049-9021-1F53842A5D0F}" type="datetimeFigureOut">
              <a:rPr lang="en-US" smtClean="0"/>
              <a:t>1/14/26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1DBF19-87B7-564B-A789-B874D71D9FD0}" type="slidenum">
              <a:rPr lang="en-US" smtClean="0"/>
              <a:t>‹#›</a:t>
            </a:fld>
            <a:endParaRPr lang="en-US"/>
          </a:p>
        </p:txBody>
      </p:sp>
    </p:spTree>
    <p:extLst>
      <p:ext uri="{BB962C8B-B14F-4D97-AF65-F5344CB8AC3E}">
        <p14:creationId xmlns:p14="http://schemas.microsoft.com/office/powerpoint/2010/main" val="312722813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CC8FD300-93C7-9842-B34B-A72D281C39E9}" type="datetimeFigureOut">
              <a:rPr lang="en-US"/>
              <a:pPr>
                <a:defRPr/>
              </a:pPr>
              <a:t>1/14/26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3C3C775-3FE5-C647-814E-28ECBB869E0F}" type="slidenum">
              <a:rPr lang="en-US"/>
              <a:pPr>
                <a:defRPr/>
              </a:pPr>
              <a:t>‹#›</a:t>
            </a:fld>
            <a:endParaRPr lang="en-US"/>
          </a:p>
        </p:txBody>
      </p:sp>
    </p:spTree>
    <p:extLst>
      <p:ext uri="{BB962C8B-B14F-4D97-AF65-F5344CB8AC3E}">
        <p14:creationId xmlns:p14="http://schemas.microsoft.com/office/powerpoint/2010/main" val="99968048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4" name="Footer Placeholder 4"/>
          <p:cNvSpPr txBox="1">
            <a:spLocks/>
          </p:cNvSpPr>
          <p:nvPr userDrawn="1"/>
        </p:nvSpPr>
        <p:spPr>
          <a:xfrm>
            <a:off x="0" y="6629400"/>
            <a:ext cx="9144000" cy="228600"/>
          </a:xfrm>
          <a:prstGeom prst="rect">
            <a:avLst/>
          </a:prstGeom>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gn="ctr" eaLnBrk="1" fontAlgn="base" hangingPunct="1">
              <a:spcBef>
                <a:spcPct val="0"/>
              </a:spcBef>
              <a:spcAft>
                <a:spcPct val="0"/>
              </a:spcAft>
              <a:defRPr/>
            </a:pPr>
            <a:r>
              <a:rPr lang="en-US" sz="1200" i="1" kern="1200">
                <a:solidFill>
                  <a:prstClr val="black"/>
                </a:solidFill>
              </a:rPr>
              <a:t>Computer Networks</a:t>
            </a:r>
            <a:r>
              <a:rPr lang="en-US" sz="1200" kern="1200">
                <a:solidFill>
                  <a:prstClr val="black"/>
                </a:solidFill>
              </a:rPr>
              <a:t>, Fifth Edition by Andrew Tanenbaum and David Wetherall, © Pearson Education-Prentice Hall, 2011</a:t>
            </a:r>
          </a:p>
          <a:p>
            <a:pPr eaLnBrk="1" fontAlgn="base" hangingPunct="1">
              <a:spcBef>
                <a:spcPct val="0"/>
              </a:spcBef>
              <a:spcAft>
                <a:spcPct val="0"/>
              </a:spcAft>
              <a:defRPr/>
            </a:pPr>
            <a:endParaRPr lang="en-US" sz="1200" kern="1200">
              <a:solidFill>
                <a:prstClr val="black"/>
              </a:solidFill>
            </a:endParaRPr>
          </a:p>
        </p:txBody>
      </p:sp>
      <p:sp>
        <p:nvSpPr>
          <p:cNvPr id="2" name="Title 1"/>
          <p:cNvSpPr>
            <a:spLocks noGrp="1"/>
          </p:cNvSpPr>
          <p:nvPr>
            <p:ph type="title"/>
          </p:nvPr>
        </p:nvSpPr>
        <p:spPr/>
        <p:txBody>
          <a:bodyPr/>
          <a:lstStyle>
            <a:lvl1pPr>
              <a:defRPr>
                <a:latin typeface="Arial" pitchFamily="34" charset="0"/>
                <a:cs typeface="Arial"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sz="2800">
                <a:latin typeface="Arial" pitchFamily="34" charset="0"/>
                <a:cs typeface="Arial" pitchFamily="34" charset="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0"/>
          </p:nvPr>
        </p:nvSpPr>
        <p:spPr>
          <a:xfrm>
            <a:off x="0" y="6629400"/>
            <a:ext cx="9144000" cy="228600"/>
          </a:xfrm>
        </p:spPr>
        <p:txBody>
          <a:bodyPr/>
          <a:lstStyle>
            <a:lvl1pPr>
              <a:defRPr i="1">
                <a:solidFill>
                  <a:schemeClr val="tx1"/>
                </a:solidFill>
                <a:latin typeface="Arial" charset="0"/>
              </a:defRPr>
            </a:lvl1pPr>
          </a:lstStyle>
          <a:p>
            <a:pPr>
              <a:defRPr/>
            </a:pPr>
            <a:r>
              <a:rPr lang="en-US">
                <a:solidFill>
                  <a:prstClr val="black"/>
                </a:solidFill>
              </a:rPr>
              <a:t>Computer Networks, Fifth Edition by Andrew Tanenbaum and David Wetherall, © Pearson Education-Prentice Hall, 2011</a:t>
            </a:r>
          </a:p>
          <a:p>
            <a:pPr>
              <a:defRPr/>
            </a:pPr>
            <a:endParaRPr lang="en-US">
              <a:solidFill>
                <a:prstClr val="black"/>
              </a:solidFill>
            </a:endParaRPr>
          </a:p>
        </p:txBody>
      </p:sp>
    </p:spTree>
    <p:extLst>
      <p:ext uri="{BB962C8B-B14F-4D97-AF65-F5344CB8AC3E}">
        <p14:creationId xmlns:p14="http://schemas.microsoft.com/office/powerpoint/2010/main" val="344760386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24812938-AC5B-6A4D-B111-12AB697D953A}" type="datetimeFigureOut">
              <a:rPr lang="en-US"/>
              <a:pPr>
                <a:defRPr/>
              </a:pPr>
              <a:t>1/14/26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A5D0534-EF16-E34B-84A9-7B2D9D966D70}" type="slidenum">
              <a:rPr lang="en-US"/>
              <a:pPr>
                <a:defRPr/>
              </a:pPr>
              <a:t>‹#›</a:t>
            </a:fld>
            <a:endParaRPr lang="en-US"/>
          </a:p>
        </p:txBody>
      </p:sp>
    </p:spTree>
    <p:extLst>
      <p:ext uri="{BB962C8B-B14F-4D97-AF65-F5344CB8AC3E}">
        <p14:creationId xmlns:p14="http://schemas.microsoft.com/office/powerpoint/2010/main" val="405158151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22F152D3-BE24-9E4E-91AC-371B547643BF}" type="datetimeFigureOut">
              <a:rPr lang="en-US"/>
              <a:pPr>
                <a:defRPr/>
              </a:pPr>
              <a:t>1/14/26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17F94F26-CF64-F849-8975-7B3C533EB935}" type="slidenum">
              <a:rPr lang="en-US"/>
              <a:pPr>
                <a:defRPr/>
              </a:pPr>
              <a:t>‹#›</a:t>
            </a:fld>
            <a:endParaRPr lang="en-US"/>
          </a:p>
        </p:txBody>
      </p:sp>
    </p:spTree>
    <p:extLst>
      <p:ext uri="{BB962C8B-B14F-4D97-AF65-F5344CB8AC3E}">
        <p14:creationId xmlns:p14="http://schemas.microsoft.com/office/powerpoint/2010/main" val="394659032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33E1BD79-8CFA-3E40-9C2A-5B64599C1930}" type="datetimeFigureOut">
              <a:rPr lang="en-US"/>
              <a:pPr>
                <a:defRPr/>
              </a:pPr>
              <a:t>1/14/26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F6149616-4901-5143-B0ED-B9A9F43E47A8}" type="slidenum">
              <a:rPr lang="en-US"/>
              <a:pPr>
                <a:defRPr/>
              </a:pPr>
              <a:t>‹#›</a:t>
            </a:fld>
            <a:endParaRPr lang="en-US"/>
          </a:p>
        </p:txBody>
      </p:sp>
    </p:spTree>
    <p:extLst>
      <p:ext uri="{BB962C8B-B14F-4D97-AF65-F5344CB8AC3E}">
        <p14:creationId xmlns:p14="http://schemas.microsoft.com/office/powerpoint/2010/main" val="252608195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DB31949B-E578-3A4F-9C2D-556281491306}" type="datetimeFigureOut">
              <a:rPr lang="en-US"/>
              <a:pPr>
                <a:defRPr/>
              </a:pPr>
              <a:t>1/14/26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F0ED7C2E-7D12-1649-A3EA-62069EE63315}" type="slidenum">
              <a:rPr lang="en-US"/>
              <a:pPr>
                <a:defRPr/>
              </a:pPr>
              <a:t>‹#›</a:t>
            </a:fld>
            <a:endParaRPr lang="en-US"/>
          </a:p>
        </p:txBody>
      </p:sp>
    </p:spTree>
    <p:extLst>
      <p:ext uri="{BB962C8B-B14F-4D97-AF65-F5344CB8AC3E}">
        <p14:creationId xmlns:p14="http://schemas.microsoft.com/office/powerpoint/2010/main" val="299108108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A4C47C5-52AB-3446-8E75-C8047F01F19C}" type="datetimeFigureOut">
              <a:rPr lang="en-US"/>
              <a:pPr>
                <a:defRPr/>
              </a:pPr>
              <a:t>1/14/26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0149992C-F5BB-F84F-9B69-23B3EEC249A0}" type="slidenum">
              <a:rPr lang="en-US"/>
              <a:pPr>
                <a:defRPr/>
              </a:pPr>
              <a:t>‹#›</a:t>
            </a:fld>
            <a:endParaRPr lang="en-US"/>
          </a:p>
        </p:txBody>
      </p:sp>
    </p:spTree>
    <p:extLst>
      <p:ext uri="{BB962C8B-B14F-4D97-AF65-F5344CB8AC3E}">
        <p14:creationId xmlns:p14="http://schemas.microsoft.com/office/powerpoint/2010/main" val="294524650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2B328D7D-9C36-834C-B9A1-AE7EF5DD1BEC}" type="datetimeFigureOut">
              <a:rPr lang="en-US"/>
              <a:pPr>
                <a:defRPr/>
              </a:pPr>
              <a:t>1/14/26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FC0E3D64-9913-B340-B46B-6D712D265567}" type="slidenum">
              <a:rPr lang="en-US"/>
              <a:pPr>
                <a:defRPr/>
              </a:pPr>
              <a:t>‹#›</a:t>
            </a:fld>
            <a:endParaRPr lang="en-US"/>
          </a:p>
        </p:txBody>
      </p:sp>
    </p:spTree>
    <p:extLst>
      <p:ext uri="{BB962C8B-B14F-4D97-AF65-F5344CB8AC3E}">
        <p14:creationId xmlns:p14="http://schemas.microsoft.com/office/powerpoint/2010/main" val="286602987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4510851-555A-8442-A053-39521EBF58B7}" type="datetimeFigureOut">
              <a:rPr lang="en-US"/>
              <a:pPr>
                <a:defRPr/>
              </a:pPr>
              <a:t>1/14/26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7781F4C-7CD8-954B-9A82-435817732C45}" type="slidenum">
              <a:rPr lang="en-US"/>
              <a:pPr>
                <a:defRPr/>
              </a:pPr>
              <a:t>‹#›</a:t>
            </a:fld>
            <a:endParaRPr lang="en-US"/>
          </a:p>
        </p:txBody>
      </p:sp>
    </p:spTree>
    <p:extLst>
      <p:ext uri="{BB962C8B-B14F-4D97-AF65-F5344CB8AC3E}">
        <p14:creationId xmlns:p14="http://schemas.microsoft.com/office/powerpoint/2010/main" val="315764978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8DAD0F8-13D7-E749-92B2-349334226A0D}" type="datetimeFigureOut">
              <a:rPr lang="en-US"/>
              <a:pPr>
                <a:defRPr/>
              </a:pPr>
              <a:t>1/14/26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BE632E1F-9F76-A146-97E2-E9FD135B1382}" type="slidenum">
              <a:rPr lang="en-US"/>
              <a:pPr>
                <a:defRPr/>
              </a:pPr>
              <a:t>‹#›</a:t>
            </a:fld>
            <a:endParaRPr lang="en-US"/>
          </a:p>
        </p:txBody>
      </p:sp>
    </p:spTree>
    <p:extLst>
      <p:ext uri="{BB962C8B-B14F-4D97-AF65-F5344CB8AC3E}">
        <p14:creationId xmlns:p14="http://schemas.microsoft.com/office/powerpoint/2010/main" val="79900578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67F3B14-630D-4340-9F91-3A617180C0D1}" type="datetimeFigureOut">
              <a:rPr lang="en-US"/>
              <a:pPr>
                <a:defRPr/>
              </a:pPr>
              <a:t>1/14/26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DA9EA78-28D4-2640-8795-DE278063EDC7}" type="slidenum">
              <a:rPr lang="en-US"/>
              <a:pPr>
                <a:defRPr/>
              </a:pPr>
              <a:t>‹#›</a:t>
            </a:fld>
            <a:endParaRPr lang="en-US"/>
          </a:p>
        </p:txBody>
      </p:sp>
    </p:spTree>
    <p:extLst>
      <p:ext uri="{BB962C8B-B14F-4D97-AF65-F5344CB8AC3E}">
        <p14:creationId xmlns:p14="http://schemas.microsoft.com/office/powerpoint/2010/main" val="403841821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
            <a:ext cx="8229600" cy="1066800"/>
          </a:xfrm>
        </p:spPr>
        <p:txBody>
          <a:bodyPr/>
          <a:lstStyle/>
          <a:p>
            <a:r>
              <a:rPr lang="en-US"/>
              <a:t>Click to edit Master title style</a:t>
            </a:r>
          </a:p>
        </p:txBody>
      </p:sp>
      <p:sp>
        <p:nvSpPr>
          <p:cNvPr id="3" name="Content Placeholder 2"/>
          <p:cNvSpPr>
            <a:spLocks noGrp="1"/>
          </p:cNvSpPr>
          <p:nvPr>
            <p:ph idx="1"/>
          </p:nvPr>
        </p:nvSpPr>
        <p:spPr>
          <a:xfrm>
            <a:off x="1143000" y="1828800"/>
            <a:ext cx="7543800" cy="4297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AF553548-90E5-A14A-B9CC-F608B4658BB5}" type="datetimeFigureOut">
              <a:rPr lang="en-US"/>
              <a:pPr>
                <a:defRPr/>
              </a:pPr>
              <a:t>1/14/26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7F74531-C250-9040-87CC-FF728AD81F09}" type="slidenum">
              <a:rPr lang="en-US"/>
              <a:pPr>
                <a:defRPr/>
              </a:pPr>
              <a:t>‹#›</a:t>
            </a:fld>
            <a:endParaRPr lang="en-US"/>
          </a:p>
        </p:txBody>
      </p:sp>
    </p:spTree>
    <p:extLst>
      <p:ext uri="{BB962C8B-B14F-4D97-AF65-F5344CB8AC3E}">
        <p14:creationId xmlns:p14="http://schemas.microsoft.com/office/powerpoint/2010/main" val="1666587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theme" Target="../theme/theme5.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152400" y="6248400"/>
            <a:ext cx="1905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defRPr sz="1000">
                <a:cs typeface="+mn-cs"/>
              </a:defRPr>
            </a:lvl1pPr>
          </a:lstStyle>
          <a:p>
            <a:pPr>
              <a:defRPr/>
            </a:pPr>
            <a:fld id="{EED09950-8511-024C-90CE-CE808A8FC63F}" type="datetime3">
              <a:rPr lang="en-US"/>
              <a:pPr>
                <a:defRPr/>
              </a:pPr>
              <a:t>14 January 2026</a:t>
            </a:fld>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ctr">
              <a:defRPr sz="1000">
                <a:cs typeface="+mn-cs"/>
              </a:defRPr>
            </a:lvl1pPr>
          </a:lstStyle>
          <a:p>
            <a:pPr>
              <a:defRPr/>
            </a:pPr>
            <a:r>
              <a:rPr lang="en-US"/>
              <a:t>.</a:t>
            </a:r>
          </a:p>
        </p:txBody>
      </p:sp>
      <p:sp>
        <p:nvSpPr>
          <p:cNvPr id="1030" name="Rectangle 6"/>
          <p:cNvSpPr>
            <a:spLocks noGrp="1" noChangeArrowheads="1"/>
          </p:cNvSpPr>
          <p:nvPr>
            <p:ph type="sldNum" sz="quarter" idx="4"/>
          </p:nvPr>
        </p:nvSpPr>
        <p:spPr bwMode="auto">
          <a:xfrm>
            <a:off x="6553200" y="6248400"/>
            <a:ext cx="1905000" cy="228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r">
              <a:defRPr sz="1000">
                <a:cs typeface="+mn-cs"/>
              </a:defRPr>
            </a:lvl1pPr>
          </a:lstStyle>
          <a:p>
            <a:pPr>
              <a:defRPr/>
            </a:pPr>
            <a:fld id="{F95C6B69-A0CA-BE42-9587-D92EF39EF6B1}" type="slidenum">
              <a:rPr lang="en-US"/>
              <a:pPr>
                <a:defRPr/>
              </a:pPr>
              <a:t>‹#›</a:t>
            </a:fld>
            <a:endParaRPr lang="en-US"/>
          </a:p>
        </p:txBody>
      </p:sp>
      <p:sp>
        <p:nvSpPr>
          <p:cNvPr id="1033" name="Text Box 9"/>
          <p:cNvSpPr txBox="1">
            <a:spLocks noChangeArrowheads="1"/>
          </p:cNvSpPr>
          <p:nvPr/>
        </p:nvSpPr>
        <p:spPr bwMode="auto">
          <a:xfrm>
            <a:off x="6324600" y="6445250"/>
            <a:ext cx="2133600" cy="4127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r">
              <a:spcBef>
                <a:spcPct val="50000"/>
              </a:spcBef>
              <a:defRPr/>
            </a:pPr>
            <a:r>
              <a:rPr lang="en-US" sz="1000" b="0">
                <a:cs typeface="+mn-cs"/>
              </a:rPr>
              <a:t>©   John Day, 2010</a:t>
            </a:r>
          </a:p>
          <a:p>
            <a:pPr algn="r">
              <a:lnSpc>
                <a:spcPct val="60000"/>
              </a:lnSpc>
              <a:spcBef>
                <a:spcPct val="50000"/>
              </a:spcBef>
              <a:defRPr/>
            </a:pPr>
            <a:r>
              <a:rPr lang="en-US" sz="1000" b="0">
                <a:cs typeface="+mn-cs"/>
              </a:rPr>
              <a:t>All Rights Reserved</a:t>
            </a:r>
          </a:p>
        </p:txBody>
      </p:sp>
    </p:spTree>
  </p:cSld>
  <p:clrMap bg1="lt1" tx1="dk1" bg2="lt2" tx2="dk2" accent1="accent1" accent2="accent2" accent3="accent3" accent4="accent4" accent5="accent5" accent6="accent6" hlink="hlink" folHlink="folHlink"/>
  <p:sldLayoutIdLst>
    <p:sldLayoutId id="2147483815" r:id="rId1"/>
    <p:sldLayoutId id="2147483816" r:id="rId2"/>
    <p:sldLayoutId id="2147483817" r:id="rId3"/>
    <p:sldLayoutId id="2147483818" r:id="rId4"/>
    <p:sldLayoutId id="2147483819" r:id="rId5"/>
    <p:sldLayoutId id="2147483820" r:id="rId6"/>
    <p:sldLayoutId id="2147483821" r:id="rId7"/>
    <p:sldLayoutId id="2147483822" r:id="rId8"/>
    <p:sldLayoutId id="2147483823" r:id="rId9"/>
    <p:sldLayoutId id="2147483824" r:id="rId10"/>
    <p:sldLayoutId id="2147483825" r:id="rId11"/>
  </p:sldLayoutIdLst>
  <p:hf hdr="0"/>
  <p:txStyles>
    <p:titleStyle>
      <a:lvl1pPr algn="ctr" rtl="0" eaLnBrk="0" fontAlgn="base" hangingPunct="0">
        <a:spcBef>
          <a:spcPct val="0"/>
        </a:spcBef>
        <a:spcAft>
          <a:spcPct val="0"/>
        </a:spcAft>
        <a:defRPr sz="4400">
          <a:solidFill>
            <a:schemeClr val="tx2"/>
          </a:solidFill>
          <a:latin typeface="+mj-lt"/>
          <a:ea typeface="+mj-ea"/>
          <a:cs typeface="ＭＳ Ｐゴシック" charset="0"/>
        </a:defRPr>
      </a:lvl1pPr>
      <a:lvl2pPr algn="ctr" rtl="0" eaLnBrk="0" fontAlgn="base" hangingPunct="0">
        <a:spcBef>
          <a:spcPct val="0"/>
        </a:spcBef>
        <a:spcAft>
          <a:spcPct val="0"/>
        </a:spcAft>
        <a:defRPr sz="4400">
          <a:solidFill>
            <a:schemeClr val="tx2"/>
          </a:solidFill>
          <a:latin typeface="Times"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Times"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Times"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Times" charset="0"/>
          <a:ea typeface="ＭＳ Ｐゴシック" charset="0"/>
          <a:cs typeface="ＭＳ Ｐゴシック" charset="0"/>
        </a:defRPr>
      </a:lvl5pPr>
      <a:lvl6pPr marL="457200" algn="ctr" rtl="0" eaLnBrk="0" fontAlgn="base" hangingPunct="0">
        <a:spcBef>
          <a:spcPct val="0"/>
        </a:spcBef>
        <a:spcAft>
          <a:spcPct val="0"/>
        </a:spcAft>
        <a:defRPr sz="4400">
          <a:solidFill>
            <a:schemeClr val="tx2"/>
          </a:solidFill>
          <a:latin typeface="Times" charset="0"/>
          <a:ea typeface="ＭＳ Ｐゴシック" charset="0"/>
        </a:defRPr>
      </a:lvl6pPr>
      <a:lvl7pPr marL="914400" algn="ctr" rtl="0" eaLnBrk="0" fontAlgn="base" hangingPunct="0">
        <a:spcBef>
          <a:spcPct val="0"/>
        </a:spcBef>
        <a:spcAft>
          <a:spcPct val="0"/>
        </a:spcAft>
        <a:defRPr sz="4400">
          <a:solidFill>
            <a:schemeClr val="tx2"/>
          </a:solidFill>
          <a:latin typeface="Times" charset="0"/>
          <a:ea typeface="ＭＳ Ｐゴシック" charset="0"/>
        </a:defRPr>
      </a:lvl7pPr>
      <a:lvl8pPr marL="1371600" algn="ctr" rtl="0" eaLnBrk="0" fontAlgn="base" hangingPunct="0">
        <a:spcBef>
          <a:spcPct val="0"/>
        </a:spcBef>
        <a:spcAft>
          <a:spcPct val="0"/>
        </a:spcAft>
        <a:defRPr sz="4400">
          <a:solidFill>
            <a:schemeClr val="tx2"/>
          </a:solidFill>
          <a:latin typeface="Times" charset="0"/>
          <a:ea typeface="ＭＳ Ｐゴシック" charset="0"/>
        </a:defRPr>
      </a:lvl8pPr>
      <a:lvl9pPr marL="1828800" algn="ctr" rtl="0" eaLnBrk="0" fontAlgn="base" hangingPunct="0">
        <a:spcBef>
          <a:spcPct val="0"/>
        </a:spcBef>
        <a:spcAft>
          <a:spcPct val="0"/>
        </a:spcAft>
        <a:defRPr sz="4400">
          <a:solidFill>
            <a:schemeClr val="tx2"/>
          </a:solidFill>
          <a:latin typeface="Times" charset="0"/>
          <a:ea typeface="ＭＳ Ｐゴシック"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ＭＳ Ｐゴシック" charset="0"/>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152400" y="6248400"/>
            <a:ext cx="1905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defRPr sz="1000">
                <a:solidFill>
                  <a:srgbClr val="000000"/>
                </a:solidFill>
                <a:cs typeface="+mn-cs"/>
              </a:defRPr>
            </a:lvl1pPr>
          </a:lstStyle>
          <a:p>
            <a:pPr>
              <a:defRPr/>
            </a:pPr>
            <a:fld id="{4D663D9A-75E0-034C-9FD4-599671AE1804}" type="datetime3">
              <a:rPr lang="en-US"/>
              <a:pPr>
                <a:defRPr/>
              </a:pPr>
              <a:t>14 January 2026</a:t>
            </a:fld>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ctr">
              <a:defRPr sz="1000">
                <a:solidFill>
                  <a:srgbClr val="000000"/>
                </a:solidFill>
                <a:cs typeface="+mn-cs"/>
              </a:defRPr>
            </a:lvl1pPr>
          </a:lstStyle>
          <a:p>
            <a:pPr>
              <a:defRPr/>
            </a:pPr>
            <a:r>
              <a:rPr lang="en-US"/>
              <a:t>.</a:t>
            </a:r>
          </a:p>
        </p:txBody>
      </p:sp>
      <p:sp>
        <p:nvSpPr>
          <p:cNvPr id="1030" name="Rectangle 6"/>
          <p:cNvSpPr>
            <a:spLocks noGrp="1" noChangeArrowheads="1"/>
          </p:cNvSpPr>
          <p:nvPr>
            <p:ph type="sldNum" sz="quarter" idx="4"/>
          </p:nvPr>
        </p:nvSpPr>
        <p:spPr bwMode="auto">
          <a:xfrm>
            <a:off x="6553200" y="6248400"/>
            <a:ext cx="1905000" cy="228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r">
              <a:defRPr sz="1000">
                <a:solidFill>
                  <a:srgbClr val="000000"/>
                </a:solidFill>
                <a:cs typeface="+mn-cs"/>
              </a:defRPr>
            </a:lvl1pPr>
          </a:lstStyle>
          <a:p>
            <a:pPr>
              <a:defRPr/>
            </a:pPr>
            <a:fld id="{84EFA318-2261-8E4F-B662-A6EB9A2F2E9C}" type="slidenum">
              <a:rPr lang="en-US"/>
              <a:pPr>
                <a:defRPr/>
              </a:pPr>
              <a:t>‹#›</a:t>
            </a:fld>
            <a:endParaRPr lang="en-US"/>
          </a:p>
        </p:txBody>
      </p:sp>
      <p:sp>
        <p:nvSpPr>
          <p:cNvPr id="1033" name="Text Box 9"/>
          <p:cNvSpPr txBox="1">
            <a:spLocks noChangeArrowheads="1"/>
          </p:cNvSpPr>
          <p:nvPr/>
        </p:nvSpPr>
        <p:spPr bwMode="auto">
          <a:xfrm>
            <a:off x="6324600" y="6445250"/>
            <a:ext cx="2133600" cy="4127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r">
              <a:spcBef>
                <a:spcPct val="50000"/>
              </a:spcBef>
              <a:defRPr/>
            </a:pPr>
            <a:r>
              <a:rPr lang="en-US" sz="1000" b="0">
                <a:solidFill>
                  <a:srgbClr val="000000"/>
                </a:solidFill>
              </a:rPr>
              <a:t>©   John Day, 2010</a:t>
            </a:r>
          </a:p>
          <a:p>
            <a:pPr algn="r">
              <a:lnSpc>
                <a:spcPct val="60000"/>
              </a:lnSpc>
              <a:spcBef>
                <a:spcPct val="50000"/>
              </a:spcBef>
              <a:defRPr/>
            </a:pPr>
            <a:r>
              <a:rPr lang="en-US" sz="1000" b="0">
                <a:solidFill>
                  <a:srgbClr val="000000"/>
                </a:solidFill>
              </a:rPr>
              <a:t>All Rights Reserved</a:t>
            </a:r>
          </a:p>
        </p:txBody>
      </p:sp>
    </p:spTree>
  </p:cSld>
  <p:clrMap bg1="lt1" tx1="dk1" bg2="lt2" tx2="dk2" accent1="accent1" accent2="accent2" accent3="accent3" accent4="accent4" accent5="accent5" accent6="accent6" hlink="hlink" folHlink="folHlink"/>
  <p:sldLayoutIdLst>
    <p:sldLayoutId id="2147483826" r:id="rId1"/>
    <p:sldLayoutId id="2147483827" r:id="rId2"/>
    <p:sldLayoutId id="2147483828" r:id="rId3"/>
    <p:sldLayoutId id="2147483829" r:id="rId4"/>
    <p:sldLayoutId id="2147483830" r:id="rId5"/>
    <p:sldLayoutId id="2147483831" r:id="rId6"/>
    <p:sldLayoutId id="2147483832" r:id="rId7"/>
    <p:sldLayoutId id="2147483833" r:id="rId8"/>
    <p:sldLayoutId id="2147483834" r:id="rId9"/>
    <p:sldLayoutId id="2147483835" r:id="rId10"/>
    <p:sldLayoutId id="2147483836" r:id="rId11"/>
  </p:sldLayoutIdLst>
  <p:hf hdr="0"/>
  <p:txStyles>
    <p:titleStyle>
      <a:lvl1pPr algn="ctr" rtl="0" eaLnBrk="0" fontAlgn="base" hangingPunct="0">
        <a:spcBef>
          <a:spcPct val="0"/>
        </a:spcBef>
        <a:spcAft>
          <a:spcPct val="0"/>
        </a:spcAft>
        <a:defRPr sz="4400">
          <a:solidFill>
            <a:schemeClr val="tx2"/>
          </a:solidFill>
          <a:latin typeface="+mj-lt"/>
          <a:ea typeface="+mj-ea"/>
          <a:cs typeface="ＭＳ Ｐゴシック" charset="0"/>
        </a:defRPr>
      </a:lvl1pPr>
      <a:lvl2pPr algn="ctr" rtl="0" eaLnBrk="0" fontAlgn="base" hangingPunct="0">
        <a:spcBef>
          <a:spcPct val="0"/>
        </a:spcBef>
        <a:spcAft>
          <a:spcPct val="0"/>
        </a:spcAft>
        <a:defRPr sz="4400">
          <a:solidFill>
            <a:schemeClr val="tx2"/>
          </a:solidFill>
          <a:latin typeface="Times"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Times"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Times"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Times" charset="0"/>
          <a:ea typeface="ＭＳ Ｐゴシック" charset="0"/>
          <a:cs typeface="ＭＳ Ｐゴシック" charset="0"/>
        </a:defRPr>
      </a:lvl5pPr>
      <a:lvl6pPr marL="457200" algn="ctr" rtl="0" eaLnBrk="0" fontAlgn="base" hangingPunct="0">
        <a:spcBef>
          <a:spcPct val="0"/>
        </a:spcBef>
        <a:spcAft>
          <a:spcPct val="0"/>
        </a:spcAft>
        <a:defRPr sz="4400">
          <a:solidFill>
            <a:schemeClr val="tx2"/>
          </a:solidFill>
          <a:latin typeface="Times" charset="0"/>
          <a:ea typeface="ＭＳ Ｐゴシック" charset="0"/>
        </a:defRPr>
      </a:lvl6pPr>
      <a:lvl7pPr marL="914400" algn="ctr" rtl="0" eaLnBrk="0" fontAlgn="base" hangingPunct="0">
        <a:spcBef>
          <a:spcPct val="0"/>
        </a:spcBef>
        <a:spcAft>
          <a:spcPct val="0"/>
        </a:spcAft>
        <a:defRPr sz="4400">
          <a:solidFill>
            <a:schemeClr val="tx2"/>
          </a:solidFill>
          <a:latin typeface="Times" charset="0"/>
          <a:ea typeface="ＭＳ Ｐゴシック" charset="0"/>
        </a:defRPr>
      </a:lvl7pPr>
      <a:lvl8pPr marL="1371600" algn="ctr" rtl="0" eaLnBrk="0" fontAlgn="base" hangingPunct="0">
        <a:spcBef>
          <a:spcPct val="0"/>
        </a:spcBef>
        <a:spcAft>
          <a:spcPct val="0"/>
        </a:spcAft>
        <a:defRPr sz="4400">
          <a:solidFill>
            <a:schemeClr val="tx2"/>
          </a:solidFill>
          <a:latin typeface="Times" charset="0"/>
          <a:ea typeface="ＭＳ Ｐゴシック" charset="0"/>
        </a:defRPr>
      </a:lvl8pPr>
      <a:lvl9pPr marL="1828800" algn="ctr" rtl="0" eaLnBrk="0" fontAlgn="base" hangingPunct="0">
        <a:spcBef>
          <a:spcPct val="0"/>
        </a:spcBef>
        <a:spcAft>
          <a:spcPct val="0"/>
        </a:spcAft>
        <a:defRPr sz="4400">
          <a:solidFill>
            <a:schemeClr val="tx2"/>
          </a:solidFill>
          <a:latin typeface="Times" charset="0"/>
          <a:ea typeface="ＭＳ Ｐゴシック"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ＭＳ Ｐゴシック" charset="0"/>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152400" y="6248400"/>
            <a:ext cx="1905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defRPr sz="1000">
                <a:cs typeface="+mn-cs"/>
              </a:defRPr>
            </a:lvl1pPr>
          </a:lstStyle>
          <a:p>
            <a:pPr>
              <a:defRPr/>
            </a:pPr>
            <a:fld id="{EED09950-8511-024C-90CE-CE808A8FC63F}" type="datetime3">
              <a:rPr lang="en-US">
                <a:solidFill>
                  <a:srgbClr val="000000"/>
                </a:solidFill>
              </a:rPr>
              <a:pPr>
                <a:defRPr/>
              </a:pPr>
              <a:t>14 January 2026</a:t>
            </a:fld>
            <a:endParaRPr lang="en-US">
              <a:solidFill>
                <a:srgbClr val="000000"/>
              </a:solidFill>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ctr">
              <a:defRPr sz="1000">
                <a:cs typeface="+mn-cs"/>
              </a:defRPr>
            </a:lvl1pPr>
          </a:lstStyle>
          <a:p>
            <a:pPr>
              <a:defRPr/>
            </a:pPr>
            <a:r>
              <a:rPr lang="en-US">
                <a:solidFill>
                  <a:srgbClr val="000000"/>
                </a:solidFill>
              </a:rPr>
              <a:t>.</a:t>
            </a:r>
          </a:p>
        </p:txBody>
      </p:sp>
      <p:sp>
        <p:nvSpPr>
          <p:cNvPr id="1030" name="Rectangle 6"/>
          <p:cNvSpPr>
            <a:spLocks noGrp="1" noChangeArrowheads="1"/>
          </p:cNvSpPr>
          <p:nvPr>
            <p:ph type="sldNum" sz="quarter" idx="4"/>
          </p:nvPr>
        </p:nvSpPr>
        <p:spPr bwMode="auto">
          <a:xfrm>
            <a:off x="6553200" y="6248400"/>
            <a:ext cx="1905000" cy="228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r">
              <a:defRPr sz="1000">
                <a:cs typeface="+mn-cs"/>
              </a:defRPr>
            </a:lvl1pPr>
          </a:lstStyle>
          <a:p>
            <a:pPr>
              <a:defRPr/>
            </a:pPr>
            <a:fld id="{F95C6B69-A0CA-BE42-9587-D92EF39EF6B1}" type="slidenum">
              <a:rPr lang="en-US">
                <a:solidFill>
                  <a:srgbClr val="000000"/>
                </a:solidFill>
              </a:rPr>
              <a:pPr>
                <a:defRPr/>
              </a:pPr>
              <a:t>‹#›</a:t>
            </a:fld>
            <a:endParaRPr lang="en-US">
              <a:solidFill>
                <a:srgbClr val="000000"/>
              </a:solidFill>
            </a:endParaRPr>
          </a:p>
        </p:txBody>
      </p:sp>
      <p:sp>
        <p:nvSpPr>
          <p:cNvPr id="1033" name="Text Box 9"/>
          <p:cNvSpPr txBox="1">
            <a:spLocks noChangeArrowheads="1"/>
          </p:cNvSpPr>
          <p:nvPr/>
        </p:nvSpPr>
        <p:spPr bwMode="auto">
          <a:xfrm>
            <a:off x="6324600" y="6445250"/>
            <a:ext cx="2133600" cy="4127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r">
              <a:spcBef>
                <a:spcPct val="50000"/>
              </a:spcBef>
              <a:defRPr/>
            </a:pPr>
            <a:r>
              <a:rPr lang="en-US" sz="1000" b="0">
                <a:solidFill>
                  <a:srgbClr val="000000"/>
                </a:solidFill>
              </a:rPr>
              <a:t>©   John Day, 2010</a:t>
            </a:r>
          </a:p>
          <a:p>
            <a:pPr algn="r">
              <a:lnSpc>
                <a:spcPct val="60000"/>
              </a:lnSpc>
              <a:spcBef>
                <a:spcPct val="50000"/>
              </a:spcBef>
              <a:defRPr/>
            </a:pPr>
            <a:r>
              <a:rPr lang="en-US" sz="1000" b="0">
                <a:solidFill>
                  <a:srgbClr val="000000"/>
                </a:solidFill>
              </a:rPr>
              <a:t>All Rights Reserved</a:t>
            </a:r>
          </a:p>
        </p:txBody>
      </p:sp>
    </p:spTree>
  </p:cSld>
  <p:clrMap bg1="lt1" tx1="dk1" bg2="lt2" tx2="dk2" accent1="accent1" accent2="accent2" accent3="accent3" accent4="accent4" accent5="accent5" accent6="accent6" hlink="hlink" folHlink="folHlink"/>
  <p:sldLayoutIdLst>
    <p:sldLayoutId id="2147483838" r:id="rId1"/>
    <p:sldLayoutId id="2147483839" r:id="rId2"/>
    <p:sldLayoutId id="2147483840" r:id="rId3"/>
    <p:sldLayoutId id="2147483841" r:id="rId4"/>
    <p:sldLayoutId id="2147483842" r:id="rId5"/>
    <p:sldLayoutId id="2147483843" r:id="rId6"/>
    <p:sldLayoutId id="2147483844" r:id="rId7"/>
    <p:sldLayoutId id="2147483845" r:id="rId8"/>
    <p:sldLayoutId id="2147483846" r:id="rId9"/>
    <p:sldLayoutId id="2147483847" r:id="rId10"/>
    <p:sldLayoutId id="2147483848" r:id="rId11"/>
  </p:sldLayoutIdLst>
  <p:hf hdr="0"/>
  <p:txStyles>
    <p:titleStyle>
      <a:lvl1pPr algn="ctr" rtl="0" eaLnBrk="0" fontAlgn="base" hangingPunct="0">
        <a:spcBef>
          <a:spcPct val="0"/>
        </a:spcBef>
        <a:spcAft>
          <a:spcPct val="0"/>
        </a:spcAft>
        <a:defRPr sz="4400">
          <a:solidFill>
            <a:schemeClr val="tx2"/>
          </a:solidFill>
          <a:latin typeface="+mj-lt"/>
          <a:ea typeface="+mj-ea"/>
          <a:cs typeface="ＭＳ Ｐゴシック" charset="0"/>
        </a:defRPr>
      </a:lvl1pPr>
      <a:lvl2pPr algn="ctr" rtl="0" eaLnBrk="0" fontAlgn="base" hangingPunct="0">
        <a:spcBef>
          <a:spcPct val="0"/>
        </a:spcBef>
        <a:spcAft>
          <a:spcPct val="0"/>
        </a:spcAft>
        <a:defRPr sz="4400">
          <a:solidFill>
            <a:schemeClr val="tx2"/>
          </a:solidFill>
          <a:latin typeface="Times"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Times"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Times"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Times" charset="0"/>
          <a:ea typeface="ＭＳ Ｐゴシック" charset="0"/>
          <a:cs typeface="ＭＳ Ｐゴシック" charset="0"/>
        </a:defRPr>
      </a:lvl5pPr>
      <a:lvl6pPr marL="457200" algn="ctr" rtl="0" eaLnBrk="0" fontAlgn="base" hangingPunct="0">
        <a:spcBef>
          <a:spcPct val="0"/>
        </a:spcBef>
        <a:spcAft>
          <a:spcPct val="0"/>
        </a:spcAft>
        <a:defRPr sz="4400">
          <a:solidFill>
            <a:schemeClr val="tx2"/>
          </a:solidFill>
          <a:latin typeface="Times" charset="0"/>
          <a:ea typeface="ＭＳ Ｐゴシック" charset="0"/>
        </a:defRPr>
      </a:lvl6pPr>
      <a:lvl7pPr marL="914400" algn="ctr" rtl="0" eaLnBrk="0" fontAlgn="base" hangingPunct="0">
        <a:spcBef>
          <a:spcPct val="0"/>
        </a:spcBef>
        <a:spcAft>
          <a:spcPct val="0"/>
        </a:spcAft>
        <a:defRPr sz="4400">
          <a:solidFill>
            <a:schemeClr val="tx2"/>
          </a:solidFill>
          <a:latin typeface="Times" charset="0"/>
          <a:ea typeface="ＭＳ Ｐゴシック" charset="0"/>
        </a:defRPr>
      </a:lvl7pPr>
      <a:lvl8pPr marL="1371600" algn="ctr" rtl="0" eaLnBrk="0" fontAlgn="base" hangingPunct="0">
        <a:spcBef>
          <a:spcPct val="0"/>
        </a:spcBef>
        <a:spcAft>
          <a:spcPct val="0"/>
        </a:spcAft>
        <a:defRPr sz="4400">
          <a:solidFill>
            <a:schemeClr val="tx2"/>
          </a:solidFill>
          <a:latin typeface="Times" charset="0"/>
          <a:ea typeface="ＭＳ Ｐゴシック" charset="0"/>
        </a:defRPr>
      </a:lvl8pPr>
      <a:lvl9pPr marL="1828800" algn="ctr" rtl="0" eaLnBrk="0" fontAlgn="base" hangingPunct="0">
        <a:spcBef>
          <a:spcPct val="0"/>
        </a:spcBef>
        <a:spcAft>
          <a:spcPct val="0"/>
        </a:spcAft>
        <a:defRPr sz="4400">
          <a:solidFill>
            <a:schemeClr val="tx2"/>
          </a:solidFill>
          <a:latin typeface="Times" charset="0"/>
          <a:ea typeface="ＭＳ Ｐゴシック"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ＭＳ Ｐゴシック" charset="0"/>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a:cs typeface="Times New Roman"/>
              </a:defRPr>
            </a:lvl1pPr>
          </a:lstStyle>
          <a:p>
            <a:fld id="{4A207737-EACD-B049-9021-1F53842A5D0F}" type="datetimeFigureOut">
              <a:rPr lang="en-US" smtClean="0"/>
              <a:pPr/>
              <a:t>1/14/26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a:cs typeface="Times New Roman"/>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a:cs typeface="Times New Roman"/>
              </a:defRPr>
            </a:lvl1pPr>
          </a:lstStyle>
          <a:p>
            <a:fld id="{181DBF19-87B7-564B-A789-B874D71D9FD0}" type="slidenum">
              <a:rPr lang="en-US" smtClean="0"/>
              <a:pPr/>
              <a:t>‹#›</a:t>
            </a:fld>
            <a:endParaRPr lang="en-US"/>
          </a:p>
        </p:txBody>
      </p:sp>
    </p:spTree>
    <p:extLst>
      <p:ext uri="{BB962C8B-B14F-4D97-AF65-F5344CB8AC3E}">
        <p14:creationId xmlns:p14="http://schemas.microsoft.com/office/powerpoint/2010/main" val="3618642250"/>
      </p:ext>
    </p:extLst>
  </p:cSld>
  <p:clrMap bg1="lt1" tx1="dk1" bg2="lt2" tx2="dk2" accent1="accent1" accent2="accent2" accent3="accent3" accent4="accent4" accent5="accent5" accent6="accent6" hlink="hlink" folHlink="folHlink"/>
  <p:sldLayoutIdLst>
    <p:sldLayoutId id="2147483850" r:id="rId1"/>
    <p:sldLayoutId id="2147483851" r:id="rId2"/>
    <p:sldLayoutId id="2147483852" r:id="rId3"/>
    <p:sldLayoutId id="2147483853" r:id="rId4"/>
    <p:sldLayoutId id="2147483854" r:id="rId5"/>
    <p:sldLayoutId id="2147483855" r:id="rId6"/>
    <p:sldLayoutId id="2147483856" r:id="rId7"/>
    <p:sldLayoutId id="2147483857" r:id="rId8"/>
    <p:sldLayoutId id="2147483858" r:id="rId9"/>
    <p:sldLayoutId id="2147483859" r:id="rId10"/>
    <p:sldLayoutId id="2147483860" r:id="rId11"/>
  </p:sldLayoutIdLst>
  <p:txStyles>
    <p:titleStyle>
      <a:lvl1pPr algn="ctr" defTabSz="457200" rtl="0" eaLnBrk="1" latinLnBrk="0" hangingPunct="1">
        <a:spcBef>
          <a:spcPct val="0"/>
        </a:spcBef>
        <a:buNone/>
        <a:defRPr sz="3200" kern="1200">
          <a:solidFill>
            <a:schemeClr val="tx1"/>
          </a:solidFill>
          <a:latin typeface="Times New Roman"/>
          <a:ea typeface="+mj-ea"/>
          <a:cs typeface="Times New Roman"/>
        </a:defRPr>
      </a:lvl1pPr>
    </p:titleStyle>
    <p:bodyStyle>
      <a:lvl1pPr marL="342900" indent="-342900" algn="l" defTabSz="457200" rtl="0" eaLnBrk="1" latinLnBrk="0" hangingPunct="1">
        <a:spcBef>
          <a:spcPct val="20000"/>
        </a:spcBef>
        <a:buFont typeface="Arial"/>
        <a:buChar char="•"/>
        <a:defRPr sz="2000" kern="1200">
          <a:solidFill>
            <a:schemeClr val="tx1"/>
          </a:solidFill>
          <a:latin typeface="Times New Roman"/>
          <a:ea typeface="+mn-ea"/>
          <a:cs typeface="Times New Roman"/>
        </a:defRPr>
      </a:lvl1pPr>
      <a:lvl2pPr marL="742950" indent="-285750" algn="l" defTabSz="457200" rtl="0" eaLnBrk="1" latinLnBrk="0" hangingPunct="1">
        <a:spcBef>
          <a:spcPct val="20000"/>
        </a:spcBef>
        <a:buFont typeface="Arial"/>
        <a:buChar char="–"/>
        <a:defRPr sz="1800" kern="1200">
          <a:solidFill>
            <a:schemeClr val="tx1"/>
          </a:solidFill>
          <a:latin typeface="Times New Roman"/>
          <a:ea typeface="+mn-ea"/>
          <a:cs typeface="Times New Roman"/>
        </a:defRPr>
      </a:lvl2pPr>
      <a:lvl3pPr marL="1143000" indent="-228600" algn="l" defTabSz="457200" rtl="0" eaLnBrk="1" latinLnBrk="0" hangingPunct="1">
        <a:spcBef>
          <a:spcPct val="20000"/>
        </a:spcBef>
        <a:buFont typeface="Arial"/>
        <a:buChar char="•"/>
        <a:defRPr sz="1600" kern="1200">
          <a:solidFill>
            <a:schemeClr val="tx1"/>
          </a:solidFill>
          <a:latin typeface="Times New Roman"/>
          <a:ea typeface="+mn-ea"/>
          <a:cs typeface="Times New Roman"/>
        </a:defRPr>
      </a:lvl3pPr>
      <a:lvl4pPr marL="1600200" indent="-228600" algn="l" defTabSz="457200" rtl="0" eaLnBrk="1" latinLnBrk="0" hangingPunct="1">
        <a:spcBef>
          <a:spcPct val="20000"/>
        </a:spcBef>
        <a:buFont typeface="Arial"/>
        <a:buChar char="–"/>
        <a:defRPr sz="1400" kern="1200">
          <a:solidFill>
            <a:schemeClr val="tx1"/>
          </a:solidFill>
          <a:latin typeface="Times New Roman"/>
          <a:ea typeface="+mn-ea"/>
          <a:cs typeface="Times New Roman"/>
        </a:defRPr>
      </a:lvl4pPr>
      <a:lvl5pPr marL="2057400" indent="-228600" algn="l" defTabSz="457200" rtl="0" eaLnBrk="1" latinLnBrk="0" hangingPunct="1">
        <a:spcBef>
          <a:spcPct val="20000"/>
        </a:spcBef>
        <a:buFont typeface="Arial"/>
        <a:buChar char="»"/>
        <a:defRPr sz="1400" kern="1200">
          <a:solidFill>
            <a:schemeClr val="tx1"/>
          </a:solidFill>
          <a:latin typeface="Times New Roman"/>
          <a:ea typeface="+mn-ea"/>
          <a:cs typeface="Times New Roman"/>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381000" y="304800"/>
            <a:ext cx="8229600" cy="1066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1143000" y="1828800"/>
            <a:ext cx="7543800" cy="42973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cs typeface="Arial" charset="0"/>
              </a:defRPr>
            </a:lvl1pPr>
          </a:lstStyle>
          <a:p>
            <a:pPr fontAlgn="base">
              <a:spcBef>
                <a:spcPct val="0"/>
              </a:spcBef>
              <a:spcAft>
                <a:spcPct val="0"/>
              </a:spcAft>
              <a:defRPr/>
            </a:pPr>
            <a:fld id="{7D033DA4-2DEB-674E-BF54-444A5E445EAC}" type="datetimeFigureOut">
              <a:rPr lang="en-US" kern="1200">
                <a:latin typeface="Times" charset="0"/>
                <a:ea typeface="ＭＳ Ｐゴシック" charset="0"/>
              </a:rPr>
              <a:pPr fontAlgn="base">
                <a:spcBef>
                  <a:spcPct val="0"/>
                </a:spcBef>
                <a:spcAft>
                  <a:spcPct val="0"/>
                </a:spcAft>
                <a:defRPr/>
              </a:pPr>
              <a:t>1/14/26</a:t>
            </a:fld>
            <a:endParaRPr lang="en-US" kern="1200">
              <a:latin typeface="Times" charset="0"/>
              <a:ea typeface="ＭＳ Ｐゴシック" charset="0"/>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cs typeface="Arial" charset="0"/>
              </a:defRPr>
            </a:lvl1pPr>
          </a:lstStyle>
          <a:p>
            <a:pPr fontAlgn="base">
              <a:spcBef>
                <a:spcPct val="0"/>
              </a:spcBef>
              <a:spcAft>
                <a:spcPct val="0"/>
              </a:spcAft>
              <a:defRPr/>
            </a:pPr>
            <a:endParaRPr lang="en-US" kern="1200">
              <a:latin typeface="Times" charset="0"/>
              <a:ea typeface="ＭＳ Ｐゴシック" charset="0"/>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cs typeface="Arial" charset="0"/>
              </a:defRPr>
            </a:lvl1pPr>
          </a:lstStyle>
          <a:p>
            <a:pPr fontAlgn="base">
              <a:spcBef>
                <a:spcPct val="0"/>
              </a:spcBef>
              <a:spcAft>
                <a:spcPct val="0"/>
              </a:spcAft>
              <a:defRPr/>
            </a:pPr>
            <a:fld id="{A37A8B47-9AA6-F440-968E-44059B628D67}" type="slidenum">
              <a:rPr lang="en-US" kern="1200">
                <a:latin typeface="Times" charset="0"/>
                <a:ea typeface="ＭＳ Ｐゴシック" charset="0"/>
              </a:rPr>
              <a:pPr fontAlgn="base">
                <a:spcBef>
                  <a:spcPct val="0"/>
                </a:spcBef>
                <a:spcAft>
                  <a:spcPct val="0"/>
                </a:spcAft>
                <a:defRPr/>
              </a:pPr>
              <a:t>‹#›</a:t>
            </a:fld>
            <a:endParaRPr lang="en-US" kern="1200">
              <a:latin typeface="Times" charset="0"/>
              <a:ea typeface="ＭＳ Ｐゴシック" charset="0"/>
            </a:endParaRPr>
          </a:p>
        </p:txBody>
      </p:sp>
      <p:sp>
        <p:nvSpPr>
          <p:cNvPr id="7" name="Footer Placeholder 4"/>
          <p:cNvSpPr txBox="1">
            <a:spLocks/>
          </p:cNvSpPr>
          <p:nvPr userDrawn="1"/>
        </p:nvSpPr>
        <p:spPr>
          <a:xfrm>
            <a:off x="0" y="6629400"/>
            <a:ext cx="9144000" cy="228600"/>
          </a:xfrm>
          <a:prstGeom prst="rect">
            <a:avLst/>
          </a:prstGeom>
        </p:spPr>
        <p:txBody>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gn="ctr" eaLnBrk="1" fontAlgn="base" hangingPunct="1">
              <a:spcBef>
                <a:spcPct val="0"/>
              </a:spcBef>
              <a:spcAft>
                <a:spcPct val="0"/>
              </a:spcAft>
              <a:defRPr/>
            </a:pPr>
            <a:r>
              <a:rPr lang="en-US" sz="1200" i="1" kern="1200">
                <a:solidFill>
                  <a:prstClr val="black"/>
                </a:solidFill>
                <a:latin typeface="Times" charset="0"/>
              </a:rPr>
              <a:t>Computer Networks</a:t>
            </a:r>
            <a:r>
              <a:rPr lang="en-US" sz="1200" kern="1200">
                <a:solidFill>
                  <a:prstClr val="black"/>
                </a:solidFill>
                <a:latin typeface="Times" charset="0"/>
              </a:rPr>
              <a:t>, Fifth Edition by Andrew Tanenbaum and David Wetherall, © Pearson Education-Prentice Hall, 2011</a:t>
            </a:r>
          </a:p>
          <a:p>
            <a:pPr eaLnBrk="1" fontAlgn="base" hangingPunct="1">
              <a:spcBef>
                <a:spcPct val="0"/>
              </a:spcBef>
              <a:spcAft>
                <a:spcPct val="0"/>
              </a:spcAft>
              <a:defRPr/>
            </a:pPr>
            <a:endParaRPr lang="en-US" sz="1200" kern="1200">
              <a:solidFill>
                <a:prstClr val="black"/>
              </a:solidFill>
              <a:latin typeface="Times" charset="0"/>
            </a:endParaRPr>
          </a:p>
        </p:txBody>
      </p:sp>
    </p:spTree>
    <p:extLst>
      <p:ext uri="{BB962C8B-B14F-4D97-AF65-F5344CB8AC3E}">
        <p14:creationId xmlns:p14="http://schemas.microsoft.com/office/powerpoint/2010/main" val="2007462467"/>
      </p:ext>
    </p:extLst>
  </p:cSld>
  <p:clrMap bg1="lt1" tx1="dk1" bg2="lt2" tx2="dk2" accent1="accent1" accent2="accent2" accent3="accent3" accent4="accent4" accent5="accent5" accent6="accent6" hlink="hlink" folHlink="folHlink"/>
  <p:sldLayoutIdLst>
    <p:sldLayoutId id="2147483862" r:id="rId1"/>
    <p:sldLayoutId id="2147483863" r:id="rId2"/>
    <p:sldLayoutId id="2147483864" r:id="rId3"/>
    <p:sldLayoutId id="2147483865" r:id="rId4"/>
    <p:sldLayoutId id="2147483866" r:id="rId5"/>
    <p:sldLayoutId id="2147483867" r:id="rId6"/>
    <p:sldLayoutId id="2147483868" r:id="rId7"/>
    <p:sldLayoutId id="2147483869" r:id="rId8"/>
    <p:sldLayoutId id="2147483870" r:id="rId9"/>
    <p:sldLayoutId id="2147483871" r:id="rId10"/>
    <p:sldLayoutId id="2147483872" r:id="rId11"/>
    <p:sldLayoutId id="2147483873" r:id="rId12"/>
  </p:sldLayoutIdLst>
  <p:txStyles>
    <p:titleStyle>
      <a:lvl1pPr algn="ctr" rtl="0" eaLnBrk="0" fontAlgn="base" hangingPunct="0">
        <a:spcBef>
          <a:spcPct val="0"/>
        </a:spcBef>
        <a:spcAft>
          <a:spcPct val="0"/>
        </a:spcAft>
        <a:defRPr lang="en-US" sz="3600" kern="1200" dirty="0">
          <a:solidFill>
            <a:srgbClr val="FF0000"/>
          </a:solidFill>
          <a:latin typeface="Times" charset="0"/>
          <a:ea typeface="ＭＳ Ｐゴシック" charset="0"/>
          <a:cs typeface="Times New Roman" pitchFamily="18" charset="0"/>
        </a:defRPr>
      </a:lvl1pPr>
      <a:lvl2pPr algn="ctr" rtl="0" eaLnBrk="0" fontAlgn="base" hangingPunct="0">
        <a:spcBef>
          <a:spcPct val="0"/>
        </a:spcBef>
        <a:spcAft>
          <a:spcPct val="0"/>
        </a:spcAft>
        <a:defRPr sz="3600">
          <a:solidFill>
            <a:srgbClr val="FF0000"/>
          </a:solidFill>
          <a:latin typeface="Times" charset="0"/>
          <a:ea typeface="ＭＳ Ｐゴシック" charset="0"/>
          <a:cs typeface="Times New Roman" pitchFamily="18" charset="0"/>
        </a:defRPr>
      </a:lvl2pPr>
      <a:lvl3pPr algn="ctr" rtl="0" eaLnBrk="0" fontAlgn="base" hangingPunct="0">
        <a:spcBef>
          <a:spcPct val="0"/>
        </a:spcBef>
        <a:spcAft>
          <a:spcPct val="0"/>
        </a:spcAft>
        <a:defRPr sz="3600">
          <a:solidFill>
            <a:srgbClr val="FF0000"/>
          </a:solidFill>
          <a:latin typeface="Times" charset="0"/>
          <a:ea typeface="ＭＳ Ｐゴシック" charset="0"/>
          <a:cs typeface="Times New Roman" pitchFamily="18" charset="0"/>
        </a:defRPr>
      </a:lvl3pPr>
      <a:lvl4pPr algn="ctr" rtl="0" eaLnBrk="0" fontAlgn="base" hangingPunct="0">
        <a:spcBef>
          <a:spcPct val="0"/>
        </a:spcBef>
        <a:spcAft>
          <a:spcPct val="0"/>
        </a:spcAft>
        <a:defRPr sz="3600">
          <a:solidFill>
            <a:srgbClr val="FF0000"/>
          </a:solidFill>
          <a:latin typeface="Times" charset="0"/>
          <a:ea typeface="ＭＳ Ｐゴシック" charset="0"/>
          <a:cs typeface="Times New Roman" pitchFamily="18" charset="0"/>
        </a:defRPr>
      </a:lvl4pPr>
      <a:lvl5pPr algn="ctr" rtl="0" eaLnBrk="0" fontAlgn="base" hangingPunct="0">
        <a:spcBef>
          <a:spcPct val="0"/>
        </a:spcBef>
        <a:spcAft>
          <a:spcPct val="0"/>
        </a:spcAft>
        <a:defRPr sz="3600">
          <a:solidFill>
            <a:srgbClr val="FF0000"/>
          </a:solidFill>
          <a:latin typeface="Times" charset="0"/>
          <a:ea typeface="ＭＳ Ｐゴシック" charset="0"/>
          <a:cs typeface="Times New Roman" pitchFamily="18" charset="0"/>
        </a:defRPr>
      </a:lvl5pPr>
      <a:lvl6pPr marL="457200" algn="ctr" rtl="0" fontAlgn="base">
        <a:spcBef>
          <a:spcPct val="0"/>
        </a:spcBef>
        <a:spcAft>
          <a:spcPct val="0"/>
        </a:spcAft>
        <a:defRPr sz="3600">
          <a:solidFill>
            <a:srgbClr val="FF0000"/>
          </a:solidFill>
          <a:latin typeface="Times New Roman" pitchFamily="18" charset="0"/>
          <a:cs typeface="Times New Roman" pitchFamily="18" charset="0"/>
        </a:defRPr>
      </a:lvl6pPr>
      <a:lvl7pPr marL="914400" algn="ctr" rtl="0" fontAlgn="base">
        <a:spcBef>
          <a:spcPct val="0"/>
        </a:spcBef>
        <a:spcAft>
          <a:spcPct val="0"/>
        </a:spcAft>
        <a:defRPr sz="3600">
          <a:solidFill>
            <a:srgbClr val="FF0000"/>
          </a:solidFill>
          <a:latin typeface="Times New Roman" pitchFamily="18" charset="0"/>
          <a:cs typeface="Times New Roman" pitchFamily="18" charset="0"/>
        </a:defRPr>
      </a:lvl7pPr>
      <a:lvl8pPr marL="1371600" algn="ctr" rtl="0" fontAlgn="base">
        <a:spcBef>
          <a:spcPct val="0"/>
        </a:spcBef>
        <a:spcAft>
          <a:spcPct val="0"/>
        </a:spcAft>
        <a:defRPr sz="3600">
          <a:solidFill>
            <a:srgbClr val="FF0000"/>
          </a:solidFill>
          <a:latin typeface="Times New Roman" pitchFamily="18" charset="0"/>
          <a:cs typeface="Times New Roman" pitchFamily="18" charset="0"/>
        </a:defRPr>
      </a:lvl8pPr>
      <a:lvl9pPr marL="1828800" algn="ctr" rtl="0" fontAlgn="base">
        <a:spcBef>
          <a:spcPct val="0"/>
        </a:spcBef>
        <a:spcAft>
          <a:spcPct val="0"/>
        </a:spcAft>
        <a:defRPr sz="3600">
          <a:solidFill>
            <a:srgbClr val="FF0000"/>
          </a:solidFill>
          <a:latin typeface="Times New Roman" pitchFamily="18" charset="0"/>
          <a:cs typeface="Times New Roman" pitchFamily="18" charset="0"/>
        </a:defRPr>
      </a:lvl9pPr>
    </p:titleStyle>
    <p:bodyStyle>
      <a:lvl1pPr marL="342900" indent="-342900" algn="l" rtl="0" eaLnBrk="0" fontAlgn="base" hangingPunct="0">
        <a:spcBef>
          <a:spcPct val="20000"/>
        </a:spcBef>
        <a:spcAft>
          <a:spcPct val="0"/>
        </a:spcAft>
        <a:buClr>
          <a:srgbClr val="0000CC"/>
        </a:buClr>
        <a:buFont typeface="Arial" charset="0"/>
        <a:buChar char="•"/>
        <a:defRPr sz="3200" kern="1200">
          <a:solidFill>
            <a:schemeClr val="tx1"/>
          </a:solidFill>
          <a:latin typeface="Times" charset="0"/>
          <a:ea typeface="ＭＳ Ｐゴシック" charset="0"/>
          <a:cs typeface="Times New Roman" pitchFamily="18" charset="0"/>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Times" charset="0"/>
          <a:ea typeface="Times New Roman" charset="0"/>
          <a:cs typeface="Times New Roman" pitchFamily="18" charset="0"/>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Times" charset="0"/>
          <a:ea typeface="Times New Roman" charset="0"/>
          <a:cs typeface="Times New Roman" pitchFamily="18" charset="0"/>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Times" charset="0"/>
          <a:ea typeface="Times New Roman" charset="0"/>
          <a:cs typeface="Times New Roman" pitchFamily="18" charset="0"/>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Times" charset="0"/>
          <a:ea typeface="Times New Roman" charset="0"/>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p:cNvSpPr>
            <a:spLocks noGrp="1"/>
          </p:cNvSpPr>
          <p:nvPr>
            <p:ph type="dt" sz="quarter" idx="10"/>
          </p:nvPr>
        </p:nvSpPr>
        <p:spPr/>
        <p:txBody>
          <a:bodyPr/>
          <a:lstStyle/>
          <a:p>
            <a:pPr>
              <a:defRPr/>
            </a:pPr>
            <a:fld id="{2C4A09E2-845F-D34F-AE09-AC179125F0FB}" type="datetime3">
              <a:rPr lang="en-US"/>
              <a:pPr>
                <a:defRPr/>
              </a:pPr>
              <a:t>14 January 2026</a:t>
            </a:fld>
            <a:endParaRPr lang="en-US"/>
          </a:p>
        </p:txBody>
      </p:sp>
      <p:sp>
        <p:nvSpPr>
          <p:cNvPr id="6" name="Footer Placeholder 4"/>
          <p:cNvSpPr>
            <a:spLocks noGrp="1"/>
          </p:cNvSpPr>
          <p:nvPr>
            <p:ph type="ftr" sz="quarter" idx="11"/>
          </p:nvPr>
        </p:nvSpPr>
        <p:spPr/>
        <p:txBody>
          <a:bodyPr/>
          <a:lstStyle/>
          <a:p>
            <a:pPr>
              <a:defRPr/>
            </a:pPr>
            <a:r>
              <a:rPr lang="en-US"/>
              <a:t>.</a:t>
            </a:r>
          </a:p>
        </p:txBody>
      </p:sp>
      <p:sp>
        <p:nvSpPr>
          <p:cNvPr id="7" name="Slide Number Placeholder 5"/>
          <p:cNvSpPr>
            <a:spLocks noGrp="1"/>
          </p:cNvSpPr>
          <p:nvPr>
            <p:ph type="sldNum" sz="quarter" idx="12"/>
          </p:nvPr>
        </p:nvSpPr>
        <p:spPr/>
        <p:txBody>
          <a:bodyPr/>
          <a:lstStyle/>
          <a:p>
            <a:pPr>
              <a:defRPr/>
            </a:pPr>
            <a:fld id="{1C77B771-7081-AB4D-9D5D-382EC36F73A2}" type="slidenum">
              <a:rPr lang="en-US"/>
              <a:pPr>
                <a:defRPr/>
              </a:pPr>
              <a:t>1</a:t>
            </a:fld>
            <a:endParaRPr lang="en-US"/>
          </a:p>
        </p:txBody>
      </p:sp>
      <p:sp>
        <p:nvSpPr>
          <p:cNvPr id="3074" name="Rectangle 2"/>
          <p:cNvSpPr>
            <a:spLocks noGrp="1" noChangeArrowheads="1"/>
          </p:cNvSpPr>
          <p:nvPr>
            <p:ph type="title"/>
          </p:nvPr>
        </p:nvSpPr>
        <p:spPr>
          <a:xfrm>
            <a:off x="685800" y="1295400"/>
            <a:ext cx="7772400" cy="1143000"/>
          </a:xfrm>
        </p:spPr>
        <p:txBody>
          <a:bodyPr/>
          <a:lstStyle/>
          <a:p>
            <a:pPr>
              <a:defRPr/>
            </a:pPr>
            <a:r>
              <a:rPr lang="en-US" sz="3200" dirty="0">
                <a:cs typeface="+mj-cs"/>
              </a:rPr>
              <a:t>Why IP Addressing Is</a:t>
            </a:r>
            <a:br>
              <a:rPr lang="en-US" sz="3200" dirty="0">
                <a:cs typeface="+mj-cs"/>
              </a:rPr>
            </a:br>
            <a:r>
              <a:rPr lang="en-US" sz="3200" dirty="0">
                <a:cs typeface="+mj-cs"/>
              </a:rPr>
              <a:t>So Screwed Up!</a:t>
            </a:r>
          </a:p>
        </p:txBody>
      </p:sp>
      <p:sp>
        <p:nvSpPr>
          <p:cNvPr id="3078" name="Text Box 6"/>
          <p:cNvSpPr txBox="1">
            <a:spLocks noChangeArrowheads="1"/>
          </p:cNvSpPr>
          <p:nvPr/>
        </p:nvSpPr>
        <p:spPr bwMode="auto">
          <a:xfrm>
            <a:off x="2886694" y="2938671"/>
            <a:ext cx="3124200" cy="7078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spcBef>
                <a:spcPts val="0"/>
              </a:spcBef>
              <a:defRPr/>
            </a:pPr>
            <a:r>
              <a:rPr lang="en-US" sz="2000" dirty="0">
                <a:cs typeface="+mn-cs"/>
              </a:rPr>
              <a:t>John Day</a:t>
            </a:r>
          </a:p>
          <a:p>
            <a:pPr algn="ctr">
              <a:spcBef>
                <a:spcPts val="0"/>
              </a:spcBef>
              <a:defRPr/>
            </a:pPr>
            <a:r>
              <a:rPr lang="en-US" sz="2000" dirty="0">
                <a:cs typeface="+mn-cs"/>
              </a:rPr>
              <a:t>Oct 2022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7772400" cy="1143000"/>
          </a:xfrm>
        </p:spPr>
        <p:txBody>
          <a:bodyPr/>
          <a:lstStyle/>
          <a:p>
            <a:r>
              <a:rPr lang="en-US" sz="3200" dirty="0"/>
              <a:t>What Do We Know Already?</a:t>
            </a:r>
          </a:p>
        </p:txBody>
      </p:sp>
      <p:sp>
        <p:nvSpPr>
          <p:cNvPr id="3" name="Content Placeholder 2"/>
          <p:cNvSpPr>
            <a:spLocks noGrp="1"/>
          </p:cNvSpPr>
          <p:nvPr>
            <p:ph idx="1"/>
          </p:nvPr>
        </p:nvSpPr>
        <p:spPr>
          <a:xfrm>
            <a:off x="685800" y="1600200"/>
            <a:ext cx="7772400" cy="4114800"/>
          </a:xfrm>
        </p:spPr>
        <p:txBody>
          <a:bodyPr/>
          <a:lstStyle/>
          <a:p>
            <a:r>
              <a:rPr lang="en-US" sz="2000" dirty="0"/>
              <a:t>Not a lot but what we do know is significant:</a:t>
            </a:r>
          </a:p>
          <a:p>
            <a:r>
              <a:rPr lang="en-US" sz="2000" dirty="0"/>
              <a:t>A Layer with more than 2 members and relays, requires </a:t>
            </a:r>
            <a:r>
              <a:rPr lang="en-US" sz="2000" i="1" dirty="0"/>
              <a:t>addresses</a:t>
            </a:r>
            <a:r>
              <a:rPr lang="en-US" sz="2000" dirty="0"/>
              <a:t> to know where to deliver PDUs.</a:t>
            </a:r>
          </a:p>
          <a:p>
            <a:pPr lvl="1"/>
            <a:r>
              <a:rPr lang="en-US" sz="1800" dirty="0"/>
              <a:t>A Layer with 2 members only needs a local identifier to distinguish each layer (interface) from others in the same system, and that identifier is never needed in protocol.</a:t>
            </a:r>
          </a:p>
          <a:p>
            <a:r>
              <a:rPr lang="en-US" sz="2000" dirty="0"/>
              <a:t>If a Layer is to have more than 1 user using the same protocol, </a:t>
            </a:r>
          </a:p>
          <a:p>
            <a:pPr lvl="1"/>
            <a:r>
              <a:rPr lang="en-US" sz="1800" dirty="0"/>
              <a:t>it will require </a:t>
            </a:r>
            <a:r>
              <a:rPr lang="en-US" sz="1800" i="1" dirty="0"/>
              <a:t>port-ids </a:t>
            </a:r>
            <a:r>
              <a:rPr lang="en-US" sz="1800" dirty="0"/>
              <a:t>to isolate the users of the layer from the layer and </a:t>
            </a:r>
          </a:p>
          <a:p>
            <a:pPr lvl="1"/>
            <a:r>
              <a:rPr lang="en-US" sz="1800" i="1" dirty="0"/>
              <a:t>connection-endpoint-ids (CEP-ids) </a:t>
            </a:r>
            <a:r>
              <a:rPr lang="en-US" sz="1800" dirty="0"/>
              <a:t>to distinguish which PDUs belong to which flows.</a:t>
            </a:r>
          </a:p>
          <a:p>
            <a:r>
              <a:rPr lang="en-US" sz="2000" dirty="0"/>
              <a:t>CEP-ids are carried in protocol, Port-ids aren’t.</a:t>
            </a:r>
          </a:p>
          <a:p>
            <a:pPr lvl="1"/>
            <a:r>
              <a:rPr lang="en-US" sz="1600" dirty="0"/>
              <a:t>Architectures that do will have addressing and security problems</a:t>
            </a:r>
          </a:p>
        </p:txBody>
      </p:sp>
      <p:sp>
        <p:nvSpPr>
          <p:cNvPr id="4" name="Date Placeholder 3"/>
          <p:cNvSpPr>
            <a:spLocks noGrp="1"/>
          </p:cNvSpPr>
          <p:nvPr>
            <p:ph type="dt" sz="half" idx="10"/>
          </p:nvPr>
        </p:nvSpPr>
        <p:spPr/>
        <p:txBody>
          <a:bodyPr/>
          <a:lstStyle/>
          <a:p>
            <a:pPr>
              <a:defRPr/>
            </a:pPr>
            <a:fld id="{07F1AB86-1AD0-824F-BC17-575697053103}" type="datetime3">
              <a:rPr lang="en-US" smtClean="0">
                <a:solidFill>
                  <a:srgbClr val="000000"/>
                </a:solidFill>
              </a:rPr>
              <a:pPr>
                <a:defRPr/>
              </a:pPr>
              <a:t>14 January 2026</a:t>
            </a:fld>
            <a:endParaRPr lang="en-US">
              <a:solidFill>
                <a:srgbClr val="000000"/>
              </a:solidFill>
            </a:endParaRPr>
          </a:p>
        </p:txBody>
      </p:sp>
      <p:sp>
        <p:nvSpPr>
          <p:cNvPr id="6" name="Slide Number Placeholder 5"/>
          <p:cNvSpPr>
            <a:spLocks noGrp="1"/>
          </p:cNvSpPr>
          <p:nvPr>
            <p:ph type="sldNum" sz="quarter" idx="12"/>
          </p:nvPr>
        </p:nvSpPr>
        <p:spPr/>
        <p:txBody>
          <a:bodyPr/>
          <a:lstStyle/>
          <a:p>
            <a:pPr>
              <a:defRPr/>
            </a:pPr>
            <a:fld id="{387784B1-C076-7041-9578-8D2F54B7CB27}" type="slidenum">
              <a:rPr lang="en-US" smtClean="0">
                <a:solidFill>
                  <a:srgbClr val="000000"/>
                </a:solidFill>
              </a:rPr>
              <a:pPr>
                <a:defRPr/>
              </a:pPr>
              <a:t>2</a:t>
            </a:fld>
            <a:endParaRPr lang="en-US">
              <a:solidFill>
                <a:srgbClr val="000000"/>
              </a:solidFill>
            </a:endParaRPr>
          </a:p>
        </p:txBody>
      </p:sp>
    </p:spTree>
    <p:extLst>
      <p:ext uri="{BB962C8B-B14F-4D97-AF65-F5344CB8AC3E}">
        <p14:creationId xmlns:p14="http://schemas.microsoft.com/office/powerpoint/2010/main" val="655152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Date Placeholder 3"/>
          <p:cNvSpPr>
            <a:spLocks noGrp="1"/>
          </p:cNvSpPr>
          <p:nvPr>
            <p:ph type="dt" sz="quarter" idx="10"/>
          </p:nvPr>
        </p:nvSpPr>
        <p:spPr/>
        <p:txBody>
          <a:bodyPr/>
          <a:lstStyle/>
          <a:p>
            <a:pPr>
              <a:defRPr/>
            </a:pPr>
            <a:fld id="{813A9A49-6F52-AA49-89E9-C4CE40165775}" type="datetime3">
              <a:rPr lang="en-US"/>
              <a:pPr>
                <a:defRPr/>
              </a:pPr>
              <a:t>14 January 2026</a:t>
            </a:fld>
            <a:endParaRPr lang="en-US"/>
          </a:p>
        </p:txBody>
      </p:sp>
      <p:sp>
        <p:nvSpPr>
          <p:cNvPr id="24" name="Footer Placeholder 4"/>
          <p:cNvSpPr>
            <a:spLocks noGrp="1"/>
          </p:cNvSpPr>
          <p:nvPr>
            <p:ph type="ftr" sz="quarter" idx="11"/>
          </p:nvPr>
        </p:nvSpPr>
        <p:spPr/>
        <p:txBody>
          <a:bodyPr/>
          <a:lstStyle/>
          <a:p>
            <a:pPr>
              <a:defRPr/>
            </a:pPr>
            <a:r>
              <a:rPr lang="en-US"/>
              <a:t>.</a:t>
            </a:r>
          </a:p>
        </p:txBody>
      </p:sp>
      <p:sp>
        <p:nvSpPr>
          <p:cNvPr id="25" name="Slide Number Placeholder 5"/>
          <p:cNvSpPr>
            <a:spLocks noGrp="1"/>
          </p:cNvSpPr>
          <p:nvPr>
            <p:ph type="sldNum" sz="quarter" idx="12"/>
          </p:nvPr>
        </p:nvSpPr>
        <p:spPr/>
        <p:txBody>
          <a:bodyPr/>
          <a:lstStyle/>
          <a:p>
            <a:pPr>
              <a:defRPr/>
            </a:pPr>
            <a:fld id="{DB143A17-4BD4-0B4E-BD53-360B8C2C82F7}" type="slidenum">
              <a:rPr lang="en-US"/>
              <a:pPr>
                <a:defRPr/>
              </a:pPr>
              <a:t>3</a:t>
            </a:fld>
            <a:endParaRPr lang="en-US"/>
          </a:p>
        </p:txBody>
      </p:sp>
      <p:sp>
        <p:nvSpPr>
          <p:cNvPr id="5122" name="Rectangle 2"/>
          <p:cNvSpPr>
            <a:spLocks noGrp="1" noChangeArrowheads="1"/>
          </p:cNvSpPr>
          <p:nvPr>
            <p:ph type="title"/>
          </p:nvPr>
        </p:nvSpPr>
        <p:spPr>
          <a:xfrm>
            <a:off x="685800" y="381000"/>
            <a:ext cx="7772400" cy="1143000"/>
          </a:xfrm>
        </p:spPr>
        <p:txBody>
          <a:bodyPr/>
          <a:lstStyle/>
          <a:p>
            <a:pPr>
              <a:defRPr/>
            </a:pPr>
            <a:r>
              <a:rPr lang="en-US" sz="2800">
                <a:cs typeface="+mj-cs"/>
              </a:rPr>
              <a:t>The Origins of Internet Addressing</a:t>
            </a:r>
            <a:br>
              <a:rPr lang="en-US" sz="2800">
                <a:cs typeface="+mj-cs"/>
              </a:rPr>
            </a:br>
            <a:r>
              <a:rPr lang="en-US" sz="2000">
                <a:cs typeface="+mj-cs"/>
              </a:rPr>
              <a:t>The Root Cause of our Problems</a:t>
            </a:r>
            <a:endParaRPr lang="en-US" sz="2800">
              <a:cs typeface="+mj-cs"/>
            </a:endParaRPr>
          </a:p>
        </p:txBody>
      </p:sp>
      <p:sp>
        <p:nvSpPr>
          <p:cNvPr id="5124" name="Rectangle 4"/>
          <p:cNvSpPr>
            <a:spLocks noChangeArrowheads="1"/>
          </p:cNvSpPr>
          <p:nvPr/>
        </p:nvSpPr>
        <p:spPr bwMode="auto">
          <a:xfrm>
            <a:off x="3810000" y="2286000"/>
            <a:ext cx="1066800" cy="990600"/>
          </a:xfrm>
          <a:prstGeom prst="rect">
            <a:avLst/>
          </a:prstGeom>
          <a:noFill/>
          <a:ln w="127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25" name="Line 5"/>
          <p:cNvSpPr>
            <a:spLocks noChangeShapeType="1"/>
          </p:cNvSpPr>
          <p:nvPr/>
        </p:nvSpPr>
        <p:spPr bwMode="auto">
          <a:xfrm flipV="1">
            <a:off x="4876800" y="1828800"/>
            <a:ext cx="457200" cy="45720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26" name="Line 6"/>
          <p:cNvSpPr>
            <a:spLocks noChangeShapeType="1"/>
          </p:cNvSpPr>
          <p:nvPr/>
        </p:nvSpPr>
        <p:spPr bwMode="auto">
          <a:xfrm>
            <a:off x="4876800" y="2743200"/>
            <a:ext cx="609600" cy="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27" name="Line 7"/>
          <p:cNvSpPr>
            <a:spLocks noChangeShapeType="1"/>
          </p:cNvSpPr>
          <p:nvPr/>
        </p:nvSpPr>
        <p:spPr bwMode="auto">
          <a:xfrm>
            <a:off x="4876800" y="3276600"/>
            <a:ext cx="457200" cy="38100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28" name="Line 8"/>
          <p:cNvSpPr>
            <a:spLocks noChangeShapeType="1"/>
          </p:cNvSpPr>
          <p:nvPr/>
        </p:nvSpPr>
        <p:spPr bwMode="auto">
          <a:xfrm>
            <a:off x="4343400" y="3276600"/>
            <a:ext cx="0" cy="53340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29" name="Line 9"/>
          <p:cNvSpPr>
            <a:spLocks noChangeShapeType="1"/>
          </p:cNvSpPr>
          <p:nvPr/>
        </p:nvSpPr>
        <p:spPr bwMode="auto">
          <a:xfrm flipH="1">
            <a:off x="3352800" y="3276600"/>
            <a:ext cx="457200" cy="45720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30" name="Line 10"/>
          <p:cNvSpPr>
            <a:spLocks noChangeShapeType="1"/>
          </p:cNvSpPr>
          <p:nvPr/>
        </p:nvSpPr>
        <p:spPr bwMode="auto">
          <a:xfrm flipH="1">
            <a:off x="3200400" y="2819400"/>
            <a:ext cx="609600" cy="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31" name="Line 11"/>
          <p:cNvSpPr>
            <a:spLocks noChangeShapeType="1"/>
          </p:cNvSpPr>
          <p:nvPr/>
        </p:nvSpPr>
        <p:spPr bwMode="auto">
          <a:xfrm flipH="1" flipV="1">
            <a:off x="3352800" y="1905000"/>
            <a:ext cx="457200" cy="38100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32" name="Text Box 12"/>
          <p:cNvSpPr txBox="1">
            <a:spLocks noChangeArrowheads="1"/>
          </p:cNvSpPr>
          <p:nvPr/>
        </p:nvSpPr>
        <p:spPr bwMode="auto">
          <a:xfrm>
            <a:off x="4114800" y="2667000"/>
            <a:ext cx="530225"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1400">
                <a:cs typeface="+mn-cs"/>
              </a:rPr>
              <a:t>IMP</a:t>
            </a:r>
          </a:p>
        </p:txBody>
      </p:sp>
      <p:sp>
        <p:nvSpPr>
          <p:cNvPr id="5133" name="Text Box 13"/>
          <p:cNvSpPr txBox="1">
            <a:spLocks noChangeArrowheads="1"/>
          </p:cNvSpPr>
          <p:nvPr/>
        </p:nvSpPr>
        <p:spPr bwMode="auto">
          <a:xfrm>
            <a:off x="3886200" y="3810000"/>
            <a:ext cx="915988"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a:cs typeface="+mn-cs"/>
              </a:rPr>
              <a:t>56K Trunk</a:t>
            </a:r>
          </a:p>
        </p:txBody>
      </p:sp>
      <p:sp>
        <p:nvSpPr>
          <p:cNvPr id="5134" name="Text Box 14"/>
          <p:cNvSpPr txBox="1">
            <a:spLocks noChangeArrowheads="1"/>
          </p:cNvSpPr>
          <p:nvPr/>
        </p:nvSpPr>
        <p:spPr bwMode="auto">
          <a:xfrm>
            <a:off x="5486400" y="2590800"/>
            <a:ext cx="915988"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a:cs typeface="+mn-cs"/>
              </a:rPr>
              <a:t>56K Trunk</a:t>
            </a:r>
          </a:p>
        </p:txBody>
      </p:sp>
      <p:sp>
        <p:nvSpPr>
          <p:cNvPr id="5135" name="Line 15"/>
          <p:cNvSpPr>
            <a:spLocks noChangeShapeType="1"/>
          </p:cNvSpPr>
          <p:nvPr/>
        </p:nvSpPr>
        <p:spPr bwMode="auto">
          <a:xfrm flipV="1">
            <a:off x="4343400" y="1828800"/>
            <a:ext cx="0" cy="45720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36" name="Text Box 16"/>
          <p:cNvSpPr txBox="1">
            <a:spLocks noChangeArrowheads="1"/>
          </p:cNvSpPr>
          <p:nvPr/>
        </p:nvSpPr>
        <p:spPr bwMode="auto">
          <a:xfrm>
            <a:off x="3886200" y="1600200"/>
            <a:ext cx="915988"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a:cs typeface="+mn-cs"/>
              </a:rPr>
              <a:t>56K Trunk</a:t>
            </a:r>
          </a:p>
        </p:txBody>
      </p:sp>
      <p:sp>
        <p:nvSpPr>
          <p:cNvPr id="5137" name="Text Box 17"/>
          <p:cNvSpPr txBox="1">
            <a:spLocks noChangeArrowheads="1"/>
          </p:cNvSpPr>
          <p:nvPr/>
        </p:nvSpPr>
        <p:spPr bwMode="auto">
          <a:xfrm>
            <a:off x="2286000" y="2667000"/>
            <a:ext cx="915988"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a:cs typeface="+mn-cs"/>
              </a:rPr>
              <a:t>56K Trunk</a:t>
            </a:r>
          </a:p>
        </p:txBody>
      </p:sp>
      <p:sp>
        <p:nvSpPr>
          <p:cNvPr id="5138" name="Text Box 18"/>
          <p:cNvSpPr txBox="1">
            <a:spLocks noChangeArrowheads="1"/>
          </p:cNvSpPr>
          <p:nvPr/>
        </p:nvSpPr>
        <p:spPr bwMode="auto">
          <a:xfrm>
            <a:off x="5334000" y="3657600"/>
            <a:ext cx="488950"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a:cs typeface="+mn-cs"/>
              </a:rPr>
              <a:t>Host</a:t>
            </a:r>
          </a:p>
        </p:txBody>
      </p:sp>
      <p:sp>
        <p:nvSpPr>
          <p:cNvPr id="5139" name="Text Box 19"/>
          <p:cNvSpPr txBox="1">
            <a:spLocks noChangeArrowheads="1"/>
          </p:cNvSpPr>
          <p:nvPr/>
        </p:nvSpPr>
        <p:spPr bwMode="auto">
          <a:xfrm>
            <a:off x="2895600" y="3733800"/>
            <a:ext cx="488950"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a:cs typeface="+mn-cs"/>
              </a:rPr>
              <a:t>Host</a:t>
            </a:r>
          </a:p>
        </p:txBody>
      </p:sp>
      <p:sp>
        <p:nvSpPr>
          <p:cNvPr id="5140" name="Text Box 20"/>
          <p:cNvSpPr txBox="1">
            <a:spLocks noChangeArrowheads="1"/>
          </p:cNvSpPr>
          <p:nvPr/>
        </p:nvSpPr>
        <p:spPr bwMode="auto">
          <a:xfrm>
            <a:off x="2895600" y="1752600"/>
            <a:ext cx="488950"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a:cs typeface="+mn-cs"/>
              </a:rPr>
              <a:t>Host</a:t>
            </a:r>
          </a:p>
        </p:txBody>
      </p:sp>
      <p:sp>
        <p:nvSpPr>
          <p:cNvPr id="5141" name="Text Box 21"/>
          <p:cNvSpPr txBox="1">
            <a:spLocks noChangeArrowheads="1"/>
          </p:cNvSpPr>
          <p:nvPr/>
        </p:nvSpPr>
        <p:spPr bwMode="auto">
          <a:xfrm>
            <a:off x="5257800" y="1676400"/>
            <a:ext cx="488950"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a:cs typeface="+mn-cs"/>
              </a:rPr>
              <a:t>Host</a:t>
            </a:r>
          </a:p>
        </p:txBody>
      </p:sp>
      <p:sp>
        <p:nvSpPr>
          <p:cNvPr id="5143" name="Text Box 23"/>
          <p:cNvSpPr txBox="1">
            <a:spLocks noChangeArrowheads="1"/>
          </p:cNvSpPr>
          <p:nvPr/>
        </p:nvSpPr>
        <p:spPr bwMode="auto">
          <a:xfrm>
            <a:off x="976993" y="4724400"/>
            <a:ext cx="6799489" cy="7386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sz="1400" dirty="0">
                <a:cs typeface="+mn-cs"/>
              </a:rPr>
              <a:t>Each </a:t>
            </a:r>
            <a:r>
              <a:rPr lang="en-US" sz="1400" dirty="0" err="1">
                <a:cs typeface="+mn-cs"/>
              </a:rPr>
              <a:t>ARPANet</a:t>
            </a:r>
            <a:r>
              <a:rPr lang="en-US" sz="1400" dirty="0">
                <a:cs typeface="+mn-cs"/>
              </a:rPr>
              <a:t> IMP (switch) had ports to support a maximum of 4 trunks and 4 hosts.</a:t>
            </a:r>
          </a:p>
          <a:p>
            <a:pPr algn="ctr">
              <a:defRPr/>
            </a:pPr>
            <a:r>
              <a:rPr lang="en-US" sz="1400" dirty="0">
                <a:cs typeface="+mn-cs"/>
              </a:rPr>
              <a:t>Each IMP had a number. The host address (IP address) was the IMP # and the</a:t>
            </a:r>
          </a:p>
          <a:p>
            <a:pPr algn="ctr">
              <a:defRPr/>
            </a:pPr>
            <a:r>
              <a:rPr lang="en-US" sz="1400" dirty="0">
                <a:cs typeface="+mn-cs"/>
              </a:rPr>
              <a:t>Host #, i.e., a port number.  Maximum number of hosts was huge: 63.</a:t>
            </a:r>
          </a:p>
        </p:txBody>
      </p:sp>
      <p:sp>
        <p:nvSpPr>
          <p:cNvPr id="5144" name="Text Box 24"/>
          <p:cNvSpPr txBox="1">
            <a:spLocks noChangeArrowheads="1"/>
          </p:cNvSpPr>
          <p:nvPr/>
        </p:nvSpPr>
        <p:spPr bwMode="auto">
          <a:xfrm>
            <a:off x="2514600" y="5562600"/>
            <a:ext cx="3707490"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1400" dirty="0">
                <a:cs typeface="+mn-cs"/>
              </a:rPr>
              <a:t>So, a host</a:t>
            </a:r>
            <a:r>
              <a:rPr lang="en-US" sz="1400" dirty="0">
                <a:latin typeface="Arial"/>
                <a:cs typeface="+mn-cs"/>
              </a:rPr>
              <a:t>’</a:t>
            </a:r>
            <a:r>
              <a:rPr lang="en-US" sz="1400" dirty="0">
                <a:cs typeface="+mn-cs"/>
              </a:rPr>
              <a:t>s address was its IMP Port Number.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1"/>
          <p:cNvSpPr>
            <a:spLocks noGrp="1"/>
          </p:cNvSpPr>
          <p:nvPr>
            <p:ph type="dt" sz="quarter" idx="10"/>
          </p:nvPr>
        </p:nvSpPr>
        <p:spPr/>
        <p:txBody>
          <a:bodyPr/>
          <a:lstStyle/>
          <a:p>
            <a:pPr>
              <a:defRPr/>
            </a:pPr>
            <a:fld id="{2EC8BB17-82BE-A040-B4C8-2EDA456FF074}" type="datetime3">
              <a:rPr lang="en-US"/>
              <a:pPr>
                <a:defRPr/>
              </a:pPr>
              <a:t>14 January 2026</a:t>
            </a:fld>
            <a:endParaRPr lang="en-US"/>
          </a:p>
        </p:txBody>
      </p:sp>
      <p:sp>
        <p:nvSpPr>
          <p:cNvPr id="7" name="Footer Placeholder 2"/>
          <p:cNvSpPr>
            <a:spLocks noGrp="1"/>
          </p:cNvSpPr>
          <p:nvPr>
            <p:ph type="ftr" sz="quarter" idx="11"/>
          </p:nvPr>
        </p:nvSpPr>
        <p:spPr/>
        <p:txBody>
          <a:bodyPr/>
          <a:lstStyle/>
          <a:p>
            <a:pPr>
              <a:defRPr/>
            </a:pPr>
            <a:r>
              <a:rPr lang="en-US"/>
              <a:t>.</a:t>
            </a:r>
          </a:p>
        </p:txBody>
      </p:sp>
      <p:sp>
        <p:nvSpPr>
          <p:cNvPr id="8" name="Slide Number Placeholder 3"/>
          <p:cNvSpPr>
            <a:spLocks noGrp="1"/>
          </p:cNvSpPr>
          <p:nvPr>
            <p:ph type="sldNum" sz="quarter" idx="12"/>
          </p:nvPr>
        </p:nvSpPr>
        <p:spPr/>
        <p:txBody>
          <a:bodyPr/>
          <a:lstStyle/>
          <a:p>
            <a:pPr>
              <a:defRPr/>
            </a:pPr>
            <a:fld id="{1B30D2DE-F928-F94E-8F7D-01004CB9BADF}" type="slidenum">
              <a:rPr lang="en-US"/>
              <a:pPr>
                <a:defRPr/>
              </a:pPr>
              <a:t>4</a:t>
            </a:fld>
            <a:endParaRPr lang="en-US"/>
          </a:p>
        </p:txBody>
      </p:sp>
      <p:sp>
        <p:nvSpPr>
          <p:cNvPr id="6146" name="Text Box 2"/>
          <p:cNvSpPr txBox="1">
            <a:spLocks noChangeArrowheads="1"/>
          </p:cNvSpPr>
          <p:nvPr/>
        </p:nvSpPr>
        <p:spPr bwMode="auto">
          <a:xfrm>
            <a:off x="2886075" y="609600"/>
            <a:ext cx="3275013"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sz="2800" b="0">
                <a:cs typeface="+mn-cs"/>
              </a:rPr>
              <a:t>Was There a Reason?</a:t>
            </a:r>
            <a:endParaRPr lang="en-US" b="0">
              <a:cs typeface="+mn-cs"/>
            </a:endParaRPr>
          </a:p>
        </p:txBody>
      </p:sp>
      <p:sp>
        <p:nvSpPr>
          <p:cNvPr id="6147" name="Rectangle 3"/>
          <p:cNvSpPr>
            <a:spLocks noChangeArrowheads="1"/>
          </p:cNvSpPr>
          <p:nvPr/>
        </p:nvSpPr>
        <p:spPr bwMode="auto">
          <a:xfrm>
            <a:off x="1608138" y="2667000"/>
            <a:ext cx="6145212"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sz="1800" b="0">
                <a:cs typeface="+mn-cs"/>
              </a:rPr>
              <a:t>Was there a lot of thought given to how addressing should work?</a:t>
            </a:r>
          </a:p>
        </p:txBody>
      </p:sp>
      <p:sp>
        <p:nvSpPr>
          <p:cNvPr id="6148" name="Rectangle 4"/>
          <p:cNvSpPr>
            <a:spLocks noChangeArrowheads="1"/>
          </p:cNvSpPr>
          <p:nvPr/>
        </p:nvSpPr>
        <p:spPr bwMode="auto">
          <a:xfrm>
            <a:off x="2186960" y="3124200"/>
            <a:ext cx="5203468" cy="224676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sz="1800" b="0" dirty="0">
                <a:cs typeface="+mn-cs"/>
              </a:rPr>
              <a:t>Not really.  </a:t>
            </a:r>
          </a:p>
          <a:p>
            <a:pPr algn="ctr">
              <a:defRPr/>
            </a:pPr>
            <a:r>
              <a:rPr lang="en-US" sz="1800" b="0" dirty="0"/>
              <a:t>It was what everyone had always done.</a:t>
            </a:r>
          </a:p>
          <a:p>
            <a:pPr algn="ctr">
              <a:defRPr/>
            </a:pPr>
            <a:endParaRPr lang="en-US" sz="1800" b="0" dirty="0">
              <a:cs typeface="+mn-cs"/>
            </a:endParaRPr>
          </a:p>
          <a:p>
            <a:pPr algn="ctr">
              <a:defRPr/>
            </a:pPr>
            <a:r>
              <a:rPr lang="en-US" sz="1800" b="0" dirty="0">
                <a:cs typeface="+mn-cs"/>
              </a:rPr>
              <a:t>We were doing good to do this much!</a:t>
            </a:r>
          </a:p>
          <a:p>
            <a:pPr algn="ctr">
              <a:defRPr/>
            </a:pPr>
            <a:r>
              <a:rPr lang="en-US" sz="1800" b="0" dirty="0">
                <a:cs typeface="+mn-cs"/>
              </a:rPr>
              <a:t>There were many much bigger problems to overcome:</a:t>
            </a:r>
          </a:p>
          <a:p>
            <a:pPr algn="ctr">
              <a:defRPr/>
            </a:pPr>
            <a:r>
              <a:rPr lang="en-US" sz="1800" b="0" dirty="0">
                <a:cs typeface="+mn-cs"/>
              </a:rPr>
              <a:t>Like just moving data</a:t>
            </a:r>
          </a:p>
          <a:p>
            <a:pPr algn="ctr">
              <a:defRPr/>
            </a:pPr>
            <a:endParaRPr lang="en-US" sz="1800" b="0" dirty="0">
              <a:cs typeface="+mn-cs"/>
            </a:endParaRPr>
          </a:p>
          <a:p>
            <a:pPr algn="ctr">
              <a:defRPr/>
            </a:pPr>
            <a:r>
              <a:rPr lang="en-US" sz="1400" b="0" dirty="0">
                <a:cs typeface="+mn-cs"/>
              </a:rPr>
              <a:t>And addressing is a hard problem.</a:t>
            </a:r>
          </a:p>
        </p:txBody>
      </p:sp>
      <p:sp>
        <p:nvSpPr>
          <p:cNvPr id="6149" name="Rectangle 5"/>
          <p:cNvSpPr>
            <a:spLocks noChangeArrowheads="1"/>
          </p:cNvSpPr>
          <p:nvPr/>
        </p:nvSpPr>
        <p:spPr bwMode="auto">
          <a:xfrm>
            <a:off x="1728426" y="1295400"/>
            <a:ext cx="5774462" cy="98488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sz="2800" b="0" dirty="0">
                <a:cs typeface="+mn-cs"/>
              </a:rPr>
              <a:t>Sure</a:t>
            </a:r>
          </a:p>
          <a:p>
            <a:pPr algn="ctr">
              <a:defRPr/>
            </a:pPr>
            <a:endParaRPr lang="en-US" b="0" dirty="0">
              <a:cs typeface="+mn-cs"/>
            </a:endParaRPr>
          </a:p>
          <a:p>
            <a:pPr algn="ctr">
              <a:defRPr/>
            </a:pPr>
            <a:r>
              <a:rPr lang="en-US" sz="1800" b="0" dirty="0">
                <a:cs typeface="+mn-cs"/>
              </a:rPr>
              <a:t>It was easy to build for an </a:t>
            </a:r>
            <a:r>
              <a:rPr lang="en-US" sz="1800" b="0" i="1" dirty="0">
                <a:cs typeface="+mn-cs"/>
              </a:rPr>
              <a:t>experimental</a:t>
            </a:r>
            <a:r>
              <a:rPr lang="en-US" sz="1800" b="0" dirty="0">
                <a:cs typeface="+mn-cs"/>
              </a:rPr>
              <a:t> network of this size.</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149"/>
                                        </p:tgtEl>
                                        <p:attrNameLst>
                                          <p:attrName>style.visibility</p:attrName>
                                        </p:attrNameLst>
                                      </p:cBhvr>
                                      <p:to>
                                        <p:strVal val="visible"/>
                                      </p:to>
                                    </p:set>
                                    <p:anim calcmode="lin" valueType="num">
                                      <p:cBhvr additive="base">
                                        <p:cTn id="7" dur="500" fill="hold"/>
                                        <p:tgtEl>
                                          <p:spTgt spid="6149"/>
                                        </p:tgtEl>
                                        <p:attrNameLst>
                                          <p:attrName>ppt_x</p:attrName>
                                        </p:attrNameLst>
                                      </p:cBhvr>
                                      <p:tavLst>
                                        <p:tav tm="0">
                                          <p:val>
                                            <p:strVal val="0-#ppt_w/2"/>
                                          </p:val>
                                        </p:tav>
                                        <p:tav tm="100000">
                                          <p:val>
                                            <p:strVal val="#ppt_x"/>
                                          </p:val>
                                        </p:tav>
                                      </p:tavLst>
                                    </p:anim>
                                    <p:anim calcmode="lin" valueType="num">
                                      <p:cBhvr additive="base">
                                        <p:cTn id="8" dur="500" fill="hold"/>
                                        <p:tgtEl>
                                          <p:spTgt spid="614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147"/>
                                        </p:tgtEl>
                                        <p:attrNameLst>
                                          <p:attrName>style.visibility</p:attrName>
                                        </p:attrNameLst>
                                      </p:cBhvr>
                                      <p:to>
                                        <p:strVal val="visible"/>
                                      </p:to>
                                    </p:set>
                                    <p:anim calcmode="lin" valueType="num">
                                      <p:cBhvr additive="base">
                                        <p:cTn id="13" dur="500" fill="hold"/>
                                        <p:tgtEl>
                                          <p:spTgt spid="6147"/>
                                        </p:tgtEl>
                                        <p:attrNameLst>
                                          <p:attrName>ppt_x</p:attrName>
                                        </p:attrNameLst>
                                      </p:cBhvr>
                                      <p:tavLst>
                                        <p:tav tm="0">
                                          <p:val>
                                            <p:strVal val="0-#ppt_w/2"/>
                                          </p:val>
                                        </p:tav>
                                        <p:tav tm="100000">
                                          <p:val>
                                            <p:strVal val="#ppt_x"/>
                                          </p:val>
                                        </p:tav>
                                      </p:tavLst>
                                    </p:anim>
                                    <p:anim calcmode="lin" valueType="num">
                                      <p:cBhvr additive="base">
                                        <p:cTn id="14" dur="500" fill="hold"/>
                                        <p:tgtEl>
                                          <p:spTgt spid="614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148"/>
                                        </p:tgtEl>
                                        <p:attrNameLst>
                                          <p:attrName>style.visibility</p:attrName>
                                        </p:attrNameLst>
                                      </p:cBhvr>
                                      <p:to>
                                        <p:strVal val="visible"/>
                                      </p:to>
                                    </p:set>
                                    <p:anim calcmode="lin" valueType="num">
                                      <p:cBhvr additive="base">
                                        <p:cTn id="19" dur="500" fill="hold"/>
                                        <p:tgtEl>
                                          <p:spTgt spid="6148"/>
                                        </p:tgtEl>
                                        <p:attrNameLst>
                                          <p:attrName>ppt_x</p:attrName>
                                        </p:attrNameLst>
                                      </p:cBhvr>
                                      <p:tavLst>
                                        <p:tav tm="0">
                                          <p:val>
                                            <p:strVal val="0-#ppt_w/2"/>
                                          </p:val>
                                        </p:tav>
                                        <p:tav tm="100000">
                                          <p:val>
                                            <p:strVal val="#ppt_x"/>
                                          </p:val>
                                        </p:tav>
                                      </p:tavLst>
                                    </p:anim>
                                    <p:anim calcmode="lin" valueType="num">
                                      <p:cBhvr additive="base">
                                        <p:cTn id="20" dur="500" fill="hold"/>
                                        <p:tgtEl>
                                          <p:spTgt spid="614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autoUpdateAnimBg="0"/>
      <p:bldP spid="6148" grpId="0" autoUpdateAnimBg="0"/>
      <p:bldP spid="6149"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ate Placeholder 1"/>
          <p:cNvSpPr>
            <a:spLocks noGrp="1"/>
          </p:cNvSpPr>
          <p:nvPr>
            <p:ph type="dt" sz="quarter" idx="10"/>
          </p:nvPr>
        </p:nvSpPr>
        <p:spPr/>
        <p:txBody>
          <a:bodyPr/>
          <a:lstStyle/>
          <a:p>
            <a:pPr>
              <a:defRPr/>
            </a:pPr>
            <a:fld id="{92528064-125A-AE49-9882-DAA1C6B69790}" type="datetime3">
              <a:rPr lang="en-US"/>
              <a:pPr>
                <a:defRPr/>
              </a:pPr>
              <a:t>14 January 2026</a:t>
            </a:fld>
            <a:endParaRPr lang="en-US"/>
          </a:p>
        </p:txBody>
      </p:sp>
      <p:sp>
        <p:nvSpPr>
          <p:cNvPr id="17" name="Footer Placeholder 2"/>
          <p:cNvSpPr>
            <a:spLocks noGrp="1"/>
          </p:cNvSpPr>
          <p:nvPr>
            <p:ph type="ftr" sz="quarter" idx="11"/>
          </p:nvPr>
        </p:nvSpPr>
        <p:spPr/>
        <p:txBody>
          <a:bodyPr/>
          <a:lstStyle/>
          <a:p>
            <a:pPr>
              <a:defRPr/>
            </a:pPr>
            <a:r>
              <a:rPr lang="en-US"/>
              <a:t>.</a:t>
            </a:r>
          </a:p>
        </p:txBody>
      </p:sp>
      <p:sp>
        <p:nvSpPr>
          <p:cNvPr id="18" name="Slide Number Placeholder 3"/>
          <p:cNvSpPr>
            <a:spLocks noGrp="1"/>
          </p:cNvSpPr>
          <p:nvPr>
            <p:ph type="sldNum" sz="quarter" idx="12"/>
          </p:nvPr>
        </p:nvSpPr>
        <p:spPr/>
        <p:txBody>
          <a:bodyPr/>
          <a:lstStyle/>
          <a:p>
            <a:pPr>
              <a:defRPr/>
            </a:pPr>
            <a:fld id="{52C91EE7-8FFA-6145-BAA9-1B541DF6C431}" type="slidenum">
              <a:rPr lang="en-US"/>
              <a:pPr>
                <a:defRPr/>
              </a:pPr>
              <a:t>5</a:t>
            </a:fld>
            <a:endParaRPr lang="en-US"/>
          </a:p>
        </p:txBody>
      </p:sp>
      <p:sp>
        <p:nvSpPr>
          <p:cNvPr id="29698" name="Rectangle 2"/>
          <p:cNvSpPr>
            <a:spLocks noChangeArrowheads="1"/>
          </p:cNvSpPr>
          <p:nvPr/>
        </p:nvSpPr>
        <p:spPr bwMode="auto">
          <a:xfrm>
            <a:off x="2409825" y="260350"/>
            <a:ext cx="4325938" cy="15541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sz="3200" b="0">
                <a:cs typeface="+mn-cs"/>
              </a:rPr>
              <a:t>Did it take long to realize</a:t>
            </a:r>
          </a:p>
          <a:p>
            <a:pPr algn="ctr">
              <a:defRPr/>
            </a:pPr>
            <a:r>
              <a:rPr lang="en-US" sz="3200" b="0">
                <a:cs typeface="+mn-cs"/>
              </a:rPr>
              <a:t>there was a problem?</a:t>
            </a:r>
          </a:p>
          <a:p>
            <a:pPr algn="ctr">
              <a:defRPr/>
            </a:pPr>
            <a:endParaRPr lang="en-US" sz="3200" b="0">
              <a:cs typeface="+mn-cs"/>
            </a:endParaRPr>
          </a:p>
        </p:txBody>
      </p:sp>
      <p:grpSp>
        <p:nvGrpSpPr>
          <p:cNvPr id="29711" name="Group 15"/>
          <p:cNvGrpSpPr>
            <a:grpSpLocks/>
          </p:cNvGrpSpPr>
          <p:nvPr/>
        </p:nvGrpSpPr>
        <p:grpSpPr bwMode="auto">
          <a:xfrm>
            <a:off x="3429000" y="3886200"/>
            <a:ext cx="1905000" cy="1447800"/>
            <a:chOff x="2160" y="2448"/>
            <a:chExt cx="1200" cy="912"/>
          </a:xfrm>
        </p:grpSpPr>
        <p:sp>
          <p:nvSpPr>
            <p:cNvPr id="29699" name="Rectangle 3"/>
            <p:cNvSpPr>
              <a:spLocks noChangeArrowheads="1"/>
            </p:cNvSpPr>
            <p:nvPr/>
          </p:nvSpPr>
          <p:spPr bwMode="auto">
            <a:xfrm>
              <a:off x="2592" y="2448"/>
              <a:ext cx="336" cy="288"/>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29700" name="Rectangle 4"/>
            <p:cNvSpPr>
              <a:spLocks noChangeArrowheads="1"/>
            </p:cNvSpPr>
            <p:nvPr/>
          </p:nvSpPr>
          <p:spPr bwMode="auto">
            <a:xfrm>
              <a:off x="2160" y="3072"/>
              <a:ext cx="336" cy="288"/>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29701" name="Rectangle 5"/>
            <p:cNvSpPr>
              <a:spLocks noChangeArrowheads="1"/>
            </p:cNvSpPr>
            <p:nvPr/>
          </p:nvSpPr>
          <p:spPr bwMode="auto">
            <a:xfrm>
              <a:off x="3024" y="3072"/>
              <a:ext cx="336" cy="288"/>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29703" name="Line 7"/>
            <p:cNvSpPr>
              <a:spLocks noChangeShapeType="1"/>
            </p:cNvSpPr>
            <p:nvPr/>
          </p:nvSpPr>
          <p:spPr bwMode="auto">
            <a:xfrm flipV="1">
              <a:off x="2352" y="2736"/>
              <a:ext cx="240" cy="33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29704" name="Line 8"/>
            <p:cNvSpPr>
              <a:spLocks noChangeShapeType="1"/>
            </p:cNvSpPr>
            <p:nvPr/>
          </p:nvSpPr>
          <p:spPr bwMode="auto">
            <a:xfrm flipH="1" flipV="1">
              <a:off x="2928" y="2736"/>
              <a:ext cx="240" cy="336"/>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29705" name="Text Box 9"/>
            <p:cNvSpPr txBox="1">
              <a:spLocks noChangeArrowheads="1"/>
            </p:cNvSpPr>
            <p:nvPr/>
          </p:nvSpPr>
          <p:spPr bwMode="auto">
            <a:xfrm>
              <a:off x="2208" y="3072"/>
              <a:ext cx="287"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b="0">
                  <a:cs typeface="+mn-cs"/>
                </a:rPr>
                <a:t>IMP</a:t>
              </a:r>
            </a:p>
            <a:p>
              <a:pPr algn="ctr">
                <a:defRPr/>
              </a:pPr>
              <a:r>
                <a:rPr lang="en-US" b="0">
                  <a:cs typeface="+mn-cs"/>
                </a:rPr>
                <a:t>14</a:t>
              </a:r>
            </a:p>
          </p:txBody>
        </p:sp>
        <p:sp>
          <p:nvSpPr>
            <p:cNvPr id="29706" name="Text Box 10"/>
            <p:cNvSpPr txBox="1">
              <a:spLocks noChangeArrowheads="1"/>
            </p:cNvSpPr>
            <p:nvPr/>
          </p:nvSpPr>
          <p:spPr bwMode="auto">
            <a:xfrm>
              <a:off x="3072" y="3072"/>
              <a:ext cx="287"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b="0">
                  <a:cs typeface="+mn-cs"/>
                </a:rPr>
                <a:t>IMP</a:t>
              </a:r>
            </a:p>
            <a:p>
              <a:pPr algn="ctr">
                <a:defRPr/>
              </a:pPr>
              <a:r>
                <a:rPr lang="en-US" b="0">
                  <a:cs typeface="+mn-cs"/>
                </a:rPr>
                <a:t>20</a:t>
              </a:r>
            </a:p>
          </p:txBody>
        </p:sp>
        <p:sp>
          <p:nvSpPr>
            <p:cNvPr id="29707" name="Text Box 11"/>
            <p:cNvSpPr txBox="1">
              <a:spLocks noChangeArrowheads="1"/>
            </p:cNvSpPr>
            <p:nvPr/>
          </p:nvSpPr>
          <p:spPr bwMode="auto">
            <a:xfrm>
              <a:off x="2246" y="2765"/>
              <a:ext cx="308"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b="0">
                  <a:cs typeface="+mn-cs"/>
                </a:rPr>
                <a:t>14, 1</a:t>
              </a:r>
            </a:p>
          </p:txBody>
        </p:sp>
        <p:sp>
          <p:nvSpPr>
            <p:cNvPr id="29708" name="Text Box 12"/>
            <p:cNvSpPr txBox="1">
              <a:spLocks noChangeArrowheads="1"/>
            </p:cNvSpPr>
            <p:nvPr/>
          </p:nvSpPr>
          <p:spPr bwMode="auto">
            <a:xfrm>
              <a:off x="3014" y="2765"/>
              <a:ext cx="308"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b="0">
                  <a:cs typeface="+mn-cs"/>
                </a:rPr>
                <a:t>20, 3</a:t>
              </a:r>
            </a:p>
          </p:txBody>
        </p:sp>
        <p:sp>
          <p:nvSpPr>
            <p:cNvPr id="29709" name="Text Box 13"/>
            <p:cNvSpPr txBox="1">
              <a:spLocks noChangeArrowheads="1"/>
            </p:cNvSpPr>
            <p:nvPr/>
          </p:nvSpPr>
          <p:spPr bwMode="auto">
            <a:xfrm>
              <a:off x="2592" y="2496"/>
              <a:ext cx="297"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b="0">
                  <a:cs typeface="+mn-cs"/>
                </a:rPr>
                <a:t>Host</a:t>
              </a:r>
            </a:p>
          </p:txBody>
        </p:sp>
      </p:grpSp>
      <p:sp>
        <p:nvSpPr>
          <p:cNvPr id="29710" name="Rectangle 14"/>
          <p:cNvSpPr>
            <a:spLocks noChangeArrowheads="1"/>
          </p:cNvSpPr>
          <p:nvPr/>
        </p:nvSpPr>
        <p:spPr bwMode="auto">
          <a:xfrm>
            <a:off x="1121595" y="1524000"/>
            <a:ext cx="6527748" cy="12003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sz="1800" dirty="0">
                <a:cs typeface="+mn-cs"/>
              </a:rPr>
              <a:t>Nope.</a:t>
            </a:r>
            <a:endParaRPr lang="en-US" dirty="0">
              <a:cs typeface="+mn-cs"/>
            </a:endParaRPr>
          </a:p>
          <a:p>
            <a:pPr algn="ctr">
              <a:defRPr/>
            </a:pPr>
            <a:endParaRPr lang="en-US" dirty="0">
              <a:cs typeface="+mn-cs"/>
            </a:endParaRPr>
          </a:p>
          <a:p>
            <a:pPr algn="ctr">
              <a:defRPr/>
            </a:pPr>
            <a:r>
              <a:rPr lang="en-US" sz="1400" dirty="0">
                <a:cs typeface="+mn-cs"/>
              </a:rPr>
              <a:t>First time (~ 1972) one of the Air Force bases took us at our word that the network </a:t>
            </a:r>
          </a:p>
          <a:p>
            <a:pPr algn="ctr">
              <a:defRPr/>
            </a:pPr>
            <a:r>
              <a:rPr lang="en-US" sz="1400" dirty="0">
                <a:cs typeface="+mn-cs"/>
              </a:rPr>
              <a:t>was supposed to be survivable and asked for links to two different IMPs</a:t>
            </a:r>
          </a:p>
          <a:p>
            <a:pPr algn="ctr">
              <a:defRPr/>
            </a:pPr>
            <a:r>
              <a:rPr lang="en-US" sz="1400" dirty="0">
                <a:cs typeface="+mn-cs"/>
              </a:rPr>
              <a:t>to connect its host to the Network.</a:t>
            </a:r>
          </a:p>
        </p:txBody>
      </p:sp>
      <p:sp>
        <p:nvSpPr>
          <p:cNvPr id="29712" name="Rectangle 16"/>
          <p:cNvSpPr>
            <a:spLocks noChangeArrowheads="1"/>
          </p:cNvSpPr>
          <p:nvPr/>
        </p:nvSpPr>
        <p:spPr bwMode="auto">
          <a:xfrm>
            <a:off x="1903413" y="2819400"/>
            <a:ext cx="4994275" cy="730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sz="1400">
                <a:cs typeface="+mn-cs"/>
              </a:rPr>
              <a:t>Naming the hosts by the names of their interfaces</a:t>
            </a:r>
          </a:p>
          <a:p>
            <a:pPr algn="ctr">
              <a:defRPr/>
            </a:pPr>
            <a:r>
              <a:rPr lang="en-US" sz="1400">
                <a:cs typeface="+mn-cs"/>
              </a:rPr>
              <a:t>meant that the two connections looked like two hosts to the Net.</a:t>
            </a:r>
          </a:p>
          <a:p>
            <a:pPr algn="ctr">
              <a:defRPr/>
            </a:pPr>
            <a:r>
              <a:rPr lang="en-US" sz="1400">
                <a:cs typeface="+mn-cs"/>
              </a:rPr>
              <a:t>Still does.</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9710"/>
                                        </p:tgtEl>
                                        <p:attrNameLst>
                                          <p:attrName>style.visibility</p:attrName>
                                        </p:attrNameLst>
                                      </p:cBhvr>
                                      <p:to>
                                        <p:strVal val="visible"/>
                                      </p:to>
                                    </p:set>
                                    <p:anim calcmode="lin" valueType="num">
                                      <p:cBhvr additive="base">
                                        <p:cTn id="7" dur="500" fill="hold"/>
                                        <p:tgtEl>
                                          <p:spTgt spid="29710"/>
                                        </p:tgtEl>
                                        <p:attrNameLst>
                                          <p:attrName>ppt_x</p:attrName>
                                        </p:attrNameLst>
                                      </p:cBhvr>
                                      <p:tavLst>
                                        <p:tav tm="0">
                                          <p:val>
                                            <p:strVal val="0-#ppt_w/2"/>
                                          </p:val>
                                        </p:tav>
                                        <p:tav tm="100000">
                                          <p:val>
                                            <p:strVal val="#ppt_x"/>
                                          </p:val>
                                        </p:tav>
                                      </p:tavLst>
                                    </p:anim>
                                    <p:anim calcmode="lin" valueType="num">
                                      <p:cBhvr additive="base">
                                        <p:cTn id="8" dur="500" fill="hold"/>
                                        <p:tgtEl>
                                          <p:spTgt spid="2971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9711"/>
                                        </p:tgtEl>
                                        <p:attrNameLst>
                                          <p:attrName>style.visibility</p:attrName>
                                        </p:attrNameLst>
                                      </p:cBhvr>
                                      <p:to>
                                        <p:strVal val="visible"/>
                                      </p:to>
                                    </p:set>
                                    <p:anim calcmode="lin" valueType="num">
                                      <p:cBhvr additive="base">
                                        <p:cTn id="13" dur="500" fill="hold"/>
                                        <p:tgtEl>
                                          <p:spTgt spid="29711"/>
                                        </p:tgtEl>
                                        <p:attrNameLst>
                                          <p:attrName>ppt_x</p:attrName>
                                        </p:attrNameLst>
                                      </p:cBhvr>
                                      <p:tavLst>
                                        <p:tav tm="0">
                                          <p:val>
                                            <p:strVal val="0-#ppt_w/2"/>
                                          </p:val>
                                        </p:tav>
                                        <p:tav tm="100000">
                                          <p:val>
                                            <p:strVal val="#ppt_x"/>
                                          </p:val>
                                        </p:tav>
                                      </p:tavLst>
                                    </p:anim>
                                    <p:anim calcmode="lin" valueType="num">
                                      <p:cBhvr additive="base">
                                        <p:cTn id="14" dur="500" fill="hold"/>
                                        <p:tgtEl>
                                          <p:spTgt spid="2971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9712"/>
                                        </p:tgtEl>
                                        <p:attrNameLst>
                                          <p:attrName>style.visibility</p:attrName>
                                        </p:attrNameLst>
                                      </p:cBhvr>
                                      <p:to>
                                        <p:strVal val="visible"/>
                                      </p:to>
                                    </p:set>
                                    <p:anim calcmode="lin" valueType="num">
                                      <p:cBhvr additive="base">
                                        <p:cTn id="19" dur="500" fill="hold"/>
                                        <p:tgtEl>
                                          <p:spTgt spid="29712"/>
                                        </p:tgtEl>
                                        <p:attrNameLst>
                                          <p:attrName>ppt_x</p:attrName>
                                        </p:attrNameLst>
                                      </p:cBhvr>
                                      <p:tavLst>
                                        <p:tav tm="0">
                                          <p:val>
                                            <p:strVal val="0-#ppt_w/2"/>
                                          </p:val>
                                        </p:tav>
                                        <p:tav tm="100000">
                                          <p:val>
                                            <p:strVal val="#ppt_x"/>
                                          </p:val>
                                        </p:tav>
                                      </p:tavLst>
                                    </p:anim>
                                    <p:anim calcmode="lin" valueType="num">
                                      <p:cBhvr additive="base">
                                        <p:cTn id="20" dur="500" fill="hold"/>
                                        <p:tgtEl>
                                          <p:spTgt spid="297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10" grpId="0" autoUpdateAnimBg="0"/>
      <p:bldP spid="29712"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1"/>
          <p:cNvSpPr>
            <a:spLocks noGrp="1"/>
          </p:cNvSpPr>
          <p:nvPr>
            <p:ph type="dt" sz="quarter" idx="10"/>
          </p:nvPr>
        </p:nvSpPr>
        <p:spPr/>
        <p:txBody>
          <a:bodyPr/>
          <a:lstStyle/>
          <a:p>
            <a:pPr>
              <a:defRPr/>
            </a:pPr>
            <a:fld id="{E00B99D3-63E7-4B4B-B13F-9F7F0FAC809B}" type="datetime3">
              <a:rPr lang="en-US"/>
              <a:pPr>
                <a:defRPr/>
              </a:pPr>
              <a:t>14 January 2026</a:t>
            </a:fld>
            <a:endParaRPr lang="en-US"/>
          </a:p>
        </p:txBody>
      </p:sp>
      <p:sp>
        <p:nvSpPr>
          <p:cNvPr id="8" name="Footer Placeholder 2"/>
          <p:cNvSpPr>
            <a:spLocks noGrp="1"/>
          </p:cNvSpPr>
          <p:nvPr>
            <p:ph type="ftr" sz="quarter" idx="11"/>
          </p:nvPr>
        </p:nvSpPr>
        <p:spPr/>
        <p:txBody>
          <a:bodyPr/>
          <a:lstStyle/>
          <a:p>
            <a:pPr>
              <a:defRPr/>
            </a:pPr>
            <a:r>
              <a:rPr lang="en-US"/>
              <a:t>.</a:t>
            </a:r>
          </a:p>
        </p:txBody>
      </p:sp>
      <p:sp>
        <p:nvSpPr>
          <p:cNvPr id="9" name="Slide Number Placeholder 3"/>
          <p:cNvSpPr>
            <a:spLocks noGrp="1"/>
          </p:cNvSpPr>
          <p:nvPr>
            <p:ph type="sldNum" sz="quarter" idx="12"/>
          </p:nvPr>
        </p:nvSpPr>
        <p:spPr/>
        <p:txBody>
          <a:bodyPr/>
          <a:lstStyle/>
          <a:p>
            <a:pPr>
              <a:defRPr/>
            </a:pPr>
            <a:fld id="{D6835DF5-B80A-814F-A7C8-850712E33584}" type="slidenum">
              <a:rPr lang="en-US"/>
              <a:pPr>
                <a:defRPr/>
              </a:pPr>
              <a:t>6</a:t>
            </a:fld>
            <a:endParaRPr lang="en-US"/>
          </a:p>
        </p:txBody>
      </p:sp>
      <p:sp>
        <p:nvSpPr>
          <p:cNvPr id="494594" name="Text Box 2"/>
          <p:cNvSpPr txBox="1">
            <a:spLocks noChangeArrowheads="1"/>
          </p:cNvSpPr>
          <p:nvPr/>
        </p:nvSpPr>
        <p:spPr bwMode="auto">
          <a:xfrm>
            <a:off x="1847850" y="609600"/>
            <a:ext cx="5578475" cy="8842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sz="2400">
                <a:cs typeface="+mn-cs"/>
              </a:rPr>
              <a:t>BBN botched the ARPANET Addressing,</a:t>
            </a:r>
          </a:p>
          <a:p>
            <a:pPr algn="ctr">
              <a:defRPr/>
            </a:pPr>
            <a:r>
              <a:rPr lang="en-US" sz="2400">
                <a:cs typeface="+mn-cs"/>
              </a:rPr>
              <a:t>because</a:t>
            </a:r>
            <a:r>
              <a:rPr lang="en-US" sz="2800">
                <a:cs typeface="+mn-cs"/>
              </a:rPr>
              <a:t> </a:t>
            </a:r>
            <a:r>
              <a:rPr lang="en-US" sz="2400">
                <a:cs typeface="+mn-cs"/>
              </a:rPr>
              <a:t>they were from Boston.</a:t>
            </a:r>
          </a:p>
        </p:txBody>
      </p:sp>
      <p:sp>
        <p:nvSpPr>
          <p:cNvPr id="494595" name="Text Box 3"/>
          <p:cNvSpPr txBox="1">
            <a:spLocks noChangeArrowheads="1"/>
          </p:cNvSpPr>
          <p:nvPr/>
        </p:nvSpPr>
        <p:spPr bwMode="auto">
          <a:xfrm>
            <a:off x="2512863" y="1547813"/>
            <a:ext cx="3924601" cy="7386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sz="1400" dirty="0">
                <a:cs typeface="+mn-cs"/>
              </a:rPr>
              <a:t>In Boston, there is only one way to get anywhere,</a:t>
            </a:r>
          </a:p>
          <a:p>
            <a:pPr algn="ctr">
              <a:defRPr/>
            </a:pPr>
            <a:r>
              <a:rPr lang="en-US" sz="1400" dirty="0">
                <a:cs typeface="+mn-cs"/>
              </a:rPr>
              <a:t>So, it is easy to confuse</a:t>
            </a:r>
          </a:p>
          <a:p>
            <a:pPr algn="ctr">
              <a:defRPr/>
            </a:pPr>
            <a:r>
              <a:rPr lang="en-US" sz="1400" dirty="0">
                <a:cs typeface="+mn-cs"/>
              </a:rPr>
              <a:t>a route and an address as being the same.</a:t>
            </a:r>
          </a:p>
        </p:txBody>
      </p:sp>
      <p:sp>
        <p:nvSpPr>
          <p:cNvPr id="494596" name="Text Box 4"/>
          <p:cNvSpPr txBox="1">
            <a:spLocks noChangeArrowheads="1"/>
          </p:cNvSpPr>
          <p:nvPr/>
        </p:nvSpPr>
        <p:spPr bwMode="auto">
          <a:xfrm>
            <a:off x="1630363" y="2590800"/>
            <a:ext cx="5768975" cy="730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sz="1400">
                <a:cs typeface="+mn-cs"/>
              </a:rPr>
              <a:t>Had they been from the Midwest and lived on a grid,</a:t>
            </a:r>
          </a:p>
          <a:p>
            <a:pPr algn="ctr">
              <a:defRPr/>
            </a:pPr>
            <a:r>
              <a:rPr lang="en-US" sz="1400">
                <a:cs typeface="+mn-cs"/>
              </a:rPr>
              <a:t>they would have known there were lots of ways to get between two points;</a:t>
            </a:r>
          </a:p>
          <a:p>
            <a:pPr algn="ctr">
              <a:defRPr/>
            </a:pPr>
            <a:r>
              <a:rPr lang="en-US" sz="1400">
                <a:cs typeface="+mn-cs"/>
              </a:rPr>
              <a:t>and that routes and addresses are two entirely different things.</a:t>
            </a:r>
          </a:p>
        </p:txBody>
      </p:sp>
      <p:sp>
        <p:nvSpPr>
          <p:cNvPr id="494597" name="Text Box 5"/>
          <p:cNvSpPr txBox="1">
            <a:spLocks noChangeArrowheads="1"/>
          </p:cNvSpPr>
          <p:nvPr/>
        </p:nvSpPr>
        <p:spPr bwMode="auto">
          <a:xfrm>
            <a:off x="2971800" y="3557588"/>
            <a:ext cx="3305175"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1400">
                <a:cs typeface="+mn-cs"/>
              </a:rPr>
              <a:t>(It is not true, but it makes a good story!)</a:t>
            </a:r>
          </a:p>
        </p:txBody>
      </p:sp>
      <p:sp>
        <p:nvSpPr>
          <p:cNvPr id="494598" name="Text Box 6"/>
          <p:cNvSpPr txBox="1">
            <a:spLocks noChangeArrowheads="1"/>
          </p:cNvSpPr>
          <p:nvPr/>
        </p:nvSpPr>
        <p:spPr bwMode="auto">
          <a:xfrm>
            <a:off x="2579340" y="4267200"/>
            <a:ext cx="4037708" cy="646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dirty="0">
                <a:cs typeface="+mn-cs"/>
              </a:rPr>
              <a:t>The real reason is that they did what the phone company </a:t>
            </a:r>
          </a:p>
          <a:p>
            <a:pPr algn="ctr">
              <a:defRPr/>
            </a:pPr>
            <a:r>
              <a:rPr lang="en-US" dirty="0">
                <a:cs typeface="+mn-cs"/>
              </a:rPr>
              <a:t>and every other network up to that point had done:  </a:t>
            </a:r>
          </a:p>
          <a:p>
            <a:pPr algn="ctr">
              <a:defRPr/>
            </a:pPr>
            <a:r>
              <a:rPr lang="en-US" dirty="0">
                <a:cs typeface="+mn-cs"/>
              </a:rPr>
              <a:t>Name the wires coming out of the switches.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94595"/>
                                        </p:tgtEl>
                                        <p:attrNameLst>
                                          <p:attrName>style.visibility</p:attrName>
                                        </p:attrNameLst>
                                      </p:cBhvr>
                                      <p:to>
                                        <p:strVal val="visible"/>
                                      </p:to>
                                    </p:set>
                                    <p:anim calcmode="lin" valueType="num">
                                      <p:cBhvr additive="base">
                                        <p:cTn id="7" dur="500" fill="hold"/>
                                        <p:tgtEl>
                                          <p:spTgt spid="494595"/>
                                        </p:tgtEl>
                                        <p:attrNameLst>
                                          <p:attrName>ppt_x</p:attrName>
                                        </p:attrNameLst>
                                      </p:cBhvr>
                                      <p:tavLst>
                                        <p:tav tm="0">
                                          <p:val>
                                            <p:strVal val="0-#ppt_w/2"/>
                                          </p:val>
                                        </p:tav>
                                        <p:tav tm="100000">
                                          <p:val>
                                            <p:strVal val="#ppt_x"/>
                                          </p:val>
                                        </p:tav>
                                      </p:tavLst>
                                    </p:anim>
                                    <p:anim calcmode="lin" valueType="num">
                                      <p:cBhvr additive="base">
                                        <p:cTn id="8" dur="500" fill="hold"/>
                                        <p:tgtEl>
                                          <p:spTgt spid="49459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94596"/>
                                        </p:tgtEl>
                                        <p:attrNameLst>
                                          <p:attrName>style.visibility</p:attrName>
                                        </p:attrNameLst>
                                      </p:cBhvr>
                                      <p:to>
                                        <p:strVal val="visible"/>
                                      </p:to>
                                    </p:set>
                                    <p:anim calcmode="lin" valueType="num">
                                      <p:cBhvr additive="base">
                                        <p:cTn id="13" dur="500" fill="hold"/>
                                        <p:tgtEl>
                                          <p:spTgt spid="494596"/>
                                        </p:tgtEl>
                                        <p:attrNameLst>
                                          <p:attrName>ppt_x</p:attrName>
                                        </p:attrNameLst>
                                      </p:cBhvr>
                                      <p:tavLst>
                                        <p:tav tm="0">
                                          <p:val>
                                            <p:strVal val="0-#ppt_w/2"/>
                                          </p:val>
                                        </p:tav>
                                        <p:tav tm="100000">
                                          <p:val>
                                            <p:strVal val="#ppt_x"/>
                                          </p:val>
                                        </p:tav>
                                      </p:tavLst>
                                    </p:anim>
                                    <p:anim calcmode="lin" valueType="num">
                                      <p:cBhvr additive="base">
                                        <p:cTn id="14" dur="500" fill="hold"/>
                                        <p:tgtEl>
                                          <p:spTgt spid="49459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94597"/>
                                        </p:tgtEl>
                                        <p:attrNameLst>
                                          <p:attrName>style.visibility</p:attrName>
                                        </p:attrNameLst>
                                      </p:cBhvr>
                                      <p:to>
                                        <p:strVal val="visible"/>
                                      </p:to>
                                    </p:set>
                                    <p:anim calcmode="lin" valueType="num">
                                      <p:cBhvr additive="base">
                                        <p:cTn id="19" dur="500" fill="hold"/>
                                        <p:tgtEl>
                                          <p:spTgt spid="494597"/>
                                        </p:tgtEl>
                                        <p:attrNameLst>
                                          <p:attrName>ppt_x</p:attrName>
                                        </p:attrNameLst>
                                      </p:cBhvr>
                                      <p:tavLst>
                                        <p:tav tm="0">
                                          <p:val>
                                            <p:strVal val="0-#ppt_w/2"/>
                                          </p:val>
                                        </p:tav>
                                        <p:tav tm="100000">
                                          <p:val>
                                            <p:strVal val="#ppt_x"/>
                                          </p:val>
                                        </p:tav>
                                      </p:tavLst>
                                    </p:anim>
                                    <p:anim calcmode="lin" valueType="num">
                                      <p:cBhvr additive="base">
                                        <p:cTn id="20" dur="500" fill="hold"/>
                                        <p:tgtEl>
                                          <p:spTgt spid="494597"/>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94598"/>
                                        </p:tgtEl>
                                        <p:attrNameLst>
                                          <p:attrName>style.visibility</p:attrName>
                                        </p:attrNameLst>
                                      </p:cBhvr>
                                      <p:to>
                                        <p:strVal val="visible"/>
                                      </p:to>
                                    </p:set>
                                    <p:anim calcmode="lin" valueType="num">
                                      <p:cBhvr additive="base">
                                        <p:cTn id="25" dur="500" fill="hold"/>
                                        <p:tgtEl>
                                          <p:spTgt spid="494598"/>
                                        </p:tgtEl>
                                        <p:attrNameLst>
                                          <p:attrName>ppt_x</p:attrName>
                                        </p:attrNameLst>
                                      </p:cBhvr>
                                      <p:tavLst>
                                        <p:tav tm="0">
                                          <p:val>
                                            <p:strVal val="0-#ppt_w/2"/>
                                          </p:val>
                                        </p:tav>
                                        <p:tav tm="100000">
                                          <p:val>
                                            <p:strVal val="#ppt_x"/>
                                          </p:val>
                                        </p:tav>
                                      </p:tavLst>
                                    </p:anim>
                                    <p:anim calcmode="lin" valueType="num">
                                      <p:cBhvr additive="base">
                                        <p:cTn id="26" dur="500" fill="hold"/>
                                        <p:tgtEl>
                                          <p:spTgt spid="49459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4595" grpId="0" autoUpdateAnimBg="0"/>
      <p:bldP spid="494596" grpId="0" autoUpdateAnimBg="0"/>
      <p:bldP spid="494597" grpId="0" autoUpdateAnimBg="0"/>
      <p:bldP spid="494598"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Title 61"/>
          <p:cNvSpPr>
            <a:spLocks noGrp="1"/>
          </p:cNvSpPr>
          <p:nvPr>
            <p:ph type="title"/>
          </p:nvPr>
        </p:nvSpPr>
        <p:spPr/>
        <p:txBody>
          <a:bodyPr/>
          <a:lstStyle/>
          <a:p>
            <a:r>
              <a:rPr lang="en-US" sz="2800" b="1" dirty="0"/>
              <a:t>Computers Are Different</a:t>
            </a:r>
            <a:br>
              <a:rPr lang="en-US" sz="2800" b="1" dirty="0"/>
            </a:br>
            <a:r>
              <a:rPr lang="en-US" sz="2000" dirty="0"/>
              <a:t>Unlike Passive Phones and Terminals</a:t>
            </a:r>
            <a:br>
              <a:rPr lang="en-US" sz="2000" dirty="0"/>
            </a:br>
            <a:r>
              <a:rPr lang="en-US" sz="2000" b="1" dirty="0"/>
              <a:t>They are Active</a:t>
            </a:r>
            <a:br>
              <a:rPr lang="en-US" sz="2000" dirty="0"/>
            </a:br>
            <a:endParaRPr lang="en-US" sz="2000" dirty="0"/>
          </a:p>
        </p:txBody>
      </p:sp>
      <p:sp>
        <p:nvSpPr>
          <p:cNvPr id="63" name="Content Placeholder 62"/>
          <p:cNvSpPr>
            <a:spLocks noGrp="1"/>
          </p:cNvSpPr>
          <p:nvPr>
            <p:ph idx="1"/>
          </p:nvPr>
        </p:nvSpPr>
        <p:spPr/>
        <p:txBody>
          <a:bodyPr/>
          <a:lstStyle/>
          <a:p>
            <a:r>
              <a:rPr lang="en-US" sz="1800" dirty="0"/>
              <a:t>What should Host A’s Address be?  3 or 11?</a:t>
            </a:r>
          </a:p>
          <a:p>
            <a:r>
              <a:rPr lang="en-US" sz="1800" dirty="0"/>
              <a:t>The Network isn’t routing to the Host at all!</a:t>
            </a:r>
          </a:p>
          <a:p>
            <a:r>
              <a:rPr lang="en-US" sz="1800" dirty="0"/>
              <a:t>It is routing only to the port!</a:t>
            </a:r>
          </a:p>
          <a:p>
            <a:r>
              <a:rPr lang="en-US" sz="1800" dirty="0"/>
              <a:t>Not to the Host!</a:t>
            </a:r>
          </a:p>
          <a:p>
            <a:endParaRPr lang="en-US" sz="1800" dirty="0"/>
          </a:p>
          <a:p>
            <a:endParaRPr lang="en-US" sz="1800" dirty="0"/>
          </a:p>
        </p:txBody>
      </p:sp>
      <p:sp>
        <p:nvSpPr>
          <p:cNvPr id="2" name="Date Placeholder 1"/>
          <p:cNvSpPr>
            <a:spLocks noGrp="1"/>
          </p:cNvSpPr>
          <p:nvPr>
            <p:ph type="dt" sz="half" idx="10"/>
          </p:nvPr>
        </p:nvSpPr>
        <p:spPr/>
        <p:txBody>
          <a:bodyPr/>
          <a:lstStyle/>
          <a:p>
            <a:pPr>
              <a:defRPr/>
            </a:pPr>
            <a:fld id="{CBF4C81F-A52B-A14E-9304-5F492CCEDCDC}" type="datetime3">
              <a:rPr lang="en-US" smtClean="0"/>
              <a:pPr>
                <a:defRPr/>
              </a:pPr>
              <a:t>14 January 2026</a:t>
            </a:fld>
            <a:endParaRPr lang="en-US"/>
          </a:p>
        </p:txBody>
      </p:sp>
      <p:sp>
        <p:nvSpPr>
          <p:cNvPr id="3" name="Footer Placeholder 2"/>
          <p:cNvSpPr>
            <a:spLocks noGrp="1"/>
          </p:cNvSpPr>
          <p:nvPr>
            <p:ph type="ftr" sz="quarter" idx="11"/>
          </p:nvPr>
        </p:nvSpPr>
        <p:spPr/>
        <p:txBody>
          <a:bodyPr/>
          <a:lstStyle/>
          <a:p>
            <a:pPr>
              <a:defRPr/>
            </a:pPr>
            <a:r>
              <a:rPr lang="en-US"/>
              <a:t>.</a:t>
            </a:r>
          </a:p>
        </p:txBody>
      </p:sp>
      <p:sp>
        <p:nvSpPr>
          <p:cNvPr id="4" name="Slide Number Placeholder 3"/>
          <p:cNvSpPr>
            <a:spLocks noGrp="1"/>
          </p:cNvSpPr>
          <p:nvPr>
            <p:ph type="sldNum" sz="quarter" idx="12"/>
          </p:nvPr>
        </p:nvSpPr>
        <p:spPr/>
        <p:txBody>
          <a:bodyPr/>
          <a:lstStyle/>
          <a:p>
            <a:pPr>
              <a:defRPr/>
            </a:pPr>
            <a:fld id="{69099406-CFAA-9E4F-AC3E-6F4D350E9882}" type="slidenum">
              <a:rPr lang="en-US" smtClean="0"/>
              <a:pPr>
                <a:defRPr/>
              </a:pPr>
              <a:t>7</a:t>
            </a:fld>
            <a:endParaRPr lang="en-US"/>
          </a:p>
        </p:txBody>
      </p:sp>
      <p:grpSp>
        <p:nvGrpSpPr>
          <p:cNvPr id="57" name="Group 56"/>
          <p:cNvGrpSpPr/>
          <p:nvPr/>
        </p:nvGrpSpPr>
        <p:grpSpPr>
          <a:xfrm>
            <a:off x="5334000" y="5867400"/>
            <a:ext cx="2057401" cy="685800"/>
            <a:chOff x="7099299" y="3886200"/>
            <a:chExt cx="2057401" cy="685800"/>
          </a:xfrm>
        </p:grpSpPr>
        <p:sp>
          <p:nvSpPr>
            <p:cNvPr id="6" name="TextBox 5"/>
            <p:cNvSpPr txBox="1"/>
            <p:nvPr/>
          </p:nvSpPr>
          <p:spPr>
            <a:xfrm>
              <a:off x="7327900" y="3886200"/>
              <a:ext cx="1828800" cy="276999"/>
            </a:xfrm>
            <a:prstGeom prst="rect">
              <a:avLst/>
            </a:prstGeom>
            <a:noFill/>
          </p:spPr>
          <p:txBody>
            <a:bodyPr wrap="square" rtlCol="0">
              <a:spAutoFit/>
            </a:bodyPr>
            <a:lstStyle/>
            <a:p>
              <a:r>
                <a:rPr lang="en-US" b="0" dirty="0">
                  <a:solidFill>
                    <a:srgbClr val="000000"/>
                  </a:solidFill>
                </a:rPr>
                <a:t>End Equipment: computer</a:t>
              </a:r>
            </a:p>
          </p:txBody>
        </p:sp>
        <p:sp>
          <p:nvSpPr>
            <p:cNvPr id="41" name="Rectangle 40"/>
            <p:cNvSpPr/>
            <p:nvPr/>
          </p:nvSpPr>
          <p:spPr bwMode="auto">
            <a:xfrm>
              <a:off x="7099299" y="3962400"/>
              <a:ext cx="228600" cy="228600"/>
            </a:xfrm>
            <a:prstGeom prst="rect">
              <a:avLst/>
            </a:prstGeom>
            <a:solidFill>
              <a:srgbClr val="3333CC"/>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sp>
          <p:nvSpPr>
            <p:cNvPr id="42" name="Oval 41"/>
            <p:cNvSpPr/>
            <p:nvPr/>
          </p:nvSpPr>
          <p:spPr bwMode="auto">
            <a:xfrm>
              <a:off x="7099299" y="4343400"/>
              <a:ext cx="228600" cy="228600"/>
            </a:xfrm>
            <a:prstGeom prst="ellipse">
              <a:avLst/>
            </a:prstGeom>
            <a:solidFill>
              <a:schemeClr val="accent1"/>
            </a:solidFill>
            <a:ln w="9525" cap="flat" cmpd="sng" algn="ctr">
              <a:solidFill>
                <a:srgbClr val="00CC99"/>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sp>
          <p:nvSpPr>
            <p:cNvPr id="43" name="TextBox 42"/>
            <p:cNvSpPr txBox="1"/>
            <p:nvPr/>
          </p:nvSpPr>
          <p:spPr>
            <a:xfrm>
              <a:off x="7327899" y="4267200"/>
              <a:ext cx="1565302" cy="276999"/>
            </a:xfrm>
            <a:prstGeom prst="rect">
              <a:avLst/>
            </a:prstGeom>
            <a:noFill/>
          </p:spPr>
          <p:txBody>
            <a:bodyPr wrap="none" rtlCol="0">
              <a:spAutoFit/>
            </a:bodyPr>
            <a:lstStyle/>
            <a:p>
              <a:r>
                <a:rPr lang="en-US" b="0" dirty="0">
                  <a:solidFill>
                    <a:srgbClr val="000000"/>
                  </a:solidFill>
                </a:rPr>
                <a:t>Switching Equipment</a:t>
              </a:r>
            </a:p>
          </p:txBody>
        </p:sp>
      </p:grpSp>
      <p:grpSp>
        <p:nvGrpSpPr>
          <p:cNvPr id="56" name="Group 55"/>
          <p:cNvGrpSpPr/>
          <p:nvPr/>
        </p:nvGrpSpPr>
        <p:grpSpPr>
          <a:xfrm>
            <a:off x="1524000" y="3886200"/>
            <a:ext cx="4965699" cy="2286000"/>
            <a:chOff x="1371600" y="2438400"/>
            <a:chExt cx="4965699" cy="2286000"/>
          </a:xfrm>
        </p:grpSpPr>
        <p:sp>
          <p:nvSpPr>
            <p:cNvPr id="8" name="Oval 7"/>
            <p:cNvSpPr/>
            <p:nvPr/>
          </p:nvSpPr>
          <p:spPr bwMode="auto">
            <a:xfrm>
              <a:off x="2679699" y="2743200"/>
              <a:ext cx="228600" cy="228600"/>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sp>
          <p:nvSpPr>
            <p:cNvPr id="9" name="Oval 8"/>
            <p:cNvSpPr/>
            <p:nvPr/>
          </p:nvSpPr>
          <p:spPr bwMode="auto">
            <a:xfrm>
              <a:off x="1993899" y="3048000"/>
              <a:ext cx="228600" cy="228600"/>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sp>
          <p:nvSpPr>
            <p:cNvPr id="10" name="Oval 9"/>
            <p:cNvSpPr/>
            <p:nvPr/>
          </p:nvSpPr>
          <p:spPr bwMode="auto">
            <a:xfrm>
              <a:off x="2908299" y="3352800"/>
              <a:ext cx="228600" cy="228600"/>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sp>
          <p:nvSpPr>
            <p:cNvPr id="11" name="Oval 10"/>
            <p:cNvSpPr/>
            <p:nvPr/>
          </p:nvSpPr>
          <p:spPr bwMode="auto">
            <a:xfrm>
              <a:off x="3822699" y="3352800"/>
              <a:ext cx="228600" cy="228600"/>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sp>
          <p:nvSpPr>
            <p:cNvPr id="12" name="Oval 11"/>
            <p:cNvSpPr/>
            <p:nvPr/>
          </p:nvSpPr>
          <p:spPr bwMode="auto">
            <a:xfrm>
              <a:off x="4203699" y="2743200"/>
              <a:ext cx="228600" cy="228600"/>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sp>
          <p:nvSpPr>
            <p:cNvPr id="13" name="Oval 12"/>
            <p:cNvSpPr/>
            <p:nvPr/>
          </p:nvSpPr>
          <p:spPr bwMode="auto">
            <a:xfrm>
              <a:off x="5499099" y="3124200"/>
              <a:ext cx="228600" cy="228600"/>
            </a:xfrm>
            <a:prstGeom prst="ellipse">
              <a:avLst/>
            </a:prstGeom>
            <a:solidFill>
              <a:schemeClr val="accent1"/>
            </a:solidFill>
            <a:ln w="9525" cap="flat" cmpd="sng" algn="ctr">
              <a:solidFill>
                <a:srgbClr val="00CC99"/>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sp>
          <p:nvSpPr>
            <p:cNvPr id="14" name="Oval 13"/>
            <p:cNvSpPr/>
            <p:nvPr/>
          </p:nvSpPr>
          <p:spPr bwMode="auto">
            <a:xfrm>
              <a:off x="4660899" y="3733800"/>
              <a:ext cx="228600" cy="228600"/>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sp>
          <p:nvSpPr>
            <p:cNvPr id="15" name="Oval 14"/>
            <p:cNvSpPr/>
            <p:nvPr/>
          </p:nvSpPr>
          <p:spPr bwMode="auto">
            <a:xfrm>
              <a:off x="3670299" y="4038600"/>
              <a:ext cx="228600" cy="228600"/>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cxnSp>
          <p:nvCxnSpPr>
            <p:cNvPr id="16" name="Straight Connector 15"/>
            <p:cNvCxnSpPr>
              <a:stCxn id="9" idx="7"/>
              <a:endCxn id="8" idx="2"/>
            </p:cNvCxnSpPr>
            <p:nvPr/>
          </p:nvCxnSpPr>
          <p:spPr bwMode="auto">
            <a:xfrm flipV="1">
              <a:off x="2189021" y="2857500"/>
              <a:ext cx="490678" cy="22397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7" name="Straight Connector 16"/>
            <p:cNvCxnSpPr>
              <a:stCxn id="8" idx="6"/>
              <a:endCxn id="12" idx="2"/>
            </p:cNvCxnSpPr>
            <p:nvPr/>
          </p:nvCxnSpPr>
          <p:spPr bwMode="auto">
            <a:xfrm>
              <a:off x="2908299" y="2857500"/>
              <a:ext cx="12954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8" name="Straight Connector 17"/>
            <p:cNvCxnSpPr>
              <a:stCxn id="8" idx="4"/>
              <a:endCxn id="10" idx="0"/>
            </p:cNvCxnSpPr>
            <p:nvPr/>
          </p:nvCxnSpPr>
          <p:spPr bwMode="auto">
            <a:xfrm>
              <a:off x="2793999" y="2971800"/>
              <a:ext cx="228600" cy="381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9" name="Straight Arrow Connector 18"/>
            <p:cNvCxnSpPr>
              <a:stCxn id="9" idx="4"/>
              <a:endCxn id="10" idx="3"/>
            </p:cNvCxnSpPr>
            <p:nvPr/>
          </p:nvCxnSpPr>
          <p:spPr bwMode="auto">
            <a:xfrm>
              <a:off x="2108199" y="3276600"/>
              <a:ext cx="833578" cy="271322"/>
            </a:xfrm>
            <a:prstGeom prst="straightConnector1">
              <a:avLst/>
            </a:prstGeom>
            <a:solidFill>
              <a:schemeClr val="accent1"/>
            </a:solidFill>
            <a:ln w="9525" cap="flat" cmpd="sng" algn="ctr">
              <a:solidFill>
                <a:schemeClr val="tx1"/>
              </a:solidFill>
              <a:prstDash val="solid"/>
              <a:round/>
              <a:headEnd type="none" w="med" len="med"/>
              <a:tailEnd type="non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0" name="Straight Connector 19"/>
            <p:cNvCxnSpPr>
              <a:stCxn id="10" idx="6"/>
              <a:endCxn id="11" idx="2"/>
            </p:cNvCxnSpPr>
            <p:nvPr/>
          </p:nvCxnSpPr>
          <p:spPr bwMode="auto">
            <a:xfrm>
              <a:off x="3136899" y="3467100"/>
              <a:ext cx="6858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1" name="Straight Connector 20"/>
            <p:cNvCxnSpPr>
              <a:stCxn id="11" idx="7"/>
              <a:endCxn id="12" idx="4"/>
            </p:cNvCxnSpPr>
            <p:nvPr/>
          </p:nvCxnSpPr>
          <p:spPr bwMode="auto">
            <a:xfrm flipV="1">
              <a:off x="4017821" y="2971800"/>
              <a:ext cx="300178" cy="41447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2" name="Straight Connector 21"/>
            <p:cNvCxnSpPr>
              <a:stCxn id="10" idx="4"/>
              <a:endCxn id="15" idx="1"/>
            </p:cNvCxnSpPr>
            <p:nvPr/>
          </p:nvCxnSpPr>
          <p:spPr bwMode="auto">
            <a:xfrm>
              <a:off x="3022599" y="3581400"/>
              <a:ext cx="681178" cy="49067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3" name="Straight Connector 22"/>
            <p:cNvCxnSpPr>
              <a:stCxn id="12" idx="5"/>
              <a:endCxn id="14" idx="0"/>
            </p:cNvCxnSpPr>
            <p:nvPr/>
          </p:nvCxnSpPr>
          <p:spPr bwMode="auto">
            <a:xfrm>
              <a:off x="4398821" y="2938322"/>
              <a:ext cx="376378" cy="79547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4" name="Straight Connector 23"/>
            <p:cNvCxnSpPr>
              <a:stCxn id="11" idx="5"/>
              <a:endCxn id="14" idx="2"/>
            </p:cNvCxnSpPr>
            <p:nvPr/>
          </p:nvCxnSpPr>
          <p:spPr bwMode="auto">
            <a:xfrm>
              <a:off x="4017821" y="3547922"/>
              <a:ext cx="643078" cy="30017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5" name="Straight Connector 24"/>
            <p:cNvCxnSpPr>
              <a:stCxn id="15" idx="7"/>
              <a:endCxn id="14" idx="2"/>
            </p:cNvCxnSpPr>
            <p:nvPr/>
          </p:nvCxnSpPr>
          <p:spPr bwMode="auto">
            <a:xfrm flipV="1">
              <a:off x="3865421" y="3848100"/>
              <a:ext cx="795478" cy="22397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6" name="Straight Connector 25"/>
            <p:cNvCxnSpPr>
              <a:stCxn id="12" idx="6"/>
              <a:endCxn id="13" idx="1"/>
            </p:cNvCxnSpPr>
            <p:nvPr/>
          </p:nvCxnSpPr>
          <p:spPr bwMode="auto">
            <a:xfrm>
              <a:off x="4432299" y="2857500"/>
              <a:ext cx="1100278" cy="30017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7" name="Straight Connector 26"/>
            <p:cNvCxnSpPr>
              <a:stCxn id="14" idx="0"/>
              <a:endCxn id="13" idx="3"/>
            </p:cNvCxnSpPr>
            <p:nvPr/>
          </p:nvCxnSpPr>
          <p:spPr bwMode="auto">
            <a:xfrm flipV="1">
              <a:off x="4775199" y="3319322"/>
              <a:ext cx="757378" cy="41447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28" name="Rectangle 27"/>
            <p:cNvSpPr/>
            <p:nvPr/>
          </p:nvSpPr>
          <p:spPr bwMode="auto">
            <a:xfrm>
              <a:off x="6108699" y="3048000"/>
              <a:ext cx="228600" cy="228600"/>
            </a:xfrm>
            <a:prstGeom prst="rect">
              <a:avLst/>
            </a:prstGeom>
            <a:solidFill>
              <a:srgbClr val="3333CC"/>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sp>
          <p:nvSpPr>
            <p:cNvPr id="29" name="Rectangle 28"/>
            <p:cNvSpPr/>
            <p:nvPr/>
          </p:nvSpPr>
          <p:spPr bwMode="auto">
            <a:xfrm>
              <a:off x="1371600" y="2438400"/>
              <a:ext cx="228600" cy="228600"/>
            </a:xfrm>
            <a:prstGeom prst="rect">
              <a:avLst/>
            </a:prstGeom>
            <a:solidFill>
              <a:srgbClr val="3333CC"/>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sp>
          <p:nvSpPr>
            <p:cNvPr id="30" name="Rectangle 29"/>
            <p:cNvSpPr/>
            <p:nvPr/>
          </p:nvSpPr>
          <p:spPr bwMode="auto">
            <a:xfrm>
              <a:off x="3365499" y="4495800"/>
              <a:ext cx="228600" cy="228600"/>
            </a:xfrm>
            <a:prstGeom prst="rect">
              <a:avLst/>
            </a:prstGeom>
            <a:solidFill>
              <a:srgbClr val="3333CC"/>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sp>
          <p:nvSpPr>
            <p:cNvPr id="31" name="Rectangle 30"/>
            <p:cNvSpPr/>
            <p:nvPr/>
          </p:nvSpPr>
          <p:spPr bwMode="auto">
            <a:xfrm>
              <a:off x="4127499" y="4495800"/>
              <a:ext cx="228600" cy="228600"/>
            </a:xfrm>
            <a:prstGeom prst="rect">
              <a:avLst/>
            </a:prstGeom>
            <a:solidFill>
              <a:srgbClr val="3333CC"/>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sp>
          <p:nvSpPr>
            <p:cNvPr id="32" name="Rectangle 31"/>
            <p:cNvSpPr/>
            <p:nvPr/>
          </p:nvSpPr>
          <p:spPr bwMode="auto">
            <a:xfrm>
              <a:off x="5270499" y="3886200"/>
              <a:ext cx="228600" cy="228600"/>
            </a:xfrm>
            <a:prstGeom prst="rect">
              <a:avLst/>
            </a:prstGeom>
            <a:solidFill>
              <a:srgbClr val="3333CC"/>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sp>
          <p:nvSpPr>
            <p:cNvPr id="33" name="Rectangle 32"/>
            <p:cNvSpPr/>
            <p:nvPr/>
          </p:nvSpPr>
          <p:spPr bwMode="auto">
            <a:xfrm>
              <a:off x="1689099" y="3810000"/>
              <a:ext cx="228600" cy="228600"/>
            </a:xfrm>
            <a:prstGeom prst="rect">
              <a:avLst/>
            </a:prstGeom>
            <a:solidFill>
              <a:srgbClr val="3333CC"/>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cxnSp>
          <p:nvCxnSpPr>
            <p:cNvPr id="34" name="Straight Connector 33"/>
            <p:cNvCxnSpPr>
              <a:stCxn id="28" idx="1"/>
              <a:endCxn id="13" idx="6"/>
            </p:cNvCxnSpPr>
            <p:nvPr/>
          </p:nvCxnSpPr>
          <p:spPr bwMode="auto">
            <a:xfrm flipH="1">
              <a:off x="5727699" y="3162300"/>
              <a:ext cx="381000" cy="762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35" name="Straight Connector 34"/>
            <p:cNvCxnSpPr>
              <a:stCxn id="14" idx="6"/>
              <a:endCxn id="32" idx="1"/>
            </p:cNvCxnSpPr>
            <p:nvPr/>
          </p:nvCxnSpPr>
          <p:spPr bwMode="auto">
            <a:xfrm>
              <a:off x="4889499" y="3848100"/>
              <a:ext cx="381000" cy="1524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36" name="Straight Connector 35"/>
            <p:cNvCxnSpPr>
              <a:stCxn id="15" idx="5"/>
              <a:endCxn id="31" idx="0"/>
            </p:cNvCxnSpPr>
            <p:nvPr/>
          </p:nvCxnSpPr>
          <p:spPr bwMode="auto">
            <a:xfrm>
              <a:off x="3865421" y="4233722"/>
              <a:ext cx="376378" cy="26207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37" name="Straight Connector 36"/>
            <p:cNvCxnSpPr>
              <a:stCxn id="15" idx="3"/>
              <a:endCxn id="30" idx="0"/>
            </p:cNvCxnSpPr>
            <p:nvPr/>
          </p:nvCxnSpPr>
          <p:spPr bwMode="auto">
            <a:xfrm flipH="1">
              <a:off x="3479799" y="4233722"/>
              <a:ext cx="223978" cy="26207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38" name="Straight Connector 37"/>
            <p:cNvCxnSpPr/>
            <p:nvPr/>
          </p:nvCxnSpPr>
          <p:spPr bwMode="auto">
            <a:xfrm flipH="1">
              <a:off x="1841499" y="3276600"/>
              <a:ext cx="223978" cy="56687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39" name="Straight Connector 38"/>
            <p:cNvCxnSpPr>
              <a:stCxn id="29" idx="3"/>
              <a:endCxn id="9" idx="2"/>
            </p:cNvCxnSpPr>
            <p:nvPr/>
          </p:nvCxnSpPr>
          <p:spPr bwMode="auto">
            <a:xfrm>
              <a:off x="1600200" y="2552700"/>
              <a:ext cx="393699" cy="6096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40" name="TextBox 39"/>
            <p:cNvSpPr txBox="1"/>
            <p:nvPr/>
          </p:nvSpPr>
          <p:spPr>
            <a:xfrm>
              <a:off x="1765299" y="2895600"/>
              <a:ext cx="261610" cy="276999"/>
            </a:xfrm>
            <a:prstGeom prst="rect">
              <a:avLst/>
            </a:prstGeom>
            <a:noFill/>
          </p:spPr>
          <p:txBody>
            <a:bodyPr wrap="none" rtlCol="0">
              <a:spAutoFit/>
            </a:bodyPr>
            <a:lstStyle/>
            <a:p>
              <a:r>
                <a:rPr lang="en-US" dirty="0">
                  <a:solidFill>
                    <a:srgbClr val="000000"/>
                  </a:solidFill>
                </a:rPr>
                <a:t>3</a:t>
              </a:r>
            </a:p>
          </p:txBody>
        </p:sp>
        <p:sp>
          <p:nvSpPr>
            <p:cNvPr id="44" name="TextBox 43"/>
            <p:cNvSpPr txBox="1"/>
            <p:nvPr/>
          </p:nvSpPr>
          <p:spPr>
            <a:xfrm>
              <a:off x="1993899" y="3276600"/>
              <a:ext cx="261610" cy="276999"/>
            </a:xfrm>
            <a:prstGeom prst="rect">
              <a:avLst/>
            </a:prstGeom>
            <a:noFill/>
          </p:spPr>
          <p:txBody>
            <a:bodyPr wrap="none" rtlCol="0">
              <a:spAutoFit/>
            </a:bodyPr>
            <a:lstStyle/>
            <a:p>
              <a:r>
                <a:rPr lang="en-US" dirty="0">
                  <a:solidFill>
                    <a:srgbClr val="000000"/>
                  </a:solidFill>
                </a:rPr>
                <a:t>5</a:t>
              </a:r>
            </a:p>
          </p:txBody>
        </p:sp>
        <p:sp>
          <p:nvSpPr>
            <p:cNvPr id="45" name="TextBox 44"/>
            <p:cNvSpPr txBox="1"/>
            <p:nvPr/>
          </p:nvSpPr>
          <p:spPr>
            <a:xfrm>
              <a:off x="3441699" y="4038600"/>
              <a:ext cx="261610" cy="276999"/>
            </a:xfrm>
            <a:prstGeom prst="rect">
              <a:avLst/>
            </a:prstGeom>
            <a:noFill/>
          </p:spPr>
          <p:txBody>
            <a:bodyPr wrap="none" rtlCol="0">
              <a:spAutoFit/>
            </a:bodyPr>
            <a:lstStyle/>
            <a:p>
              <a:r>
                <a:rPr lang="en-US" dirty="0">
                  <a:solidFill>
                    <a:srgbClr val="000000"/>
                  </a:solidFill>
                </a:rPr>
                <a:t>6</a:t>
              </a:r>
            </a:p>
          </p:txBody>
        </p:sp>
        <p:sp>
          <p:nvSpPr>
            <p:cNvPr id="46" name="TextBox 45"/>
            <p:cNvSpPr txBox="1"/>
            <p:nvPr/>
          </p:nvSpPr>
          <p:spPr>
            <a:xfrm>
              <a:off x="3822699" y="4038600"/>
              <a:ext cx="304800" cy="276999"/>
            </a:xfrm>
            <a:prstGeom prst="rect">
              <a:avLst/>
            </a:prstGeom>
            <a:noFill/>
          </p:spPr>
          <p:txBody>
            <a:bodyPr wrap="square" rtlCol="0">
              <a:spAutoFit/>
            </a:bodyPr>
            <a:lstStyle/>
            <a:p>
              <a:r>
                <a:rPr lang="en-US" dirty="0">
                  <a:solidFill>
                    <a:srgbClr val="000000"/>
                  </a:solidFill>
                </a:rPr>
                <a:t>7</a:t>
              </a:r>
            </a:p>
          </p:txBody>
        </p:sp>
        <p:sp>
          <p:nvSpPr>
            <p:cNvPr id="47" name="TextBox 46"/>
            <p:cNvSpPr txBox="1"/>
            <p:nvPr/>
          </p:nvSpPr>
          <p:spPr>
            <a:xfrm>
              <a:off x="4889499" y="3657600"/>
              <a:ext cx="261610" cy="276999"/>
            </a:xfrm>
            <a:prstGeom prst="rect">
              <a:avLst/>
            </a:prstGeom>
            <a:noFill/>
          </p:spPr>
          <p:txBody>
            <a:bodyPr wrap="none" rtlCol="0">
              <a:spAutoFit/>
            </a:bodyPr>
            <a:lstStyle/>
            <a:p>
              <a:r>
                <a:rPr lang="en-US" dirty="0">
                  <a:solidFill>
                    <a:srgbClr val="000000"/>
                  </a:solidFill>
                </a:rPr>
                <a:t>8</a:t>
              </a:r>
            </a:p>
          </p:txBody>
        </p:sp>
        <p:sp>
          <p:nvSpPr>
            <p:cNvPr id="48" name="TextBox 47"/>
            <p:cNvSpPr txBox="1"/>
            <p:nvPr/>
          </p:nvSpPr>
          <p:spPr>
            <a:xfrm>
              <a:off x="5651499" y="2971800"/>
              <a:ext cx="261610" cy="276999"/>
            </a:xfrm>
            <a:prstGeom prst="rect">
              <a:avLst/>
            </a:prstGeom>
            <a:noFill/>
          </p:spPr>
          <p:txBody>
            <a:bodyPr wrap="none" rtlCol="0">
              <a:spAutoFit/>
            </a:bodyPr>
            <a:lstStyle/>
            <a:p>
              <a:r>
                <a:rPr lang="en-US" dirty="0">
                  <a:solidFill>
                    <a:srgbClr val="000000"/>
                  </a:solidFill>
                </a:rPr>
                <a:t>9</a:t>
              </a:r>
            </a:p>
          </p:txBody>
        </p:sp>
        <p:cxnSp>
          <p:nvCxnSpPr>
            <p:cNvPr id="52" name="Straight Connector 51"/>
            <p:cNvCxnSpPr>
              <a:stCxn id="8" idx="1"/>
              <a:endCxn id="29" idx="3"/>
            </p:cNvCxnSpPr>
            <p:nvPr/>
          </p:nvCxnSpPr>
          <p:spPr bwMode="auto">
            <a:xfrm flipH="1" flipV="1">
              <a:off x="1600200" y="2552700"/>
              <a:ext cx="1112977" cy="22397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53" name="TextBox 52"/>
            <p:cNvSpPr txBox="1"/>
            <p:nvPr/>
          </p:nvSpPr>
          <p:spPr>
            <a:xfrm>
              <a:off x="2590800" y="2514600"/>
              <a:ext cx="330138" cy="276999"/>
            </a:xfrm>
            <a:prstGeom prst="rect">
              <a:avLst/>
            </a:prstGeom>
            <a:noFill/>
          </p:spPr>
          <p:txBody>
            <a:bodyPr wrap="none" rtlCol="0">
              <a:spAutoFit/>
            </a:bodyPr>
            <a:lstStyle/>
            <a:p>
              <a:r>
                <a:rPr lang="en-US" dirty="0">
                  <a:solidFill>
                    <a:srgbClr val="000000"/>
                  </a:solidFill>
                </a:rPr>
                <a:t>11</a:t>
              </a:r>
            </a:p>
          </p:txBody>
        </p:sp>
      </p:grpSp>
      <p:sp>
        <p:nvSpPr>
          <p:cNvPr id="58" name="TextBox 57"/>
          <p:cNvSpPr txBox="1"/>
          <p:nvPr/>
        </p:nvSpPr>
        <p:spPr>
          <a:xfrm>
            <a:off x="990600" y="3657600"/>
            <a:ext cx="633632" cy="276999"/>
          </a:xfrm>
          <a:prstGeom prst="rect">
            <a:avLst/>
          </a:prstGeom>
          <a:noFill/>
        </p:spPr>
        <p:txBody>
          <a:bodyPr wrap="none" rtlCol="0">
            <a:spAutoFit/>
          </a:bodyPr>
          <a:lstStyle/>
          <a:p>
            <a:r>
              <a:rPr lang="en-US" dirty="0">
                <a:solidFill>
                  <a:srgbClr val="000000"/>
                </a:solidFill>
              </a:rPr>
              <a:t>Host A</a:t>
            </a:r>
          </a:p>
        </p:txBody>
      </p:sp>
      <p:cxnSp>
        <p:nvCxnSpPr>
          <p:cNvPr id="67" name="Straight Arrow Connector 66"/>
          <p:cNvCxnSpPr>
            <a:endCxn id="8" idx="0"/>
          </p:cNvCxnSpPr>
          <p:nvPr/>
        </p:nvCxnSpPr>
        <p:spPr bwMode="auto">
          <a:xfrm flipH="1">
            <a:off x="2946399" y="2971800"/>
            <a:ext cx="558801" cy="121920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70" name="Straight Arrow Connector 69"/>
          <p:cNvCxnSpPr/>
          <p:nvPr/>
        </p:nvCxnSpPr>
        <p:spPr bwMode="auto">
          <a:xfrm flipH="1">
            <a:off x="1828800" y="3276600"/>
            <a:ext cx="609600" cy="60960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73" name="Straight Connector 72"/>
          <p:cNvCxnSpPr>
            <a:stCxn id="10" idx="3"/>
            <a:endCxn id="33" idx="3"/>
          </p:cNvCxnSpPr>
          <p:nvPr/>
        </p:nvCxnSpPr>
        <p:spPr bwMode="auto">
          <a:xfrm flipH="1">
            <a:off x="2070099" y="4995722"/>
            <a:ext cx="1024078" cy="37637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75" name="TextBox 74"/>
          <p:cNvSpPr txBox="1"/>
          <p:nvPr/>
        </p:nvSpPr>
        <p:spPr>
          <a:xfrm flipH="1">
            <a:off x="2895600" y="4953001"/>
            <a:ext cx="381000" cy="276999"/>
          </a:xfrm>
          <a:prstGeom prst="rect">
            <a:avLst/>
          </a:prstGeom>
          <a:noFill/>
        </p:spPr>
        <p:txBody>
          <a:bodyPr wrap="square" rtlCol="0">
            <a:spAutoFit/>
          </a:bodyPr>
          <a:lstStyle/>
          <a:p>
            <a:r>
              <a:rPr lang="en-US" dirty="0">
                <a:solidFill>
                  <a:srgbClr val="000000"/>
                </a:solidFill>
              </a:rPr>
              <a:t>23</a:t>
            </a:r>
          </a:p>
        </p:txBody>
      </p:sp>
      <p:sp>
        <p:nvSpPr>
          <p:cNvPr id="5" name="TextBox 4"/>
          <p:cNvSpPr txBox="1"/>
          <p:nvPr/>
        </p:nvSpPr>
        <p:spPr>
          <a:xfrm>
            <a:off x="4343400" y="2743200"/>
            <a:ext cx="3962400" cy="584776"/>
          </a:xfrm>
          <a:prstGeom prst="rect">
            <a:avLst/>
          </a:prstGeom>
          <a:noFill/>
        </p:spPr>
        <p:txBody>
          <a:bodyPr wrap="square" rtlCol="0">
            <a:spAutoFit/>
          </a:bodyPr>
          <a:lstStyle/>
          <a:p>
            <a:r>
              <a:rPr lang="en-US" sz="1600" b="0" dirty="0">
                <a:solidFill>
                  <a:srgbClr val="000000"/>
                </a:solidFill>
              </a:rPr>
              <a:t>Addresses should be location-dependent, but route-independent </a:t>
            </a:r>
            <a:r>
              <a:rPr lang="en-US" b="0" dirty="0">
                <a:solidFill>
                  <a:srgbClr val="000000"/>
                </a:solidFill>
              </a:rPr>
              <a:t>(relative to the graph of the network)</a:t>
            </a:r>
          </a:p>
        </p:txBody>
      </p:sp>
      <p:sp>
        <p:nvSpPr>
          <p:cNvPr id="7" name="TextBox 6"/>
          <p:cNvSpPr txBox="1"/>
          <p:nvPr/>
        </p:nvSpPr>
        <p:spPr>
          <a:xfrm>
            <a:off x="5486400" y="3429000"/>
            <a:ext cx="2596484" cy="954107"/>
          </a:xfrm>
          <a:prstGeom prst="rect">
            <a:avLst/>
          </a:prstGeom>
          <a:noFill/>
        </p:spPr>
        <p:txBody>
          <a:bodyPr wrap="none" rtlCol="0">
            <a:spAutoFit/>
          </a:bodyPr>
          <a:lstStyle/>
          <a:p>
            <a:r>
              <a:rPr lang="en-US" sz="1400" b="0" dirty="0"/>
              <a:t>Telephones and terminals are</a:t>
            </a:r>
          </a:p>
          <a:p>
            <a:r>
              <a:rPr lang="en-US" sz="1400" b="0" dirty="0"/>
              <a:t>not really part of the network,</a:t>
            </a:r>
          </a:p>
          <a:p>
            <a:r>
              <a:rPr lang="en-US" sz="1400" b="0" dirty="0"/>
              <a:t>But hosts </a:t>
            </a:r>
            <a:r>
              <a:rPr lang="en-US" sz="1400" b="0" i="1" dirty="0"/>
              <a:t>are</a:t>
            </a:r>
            <a:r>
              <a:rPr lang="en-US" sz="1400" b="0" dirty="0"/>
              <a:t> part of the network.</a:t>
            </a:r>
          </a:p>
          <a:p>
            <a:r>
              <a:rPr lang="en-US" sz="1400" b="0" dirty="0"/>
              <a:t>They can participate in routing.</a:t>
            </a:r>
          </a:p>
        </p:txBody>
      </p:sp>
    </p:spTree>
    <p:extLst>
      <p:ext uri="{BB962C8B-B14F-4D97-AF65-F5344CB8AC3E}">
        <p14:creationId xmlns:p14="http://schemas.microsoft.com/office/powerpoint/2010/main" val="2803573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3">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build="p"/>
      <p:bldP spid="5"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Date Placeholder 3"/>
          <p:cNvSpPr>
            <a:spLocks noGrp="1"/>
          </p:cNvSpPr>
          <p:nvPr>
            <p:ph type="dt" sz="quarter" idx="10"/>
          </p:nvPr>
        </p:nvSpPr>
        <p:spPr/>
        <p:txBody>
          <a:bodyPr/>
          <a:lstStyle/>
          <a:p>
            <a:pPr>
              <a:defRPr/>
            </a:pPr>
            <a:fld id="{6FB7D1E3-DC0C-DE4A-A77C-544A4E17BD0B}" type="datetime3">
              <a:rPr lang="en-US"/>
              <a:pPr>
                <a:defRPr/>
              </a:pPr>
              <a:t>14 January 2026</a:t>
            </a:fld>
            <a:endParaRPr lang="en-US"/>
          </a:p>
        </p:txBody>
      </p:sp>
      <p:sp>
        <p:nvSpPr>
          <p:cNvPr id="13" name="Footer Placeholder 4"/>
          <p:cNvSpPr>
            <a:spLocks noGrp="1"/>
          </p:cNvSpPr>
          <p:nvPr>
            <p:ph type="ftr" sz="quarter" idx="11"/>
          </p:nvPr>
        </p:nvSpPr>
        <p:spPr/>
        <p:txBody>
          <a:bodyPr/>
          <a:lstStyle/>
          <a:p>
            <a:pPr>
              <a:defRPr/>
            </a:pPr>
            <a:r>
              <a:rPr lang="en-US"/>
              <a:t>.</a:t>
            </a:r>
          </a:p>
        </p:txBody>
      </p:sp>
      <p:sp>
        <p:nvSpPr>
          <p:cNvPr id="14" name="Slide Number Placeholder 5"/>
          <p:cNvSpPr>
            <a:spLocks noGrp="1"/>
          </p:cNvSpPr>
          <p:nvPr>
            <p:ph type="sldNum" sz="quarter" idx="12"/>
          </p:nvPr>
        </p:nvSpPr>
        <p:spPr/>
        <p:txBody>
          <a:bodyPr/>
          <a:lstStyle/>
          <a:p>
            <a:pPr>
              <a:defRPr/>
            </a:pPr>
            <a:fld id="{D29885E1-5F39-7A4B-8186-E54FEDBEC489}" type="slidenum">
              <a:rPr lang="en-US"/>
              <a:pPr>
                <a:defRPr/>
              </a:pPr>
              <a:t>8</a:t>
            </a:fld>
            <a:endParaRPr lang="en-US"/>
          </a:p>
        </p:txBody>
      </p:sp>
      <p:sp>
        <p:nvSpPr>
          <p:cNvPr id="440322" name="Rectangle 2"/>
          <p:cNvSpPr>
            <a:spLocks noGrp="1" noChangeArrowheads="1"/>
          </p:cNvSpPr>
          <p:nvPr>
            <p:ph type="title"/>
          </p:nvPr>
        </p:nvSpPr>
        <p:spPr>
          <a:xfrm>
            <a:off x="685800" y="0"/>
            <a:ext cx="7772400" cy="1143000"/>
          </a:xfrm>
        </p:spPr>
        <p:txBody>
          <a:bodyPr/>
          <a:lstStyle/>
          <a:p>
            <a:pPr>
              <a:defRPr/>
            </a:pPr>
            <a:r>
              <a:rPr lang="en-US" sz="3200">
                <a:cs typeface="+mj-cs"/>
              </a:rPr>
              <a:t>Operating Systems as a Guide</a:t>
            </a:r>
            <a:endParaRPr lang="en-US" sz="2800">
              <a:cs typeface="+mj-cs"/>
            </a:endParaRPr>
          </a:p>
        </p:txBody>
      </p:sp>
      <p:sp>
        <p:nvSpPr>
          <p:cNvPr id="440323" name="Rectangle 3"/>
          <p:cNvSpPr>
            <a:spLocks noGrp="1" noChangeArrowheads="1"/>
          </p:cNvSpPr>
          <p:nvPr>
            <p:ph type="body" idx="1"/>
          </p:nvPr>
        </p:nvSpPr>
        <p:spPr>
          <a:xfrm>
            <a:off x="609600" y="1143000"/>
            <a:ext cx="8305800" cy="3962400"/>
          </a:xfrm>
        </p:spPr>
        <p:txBody>
          <a:bodyPr/>
          <a:lstStyle/>
          <a:p>
            <a:pPr>
              <a:lnSpc>
                <a:spcPct val="90000"/>
              </a:lnSpc>
              <a:defRPr/>
            </a:pPr>
            <a:r>
              <a:rPr lang="en-US" sz="1800" dirty="0">
                <a:cs typeface="+mn-cs"/>
              </a:rPr>
              <a:t>The Early</a:t>
            </a:r>
            <a:r>
              <a:rPr lang="ja-JP" altLang="en-US" sz="1800">
                <a:latin typeface="Arial"/>
                <a:cs typeface="+mn-cs"/>
              </a:rPr>
              <a:t>‘</a:t>
            </a:r>
            <a:r>
              <a:rPr lang="en-US" sz="1800" dirty="0">
                <a:cs typeface="+mn-cs"/>
              </a:rPr>
              <a:t>Net was built by Operating Systems jocks, not data-</a:t>
            </a:r>
            <a:r>
              <a:rPr lang="en-US" sz="1800" dirty="0" err="1">
                <a:cs typeface="+mn-cs"/>
              </a:rPr>
              <a:t>comm</a:t>
            </a:r>
            <a:r>
              <a:rPr lang="en-US" sz="1800" dirty="0">
                <a:cs typeface="+mn-cs"/>
              </a:rPr>
              <a:t> jocks and was always seen as a peer system with analogies to OSs. </a:t>
            </a:r>
          </a:p>
          <a:p>
            <a:pPr>
              <a:lnSpc>
                <a:spcPct val="90000"/>
              </a:lnSpc>
              <a:defRPr/>
            </a:pPr>
            <a:r>
              <a:rPr lang="en-US" sz="1800" dirty="0">
                <a:cs typeface="+mn-cs"/>
              </a:rPr>
              <a:t>The solution to </a:t>
            </a:r>
            <a:r>
              <a:rPr lang="en-US" sz="1800" dirty="0" err="1">
                <a:cs typeface="+mn-cs"/>
              </a:rPr>
              <a:t>multihoming</a:t>
            </a:r>
            <a:r>
              <a:rPr lang="en-US" sz="1800" dirty="0">
                <a:cs typeface="+mn-cs"/>
              </a:rPr>
              <a:t> was obvious as soon as we saw it. By analogy:</a:t>
            </a:r>
          </a:p>
          <a:p>
            <a:pPr marL="1085850" lvl="2">
              <a:lnSpc>
                <a:spcPct val="90000"/>
              </a:lnSpc>
              <a:defRPr/>
            </a:pPr>
            <a:r>
              <a:rPr lang="en-US" sz="1400" dirty="0"/>
              <a:t>Application Names</a:t>
            </a:r>
          </a:p>
          <a:p>
            <a:pPr marL="1085850" lvl="2">
              <a:lnSpc>
                <a:spcPct val="90000"/>
              </a:lnSpc>
              <a:defRPr/>
            </a:pPr>
            <a:r>
              <a:rPr lang="en-US" sz="1400" dirty="0"/>
              <a:t>Virtual Addresses (nodes)</a:t>
            </a:r>
          </a:p>
          <a:p>
            <a:pPr marL="1085850" lvl="2">
              <a:lnSpc>
                <a:spcPct val="90000"/>
              </a:lnSpc>
              <a:defRPr/>
            </a:pPr>
            <a:r>
              <a:rPr lang="en-US" sz="1400" dirty="0"/>
              <a:t>Physical Addresses (interface)</a:t>
            </a:r>
          </a:p>
          <a:p>
            <a:pPr marL="1085850" lvl="2">
              <a:lnSpc>
                <a:spcPct val="90000"/>
              </a:lnSpc>
              <a:defRPr/>
            </a:pPr>
            <a:r>
              <a:rPr lang="en-US" sz="1400" dirty="0"/>
              <a:t>Routes were in the hardware!</a:t>
            </a:r>
          </a:p>
          <a:p>
            <a:pPr>
              <a:lnSpc>
                <a:spcPct val="90000"/>
              </a:lnSpc>
              <a:defRPr/>
            </a:pPr>
            <a:r>
              <a:rPr lang="en-US" sz="1800" dirty="0">
                <a:cs typeface="+mn-cs"/>
              </a:rPr>
              <a:t>Addresses need to name the node, not the port.</a:t>
            </a:r>
          </a:p>
          <a:p>
            <a:pPr lvl="1">
              <a:lnSpc>
                <a:spcPct val="90000"/>
              </a:lnSpc>
              <a:defRPr/>
            </a:pPr>
            <a:r>
              <a:rPr lang="en-US" sz="1600" dirty="0"/>
              <a:t>This problem had not existed in the phone network.</a:t>
            </a:r>
          </a:p>
          <a:p>
            <a:pPr lvl="1">
              <a:lnSpc>
                <a:spcPct val="90000"/>
              </a:lnSpc>
              <a:defRPr/>
            </a:pPr>
            <a:endParaRPr lang="en-US" sz="1800" dirty="0"/>
          </a:p>
          <a:p>
            <a:pPr lvl="1">
              <a:lnSpc>
                <a:spcPct val="90000"/>
              </a:lnSpc>
              <a:defRPr/>
            </a:pPr>
            <a:endParaRPr lang="en-US" sz="1800" dirty="0"/>
          </a:p>
          <a:p>
            <a:pPr lvl="1">
              <a:lnSpc>
                <a:spcPct val="90000"/>
              </a:lnSpc>
              <a:defRPr/>
            </a:pPr>
            <a:endParaRPr lang="en-US" sz="1800" dirty="0"/>
          </a:p>
          <a:p>
            <a:pPr>
              <a:lnSpc>
                <a:spcPct val="90000"/>
              </a:lnSpc>
              <a:defRPr/>
            </a:pPr>
            <a:r>
              <a:rPr lang="en-US" sz="1800" dirty="0">
                <a:cs typeface="+mn-cs"/>
              </a:rPr>
              <a:t>So if We have known the answer since 1972, why haven</a:t>
            </a:r>
            <a:r>
              <a:rPr lang="en-US" sz="1800" dirty="0">
                <a:latin typeface="Arial"/>
                <a:cs typeface="+mn-cs"/>
              </a:rPr>
              <a:t>’</a:t>
            </a:r>
            <a:r>
              <a:rPr lang="en-US" sz="1800" dirty="0">
                <a:cs typeface="+mn-cs"/>
              </a:rPr>
              <a:t>t we fixed it?</a:t>
            </a:r>
          </a:p>
          <a:p>
            <a:pPr lvl="1">
              <a:lnSpc>
                <a:spcPct val="90000"/>
              </a:lnSpc>
              <a:defRPr/>
            </a:pPr>
            <a:r>
              <a:rPr lang="en-US" sz="1600" dirty="0"/>
              <a:t>Hubris, Force of Tradition, but primarily the Failure of University Education</a:t>
            </a:r>
          </a:p>
          <a:p>
            <a:pPr lvl="1">
              <a:lnSpc>
                <a:spcPct val="90000"/>
              </a:lnSpc>
              <a:defRPr/>
            </a:pPr>
            <a:r>
              <a:rPr lang="en-US" sz="1600" dirty="0"/>
              <a:t>And now they would have to admit they were wrong.</a:t>
            </a:r>
          </a:p>
        </p:txBody>
      </p:sp>
      <p:grpSp>
        <p:nvGrpSpPr>
          <p:cNvPr id="440324" name="Group 4"/>
          <p:cNvGrpSpPr>
            <a:grpSpLocks/>
          </p:cNvGrpSpPr>
          <p:nvPr/>
        </p:nvGrpSpPr>
        <p:grpSpPr bwMode="auto">
          <a:xfrm>
            <a:off x="2133600" y="3657600"/>
            <a:ext cx="2381250" cy="731838"/>
            <a:chOff x="1776" y="3696"/>
            <a:chExt cx="1500" cy="461"/>
          </a:xfrm>
        </p:grpSpPr>
        <p:sp>
          <p:nvSpPr>
            <p:cNvPr id="440325" name="Line 5"/>
            <p:cNvSpPr>
              <a:spLocks noChangeShapeType="1"/>
            </p:cNvSpPr>
            <p:nvPr/>
          </p:nvSpPr>
          <p:spPr bwMode="auto">
            <a:xfrm>
              <a:off x="2064" y="3811"/>
              <a:ext cx="192" cy="288"/>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0326" name="Line 6"/>
            <p:cNvSpPr>
              <a:spLocks noChangeShapeType="1"/>
            </p:cNvSpPr>
            <p:nvPr/>
          </p:nvSpPr>
          <p:spPr bwMode="auto">
            <a:xfrm flipH="1">
              <a:off x="1872" y="3811"/>
              <a:ext cx="144" cy="24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0327" name="Rectangle 7"/>
            <p:cNvSpPr>
              <a:spLocks noChangeArrowheads="1"/>
            </p:cNvSpPr>
            <p:nvPr/>
          </p:nvSpPr>
          <p:spPr bwMode="auto">
            <a:xfrm>
              <a:off x="1968" y="3715"/>
              <a:ext cx="144"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0328" name="Rectangle 8"/>
            <p:cNvSpPr>
              <a:spLocks noChangeArrowheads="1"/>
            </p:cNvSpPr>
            <p:nvPr/>
          </p:nvSpPr>
          <p:spPr bwMode="auto">
            <a:xfrm>
              <a:off x="2160" y="4003"/>
              <a:ext cx="144"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0329" name="Rectangle 9"/>
            <p:cNvSpPr>
              <a:spLocks noChangeArrowheads="1"/>
            </p:cNvSpPr>
            <p:nvPr/>
          </p:nvSpPr>
          <p:spPr bwMode="auto">
            <a:xfrm>
              <a:off x="1776" y="4003"/>
              <a:ext cx="144"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0330" name="Text Box 10"/>
            <p:cNvSpPr txBox="1">
              <a:spLocks noChangeArrowheads="1"/>
            </p:cNvSpPr>
            <p:nvPr/>
          </p:nvSpPr>
          <p:spPr bwMode="auto">
            <a:xfrm>
              <a:off x="2496" y="3696"/>
              <a:ext cx="668"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a:cs typeface="+mn-cs"/>
                </a:rPr>
                <a:t>Node address</a:t>
              </a:r>
            </a:p>
          </p:txBody>
        </p:sp>
        <p:sp>
          <p:nvSpPr>
            <p:cNvPr id="440331" name="Text Box 11"/>
            <p:cNvSpPr txBox="1">
              <a:spLocks noChangeArrowheads="1"/>
            </p:cNvSpPr>
            <p:nvPr/>
          </p:nvSpPr>
          <p:spPr bwMode="auto">
            <a:xfrm>
              <a:off x="2448" y="3984"/>
              <a:ext cx="828"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a:cs typeface="+mn-cs"/>
                </a:rPr>
                <a:t>Interface address</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40323">
                                            <p:txEl>
                                              <p:pRg st="0" end="0"/>
                                            </p:txEl>
                                          </p:spTgt>
                                        </p:tgtEl>
                                        <p:attrNameLst>
                                          <p:attrName>style.visibility</p:attrName>
                                        </p:attrNameLst>
                                      </p:cBhvr>
                                      <p:to>
                                        <p:strVal val="visible"/>
                                      </p:to>
                                    </p:set>
                                    <p:anim calcmode="lin" valueType="num">
                                      <p:cBhvr additive="base">
                                        <p:cTn id="7" dur="500" fill="hold"/>
                                        <p:tgtEl>
                                          <p:spTgt spid="4403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403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40323">
                                            <p:txEl>
                                              <p:pRg st="1" end="1"/>
                                            </p:txEl>
                                          </p:spTgt>
                                        </p:tgtEl>
                                        <p:attrNameLst>
                                          <p:attrName>style.visibility</p:attrName>
                                        </p:attrNameLst>
                                      </p:cBhvr>
                                      <p:to>
                                        <p:strVal val="visible"/>
                                      </p:to>
                                    </p:set>
                                    <p:anim calcmode="lin" valueType="num">
                                      <p:cBhvr additive="base">
                                        <p:cTn id="13" dur="500" fill="hold"/>
                                        <p:tgtEl>
                                          <p:spTgt spid="44032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40323">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440323">
                                            <p:txEl>
                                              <p:pRg st="2" end="2"/>
                                            </p:txEl>
                                          </p:spTgt>
                                        </p:tgtEl>
                                        <p:attrNameLst>
                                          <p:attrName>style.visibility</p:attrName>
                                        </p:attrNameLst>
                                      </p:cBhvr>
                                      <p:to>
                                        <p:strVal val="visible"/>
                                      </p:to>
                                    </p:set>
                                    <p:anim calcmode="lin" valueType="num">
                                      <p:cBhvr additive="base">
                                        <p:cTn id="17" dur="500" fill="hold"/>
                                        <p:tgtEl>
                                          <p:spTgt spid="440323">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440323">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440323">
                                            <p:txEl>
                                              <p:pRg st="3" end="3"/>
                                            </p:txEl>
                                          </p:spTgt>
                                        </p:tgtEl>
                                        <p:attrNameLst>
                                          <p:attrName>style.visibility</p:attrName>
                                        </p:attrNameLst>
                                      </p:cBhvr>
                                      <p:to>
                                        <p:strVal val="visible"/>
                                      </p:to>
                                    </p:set>
                                    <p:anim calcmode="lin" valueType="num">
                                      <p:cBhvr additive="base">
                                        <p:cTn id="21" dur="500" fill="hold"/>
                                        <p:tgtEl>
                                          <p:spTgt spid="440323">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440323">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440323">
                                            <p:txEl>
                                              <p:pRg st="4" end="4"/>
                                            </p:txEl>
                                          </p:spTgt>
                                        </p:tgtEl>
                                        <p:attrNameLst>
                                          <p:attrName>style.visibility</p:attrName>
                                        </p:attrNameLst>
                                      </p:cBhvr>
                                      <p:to>
                                        <p:strVal val="visible"/>
                                      </p:to>
                                    </p:set>
                                    <p:anim calcmode="lin" valueType="num">
                                      <p:cBhvr additive="base">
                                        <p:cTn id="25" dur="500" fill="hold"/>
                                        <p:tgtEl>
                                          <p:spTgt spid="440323">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40323">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440323">
                                            <p:txEl>
                                              <p:pRg st="5" end="5"/>
                                            </p:txEl>
                                          </p:spTgt>
                                        </p:tgtEl>
                                        <p:attrNameLst>
                                          <p:attrName>style.visibility</p:attrName>
                                        </p:attrNameLst>
                                      </p:cBhvr>
                                      <p:to>
                                        <p:strVal val="visible"/>
                                      </p:to>
                                    </p:set>
                                    <p:anim calcmode="lin" valueType="num">
                                      <p:cBhvr additive="base">
                                        <p:cTn id="29" dur="500" fill="hold"/>
                                        <p:tgtEl>
                                          <p:spTgt spid="440323">
                                            <p:txEl>
                                              <p:pRg st="5" end="5"/>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44032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440323">
                                            <p:txEl>
                                              <p:pRg st="6" end="6"/>
                                            </p:txEl>
                                          </p:spTgt>
                                        </p:tgtEl>
                                        <p:attrNameLst>
                                          <p:attrName>style.visibility</p:attrName>
                                        </p:attrNameLst>
                                      </p:cBhvr>
                                      <p:to>
                                        <p:strVal val="visible"/>
                                      </p:to>
                                    </p:set>
                                    <p:anim calcmode="lin" valueType="num">
                                      <p:cBhvr additive="base">
                                        <p:cTn id="35" dur="500" fill="hold"/>
                                        <p:tgtEl>
                                          <p:spTgt spid="440323">
                                            <p:txEl>
                                              <p:pRg st="6" end="6"/>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440323">
                                            <p:txEl>
                                              <p:pRg st="6" end="6"/>
                                            </p:txEl>
                                          </p:spTgt>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440323">
                                            <p:txEl>
                                              <p:pRg st="7" end="7"/>
                                            </p:txEl>
                                          </p:spTgt>
                                        </p:tgtEl>
                                        <p:attrNameLst>
                                          <p:attrName>style.visibility</p:attrName>
                                        </p:attrNameLst>
                                      </p:cBhvr>
                                      <p:to>
                                        <p:strVal val="visible"/>
                                      </p:to>
                                    </p:set>
                                    <p:anim calcmode="lin" valueType="num">
                                      <p:cBhvr additive="base">
                                        <p:cTn id="39" dur="500" fill="hold"/>
                                        <p:tgtEl>
                                          <p:spTgt spid="440323">
                                            <p:txEl>
                                              <p:pRg st="7" end="7"/>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440323">
                                            <p:txEl>
                                              <p:pRg st="7" end="7"/>
                                            </p:txEl>
                                          </p:spTgt>
                                        </p:tgtEl>
                                        <p:attrNameLst>
                                          <p:attrName>ppt_y</p:attrName>
                                        </p:attrNameLst>
                                      </p:cBhvr>
                                      <p:tavLst>
                                        <p:tav tm="0">
                                          <p:val>
                                            <p:strVal val="#ppt_y"/>
                                          </p:val>
                                        </p:tav>
                                        <p:tav tm="100000">
                                          <p:val>
                                            <p:strVal val="#ppt_y"/>
                                          </p:val>
                                        </p:tav>
                                      </p:tavLst>
                                    </p:anim>
                                  </p:childTnLst>
                                </p:cTn>
                              </p:par>
                              <p:par>
                                <p:cTn id="41" presetID="2" presetClass="entr" presetSubtype="8" fill="hold" nodeType="withEffect">
                                  <p:stCondLst>
                                    <p:cond delay="0"/>
                                  </p:stCondLst>
                                  <p:childTnLst>
                                    <p:set>
                                      <p:cBhvr>
                                        <p:cTn id="42" dur="1" fill="hold">
                                          <p:stCondLst>
                                            <p:cond delay="0"/>
                                          </p:stCondLst>
                                        </p:cTn>
                                        <p:tgtEl>
                                          <p:spTgt spid="440324"/>
                                        </p:tgtEl>
                                        <p:attrNameLst>
                                          <p:attrName>style.visibility</p:attrName>
                                        </p:attrNameLst>
                                      </p:cBhvr>
                                      <p:to>
                                        <p:strVal val="visible"/>
                                      </p:to>
                                    </p:set>
                                    <p:anim calcmode="lin" valueType="num">
                                      <p:cBhvr additive="base">
                                        <p:cTn id="43" dur="500" fill="hold"/>
                                        <p:tgtEl>
                                          <p:spTgt spid="440324"/>
                                        </p:tgtEl>
                                        <p:attrNameLst>
                                          <p:attrName>ppt_x</p:attrName>
                                        </p:attrNameLst>
                                      </p:cBhvr>
                                      <p:tavLst>
                                        <p:tav tm="0">
                                          <p:val>
                                            <p:strVal val="0-#ppt_w/2"/>
                                          </p:val>
                                        </p:tav>
                                        <p:tav tm="100000">
                                          <p:val>
                                            <p:strVal val="#ppt_x"/>
                                          </p:val>
                                        </p:tav>
                                      </p:tavLst>
                                    </p:anim>
                                    <p:anim calcmode="lin" valueType="num">
                                      <p:cBhvr additive="base">
                                        <p:cTn id="44" dur="500" fill="hold"/>
                                        <p:tgtEl>
                                          <p:spTgt spid="440324"/>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440323">
                                            <p:txEl>
                                              <p:pRg st="11" end="11"/>
                                            </p:txEl>
                                          </p:spTgt>
                                        </p:tgtEl>
                                        <p:attrNameLst>
                                          <p:attrName>style.visibility</p:attrName>
                                        </p:attrNameLst>
                                      </p:cBhvr>
                                      <p:to>
                                        <p:strVal val="visible"/>
                                      </p:to>
                                    </p:set>
                                    <p:anim calcmode="lin" valueType="num">
                                      <p:cBhvr additive="base">
                                        <p:cTn id="47" dur="500" fill="hold"/>
                                        <p:tgtEl>
                                          <p:spTgt spid="440323">
                                            <p:txEl>
                                              <p:pRg st="11" end="11"/>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440323">
                                            <p:txEl>
                                              <p:pRg st="11" end="11"/>
                                            </p:txEl>
                                          </p:spTgt>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0"/>
                                  </p:stCondLst>
                                  <p:childTnLst>
                                    <p:set>
                                      <p:cBhvr>
                                        <p:cTn id="50" dur="1" fill="hold">
                                          <p:stCondLst>
                                            <p:cond delay="0"/>
                                          </p:stCondLst>
                                        </p:cTn>
                                        <p:tgtEl>
                                          <p:spTgt spid="440323">
                                            <p:txEl>
                                              <p:pRg st="12" end="12"/>
                                            </p:txEl>
                                          </p:spTgt>
                                        </p:tgtEl>
                                        <p:attrNameLst>
                                          <p:attrName>style.visibility</p:attrName>
                                        </p:attrNameLst>
                                      </p:cBhvr>
                                      <p:to>
                                        <p:strVal val="visible"/>
                                      </p:to>
                                    </p:set>
                                    <p:anim calcmode="lin" valueType="num">
                                      <p:cBhvr additive="base">
                                        <p:cTn id="51" dur="500" fill="hold"/>
                                        <p:tgtEl>
                                          <p:spTgt spid="440323">
                                            <p:txEl>
                                              <p:pRg st="12" end="12"/>
                                            </p:txEl>
                                          </p:spTgt>
                                        </p:tgtEl>
                                        <p:attrNameLst>
                                          <p:attrName>ppt_x</p:attrName>
                                        </p:attrNameLst>
                                      </p:cBhvr>
                                      <p:tavLst>
                                        <p:tav tm="0">
                                          <p:val>
                                            <p:strVal val="0-#ppt_w/2"/>
                                          </p:val>
                                        </p:tav>
                                        <p:tav tm="100000">
                                          <p:val>
                                            <p:strVal val="#ppt_x"/>
                                          </p:val>
                                        </p:tav>
                                      </p:tavLst>
                                    </p:anim>
                                    <p:anim calcmode="lin" valueType="num">
                                      <p:cBhvr additive="base">
                                        <p:cTn id="52" dur="500" fill="hold"/>
                                        <p:tgtEl>
                                          <p:spTgt spid="440323">
                                            <p:txEl>
                                              <p:pRg st="12" end="12"/>
                                            </p:txEl>
                                          </p:spTgt>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0"/>
                                  </p:stCondLst>
                                  <p:childTnLst>
                                    <p:set>
                                      <p:cBhvr>
                                        <p:cTn id="54" dur="1" fill="hold">
                                          <p:stCondLst>
                                            <p:cond delay="0"/>
                                          </p:stCondLst>
                                        </p:cTn>
                                        <p:tgtEl>
                                          <p:spTgt spid="440323">
                                            <p:txEl>
                                              <p:pRg st="13" end="13"/>
                                            </p:txEl>
                                          </p:spTgt>
                                        </p:tgtEl>
                                        <p:attrNameLst>
                                          <p:attrName>style.visibility</p:attrName>
                                        </p:attrNameLst>
                                      </p:cBhvr>
                                      <p:to>
                                        <p:strVal val="visible"/>
                                      </p:to>
                                    </p:set>
                                    <p:anim calcmode="lin" valueType="num">
                                      <p:cBhvr additive="base">
                                        <p:cTn id="55" dur="500" fill="hold"/>
                                        <p:tgtEl>
                                          <p:spTgt spid="440323">
                                            <p:txEl>
                                              <p:pRg st="13" end="13"/>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440323">
                                            <p:txEl>
                                              <p:pRg st="13" end="1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23"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0CD22755-4C00-9E4F-BF8F-FBB0125B3959}" type="datetime3">
              <a:rPr lang="en-US"/>
              <a:pPr>
                <a:defRPr/>
              </a:pPr>
              <a:t>14 January 2026</a:t>
            </a:fld>
            <a:endParaRPr lang="en-US"/>
          </a:p>
        </p:txBody>
      </p:sp>
      <p:sp>
        <p:nvSpPr>
          <p:cNvPr id="5" name="Footer Placeholder 4"/>
          <p:cNvSpPr>
            <a:spLocks noGrp="1"/>
          </p:cNvSpPr>
          <p:nvPr>
            <p:ph type="ftr" sz="quarter" idx="11"/>
          </p:nvPr>
        </p:nvSpPr>
        <p:spPr/>
        <p:txBody>
          <a:bodyPr/>
          <a:lstStyle/>
          <a:p>
            <a:pPr>
              <a:defRPr/>
            </a:pPr>
            <a:r>
              <a:rPr lang="en-US"/>
              <a:t>.</a:t>
            </a:r>
          </a:p>
        </p:txBody>
      </p:sp>
      <p:sp>
        <p:nvSpPr>
          <p:cNvPr id="6" name="Slide Number Placeholder 5"/>
          <p:cNvSpPr>
            <a:spLocks noGrp="1"/>
          </p:cNvSpPr>
          <p:nvPr>
            <p:ph type="sldNum" sz="quarter" idx="12"/>
          </p:nvPr>
        </p:nvSpPr>
        <p:spPr/>
        <p:txBody>
          <a:bodyPr/>
          <a:lstStyle/>
          <a:p>
            <a:pPr>
              <a:defRPr/>
            </a:pPr>
            <a:fld id="{A3E06734-1AB7-8245-A8F2-0F0247A7E203}" type="slidenum">
              <a:rPr lang="en-US"/>
              <a:pPr>
                <a:defRPr/>
              </a:pPr>
              <a:t>9</a:t>
            </a:fld>
            <a:endParaRPr lang="en-US"/>
          </a:p>
        </p:txBody>
      </p:sp>
      <p:sp>
        <p:nvSpPr>
          <p:cNvPr id="496642" name="Rectangle 2"/>
          <p:cNvSpPr>
            <a:spLocks noGrp="1" noChangeArrowheads="1"/>
          </p:cNvSpPr>
          <p:nvPr>
            <p:ph type="title"/>
          </p:nvPr>
        </p:nvSpPr>
        <p:spPr>
          <a:xfrm>
            <a:off x="685800" y="228600"/>
            <a:ext cx="7772400" cy="1143000"/>
          </a:xfrm>
        </p:spPr>
        <p:txBody>
          <a:bodyPr/>
          <a:lstStyle/>
          <a:p>
            <a:pPr>
              <a:defRPr/>
            </a:pPr>
            <a:r>
              <a:rPr lang="en-US" sz="2800">
                <a:cs typeface="+mj-cs"/>
              </a:rPr>
              <a:t>Learned a Few Things</a:t>
            </a:r>
          </a:p>
        </p:txBody>
      </p:sp>
      <p:sp>
        <p:nvSpPr>
          <p:cNvPr id="496643" name="Rectangle 3"/>
          <p:cNvSpPr>
            <a:spLocks noGrp="1" noChangeArrowheads="1"/>
          </p:cNvSpPr>
          <p:nvPr>
            <p:ph type="body" idx="1"/>
          </p:nvPr>
        </p:nvSpPr>
        <p:spPr>
          <a:xfrm>
            <a:off x="685800" y="1143000"/>
            <a:ext cx="7772400" cy="4114800"/>
          </a:xfrm>
        </p:spPr>
        <p:txBody>
          <a:bodyPr/>
          <a:lstStyle/>
          <a:p>
            <a:pPr>
              <a:defRPr/>
            </a:pPr>
            <a:r>
              <a:rPr lang="en-US" sz="2000" dirty="0">
                <a:cs typeface="+mn-cs"/>
              </a:rPr>
              <a:t>John </a:t>
            </a:r>
            <a:r>
              <a:rPr lang="en-US" sz="2000" dirty="0" err="1">
                <a:cs typeface="+mn-cs"/>
              </a:rPr>
              <a:t>Shoch</a:t>
            </a:r>
            <a:r>
              <a:rPr lang="en-US" sz="2000" dirty="0">
                <a:cs typeface="+mn-cs"/>
              </a:rPr>
              <a:t> (1978) pointed out that</a:t>
            </a:r>
          </a:p>
          <a:p>
            <a:pPr lvl="1">
              <a:defRPr/>
            </a:pPr>
            <a:r>
              <a:rPr lang="en-US" sz="1600" dirty="0"/>
              <a:t>Application Names indicate </a:t>
            </a:r>
            <a:r>
              <a:rPr lang="en-US" sz="1600" i="1" dirty="0"/>
              <a:t>what</a:t>
            </a:r>
            <a:r>
              <a:rPr lang="en-US" sz="1600" dirty="0"/>
              <a:t>.</a:t>
            </a:r>
          </a:p>
          <a:p>
            <a:pPr lvl="1">
              <a:defRPr/>
            </a:pPr>
            <a:r>
              <a:rPr lang="en-US" sz="1600" dirty="0"/>
              <a:t>Network Addresses indicate </a:t>
            </a:r>
            <a:r>
              <a:rPr lang="en-US" sz="1600" i="1" dirty="0"/>
              <a:t>where</a:t>
            </a:r>
            <a:r>
              <a:rPr lang="en-US" sz="1600" dirty="0"/>
              <a:t>.</a:t>
            </a:r>
          </a:p>
          <a:p>
            <a:pPr lvl="1">
              <a:defRPr/>
            </a:pPr>
            <a:r>
              <a:rPr lang="en-US" sz="1600" dirty="0"/>
              <a:t>Routes indicate </a:t>
            </a:r>
            <a:r>
              <a:rPr lang="en-US" sz="1600" i="1" dirty="0"/>
              <a:t>how</a:t>
            </a:r>
            <a:r>
              <a:rPr lang="en-US" sz="1600" dirty="0"/>
              <a:t> to get there.</a:t>
            </a:r>
          </a:p>
          <a:p>
            <a:pPr>
              <a:defRPr/>
            </a:pPr>
            <a:r>
              <a:rPr lang="en-US" sz="2000" dirty="0">
                <a:cs typeface="+mn-cs"/>
              </a:rPr>
              <a:t>The Scope of Layers tends to increase the higher in the Architecture</a:t>
            </a:r>
          </a:p>
          <a:p>
            <a:pPr>
              <a:defRPr/>
            </a:pPr>
            <a:r>
              <a:rPr lang="en-US" sz="2000" dirty="0">
                <a:cs typeface="+mn-cs"/>
              </a:rPr>
              <a:t>An Address only has to be unambiguous within the scope of a layer.</a:t>
            </a:r>
          </a:p>
          <a:p>
            <a:pPr lvl="1">
              <a:defRPr/>
            </a:pPr>
            <a:r>
              <a:rPr lang="en-US" sz="1600" dirty="0"/>
              <a:t>MAC addresses are 3 times longer than they need to be.</a:t>
            </a:r>
          </a:p>
          <a:p>
            <a:pPr>
              <a:defRPr/>
            </a:pPr>
            <a:r>
              <a:rPr lang="en-US" sz="2000" dirty="0">
                <a:cs typeface="+mn-cs"/>
              </a:rPr>
              <a:t>Addresses must be assigned when a device joins a network, </a:t>
            </a:r>
          </a:p>
          <a:p>
            <a:pPr lvl="1">
              <a:defRPr/>
            </a:pPr>
            <a:r>
              <a:rPr lang="en-US" sz="1600" dirty="0"/>
              <a:t>In most cases, addresses must be assigned by the network.</a:t>
            </a:r>
          </a:p>
          <a:p>
            <a:pPr lvl="2">
              <a:defRPr/>
            </a:pPr>
            <a:r>
              <a:rPr lang="en-US" sz="1400" dirty="0"/>
              <a:t>Only the network knows </a:t>
            </a:r>
            <a:r>
              <a:rPr lang="en-US" sz="1400" i="1" dirty="0"/>
              <a:t>where</a:t>
            </a:r>
            <a:r>
              <a:rPr lang="en-US" sz="1400" dirty="0"/>
              <a:t> the device is relative to </a:t>
            </a:r>
            <a:r>
              <a:rPr lang="en-US" sz="1400" i="1" dirty="0"/>
              <a:t>its</a:t>
            </a:r>
            <a:r>
              <a:rPr lang="en-US" sz="1400" dirty="0"/>
              <a:t> structure.  </a:t>
            </a:r>
          </a:p>
          <a:p>
            <a:pPr lvl="3">
              <a:defRPr/>
            </a:pPr>
            <a:r>
              <a:rPr lang="en-US" sz="1400" dirty="0"/>
              <a:t>(There are exceptions, but in general this is the case.)</a:t>
            </a:r>
          </a:p>
          <a:p>
            <a:pPr lvl="1">
              <a:defRPr/>
            </a:pPr>
            <a:r>
              <a:rPr lang="en-US" sz="1600" dirty="0"/>
              <a:t>Any identifiers assigned at manufacture are not addresses.</a:t>
            </a:r>
          </a:p>
          <a:p>
            <a:pPr>
              <a:defRPr/>
            </a:pPr>
            <a:r>
              <a:rPr lang="en-US" sz="2000" dirty="0">
                <a:cs typeface="+mn-cs"/>
              </a:rPr>
              <a:t>Don</a:t>
            </a:r>
            <a:r>
              <a:rPr lang="en-US" sz="2000" dirty="0">
                <a:latin typeface="Arial"/>
                <a:cs typeface="+mn-cs"/>
              </a:rPr>
              <a:t>’</a:t>
            </a:r>
            <a:r>
              <a:rPr lang="en-US" sz="2000" dirty="0">
                <a:cs typeface="+mn-cs"/>
              </a:rPr>
              <a:t>t define an address by concatenating an identifier in this layer with one from the lower layer, i.e., don</a:t>
            </a:r>
            <a:r>
              <a:rPr lang="en-US" sz="2000" dirty="0">
                <a:latin typeface="Arial"/>
                <a:cs typeface="+mn-cs"/>
              </a:rPr>
              <a:t>’</a:t>
            </a:r>
            <a:r>
              <a:rPr lang="en-US" sz="2000" dirty="0">
                <a:cs typeface="+mn-cs"/>
              </a:rPr>
              <a:t>t put embed MAC addresses in IP addresses.</a:t>
            </a:r>
          </a:p>
          <a:p>
            <a:pPr lvl="1">
              <a:defRPr/>
            </a:pPr>
            <a:r>
              <a:rPr lang="en-US" sz="1600" dirty="0"/>
              <a:t>Why? Because it makes a </a:t>
            </a:r>
            <a:r>
              <a:rPr lang="en-US" sz="1600" i="1" dirty="0"/>
              <a:t>pathname</a:t>
            </a:r>
            <a:r>
              <a:rPr lang="en-US" sz="1600" dirty="0"/>
              <a:t>, route-dependent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96643">
                                            <p:txEl>
                                              <p:pRg st="0" end="0"/>
                                            </p:txEl>
                                          </p:spTgt>
                                        </p:tgtEl>
                                        <p:attrNameLst>
                                          <p:attrName>style.visibility</p:attrName>
                                        </p:attrNameLst>
                                      </p:cBhvr>
                                      <p:to>
                                        <p:strVal val="visible"/>
                                      </p:to>
                                    </p:set>
                                    <p:anim calcmode="lin" valueType="num">
                                      <p:cBhvr additive="base">
                                        <p:cTn id="7" dur="500" fill="hold"/>
                                        <p:tgtEl>
                                          <p:spTgt spid="4966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9664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496643">
                                            <p:txEl>
                                              <p:pRg st="1" end="1"/>
                                            </p:txEl>
                                          </p:spTgt>
                                        </p:tgtEl>
                                        <p:attrNameLst>
                                          <p:attrName>style.visibility</p:attrName>
                                        </p:attrNameLst>
                                      </p:cBhvr>
                                      <p:to>
                                        <p:strVal val="visible"/>
                                      </p:to>
                                    </p:set>
                                    <p:anim calcmode="lin" valueType="num">
                                      <p:cBhvr additive="base">
                                        <p:cTn id="11" dur="500" fill="hold"/>
                                        <p:tgtEl>
                                          <p:spTgt spid="49664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49664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496643">
                                            <p:txEl>
                                              <p:pRg st="2" end="2"/>
                                            </p:txEl>
                                          </p:spTgt>
                                        </p:tgtEl>
                                        <p:attrNameLst>
                                          <p:attrName>style.visibility</p:attrName>
                                        </p:attrNameLst>
                                      </p:cBhvr>
                                      <p:to>
                                        <p:strVal val="visible"/>
                                      </p:to>
                                    </p:set>
                                    <p:anim calcmode="lin" valueType="num">
                                      <p:cBhvr additive="base">
                                        <p:cTn id="15" dur="500" fill="hold"/>
                                        <p:tgtEl>
                                          <p:spTgt spid="496643">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496643">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496643">
                                            <p:txEl>
                                              <p:pRg st="3" end="3"/>
                                            </p:txEl>
                                          </p:spTgt>
                                        </p:tgtEl>
                                        <p:attrNameLst>
                                          <p:attrName>style.visibility</p:attrName>
                                        </p:attrNameLst>
                                      </p:cBhvr>
                                      <p:to>
                                        <p:strVal val="visible"/>
                                      </p:to>
                                    </p:set>
                                    <p:anim calcmode="lin" valueType="num">
                                      <p:cBhvr additive="base">
                                        <p:cTn id="19" dur="500" fill="hold"/>
                                        <p:tgtEl>
                                          <p:spTgt spid="49664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966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96643">
                                            <p:txEl>
                                              <p:pRg st="4" end="4"/>
                                            </p:txEl>
                                          </p:spTgt>
                                        </p:tgtEl>
                                        <p:attrNameLst>
                                          <p:attrName>style.visibility</p:attrName>
                                        </p:attrNameLst>
                                      </p:cBhvr>
                                      <p:to>
                                        <p:strVal val="visible"/>
                                      </p:to>
                                    </p:set>
                                    <p:anim calcmode="lin" valueType="num">
                                      <p:cBhvr additive="base">
                                        <p:cTn id="25" dur="500" fill="hold"/>
                                        <p:tgtEl>
                                          <p:spTgt spid="496643">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9664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96643">
                                            <p:txEl>
                                              <p:pRg st="5" end="5"/>
                                            </p:txEl>
                                          </p:spTgt>
                                        </p:tgtEl>
                                        <p:attrNameLst>
                                          <p:attrName>style.visibility</p:attrName>
                                        </p:attrNameLst>
                                      </p:cBhvr>
                                      <p:to>
                                        <p:strVal val="visible"/>
                                      </p:to>
                                    </p:set>
                                    <p:anim calcmode="lin" valueType="num">
                                      <p:cBhvr additive="base">
                                        <p:cTn id="31" dur="500" fill="hold"/>
                                        <p:tgtEl>
                                          <p:spTgt spid="496643">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96643">
                                            <p:txEl>
                                              <p:pRg st="5" end="5"/>
                                            </p:txEl>
                                          </p:spTgt>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496643">
                                            <p:txEl>
                                              <p:pRg st="6" end="6"/>
                                            </p:txEl>
                                          </p:spTgt>
                                        </p:tgtEl>
                                        <p:attrNameLst>
                                          <p:attrName>style.visibility</p:attrName>
                                        </p:attrNameLst>
                                      </p:cBhvr>
                                      <p:to>
                                        <p:strVal val="visible"/>
                                      </p:to>
                                    </p:set>
                                    <p:anim calcmode="lin" valueType="num">
                                      <p:cBhvr additive="base">
                                        <p:cTn id="35" dur="500" fill="hold"/>
                                        <p:tgtEl>
                                          <p:spTgt spid="496643">
                                            <p:txEl>
                                              <p:pRg st="6" end="6"/>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49664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496643">
                                            <p:txEl>
                                              <p:pRg st="7" end="7"/>
                                            </p:txEl>
                                          </p:spTgt>
                                        </p:tgtEl>
                                        <p:attrNameLst>
                                          <p:attrName>style.visibility</p:attrName>
                                        </p:attrNameLst>
                                      </p:cBhvr>
                                      <p:to>
                                        <p:strVal val="visible"/>
                                      </p:to>
                                    </p:set>
                                    <p:anim calcmode="lin" valueType="num">
                                      <p:cBhvr additive="base">
                                        <p:cTn id="41" dur="500" fill="hold"/>
                                        <p:tgtEl>
                                          <p:spTgt spid="496643">
                                            <p:txEl>
                                              <p:pRg st="7" end="7"/>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496643">
                                            <p:txEl>
                                              <p:pRg st="7" end="7"/>
                                            </p:txEl>
                                          </p:spTgt>
                                        </p:tgtEl>
                                        <p:attrNameLst>
                                          <p:attrName>ppt_y</p:attrName>
                                        </p:attrNameLst>
                                      </p:cBhvr>
                                      <p:tavLst>
                                        <p:tav tm="0">
                                          <p:val>
                                            <p:strVal val="#ppt_y"/>
                                          </p:val>
                                        </p:tav>
                                        <p:tav tm="100000">
                                          <p:val>
                                            <p:strVal val="#ppt_y"/>
                                          </p:val>
                                        </p:tav>
                                      </p:tavLst>
                                    </p:anim>
                                  </p:childTnLst>
                                </p:cTn>
                              </p:par>
                              <p:par>
                                <p:cTn id="43" presetID="2" presetClass="entr" presetSubtype="8" fill="hold" grpId="0" nodeType="withEffect">
                                  <p:stCondLst>
                                    <p:cond delay="0"/>
                                  </p:stCondLst>
                                  <p:childTnLst>
                                    <p:set>
                                      <p:cBhvr>
                                        <p:cTn id="44" dur="1" fill="hold">
                                          <p:stCondLst>
                                            <p:cond delay="0"/>
                                          </p:stCondLst>
                                        </p:cTn>
                                        <p:tgtEl>
                                          <p:spTgt spid="496643">
                                            <p:txEl>
                                              <p:pRg st="8" end="8"/>
                                            </p:txEl>
                                          </p:spTgt>
                                        </p:tgtEl>
                                        <p:attrNameLst>
                                          <p:attrName>style.visibility</p:attrName>
                                        </p:attrNameLst>
                                      </p:cBhvr>
                                      <p:to>
                                        <p:strVal val="visible"/>
                                      </p:to>
                                    </p:set>
                                    <p:anim calcmode="lin" valueType="num">
                                      <p:cBhvr additive="base">
                                        <p:cTn id="45" dur="500" fill="hold"/>
                                        <p:tgtEl>
                                          <p:spTgt spid="496643">
                                            <p:txEl>
                                              <p:pRg st="8" end="8"/>
                                            </p:txEl>
                                          </p:spTgt>
                                        </p:tgtEl>
                                        <p:attrNameLst>
                                          <p:attrName>ppt_x</p:attrName>
                                        </p:attrNameLst>
                                      </p:cBhvr>
                                      <p:tavLst>
                                        <p:tav tm="0">
                                          <p:val>
                                            <p:strVal val="0-#ppt_w/2"/>
                                          </p:val>
                                        </p:tav>
                                        <p:tav tm="100000">
                                          <p:val>
                                            <p:strVal val="#ppt_x"/>
                                          </p:val>
                                        </p:tav>
                                      </p:tavLst>
                                    </p:anim>
                                    <p:anim calcmode="lin" valueType="num">
                                      <p:cBhvr additive="base">
                                        <p:cTn id="46" dur="500" fill="hold"/>
                                        <p:tgtEl>
                                          <p:spTgt spid="496643">
                                            <p:txEl>
                                              <p:pRg st="8" end="8"/>
                                            </p:txEl>
                                          </p:spTgt>
                                        </p:tgtEl>
                                        <p:attrNameLst>
                                          <p:attrName>ppt_y</p:attrName>
                                        </p:attrNameLst>
                                      </p:cBhvr>
                                      <p:tavLst>
                                        <p:tav tm="0">
                                          <p:val>
                                            <p:strVal val="#ppt_y"/>
                                          </p:val>
                                        </p:tav>
                                        <p:tav tm="100000">
                                          <p:val>
                                            <p:strVal val="#ppt_y"/>
                                          </p:val>
                                        </p:tav>
                                      </p:tavLst>
                                    </p:anim>
                                  </p:childTnLst>
                                </p:cTn>
                              </p:par>
                              <p:par>
                                <p:cTn id="47" presetID="2" presetClass="entr" presetSubtype="8" fill="hold" grpId="0" nodeType="withEffect">
                                  <p:stCondLst>
                                    <p:cond delay="0"/>
                                  </p:stCondLst>
                                  <p:childTnLst>
                                    <p:set>
                                      <p:cBhvr>
                                        <p:cTn id="48" dur="1" fill="hold">
                                          <p:stCondLst>
                                            <p:cond delay="0"/>
                                          </p:stCondLst>
                                        </p:cTn>
                                        <p:tgtEl>
                                          <p:spTgt spid="496643">
                                            <p:txEl>
                                              <p:pRg st="9" end="9"/>
                                            </p:txEl>
                                          </p:spTgt>
                                        </p:tgtEl>
                                        <p:attrNameLst>
                                          <p:attrName>style.visibility</p:attrName>
                                        </p:attrNameLst>
                                      </p:cBhvr>
                                      <p:to>
                                        <p:strVal val="visible"/>
                                      </p:to>
                                    </p:set>
                                    <p:anim calcmode="lin" valueType="num">
                                      <p:cBhvr additive="base">
                                        <p:cTn id="49" dur="500" fill="hold"/>
                                        <p:tgtEl>
                                          <p:spTgt spid="496643">
                                            <p:txEl>
                                              <p:pRg st="9" end="9"/>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496643">
                                            <p:txEl>
                                              <p:pRg st="9" end="9"/>
                                            </p:txEl>
                                          </p:spTgt>
                                        </p:tgtEl>
                                        <p:attrNameLst>
                                          <p:attrName>ppt_y</p:attrName>
                                        </p:attrNameLst>
                                      </p:cBhvr>
                                      <p:tavLst>
                                        <p:tav tm="0">
                                          <p:val>
                                            <p:strVal val="#ppt_y"/>
                                          </p:val>
                                        </p:tav>
                                        <p:tav tm="100000">
                                          <p:val>
                                            <p:strVal val="#ppt_y"/>
                                          </p:val>
                                        </p:tav>
                                      </p:tavLst>
                                    </p:anim>
                                  </p:childTnLst>
                                </p:cTn>
                              </p:par>
                              <p:par>
                                <p:cTn id="51" presetID="2" presetClass="entr" presetSubtype="8" fill="hold" grpId="0" nodeType="withEffect">
                                  <p:stCondLst>
                                    <p:cond delay="0"/>
                                  </p:stCondLst>
                                  <p:childTnLst>
                                    <p:set>
                                      <p:cBhvr>
                                        <p:cTn id="52" dur="1" fill="hold">
                                          <p:stCondLst>
                                            <p:cond delay="0"/>
                                          </p:stCondLst>
                                        </p:cTn>
                                        <p:tgtEl>
                                          <p:spTgt spid="496643">
                                            <p:txEl>
                                              <p:pRg st="10" end="10"/>
                                            </p:txEl>
                                          </p:spTgt>
                                        </p:tgtEl>
                                        <p:attrNameLst>
                                          <p:attrName>style.visibility</p:attrName>
                                        </p:attrNameLst>
                                      </p:cBhvr>
                                      <p:to>
                                        <p:strVal val="visible"/>
                                      </p:to>
                                    </p:set>
                                    <p:anim calcmode="lin" valueType="num">
                                      <p:cBhvr additive="base">
                                        <p:cTn id="53" dur="500" fill="hold"/>
                                        <p:tgtEl>
                                          <p:spTgt spid="496643">
                                            <p:txEl>
                                              <p:pRg st="10" end="10"/>
                                            </p:txEl>
                                          </p:spTgt>
                                        </p:tgtEl>
                                        <p:attrNameLst>
                                          <p:attrName>ppt_x</p:attrName>
                                        </p:attrNameLst>
                                      </p:cBhvr>
                                      <p:tavLst>
                                        <p:tav tm="0">
                                          <p:val>
                                            <p:strVal val="0-#ppt_w/2"/>
                                          </p:val>
                                        </p:tav>
                                        <p:tav tm="100000">
                                          <p:val>
                                            <p:strVal val="#ppt_x"/>
                                          </p:val>
                                        </p:tav>
                                      </p:tavLst>
                                    </p:anim>
                                    <p:anim calcmode="lin" valueType="num">
                                      <p:cBhvr additive="base">
                                        <p:cTn id="54" dur="500" fill="hold"/>
                                        <p:tgtEl>
                                          <p:spTgt spid="496643">
                                            <p:txEl>
                                              <p:pRg st="10" end="10"/>
                                            </p:txEl>
                                          </p:spTgt>
                                        </p:tgtEl>
                                        <p:attrNameLst>
                                          <p:attrName>ppt_y</p:attrName>
                                        </p:attrNameLst>
                                      </p:cBhvr>
                                      <p:tavLst>
                                        <p:tav tm="0">
                                          <p:val>
                                            <p:strVal val="#ppt_y"/>
                                          </p:val>
                                        </p:tav>
                                        <p:tav tm="100000">
                                          <p:val>
                                            <p:strVal val="#ppt_y"/>
                                          </p:val>
                                        </p:tav>
                                      </p:tavLst>
                                    </p:anim>
                                  </p:childTnLst>
                                </p:cTn>
                              </p:par>
                              <p:par>
                                <p:cTn id="55" presetID="2" presetClass="entr" presetSubtype="8" fill="hold" grpId="0" nodeType="withEffect">
                                  <p:stCondLst>
                                    <p:cond delay="0"/>
                                  </p:stCondLst>
                                  <p:childTnLst>
                                    <p:set>
                                      <p:cBhvr>
                                        <p:cTn id="56" dur="1" fill="hold">
                                          <p:stCondLst>
                                            <p:cond delay="0"/>
                                          </p:stCondLst>
                                        </p:cTn>
                                        <p:tgtEl>
                                          <p:spTgt spid="496643">
                                            <p:txEl>
                                              <p:pRg st="11" end="11"/>
                                            </p:txEl>
                                          </p:spTgt>
                                        </p:tgtEl>
                                        <p:attrNameLst>
                                          <p:attrName>style.visibility</p:attrName>
                                        </p:attrNameLst>
                                      </p:cBhvr>
                                      <p:to>
                                        <p:strVal val="visible"/>
                                      </p:to>
                                    </p:set>
                                    <p:anim calcmode="lin" valueType="num">
                                      <p:cBhvr additive="base">
                                        <p:cTn id="57" dur="500" fill="hold"/>
                                        <p:tgtEl>
                                          <p:spTgt spid="496643">
                                            <p:txEl>
                                              <p:pRg st="11" end="11"/>
                                            </p:txEl>
                                          </p:spTgt>
                                        </p:tgtEl>
                                        <p:attrNameLst>
                                          <p:attrName>ppt_x</p:attrName>
                                        </p:attrNameLst>
                                      </p:cBhvr>
                                      <p:tavLst>
                                        <p:tav tm="0">
                                          <p:val>
                                            <p:strVal val="0-#ppt_w/2"/>
                                          </p:val>
                                        </p:tav>
                                        <p:tav tm="100000">
                                          <p:val>
                                            <p:strVal val="#ppt_x"/>
                                          </p:val>
                                        </p:tav>
                                      </p:tavLst>
                                    </p:anim>
                                    <p:anim calcmode="lin" valueType="num">
                                      <p:cBhvr additive="base">
                                        <p:cTn id="58" dur="500" fill="hold"/>
                                        <p:tgtEl>
                                          <p:spTgt spid="496643">
                                            <p:txEl>
                                              <p:pRg st="11" end="11"/>
                                            </p:txEl>
                                          </p:spTgt>
                                        </p:tgtEl>
                                        <p:attrNameLst>
                                          <p:attrName>ppt_y</p:attrName>
                                        </p:attrNameLst>
                                      </p:cBhvr>
                                      <p:tavLst>
                                        <p:tav tm="0">
                                          <p:val>
                                            <p:strVal val="#ppt_y"/>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2" presetClass="entr" presetSubtype="8" fill="hold" grpId="0" nodeType="clickEffect">
                                  <p:stCondLst>
                                    <p:cond delay="0"/>
                                  </p:stCondLst>
                                  <p:childTnLst>
                                    <p:set>
                                      <p:cBhvr>
                                        <p:cTn id="62" dur="1" fill="hold">
                                          <p:stCondLst>
                                            <p:cond delay="0"/>
                                          </p:stCondLst>
                                        </p:cTn>
                                        <p:tgtEl>
                                          <p:spTgt spid="496643">
                                            <p:txEl>
                                              <p:pRg st="12" end="12"/>
                                            </p:txEl>
                                          </p:spTgt>
                                        </p:tgtEl>
                                        <p:attrNameLst>
                                          <p:attrName>style.visibility</p:attrName>
                                        </p:attrNameLst>
                                      </p:cBhvr>
                                      <p:to>
                                        <p:strVal val="visible"/>
                                      </p:to>
                                    </p:set>
                                    <p:anim calcmode="lin" valueType="num">
                                      <p:cBhvr additive="base">
                                        <p:cTn id="63" dur="500" fill="hold"/>
                                        <p:tgtEl>
                                          <p:spTgt spid="496643">
                                            <p:txEl>
                                              <p:pRg st="12" end="12"/>
                                            </p:txEl>
                                          </p:spTgt>
                                        </p:tgtEl>
                                        <p:attrNameLst>
                                          <p:attrName>ppt_x</p:attrName>
                                        </p:attrNameLst>
                                      </p:cBhvr>
                                      <p:tavLst>
                                        <p:tav tm="0">
                                          <p:val>
                                            <p:strVal val="0-#ppt_w/2"/>
                                          </p:val>
                                        </p:tav>
                                        <p:tav tm="100000">
                                          <p:val>
                                            <p:strVal val="#ppt_x"/>
                                          </p:val>
                                        </p:tav>
                                      </p:tavLst>
                                    </p:anim>
                                    <p:anim calcmode="lin" valueType="num">
                                      <p:cBhvr additive="base">
                                        <p:cTn id="64" dur="500" fill="hold"/>
                                        <p:tgtEl>
                                          <p:spTgt spid="496643">
                                            <p:txEl>
                                              <p:pRg st="12" end="12"/>
                                            </p:txEl>
                                          </p:spTgt>
                                        </p:tgtEl>
                                        <p:attrNameLst>
                                          <p:attrName>ppt_y</p:attrName>
                                        </p:attrNameLst>
                                      </p:cBhvr>
                                      <p:tavLst>
                                        <p:tav tm="0">
                                          <p:val>
                                            <p:strVal val="#ppt_y"/>
                                          </p:val>
                                        </p:tav>
                                        <p:tav tm="100000">
                                          <p:val>
                                            <p:strVal val="#ppt_y"/>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2" presetClass="entr" presetSubtype="8" fill="hold" grpId="0" nodeType="clickEffect">
                                  <p:stCondLst>
                                    <p:cond delay="0"/>
                                  </p:stCondLst>
                                  <p:childTnLst>
                                    <p:set>
                                      <p:cBhvr>
                                        <p:cTn id="68" dur="1" fill="hold">
                                          <p:stCondLst>
                                            <p:cond delay="0"/>
                                          </p:stCondLst>
                                        </p:cTn>
                                        <p:tgtEl>
                                          <p:spTgt spid="496643">
                                            <p:txEl>
                                              <p:pRg st="13" end="13"/>
                                            </p:txEl>
                                          </p:spTgt>
                                        </p:tgtEl>
                                        <p:attrNameLst>
                                          <p:attrName>style.visibility</p:attrName>
                                        </p:attrNameLst>
                                      </p:cBhvr>
                                      <p:to>
                                        <p:strVal val="visible"/>
                                      </p:to>
                                    </p:set>
                                    <p:anim calcmode="lin" valueType="num">
                                      <p:cBhvr additive="base">
                                        <p:cTn id="69" dur="500" fill="hold"/>
                                        <p:tgtEl>
                                          <p:spTgt spid="496643">
                                            <p:txEl>
                                              <p:pRg st="13" end="13"/>
                                            </p:txEl>
                                          </p:spTgt>
                                        </p:tgtEl>
                                        <p:attrNameLst>
                                          <p:attrName>ppt_x</p:attrName>
                                        </p:attrNameLst>
                                      </p:cBhvr>
                                      <p:tavLst>
                                        <p:tav tm="0">
                                          <p:val>
                                            <p:strVal val="0-#ppt_w/2"/>
                                          </p:val>
                                        </p:tav>
                                        <p:tav tm="100000">
                                          <p:val>
                                            <p:strVal val="#ppt_x"/>
                                          </p:val>
                                        </p:tav>
                                      </p:tavLst>
                                    </p:anim>
                                    <p:anim calcmode="lin" valueType="num">
                                      <p:cBhvr additive="base">
                                        <p:cTn id="70" dur="500" fill="hold"/>
                                        <p:tgtEl>
                                          <p:spTgt spid="496643">
                                            <p:txEl>
                                              <p:pRg st="13" end="1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643"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3DA4D229-31FA-8043-9298-DD8036374489}" type="datetime3">
              <a:rPr lang="en-US"/>
              <a:pPr>
                <a:defRPr/>
              </a:pPr>
              <a:t>14 January 2026</a:t>
            </a:fld>
            <a:endParaRPr lang="en-US"/>
          </a:p>
        </p:txBody>
      </p:sp>
      <p:sp>
        <p:nvSpPr>
          <p:cNvPr id="5" name="Footer Placeholder 4"/>
          <p:cNvSpPr>
            <a:spLocks noGrp="1"/>
          </p:cNvSpPr>
          <p:nvPr>
            <p:ph type="ftr" sz="quarter" idx="11"/>
          </p:nvPr>
        </p:nvSpPr>
        <p:spPr/>
        <p:txBody>
          <a:bodyPr/>
          <a:lstStyle/>
          <a:p>
            <a:pPr>
              <a:defRPr/>
            </a:pPr>
            <a:r>
              <a:rPr lang="en-US"/>
              <a:t>.</a:t>
            </a:r>
          </a:p>
        </p:txBody>
      </p:sp>
      <p:sp>
        <p:nvSpPr>
          <p:cNvPr id="6" name="Slide Number Placeholder 5"/>
          <p:cNvSpPr>
            <a:spLocks noGrp="1"/>
          </p:cNvSpPr>
          <p:nvPr>
            <p:ph type="sldNum" sz="quarter" idx="12"/>
          </p:nvPr>
        </p:nvSpPr>
        <p:spPr/>
        <p:txBody>
          <a:bodyPr/>
          <a:lstStyle/>
          <a:p>
            <a:pPr>
              <a:defRPr/>
            </a:pPr>
            <a:fld id="{10716F84-3F66-D548-BDA4-DABFC9DBAE06}" type="slidenum">
              <a:rPr lang="en-US"/>
              <a:pPr>
                <a:defRPr/>
              </a:pPr>
              <a:t>10</a:t>
            </a:fld>
            <a:endParaRPr lang="en-US"/>
          </a:p>
        </p:txBody>
      </p:sp>
      <p:sp>
        <p:nvSpPr>
          <p:cNvPr id="510978" name="Rectangle 2"/>
          <p:cNvSpPr>
            <a:spLocks noGrp="1" noChangeArrowheads="1"/>
          </p:cNvSpPr>
          <p:nvPr>
            <p:ph type="body" idx="1"/>
          </p:nvPr>
        </p:nvSpPr>
        <p:spPr>
          <a:xfrm>
            <a:off x="609600" y="1371600"/>
            <a:ext cx="7924800" cy="4191000"/>
          </a:xfrm>
        </p:spPr>
        <p:txBody>
          <a:bodyPr/>
          <a:lstStyle/>
          <a:p>
            <a:pPr>
              <a:defRPr/>
            </a:pPr>
            <a:r>
              <a:rPr lang="en-US" sz="2000" dirty="0">
                <a:cs typeface="+mn-cs"/>
              </a:rPr>
              <a:t>In 1982, Jerry </a:t>
            </a:r>
            <a:r>
              <a:rPr lang="en-US" sz="2000" dirty="0" err="1">
                <a:cs typeface="+mn-cs"/>
              </a:rPr>
              <a:t>Saltzer</a:t>
            </a:r>
            <a:r>
              <a:rPr lang="en-US" sz="2000" dirty="0">
                <a:cs typeface="+mn-cs"/>
              </a:rPr>
              <a:t> published the </a:t>
            </a:r>
            <a:r>
              <a:rPr lang="ja-JP" altLang="en-US" sz="2000" dirty="0">
                <a:latin typeface="Arial"/>
                <a:cs typeface="+mn-cs"/>
              </a:rPr>
              <a:t>“</a:t>
            </a:r>
            <a:r>
              <a:rPr lang="en-US" sz="2000" dirty="0">
                <a:cs typeface="+mn-cs"/>
              </a:rPr>
              <a:t>other</a:t>
            </a:r>
            <a:r>
              <a:rPr lang="ja-JP" altLang="en-US" sz="2000" dirty="0">
                <a:latin typeface="Arial"/>
                <a:cs typeface="+mn-cs"/>
              </a:rPr>
              <a:t>”</a:t>
            </a:r>
            <a:r>
              <a:rPr lang="en-US" sz="2000" dirty="0">
                <a:cs typeface="+mn-cs"/>
              </a:rPr>
              <a:t> major paper on addressing.</a:t>
            </a:r>
          </a:p>
          <a:p>
            <a:pPr lvl="1">
              <a:defRPr/>
            </a:pPr>
            <a:r>
              <a:rPr lang="en-US" sz="1600" dirty="0"/>
              <a:t>Finally, someone wrote down the OS view of network addressing:</a:t>
            </a:r>
          </a:p>
          <a:p>
            <a:pPr lvl="2">
              <a:defRPr/>
            </a:pPr>
            <a:r>
              <a:rPr lang="en-US" sz="1400" dirty="0" err="1">
                <a:cs typeface="Times" charset="0"/>
              </a:rPr>
              <a:t>Saltzer</a:t>
            </a:r>
            <a:r>
              <a:rPr lang="en-US" sz="1400" dirty="0">
                <a:cs typeface="Times" charset="0"/>
              </a:rPr>
              <a:t>, Jerry.</a:t>
            </a:r>
            <a:r>
              <a:rPr lang="en-US" sz="1400" dirty="0">
                <a:solidFill>
                  <a:srgbClr val="000000"/>
                </a:solidFill>
                <a:cs typeface="Times" charset="0"/>
              </a:rPr>
              <a:t> </a:t>
            </a:r>
            <a:r>
              <a:rPr lang="ja-JP" altLang="en-US" sz="1400" dirty="0">
                <a:solidFill>
                  <a:srgbClr val="000000"/>
                </a:solidFill>
                <a:cs typeface="Times" charset="0"/>
              </a:rPr>
              <a:t>“</a:t>
            </a:r>
            <a:r>
              <a:rPr lang="en-US" sz="1400" dirty="0">
                <a:solidFill>
                  <a:srgbClr val="000000"/>
                </a:solidFill>
                <a:cs typeface="Times" charset="0"/>
              </a:rPr>
              <a:t>On the Naming and Binding of Network Destinations</a:t>
            </a:r>
            <a:r>
              <a:rPr lang="ja-JP" altLang="en-US" sz="1400" dirty="0">
                <a:solidFill>
                  <a:srgbClr val="000000"/>
                </a:solidFill>
                <a:cs typeface="Times" charset="0"/>
              </a:rPr>
              <a:t>”</a:t>
            </a:r>
            <a:r>
              <a:rPr lang="en-US" sz="1400" dirty="0">
                <a:solidFill>
                  <a:srgbClr val="000000"/>
                </a:solidFill>
                <a:cs typeface="Times" charset="0"/>
              </a:rPr>
              <a:t> in Local Computer Networks, edited by P. </a:t>
            </a:r>
            <a:r>
              <a:rPr lang="en-US" sz="1400" dirty="0" err="1">
                <a:solidFill>
                  <a:srgbClr val="000000"/>
                </a:solidFill>
                <a:cs typeface="Times" charset="0"/>
              </a:rPr>
              <a:t>Ravasio</a:t>
            </a:r>
            <a:r>
              <a:rPr lang="en-US" sz="1400" dirty="0">
                <a:solidFill>
                  <a:srgbClr val="000000"/>
                </a:solidFill>
                <a:cs typeface="Times" charset="0"/>
              </a:rPr>
              <a:t> et al. P North-Holland Publishing Company, </a:t>
            </a:r>
            <a:r>
              <a:rPr lang="en-US" sz="1400" dirty="0" err="1">
                <a:solidFill>
                  <a:srgbClr val="000000"/>
                </a:solidFill>
                <a:cs typeface="Times" charset="0"/>
              </a:rPr>
              <a:t>pp</a:t>
            </a:r>
            <a:r>
              <a:rPr lang="en-US" sz="1400" dirty="0">
                <a:solidFill>
                  <a:srgbClr val="000000"/>
                </a:solidFill>
                <a:cs typeface="Times" charset="0"/>
              </a:rPr>
              <a:t> 311-317, 1982, republished as RFC 1498</a:t>
            </a:r>
            <a:endParaRPr lang="en-US" sz="1400" dirty="0"/>
          </a:p>
          <a:p>
            <a:pPr lvl="1">
              <a:defRPr/>
            </a:pPr>
            <a:r>
              <a:rPr lang="en-US" sz="1600" dirty="0"/>
              <a:t>Application names that were location independent</a:t>
            </a:r>
          </a:p>
          <a:p>
            <a:pPr lvl="1">
              <a:defRPr/>
            </a:pPr>
            <a:r>
              <a:rPr lang="en-US" sz="1600" dirty="0"/>
              <a:t>Node addresses that were location dependent (the logical address)</a:t>
            </a:r>
          </a:p>
          <a:p>
            <a:pPr lvl="1">
              <a:defRPr/>
            </a:pPr>
            <a:r>
              <a:rPr lang="en-US" sz="1600" dirty="0"/>
              <a:t>Point of attachment addresses that were route-dependent (the physical address)</a:t>
            </a:r>
          </a:p>
          <a:p>
            <a:pPr lvl="1">
              <a:defRPr/>
            </a:pPr>
            <a:r>
              <a:rPr lang="en-US" sz="1600" dirty="0"/>
              <a:t>Routes which were a sequence of addresses</a:t>
            </a:r>
          </a:p>
          <a:p>
            <a:pPr lvl="1">
              <a:defRPr/>
            </a:pPr>
            <a:r>
              <a:rPr lang="en-US" sz="1600" dirty="0"/>
              <a:t>And the three mappings between them.</a:t>
            </a:r>
          </a:p>
          <a:p>
            <a:pPr>
              <a:defRPr/>
            </a:pPr>
            <a:r>
              <a:rPr lang="en-US" sz="2000" dirty="0" err="1">
                <a:cs typeface="+mn-cs"/>
              </a:rPr>
              <a:t>Saltzer</a:t>
            </a:r>
            <a:r>
              <a:rPr lang="en-US" sz="2000" dirty="0">
                <a:cs typeface="+mn-cs"/>
              </a:rPr>
              <a:t> works through the problem in somewhat more detail.</a:t>
            </a:r>
          </a:p>
          <a:p>
            <a:pPr lvl="1">
              <a:defRPr/>
            </a:pPr>
            <a:r>
              <a:rPr lang="en-US" sz="1600" dirty="0"/>
              <a:t>Colored by the hardware of the time and the OS perspective.</a:t>
            </a:r>
          </a:p>
          <a:p>
            <a:pPr lvl="1">
              <a:defRPr/>
            </a:pPr>
            <a:r>
              <a:rPr lang="en-US" sz="1600" dirty="0"/>
              <a:t>But oddly he missed the implications of multiple paths between next hops.</a:t>
            </a:r>
            <a:endParaRPr lang="en-US" sz="1600" dirty="0">
              <a:cs typeface="+mn-cs"/>
            </a:endParaRPr>
          </a:p>
          <a:p>
            <a:pPr>
              <a:defRPr/>
            </a:pPr>
            <a:endParaRPr lang="en-US" sz="1600" dirty="0">
              <a:cs typeface="+mn-cs"/>
            </a:endParaRPr>
          </a:p>
        </p:txBody>
      </p:sp>
      <p:sp>
        <p:nvSpPr>
          <p:cNvPr id="510979" name="Rectangle 3"/>
          <p:cNvSpPr>
            <a:spLocks noGrp="1" noChangeArrowheads="1"/>
          </p:cNvSpPr>
          <p:nvPr>
            <p:ph type="title"/>
          </p:nvPr>
        </p:nvSpPr>
        <p:spPr>
          <a:xfrm>
            <a:off x="685800" y="152400"/>
            <a:ext cx="7772400" cy="1143000"/>
          </a:xfrm>
        </p:spPr>
        <p:txBody>
          <a:bodyPr/>
          <a:lstStyle/>
          <a:p>
            <a:pPr>
              <a:defRPr/>
            </a:pPr>
            <a:r>
              <a:rPr lang="en-US" sz="2800" b="1" dirty="0">
                <a:cs typeface="+mj-cs"/>
              </a:rPr>
              <a:t>Further Refinement</a:t>
            </a:r>
            <a:endParaRPr lang="en-US" dirty="0">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10978">
                                            <p:txEl>
                                              <p:pRg st="0" end="0"/>
                                            </p:txEl>
                                          </p:spTgt>
                                        </p:tgtEl>
                                        <p:attrNameLst>
                                          <p:attrName>style.visibility</p:attrName>
                                        </p:attrNameLst>
                                      </p:cBhvr>
                                      <p:to>
                                        <p:strVal val="visible"/>
                                      </p:to>
                                    </p:set>
                                    <p:anim calcmode="lin" valueType="num">
                                      <p:cBhvr additive="base">
                                        <p:cTn id="7" dur="500" fill="hold"/>
                                        <p:tgtEl>
                                          <p:spTgt spid="51097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10978">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510978">
                                            <p:txEl>
                                              <p:pRg st="1" end="1"/>
                                            </p:txEl>
                                          </p:spTgt>
                                        </p:tgtEl>
                                        <p:attrNameLst>
                                          <p:attrName>style.visibility</p:attrName>
                                        </p:attrNameLst>
                                      </p:cBhvr>
                                      <p:to>
                                        <p:strVal val="visible"/>
                                      </p:to>
                                    </p:set>
                                    <p:anim calcmode="lin" valueType="num">
                                      <p:cBhvr additive="base">
                                        <p:cTn id="11" dur="500" fill="hold"/>
                                        <p:tgtEl>
                                          <p:spTgt spid="510978">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510978">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510978">
                                            <p:txEl>
                                              <p:pRg st="2" end="2"/>
                                            </p:txEl>
                                          </p:spTgt>
                                        </p:tgtEl>
                                        <p:attrNameLst>
                                          <p:attrName>style.visibility</p:attrName>
                                        </p:attrNameLst>
                                      </p:cBhvr>
                                      <p:to>
                                        <p:strVal val="visible"/>
                                      </p:to>
                                    </p:set>
                                    <p:anim calcmode="lin" valueType="num">
                                      <p:cBhvr additive="base">
                                        <p:cTn id="15" dur="500" fill="hold"/>
                                        <p:tgtEl>
                                          <p:spTgt spid="510978">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510978">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510978">
                                            <p:txEl>
                                              <p:pRg st="3" end="3"/>
                                            </p:txEl>
                                          </p:spTgt>
                                        </p:tgtEl>
                                        <p:attrNameLst>
                                          <p:attrName>style.visibility</p:attrName>
                                        </p:attrNameLst>
                                      </p:cBhvr>
                                      <p:to>
                                        <p:strVal val="visible"/>
                                      </p:to>
                                    </p:set>
                                    <p:anim calcmode="lin" valueType="num">
                                      <p:cBhvr additive="base">
                                        <p:cTn id="19" dur="500" fill="hold"/>
                                        <p:tgtEl>
                                          <p:spTgt spid="510978">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10978">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510978">
                                            <p:txEl>
                                              <p:pRg st="4" end="4"/>
                                            </p:txEl>
                                          </p:spTgt>
                                        </p:tgtEl>
                                        <p:attrNameLst>
                                          <p:attrName>style.visibility</p:attrName>
                                        </p:attrNameLst>
                                      </p:cBhvr>
                                      <p:to>
                                        <p:strVal val="visible"/>
                                      </p:to>
                                    </p:set>
                                    <p:anim calcmode="lin" valueType="num">
                                      <p:cBhvr additive="base">
                                        <p:cTn id="23" dur="500" fill="hold"/>
                                        <p:tgtEl>
                                          <p:spTgt spid="510978">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510978">
                                            <p:txEl>
                                              <p:pRg st="4" end="4"/>
                                            </p:tx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510978">
                                            <p:txEl>
                                              <p:pRg st="5" end="5"/>
                                            </p:txEl>
                                          </p:spTgt>
                                        </p:tgtEl>
                                        <p:attrNameLst>
                                          <p:attrName>style.visibility</p:attrName>
                                        </p:attrNameLst>
                                      </p:cBhvr>
                                      <p:to>
                                        <p:strVal val="visible"/>
                                      </p:to>
                                    </p:set>
                                    <p:anim calcmode="lin" valueType="num">
                                      <p:cBhvr additive="base">
                                        <p:cTn id="27" dur="500" fill="hold"/>
                                        <p:tgtEl>
                                          <p:spTgt spid="510978">
                                            <p:txEl>
                                              <p:pRg st="5" end="5"/>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510978">
                                            <p:txEl>
                                              <p:pRg st="5" end="5"/>
                                            </p:txEl>
                                          </p:spTgt>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510978">
                                            <p:txEl>
                                              <p:pRg st="6" end="6"/>
                                            </p:txEl>
                                          </p:spTgt>
                                        </p:tgtEl>
                                        <p:attrNameLst>
                                          <p:attrName>style.visibility</p:attrName>
                                        </p:attrNameLst>
                                      </p:cBhvr>
                                      <p:to>
                                        <p:strVal val="visible"/>
                                      </p:to>
                                    </p:set>
                                    <p:anim calcmode="lin" valueType="num">
                                      <p:cBhvr additive="base">
                                        <p:cTn id="31" dur="500" fill="hold"/>
                                        <p:tgtEl>
                                          <p:spTgt spid="510978">
                                            <p:txEl>
                                              <p:pRg st="6" end="6"/>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10978">
                                            <p:txEl>
                                              <p:pRg st="6" end="6"/>
                                            </p:txEl>
                                          </p:spTgt>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510978">
                                            <p:txEl>
                                              <p:pRg st="7" end="7"/>
                                            </p:txEl>
                                          </p:spTgt>
                                        </p:tgtEl>
                                        <p:attrNameLst>
                                          <p:attrName>style.visibility</p:attrName>
                                        </p:attrNameLst>
                                      </p:cBhvr>
                                      <p:to>
                                        <p:strVal val="visible"/>
                                      </p:to>
                                    </p:set>
                                    <p:anim calcmode="lin" valueType="num">
                                      <p:cBhvr additive="base">
                                        <p:cTn id="35" dur="500" fill="hold"/>
                                        <p:tgtEl>
                                          <p:spTgt spid="510978">
                                            <p:txEl>
                                              <p:pRg st="7" end="7"/>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510978">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510978">
                                            <p:txEl>
                                              <p:pRg st="8" end="8"/>
                                            </p:txEl>
                                          </p:spTgt>
                                        </p:tgtEl>
                                        <p:attrNameLst>
                                          <p:attrName>style.visibility</p:attrName>
                                        </p:attrNameLst>
                                      </p:cBhvr>
                                      <p:to>
                                        <p:strVal val="visible"/>
                                      </p:to>
                                    </p:set>
                                    <p:anim calcmode="lin" valueType="num">
                                      <p:cBhvr additive="base">
                                        <p:cTn id="41" dur="500" fill="hold"/>
                                        <p:tgtEl>
                                          <p:spTgt spid="510978">
                                            <p:txEl>
                                              <p:pRg st="8" end="8"/>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510978">
                                            <p:txEl>
                                              <p:pRg st="8" end="8"/>
                                            </p:txEl>
                                          </p:spTgt>
                                        </p:tgtEl>
                                        <p:attrNameLst>
                                          <p:attrName>ppt_y</p:attrName>
                                        </p:attrNameLst>
                                      </p:cBhvr>
                                      <p:tavLst>
                                        <p:tav tm="0">
                                          <p:val>
                                            <p:strVal val="#ppt_y"/>
                                          </p:val>
                                        </p:tav>
                                        <p:tav tm="100000">
                                          <p:val>
                                            <p:strVal val="#ppt_y"/>
                                          </p:val>
                                        </p:tav>
                                      </p:tavLst>
                                    </p:anim>
                                  </p:childTnLst>
                                </p:cTn>
                              </p:par>
                              <p:par>
                                <p:cTn id="43" presetID="2" presetClass="entr" presetSubtype="8" fill="hold" grpId="0" nodeType="withEffect">
                                  <p:stCondLst>
                                    <p:cond delay="0"/>
                                  </p:stCondLst>
                                  <p:childTnLst>
                                    <p:set>
                                      <p:cBhvr>
                                        <p:cTn id="44" dur="1" fill="hold">
                                          <p:stCondLst>
                                            <p:cond delay="0"/>
                                          </p:stCondLst>
                                        </p:cTn>
                                        <p:tgtEl>
                                          <p:spTgt spid="510978">
                                            <p:txEl>
                                              <p:pRg st="9" end="9"/>
                                            </p:txEl>
                                          </p:spTgt>
                                        </p:tgtEl>
                                        <p:attrNameLst>
                                          <p:attrName>style.visibility</p:attrName>
                                        </p:attrNameLst>
                                      </p:cBhvr>
                                      <p:to>
                                        <p:strVal val="visible"/>
                                      </p:to>
                                    </p:set>
                                    <p:anim calcmode="lin" valueType="num">
                                      <p:cBhvr additive="base">
                                        <p:cTn id="45" dur="500" fill="hold"/>
                                        <p:tgtEl>
                                          <p:spTgt spid="510978">
                                            <p:txEl>
                                              <p:pRg st="9" end="9"/>
                                            </p:txEl>
                                          </p:spTgt>
                                        </p:tgtEl>
                                        <p:attrNameLst>
                                          <p:attrName>ppt_x</p:attrName>
                                        </p:attrNameLst>
                                      </p:cBhvr>
                                      <p:tavLst>
                                        <p:tav tm="0">
                                          <p:val>
                                            <p:strVal val="0-#ppt_w/2"/>
                                          </p:val>
                                        </p:tav>
                                        <p:tav tm="100000">
                                          <p:val>
                                            <p:strVal val="#ppt_x"/>
                                          </p:val>
                                        </p:tav>
                                      </p:tavLst>
                                    </p:anim>
                                    <p:anim calcmode="lin" valueType="num">
                                      <p:cBhvr additive="base">
                                        <p:cTn id="46" dur="500" fill="hold"/>
                                        <p:tgtEl>
                                          <p:spTgt spid="510978">
                                            <p:txEl>
                                              <p:pRg st="9" end="9"/>
                                            </p:txEl>
                                          </p:spTgt>
                                        </p:tgtEl>
                                        <p:attrNameLst>
                                          <p:attrName>ppt_y</p:attrName>
                                        </p:attrNameLst>
                                      </p:cBhvr>
                                      <p:tavLst>
                                        <p:tav tm="0">
                                          <p:val>
                                            <p:strVal val="#ppt_y"/>
                                          </p:val>
                                        </p:tav>
                                        <p:tav tm="100000">
                                          <p:val>
                                            <p:strVal val="#ppt_y"/>
                                          </p:val>
                                        </p:tav>
                                      </p:tavLst>
                                    </p:anim>
                                  </p:childTnLst>
                                </p:cTn>
                              </p:par>
                              <p:par>
                                <p:cTn id="47" presetID="2" presetClass="entr" presetSubtype="8" fill="hold" grpId="0" nodeType="withEffect">
                                  <p:stCondLst>
                                    <p:cond delay="0"/>
                                  </p:stCondLst>
                                  <p:childTnLst>
                                    <p:set>
                                      <p:cBhvr>
                                        <p:cTn id="48" dur="1" fill="hold">
                                          <p:stCondLst>
                                            <p:cond delay="0"/>
                                          </p:stCondLst>
                                        </p:cTn>
                                        <p:tgtEl>
                                          <p:spTgt spid="510978">
                                            <p:txEl>
                                              <p:pRg st="10" end="10"/>
                                            </p:txEl>
                                          </p:spTgt>
                                        </p:tgtEl>
                                        <p:attrNameLst>
                                          <p:attrName>style.visibility</p:attrName>
                                        </p:attrNameLst>
                                      </p:cBhvr>
                                      <p:to>
                                        <p:strVal val="visible"/>
                                      </p:to>
                                    </p:set>
                                    <p:anim calcmode="lin" valueType="num">
                                      <p:cBhvr additive="base">
                                        <p:cTn id="49" dur="500" fill="hold"/>
                                        <p:tgtEl>
                                          <p:spTgt spid="510978">
                                            <p:txEl>
                                              <p:pRg st="10" end="10"/>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510978">
                                            <p:txEl>
                                              <p:pRg st="10" end="1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0978"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Date Placeholder 3"/>
          <p:cNvSpPr>
            <a:spLocks noGrp="1"/>
          </p:cNvSpPr>
          <p:nvPr>
            <p:ph type="dt" sz="quarter" idx="10"/>
          </p:nvPr>
        </p:nvSpPr>
        <p:spPr/>
        <p:txBody>
          <a:bodyPr/>
          <a:lstStyle/>
          <a:p>
            <a:pPr>
              <a:defRPr/>
            </a:pPr>
            <a:fld id="{E62C2689-A86D-9A4F-8FBB-97D6B1B93F57}" type="datetime3">
              <a:rPr lang="en-US"/>
              <a:pPr>
                <a:defRPr/>
              </a:pPr>
              <a:t>14 January 2026</a:t>
            </a:fld>
            <a:endParaRPr lang="en-US"/>
          </a:p>
        </p:txBody>
      </p:sp>
      <p:sp>
        <p:nvSpPr>
          <p:cNvPr id="62" name="Footer Placeholder 4"/>
          <p:cNvSpPr>
            <a:spLocks noGrp="1"/>
          </p:cNvSpPr>
          <p:nvPr>
            <p:ph type="ftr" sz="quarter" idx="11"/>
          </p:nvPr>
        </p:nvSpPr>
        <p:spPr/>
        <p:txBody>
          <a:bodyPr/>
          <a:lstStyle/>
          <a:p>
            <a:pPr>
              <a:defRPr/>
            </a:pPr>
            <a:r>
              <a:rPr lang="en-US"/>
              <a:t>.</a:t>
            </a:r>
          </a:p>
        </p:txBody>
      </p:sp>
      <p:sp>
        <p:nvSpPr>
          <p:cNvPr id="63" name="Slide Number Placeholder 5"/>
          <p:cNvSpPr>
            <a:spLocks noGrp="1"/>
          </p:cNvSpPr>
          <p:nvPr>
            <p:ph type="sldNum" sz="quarter" idx="12"/>
          </p:nvPr>
        </p:nvSpPr>
        <p:spPr/>
        <p:txBody>
          <a:bodyPr/>
          <a:lstStyle/>
          <a:p>
            <a:pPr>
              <a:defRPr/>
            </a:pPr>
            <a:fld id="{51ED2197-9004-B741-B0A2-25BE48DC2C99}" type="slidenum">
              <a:rPr lang="en-US"/>
              <a:pPr>
                <a:defRPr/>
              </a:pPr>
              <a:t>11</a:t>
            </a:fld>
            <a:endParaRPr lang="en-US"/>
          </a:p>
        </p:txBody>
      </p:sp>
      <p:sp>
        <p:nvSpPr>
          <p:cNvPr id="444418" name="Rectangle 2"/>
          <p:cNvSpPr>
            <a:spLocks noGrp="1" noChangeArrowheads="1"/>
          </p:cNvSpPr>
          <p:nvPr>
            <p:ph type="title"/>
          </p:nvPr>
        </p:nvSpPr>
        <p:spPr>
          <a:xfrm>
            <a:off x="636588" y="255588"/>
            <a:ext cx="7772400" cy="1143000"/>
          </a:xfrm>
        </p:spPr>
        <p:txBody>
          <a:bodyPr/>
          <a:lstStyle/>
          <a:p>
            <a:pPr>
              <a:defRPr/>
            </a:pPr>
            <a:r>
              <a:rPr lang="en-US" sz="3200" dirty="0" err="1">
                <a:cs typeface="+mj-cs"/>
              </a:rPr>
              <a:t>Saltzer</a:t>
            </a:r>
            <a:r>
              <a:rPr lang="en-US" sz="3200" dirty="0" err="1">
                <a:latin typeface="Arial"/>
                <a:cs typeface="+mj-cs"/>
              </a:rPr>
              <a:t>’</a:t>
            </a:r>
            <a:r>
              <a:rPr lang="en-US" sz="3200" dirty="0" err="1">
                <a:cs typeface="+mj-cs"/>
              </a:rPr>
              <a:t>s</a:t>
            </a:r>
            <a:r>
              <a:rPr lang="en-US" sz="3200" dirty="0">
                <a:cs typeface="+mj-cs"/>
              </a:rPr>
              <a:t> View of </a:t>
            </a:r>
            <a:r>
              <a:rPr lang="en-US" sz="3200" i="1" dirty="0">
                <a:cs typeface="+mj-cs"/>
              </a:rPr>
              <a:t>Networks</a:t>
            </a:r>
            <a:endParaRPr lang="en-US" sz="3200" dirty="0">
              <a:cs typeface="+mj-cs"/>
            </a:endParaRPr>
          </a:p>
        </p:txBody>
      </p:sp>
      <p:sp>
        <p:nvSpPr>
          <p:cNvPr id="444419" name="Rectangle 3"/>
          <p:cNvSpPr>
            <a:spLocks noGrp="1" noChangeArrowheads="1"/>
          </p:cNvSpPr>
          <p:nvPr>
            <p:ph type="body" idx="1"/>
          </p:nvPr>
        </p:nvSpPr>
        <p:spPr>
          <a:xfrm>
            <a:off x="1157288" y="1398588"/>
            <a:ext cx="6578600" cy="4038600"/>
          </a:xfrm>
        </p:spPr>
        <p:txBody>
          <a:bodyPr/>
          <a:lstStyle/>
          <a:p>
            <a:pPr>
              <a:defRPr/>
            </a:pPr>
            <a:r>
              <a:rPr lang="en-US" sz="2000" dirty="0">
                <a:cs typeface="+mn-cs"/>
              </a:rPr>
              <a:t>Application names map to node addresses.</a:t>
            </a:r>
          </a:p>
          <a:p>
            <a:pPr>
              <a:defRPr/>
            </a:pPr>
            <a:r>
              <a:rPr lang="en-US" sz="2000" dirty="0">
                <a:cs typeface="+mn-cs"/>
              </a:rPr>
              <a:t>Node addresses map to points of attachment addresses.</a:t>
            </a:r>
          </a:p>
          <a:p>
            <a:pPr>
              <a:defRPr/>
            </a:pPr>
            <a:r>
              <a:rPr lang="en-US" sz="2000" dirty="0">
                <a:cs typeface="+mn-cs"/>
              </a:rPr>
              <a:t>Routes are sequences of points of attachments.</a:t>
            </a:r>
          </a:p>
          <a:p>
            <a:pPr lvl="1">
              <a:defRPr/>
            </a:pPr>
            <a:r>
              <a:rPr lang="en-US" sz="1800" dirty="0"/>
              <a:t>Just as in an operating system.</a:t>
            </a:r>
          </a:p>
          <a:p>
            <a:pPr lvl="1">
              <a:defRPr/>
            </a:pPr>
            <a:r>
              <a:rPr lang="en-US" sz="1800" dirty="0"/>
              <a:t>But networks are more general than operating systems.</a:t>
            </a:r>
          </a:p>
        </p:txBody>
      </p:sp>
      <p:grpSp>
        <p:nvGrpSpPr>
          <p:cNvPr id="49158" name="Group 4"/>
          <p:cNvGrpSpPr>
            <a:grpSpLocks/>
          </p:cNvGrpSpPr>
          <p:nvPr/>
        </p:nvGrpSpPr>
        <p:grpSpPr bwMode="auto">
          <a:xfrm>
            <a:off x="152400" y="3641725"/>
            <a:ext cx="6732588" cy="2133600"/>
            <a:chOff x="415" y="2352"/>
            <a:chExt cx="4241" cy="1344"/>
          </a:xfrm>
        </p:grpSpPr>
        <p:sp>
          <p:nvSpPr>
            <p:cNvPr id="444421" name="Text Box 5"/>
            <p:cNvSpPr txBox="1">
              <a:spLocks noChangeArrowheads="1"/>
            </p:cNvSpPr>
            <p:nvPr/>
          </p:nvSpPr>
          <p:spPr bwMode="auto">
            <a:xfrm>
              <a:off x="432" y="2688"/>
              <a:ext cx="822"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b="0">
                  <a:solidFill>
                    <a:srgbClr val="000000"/>
                  </a:solidFill>
                </a:rPr>
                <a:t>Application Name</a:t>
              </a:r>
            </a:p>
          </p:txBody>
        </p:sp>
        <p:sp>
          <p:nvSpPr>
            <p:cNvPr id="444422" name="Text Box 6"/>
            <p:cNvSpPr txBox="1">
              <a:spLocks noChangeArrowheads="1"/>
            </p:cNvSpPr>
            <p:nvPr/>
          </p:nvSpPr>
          <p:spPr bwMode="auto">
            <a:xfrm>
              <a:off x="700" y="2962"/>
              <a:ext cx="431"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b="0">
                  <a:solidFill>
                    <a:srgbClr val="000000"/>
                  </a:solidFill>
                </a:rPr>
                <a:t>Node</a:t>
              </a:r>
            </a:p>
            <a:p>
              <a:pPr algn="ctr">
                <a:defRPr/>
              </a:pPr>
              <a:r>
                <a:rPr lang="en-US" b="0">
                  <a:solidFill>
                    <a:srgbClr val="000000"/>
                  </a:solidFill>
                </a:rPr>
                <a:t>Address</a:t>
              </a:r>
            </a:p>
          </p:txBody>
        </p:sp>
        <p:sp>
          <p:nvSpPr>
            <p:cNvPr id="444423" name="Text Box 7"/>
            <p:cNvSpPr txBox="1">
              <a:spLocks noChangeArrowheads="1"/>
            </p:cNvSpPr>
            <p:nvPr/>
          </p:nvSpPr>
          <p:spPr bwMode="auto">
            <a:xfrm>
              <a:off x="415" y="3298"/>
              <a:ext cx="895"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b="0">
                  <a:solidFill>
                    <a:srgbClr val="000000"/>
                  </a:solidFill>
                </a:rPr>
                <a:t>Point of Attachment</a:t>
              </a:r>
            </a:p>
            <a:p>
              <a:pPr algn="ctr">
                <a:defRPr/>
              </a:pPr>
              <a:r>
                <a:rPr lang="en-US" b="0">
                  <a:solidFill>
                    <a:srgbClr val="000000"/>
                  </a:solidFill>
                </a:rPr>
                <a:t>Address</a:t>
              </a:r>
            </a:p>
          </p:txBody>
        </p:sp>
        <p:grpSp>
          <p:nvGrpSpPr>
            <p:cNvPr id="49168" name="Group 8"/>
            <p:cNvGrpSpPr>
              <a:grpSpLocks/>
            </p:cNvGrpSpPr>
            <p:nvPr/>
          </p:nvGrpSpPr>
          <p:grpSpPr bwMode="auto">
            <a:xfrm>
              <a:off x="1200" y="2352"/>
              <a:ext cx="3456" cy="1344"/>
              <a:chOff x="960" y="1056"/>
              <a:chExt cx="3456" cy="1344"/>
            </a:xfrm>
          </p:grpSpPr>
          <p:sp>
            <p:nvSpPr>
              <p:cNvPr id="444425" name="Oval 9" descr="60%"/>
              <p:cNvSpPr>
                <a:spLocks noChangeArrowheads="1"/>
              </p:cNvSpPr>
              <p:nvPr/>
            </p:nvSpPr>
            <p:spPr bwMode="auto">
              <a:xfrm>
                <a:off x="3984" y="2160"/>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rgbClr val="00CC99"/>
                  </a:solidFill>
                </a:endParaRPr>
              </a:p>
            </p:txBody>
          </p:sp>
          <p:sp>
            <p:nvSpPr>
              <p:cNvPr id="444426" name="Oval 10" descr="60%"/>
              <p:cNvSpPr>
                <a:spLocks noChangeArrowheads="1"/>
              </p:cNvSpPr>
              <p:nvPr/>
            </p:nvSpPr>
            <p:spPr bwMode="auto">
              <a:xfrm>
                <a:off x="3312" y="2160"/>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rgbClr val="00CC99"/>
                  </a:solidFill>
                </a:endParaRPr>
              </a:p>
            </p:txBody>
          </p:sp>
          <p:sp>
            <p:nvSpPr>
              <p:cNvPr id="444427" name="Oval 11" descr="60%"/>
              <p:cNvSpPr>
                <a:spLocks noChangeArrowheads="1"/>
              </p:cNvSpPr>
              <p:nvPr/>
            </p:nvSpPr>
            <p:spPr bwMode="auto">
              <a:xfrm>
                <a:off x="2928" y="2160"/>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rgbClr val="00CC99"/>
                  </a:solidFill>
                </a:endParaRPr>
              </a:p>
            </p:txBody>
          </p:sp>
          <p:sp>
            <p:nvSpPr>
              <p:cNvPr id="444428" name="Oval 12" descr="60%"/>
              <p:cNvSpPr>
                <a:spLocks noChangeArrowheads="1"/>
              </p:cNvSpPr>
              <p:nvPr/>
            </p:nvSpPr>
            <p:spPr bwMode="auto">
              <a:xfrm>
                <a:off x="2304" y="2160"/>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rgbClr val="00CC99"/>
                  </a:solidFill>
                </a:endParaRPr>
              </a:p>
            </p:txBody>
          </p:sp>
          <p:sp>
            <p:nvSpPr>
              <p:cNvPr id="444429" name="Oval 13" descr="60%"/>
              <p:cNvSpPr>
                <a:spLocks noChangeArrowheads="1"/>
              </p:cNvSpPr>
              <p:nvPr/>
            </p:nvSpPr>
            <p:spPr bwMode="auto">
              <a:xfrm>
                <a:off x="1920" y="2160"/>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rgbClr val="00CC99"/>
                  </a:solidFill>
                </a:endParaRPr>
              </a:p>
            </p:txBody>
          </p:sp>
          <p:sp>
            <p:nvSpPr>
              <p:cNvPr id="444430" name="Oval 14" descr="60%"/>
              <p:cNvSpPr>
                <a:spLocks noChangeArrowheads="1"/>
              </p:cNvSpPr>
              <p:nvPr/>
            </p:nvSpPr>
            <p:spPr bwMode="auto">
              <a:xfrm>
                <a:off x="1296" y="2160"/>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rgbClr val="00CC99"/>
                  </a:solidFill>
                </a:endParaRPr>
              </a:p>
            </p:txBody>
          </p:sp>
          <p:grpSp>
            <p:nvGrpSpPr>
              <p:cNvPr id="49175" name="Group 15"/>
              <p:cNvGrpSpPr>
                <a:grpSpLocks/>
              </p:cNvGrpSpPr>
              <p:nvPr/>
            </p:nvGrpSpPr>
            <p:grpSpPr bwMode="auto">
              <a:xfrm>
                <a:off x="1152" y="1344"/>
                <a:ext cx="3024" cy="240"/>
                <a:chOff x="1152" y="1344"/>
                <a:chExt cx="3024" cy="240"/>
              </a:xfrm>
            </p:grpSpPr>
            <p:sp>
              <p:nvSpPr>
                <p:cNvPr id="444432" name="Oval 16" descr="20%"/>
                <p:cNvSpPr>
                  <a:spLocks noChangeArrowheads="1"/>
                </p:cNvSpPr>
                <p:nvPr/>
              </p:nvSpPr>
              <p:spPr bwMode="auto">
                <a:xfrm>
                  <a:off x="1392" y="1392"/>
                  <a:ext cx="2640" cy="144"/>
                </a:xfrm>
                <a:prstGeom prst="ellipse">
                  <a:avLst/>
                </a:prstGeom>
                <a:pattFill prst="pct2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4433" name="Rectangle 17"/>
                <p:cNvSpPr>
                  <a:spLocks noChangeArrowheads="1"/>
                </p:cNvSpPr>
                <p:nvPr/>
              </p:nvSpPr>
              <p:spPr bwMode="auto">
                <a:xfrm>
                  <a:off x="1152" y="1344"/>
                  <a:ext cx="3024" cy="240"/>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4434" name="Oval 18"/>
                <p:cNvSpPr>
                  <a:spLocks noChangeArrowheads="1"/>
                </p:cNvSpPr>
                <p:nvPr/>
              </p:nvSpPr>
              <p:spPr bwMode="auto">
                <a:xfrm>
                  <a:off x="1248" y="139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4435" name="Oval 19"/>
                <p:cNvSpPr>
                  <a:spLocks noChangeArrowheads="1"/>
                </p:cNvSpPr>
                <p:nvPr/>
              </p:nvSpPr>
              <p:spPr bwMode="auto">
                <a:xfrm>
                  <a:off x="3984" y="139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grpSp>
          <p:sp>
            <p:nvSpPr>
              <p:cNvPr id="444436" name="Oval 20" descr="20%"/>
              <p:cNvSpPr>
                <a:spLocks noChangeArrowheads="1"/>
              </p:cNvSpPr>
              <p:nvPr/>
            </p:nvSpPr>
            <p:spPr bwMode="auto">
              <a:xfrm>
                <a:off x="1344" y="2064"/>
                <a:ext cx="624" cy="96"/>
              </a:xfrm>
              <a:prstGeom prst="ellipse">
                <a:avLst/>
              </a:prstGeom>
              <a:pattFill prst="pct2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4437" name="Oval 21" descr="60%"/>
              <p:cNvSpPr>
                <a:spLocks noChangeArrowheads="1"/>
              </p:cNvSpPr>
              <p:nvPr/>
            </p:nvSpPr>
            <p:spPr bwMode="auto">
              <a:xfrm rot="1127993">
                <a:off x="2023" y="1825"/>
                <a:ext cx="96" cy="288"/>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rgbClr val="00CC99"/>
                  </a:solidFill>
                </a:endParaRPr>
              </a:p>
            </p:txBody>
          </p:sp>
          <p:sp>
            <p:nvSpPr>
              <p:cNvPr id="444438" name="Oval 22" descr="60%"/>
              <p:cNvSpPr>
                <a:spLocks noChangeArrowheads="1"/>
              </p:cNvSpPr>
              <p:nvPr/>
            </p:nvSpPr>
            <p:spPr bwMode="auto">
              <a:xfrm>
                <a:off x="1296" y="1872"/>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rgbClr val="00CC99"/>
                  </a:solidFill>
                </a:endParaRPr>
              </a:p>
            </p:txBody>
          </p:sp>
          <p:sp>
            <p:nvSpPr>
              <p:cNvPr id="444439" name="Rectangle 23"/>
              <p:cNvSpPr>
                <a:spLocks noChangeArrowheads="1"/>
              </p:cNvSpPr>
              <p:nvPr/>
            </p:nvSpPr>
            <p:spPr bwMode="auto">
              <a:xfrm>
                <a:off x="1152" y="2016"/>
                <a:ext cx="1008" cy="240"/>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4440" name="Oval 24"/>
              <p:cNvSpPr>
                <a:spLocks noChangeArrowheads="1"/>
              </p:cNvSpPr>
              <p:nvPr/>
            </p:nvSpPr>
            <p:spPr bwMode="auto">
              <a:xfrm>
                <a:off x="1248" y="2064"/>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4441" name="Oval 25"/>
              <p:cNvSpPr>
                <a:spLocks noChangeArrowheads="1"/>
              </p:cNvSpPr>
              <p:nvPr/>
            </p:nvSpPr>
            <p:spPr bwMode="auto">
              <a:xfrm>
                <a:off x="1920" y="2064"/>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4442" name="Oval 26" descr="20%"/>
              <p:cNvSpPr>
                <a:spLocks noChangeArrowheads="1"/>
              </p:cNvSpPr>
              <p:nvPr/>
            </p:nvSpPr>
            <p:spPr bwMode="auto">
              <a:xfrm>
                <a:off x="2352" y="2064"/>
                <a:ext cx="624" cy="96"/>
              </a:xfrm>
              <a:prstGeom prst="ellipse">
                <a:avLst/>
              </a:prstGeom>
              <a:pattFill prst="pct2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4443" name="Oval 27" descr="60%"/>
              <p:cNvSpPr>
                <a:spLocks noChangeArrowheads="1"/>
              </p:cNvSpPr>
              <p:nvPr/>
            </p:nvSpPr>
            <p:spPr bwMode="auto">
              <a:xfrm rot="1638151">
                <a:off x="3072" y="1872"/>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rgbClr val="00CC99"/>
                  </a:solidFill>
                </a:endParaRPr>
              </a:p>
            </p:txBody>
          </p:sp>
          <p:sp>
            <p:nvSpPr>
              <p:cNvPr id="444444" name="Oval 28" descr="60%"/>
              <p:cNvSpPr>
                <a:spLocks noChangeArrowheads="1"/>
              </p:cNvSpPr>
              <p:nvPr/>
            </p:nvSpPr>
            <p:spPr bwMode="auto">
              <a:xfrm rot="-1187808">
                <a:off x="2168" y="1822"/>
                <a:ext cx="96" cy="288"/>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rgbClr val="00CC99"/>
                  </a:solidFill>
                </a:endParaRPr>
              </a:p>
            </p:txBody>
          </p:sp>
          <p:sp>
            <p:nvSpPr>
              <p:cNvPr id="444445" name="Rectangle 29"/>
              <p:cNvSpPr>
                <a:spLocks noChangeArrowheads="1"/>
              </p:cNvSpPr>
              <p:nvPr/>
            </p:nvSpPr>
            <p:spPr bwMode="auto">
              <a:xfrm>
                <a:off x="2160" y="2016"/>
                <a:ext cx="1008" cy="240"/>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4446" name="Oval 30"/>
              <p:cNvSpPr>
                <a:spLocks noChangeArrowheads="1"/>
              </p:cNvSpPr>
              <p:nvPr/>
            </p:nvSpPr>
            <p:spPr bwMode="auto">
              <a:xfrm>
                <a:off x="2256" y="2064"/>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4447" name="Oval 31"/>
              <p:cNvSpPr>
                <a:spLocks noChangeArrowheads="1"/>
              </p:cNvSpPr>
              <p:nvPr/>
            </p:nvSpPr>
            <p:spPr bwMode="auto">
              <a:xfrm>
                <a:off x="2928" y="2064"/>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4448" name="Oval 32" descr="20%"/>
              <p:cNvSpPr>
                <a:spLocks noChangeArrowheads="1"/>
              </p:cNvSpPr>
              <p:nvPr/>
            </p:nvSpPr>
            <p:spPr bwMode="auto">
              <a:xfrm>
                <a:off x="3360" y="2064"/>
                <a:ext cx="624" cy="96"/>
              </a:xfrm>
              <a:prstGeom prst="ellipse">
                <a:avLst/>
              </a:prstGeom>
              <a:pattFill prst="pct2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4449" name="Oval 33" descr="60%"/>
              <p:cNvSpPr>
                <a:spLocks noChangeArrowheads="1"/>
              </p:cNvSpPr>
              <p:nvPr/>
            </p:nvSpPr>
            <p:spPr bwMode="auto">
              <a:xfrm>
                <a:off x="3984" y="1872"/>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rgbClr val="00CC99"/>
                  </a:solidFill>
                </a:endParaRPr>
              </a:p>
            </p:txBody>
          </p:sp>
          <p:sp>
            <p:nvSpPr>
              <p:cNvPr id="444450" name="Oval 34" descr="60%"/>
              <p:cNvSpPr>
                <a:spLocks noChangeArrowheads="1"/>
              </p:cNvSpPr>
              <p:nvPr/>
            </p:nvSpPr>
            <p:spPr bwMode="auto">
              <a:xfrm rot="-1510090">
                <a:off x="3216" y="1872"/>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rgbClr val="00CC99"/>
                  </a:solidFill>
                </a:endParaRPr>
              </a:p>
            </p:txBody>
          </p:sp>
          <p:sp>
            <p:nvSpPr>
              <p:cNvPr id="444451" name="Rectangle 35"/>
              <p:cNvSpPr>
                <a:spLocks noChangeArrowheads="1"/>
              </p:cNvSpPr>
              <p:nvPr/>
            </p:nvSpPr>
            <p:spPr bwMode="auto">
              <a:xfrm>
                <a:off x="3168" y="2016"/>
                <a:ext cx="1008" cy="240"/>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4452" name="Oval 36"/>
              <p:cNvSpPr>
                <a:spLocks noChangeArrowheads="1"/>
              </p:cNvSpPr>
              <p:nvPr/>
            </p:nvSpPr>
            <p:spPr bwMode="auto">
              <a:xfrm>
                <a:off x="3264" y="2064"/>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4453" name="Oval 37"/>
              <p:cNvSpPr>
                <a:spLocks noChangeArrowheads="1"/>
              </p:cNvSpPr>
              <p:nvPr/>
            </p:nvSpPr>
            <p:spPr bwMode="auto">
              <a:xfrm>
                <a:off x="3936" y="2064"/>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4454" name="Oval 38" descr="20%"/>
              <p:cNvSpPr>
                <a:spLocks noChangeArrowheads="1"/>
              </p:cNvSpPr>
              <p:nvPr/>
            </p:nvSpPr>
            <p:spPr bwMode="auto">
              <a:xfrm>
                <a:off x="1344" y="1728"/>
                <a:ext cx="768" cy="96"/>
              </a:xfrm>
              <a:prstGeom prst="ellipse">
                <a:avLst/>
              </a:prstGeom>
              <a:pattFill prst="pct2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4455" name="Oval 39" descr="60%"/>
              <p:cNvSpPr>
                <a:spLocks noChangeArrowheads="1"/>
              </p:cNvSpPr>
              <p:nvPr/>
            </p:nvSpPr>
            <p:spPr bwMode="auto">
              <a:xfrm>
                <a:off x="1296" y="1536"/>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rgbClr val="00CC99"/>
                  </a:solidFill>
                </a:endParaRPr>
              </a:p>
            </p:txBody>
          </p:sp>
          <p:sp>
            <p:nvSpPr>
              <p:cNvPr id="444456" name="Rectangle 40"/>
              <p:cNvSpPr>
                <a:spLocks noChangeArrowheads="1"/>
              </p:cNvSpPr>
              <p:nvPr/>
            </p:nvSpPr>
            <p:spPr bwMode="auto">
              <a:xfrm>
                <a:off x="1152" y="1680"/>
                <a:ext cx="1008" cy="240"/>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4457" name="Oval 41"/>
              <p:cNvSpPr>
                <a:spLocks noChangeArrowheads="1"/>
              </p:cNvSpPr>
              <p:nvPr/>
            </p:nvSpPr>
            <p:spPr bwMode="auto">
              <a:xfrm>
                <a:off x="1248" y="1728"/>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4458" name="Oval 42" descr="20%"/>
              <p:cNvSpPr>
                <a:spLocks noChangeArrowheads="1"/>
              </p:cNvSpPr>
              <p:nvPr/>
            </p:nvSpPr>
            <p:spPr bwMode="auto">
              <a:xfrm>
                <a:off x="2208" y="1728"/>
                <a:ext cx="960" cy="96"/>
              </a:xfrm>
              <a:prstGeom prst="ellipse">
                <a:avLst/>
              </a:prstGeom>
              <a:pattFill prst="pct2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4459" name="Rectangle 43"/>
              <p:cNvSpPr>
                <a:spLocks noChangeArrowheads="1"/>
              </p:cNvSpPr>
              <p:nvPr/>
            </p:nvSpPr>
            <p:spPr bwMode="auto">
              <a:xfrm>
                <a:off x="2160" y="1680"/>
                <a:ext cx="1008" cy="240"/>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4460" name="Oval 44" descr="20%"/>
              <p:cNvSpPr>
                <a:spLocks noChangeArrowheads="1"/>
              </p:cNvSpPr>
              <p:nvPr/>
            </p:nvSpPr>
            <p:spPr bwMode="auto">
              <a:xfrm>
                <a:off x="3264" y="1728"/>
                <a:ext cx="720" cy="96"/>
              </a:xfrm>
              <a:prstGeom prst="ellipse">
                <a:avLst/>
              </a:prstGeom>
              <a:pattFill prst="pct2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4461" name="Oval 45" descr="60%"/>
              <p:cNvSpPr>
                <a:spLocks noChangeArrowheads="1"/>
              </p:cNvSpPr>
              <p:nvPr/>
            </p:nvSpPr>
            <p:spPr bwMode="auto">
              <a:xfrm>
                <a:off x="3984" y="1536"/>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rgbClr val="00CC99"/>
                  </a:solidFill>
                </a:endParaRPr>
              </a:p>
            </p:txBody>
          </p:sp>
          <p:sp>
            <p:nvSpPr>
              <p:cNvPr id="444462" name="Rectangle 46"/>
              <p:cNvSpPr>
                <a:spLocks noChangeArrowheads="1"/>
              </p:cNvSpPr>
              <p:nvPr/>
            </p:nvSpPr>
            <p:spPr bwMode="auto">
              <a:xfrm>
                <a:off x="3168" y="1680"/>
                <a:ext cx="1008" cy="240"/>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4463" name="Oval 47"/>
              <p:cNvSpPr>
                <a:spLocks noChangeArrowheads="1"/>
              </p:cNvSpPr>
              <p:nvPr/>
            </p:nvSpPr>
            <p:spPr bwMode="auto">
              <a:xfrm>
                <a:off x="3936" y="1728"/>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4464" name="Rectangle 48"/>
              <p:cNvSpPr>
                <a:spLocks noChangeArrowheads="1"/>
              </p:cNvSpPr>
              <p:nvPr/>
            </p:nvSpPr>
            <p:spPr bwMode="auto">
              <a:xfrm>
                <a:off x="1056" y="1056"/>
                <a:ext cx="480" cy="1248"/>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4465" name="Rectangle 49"/>
              <p:cNvSpPr>
                <a:spLocks noChangeArrowheads="1"/>
              </p:cNvSpPr>
              <p:nvPr/>
            </p:nvSpPr>
            <p:spPr bwMode="auto">
              <a:xfrm>
                <a:off x="1872" y="1056"/>
                <a:ext cx="528" cy="1248"/>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4466" name="Rectangle 50"/>
              <p:cNvSpPr>
                <a:spLocks noChangeArrowheads="1"/>
              </p:cNvSpPr>
              <p:nvPr/>
            </p:nvSpPr>
            <p:spPr bwMode="auto">
              <a:xfrm>
                <a:off x="2880" y="1056"/>
                <a:ext cx="528" cy="1248"/>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4467" name="Rectangle 51"/>
              <p:cNvSpPr>
                <a:spLocks noChangeArrowheads="1"/>
              </p:cNvSpPr>
              <p:nvPr/>
            </p:nvSpPr>
            <p:spPr bwMode="auto">
              <a:xfrm>
                <a:off x="3840" y="1056"/>
                <a:ext cx="576" cy="1248"/>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4468" name="Rectangle 52"/>
              <p:cNvSpPr>
                <a:spLocks noChangeArrowheads="1"/>
              </p:cNvSpPr>
              <p:nvPr/>
            </p:nvSpPr>
            <p:spPr bwMode="auto">
              <a:xfrm>
                <a:off x="1248" y="2304"/>
                <a:ext cx="768" cy="96"/>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4469" name="Rectangle 53"/>
              <p:cNvSpPr>
                <a:spLocks noChangeArrowheads="1"/>
              </p:cNvSpPr>
              <p:nvPr/>
            </p:nvSpPr>
            <p:spPr bwMode="auto">
              <a:xfrm>
                <a:off x="2304" y="2304"/>
                <a:ext cx="768" cy="96"/>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4470" name="Rectangle 54"/>
              <p:cNvSpPr>
                <a:spLocks noChangeArrowheads="1"/>
              </p:cNvSpPr>
              <p:nvPr/>
            </p:nvSpPr>
            <p:spPr bwMode="auto">
              <a:xfrm>
                <a:off x="3312" y="2304"/>
                <a:ext cx="768" cy="96"/>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4471" name="Oval 55"/>
              <p:cNvSpPr>
                <a:spLocks noChangeArrowheads="1"/>
              </p:cNvSpPr>
              <p:nvPr/>
            </p:nvSpPr>
            <p:spPr bwMode="auto">
              <a:xfrm>
                <a:off x="2064" y="1728"/>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4472" name="Line 56"/>
              <p:cNvSpPr>
                <a:spLocks noChangeShapeType="1"/>
              </p:cNvSpPr>
              <p:nvPr/>
            </p:nvSpPr>
            <p:spPr bwMode="auto">
              <a:xfrm>
                <a:off x="1008" y="2112"/>
                <a:ext cx="240"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4473" name="Line 57"/>
              <p:cNvSpPr>
                <a:spLocks noChangeShapeType="1"/>
              </p:cNvSpPr>
              <p:nvPr/>
            </p:nvSpPr>
            <p:spPr bwMode="auto">
              <a:xfrm>
                <a:off x="1008" y="1776"/>
                <a:ext cx="240"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4474" name="Line 58"/>
              <p:cNvSpPr>
                <a:spLocks noChangeShapeType="1"/>
              </p:cNvSpPr>
              <p:nvPr/>
            </p:nvSpPr>
            <p:spPr bwMode="auto">
              <a:xfrm>
                <a:off x="960" y="1488"/>
                <a:ext cx="2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4475" name="Oval 59"/>
              <p:cNvSpPr>
                <a:spLocks noChangeArrowheads="1"/>
              </p:cNvSpPr>
              <p:nvPr/>
            </p:nvSpPr>
            <p:spPr bwMode="auto">
              <a:xfrm>
                <a:off x="3120" y="1728"/>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grpSp>
      </p:grpSp>
      <p:sp>
        <p:nvSpPr>
          <p:cNvPr id="444476" name="Rectangle 60"/>
          <p:cNvSpPr>
            <a:spLocks noChangeArrowheads="1"/>
          </p:cNvSpPr>
          <p:nvPr/>
        </p:nvSpPr>
        <p:spPr bwMode="auto">
          <a:xfrm>
            <a:off x="1787525" y="4503738"/>
            <a:ext cx="184150" cy="2746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endParaRPr lang="en-US">
              <a:solidFill>
                <a:srgbClr val="000000"/>
              </a:solidFill>
            </a:endParaRPr>
          </a:p>
        </p:txBody>
      </p:sp>
      <p:sp>
        <p:nvSpPr>
          <p:cNvPr id="64" name="Curved Right Arrow 63"/>
          <p:cNvSpPr/>
          <p:nvPr/>
        </p:nvSpPr>
        <p:spPr bwMode="auto">
          <a:xfrm>
            <a:off x="1703388" y="4922838"/>
            <a:ext cx="152400" cy="381000"/>
          </a:xfrm>
          <a:prstGeom prst="curved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r>
              <a:rPr lang="en-US" sz="2400" b="0" dirty="0">
                <a:solidFill>
                  <a:srgbClr val="000000"/>
                </a:solidFill>
              </a:rPr>
              <a:t>     </a:t>
            </a:r>
          </a:p>
        </p:txBody>
      </p:sp>
      <p:sp>
        <p:nvSpPr>
          <p:cNvPr id="65" name="Curved Right Arrow 64"/>
          <p:cNvSpPr/>
          <p:nvPr/>
        </p:nvSpPr>
        <p:spPr bwMode="auto">
          <a:xfrm>
            <a:off x="1703388" y="4379913"/>
            <a:ext cx="152400" cy="381000"/>
          </a:xfrm>
          <a:prstGeom prst="curved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r>
              <a:rPr lang="en-US" sz="2400" b="0" dirty="0">
                <a:solidFill>
                  <a:srgbClr val="000000"/>
                </a:solidFill>
              </a:rPr>
              <a:t>     </a:t>
            </a:r>
          </a:p>
        </p:txBody>
      </p:sp>
      <p:sp>
        <p:nvSpPr>
          <p:cNvPr id="66" name="Curved Down Arrow 65"/>
          <p:cNvSpPr/>
          <p:nvPr/>
        </p:nvSpPr>
        <p:spPr bwMode="auto">
          <a:xfrm>
            <a:off x="2084388" y="5038725"/>
            <a:ext cx="838200" cy="293688"/>
          </a:xfrm>
          <a:prstGeom prst="curved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sz="2400" b="0">
              <a:solidFill>
                <a:srgbClr val="000000"/>
              </a:solidFill>
            </a:endParaRPr>
          </a:p>
        </p:txBody>
      </p:sp>
      <p:sp>
        <p:nvSpPr>
          <p:cNvPr id="67" name="Curved Down Arrow 66"/>
          <p:cNvSpPr/>
          <p:nvPr/>
        </p:nvSpPr>
        <p:spPr bwMode="auto">
          <a:xfrm>
            <a:off x="3684588" y="5099050"/>
            <a:ext cx="838200" cy="295275"/>
          </a:xfrm>
          <a:prstGeom prst="curved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sz="2400" b="0">
              <a:solidFill>
                <a:srgbClr val="000000"/>
              </a:solidFill>
            </a:endParaRPr>
          </a:p>
        </p:txBody>
      </p:sp>
      <p:sp>
        <p:nvSpPr>
          <p:cNvPr id="68" name="Curved Down Arrow 67"/>
          <p:cNvSpPr/>
          <p:nvPr/>
        </p:nvSpPr>
        <p:spPr bwMode="auto">
          <a:xfrm>
            <a:off x="5284788" y="5041900"/>
            <a:ext cx="838200" cy="295275"/>
          </a:xfrm>
          <a:prstGeom prst="curved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sz="2400" b="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441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5"/>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44419">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4419">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44419">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44419">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419" grpId="0" build="p"/>
      <p:bldP spid="64" grpId="0" animBg="1"/>
      <p:bldP spid="65" grpId="0" animBg="1"/>
      <p:bldP spid="66" grpId="0" animBg="1"/>
      <p:bldP spid="67" grpId="0" animBg="1"/>
      <p:bldP spid="6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Date Placeholder 3"/>
          <p:cNvSpPr>
            <a:spLocks noGrp="1"/>
          </p:cNvSpPr>
          <p:nvPr>
            <p:ph type="dt" sz="quarter" idx="10"/>
          </p:nvPr>
        </p:nvSpPr>
        <p:spPr/>
        <p:txBody>
          <a:bodyPr/>
          <a:lstStyle/>
          <a:p>
            <a:pPr>
              <a:defRPr/>
            </a:pPr>
            <a:fld id="{9C916EF9-EE79-1D45-85E1-0B7AC016069D}" type="datetime3">
              <a:rPr lang="en-US"/>
              <a:pPr>
                <a:defRPr/>
              </a:pPr>
              <a:t>14 January 2026</a:t>
            </a:fld>
            <a:endParaRPr lang="en-US"/>
          </a:p>
        </p:txBody>
      </p:sp>
      <p:sp>
        <p:nvSpPr>
          <p:cNvPr id="446466" name="Rectangle 2"/>
          <p:cNvSpPr>
            <a:spLocks noGrp="1" noChangeArrowheads="1"/>
          </p:cNvSpPr>
          <p:nvPr>
            <p:ph type="title"/>
          </p:nvPr>
        </p:nvSpPr>
        <p:spPr>
          <a:xfrm>
            <a:off x="685800" y="228600"/>
            <a:ext cx="7772400" cy="1143000"/>
          </a:xfrm>
        </p:spPr>
        <p:txBody>
          <a:bodyPr/>
          <a:lstStyle/>
          <a:p>
            <a:pPr>
              <a:defRPr/>
            </a:pPr>
            <a:r>
              <a:rPr lang="en-US" sz="2800" dirty="0">
                <a:cs typeface="+mj-cs"/>
              </a:rPr>
              <a:t>Oddly, </a:t>
            </a:r>
            <a:r>
              <a:rPr lang="en-US" sz="2800" dirty="0" err="1">
                <a:cs typeface="+mj-cs"/>
              </a:rPr>
              <a:t>Saltzer</a:t>
            </a:r>
            <a:r>
              <a:rPr lang="en-US" sz="2800" dirty="0">
                <a:cs typeface="+mj-cs"/>
              </a:rPr>
              <a:t> Saw What Made Networks Different</a:t>
            </a:r>
            <a:br>
              <a:rPr lang="en-US" sz="2000" dirty="0">
                <a:cs typeface="+mj-cs"/>
              </a:rPr>
            </a:br>
            <a:r>
              <a:rPr lang="en-US" sz="2000" dirty="0">
                <a:cs typeface="+mj-cs"/>
              </a:rPr>
              <a:t>But He Didn’t See Its Implications</a:t>
            </a:r>
            <a:endParaRPr lang="en-US" sz="3200" dirty="0">
              <a:cs typeface="+mj-cs"/>
            </a:endParaRPr>
          </a:p>
        </p:txBody>
      </p:sp>
      <p:sp>
        <p:nvSpPr>
          <p:cNvPr id="446467" name="Rectangle 3"/>
          <p:cNvSpPr>
            <a:spLocks noGrp="1" noChangeArrowheads="1"/>
          </p:cNvSpPr>
          <p:nvPr>
            <p:ph type="body" idx="1"/>
          </p:nvPr>
        </p:nvSpPr>
        <p:spPr>
          <a:xfrm>
            <a:off x="663575" y="1371600"/>
            <a:ext cx="7772400" cy="4114800"/>
          </a:xfrm>
        </p:spPr>
        <p:txBody>
          <a:bodyPr/>
          <a:lstStyle/>
          <a:p>
            <a:pPr>
              <a:defRPr/>
            </a:pPr>
            <a:r>
              <a:rPr lang="en-US" sz="2000" dirty="0">
                <a:cs typeface="+mn-cs"/>
              </a:rPr>
              <a:t>There can be More than One path to the Next Hop.</a:t>
            </a:r>
          </a:p>
          <a:p>
            <a:pPr lvl="1">
              <a:defRPr/>
            </a:pPr>
            <a:r>
              <a:rPr lang="en-US" sz="1800" dirty="0"/>
              <a:t>This case does not occur in operating systems.  There is only one path from the process to process: through memory.</a:t>
            </a:r>
          </a:p>
          <a:p>
            <a:pPr>
              <a:defRPr/>
            </a:pPr>
            <a:r>
              <a:rPr lang="en-US" sz="2000" dirty="0">
                <a:cs typeface="+mn-cs"/>
              </a:rPr>
              <a:t>Must route on the Node addresses, not the point of attachments</a:t>
            </a:r>
          </a:p>
          <a:p>
            <a:pPr lvl="1">
              <a:defRPr/>
            </a:pPr>
            <a:r>
              <a:rPr lang="en-US" sz="1600" dirty="0">
                <a:cs typeface="+mn-cs"/>
              </a:rPr>
              <a:t>Otherwise, the routing algorithm will blow up.</a:t>
            </a:r>
          </a:p>
        </p:txBody>
      </p:sp>
      <p:grpSp>
        <p:nvGrpSpPr>
          <p:cNvPr id="51204" name="Group 4"/>
          <p:cNvGrpSpPr>
            <a:grpSpLocks/>
          </p:cNvGrpSpPr>
          <p:nvPr/>
        </p:nvGrpSpPr>
        <p:grpSpPr bwMode="auto">
          <a:xfrm>
            <a:off x="636588" y="3206750"/>
            <a:ext cx="6732587" cy="2133600"/>
            <a:chOff x="415" y="2352"/>
            <a:chExt cx="4241" cy="1344"/>
          </a:xfrm>
        </p:grpSpPr>
        <p:sp>
          <p:nvSpPr>
            <p:cNvPr id="446469" name="Text Box 5"/>
            <p:cNvSpPr txBox="1">
              <a:spLocks noChangeArrowheads="1"/>
            </p:cNvSpPr>
            <p:nvPr/>
          </p:nvSpPr>
          <p:spPr bwMode="auto">
            <a:xfrm>
              <a:off x="432" y="2688"/>
              <a:ext cx="822"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b="0">
                  <a:solidFill>
                    <a:srgbClr val="000000"/>
                  </a:solidFill>
                </a:rPr>
                <a:t>Application Name</a:t>
              </a:r>
            </a:p>
          </p:txBody>
        </p:sp>
        <p:sp>
          <p:nvSpPr>
            <p:cNvPr id="446470" name="Text Box 6"/>
            <p:cNvSpPr txBox="1">
              <a:spLocks noChangeArrowheads="1"/>
            </p:cNvSpPr>
            <p:nvPr/>
          </p:nvSpPr>
          <p:spPr bwMode="auto">
            <a:xfrm>
              <a:off x="700" y="2962"/>
              <a:ext cx="431"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b="0">
                  <a:solidFill>
                    <a:srgbClr val="000000"/>
                  </a:solidFill>
                </a:rPr>
                <a:t>Node</a:t>
              </a:r>
            </a:p>
            <a:p>
              <a:pPr algn="ctr">
                <a:defRPr/>
              </a:pPr>
              <a:r>
                <a:rPr lang="en-US" b="0">
                  <a:solidFill>
                    <a:srgbClr val="000000"/>
                  </a:solidFill>
                </a:rPr>
                <a:t>Address</a:t>
              </a:r>
            </a:p>
          </p:txBody>
        </p:sp>
        <p:sp>
          <p:nvSpPr>
            <p:cNvPr id="446471" name="Text Box 7"/>
            <p:cNvSpPr txBox="1">
              <a:spLocks noChangeArrowheads="1"/>
            </p:cNvSpPr>
            <p:nvPr/>
          </p:nvSpPr>
          <p:spPr bwMode="auto">
            <a:xfrm>
              <a:off x="415" y="3298"/>
              <a:ext cx="895"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b="0">
                  <a:solidFill>
                    <a:srgbClr val="000000"/>
                  </a:solidFill>
                </a:rPr>
                <a:t>Point of Attachment</a:t>
              </a:r>
            </a:p>
            <a:p>
              <a:pPr algn="ctr">
                <a:defRPr/>
              </a:pPr>
              <a:r>
                <a:rPr lang="en-US" b="0">
                  <a:solidFill>
                    <a:srgbClr val="000000"/>
                  </a:solidFill>
                </a:rPr>
                <a:t>Address</a:t>
              </a:r>
            </a:p>
          </p:txBody>
        </p:sp>
        <p:grpSp>
          <p:nvGrpSpPr>
            <p:cNvPr id="51224" name="Group 8"/>
            <p:cNvGrpSpPr>
              <a:grpSpLocks/>
            </p:cNvGrpSpPr>
            <p:nvPr/>
          </p:nvGrpSpPr>
          <p:grpSpPr bwMode="auto">
            <a:xfrm>
              <a:off x="1200" y="2352"/>
              <a:ext cx="3456" cy="1344"/>
              <a:chOff x="960" y="1056"/>
              <a:chExt cx="3456" cy="1344"/>
            </a:xfrm>
          </p:grpSpPr>
          <p:sp>
            <p:nvSpPr>
              <p:cNvPr id="446473" name="Oval 9" descr="60%"/>
              <p:cNvSpPr>
                <a:spLocks noChangeArrowheads="1"/>
              </p:cNvSpPr>
              <p:nvPr/>
            </p:nvSpPr>
            <p:spPr bwMode="auto">
              <a:xfrm>
                <a:off x="3984" y="2160"/>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rgbClr val="00CC99"/>
                  </a:solidFill>
                </a:endParaRPr>
              </a:p>
            </p:txBody>
          </p:sp>
          <p:sp>
            <p:nvSpPr>
              <p:cNvPr id="446474" name="Oval 10" descr="60%"/>
              <p:cNvSpPr>
                <a:spLocks noChangeArrowheads="1"/>
              </p:cNvSpPr>
              <p:nvPr/>
            </p:nvSpPr>
            <p:spPr bwMode="auto">
              <a:xfrm>
                <a:off x="3312" y="2160"/>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rgbClr val="00CC99"/>
                  </a:solidFill>
                </a:endParaRPr>
              </a:p>
            </p:txBody>
          </p:sp>
          <p:sp>
            <p:nvSpPr>
              <p:cNvPr id="446475" name="Oval 11" descr="60%"/>
              <p:cNvSpPr>
                <a:spLocks noChangeArrowheads="1"/>
              </p:cNvSpPr>
              <p:nvPr/>
            </p:nvSpPr>
            <p:spPr bwMode="auto">
              <a:xfrm>
                <a:off x="2928" y="2160"/>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rgbClr val="00CC99"/>
                  </a:solidFill>
                </a:endParaRPr>
              </a:p>
            </p:txBody>
          </p:sp>
          <p:sp>
            <p:nvSpPr>
              <p:cNvPr id="446476" name="Oval 12" descr="60%"/>
              <p:cNvSpPr>
                <a:spLocks noChangeArrowheads="1"/>
              </p:cNvSpPr>
              <p:nvPr/>
            </p:nvSpPr>
            <p:spPr bwMode="auto">
              <a:xfrm>
                <a:off x="2304" y="2160"/>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rgbClr val="00CC99"/>
                  </a:solidFill>
                </a:endParaRPr>
              </a:p>
            </p:txBody>
          </p:sp>
          <p:sp>
            <p:nvSpPr>
              <p:cNvPr id="446477" name="Oval 13" descr="60%"/>
              <p:cNvSpPr>
                <a:spLocks noChangeArrowheads="1"/>
              </p:cNvSpPr>
              <p:nvPr/>
            </p:nvSpPr>
            <p:spPr bwMode="auto">
              <a:xfrm>
                <a:off x="1920" y="2160"/>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rgbClr val="00CC99"/>
                  </a:solidFill>
                </a:endParaRPr>
              </a:p>
            </p:txBody>
          </p:sp>
          <p:sp>
            <p:nvSpPr>
              <p:cNvPr id="446478" name="Oval 14" descr="60%"/>
              <p:cNvSpPr>
                <a:spLocks noChangeArrowheads="1"/>
              </p:cNvSpPr>
              <p:nvPr/>
            </p:nvSpPr>
            <p:spPr bwMode="auto">
              <a:xfrm>
                <a:off x="1296" y="2160"/>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rgbClr val="00CC99"/>
                  </a:solidFill>
                </a:endParaRPr>
              </a:p>
            </p:txBody>
          </p:sp>
          <p:grpSp>
            <p:nvGrpSpPr>
              <p:cNvPr id="51231" name="Group 15"/>
              <p:cNvGrpSpPr>
                <a:grpSpLocks/>
              </p:cNvGrpSpPr>
              <p:nvPr/>
            </p:nvGrpSpPr>
            <p:grpSpPr bwMode="auto">
              <a:xfrm>
                <a:off x="1152" y="1344"/>
                <a:ext cx="3024" cy="240"/>
                <a:chOff x="1152" y="1344"/>
                <a:chExt cx="3024" cy="240"/>
              </a:xfrm>
            </p:grpSpPr>
            <p:sp>
              <p:nvSpPr>
                <p:cNvPr id="446480" name="Oval 16" descr="20%"/>
                <p:cNvSpPr>
                  <a:spLocks noChangeArrowheads="1"/>
                </p:cNvSpPr>
                <p:nvPr/>
              </p:nvSpPr>
              <p:spPr bwMode="auto">
                <a:xfrm>
                  <a:off x="1392" y="1392"/>
                  <a:ext cx="2640" cy="144"/>
                </a:xfrm>
                <a:prstGeom prst="ellipse">
                  <a:avLst/>
                </a:prstGeom>
                <a:pattFill prst="pct2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6481" name="Rectangle 17"/>
                <p:cNvSpPr>
                  <a:spLocks noChangeArrowheads="1"/>
                </p:cNvSpPr>
                <p:nvPr/>
              </p:nvSpPr>
              <p:spPr bwMode="auto">
                <a:xfrm>
                  <a:off x="1152" y="1344"/>
                  <a:ext cx="3024" cy="240"/>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6482" name="Oval 18"/>
                <p:cNvSpPr>
                  <a:spLocks noChangeArrowheads="1"/>
                </p:cNvSpPr>
                <p:nvPr/>
              </p:nvSpPr>
              <p:spPr bwMode="auto">
                <a:xfrm>
                  <a:off x="1248" y="139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6483" name="Oval 19"/>
                <p:cNvSpPr>
                  <a:spLocks noChangeArrowheads="1"/>
                </p:cNvSpPr>
                <p:nvPr/>
              </p:nvSpPr>
              <p:spPr bwMode="auto">
                <a:xfrm>
                  <a:off x="3984" y="139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grpSp>
          <p:sp>
            <p:nvSpPr>
              <p:cNvPr id="446484" name="Oval 20" descr="20%"/>
              <p:cNvSpPr>
                <a:spLocks noChangeArrowheads="1"/>
              </p:cNvSpPr>
              <p:nvPr/>
            </p:nvSpPr>
            <p:spPr bwMode="auto">
              <a:xfrm>
                <a:off x="1344" y="2064"/>
                <a:ext cx="624" cy="96"/>
              </a:xfrm>
              <a:prstGeom prst="ellipse">
                <a:avLst/>
              </a:prstGeom>
              <a:pattFill prst="pct2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6485" name="Oval 21" descr="60%"/>
              <p:cNvSpPr>
                <a:spLocks noChangeArrowheads="1"/>
              </p:cNvSpPr>
              <p:nvPr/>
            </p:nvSpPr>
            <p:spPr bwMode="auto">
              <a:xfrm rot="1127993">
                <a:off x="2023" y="1825"/>
                <a:ext cx="96" cy="288"/>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rgbClr val="00CC99"/>
                  </a:solidFill>
                </a:endParaRPr>
              </a:p>
            </p:txBody>
          </p:sp>
          <p:sp>
            <p:nvSpPr>
              <p:cNvPr id="446486" name="Oval 22" descr="60%"/>
              <p:cNvSpPr>
                <a:spLocks noChangeArrowheads="1"/>
              </p:cNvSpPr>
              <p:nvPr/>
            </p:nvSpPr>
            <p:spPr bwMode="auto">
              <a:xfrm>
                <a:off x="1296" y="1872"/>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rgbClr val="00CC99"/>
                  </a:solidFill>
                </a:endParaRPr>
              </a:p>
            </p:txBody>
          </p:sp>
          <p:sp>
            <p:nvSpPr>
              <p:cNvPr id="446487" name="Rectangle 23"/>
              <p:cNvSpPr>
                <a:spLocks noChangeArrowheads="1"/>
              </p:cNvSpPr>
              <p:nvPr/>
            </p:nvSpPr>
            <p:spPr bwMode="auto">
              <a:xfrm>
                <a:off x="1152" y="2016"/>
                <a:ext cx="1008" cy="240"/>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6488" name="Oval 24"/>
              <p:cNvSpPr>
                <a:spLocks noChangeArrowheads="1"/>
              </p:cNvSpPr>
              <p:nvPr/>
            </p:nvSpPr>
            <p:spPr bwMode="auto">
              <a:xfrm>
                <a:off x="1248" y="2064"/>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6489" name="Oval 25"/>
              <p:cNvSpPr>
                <a:spLocks noChangeArrowheads="1"/>
              </p:cNvSpPr>
              <p:nvPr/>
            </p:nvSpPr>
            <p:spPr bwMode="auto">
              <a:xfrm>
                <a:off x="1920" y="2064"/>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6490" name="Oval 26" descr="20%"/>
              <p:cNvSpPr>
                <a:spLocks noChangeArrowheads="1"/>
              </p:cNvSpPr>
              <p:nvPr/>
            </p:nvSpPr>
            <p:spPr bwMode="auto">
              <a:xfrm>
                <a:off x="2352" y="2064"/>
                <a:ext cx="624" cy="96"/>
              </a:xfrm>
              <a:prstGeom prst="ellipse">
                <a:avLst/>
              </a:prstGeom>
              <a:pattFill prst="pct2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6491" name="Oval 27" descr="60%"/>
              <p:cNvSpPr>
                <a:spLocks noChangeArrowheads="1"/>
              </p:cNvSpPr>
              <p:nvPr/>
            </p:nvSpPr>
            <p:spPr bwMode="auto">
              <a:xfrm rot="1638151">
                <a:off x="3072" y="1872"/>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rgbClr val="00CC99"/>
                  </a:solidFill>
                </a:endParaRPr>
              </a:p>
            </p:txBody>
          </p:sp>
          <p:sp>
            <p:nvSpPr>
              <p:cNvPr id="446492" name="Oval 28" descr="60%"/>
              <p:cNvSpPr>
                <a:spLocks noChangeArrowheads="1"/>
              </p:cNvSpPr>
              <p:nvPr/>
            </p:nvSpPr>
            <p:spPr bwMode="auto">
              <a:xfrm rot="-1187808">
                <a:off x="2168" y="1822"/>
                <a:ext cx="96" cy="288"/>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rgbClr val="00CC99"/>
                  </a:solidFill>
                </a:endParaRPr>
              </a:p>
            </p:txBody>
          </p:sp>
          <p:sp>
            <p:nvSpPr>
              <p:cNvPr id="446493" name="Rectangle 29"/>
              <p:cNvSpPr>
                <a:spLocks noChangeArrowheads="1"/>
              </p:cNvSpPr>
              <p:nvPr/>
            </p:nvSpPr>
            <p:spPr bwMode="auto">
              <a:xfrm>
                <a:off x="2160" y="2016"/>
                <a:ext cx="1008" cy="240"/>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6494" name="Oval 30"/>
              <p:cNvSpPr>
                <a:spLocks noChangeArrowheads="1"/>
              </p:cNvSpPr>
              <p:nvPr/>
            </p:nvSpPr>
            <p:spPr bwMode="auto">
              <a:xfrm>
                <a:off x="2256" y="2064"/>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6495" name="Oval 31"/>
              <p:cNvSpPr>
                <a:spLocks noChangeArrowheads="1"/>
              </p:cNvSpPr>
              <p:nvPr/>
            </p:nvSpPr>
            <p:spPr bwMode="auto">
              <a:xfrm>
                <a:off x="2928" y="2064"/>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6496" name="Oval 32" descr="20%"/>
              <p:cNvSpPr>
                <a:spLocks noChangeArrowheads="1"/>
              </p:cNvSpPr>
              <p:nvPr/>
            </p:nvSpPr>
            <p:spPr bwMode="auto">
              <a:xfrm>
                <a:off x="3360" y="2064"/>
                <a:ext cx="624" cy="96"/>
              </a:xfrm>
              <a:prstGeom prst="ellipse">
                <a:avLst/>
              </a:prstGeom>
              <a:pattFill prst="pct2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6497" name="Oval 33" descr="60%"/>
              <p:cNvSpPr>
                <a:spLocks noChangeArrowheads="1"/>
              </p:cNvSpPr>
              <p:nvPr/>
            </p:nvSpPr>
            <p:spPr bwMode="auto">
              <a:xfrm>
                <a:off x="3984" y="1872"/>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rgbClr val="00CC99"/>
                  </a:solidFill>
                </a:endParaRPr>
              </a:p>
            </p:txBody>
          </p:sp>
          <p:sp>
            <p:nvSpPr>
              <p:cNvPr id="446498" name="Oval 34" descr="60%"/>
              <p:cNvSpPr>
                <a:spLocks noChangeArrowheads="1"/>
              </p:cNvSpPr>
              <p:nvPr/>
            </p:nvSpPr>
            <p:spPr bwMode="auto">
              <a:xfrm rot="-1510090">
                <a:off x="3216" y="1872"/>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rgbClr val="00CC99"/>
                  </a:solidFill>
                </a:endParaRPr>
              </a:p>
            </p:txBody>
          </p:sp>
          <p:sp>
            <p:nvSpPr>
              <p:cNvPr id="446499" name="Rectangle 35"/>
              <p:cNvSpPr>
                <a:spLocks noChangeArrowheads="1"/>
              </p:cNvSpPr>
              <p:nvPr/>
            </p:nvSpPr>
            <p:spPr bwMode="auto">
              <a:xfrm>
                <a:off x="3168" y="2016"/>
                <a:ext cx="1008" cy="240"/>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6500" name="Oval 36"/>
              <p:cNvSpPr>
                <a:spLocks noChangeArrowheads="1"/>
              </p:cNvSpPr>
              <p:nvPr/>
            </p:nvSpPr>
            <p:spPr bwMode="auto">
              <a:xfrm>
                <a:off x="3264" y="2064"/>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6501" name="Oval 37"/>
              <p:cNvSpPr>
                <a:spLocks noChangeArrowheads="1"/>
              </p:cNvSpPr>
              <p:nvPr/>
            </p:nvSpPr>
            <p:spPr bwMode="auto">
              <a:xfrm>
                <a:off x="3936" y="2064"/>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6502" name="Oval 38" descr="20%"/>
              <p:cNvSpPr>
                <a:spLocks noChangeArrowheads="1"/>
              </p:cNvSpPr>
              <p:nvPr/>
            </p:nvSpPr>
            <p:spPr bwMode="auto">
              <a:xfrm>
                <a:off x="1344" y="1728"/>
                <a:ext cx="768" cy="96"/>
              </a:xfrm>
              <a:prstGeom prst="ellipse">
                <a:avLst/>
              </a:prstGeom>
              <a:pattFill prst="pct2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6503" name="Oval 39" descr="60%"/>
              <p:cNvSpPr>
                <a:spLocks noChangeArrowheads="1"/>
              </p:cNvSpPr>
              <p:nvPr/>
            </p:nvSpPr>
            <p:spPr bwMode="auto">
              <a:xfrm>
                <a:off x="1296" y="1536"/>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rgbClr val="00CC99"/>
                  </a:solidFill>
                </a:endParaRPr>
              </a:p>
            </p:txBody>
          </p:sp>
          <p:sp>
            <p:nvSpPr>
              <p:cNvPr id="446504" name="Rectangle 40"/>
              <p:cNvSpPr>
                <a:spLocks noChangeArrowheads="1"/>
              </p:cNvSpPr>
              <p:nvPr/>
            </p:nvSpPr>
            <p:spPr bwMode="auto">
              <a:xfrm>
                <a:off x="1152" y="1680"/>
                <a:ext cx="1008" cy="240"/>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6505" name="Oval 41"/>
              <p:cNvSpPr>
                <a:spLocks noChangeArrowheads="1"/>
              </p:cNvSpPr>
              <p:nvPr/>
            </p:nvSpPr>
            <p:spPr bwMode="auto">
              <a:xfrm>
                <a:off x="1248" y="1728"/>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6506" name="Oval 42" descr="20%"/>
              <p:cNvSpPr>
                <a:spLocks noChangeArrowheads="1"/>
              </p:cNvSpPr>
              <p:nvPr/>
            </p:nvSpPr>
            <p:spPr bwMode="auto">
              <a:xfrm>
                <a:off x="2208" y="1728"/>
                <a:ext cx="960" cy="96"/>
              </a:xfrm>
              <a:prstGeom prst="ellipse">
                <a:avLst/>
              </a:prstGeom>
              <a:pattFill prst="pct2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6507" name="Rectangle 43"/>
              <p:cNvSpPr>
                <a:spLocks noChangeArrowheads="1"/>
              </p:cNvSpPr>
              <p:nvPr/>
            </p:nvSpPr>
            <p:spPr bwMode="auto">
              <a:xfrm>
                <a:off x="2160" y="1680"/>
                <a:ext cx="1008" cy="240"/>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6508" name="Oval 44" descr="20%"/>
              <p:cNvSpPr>
                <a:spLocks noChangeArrowheads="1"/>
              </p:cNvSpPr>
              <p:nvPr/>
            </p:nvSpPr>
            <p:spPr bwMode="auto">
              <a:xfrm>
                <a:off x="3264" y="1728"/>
                <a:ext cx="720" cy="96"/>
              </a:xfrm>
              <a:prstGeom prst="ellipse">
                <a:avLst/>
              </a:prstGeom>
              <a:pattFill prst="pct2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6509" name="Oval 45" descr="60%"/>
              <p:cNvSpPr>
                <a:spLocks noChangeArrowheads="1"/>
              </p:cNvSpPr>
              <p:nvPr/>
            </p:nvSpPr>
            <p:spPr bwMode="auto">
              <a:xfrm>
                <a:off x="3984" y="1536"/>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rgbClr val="00CC99"/>
                  </a:solidFill>
                </a:endParaRPr>
              </a:p>
            </p:txBody>
          </p:sp>
          <p:sp>
            <p:nvSpPr>
              <p:cNvPr id="446510" name="Rectangle 46"/>
              <p:cNvSpPr>
                <a:spLocks noChangeArrowheads="1"/>
              </p:cNvSpPr>
              <p:nvPr/>
            </p:nvSpPr>
            <p:spPr bwMode="auto">
              <a:xfrm>
                <a:off x="3168" y="1680"/>
                <a:ext cx="1008" cy="240"/>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6511" name="Oval 47"/>
              <p:cNvSpPr>
                <a:spLocks noChangeArrowheads="1"/>
              </p:cNvSpPr>
              <p:nvPr/>
            </p:nvSpPr>
            <p:spPr bwMode="auto">
              <a:xfrm>
                <a:off x="3936" y="1728"/>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6512" name="Rectangle 48"/>
              <p:cNvSpPr>
                <a:spLocks noChangeArrowheads="1"/>
              </p:cNvSpPr>
              <p:nvPr/>
            </p:nvSpPr>
            <p:spPr bwMode="auto">
              <a:xfrm>
                <a:off x="1056" y="1056"/>
                <a:ext cx="480" cy="1248"/>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6513" name="Rectangle 49"/>
              <p:cNvSpPr>
                <a:spLocks noChangeArrowheads="1"/>
              </p:cNvSpPr>
              <p:nvPr/>
            </p:nvSpPr>
            <p:spPr bwMode="auto">
              <a:xfrm>
                <a:off x="1872" y="1056"/>
                <a:ext cx="528" cy="1248"/>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6514" name="Rectangle 50"/>
              <p:cNvSpPr>
                <a:spLocks noChangeArrowheads="1"/>
              </p:cNvSpPr>
              <p:nvPr/>
            </p:nvSpPr>
            <p:spPr bwMode="auto">
              <a:xfrm>
                <a:off x="2880" y="1056"/>
                <a:ext cx="528" cy="1248"/>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6515" name="Rectangle 51"/>
              <p:cNvSpPr>
                <a:spLocks noChangeArrowheads="1"/>
              </p:cNvSpPr>
              <p:nvPr/>
            </p:nvSpPr>
            <p:spPr bwMode="auto">
              <a:xfrm>
                <a:off x="3840" y="1056"/>
                <a:ext cx="576" cy="1248"/>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6516" name="Rectangle 52"/>
              <p:cNvSpPr>
                <a:spLocks noChangeArrowheads="1"/>
              </p:cNvSpPr>
              <p:nvPr/>
            </p:nvSpPr>
            <p:spPr bwMode="auto">
              <a:xfrm>
                <a:off x="1248" y="2304"/>
                <a:ext cx="768" cy="96"/>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6517" name="Rectangle 53"/>
              <p:cNvSpPr>
                <a:spLocks noChangeArrowheads="1"/>
              </p:cNvSpPr>
              <p:nvPr/>
            </p:nvSpPr>
            <p:spPr bwMode="auto">
              <a:xfrm>
                <a:off x="2304" y="2304"/>
                <a:ext cx="768" cy="96"/>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6518" name="Rectangle 54"/>
              <p:cNvSpPr>
                <a:spLocks noChangeArrowheads="1"/>
              </p:cNvSpPr>
              <p:nvPr/>
            </p:nvSpPr>
            <p:spPr bwMode="auto">
              <a:xfrm>
                <a:off x="3312" y="2304"/>
                <a:ext cx="768" cy="96"/>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6519" name="Oval 55"/>
              <p:cNvSpPr>
                <a:spLocks noChangeArrowheads="1"/>
              </p:cNvSpPr>
              <p:nvPr/>
            </p:nvSpPr>
            <p:spPr bwMode="auto">
              <a:xfrm>
                <a:off x="2064" y="1728"/>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6520" name="Line 56"/>
              <p:cNvSpPr>
                <a:spLocks noChangeShapeType="1"/>
              </p:cNvSpPr>
              <p:nvPr/>
            </p:nvSpPr>
            <p:spPr bwMode="auto">
              <a:xfrm>
                <a:off x="1008" y="2112"/>
                <a:ext cx="240"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6521" name="Line 57"/>
              <p:cNvSpPr>
                <a:spLocks noChangeShapeType="1"/>
              </p:cNvSpPr>
              <p:nvPr/>
            </p:nvSpPr>
            <p:spPr bwMode="auto">
              <a:xfrm>
                <a:off x="1008" y="1776"/>
                <a:ext cx="240"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6522" name="Line 58"/>
              <p:cNvSpPr>
                <a:spLocks noChangeShapeType="1"/>
              </p:cNvSpPr>
              <p:nvPr/>
            </p:nvSpPr>
            <p:spPr bwMode="auto">
              <a:xfrm>
                <a:off x="960" y="1488"/>
                <a:ext cx="2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sp>
            <p:nvSpPr>
              <p:cNvPr id="446523" name="Oval 59"/>
              <p:cNvSpPr>
                <a:spLocks noChangeArrowheads="1"/>
              </p:cNvSpPr>
              <p:nvPr/>
            </p:nvSpPr>
            <p:spPr bwMode="auto">
              <a:xfrm>
                <a:off x="3120" y="1728"/>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solidFill>
                    <a:srgbClr val="000000"/>
                  </a:solidFill>
                </a:endParaRPr>
              </a:p>
            </p:txBody>
          </p:sp>
        </p:grpSp>
      </p:grpSp>
      <p:sp>
        <p:nvSpPr>
          <p:cNvPr id="446524" name="Rectangle 60"/>
          <p:cNvSpPr>
            <a:spLocks noChangeArrowheads="1"/>
          </p:cNvSpPr>
          <p:nvPr/>
        </p:nvSpPr>
        <p:spPr bwMode="auto">
          <a:xfrm>
            <a:off x="1787525" y="4503738"/>
            <a:ext cx="184150" cy="2746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endParaRPr lang="en-US">
              <a:solidFill>
                <a:srgbClr val="000000"/>
              </a:solidFill>
            </a:endParaRPr>
          </a:p>
        </p:txBody>
      </p:sp>
      <p:grpSp>
        <p:nvGrpSpPr>
          <p:cNvPr id="51206" name="Group 36"/>
          <p:cNvGrpSpPr>
            <a:grpSpLocks/>
          </p:cNvGrpSpPr>
          <p:nvPr/>
        </p:nvGrpSpPr>
        <p:grpSpPr bwMode="auto">
          <a:xfrm>
            <a:off x="2339975" y="5732463"/>
            <a:ext cx="4540250" cy="311150"/>
            <a:chOff x="2416176" y="5821398"/>
            <a:chExt cx="4540436" cy="310776"/>
          </a:xfrm>
        </p:grpSpPr>
        <p:sp>
          <p:nvSpPr>
            <p:cNvPr id="2" name="Oval 1"/>
            <p:cNvSpPr/>
            <p:nvPr/>
          </p:nvSpPr>
          <p:spPr bwMode="auto">
            <a:xfrm>
              <a:off x="2416176" y="5821398"/>
              <a:ext cx="273061" cy="310776"/>
            </a:xfrm>
            <a:prstGeom prst="ellipse">
              <a:avLst/>
            </a:prstGeom>
            <a:noFill/>
            <a:ln w="9525" cap="flat" cmpd="sng" algn="ctr">
              <a:solidFill>
                <a:schemeClr val="tx1"/>
              </a:solidFill>
              <a:prstDash val="solid"/>
              <a:round/>
              <a:headEnd type="none" w="med" len="med"/>
              <a:tailEnd type="none" w="med" len="med"/>
            </a:ln>
            <a:effectLst/>
          </p:spPr>
          <p:txBody>
            <a:bodyPr/>
            <a:lstStyle/>
            <a:p>
              <a:pPr>
                <a:defRPr/>
              </a:pPr>
              <a:endParaRPr lang="en-US" sz="2400" b="0">
                <a:solidFill>
                  <a:srgbClr val="000000"/>
                </a:solidFill>
                <a:cs typeface="+mn-cs"/>
              </a:endParaRPr>
            </a:p>
          </p:txBody>
        </p:sp>
        <p:sp>
          <p:nvSpPr>
            <p:cNvPr id="65" name="Oval 64"/>
            <p:cNvSpPr/>
            <p:nvPr/>
          </p:nvSpPr>
          <p:spPr bwMode="auto">
            <a:xfrm>
              <a:off x="5343646" y="5821398"/>
              <a:ext cx="273061" cy="310776"/>
            </a:xfrm>
            <a:prstGeom prst="ellipse">
              <a:avLst/>
            </a:prstGeom>
            <a:noFill/>
            <a:ln w="9525" cap="flat" cmpd="sng" algn="ctr">
              <a:solidFill>
                <a:schemeClr val="tx1"/>
              </a:solidFill>
              <a:prstDash val="solid"/>
              <a:round/>
              <a:headEnd type="none" w="med" len="med"/>
              <a:tailEnd type="none" w="med" len="med"/>
            </a:ln>
            <a:effectLst/>
          </p:spPr>
          <p:txBody>
            <a:bodyPr/>
            <a:lstStyle/>
            <a:p>
              <a:pPr>
                <a:defRPr/>
              </a:pPr>
              <a:endParaRPr lang="en-US" sz="2400" b="0">
                <a:solidFill>
                  <a:srgbClr val="000000"/>
                </a:solidFill>
                <a:cs typeface="+mn-cs"/>
              </a:endParaRPr>
            </a:p>
          </p:txBody>
        </p:sp>
        <p:sp>
          <p:nvSpPr>
            <p:cNvPr id="66" name="Oval 65"/>
            <p:cNvSpPr/>
            <p:nvPr/>
          </p:nvSpPr>
          <p:spPr bwMode="auto">
            <a:xfrm>
              <a:off x="3727505" y="5821398"/>
              <a:ext cx="273061" cy="310776"/>
            </a:xfrm>
            <a:prstGeom prst="ellipse">
              <a:avLst/>
            </a:prstGeom>
            <a:noFill/>
            <a:ln w="9525" cap="flat" cmpd="sng" algn="ctr">
              <a:solidFill>
                <a:schemeClr val="tx1"/>
              </a:solidFill>
              <a:prstDash val="solid"/>
              <a:round/>
              <a:headEnd type="none" w="med" len="med"/>
              <a:tailEnd type="none" w="med" len="med"/>
            </a:ln>
            <a:effectLst/>
          </p:spPr>
          <p:txBody>
            <a:bodyPr/>
            <a:lstStyle/>
            <a:p>
              <a:pPr>
                <a:defRPr/>
              </a:pPr>
              <a:endParaRPr lang="en-US" sz="2400" b="0">
                <a:solidFill>
                  <a:srgbClr val="000000"/>
                </a:solidFill>
                <a:cs typeface="+mn-cs"/>
              </a:endParaRPr>
            </a:p>
          </p:txBody>
        </p:sp>
        <p:sp>
          <p:nvSpPr>
            <p:cNvPr id="67" name="Oval 66"/>
            <p:cNvSpPr/>
            <p:nvPr/>
          </p:nvSpPr>
          <p:spPr bwMode="auto">
            <a:xfrm>
              <a:off x="6683551" y="5821398"/>
              <a:ext cx="273061" cy="310776"/>
            </a:xfrm>
            <a:prstGeom prst="ellipse">
              <a:avLst/>
            </a:prstGeom>
            <a:noFill/>
            <a:ln w="9525" cap="flat" cmpd="sng" algn="ctr">
              <a:solidFill>
                <a:schemeClr val="tx1"/>
              </a:solidFill>
              <a:prstDash val="solid"/>
              <a:round/>
              <a:headEnd type="none" w="med" len="med"/>
              <a:tailEnd type="none" w="med" len="med"/>
            </a:ln>
            <a:effectLst/>
          </p:spPr>
          <p:txBody>
            <a:bodyPr/>
            <a:lstStyle/>
            <a:p>
              <a:pPr>
                <a:defRPr/>
              </a:pPr>
              <a:endParaRPr lang="en-US" sz="2400" b="0">
                <a:solidFill>
                  <a:srgbClr val="000000"/>
                </a:solidFill>
                <a:cs typeface="+mn-cs"/>
              </a:endParaRPr>
            </a:p>
          </p:txBody>
        </p:sp>
        <p:cxnSp>
          <p:nvCxnSpPr>
            <p:cNvPr id="5" name="Curved Connector 4"/>
            <p:cNvCxnSpPr>
              <a:stCxn id="2" idx="7"/>
              <a:endCxn id="66" idx="1"/>
            </p:cNvCxnSpPr>
            <p:nvPr/>
          </p:nvCxnSpPr>
          <p:spPr bwMode="auto">
            <a:xfrm rot="5400000" flipH="1" flipV="1">
              <a:off x="3208379" y="5308557"/>
              <a:ext cx="12685" cy="1117646"/>
            </a:xfrm>
            <a:prstGeom prst="curvedConnector3">
              <a:avLst>
                <a:gd name="adj1" fmla="val 215836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4" name="Curved Connector 13"/>
            <p:cNvCxnSpPr>
              <a:stCxn id="65" idx="7"/>
              <a:endCxn id="67" idx="1"/>
            </p:cNvCxnSpPr>
            <p:nvPr/>
          </p:nvCxnSpPr>
          <p:spPr bwMode="auto">
            <a:xfrm rot="5400000" flipH="1" flipV="1">
              <a:off x="6150138" y="5294268"/>
              <a:ext cx="12685" cy="1146222"/>
            </a:xfrm>
            <a:prstGeom prst="curvedConnector3">
              <a:avLst>
                <a:gd name="adj1" fmla="val 215836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7" name="Curved Connector 16"/>
            <p:cNvCxnSpPr>
              <a:stCxn id="66" idx="7"/>
              <a:endCxn id="65" idx="1"/>
            </p:cNvCxnSpPr>
            <p:nvPr/>
          </p:nvCxnSpPr>
          <p:spPr bwMode="auto">
            <a:xfrm rot="5400000" flipH="1" flipV="1">
              <a:off x="4672114" y="5156151"/>
              <a:ext cx="12685" cy="1422458"/>
            </a:xfrm>
            <a:prstGeom prst="curvedConnector3">
              <a:avLst>
                <a:gd name="adj1" fmla="val 215836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0" name="Straight Connector 19"/>
            <p:cNvCxnSpPr>
              <a:stCxn id="2" idx="6"/>
              <a:endCxn id="66" idx="2"/>
            </p:cNvCxnSpPr>
            <p:nvPr/>
          </p:nvCxnSpPr>
          <p:spPr bwMode="auto">
            <a:xfrm>
              <a:off x="2689237" y="5976786"/>
              <a:ext cx="1038268"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88" name="Straight Connector 87"/>
            <p:cNvCxnSpPr>
              <a:stCxn id="66" idx="6"/>
              <a:endCxn id="65" idx="2"/>
            </p:cNvCxnSpPr>
            <p:nvPr/>
          </p:nvCxnSpPr>
          <p:spPr bwMode="auto">
            <a:xfrm>
              <a:off x="4000566" y="5976786"/>
              <a:ext cx="134308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91" name="Straight Connector 90"/>
            <p:cNvCxnSpPr>
              <a:stCxn id="65" idx="6"/>
              <a:endCxn id="67" idx="2"/>
            </p:cNvCxnSpPr>
            <p:nvPr/>
          </p:nvCxnSpPr>
          <p:spPr bwMode="auto">
            <a:xfrm>
              <a:off x="5616707" y="5976786"/>
              <a:ext cx="1066844"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5" name="Curved Connector 24"/>
            <p:cNvCxnSpPr>
              <a:stCxn id="2" idx="5"/>
              <a:endCxn id="66" idx="3"/>
            </p:cNvCxnSpPr>
            <p:nvPr/>
          </p:nvCxnSpPr>
          <p:spPr bwMode="auto">
            <a:xfrm rot="16200000" flipH="1">
              <a:off x="3208379" y="5527368"/>
              <a:ext cx="12685" cy="1117646"/>
            </a:xfrm>
            <a:prstGeom prst="curvedConnector3">
              <a:avLst>
                <a:gd name="adj1" fmla="val 215836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9" name="Curved Connector 28"/>
            <p:cNvCxnSpPr>
              <a:stCxn id="66" idx="5"/>
              <a:endCxn id="65" idx="3"/>
            </p:cNvCxnSpPr>
            <p:nvPr/>
          </p:nvCxnSpPr>
          <p:spPr bwMode="auto">
            <a:xfrm rot="16200000" flipH="1">
              <a:off x="4672114" y="5374962"/>
              <a:ext cx="12685" cy="1422458"/>
            </a:xfrm>
            <a:prstGeom prst="curvedConnector3">
              <a:avLst>
                <a:gd name="adj1" fmla="val 215836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32" name="Curved Connector 31"/>
            <p:cNvCxnSpPr>
              <a:stCxn id="65" idx="5"/>
              <a:endCxn id="67" idx="3"/>
            </p:cNvCxnSpPr>
            <p:nvPr/>
          </p:nvCxnSpPr>
          <p:spPr bwMode="auto">
            <a:xfrm rot="16200000" flipH="1">
              <a:off x="6150138" y="5513080"/>
              <a:ext cx="12685" cy="1146222"/>
            </a:xfrm>
            <a:prstGeom prst="curvedConnector3">
              <a:avLst>
                <a:gd name="adj1" fmla="val 215836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sp>
        <p:nvSpPr>
          <p:cNvPr id="35" name="TextBox 34"/>
          <p:cNvSpPr txBox="1"/>
          <p:nvPr/>
        </p:nvSpPr>
        <p:spPr>
          <a:xfrm>
            <a:off x="3429000" y="6324600"/>
            <a:ext cx="2155825" cy="369888"/>
          </a:xfrm>
          <a:prstGeom prst="rect">
            <a:avLst/>
          </a:prstGeom>
          <a:noFill/>
        </p:spPr>
        <p:txBody>
          <a:bodyPr wrap="none">
            <a:spAutoFit/>
          </a:bodyPr>
          <a:lstStyle/>
          <a:p>
            <a:pPr defTabSz="457200" eaLnBrk="1" fontAlgn="auto" hangingPunct="1">
              <a:spcBef>
                <a:spcPts val="0"/>
              </a:spcBef>
              <a:spcAft>
                <a:spcPts val="0"/>
              </a:spcAft>
              <a:defRPr/>
            </a:pPr>
            <a:r>
              <a:rPr lang="en-US" sz="1800" b="0" dirty="0">
                <a:solidFill>
                  <a:srgbClr val="000000"/>
                </a:solidFill>
                <a:latin typeface="Times"/>
                <a:ea typeface="ＭＳ Ｐゴシック"/>
                <a:cs typeface="+mn-cs"/>
              </a:rPr>
              <a:t>Viewed from the Top</a:t>
            </a:r>
          </a:p>
        </p:txBody>
      </p:sp>
      <p:sp>
        <p:nvSpPr>
          <p:cNvPr id="3" name="TextBox 2"/>
          <p:cNvSpPr txBox="1"/>
          <p:nvPr/>
        </p:nvSpPr>
        <p:spPr>
          <a:xfrm>
            <a:off x="7010400" y="5791200"/>
            <a:ext cx="1827318" cy="276999"/>
          </a:xfrm>
          <a:prstGeom prst="rect">
            <a:avLst/>
          </a:prstGeom>
          <a:noFill/>
        </p:spPr>
        <p:txBody>
          <a:bodyPr wrap="none" rtlCol="0">
            <a:spAutoFit/>
          </a:bodyPr>
          <a:lstStyle/>
          <a:p>
            <a:r>
              <a:rPr lang="en-US" b="0" dirty="0"/>
              <a:t>Goes from 1 Route to 27!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646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646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120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46467">
                                            <p:txEl>
                                              <p:pRg st="2" end="2"/>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464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6467" grpId="0" build="p"/>
      <p:bldP spid="35" grpId="0"/>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Date Placeholder 3"/>
          <p:cNvSpPr>
            <a:spLocks noGrp="1"/>
          </p:cNvSpPr>
          <p:nvPr>
            <p:ph type="dt" sz="quarter" idx="10"/>
          </p:nvPr>
        </p:nvSpPr>
        <p:spPr/>
        <p:txBody>
          <a:bodyPr/>
          <a:lstStyle/>
          <a:p>
            <a:pPr>
              <a:defRPr/>
            </a:pPr>
            <a:fld id="{D16C2340-DEB4-4C4B-B2CD-E685F613B673}" type="datetime3">
              <a:rPr lang="en-US"/>
              <a:pPr>
                <a:defRPr/>
              </a:pPr>
              <a:t>14 January 2026</a:t>
            </a:fld>
            <a:endParaRPr lang="en-US"/>
          </a:p>
        </p:txBody>
      </p:sp>
      <p:sp>
        <p:nvSpPr>
          <p:cNvPr id="75" name="Footer Placeholder 4"/>
          <p:cNvSpPr>
            <a:spLocks noGrp="1"/>
          </p:cNvSpPr>
          <p:nvPr>
            <p:ph type="ftr" sz="quarter" idx="11"/>
          </p:nvPr>
        </p:nvSpPr>
        <p:spPr/>
        <p:txBody>
          <a:bodyPr/>
          <a:lstStyle/>
          <a:p>
            <a:pPr>
              <a:defRPr/>
            </a:pPr>
            <a:r>
              <a:rPr lang="en-US"/>
              <a:t>.</a:t>
            </a:r>
          </a:p>
        </p:txBody>
      </p:sp>
      <p:sp>
        <p:nvSpPr>
          <p:cNvPr id="76" name="Slide Number Placeholder 5"/>
          <p:cNvSpPr>
            <a:spLocks noGrp="1"/>
          </p:cNvSpPr>
          <p:nvPr>
            <p:ph type="sldNum" sz="quarter" idx="12"/>
          </p:nvPr>
        </p:nvSpPr>
        <p:spPr/>
        <p:txBody>
          <a:bodyPr/>
          <a:lstStyle/>
          <a:p>
            <a:pPr>
              <a:defRPr/>
            </a:pPr>
            <a:fld id="{F9C6292D-B377-054A-91BA-4914B36C8BB0}" type="slidenum">
              <a:rPr lang="en-US"/>
              <a:pPr>
                <a:defRPr/>
              </a:pPr>
              <a:t>13</a:t>
            </a:fld>
            <a:endParaRPr lang="en-US"/>
          </a:p>
        </p:txBody>
      </p:sp>
      <p:sp>
        <p:nvSpPr>
          <p:cNvPr id="448514" name="Rectangle 2"/>
          <p:cNvSpPr>
            <a:spLocks noGrp="1" noChangeArrowheads="1"/>
          </p:cNvSpPr>
          <p:nvPr>
            <p:ph type="title"/>
          </p:nvPr>
        </p:nvSpPr>
        <p:spPr>
          <a:xfrm>
            <a:off x="685800" y="304800"/>
            <a:ext cx="7772400" cy="1143000"/>
          </a:xfrm>
        </p:spPr>
        <p:txBody>
          <a:bodyPr/>
          <a:lstStyle/>
          <a:p>
            <a:pPr>
              <a:defRPr/>
            </a:pPr>
            <a:r>
              <a:rPr lang="en-US" sz="3200" dirty="0">
                <a:cs typeface="+mj-cs"/>
              </a:rPr>
              <a:t>Avoiding What </a:t>
            </a:r>
            <a:r>
              <a:rPr lang="en-US" sz="3200" dirty="0" err="1">
                <a:cs typeface="+mj-cs"/>
              </a:rPr>
              <a:t>Saltzer</a:t>
            </a:r>
            <a:r>
              <a:rPr lang="en-US" sz="3200">
                <a:cs typeface="+mj-cs"/>
              </a:rPr>
              <a:t> Missed</a:t>
            </a:r>
            <a:endParaRPr lang="en-US" sz="3200" dirty="0">
              <a:cs typeface="+mj-cs"/>
            </a:endParaRPr>
          </a:p>
        </p:txBody>
      </p:sp>
      <p:sp>
        <p:nvSpPr>
          <p:cNvPr id="448515" name="Rectangle 3"/>
          <p:cNvSpPr>
            <a:spLocks noGrp="1" noChangeArrowheads="1"/>
          </p:cNvSpPr>
          <p:nvPr>
            <p:ph type="body" idx="1"/>
          </p:nvPr>
        </p:nvSpPr>
        <p:spPr>
          <a:xfrm>
            <a:off x="609600" y="1295400"/>
            <a:ext cx="7772400" cy="4114800"/>
          </a:xfrm>
        </p:spPr>
        <p:txBody>
          <a:bodyPr/>
          <a:lstStyle/>
          <a:p>
            <a:pPr>
              <a:defRPr/>
            </a:pPr>
            <a:r>
              <a:rPr lang="en-US" sz="1800" dirty="0">
                <a:cs typeface="+mn-cs"/>
              </a:rPr>
              <a:t>Directory maintains the mapping between Application-Names and the node addresses of all Applications reachable without an application relay.</a:t>
            </a:r>
          </a:p>
          <a:p>
            <a:pPr>
              <a:defRPr/>
            </a:pPr>
            <a:r>
              <a:rPr lang="en-US" sz="1800" dirty="0">
                <a:cs typeface="+mn-cs"/>
              </a:rPr>
              <a:t>Routes are sequences of node addresses used to compute the next hop.</a:t>
            </a:r>
          </a:p>
          <a:p>
            <a:pPr>
              <a:defRPr/>
            </a:pPr>
            <a:r>
              <a:rPr lang="en-US" sz="1800" dirty="0">
                <a:cs typeface="+mn-cs"/>
              </a:rPr>
              <a:t>Node to point of attachment mapping for all nearest neighbors to choose path to next hop. (</a:t>
            </a:r>
            <a:r>
              <a:rPr lang="en-US" sz="1800" dirty="0" err="1">
                <a:cs typeface="+mn-cs"/>
              </a:rPr>
              <a:t>Saltzer</a:t>
            </a:r>
            <a:r>
              <a:rPr lang="en-US" sz="1800" dirty="0">
                <a:cs typeface="+mn-cs"/>
              </a:rPr>
              <a:t> missed this because they hadn</a:t>
            </a:r>
            <a:r>
              <a:rPr lang="en-US" sz="1800" dirty="0">
                <a:latin typeface="Arial"/>
                <a:cs typeface="+mn-cs"/>
              </a:rPr>
              <a:t>’</a:t>
            </a:r>
            <a:r>
              <a:rPr lang="en-US" sz="1800" dirty="0">
                <a:cs typeface="+mn-cs"/>
              </a:rPr>
              <a:t>t occurred yet.)</a:t>
            </a:r>
          </a:p>
          <a:p>
            <a:pPr>
              <a:defRPr/>
            </a:pPr>
            <a:r>
              <a:rPr lang="en-US" sz="1800" dirty="0">
                <a:cs typeface="+mn-cs"/>
              </a:rPr>
              <a:t>This last mapping and the Directory are the same: </a:t>
            </a:r>
          </a:p>
          <a:p>
            <a:pPr lvl="1">
              <a:defRPr/>
            </a:pPr>
            <a:r>
              <a:rPr lang="en-US" sz="1600" dirty="0"/>
              <a:t>Mapping of a name in the layer above to a name in the layer below of all nearest neighbors.</a:t>
            </a:r>
            <a:endParaRPr lang="en-US" dirty="0"/>
          </a:p>
        </p:txBody>
      </p:sp>
      <p:grpSp>
        <p:nvGrpSpPr>
          <p:cNvPr id="53254" name="Group 4"/>
          <p:cNvGrpSpPr>
            <a:grpSpLocks/>
          </p:cNvGrpSpPr>
          <p:nvPr/>
        </p:nvGrpSpPr>
        <p:grpSpPr bwMode="auto">
          <a:xfrm>
            <a:off x="1981200" y="3810000"/>
            <a:ext cx="5486400" cy="2133600"/>
            <a:chOff x="1248" y="2544"/>
            <a:chExt cx="3456" cy="1344"/>
          </a:xfrm>
        </p:grpSpPr>
        <p:sp>
          <p:nvSpPr>
            <p:cNvPr id="448517" name="Oval 5" descr="60%"/>
            <p:cNvSpPr>
              <a:spLocks noChangeArrowheads="1"/>
            </p:cNvSpPr>
            <p:nvPr/>
          </p:nvSpPr>
          <p:spPr bwMode="auto">
            <a:xfrm>
              <a:off x="4272" y="3648"/>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sp>
          <p:nvSpPr>
            <p:cNvPr id="448518" name="Oval 6" descr="60%"/>
            <p:cNvSpPr>
              <a:spLocks noChangeArrowheads="1"/>
            </p:cNvSpPr>
            <p:nvPr/>
          </p:nvSpPr>
          <p:spPr bwMode="auto">
            <a:xfrm>
              <a:off x="3600" y="3648"/>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sp>
          <p:nvSpPr>
            <p:cNvPr id="448519" name="Oval 7" descr="60%"/>
            <p:cNvSpPr>
              <a:spLocks noChangeArrowheads="1"/>
            </p:cNvSpPr>
            <p:nvPr/>
          </p:nvSpPr>
          <p:spPr bwMode="auto">
            <a:xfrm>
              <a:off x="3216" y="3648"/>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sp>
          <p:nvSpPr>
            <p:cNvPr id="448520" name="Oval 8" descr="60%"/>
            <p:cNvSpPr>
              <a:spLocks noChangeArrowheads="1"/>
            </p:cNvSpPr>
            <p:nvPr/>
          </p:nvSpPr>
          <p:spPr bwMode="auto">
            <a:xfrm>
              <a:off x="2592" y="3648"/>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sp>
          <p:nvSpPr>
            <p:cNvPr id="448521" name="Oval 9" descr="60%"/>
            <p:cNvSpPr>
              <a:spLocks noChangeArrowheads="1"/>
            </p:cNvSpPr>
            <p:nvPr/>
          </p:nvSpPr>
          <p:spPr bwMode="auto">
            <a:xfrm>
              <a:off x="2208" y="3648"/>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sp>
          <p:nvSpPr>
            <p:cNvPr id="448522" name="Oval 10" descr="60%"/>
            <p:cNvSpPr>
              <a:spLocks noChangeArrowheads="1"/>
            </p:cNvSpPr>
            <p:nvPr/>
          </p:nvSpPr>
          <p:spPr bwMode="auto">
            <a:xfrm>
              <a:off x="1584" y="3648"/>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grpSp>
          <p:nvGrpSpPr>
            <p:cNvPr id="53279" name="Group 11"/>
            <p:cNvGrpSpPr>
              <a:grpSpLocks/>
            </p:cNvGrpSpPr>
            <p:nvPr/>
          </p:nvGrpSpPr>
          <p:grpSpPr bwMode="auto">
            <a:xfrm>
              <a:off x="1440" y="2832"/>
              <a:ext cx="3024" cy="240"/>
              <a:chOff x="1152" y="1344"/>
              <a:chExt cx="3024" cy="240"/>
            </a:xfrm>
          </p:grpSpPr>
          <p:sp>
            <p:nvSpPr>
              <p:cNvPr id="448524" name="Oval 12" descr="20%"/>
              <p:cNvSpPr>
                <a:spLocks noChangeArrowheads="1"/>
              </p:cNvSpPr>
              <p:nvPr/>
            </p:nvSpPr>
            <p:spPr bwMode="auto">
              <a:xfrm>
                <a:off x="1392" y="1392"/>
                <a:ext cx="2640" cy="144"/>
              </a:xfrm>
              <a:prstGeom prst="ellipse">
                <a:avLst/>
              </a:prstGeom>
              <a:pattFill prst="pct2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8525" name="Rectangle 13"/>
              <p:cNvSpPr>
                <a:spLocks noChangeArrowheads="1"/>
              </p:cNvSpPr>
              <p:nvPr/>
            </p:nvSpPr>
            <p:spPr bwMode="auto">
              <a:xfrm>
                <a:off x="1152" y="1344"/>
                <a:ext cx="3024" cy="240"/>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8526" name="Oval 14"/>
              <p:cNvSpPr>
                <a:spLocks noChangeArrowheads="1"/>
              </p:cNvSpPr>
              <p:nvPr/>
            </p:nvSpPr>
            <p:spPr bwMode="auto">
              <a:xfrm>
                <a:off x="1248" y="139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8527" name="Oval 15"/>
              <p:cNvSpPr>
                <a:spLocks noChangeArrowheads="1"/>
              </p:cNvSpPr>
              <p:nvPr/>
            </p:nvSpPr>
            <p:spPr bwMode="auto">
              <a:xfrm>
                <a:off x="3984" y="139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sp>
          <p:nvSpPr>
            <p:cNvPr id="448528" name="Oval 16" descr="20%"/>
            <p:cNvSpPr>
              <a:spLocks noChangeArrowheads="1"/>
            </p:cNvSpPr>
            <p:nvPr/>
          </p:nvSpPr>
          <p:spPr bwMode="auto">
            <a:xfrm>
              <a:off x="1632" y="3552"/>
              <a:ext cx="624" cy="96"/>
            </a:xfrm>
            <a:prstGeom prst="ellipse">
              <a:avLst/>
            </a:prstGeom>
            <a:pattFill prst="pct2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8529" name="Oval 17" descr="60%"/>
            <p:cNvSpPr>
              <a:spLocks noChangeArrowheads="1"/>
            </p:cNvSpPr>
            <p:nvPr/>
          </p:nvSpPr>
          <p:spPr bwMode="auto">
            <a:xfrm rot="1127993">
              <a:off x="2311" y="3313"/>
              <a:ext cx="96" cy="288"/>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sp>
          <p:nvSpPr>
            <p:cNvPr id="448530" name="Oval 18" descr="60%"/>
            <p:cNvSpPr>
              <a:spLocks noChangeArrowheads="1"/>
            </p:cNvSpPr>
            <p:nvPr/>
          </p:nvSpPr>
          <p:spPr bwMode="auto">
            <a:xfrm>
              <a:off x="1584" y="3360"/>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sp>
          <p:nvSpPr>
            <p:cNvPr id="448531" name="Rectangle 19"/>
            <p:cNvSpPr>
              <a:spLocks noChangeArrowheads="1"/>
            </p:cNvSpPr>
            <p:nvPr/>
          </p:nvSpPr>
          <p:spPr bwMode="auto">
            <a:xfrm>
              <a:off x="1440" y="3504"/>
              <a:ext cx="1008" cy="240"/>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8532" name="Oval 20"/>
            <p:cNvSpPr>
              <a:spLocks noChangeArrowheads="1"/>
            </p:cNvSpPr>
            <p:nvPr/>
          </p:nvSpPr>
          <p:spPr bwMode="auto">
            <a:xfrm>
              <a:off x="1536" y="355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8533" name="Oval 21"/>
            <p:cNvSpPr>
              <a:spLocks noChangeArrowheads="1"/>
            </p:cNvSpPr>
            <p:nvPr/>
          </p:nvSpPr>
          <p:spPr bwMode="auto">
            <a:xfrm>
              <a:off x="2208" y="355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8534" name="Oval 22" descr="20%"/>
            <p:cNvSpPr>
              <a:spLocks noChangeArrowheads="1"/>
            </p:cNvSpPr>
            <p:nvPr/>
          </p:nvSpPr>
          <p:spPr bwMode="auto">
            <a:xfrm>
              <a:off x="2640" y="3552"/>
              <a:ext cx="624" cy="96"/>
            </a:xfrm>
            <a:prstGeom prst="ellipse">
              <a:avLst/>
            </a:prstGeom>
            <a:pattFill prst="pct2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8535" name="Oval 23" descr="60%"/>
            <p:cNvSpPr>
              <a:spLocks noChangeArrowheads="1"/>
            </p:cNvSpPr>
            <p:nvPr/>
          </p:nvSpPr>
          <p:spPr bwMode="auto">
            <a:xfrm rot="1638151">
              <a:off x="3360" y="3360"/>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sp>
          <p:nvSpPr>
            <p:cNvPr id="448536" name="Oval 24" descr="60%"/>
            <p:cNvSpPr>
              <a:spLocks noChangeArrowheads="1"/>
            </p:cNvSpPr>
            <p:nvPr/>
          </p:nvSpPr>
          <p:spPr bwMode="auto">
            <a:xfrm rot="-1187808">
              <a:off x="2456" y="3310"/>
              <a:ext cx="96" cy="288"/>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sp>
          <p:nvSpPr>
            <p:cNvPr id="448537" name="Rectangle 25"/>
            <p:cNvSpPr>
              <a:spLocks noChangeArrowheads="1"/>
            </p:cNvSpPr>
            <p:nvPr/>
          </p:nvSpPr>
          <p:spPr bwMode="auto">
            <a:xfrm>
              <a:off x="2448" y="3504"/>
              <a:ext cx="1008" cy="240"/>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8538" name="Oval 26"/>
            <p:cNvSpPr>
              <a:spLocks noChangeArrowheads="1"/>
            </p:cNvSpPr>
            <p:nvPr/>
          </p:nvSpPr>
          <p:spPr bwMode="auto">
            <a:xfrm>
              <a:off x="2544" y="355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8539" name="Oval 27"/>
            <p:cNvSpPr>
              <a:spLocks noChangeArrowheads="1"/>
            </p:cNvSpPr>
            <p:nvPr/>
          </p:nvSpPr>
          <p:spPr bwMode="auto">
            <a:xfrm>
              <a:off x="3216" y="355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8540" name="Oval 28" descr="20%"/>
            <p:cNvSpPr>
              <a:spLocks noChangeArrowheads="1"/>
            </p:cNvSpPr>
            <p:nvPr/>
          </p:nvSpPr>
          <p:spPr bwMode="auto">
            <a:xfrm>
              <a:off x="3648" y="3552"/>
              <a:ext cx="624" cy="96"/>
            </a:xfrm>
            <a:prstGeom prst="ellipse">
              <a:avLst/>
            </a:prstGeom>
            <a:pattFill prst="pct2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8541" name="Oval 29" descr="60%"/>
            <p:cNvSpPr>
              <a:spLocks noChangeArrowheads="1"/>
            </p:cNvSpPr>
            <p:nvPr/>
          </p:nvSpPr>
          <p:spPr bwMode="auto">
            <a:xfrm>
              <a:off x="4272" y="3360"/>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sp>
          <p:nvSpPr>
            <p:cNvPr id="448542" name="Oval 30" descr="60%"/>
            <p:cNvSpPr>
              <a:spLocks noChangeArrowheads="1"/>
            </p:cNvSpPr>
            <p:nvPr/>
          </p:nvSpPr>
          <p:spPr bwMode="auto">
            <a:xfrm rot="-1510090">
              <a:off x="3504" y="3360"/>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sp>
          <p:nvSpPr>
            <p:cNvPr id="448543" name="Rectangle 31"/>
            <p:cNvSpPr>
              <a:spLocks noChangeArrowheads="1"/>
            </p:cNvSpPr>
            <p:nvPr/>
          </p:nvSpPr>
          <p:spPr bwMode="auto">
            <a:xfrm>
              <a:off x="3456" y="3504"/>
              <a:ext cx="1008" cy="240"/>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8544" name="Oval 32"/>
            <p:cNvSpPr>
              <a:spLocks noChangeArrowheads="1"/>
            </p:cNvSpPr>
            <p:nvPr/>
          </p:nvSpPr>
          <p:spPr bwMode="auto">
            <a:xfrm>
              <a:off x="3552" y="355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8545" name="Oval 33"/>
            <p:cNvSpPr>
              <a:spLocks noChangeArrowheads="1"/>
            </p:cNvSpPr>
            <p:nvPr/>
          </p:nvSpPr>
          <p:spPr bwMode="auto">
            <a:xfrm>
              <a:off x="4224" y="355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8546" name="Oval 34" descr="20%"/>
            <p:cNvSpPr>
              <a:spLocks noChangeArrowheads="1"/>
            </p:cNvSpPr>
            <p:nvPr/>
          </p:nvSpPr>
          <p:spPr bwMode="auto">
            <a:xfrm>
              <a:off x="1632" y="3216"/>
              <a:ext cx="768" cy="96"/>
            </a:xfrm>
            <a:prstGeom prst="ellipse">
              <a:avLst/>
            </a:prstGeom>
            <a:pattFill prst="pct2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8547" name="Oval 35" descr="60%"/>
            <p:cNvSpPr>
              <a:spLocks noChangeArrowheads="1"/>
            </p:cNvSpPr>
            <p:nvPr/>
          </p:nvSpPr>
          <p:spPr bwMode="auto">
            <a:xfrm>
              <a:off x="1584" y="3024"/>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sp>
          <p:nvSpPr>
            <p:cNvPr id="448548" name="Rectangle 36"/>
            <p:cNvSpPr>
              <a:spLocks noChangeArrowheads="1"/>
            </p:cNvSpPr>
            <p:nvPr/>
          </p:nvSpPr>
          <p:spPr bwMode="auto">
            <a:xfrm>
              <a:off x="1440" y="3168"/>
              <a:ext cx="1008" cy="240"/>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8549" name="Oval 37"/>
            <p:cNvSpPr>
              <a:spLocks noChangeArrowheads="1"/>
            </p:cNvSpPr>
            <p:nvPr/>
          </p:nvSpPr>
          <p:spPr bwMode="auto">
            <a:xfrm>
              <a:off x="1536" y="3216"/>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8550" name="Oval 38" descr="20%"/>
            <p:cNvSpPr>
              <a:spLocks noChangeArrowheads="1"/>
            </p:cNvSpPr>
            <p:nvPr/>
          </p:nvSpPr>
          <p:spPr bwMode="auto">
            <a:xfrm>
              <a:off x="2496" y="3216"/>
              <a:ext cx="960" cy="96"/>
            </a:xfrm>
            <a:prstGeom prst="ellipse">
              <a:avLst/>
            </a:prstGeom>
            <a:pattFill prst="pct2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8551" name="Rectangle 39"/>
            <p:cNvSpPr>
              <a:spLocks noChangeArrowheads="1"/>
            </p:cNvSpPr>
            <p:nvPr/>
          </p:nvSpPr>
          <p:spPr bwMode="auto">
            <a:xfrm>
              <a:off x="2448" y="3168"/>
              <a:ext cx="1008" cy="240"/>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8552" name="Oval 40" descr="20%"/>
            <p:cNvSpPr>
              <a:spLocks noChangeArrowheads="1"/>
            </p:cNvSpPr>
            <p:nvPr/>
          </p:nvSpPr>
          <p:spPr bwMode="auto">
            <a:xfrm>
              <a:off x="3552" y="3216"/>
              <a:ext cx="720" cy="96"/>
            </a:xfrm>
            <a:prstGeom prst="ellipse">
              <a:avLst/>
            </a:prstGeom>
            <a:pattFill prst="pct2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8553" name="Oval 41" descr="60%"/>
            <p:cNvSpPr>
              <a:spLocks noChangeArrowheads="1"/>
            </p:cNvSpPr>
            <p:nvPr/>
          </p:nvSpPr>
          <p:spPr bwMode="auto">
            <a:xfrm>
              <a:off x="4272" y="3024"/>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sp>
          <p:nvSpPr>
            <p:cNvPr id="448554" name="Rectangle 42"/>
            <p:cNvSpPr>
              <a:spLocks noChangeArrowheads="1"/>
            </p:cNvSpPr>
            <p:nvPr/>
          </p:nvSpPr>
          <p:spPr bwMode="auto">
            <a:xfrm>
              <a:off x="3456" y="3168"/>
              <a:ext cx="1008" cy="240"/>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8555" name="Oval 43"/>
            <p:cNvSpPr>
              <a:spLocks noChangeArrowheads="1"/>
            </p:cNvSpPr>
            <p:nvPr/>
          </p:nvSpPr>
          <p:spPr bwMode="auto">
            <a:xfrm>
              <a:off x="4224" y="3216"/>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8556" name="Rectangle 44"/>
            <p:cNvSpPr>
              <a:spLocks noChangeArrowheads="1"/>
            </p:cNvSpPr>
            <p:nvPr/>
          </p:nvSpPr>
          <p:spPr bwMode="auto">
            <a:xfrm>
              <a:off x="1344" y="2544"/>
              <a:ext cx="480" cy="1248"/>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8557" name="Rectangle 45"/>
            <p:cNvSpPr>
              <a:spLocks noChangeArrowheads="1"/>
            </p:cNvSpPr>
            <p:nvPr/>
          </p:nvSpPr>
          <p:spPr bwMode="auto">
            <a:xfrm>
              <a:off x="2160" y="2544"/>
              <a:ext cx="528" cy="1248"/>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8558" name="Rectangle 46"/>
            <p:cNvSpPr>
              <a:spLocks noChangeArrowheads="1"/>
            </p:cNvSpPr>
            <p:nvPr/>
          </p:nvSpPr>
          <p:spPr bwMode="auto">
            <a:xfrm>
              <a:off x="3168" y="2544"/>
              <a:ext cx="528" cy="1248"/>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8559" name="Rectangle 47"/>
            <p:cNvSpPr>
              <a:spLocks noChangeArrowheads="1"/>
            </p:cNvSpPr>
            <p:nvPr/>
          </p:nvSpPr>
          <p:spPr bwMode="auto">
            <a:xfrm>
              <a:off x="4128" y="2544"/>
              <a:ext cx="576" cy="1248"/>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8560" name="Rectangle 48"/>
            <p:cNvSpPr>
              <a:spLocks noChangeArrowheads="1"/>
            </p:cNvSpPr>
            <p:nvPr/>
          </p:nvSpPr>
          <p:spPr bwMode="auto">
            <a:xfrm>
              <a:off x="1536" y="3792"/>
              <a:ext cx="768" cy="96"/>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8561" name="Rectangle 49"/>
            <p:cNvSpPr>
              <a:spLocks noChangeArrowheads="1"/>
            </p:cNvSpPr>
            <p:nvPr/>
          </p:nvSpPr>
          <p:spPr bwMode="auto">
            <a:xfrm>
              <a:off x="2592" y="3792"/>
              <a:ext cx="768" cy="96"/>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8562" name="Rectangle 50"/>
            <p:cNvSpPr>
              <a:spLocks noChangeArrowheads="1"/>
            </p:cNvSpPr>
            <p:nvPr/>
          </p:nvSpPr>
          <p:spPr bwMode="auto">
            <a:xfrm>
              <a:off x="3600" y="3792"/>
              <a:ext cx="768" cy="96"/>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8563" name="Oval 51"/>
            <p:cNvSpPr>
              <a:spLocks noChangeArrowheads="1"/>
            </p:cNvSpPr>
            <p:nvPr/>
          </p:nvSpPr>
          <p:spPr bwMode="auto">
            <a:xfrm>
              <a:off x="2352" y="3216"/>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8564" name="Line 52"/>
            <p:cNvSpPr>
              <a:spLocks noChangeShapeType="1"/>
            </p:cNvSpPr>
            <p:nvPr/>
          </p:nvSpPr>
          <p:spPr bwMode="auto">
            <a:xfrm>
              <a:off x="1296" y="3600"/>
              <a:ext cx="240"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8565" name="Line 53"/>
            <p:cNvSpPr>
              <a:spLocks noChangeShapeType="1"/>
            </p:cNvSpPr>
            <p:nvPr/>
          </p:nvSpPr>
          <p:spPr bwMode="auto">
            <a:xfrm>
              <a:off x="1296" y="3264"/>
              <a:ext cx="240"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8566" name="Line 54"/>
            <p:cNvSpPr>
              <a:spLocks noChangeShapeType="1"/>
            </p:cNvSpPr>
            <p:nvPr/>
          </p:nvSpPr>
          <p:spPr bwMode="auto">
            <a:xfrm>
              <a:off x="1248" y="2976"/>
              <a:ext cx="2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8567" name="Oval 55"/>
            <p:cNvSpPr>
              <a:spLocks noChangeArrowheads="1"/>
            </p:cNvSpPr>
            <p:nvPr/>
          </p:nvSpPr>
          <p:spPr bwMode="auto">
            <a:xfrm>
              <a:off x="3408" y="3216"/>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sp>
        <p:nvSpPr>
          <p:cNvPr id="448568" name="Text Box 56"/>
          <p:cNvSpPr txBox="1">
            <a:spLocks noChangeArrowheads="1"/>
          </p:cNvSpPr>
          <p:nvPr/>
        </p:nvSpPr>
        <p:spPr bwMode="auto">
          <a:xfrm>
            <a:off x="1295400" y="4419600"/>
            <a:ext cx="838200"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b="0">
                <a:cs typeface="+mn-cs"/>
              </a:rPr>
              <a:t>Directory</a:t>
            </a:r>
          </a:p>
        </p:txBody>
      </p:sp>
      <p:sp>
        <p:nvSpPr>
          <p:cNvPr id="448569" name="Text Box 57"/>
          <p:cNvSpPr txBox="1">
            <a:spLocks noChangeArrowheads="1"/>
          </p:cNvSpPr>
          <p:nvPr/>
        </p:nvSpPr>
        <p:spPr bwMode="auto">
          <a:xfrm>
            <a:off x="1524000" y="4876800"/>
            <a:ext cx="609600"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b="0">
                <a:cs typeface="+mn-cs"/>
              </a:rPr>
              <a:t>Route</a:t>
            </a:r>
          </a:p>
        </p:txBody>
      </p:sp>
      <p:sp>
        <p:nvSpPr>
          <p:cNvPr id="448570" name="Text Box 58"/>
          <p:cNvSpPr txBox="1">
            <a:spLocks noChangeArrowheads="1"/>
          </p:cNvSpPr>
          <p:nvPr/>
        </p:nvSpPr>
        <p:spPr bwMode="auto">
          <a:xfrm>
            <a:off x="1600200" y="5410200"/>
            <a:ext cx="533400"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b="0">
                <a:cs typeface="+mn-cs"/>
              </a:rPr>
              <a:t>Path</a:t>
            </a:r>
          </a:p>
        </p:txBody>
      </p:sp>
      <p:grpSp>
        <p:nvGrpSpPr>
          <p:cNvPr id="448571" name="Group 59"/>
          <p:cNvGrpSpPr>
            <a:grpSpLocks/>
          </p:cNvGrpSpPr>
          <p:nvPr/>
        </p:nvGrpSpPr>
        <p:grpSpPr bwMode="auto">
          <a:xfrm>
            <a:off x="2590800" y="4572000"/>
            <a:ext cx="4267200" cy="841375"/>
            <a:chOff x="1632" y="2880"/>
            <a:chExt cx="2688" cy="530"/>
          </a:xfrm>
        </p:grpSpPr>
        <p:grpSp>
          <p:nvGrpSpPr>
            <p:cNvPr id="53265" name="Group 60"/>
            <p:cNvGrpSpPr>
              <a:grpSpLocks/>
            </p:cNvGrpSpPr>
            <p:nvPr/>
          </p:nvGrpSpPr>
          <p:grpSpPr bwMode="auto">
            <a:xfrm>
              <a:off x="1632" y="2880"/>
              <a:ext cx="2688" cy="240"/>
              <a:chOff x="1632" y="2880"/>
              <a:chExt cx="2688" cy="240"/>
            </a:xfrm>
          </p:grpSpPr>
          <p:sp>
            <p:nvSpPr>
              <p:cNvPr id="448573" name="Line 61"/>
              <p:cNvSpPr>
                <a:spLocks noChangeShapeType="1"/>
              </p:cNvSpPr>
              <p:nvPr/>
            </p:nvSpPr>
            <p:spPr bwMode="auto">
              <a:xfrm>
                <a:off x="1632" y="2880"/>
                <a:ext cx="0" cy="240"/>
              </a:xfrm>
              <a:prstGeom prst="line">
                <a:avLst/>
              </a:prstGeom>
              <a:noFill/>
              <a:ln w="38100">
                <a:solidFill>
                  <a:srgbClr val="00FF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8574" name="Line 62"/>
              <p:cNvSpPr>
                <a:spLocks noChangeShapeType="1"/>
              </p:cNvSpPr>
              <p:nvPr/>
            </p:nvSpPr>
            <p:spPr bwMode="auto">
              <a:xfrm>
                <a:off x="1632" y="3120"/>
                <a:ext cx="2688" cy="0"/>
              </a:xfrm>
              <a:prstGeom prst="line">
                <a:avLst/>
              </a:prstGeom>
              <a:noFill/>
              <a:ln w="38100">
                <a:solidFill>
                  <a:srgbClr val="00FF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8575" name="Line 63"/>
              <p:cNvSpPr>
                <a:spLocks noChangeShapeType="1"/>
              </p:cNvSpPr>
              <p:nvPr/>
            </p:nvSpPr>
            <p:spPr bwMode="auto">
              <a:xfrm>
                <a:off x="4320" y="2880"/>
                <a:ext cx="0" cy="240"/>
              </a:xfrm>
              <a:prstGeom prst="line">
                <a:avLst/>
              </a:prstGeom>
              <a:noFill/>
              <a:ln w="38100">
                <a:solidFill>
                  <a:srgbClr val="00FF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53266" name="Group 64"/>
            <p:cNvGrpSpPr>
              <a:grpSpLocks/>
            </p:cNvGrpSpPr>
            <p:nvPr/>
          </p:nvGrpSpPr>
          <p:grpSpPr bwMode="auto">
            <a:xfrm>
              <a:off x="1632" y="3216"/>
              <a:ext cx="679" cy="194"/>
              <a:chOff x="1584" y="3888"/>
              <a:chExt cx="679" cy="194"/>
            </a:xfrm>
          </p:grpSpPr>
          <p:sp>
            <p:nvSpPr>
              <p:cNvPr id="448577" name="Line 65"/>
              <p:cNvSpPr>
                <a:spLocks noChangeShapeType="1"/>
              </p:cNvSpPr>
              <p:nvPr/>
            </p:nvSpPr>
            <p:spPr bwMode="auto">
              <a:xfrm>
                <a:off x="1584" y="3888"/>
                <a:ext cx="0" cy="192"/>
              </a:xfrm>
              <a:prstGeom prst="line">
                <a:avLst/>
              </a:prstGeom>
              <a:noFill/>
              <a:ln w="38100">
                <a:solidFill>
                  <a:srgbClr val="00FF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8578" name="Line 66"/>
              <p:cNvSpPr>
                <a:spLocks noChangeShapeType="1"/>
              </p:cNvSpPr>
              <p:nvPr/>
            </p:nvSpPr>
            <p:spPr bwMode="auto">
              <a:xfrm>
                <a:off x="1584" y="4080"/>
                <a:ext cx="672" cy="0"/>
              </a:xfrm>
              <a:prstGeom prst="line">
                <a:avLst/>
              </a:prstGeom>
              <a:noFill/>
              <a:ln w="38100">
                <a:solidFill>
                  <a:srgbClr val="00FF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8579" name="Line 67"/>
              <p:cNvSpPr>
                <a:spLocks noChangeShapeType="1"/>
              </p:cNvSpPr>
              <p:nvPr/>
            </p:nvSpPr>
            <p:spPr bwMode="auto">
              <a:xfrm>
                <a:off x="2263" y="3890"/>
                <a:ext cx="0" cy="192"/>
              </a:xfrm>
              <a:prstGeom prst="line">
                <a:avLst/>
              </a:prstGeom>
              <a:noFill/>
              <a:ln w="38100">
                <a:solidFill>
                  <a:srgbClr val="00FF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sp>
        <p:nvSpPr>
          <p:cNvPr id="448580" name="AutoShape 68"/>
          <p:cNvSpPr>
            <a:spLocks noChangeArrowheads="1"/>
          </p:cNvSpPr>
          <p:nvPr/>
        </p:nvSpPr>
        <p:spPr bwMode="auto">
          <a:xfrm>
            <a:off x="7010400" y="4419600"/>
            <a:ext cx="152400" cy="533400"/>
          </a:xfrm>
          <a:prstGeom prst="curvedLeftArrow">
            <a:avLst>
              <a:gd name="adj1" fmla="val 70000"/>
              <a:gd name="adj2" fmla="val 140000"/>
              <a:gd name="adj3" fmla="val 33333"/>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nvGrpSpPr>
          <p:cNvPr id="448581" name="Group 69"/>
          <p:cNvGrpSpPr>
            <a:grpSpLocks/>
          </p:cNvGrpSpPr>
          <p:nvPr/>
        </p:nvGrpSpPr>
        <p:grpSpPr bwMode="auto">
          <a:xfrm>
            <a:off x="2743200" y="4495800"/>
            <a:ext cx="4495800" cy="457200"/>
            <a:chOff x="1728" y="2832"/>
            <a:chExt cx="2832" cy="288"/>
          </a:xfrm>
        </p:grpSpPr>
        <p:sp>
          <p:nvSpPr>
            <p:cNvPr id="448582" name="AutoShape 70"/>
            <p:cNvSpPr>
              <a:spLocks noChangeArrowheads="1"/>
            </p:cNvSpPr>
            <p:nvPr/>
          </p:nvSpPr>
          <p:spPr bwMode="auto">
            <a:xfrm>
              <a:off x="1728" y="2928"/>
              <a:ext cx="864" cy="144"/>
            </a:xfrm>
            <a:prstGeom prst="curvedDownArrow">
              <a:avLst>
                <a:gd name="adj1" fmla="val 120000"/>
                <a:gd name="adj2" fmla="val 240000"/>
                <a:gd name="adj3" fmla="val 33333"/>
              </a:avLst>
            </a:prstGeom>
            <a:gradFill rotWithShape="0">
              <a:gsLst>
                <a:gs pos="0">
                  <a:schemeClr val="accent1">
                    <a:alpha val="48000"/>
                  </a:schemeClr>
                </a:gs>
                <a:gs pos="100000">
                  <a:schemeClr val="accent1">
                    <a:gamma/>
                    <a:shade val="96078"/>
                    <a:invGamma/>
                    <a:alpha val="48000"/>
                  </a:schemeClr>
                </a:gs>
              </a:gsLst>
              <a:lin ang="540000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8583" name="AutoShape 71"/>
            <p:cNvSpPr>
              <a:spLocks noChangeArrowheads="1"/>
            </p:cNvSpPr>
            <p:nvPr/>
          </p:nvSpPr>
          <p:spPr bwMode="auto">
            <a:xfrm>
              <a:off x="2448" y="2880"/>
              <a:ext cx="1152" cy="240"/>
            </a:xfrm>
            <a:prstGeom prst="curvedDownArrow">
              <a:avLst>
                <a:gd name="adj1" fmla="val 96000"/>
                <a:gd name="adj2" fmla="val 192000"/>
                <a:gd name="adj3" fmla="val 33333"/>
              </a:avLst>
            </a:prstGeom>
            <a:gradFill rotWithShape="0">
              <a:gsLst>
                <a:gs pos="0">
                  <a:schemeClr val="accent1">
                    <a:alpha val="48000"/>
                  </a:schemeClr>
                </a:gs>
                <a:gs pos="100000">
                  <a:schemeClr val="accent1">
                    <a:gamma/>
                    <a:shade val="96078"/>
                    <a:invGamma/>
                    <a:alpha val="48000"/>
                  </a:schemeClr>
                </a:gs>
              </a:gsLst>
              <a:lin ang="540000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48584" name="AutoShape 72"/>
            <p:cNvSpPr>
              <a:spLocks noChangeArrowheads="1"/>
            </p:cNvSpPr>
            <p:nvPr/>
          </p:nvSpPr>
          <p:spPr bwMode="auto">
            <a:xfrm>
              <a:off x="3408" y="2832"/>
              <a:ext cx="1152" cy="240"/>
            </a:xfrm>
            <a:prstGeom prst="curvedDownArrow">
              <a:avLst>
                <a:gd name="adj1" fmla="val 96000"/>
                <a:gd name="adj2" fmla="val 192000"/>
                <a:gd name="adj3" fmla="val 33333"/>
              </a:avLst>
            </a:prstGeom>
            <a:gradFill rotWithShape="0">
              <a:gsLst>
                <a:gs pos="0">
                  <a:schemeClr val="accent1">
                    <a:alpha val="48000"/>
                  </a:schemeClr>
                </a:gs>
                <a:gs pos="100000">
                  <a:schemeClr val="accent1">
                    <a:gamma/>
                    <a:shade val="96078"/>
                    <a:invGamma/>
                    <a:alpha val="48000"/>
                  </a:schemeClr>
                </a:gs>
              </a:gsLst>
              <a:lin ang="540000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sp>
        <p:nvSpPr>
          <p:cNvPr id="448585" name="AutoShape 73"/>
          <p:cNvSpPr>
            <a:spLocks noChangeArrowheads="1"/>
          </p:cNvSpPr>
          <p:nvPr/>
        </p:nvSpPr>
        <p:spPr bwMode="auto">
          <a:xfrm rot="1523395" flipH="1">
            <a:off x="3352800" y="4876800"/>
            <a:ext cx="228600" cy="762000"/>
          </a:xfrm>
          <a:prstGeom prst="curvedLeftArrow">
            <a:avLst>
              <a:gd name="adj1" fmla="val 66667"/>
              <a:gd name="adj2" fmla="val 133333"/>
              <a:gd name="adj3" fmla="val 33333"/>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85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8580"/>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48515">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4858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8515">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48585"/>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48515">
                                            <p:txEl>
                                              <p:pRg st="3" end="3"/>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48515">
                                            <p:txEl>
                                              <p:pRg st="4" end="4"/>
                                            </p:txEl>
                                          </p:spTgt>
                                        </p:tgtEl>
                                        <p:attrNameLst>
                                          <p:attrName>style.visibility</p:attrName>
                                        </p:attrNameLst>
                                      </p:cBhvr>
                                      <p:to>
                                        <p:strVal val="visible"/>
                                      </p:to>
                                    </p:set>
                                  </p:childTnLst>
                                </p:cTn>
                              </p:par>
                              <p:par>
                                <p:cTn id="27" presetID="9" presetClass="entr" presetSubtype="0" fill="hold" nodeType="withEffect">
                                  <p:stCondLst>
                                    <p:cond delay="0"/>
                                  </p:stCondLst>
                                  <p:childTnLst>
                                    <p:set>
                                      <p:cBhvr>
                                        <p:cTn id="28" dur="1" fill="hold">
                                          <p:stCondLst>
                                            <p:cond delay="0"/>
                                          </p:stCondLst>
                                        </p:cTn>
                                        <p:tgtEl>
                                          <p:spTgt spid="448571"/>
                                        </p:tgtEl>
                                        <p:attrNameLst>
                                          <p:attrName>style.visibility</p:attrName>
                                        </p:attrNameLst>
                                      </p:cBhvr>
                                      <p:to>
                                        <p:strVal val="visible"/>
                                      </p:to>
                                    </p:set>
                                    <p:animEffect transition="in" filter="dissolve">
                                      <p:cBhvr>
                                        <p:cTn id="29" dur="500"/>
                                        <p:tgtEl>
                                          <p:spTgt spid="4485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8515" grpId="0" build="p"/>
      <p:bldP spid="448580" grpId="0" animBg="1"/>
      <p:bldP spid="44858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BCEDC00F-792E-B84D-81B6-BA7550B30E26}" type="datetime3">
              <a:rPr lang="en-US"/>
              <a:pPr>
                <a:defRPr/>
              </a:pPr>
              <a:t>14 January 2026</a:t>
            </a:fld>
            <a:endParaRPr lang="en-US"/>
          </a:p>
        </p:txBody>
      </p:sp>
      <p:sp>
        <p:nvSpPr>
          <p:cNvPr id="5" name="Footer Placeholder 4"/>
          <p:cNvSpPr>
            <a:spLocks noGrp="1"/>
          </p:cNvSpPr>
          <p:nvPr>
            <p:ph type="ftr" sz="quarter" idx="11"/>
          </p:nvPr>
        </p:nvSpPr>
        <p:spPr/>
        <p:txBody>
          <a:bodyPr/>
          <a:lstStyle/>
          <a:p>
            <a:pPr>
              <a:defRPr/>
            </a:pPr>
            <a:r>
              <a:rPr lang="en-US"/>
              <a:t>.</a:t>
            </a:r>
          </a:p>
        </p:txBody>
      </p:sp>
      <p:sp>
        <p:nvSpPr>
          <p:cNvPr id="6" name="Slide Number Placeholder 5"/>
          <p:cNvSpPr>
            <a:spLocks noGrp="1"/>
          </p:cNvSpPr>
          <p:nvPr>
            <p:ph type="sldNum" sz="quarter" idx="12"/>
          </p:nvPr>
        </p:nvSpPr>
        <p:spPr/>
        <p:txBody>
          <a:bodyPr/>
          <a:lstStyle/>
          <a:p>
            <a:pPr>
              <a:defRPr/>
            </a:pPr>
            <a:fld id="{6435C484-8CEF-3C40-B6CE-FBDE3F388E4A}" type="slidenum">
              <a:rPr lang="en-US"/>
              <a:pPr>
                <a:defRPr/>
              </a:pPr>
              <a:t>14</a:t>
            </a:fld>
            <a:endParaRPr lang="en-US"/>
          </a:p>
        </p:txBody>
      </p:sp>
      <p:sp>
        <p:nvSpPr>
          <p:cNvPr id="513026" name="Rectangle 2"/>
          <p:cNvSpPr>
            <a:spLocks noGrp="1" noChangeArrowheads="1"/>
          </p:cNvSpPr>
          <p:nvPr>
            <p:ph type="title"/>
          </p:nvPr>
        </p:nvSpPr>
        <p:spPr>
          <a:xfrm>
            <a:off x="457200" y="228600"/>
            <a:ext cx="7772400" cy="1143000"/>
          </a:xfrm>
        </p:spPr>
        <p:txBody>
          <a:bodyPr/>
          <a:lstStyle/>
          <a:p>
            <a:pPr>
              <a:defRPr/>
            </a:pPr>
            <a:r>
              <a:rPr lang="en-US" sz="2000">
                <a:cs typeface="+mj-cs"/>
              </a:rPr>
              <a:t>To Recap</a:t>
            </a:r>
            <a:br>
              <a:rPr lang="en-US" sz="2000">
                <a:cs typeface="+mj-cs"/>
              </a:rPr>
            </a:br>
            <a:r>
              <a:rPr lang="en-US" sz="2800">
                <a:cs typeface="+mj-cs"/>
              </a:rPr>
              <a:t>Mappings between Name Spaces</a:t>
            </a:r>
          </a:p>
        </p:txBody>
      </p:sp>
      <p:sp>
        <p:nvSpPr>
          <p:cNvPr id="513027" name="Rectangle 3"/>
          <p:cNvSpPr>
            <a:spLocks noGrp="1" noChangeArrowheads="1"/>
          </p:cNvSpPr>
          <p:nvPr>
            <p:ph type="body" idx="1"/>
          </p:nvPr>
        </p:nvSpPr>
        <p:spPr>
          <a:xfrm>
            <a:off x="685800" y="1371600"/>
            <a:ext cx="8001000" cy="4191000"/>
          </a:xfrm>
        </p:spPr>
        <p:txBody>
          <a:bodyPr/>
          <a:lstStyle/>
          <a:p>
            <a:pPr>
              <a:defRPr/>
            </a:pPr>
            <a:r>
              <a:rPr lang="en-US" sz="2000">
                <a:cs typeface="+mn-cs"/>
              </a:rPr>
              <a:t>Mapping between application names and node addresses: Directory.</a:t>
            </a:r>
            <a:r>
              <a:rPr lang="en-US" sz="1600">
                <a:cs typeface="+mn-cs"/>
              </a:rPr>
              <a:t> </a:t>
            </a:r>
          </a:p>
          <a:p>
            <a:pPr lvl="1">
              <a:defRPr/>
            </a:pPr>
            <a:r>
              <a:rPr lang="en-US" sz="1600"/>
              <a:t>Allows for applications moving to different systems or systems moving.</a:t>
            </a:r>
          </a:p>
          <a:p>
            <a:pPr>
              <a:defRPr/>
            </a:pPr>
            <a:r>
              <a:rPr lang="en-US" sz="2000">
                <a:cs typeface="+mn-cs"/>
              </a:rPr>
              <a:t>Sequence of node addresses: Routes.</a:t>
            </a:r>
          </a:p>
          <a:p>
            <a:pPr lvl="1">
              <a:defRPr/>
            </a:pPr>
            <a:r>
              <a:rPr lang="en-US" sz="1600"/>
              <a:t>Node address space is an abstraction of point of attachment address spaces.</a:t>
            </a:r>
          </a:p>
          <a:p>
            <a:pPr lvl="2">
              <a:defRPr/>
            </a:pPr>
            <a:r>
              <a:rPr lang="en-US" sz="1600"/>
              <a:t>Node address space must be de-coupled from the point of attachment address space(s).</a:t>
            </a:r>
          </a:p>
          <a:p>
            <a:pPr lvl="3">
              <a:defRPr/>
            </a:pPr>
            <a:r>
              <a:rPr lang="en-US" sz="1400"/>
              <a:t>Any design that concatenates a (N-1)-layer address to an (N)-identifier to create an (N)-address will make the node address space route dependent.</a:t>
            </a:r>
          </a:p>
          <a:p>
            <a:pPr lvl="1">
              <a:defRPr/>
            </a:pPr>
            <a:r>
              <a:rPr lang="en-US" sz="1600"/>
              <a:t>From this we determine the next hop.</a:t>
            </a:r>
          </a:p>
          <a:p>
            <a:pPr>
              <a:defRPr/>
            </a:pPr>
            <a:r>
              <a:rPr lang="en-US" sz="2000">
                <a:cs typeface="+mn-cs"/>
              </a:rPr>
              <a:t>Mapping of node addresses to point of attachment addresses: Path.</a:t>
            </a:r>
          </a:p>
          <a:p>
            <a:pPr lvl="1">
              <a:defRPr/>
            </a:pPr>
            <a:r>
              <a:rPr lang="en-US" sz="1600"/>
              <a:t>A node needs this mapping for itself and all nearest neighbors. </a:t>
            </a:r>
          </a:p>
          <a:p>
            <a:pPr lvl="1">
              <a:defRPr/>
            </a:pPr>
            <a:r>
              <a:rPr lang="en-US" sz="1600"/>
              <a:t>Point of attachment addresses distinguish multiple paths to the next node (hop).</a:t>
            </a:r>
          </a:p>
          <a:p>
            <a:pPr lvl="1">
              <a:defRPr/>
            </a:pPr>
            <a:r>
              <a:rPr lang="en-US" sz="1600"/>
              <a:t>Note that this is the same as the Directory.</a:t>
            </a:r>
          </a:p>
          <a:p>
            <a:pPr>
              <a:defRPr/>
            </a:pPr>
            <a:r>
              <a:rPr lang="en-US" sz="2000">
                <a:cs typeface="+mn-cs"/>
              </a:rPr>
              <a:t>Naming the host has never come up.</a:t>
            </a:r>
          </a:p>
          <a:p>
            <a:pPr lvl="1">
              <a:defRPr/>
            </a:pPr>
            <a:r>
              <a:rPr lang="en-US" sz="1600"/>
              <a:t>It is irrelevant to the problem</a:t>
            </a:r>
          </a:p>
          <a:p>
            <a:pPr lvl="1">
              <a:defRPr/>
            </a:pPr>
            <a:endParaRPr lang="en-US" sz="16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13027">
                                            <p:txEl>
                                              <p:pRg st="0" end="0"/>
                                            </p:txEl>
                                          </p:spTgt>
                                        </p:tgtEl>
                                        <p:attrNameLst>
                                          <p:attrName>style.visibility</p:attrName>
                                        </p:attrNameLst>
                                      </p:cBhvr>
                                      <p:to>
                                        <p:strVal val="visible"/>
                                      </p:to>
                                    </p:set>
                                    <p:anim calcmode="lin" valueType="num">
                                      <p:cBhvr additive="base">
                                        <p:cTn id="7" dur="500" fill="hold"/>
                                        <p:tgtEl>
                                          <p:spTgt spid="51302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1302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513027">
                                            <p:txEl>
                                              <p:pRg st="1" end="1"/>
                                            </p:txEl>
                                          </p:spTgt>
                                        </p:tgtEl>
                                        <p:attrNameLst>
                                          <p:attrName>style.visibility</p:attrName>
                                        </p:attrNameLst>
                                      </p:cBhvr>
                                      <p:to>
                                        <p:strVal val="visible"/>
                                      </p:to>
                                    </p:set>
                                    <p:anim calcmode="lin" valueType="num">
                                      <p:cBhvr additive="base">
                                        <p:cTn id="11" dur="500" fill="hold"/>
                                        <p:tgtEl>
                                          <p:spTgt spid="513027">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51302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513027">
                                            <p:txEl>
                                              <p:pRg st="2" end="2"/>
                                            </p:txEl>
                                          </p:spTgt>
                                        </p:tgtEl>
                                        <p:attrNameLst>
                                          <p:attrName>style.visibility</p:attrName>
                                        </p:attrNameLst>
                                      </p:cBhvr>
                                      <p:to>
                                        <p:strVal val="visible"/>
                                      </p:to>
                                    </p:set>
                                    <p:anim calcmode="lin" valueType="num">
                                      <p:cBhvr additive="base">
                                        <p:cTn id="17" dur="500" fill="hold"/>
                                        <p:tgtEl>
                                          <p:spTgt spid="513027">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513027">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513027">
                                            <p:txEl>
                                              <p:pRg st="3" end="3"/>
                                            </p:txEl>
                                          </p:spTgt>
                                        </p:tgtEl>
                                        <p:attrNameLst>
                                          <p:attrName>style.visibility</p:attrName>
                                        </p:attrNameLst>
                                      </p:cBhvr>
                                      <p:to>
                                        <p:strVal val="visible"/>
                                      </p:to>
                                    </p:set>
                                    <p:anim calcmode="lin" valueType="num">
                                      <p:cBhvr additive="base">
                                        <p:cTn id="21" dur="500" fill="hold"/>
                                        <p:tgtEl>
                                          <p:spTgt spid="513027">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513027">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513027">
                                            <p:txEl>
                                              <p:pRg st="4" end="4"/>
                                            </p:txEl>
                                          </p:spTgt>
                                        </p:tgtEl>
                                        <p:attrNameLst>
                                          <p:attrName>style.visibility</p:attrName>
                                        </p:attrNameLst>
                                      </p:cBhvr>
                                      <p:to>
                                        <p:strVal val="visible"/>
                                      </p:to>
                                    </p:set>
                                    <p:anim calcmode="lin" valueType="num">
                                      <p:cBhvr additive="base">
                                        <p:cTn id="25" dur="500" fill="hold"/>
                                        <p:tgtEl>
                                          <p:spTgt spid="513027">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13027">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513027">
                                            <p:txEl>
                                              <p:pRg st="5" end="5"/>
                                            </p:txEl>
                                          </p:spTgt>
                                        </p:tgtEl>
                                        <p:attrNameLst>
                                          <p:attrName>style.visibility</p:attrName>
                                        </p:attrNameLst>
                                      </p:cBhvr>
                                      <p:to>
                                        <p:strVal val="visible"/>
                                      </p:to>
                                    </p:set>
                                    <p:anim calcmode="lin" valueType="num">
                                      <p:cBhvr additive="base">
                                        <p:cTn id="29" dur="500" fill="hold"/>
                                        <p:tgtEl>
                                          <p:spTgt spid="513027">
                                            <p:txEl>
                                              <p:pRg st="5" end="5"/>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513027">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513027">
                                            <p:txEl>
                                              <p:pRg st="6" end="6"/>
                                            </p:txEl>
                                          </p:spTgt>
                                        </p:tgtEl>
                                        <p:attrNameLst>
                                          <p:attrName>style.visibility</p:attrName>
                                        </p:attrNameLst>
                                      </p:cBhvr>
                                      <p:to>
                                        <p:strVal val="visible"/>
                                      </p:to>
                                    </p:set>
                                    <p:anim calcmode="lin" valueType="num">
                                      <p:cBhvr additive="base">
                                        <p:cTn id="33" dur="500" fill="hold"/>
                                        <p:tgtEl>
                                          <p:spTgt spid="513027">
                                            <p:txEl>
                                              <p:pRg st="6" end="6"/>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513027">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513027">
                                            <p:txEl>
                                              <p:pRg st="7" end="7"/>
                                            </p:txEl>
                                          </p:spTgt>
                                        </p:tgtEl>
                                        <p:attrNameLst>
                                          <p:attrName>style.visibility</p:attrName>
                                        </p:attrNameLst>
                                      </p:cBhvr>
                                      <p:to>
                                        <p:strVal val="visible"/>
                                      </p:to>
                                    </p:set>
                                    <p:anim calcmode="lin" valueType="num">
                                      <p:cBhvr additive="base">
                                        <p:cTn id="39" dur="500" fill="hold"/>
                                        <p:tgtEl>
                                          <p:spTgt spid="513027">
                                            <p:txEl>
                                              <p:pRg st="7" end="7"/>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513027">
                                            <p:txEl>
                                              <p:pRg st="7" end="7"/>
                                            </p:txEl>
                                          </p:spTgt>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513027">
                                            <p:txEl>
                                              <p:pRg st="8" end="8"/>
                                            </p:txEl>
                                          </p:spTgt>
                                        </p:tgtEl>
                                        <p:attrNameLst>
                                          <p:attrName>style.visibility</p:attrName>
                                        </p:attrNameLst>
                                      </p:cBhvr>
                                      <p:to>
                                        <p:strVal val="visible"/>
                                      </p:to>
                                    </p:set>
                                    <p:anim calcmode="lin" valueType="num">
                                      <p:cBhvr additive="base">
                                        <p:cTn id="43" dur="500" fill="hold"/>
                                        <p:tgtEl>
                                          <p:spTgt spid="513027">
                                            <p:txEl>
                                              <p:pRg st="8" end="8"/>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513027">
                                            <p:txEl>
                                              <p:pRg st="8" end="8"/>
                                            </p:txEl>
                                          </p:spTgt>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513027">
                                            <p:txEl>
                                              <p:pRg st="9" end="9"/>
                                            </p:txEl>
                                          </p:spTgt>
                                        </p:tgtEl>
                                        <p:attrNameLst>
                                          <p:attrName>style.visibility</p:attrName>
                                        </p:attrNameLst>
                                      </p:cBhvr>
                                      <p:to>
                                        <p:strVal val="visible"/>
                                      </p:to>
                                    </p:set>
                                    <p:anim calcmode="lin" valueType="num">
                                      <p:cBhvr additive="base">
                                        <p:cTn id="47" dur="500" fill="hold"/>
                                        <p:tgtEl>
                                          <p:spTgt spid="513027">
                                            <p:txEl>
                                              <p:pRg st="9" end="9"/>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513027">
                                            <p:txEl>
                                              <p:pRg st="9" end="9"/>
                                            </p:txEl>
                                          </p:spTgt>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0"/>
                                  </p:stCondLst>
                                  <p:childTnLst>
                                    <p:set>
                                      <p:cBhvr>
                                        <p:cTn id="50" dur="1" fill="hold">
                                          <p:stCondLst>
                                            <p:cond delay="0"/>
                                          </p:stCondLst>
                                        </p:cTn>
                                        <p:tgtEl>
                                          <p:spTgt spid="513027">
                                            <p:txEl>
                                              <p:pRg st="10" end="10"/>
                                            </p:txEl>
                                          </p:spTgt>
                                        </p:tgtEl>
                                        <p:attrNameLst>
                                          <p:attrName>style.visibility</p:attrName>
                                        </p:attrNameLst>
                                      </p:cBhvr>
                                      <p:to>
                                        <p:strVal val="visible"/>
                                      </p:to>
                                    </p:set>
                                    <p:anim calcmode="lin" valueType="num">
                                      <p:cBhvr additive="base">
                                        <p:cTn id="51" dur="500" fill="hold"/>
                                        <p:tgtEl>
                                          <p:spTgt spid="513027">
                                            <p:txEl>
                                              <p:pRg st="10" end="10"/>
                                            </p:txEl>
                                          </p:spTgt>
                                        </p:tgtEl>
                                        <p:attrNameLst>
                                          <p:attrName>ppt_x</p:attrName>
                                        </p:attrNameLst>
                                      </p:cBhvr>
                                      <p:tavLst>
                                        <p:tav tm="0">
                                          <p:val>
                                            <p:strVal val="0-#ppt_w/2"/>
                                          </p:val>
                                        </p:tav>
                                        <p:tav tm="100000">
                                          <p:val>
                                            <p:strVal val="#ppt_x"/>
                                          </p:val>
                                        </p:tav>
                                      </p:tavLst>
                                    </p:anim>
                                    <p:anim calcmode="lin" valueType="num">
                                      <p:cBhvr additive="base">
                                        <p:cTn id="52" dur="500" fill="hold"/>
                                        <p:tgtEl>
                                          <p:spTgt spid="513027">
                                            <p:txEl>
                                              <p:pRg st="10" end="10"/>
                                            </p:txEl>
                                          </p:spTgt>
                                        </p:tgtEl>
                                        <p:attrNameLst>
                                          <p:attrName>ppt_y</p:attrName>
                                        </p:attrNameLst>
                                      </p:cBhvr>
                                      <p:tavLst>
                                        <p:tav tm="0">
                                          <p:val>
                                            <p:strVal val="#ppt_y"/>
                                          </p:val>
                                        </p:tav>
                                        <p:tav tm="100000">
                                          <p:val>
                                            <p:strVal val="#ppt_y"/>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8" fill="hold" grpId="0" nodeType="clickEffect">
                                  <p:stCondLst>
                                    <p:cond delay="0"/>
                                  </p:stCondLst>
                                  <p:childTnLst>
                                    <p:set>
                                      <p:cBhvr>
                                        <p:cTn id="56" dur="1" fill="hold">
                                          <p:stCondLst>
                                            <p:cond delay="0"/>
                                          </p:stCondLst>
                                        </p:cTn>
                                        <p:tgtEl>
                                          <p:spTgt spid="513027">
                                            <p:txEl>
                                              <p:pRg st="11" end="11"/>
                                            </p:txEl>
                                          </p:spTgt>
                                        </p:tgtEl>
                                        <p:attrNameLst>
                                          <p:attrName>style.visibility</p:attrName>
                                        </p:attrNameLst>
                                      </p:cBhvr>
                                      <p:to>
                                        <p:strVal val="visible"/>
                                      </p:to>
                                    </p:set>
                                    <p:anim calcmode="lin" valueType="num">
                                      <p:cBhvr additive="base">
                                        <p:cTn id="57" dur="500" fill="hold"/>
                                        <p:tgtEl>
                                          <p:spTgt spid="513027">
                                            <p:txEl>
                                              <p:pRg st="11" end="11"/>
                                            </p:txEl>
                                          </p:spTgt>
                                        </p:tgtEl>
                                        <p:attrNameLst>
                                          <p:attrName>ppt_x</p:attrName>
                                        </p:attrNameLst>
                                      </p:cBhvr>
                                      <p:tavLst>
                                        <p:tav tm="0">
                                          <p:val>
                                            <p:strVal val="0-#ppt_w/2"/>
                                          </p:val>
                                        </p:tav>
                                        <p:tav tm="100000">
                                          <p:val>
                                            <p:strVal val="#ppt_x"/>
                                          </p:val>
                                        </p:tav>
                                      </p:tavLst>
                                    </p:anim>
                                    <p:anim calcmode="lin" valueType="num">
                                      <p:cBhvr additive="base">
                                        <p:cTn id="58" dur="500" fill="hold"/>
                                        <p:tgtEl>
                                          <p:spTgt spid="513027">
                                            <p:txEl>
                                              <p:pRg st="11" end="11"/>
                                            </p:txEl>
                                          </p:spTgt>
                                        </p:tgtEl>
                                        <p:attrNameLst>
                                          <p:attrName>ppt_y</p:attrName>
                                        </p:attrNameLst>
                                      </p:cBhvr>
                                      <p:tavLst>
                                        <p:tav tm="0">
                                          <p:val>
                                            <p:strVal val="#ppt_y"/>
                                          </p:val>
                                        </p:tav>
                                        <p:tav tm="100000">
                                          <p:val>
                                            <p:strVal val="#ppt_y"/>
                                          </p:val>
                                        </p:tav>
                                      </p:tavLst>
                                    </p:anim>
                                  </p:childTnLst>
                                </p:cTn>
                              </p:par>
                              <p:par>
                                <p:cTn id="59" presetID="2" presetClass="entr" presetSubtype="8" fill="hold" grpId="0" nodeType="withEffect">
                                  <p:stCondLst>
                                    <p:cond delay="0"/>
                                  </p:stCondLst>
                                  <p:childTnLst>
                                    <p:set>
                                      <p:cBhvr>
                                        <p:cTn id="60" dur="1" fill="hold">
                                          <p:stCondLst>
                                            <p:cond delay="0"/>
                                          </p:stCondLst>
                                        </p:cTn>
                                        <p:tgtEl>
                                          <p:spTgt spid="513027">
                                            <p:txEl>
                                              <p:pRg st="12" end="12"/>
                                            </p:txEl>
                                          </p:spTgt>
                                        </p:tgtEl>
                                        <p:attrNameLst>
                                          <p:attrName>style.visibility</p:attrName>
                                        </p:attrNameLst>
                                      </p:cBhvr>
                                      <p:to>
                                        <p:strVal val="visible"/>
                                      </p:to>
                                    </p:set>
                                    <p:anim calcmode="lin" valueType="num">
                                      <p:cBhvr additive="base">
                                        <p:cTn id="61" dur="500" fill="hold"/>
                                        <p:tgtEl>
                                          <p:spTgt spid="513027">
                                            <p:txEl>
                                              <p:pRg st="12" end="12"/>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513027">
                                            <p:txEl>
                                              <p:pRg st="12" end="1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027"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Date Placeholder 3"/>
          <p:cNvSpPr>
            <a:spLocks noGrp="1"/>
          </p:cNvSpPr>
          <p:nvPr>
            <p:ph type="dt" sz="quarter" idx="10"/>
          </p:nvPr>
        </p:nvSpPr>
        <p:spPr/>
        <p:txBody>
          <a:bodyPr/>
          <a:lstStyle/>
          <a:p>
            <a:pPr>
              <a:defRPr/>
            </a:pPr>
            <a:fld id="{847EB636-6C12-B446-ABC6-BFAC73E75584}" type="datetime3">
              <a:rPr lang="en-US"/>
              <a:pPr>
                <a:defRPr/>
              </a:pPr>
              <a:t>14 January 2026</a:t>
            </a:fld>
            <a:endParaRPr lang="en-US"/>
          </a:p>
        </p:txBody>
      </p:sp>
      <p:sp>
        <p:nvSpPr>
          <p:cNvPr id="66" name="Footer Placeholder 4"/>
          <p:cNvSpPr>
            <a:spLocks noGrp="1"/>
          </p:cNvSpPr>
          <p:nvPr>
            <p:ph type="ftr" sz="quarter" idx="11"/>
          </p:nvPr>
        </p:nvSpPr>
        <p:spPr/>
        <p:txBody>
          <a:bodyPr/>
          <a:lstStyle/>
          <a:p>
            <a:pPr>
              <a:defRPr/>
            </a:pPr>
            <a:r>
              <a:rPr lang="en-US"/>
              <a:t>.</a:t>
            </a:r>
          </a:p>
        </p:txBody>
      </p:sp>
      <p:sp>
        <p:nvSpPr>
          <p:cNvPr id="67" name="Slide Number Placeholder 5"/>
          <p:cNvSpPr>
            <a:spLocks noGrp="1"/>
          </p:cNvSpPr>
          <p:nvPr>
            <p:ph type="sldNum" sz="quarter" idx="12"/>
          </p:nvPr>
        </p:nvSpPr>
        <p:spPr/>
        <p:txBody>
          <a:bodyPr/>
          <a:lstStyle/>
          <a:p>
            <a:pPr>
              <a:defRPr/>
            </a:pPr>
            <a:fld id="{61D6F9B4-BA8C-A249-A649-979D34BB1A5C}" type="slidenum">
              <a:rPr lang="en-US"/>
              <a:pPr>
                <a:defRPr/>
              </a:pPr>
              <a:t>15</a:t>
            </a:fld>
            <a:endParaRPr lang="en-US"/>
          </a:p>
        </p:txBody>
      </p:sp>
      <p:sp>
        <p:nvSpPr>
          <p:cNvPr id="456706" name="Rectangle 2"/>
          <p:cNvSpPr>
            <a:spLocks noGrp="1" noChangeArrowheads="1"/>
          </p:cNvSpPr>
          <p:nvPr>
            <p:ph type="title"/>
          </p:nvPr>
        </p:nvSpPr>
        <p:spPr>
          <a:xfrm>
            <a:off x="685800" y="304800"/>
            <a:ext cx="7772400" cy="1143000"/>
          </a:xfrm>
        </p:spPr>
        <p:txBody>
          <a:bodyPr/>
          <a:lstStyle/>
          <a:p>
            <a:pPr>
              <a:defRPr/>
            </a:pPr>
            <a:r>
              <a:rPr lang="en-US" sz="2800">
                <a:cs typeface="+mj-cs"/>
              </a:rPr>
              <a:t>Applying Results to Real Architectures: The Internet</a:t>
            </a:r>
            <a:br>
              <a:rPr lang="en-US" sz="2800">
                <a:cs typeface="+mj-cs"/>
              </a:rPr>
            </a:br>
            <a:r>
              <a:rPr lang="en-US" sz="2000">
                <a:cs typeface="+mj-cs"/>
              </a:rPr>
              <a:t>(This is a </a:t>
            </a:r>
            <a:r>
              <a:rPr lang="en-US" sz="2000" i="1">
                <a:cs typeface="+mj-cs"/>
              </a:rPr>
              <a:t>Network</a:t>
            </a:r>
            <a:r>
              <a:rPr lang="en-US" sz="2000">
                <a:cs typeface="+mj-cs"/>
              </a:rPr>
              <a:t> Architecture)</a:t>
            </a:r>
            <a:endParaRPr lang="en-US" sz="2800">
              <a:cs typeface="+mj-cs"/>
            </a:endParaRPr>
          </a:p>
        </p:txBody>
      </p:sp>
      <p:sp>
        <p:nvSpPr>
          <p:cNvPr id="456707" name="Rectangle 3"/>
          <p:cNvSpPr>
            <a:spLocks noGrp="1" noChangeArrowheads="1"/>
          </p:cNvSpPr>
          <p:nvPr>
            <p:ph type="body" idx="1"/>
          </p:nvPr>
        </p:nvSpPr>
        <p:spPr>
          <a:xfrm>
            <a:off x="457200" y="1371600"/>
            <a:ext cx="7772400" cy="4114800"/>
          </a:xfrm>
        </p:spPr>
        <p:txBody>
          <a:bodyPr/>
          <a:lstStyle/>
          <a:p>
            <a:pPr>
              <a:defRPr/>
            </a:pPr>
            <a:r>
              <a:rPr lang="en-US" sz="1800">
                <a:cs typeface="+mn-cs"/>
              </a:rPr>
              <a:t>The most striking feature is that half of the addressing architecture is missing.</a:t>
            </a:r>
          </a:p>
          <a:p>
            <a:pPr lvl="1">
              <a:defRPr/>
            </a:pPr>
            <a:r>
              <a:rPr lang="en-US" sz="1600"/>
              <a:t>No wonder there are addressing problems.</a:t>
            </a:r>
          </a:p>
          <a:p>
            <a:pPr lvl="1">
              <a:defRPr/>
            </a:pPr>
            <a:r>
              <a:rPr lang="en-US" sz="1600"/>
              <a:t>The only identifier we have for anything is the IP address.</a:t>
            </a:r>
          </a:p>
          <a:p>
            <a:pPr>
              <a:defRPr/>
            </a:pPr>
            <a:r>
              <a:rPr lang="en-US" sz="1800">
                <a:cs typeface="+mn-cs"/>
              </a:rPr>
              <a:t>There are no node addresses and no application names.</a:t>
            </a:r>
          </a:p>
          <a:p>
            <a:pPr lvl="1">
              <a:defRPr/>
            </a:pPr>
            <a:r>
              <a:rPr lang="en-US" sz="1600"/>
              <a:t>And the point of attachment is named twice!</a:t>
            </a:r>
          </a:p>
          <a:p>
            <a:pPr lvl="1">
              <a:defRPr/>
            </a:pPr>
            <a:r>
              <a:rPr lang="en-US" sz="1600"/>
              <a:t>If this is an </a:t>
            </a:r>
            <a:r>
              <a:rPr lang="en-US" sz="1600" i="1"/>
              <a:t>Internet</a:t>
            </a:r>
            <a:r>
              <a:rPr lang="en-US" sz="1600"/>
              <a:t> Protocol, where are the </a:t>
            </a:r>
            <a:r>
              <a:rPr lang="en-US" sz="1600" i="1"/>
              <a:t>Network</a:t>
            </a:r>
            <a:r>
              <a:rPr lang="en-US" sz="1600"/>
              <a:t> Addresses?</a:t>
            </a:r>
          </a:p>
          <a:p>
            <a:pPr lvl="1">
              <a:defRPr/>
            </a:pPr>
            <a:r>
              <a:rPr lang="en-US" sz="1600"/>
              <a:t>Domain Names are synonyms for IP addresses. URLs are pathnames through the stack and location dependent.</a:t>
            </a:r>
          </a:p>
        </p:txBody>
      </p:sp>
      <p:grpSp>
        <p:nvGrpSpPr>
          <p:cNvPr id="456708" name="Group 4"/>
          <p:cNvGrpSpPr>
            <a:grpSpLocks/>
          </p:cNvGrpSpPr>
          <p:nvPr/>
        </p:nvGrpSpPr>
        <p:grpSpPr bwMode="auto">
          <a:xfrm>
            <a:off x="660400" y="3886200"/>
            <a:ext cx="7823200" cy="2133600"/>
            <a:chOff x="432" y="2304"/>
            <a:chExt cx="4928" cy="1344"/>
          </a:xfrm>
        </p:grpSpPr>
        <p:sp>
          <p:nvSpPr>
            <p:cNvPr id="456709" name="Oval 5" descr="60%"/>
            <p:cNvSpPr>
              <a:spLocks noChangeArrowheads="1"/>
            </p:cNvSpPr>
            <p:nvPr/>
          </p:nvSpPr>
          <p:spPr bwMode="auto">
            <a:xfrm>
              <a:off x="4128" y="3408"/>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sp>
          <p:nvSpPr>
            <p:cNvPr id="456710" name="Oval 6" descr="60%"/>
            <p:cNvSpPr>
              <a:spLocks noChangeArrowheads="1"/>
            </p:cNvSpPr>
            <p:nvPr/>
          </p:nvSpPr>
          <p:spPr bwMode="auto">
            <a:xfrm>
              <a:off x="3456" y="3408"/>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sp>
          <p:nvSpPr>
            <p:cNvPr id="456711" name="Oval 7" descr="60%"/>
            <p:cNvSpPr>
              <a:spLocks noChangeArrowheads="1"/>
            </p:cNvSpPr>
            <p:nvPr/>
          </p:nvSpPr>
          <p:spPr bwMode="auto">
            <a:xfrm>
              <a:off x="3072" y="3408"/>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sp>
          <p:nvSpPr>
            <p:cNvPr id="456712" name="Oval 8" descr="60%"/>
            <p:cNvSpPr>
              <a:spLocks noChangeArrowheads="1"/>
            </p:cNvSpPr>
            <p:nvPr/>
          </p:nvSpPr>
          <p:spPr bwMode="auto">
            <a:xfrm>
              <a:off x="2448" y="3408"/>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sp>
          <p:nvSpPr>
            <p:cNvPr id="456713" name="Oval 9" descr="60%"/>
            <p:cNvSpPr>
              <a:spLocks noChangeArrowheads="1"/>
            </p:cNvSpPr>
            <p:nvPr/>
          </p:nvSpPr>
          <p:spPr bwMode="auto">
            <a:xfrm>
              <a:off x="2064" y="3408"/>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sp>
          <p:nvSpPr>
            <p:cNvPr id="456714" name="Oval 10" descr="60%"/>
            <p:cNvSpPr>
              <a:spLocks noChangeArrowheads="1"/>
            </p:cNvSpPr>
            <p:nvPr/>
          </p:nvSpPr>
          <p:spPr bwMode="auto">
            <a:xfrm>
              <a:off x="1440" y="3408"/>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sp>
          <p:nvSpPr>
            <p:cNvPr id="456715" name="Oval 11" descr="20%"/>
            <p:cNvSpPr>
              <a:spLocks noChangeArrowheads="1"/>
            </p:cNvSpPr>
            <p:nvPr/>
          </p:nvSpPr>
          <p:spPr bwMode="auto">
            <a:xfrm>
              <a:off x="1536" y="2640"/>
              <a:ext cx="2640" cy="144"/>
            </a:xfrm>
            <a:prstGeom prst="ellipse">
              <a:avLst/>
            </a:prstGeom>
            <a:pattFill prst="pct20">
              <a:fgClr>
                <a:schemeClr val="tx1"/>
              </a:fgClr>
              <a:bgClr>
                <a:srgbClr val="FFFFFF"/>
              </a:bgClr>
            </a:pattFill>
            <a:ln>
              <a:noFill/>
            </a:ln>
            <a:effectLst/>
            <a:extLst>
              <a:ext uri="{91240B29-F687-4f45-9708-019B960494DF}">
                <a14:hiddenLine xmlns:a14="http://schemas.microsoft.com/office/drawing/2010/main" xmlns="" w="9525">
                  <a:solidFill>
                    <a:schemeClr val="bg2"/>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56716" name="Rectangle 12"/>
            <p:cNvSpPr>
              <a:spLocks noChangeArrowheads="1"/>
            </p:cNvSpPr>
            <p:nvPr/>
          </p:nvSpPr>
          <p:spPr bwMode="auto">
            <a:xfrm>
              <a:off x="1296" y="2592"/>
              <a:ext cx="3024" cy="240"/>
            </a:xfrm>
            <a:prstGeom prst="rect">
              <a:avLst/>
            </a:prstGeom>
            <a:noFill/>
            <a:ln w="9525">
              <a:solidFill>
                <a:schemeClr val="bg2"/>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56717" name="Oval 13"/>
            <p:cNvSpPr>
              <a:spLocks noChangeArrowheads="1"/>
            </p:cNvSpPr>
            <p:nvPr/>
          </p:nvSpPr>
          <p:spPr bwMode="auto">
            <a:xfrm>
              <a:off x="1392" y="2640"/>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b="0">
                <a:cs typeface="+mn-cs"/>
              </a:endParaRPr>
            </a:p>
          </p:txBody>
        </p:sp>
        <p:sp>
          <p:nvSpPr>
            <p:cNvPr id="456718" name="Oval 14"/>
            <p:cNvSpPr>
              <a:spLocks noChangeArrowheads="1"/>
            </p:cNvSpPr>
            <p:nvPr/>
          </p:nvSpPr>
          <p:spPr bwMode="auto">
            <a:xfrm>
              <a:off x="4128" y="2640"/>
              <a:ext cx="144" cy="144"/>
            </a:xfrm>
            <a:prstGeom prst="ellipse">
              <a:avLst/>
            </a:prstGeom>
            <a:noFill/>
            <a:ln w="9525">
              <a:solidFill>
                <a:schemeClr val="tx1"/>
              </a:solidFill>
              <a:round/>
              <a:headEnd/>
              <a:tailEnd/>
            </a:ln>
            <a:effectLst/>
            <a:extLst>
              <a:ext uri="{909E8E84-426E-40dd-AFC4-6F175D3DCCD1}">
                <a14:hiddenFill xmlns:a14="http://schemas.microsoft.com/office/drawing/2010/main" xmlns="">
                  <a:solidFill>
                    <a:schemeClr val="tx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56719" name="Oval 15" descr="20%"/>
            <p:cNvSpPr>
              <a:spLocks noChangeArrowheads="1"/>
            </p:cNvSpPr>
            <p:nvPr/>
          </p:nvSpPr>
          <p:spPr bwMode="auto">
            <a:xfrm>
              <a:off x="1488" y="3312"/>
              <a:ext cx="624" cy="96"/>
            </a:xfrm>
            <a:prstGeom prst="ellipse">
              <a:avLst/>
            </a:prstGeom>
            <a:pattFill prst="pct2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56720" name="Oval 16" descr="60%"/>
            <p:cNvSpPr>
              <a:spLocks noChangeArrowheads="1"/>
            </p:cNvSpPr>
            <p:nvPr/>
          </p:nvSpPr>
          <p:spPr bwMode="auto">
            <a:xfrm rot="1127993">
              <a:off x="2167" y="3073"/>
              <a:ext cx="96" cy="288"/>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sp>
          <p:nvSpPr>
            <p:cNvPr id="456721" name="Oval 17" descr="60%"/>
            <p:cNvSpPr>
              <a:spLocks noChangeArrowheads="1"/>
            </p:cNvSpPr>
            <p:nvPr/>
          </p:nvSpPr>
          <p:spPr bwMode="auto">
            <a:xfrm>
              <a:off x="1440" y="3120"/>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sp>
          <p:nvSpPr>
            <p:cNvPr id="456722" name="Rectangle 18"/>
            <p:cNvSpPr>
              <a:spLocks noChangeArrowheads="1"/>
            </p:cNvSpPr>
            <p:nvPr/>
          </p:nvSpPr>
          <p:spPr bwMode="auto">
            <a:xfrm>
              <a:off x="1296" y="3264"/>
              <a:ext cx="1008" cy="240"/>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56723" name="Oval 19"/>
            <p:cNvSpPr>
              <a:spLocks noChangeArrowheads="1"/>
            </p:cNvSpPr>
            <p:nvPr/>
          </p:nvSpPr>
          <p:spPr bwMode="auto">
            <a:xfrm>
              <a:off x="1392" y="331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56724" name="Oval 20"/>
            <p:cNvSpPr>
              <a:spLocks noChangeArrowheads="1"/>
            </p:cNvSpPr>
            <p:nvPr/>
          </p:nvSpPr>
          <p:spPr bwMode="auto">
            <a:xfrm>
              <a:off x="2064" y="331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56725" name="Oval 21" descr="20%"/>
            <p:cNvSpPr>
              <a:spLocks noChangeArrowheads="1"/>
            </p:cNvSpPr>
            <p:nvPr/>
          </p:nvSpPr>
          <p:spPr bwMode="auto">
            <a:xfrm>
              <a:off x="2496" y="3312"/>
              <a:ext cx="624" cy="96"/>
            </a:xfrm>
            <a:prstGeom prst="ellipse">
              <a:avLst/>
            </a:prstGeom>
            <a:pattFill prst="pct2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56726" name="Oval 22" descr="60%"/>
            <p:cNvSpPr>
              <a:spLocks noChangeArrowheads="1"/>
            </p:cNvSpPr>
            <p:nvPr/>
          </p:nvSpPr>
          <p:spPr bwMode="auto">
            <a:xfrm rot="1638151">
              <a:off x="3216" y="3120"/>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sp>
          <p:nvSpPr>
            <p:cNvPr id="456727" name="Oval 23" descr="60%"/>
            <p:cNvSpPr>
              <a:spLocks noChangeArrowheads="1"/>
            </p:cNvSpPr>
            <p:nvPr/>
          </p:nvSpPr>
          <p:spPr bwMode="auto">
            <a:xfrm rot="-1187808">
              <a:off x="2312" y="3070"/>
              <a:ext cx="96" cy="288"/>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sp>
          <p:nvSpPr>
            <p:cNvPr id="456728" name="Rectangle 24"/>
            <p:cNvSpPr>
              <a:spLocks noChangeArrowheads="1"/>
            </p:cNvSpPr>
            <p:nvPr/>
          </p:nvSpPr>
          <p:spPr bwMode="auto">
            <a:xfrm>
              <a:off x="2304" y="3264"/>
              <a:ext cx="1008" cy="240"/>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56729" name="Oval 25"/>
            <p:cNvSpPr>
              <a:spLocks noChangeArrowheads="1"/>
            </p:cNvSpPr>
            <p:nvPr/>
          </p:nvSpPr>
          <p:spPr bwMode="auto">
            <a:xfrm>
              <a:off x="2400" y="331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56730" name="Oval 26"/>
            <p:cNvSpPr>
              <a:spLocks noChangeArrowheads="1"/>
            </p:cNvSpPr>
            <p:nvPr/>
          </p:nvSpPr>
          <p:spPr bwMode="auto">
            <a:xfrm>
              <a:off x="3072" y="331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56731" name="Oval 27" descr="20%"/>
            <p:cNvSpPr>
              <a:spLocks noChangeArrowheads="1"/>
            </p:cNvSpPr>
            <p:nvPr/>
          </p:nvSpPr>
          <p:spPr bwMode="auto">
            <a:xfrm>
              <a:off x="3504" y="3312"/>
              <a:ext cx="624" cy="96"/>
            </a:xfrm>
            <a:prstGeom prst="ellipse">
              <a:avLst/>
            </a:prstGeom>
            <a:pattFill prst="pct2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56732" name="Oval 28" descr="60%"/>
            <p:cNvSpPr>
              <a:spLocks noChangeArrowheads="1"/>
            </p:cNvSpPr>
            <p:nvPr/>
          </p:nvSpPr>
          <p:spPr bwMode="auto">
            <a:xfrm>
              <a:off x="4128" y="3120"/>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sp>
          <p:nvSpPr>
            <p:cNvPr id="456733" name="Oval 29" descr="60%"/>
            <p:cNvSpPr>
              <a:spLocks noChangeArrowheads="1"/>
            </p:cNvSpPr>
            <p:nvPr/>
          </p:nvSpPr>
          <p:spPr bwMode="auto">
            <a:xfrm rot="-1510090">
              <a:off x="3360" y="3120"/>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sp>
          <p:nvSpPr>
            <p:cNvPr id="456734" name="Rectangle 30"/>
            <p:cNvSpPr>
              <a:spLocks noChangeArrowheads="1"/>
            </p:cNvSpPr>
            <p:nvPr/>
          </p:nvSpPr>
          <p:spPr bwMode="auto">
            <a:xfrm>
              <a:off x="3312" y="3264"/>
              <a:ext cx="1008" cy="240"/>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56735" name="Oval 31"/>
            <p:cNvSpPr>
              <a:spLocks noChangeArrowheads="1"/>
            </p:cNvSpPr>
            <p:nvPr/>
          </p:nvSpPr>
          <p:spPr bwMode="auto">
            <a:xfrm>
              <a:off x="3408" y="331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56736" name="Oval 32"/>
            <p:cNvSpPr>
              <a:spLocks noChangeArrowheads="1"/>
            </p:cNvSpPr>
            <p:nvPr/>
          </p:nvSpPr>
          <p:spPr bwMode="auto">
            <a:xfrm>
              <a:off x="4080" y="331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56737" name="Oval 33" descr="20%"/>
            <p:cNvSpPr>
              <a:spLocks noChangeArrowheads="1"/>
            </p:cNvSpPr>
            <p:nvPr/>
          </p:nvSpPr>
          <p:spPr bwMode="auto">
            <a:xfrm>
              <a:off x="1488" y="2976"/>
              <a:ext cx="768" cy="96"/>
            </a:xfrm>
            <a:prstGeom prst="ellipse">
              <a:avLst/>
            </a:prstGeom>
            <a:pattFill prst="pct2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56738" name="Oval 34" descr="60%"/>
            <p:cNvSpPr>
              <a:spLocks noChangeArrowheads="1"/>
            </p:cNvSpPr>
            <p:nvPr/>
          </p:nvSpPr>
          <p:spPr bwMode="auto">
            <a:xfrm>
              <a:off x="1440" y="2784"/>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sp>
          <p:nvSpPr>
            <p:cNvPr id="456739" name="Oval 35"/>
            <p:cNvSpPr>
              <a:spLocks noChangeArrowheads="1"/>
            </p:cNvSpPr>
            <p:nvPr/>
          </p:nvSpPr>
          <p:spPr bwMode="auto">
            <a:xfrm>
              <a:off x="1392" y="2976"/>
              <a:ext cx="144" cy="144"/>
            </a:xfrm>
            <a:prstGeom prst="ellipse">
              <a:avLst/>
            </a:prstGeom>
            <a:solidFill>
              <a:schemeClr val="bg1"/>
            </a:solidFill>
            <a:ln w="9525">
              <a:solidFill>
                <a:schemeClr val="bg2"/>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56740" name="Oval 36" descr="20%"/>
            <p:cNvSpPr>
              <a:spLocks noChangeArrowheads="1"/>
            </p:cNvSpPr>
            <p:nvPr/>
          </p:nvSpPr>
          <p:spPr bwMode="auto">
            <a:xfrm>
              <a:off x="2352" y="2976"/>
              <a:ext cx="960" cy="96"/>
            </a:xfrm>
            <a:prstGeom prst="ellipse">
              <a:avLst/>
            </a:prstGeom>
            <a:pattFill prst="pct2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56741" name="Oval 37" descr="20%"/>
            <p:cNvSpPr>
              <a:spLocks noChangeArrowheads="1"/>
            </p:cNvSpPr>
            <p:nvPr/>
          </p:nvSpPr>
          <p:spPr bwMode="auto">
            <a:xfrm>
              <a:off x="3408" y="2976"/>
              <a:ext cx="720" cy="96"/>
            </a:xfrm>
            <a:prstGeom prst="ellipse">
              <a:avLst/>
            </a:prstGeom>
            <a:pattFill prst="pct2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56742" name="Oval 38" descr="60%"/>
            <p:cNvSpPr>
              <a:spLocks noChangeArrowheads="1"/>
            </p:cNvSpPr>
            <p:nvPr/>
          </p:nvSpPr>
          <p:spPr bwMode="auto">
            <a:xfrm>
              <a:off x="4128" y="2784"/>
              <a:ext cx="96" cy="240"/>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sp>
          <p:nvSpPr>
            <p:cNvPr id="456743" name="Oval 39"/>
            <p:cNvSpPr>
              <a:spLocks noChangeArrowheads="1"/>
            </p:cNvSpPr>
            <p:nvPr/>
          </p:nvSpPr>
          <p:spPr bwMode="auto">
            <a:xfrm>
              <a:off x="4080" y="2976"/>
              <a:ext cx="144" cy="144"/>
            </a:xfrm>
            <a:prstGeom prst="ellipse">
              <a:avLst/>
            </a:prstGeom>
            <a:solidFill>
              <a:schemeClr val="bg1"/>
            </a:solidFill>
            <a:ln w="9525">
              <a:solidFill>
                <a:schemeClr val="bg2"/>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56744" name="Rectangle 40"/>
            <p:cNvSpPr>
              <a:spLocks noChangeArrowheads="1"/>
            </p:cNvSpPr>
            <p:nvPr/>
          </p:nvSpPr>
          <p:spPr bwMode="auto">
            <a:xfrm>
              <a:off x="1200" y="2304"/>
              <a:ext cx="480" cy="1248"/>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56745" name="Rectangle 41"/>
            <p:cNvSpPr>
              <a:spLocks noChangeArrowheads="1"/>
            </p:cNvSpPr>
            <p:nvPr/>
          </p:nvSpPr>
          <p:spPr bwMode="auto">
            <a:xfrm>
              <a:off x="2016" y="2880"/>
              <a:ext cx="528" cy="672"/>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56746" name="Rectangle 42"/>
            <p:cNvSpPr>
              <a:spLocks noChangeArrowheads="1"/>
            </p:cNvSpPr>
            <p:nvPr/>
          </p:nvSpPr>
          <p:spPr bwMode="auto">
            <a:xfrm>
              <a:off x="3024" y="2880"/>
              <a:ext cx="528" cy="672"/>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56747" name="Rectangle 43"/>
            <p:cNvSpPr>
              <a:spLocks noChangeArrowheads="1"/>
            </p:cNvSpPr>
            <p:nvPr/>
          </p:nvSpPr>
          <p:spPr bwMode="auto">
            <a:xfrm>
              <a:off x="3984" y="2304"/>
              <a:ext cx="384" cy="1248"/>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56748" name="Rectangle 44"/>
            <p:cNvSpPr>
              <a:spLocks noChangeArrowheads="1"/>
            </p:cNvSpPr>
            <p:nvPr/>
          </p:nvSpPr>
          <p:spPr bwMode="auto">
            <a:xfrm>
              <a:off x="1392" y="3552"/>
              <a:ext cx="768" cy="96"/>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bg2"/>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56749" name="Rectangle 45"/>
            <p:cNvSpPr>
              <a:spLocks noChangeArrowheads="1"/>
            </p:cNvSpPr>
            <p:nvPr/>
          </p:nvSpPr>
          <p:spPr bwMode="auto">
            <a:xfrm>
              <a:off x="2448" y="3552"/>
              <a:ext cx="768" cy="96"/>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56750" name="Rectangle 46"/>
            <p:cNvSpPr>
              <a:spLocks noChangeArrowheads="1"/>
            </p:cNvSpPr>
            <p:nvPr/>
          </p:nvSpPr>
          <p:spPr bwMode="auto">
            <a:xfrm>
              <a:off x="3456" y="3552"/>
              <a:ext cx="768" cy="96"/>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56751" name="Oval 47"/>
            <p:cNvSpPr>
              <a:spLocks noChangeArrowheads="1"/>
            </p:cNvSpPr>
            <p:nvPr/>
          </p:nvSpPr>
          <p:spPr bwMode="auto">
            <a:xfrm>
              <a:off x="2208" y="2976"/>
              <a:ext cx="144" cy="144"/>
            </a:xfrm>
            <a:prstGeom prst="ellipse">
              <a:avLst/>
            </a:prstGeom>
            <a:solidFill>
              <a:schemeClr val="bg1"/>
            </a:solidFill>
            <a:ln w="9525">
              <a:solidFill>
                <a:schemeClr val="bg2"/>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56752" name="Line 48"/>
            <p:cNvSpPr>
              <a:spLocks noChangeShapeType="1"/>
            </p:cNvSpPr>
            <p:nvPr/>
          </p:nvSpPr>
          <p:spPr bwMode="auto">
            <a:xfrm>
              <a:off x="1056" y="3408"/>
              <a:ext cx="33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56753" name="Line 49"/>
            <p:cNvSpPr>
              <a:spLocks noChangeShapeType="1"/>
            </p:cNvSpPr>
            <p:nvPr/>
          </p:nvSpPr>
          <p:spPr bwMode="auto">
            <a:xfrm>
              <a:off x="1008" y="3216"/>
              <a:ext cx="43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56754" name="Line 50"/>
            <p:cNvSpPr>
              <a:spLocks noChangeShapeType="1"/>
            </p:cNvSpPr>
            <p:nvPr/>
          </p:nvSpPr>
          <p:spPr bwMode="auto">
            <a:xfrm>
              <a:off x="1008" y="2880"/>
              <a:ext cx="43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56755" name="Oval 51"/>
            <p:cNvSpPr>
              <a:spLocks noChangeArrowheads="1"/>
            </p:cNvSpPr>
            <p:nvPr/>
          </p:nvSpPr>
          <p:spPr bwMode="auto">
            <a:xfrm>
              <a:off x="3264" y="2976"/>
              <a:ext cx="144" cy="144"/>
            </a:xfrm>
            <a:prstGeom prst="ellipse">
              <a:avLst/>
            </a:prstGeom>
            <a:solidFill>
              <a:schemeClr val="bg1"/>
            </a:solidFill>
            <a:ln w="9525">
              <a:solidFill>
                <a:schemeClr val="bg2"/>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56756" name="Line 52"/>
            <p:cNvSpPr>
              <a:spLocks noChangeShapeType="1"/>
            </p:cNvSpPr>
            <p:nvPr/>
          </p:nvSpPr>
          <p:spPr bwMode="auto">
            <a:xfrm>
              <a:off x="960" y="2736"/>
              <a:ext cx="43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56757" name="Text Box 53"/>
            <p:cNvSpPr txBox="1">
              <a:spLocks noChangeArrowheads="1"/>
            </p:cNvSpPr>
            <p:nvPr/>
          </p:nvSpPr>
          <p:spPr bwMode="auto">
            <a:xfrm>
              <a:off x="528" y="3360"/>
              <a:ext cx="580"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1000" b="0">
                  <a:cs typeface="+mn-cs"/>
                </a:rPr>
                <a:t>MAC Address</a:t>
              </a:r>
            </a:p>
          </p:txBody>
        </p:sp>
        <p:sp>
          <p:nvSpPr>
            <p:cNvPr id="456758" name="Text Box 54"/>
            <p:cNvSpPr txBox="1">
              <a:spLocks noChangeArrowheads="1"/>
            </p:cNvSpPr>
            <p:nvPr/>
          </p:nvSpPr>
          <p:spPr bwMode="auto">
            <a:xfrm>
              <a:off x="528" y="3168"/>
              <a:ext cx="469"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1000" b="0">
                  <a:cs typeface="+mn-cs"/>
                </a:rPr>
                <a:t>IP Address</a:t>
              </a:r>
            </a:p>
          </p:txBody>
        </p:sp>
        <p:sp>
          <p:nvSpPr>
            <p:cNvPr id="456759" name="Text Box 55"/>
            <p:cNvSpPr txBox="1">
              <a:spLocks noChangeArrowheads="1"/>
            </p:cNvSpPr>
            <p:nvPr/>
          </p:nvSpPr>
          <p:spPr bwMode="auto">
            <a:xfrm>
              <a:off x="480" y="2832"/>
              <a:ext cx="562"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1000" b="0">
                  <a:cs typeface="+mn-cs"/>
                </a:rPr>
                <a:t>Socket (local)</a:t>
              </a:r>
            </a:p>
          </p:txBody>
        </p:sp>
        <p:sp>
          <p:nvSpPr>
            <p:cNvPr id="456760" name="Rectangle 56"/>
            <p:cNvSpPr>
              <a:spLocks noChangeArrowheads="1"/>
            </p:cNvSpPr>
            <p:nvPr/>
          </p:nvSpPr>
          <p:spPr bwMode="auto">
            <a:xfrm>
              <a:off x="1296" y="2928"/>
              <a:ext cx="3024" cy="240"/>
            </a:xfrm>
            <a:prstGeom prst="rect">
              <a:avLst/>
            </a:prstGeom>
            <a:noFill/>
            <a:ln w="9525">
              <a:solidFill>
                <a:schemeClr val="bg2"/>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56761" name="Text Box 57"/>
            <p:cNvSpPr txBox="1">
              <a:spLocks noChangeArrowheads="1"/>
            </p:cNvSpPr>
            <p:nvPr/>
          </p:nvSpPr>
          <p:spPr bwMode="auto">
            <a:xfrm>
              <a:off x="432" y="2640"/>
              <a:ext cx="56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bg2"/>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b="0">
                  <a:solidFill>
                    <a:schemeClr val="bg2"/>
                  </a:solidFill>
                  <a:cs typeface="+mn-cs"/>
                </a:rPr>
                <a:t>Application</a:t>
              </a:r>
            </a:p>
          </p:txBody>
        </p:sp>
        <p:sp>
          <p:nvSpPr>
            <p:cNvPr id="456762" name="Line 58"/>
            <p:cNvSpPr>
              <a:spLocks noChangeShapeType="1"/>
            </p:cNvSpPr>
            <p:nvPr/>
          </p:nvSpPr>
          <p:spPr bwMode="auto">
            <a:xfrm flipH="1">
              <a:off x="4272" y="2688"/>
              <a:ext cx="2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56763" name="Line 59"/>
            <p:cNvSpPr>
              <a:spLocks noChangeShapeType="1"/>
            </p:cNvSpPr>
            <p:nvPr/>
          </p:nvSpPr>
          <p:spPr bwMode="auto">
            <a:xfrm flipH="1">
              <a:off x="4224" y="3072"/>
              <a:ext cx="33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56764" name="Line 60"/>
            <p:cNvSpPr>
              <a:spLocks noChangeShapeType="1"/>
            </p:cNvSpPr>
            <p:nvPr/>
          </p:nvSpPr>
          <p:spPr bwMode="auto">
            <a:xfrm flipH="1">
              <a:off x="4233" y="3383"/>
              <a:ext cx="33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56765" name="Text Box 61"/>
            <p:cNvSpPr txBox="1">
              <a:spLocks noChangeArrowheads="1"/>
            </p:cNvSpPr>
            <p:nvPr/>
          </p:nvSpPr>
          <p:spPr bwMode="auto">
            <a:xfrm>
              <a:off x="4488" y="2542"/>
              <a:ext cx="569"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b="0">
                  <a:cs typeface="+mn-cs"/>
                </a:rPr>
                <a:t>Application</a:t>
              </a:r>
            </a:p>
            <a:p>
              <a:pPr algn="ctr">
                <a:defRPr/>
              </a:pPr>
              <a:r>
                <a:rPr lang="en-US" b="0">
                  <a:cs typeface="+mn-cs"/>
                </a:rPr>
                <a:t>Name</a:t>
              </a:r>
            </a:p>
          </p:txBody>
        </p:sp>
        <p:sp>
          <p:nvSpPr>
            <p:cNvPr id="456766" name="Text Box 62"/>
            <p:cNvSpPr txBox="1">
              <a:spLocks noChangeArrowheads="1"/>
            </p:cNvSpPr>
            <p:nvPr/>
          </p:nvSpPr>
          <p:spPr bwMode="auto">
            <a:xfrm>
              <a:off x="4550" y="3005"/>
              <a:ext cx="663"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b="0">
                  <a:cs typeface="+mn-cs"/>
                </a:rPr>
                <a:t>Node Address</a:t>
              </a:r>
            </a:p>
          </p:txBody>
        </p:sp>
        <p:sp>
          <p:nvSpPr>
            <p:cNvPr id="456767" name="Text Box 63"/>
            <p:cNvSpPr txBox="1">
              <a:spLocks noChangeArrowheads="1"/>
            </p:cNvSpPr>
            <p:nvPr/>
          </p:nvSpPr>
          <p:spPr bwMode="auto">
            <a:xfrm>
              <a:off x="4465" y="3264"/>
              <a:ext cx="895"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b="0">
                  <a:cs typeface="+mn-cs"/>
                </a:rPr>
                <a:t>Point of Attachment</a:t>
              </a:r>
            </a:p>
            <a:p>
              <a:pPr algn="ctr">
                <a:defRPr/>
              </a:pPr>
              <a:r>
                <a:rPr lang="en-US" b="0">
                  <a:cs typeface="+mn-cs"/>
                </a:rPr>
                <a:t>Address</a:t>
              </a:r>
            </a:p>
          </p:txBody>
        </p:sp>
      </p:grpSp>
      <p:sp>
        <p:nvSpPr>
          <p:cNvPr id="456768" name="Rectangle 64"/>
          <p:cNvSpPr>
            <a:spLocks noChangeArrowheads="1"/>
          </p:cNvSpPr>
          <p:nvPr/>
        </p:nvSpPr>
        <p:spPr bwMode="auto">
          <a:xfrm>
            <a:off x="1406525" y="6096000"/>
            <a:ext cx="6329363"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spcBef>
                <a:spcPct val="20000"/>
              </a:spcBef>
              <a:defRPr/>
            </a:pPr>
            <a:r>
              <a:rPr lang="en-US" sz="1800" b="0" dirty="0">
                <a:cs typeface="+mn-cs"/>
              </a:rPr>
              <a:t>As if your computer worked only with absolute memory addresses.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456708"/>
                                        </p:tgtEl>
                                        <p:attrNameLst>
                                          <p:attrName>style.visibility</p:attrName>
                                        </p:attrNameLst>
                                      </p:cBhvr>
                                      <p:to>
                                        <p:strVal val="visible"/>
                                      </p:to>
                                    </p:set>
                                    <p:anim calcmode="lin" valueType="num">
                                      <p:cBhvr additive="base">
                                        <p:cTn id="7" dur="500" fill="hold"/>
                                        <p:tgtEl>
                                          <p:spTgt spid="456708"/>
                                        </p:tgtEl>
                                        <p:attrNameLst>
                                          <p:attrName>ppt_x</p:attrName>
                                        </p:attrNameLst>
                                      </p:cBhvr>
                                      <p:tavLst>
                                        <p:tav tm="0">
                                          <p:val>
                                            <p:strVal val="0-#ppt_w/2"/>
                                          </p:val>
                                        </p:tav>
                                        <p:tav tm="100000">
                                          <p:val>
                                            <p:strVal val="#ppt_x"/>
                                          </p:val>
                                        </p:tav>
                                      </p:tavLst>
                                    </p:anim>
                                    <p:anim calcmode="lin" valueType="num">
                                      <p:cBhvr additive="base">
                                        <p:cTn id="8" dur="500" fill="hold"/>
                                        <p:tgtEl>
                                          <p:spTgt spid="45670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56707">
                                            <p:txEl>
                                              <p:pRg st="0" end="0"/>
                                            </p:txEl>
                                          </p:spTgt>
                                        </p:tgtEl>
                                        <p:attrNameLst>
                                          <p:attrName>style.visibility</p:attrName>
                                        </p:attrNameLst>
                                      </p:cBhvr>
                                      <p:to>
                                        <p:strVal val="visible"/>
                                      </p:to>
                                    </p:set>
                                    <p:anim calcmode="lin" valueType="num">
                                      <p:cBhvr additive="base">
                                        <p:cTn id="13" dur="500" fill="hold"/>
                                        <p:tgtEl>
                                          <p:spTgt spid="456707">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56707">
                                            <p:txEl>
                                              <p:pRg st="0" end="0"/>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456707">
                                            <p:txEl>
                                              <p:pRg st="1" end="1"/>
                                            </p:txEl>
                                          </p:spTgt>
                                        </p:tgtEl>
                                        <p:attrNameLst>
                                          <p:attrName>style.visibility</p:attrName>
                                        </p:attrNameLst>
                                      </p:cBhvr>
                                      <p:to>
                                        <p:strVal val="visible"/>
                                      </p:to>
                                    </p:set>
                                    <p:anim calcmode="lin" valueType="num">
                                      <p:cBhvr additive="base">
                                        <p:cTn id="17" dur="500" fill="hold"/>
                                        <p:tgtEl>
                                          <p:spTgt spid="456707">
                                            <p:txEl>
                                              <p:pRg st="1" end="1"/>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456707">
                                            <p:txEl>
                                              <p:pRg st="1" end="1"/>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456707">
                                            <p:txEl>
                                              <p:pRg st="2" end="2"/>
                                            </p:txEl>
                                          </p:spTgt>
                                        </p:tgtEl>
                                        <p:attrNameLst>
                                          <p:attrName>style.visibility</p:attrName>
                                        </p:attrNameLst>
                                      </p:cBhvr>
                                      <p:to>
                                        <p:strVal val="visible"/>
                                      </p:to>
                                    </p:set>
                                    <p:anim calcmode="lin" valueType="num">
                                      <p:cBhvr additive="base">
                                        <p:cTn id="21" dur="500" fill="hold"/>
                                        <p:tgtEl>
                                          <p:spTgt spid="456707">
                                            <p:txEl>
                                              <p:pRg st="2" end="2"/>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45670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456707">
                                            <p:txEl>
                                              <p:pRg st="3" end="3"/>
                                            </p:txEl>
                                          </p:spTgt>
                                        </p:tgtEl>
                                        <p:attrNameLst>
                                          <p:attrName>style.visibility</p:attrName>
                                        </p:attrNameLst>
                                      </p:cBhvr>
                                      <p:to>
                                        <p:strVal val="visible"/>
                                      </p:to>
                                    </p:set>
                                    <p:anim calcmode="lin" valueType="num">
                                      <p:cBhvr additive="base">
                                        <p:cTn id="27" dur="500" fill="hold"/>
                                        <p:tgtEl>
                                          <p:spTgt spid="456707">
                                            <p:txEl>
                                              <p:pRg st="3" end="3"/>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456707">
                                            <p:txEl>
                                              <p:pRg st="3" end="3"/>
                                            </p:txEl>
                                          </p:spTgt>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456707">
                                            <p:txEl>
                                              <p:pRg st="4" end="4"/>
                                            </p:txEl>
                                          </p:spTgt>
                                        </p:tgtEl>
                                        <p:attrNameLst>
                                          <p:attrName>style.visibility</p:attrName>
                                        </p:attrNameLst>
                                      </p:cBhvr>
                                      <p:to>
                                        <p:strVal val="visible"/>
                                      </p:to>
                                    </p:set>
                                    <p:anim calcmode="lin" valueType="num">
                                      <p:cBhvr additive="base">
                                        <p:cTn id="31" dur="500" fill="hold"/>
                                        <p:tgtEl>
                                          <p:spTgt spid="45670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56707">
                                            <p:txEl>
                                              <p:pRg st="4" end="4"/>
                                            </p:txEl>
                                          </p:spTgt>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456707">
                                            <p:txEl>
                                              <p:pRg st="5" end="5"/>
                                            </p:txEl>
                                          </p:spTgt>
                                        </p:tgtEl>
                                        <p:attrNameLst>
                                          <p:attrName>style.visibility</p:attrName>
                                        </p:attrNameLst>
                                      </p:cBhvr>
                                      <p:to>
                                        <p:strVal val="visible"/>
                                      </p:to>
                                    </p:set>
                                    <p:anim calcmode="lin" valueType="num">
                                      <p:cBhvr additive="base">
                                        <p:cTn id="35" dur="500" fill="hold"/>
                                        <p:tgtEl>
                                          <p:spTgt spid="456707">
                                            <p:txEl>
                                              <p:pRg st="5" end="5"/>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456707">
                                            <p:txEl>
                                              <p:pRg st="5" end="5"/>
                                            </p:txEl>
                                          </p:spTgt>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456707">
                                            <p:txEl>
                                              <p:pRg st="6" end="6"/>
                                            </p:txEl>
                                          </p:spTgt>
                                        </p:tgtEl>
                                        <p:attrNameLst>
                                          <p:attrName>style.visibility</p:attrName>
                                        </p:attrNameLst>
                                      </p:cBhvr>
                                      <p:to>
                                        <p:strVal val="visible"/>
                                      </p:to>
                                    </p:set>
                                    <p:anim calcmode="lin" valueType="num">
                                      <p:cBhvr additive="base">
                                        <p:cTn id="39" dur="500" fill="hold"/>
                                        <p:tgtEl>
                                          <p:spTgt spid="456707">
                                            <p:txEl>
                                              <p:pRg st="6" end="6"/>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456707">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567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6707" grpId="0" build="p" autoUpdateAnimBg="0"/>
      <p:bldP spid="45676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Date Placeholder 3"/>
          <p:cNvSpPr>
            <a:spLocks noGrp="1"/>
          </p:cNvSpPr>
          <p:nvPr>
            <p:ph type="dt" sz="quarter" idx="10"/>
          </p:nvPr>
        </p:nvSpPr>
        <p:spPr/>
        <p:txBody>
          <a:bodyPr/>
          <a:lstStyle/>
          <a:p>
            <a:pPr>
              <a:defRPr/>
            </a:pPr>
            <a:fld id="{F209C137-28F3-AB4B-B2FC-941FFA381701}" type="datetime3">
              <a:rPr lang="en-US"/>
              <a:pPr>
                <a:defRPr/>
              </a:pPr>
              <a:t>14 January 2026</a:t>
            </a:fld>
            <a:endParaRPr lang="en-US"/>
          </a:p>
        </p:txBody>
      </p:sp>
      <p:sp>
        <p:nvSpPr>
          <p:cNvPr id="76" name="Footer Placeholder 4"/>
          <p:cNvSpPr>
            <a:spLocks noGrp="1"/>
          </p:cNvSpPr>
          <p:nvPr>
            <p:ph type="ftr" sz="quarter" idx="11"/>
          </p:nvPr>
        </p:nvSpPr>
        <p:spPr/>
        <p:txBody>
          <a:bodyPr/>
          <a:lstStyle/>
          <a:p>
            <a:pPr>
              <a:defRPr/>
            </a:pPr>
            <a:r>
              <a:rPr lang="en-US"/>
              <a:t>.</a:t>
            </a:r>
          </a:p>
        </p:txBody>
      </p:sp>
      <p:sp>
        <p:nvSpPr>
          <p:cNvPr id="77" name="Slide Number Placeholder 5"/>
          <p:cNvSpPr>
            <a:spLocks noGrp="1"/>
          </p:cNvSpPr>
          <p:nvPr>
            <p:ph type="sldNum" sz="quarter" idx="12"/>
          </p:nvPr>
        </p:nvSpPr>
        <p:spPr/>
        <p:txBody>
          <a:bodyPr/>
          <a:lstStyle/>
          <a:p>
            <a:pPr>
              <a:defRPr/>
            </a:pPr>
            <a:fld id="{AE3B049D-8A9E-3845-81F1-1673142C6EC5}" type="slidenum">
              <a:rPr lang="en-US"/>
              <a:pPr>
                <a:defRPr/>
              </a:pPr>
              <a:t>16</a:t>
            </a:fld>
            <a:endParaRPr lang="en-US"/>
          </a:p>
        </p:txBody>
      </p:sp>
      <p:sp>
        <p:nvSpPr>
          <p:cNvPr id="515074" name="Rectangle 2"/>
          <p:cNvSpPr>
            <a:spLocks noGrp="1" noChangeArrowheads="1"/>
          </p:cNvSpPr>
          <p:nvPr/>
        </p:nvSpPr>
        <p:spPr bwMode="auto">
          <a:xfrm>
            <a:off x="685800" y="304800"/>
            <a:ext cx="7772400"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lstStyle/>
          <a:p>
            <a:pPr algn="ctr">
              <a:defRPr/>
            </a:pPr>
            <a:r>
              <a:rPr lang="en-US" sz="2800" b="0" dirty="0">
                <a:solidFill>
                  <a:schemeClr val="tx2"/>
                </a:solidFill>
              </a:rPr>
              <a:t>Applying Results to Real Architectures:  OSI</a:t>
            </a:r>
          </a:p>
        </p:txBody>
      </p:sp>
      <p:sp>
        <p:nvSpPr>
          <p:cNvPr id="515075" name="Rectangle 3"/>
          <p:cNvSpPr>
            <a:spLocks noGrp="1" noChangeArrowheads="1"/>
          </p:cNvSpPr>
          <p:nvPr/>
        </p:nvSpPr>
        <p:spPr bwMode="auto">
          <a:xfrm>
            <a:off x="685800" y="1524000"/>
            <a:ext cx="7772400" cy="411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9250" indent="-342900">
              <a:buFont typeface="Times" charset="0"/>
              <a:buChar char="•"/>
              <a:defRPr/>
            </a:pPr>
            <a:r>
              <a:rPr lang="en-US" sz="1800" b="0" dirty="0"/>
              <a:t>For better or worse, it is a complete addressing architecture.</a:t>
            </a:r>
          </a:p>
          <a:p>
            <a:pPr marL="742950" lvl="1" indent="-279400">
              <a:buFont typeface="Times" charset="0"/>
              <a:buChar char="•"/>
              <a:defRPr/>
            </a:pPr>
            <a:r>
              <a:rPr lang="en-US" sz="1400" b="0" dirty="0"/>
              <a:t>If anything, too many addresses.</a:t>
            </a:r>
            <a:endParaRPr lang="en-US" sz="1800" b="0" dirty="0"/>
          </a:p>
          <a:p>
            <a:pPr marL="349250" indent="-342900">
              <a:buFont typeface="Times" charset="0"/>
              <a:buChar char="•"/>
              <a:defRPr/>
            </a:pPr>
            <a:r>
              <a:rPr lang="en-US" sz="1600" b="0" dirty="0"/>
              <a:t>The good news:  Session and Presentation addresses should be null.</a:t>
            </a:r>
          </a:p>
          <a:p>
            <a:pPr marL="349250" indent="-342900">
              <a:buFont typeface="Times" charset="0"/>
              <a:buChar char="•"/>
              <a:defRPr/>
            </a:pPr>
            <a:r>
              <a:rPr lang="en-US" sz="1600" b="0" dirty="0"/>
              <a:t>Why </a:t>
            </a:r>
            <a:r>
              <a:rPr lang="en-US" sz="1600" b="0" dirty="0" err="1"/>
              <a:t>Subnetwork</a:t>
            </a:r>
            <a:r>
              <a:rPr lang="en-US" sz="1600" b="0" dirty="0"/>
              <a:t> attachment addresses </a:t>
            </a:r>
            <a:r>
              <a:rPr lang="en-US" sz="1600" b="0" i="1" dirty="0"/>
              <a:t>and</a:t>
            </a:r>
            <a:r>
              <a:rPr lang="en-US" sz="1600" b="0" dirty="0"/>
              <a:t> Data Link Addresses?</a:t>
            </a:r>
          </a:p>
          <a:p>
            <a:pPr marL="742950" lvl="1" indent="-279400">
              <a:buFont typeface="Times" charset="0"/>
              <a:buChar char="•"/>
              <a:defRPr/>
            </a:pPr>
            <a:r>
              <a:rPr lang="en-US" sz="1400" b="0" dirty="0"/>
              <a:t>First signs that the layering is not fixed. No SNAC with Ethernet, but with other technologies.</a:t>
            </a:r>
          </a:p>
          <a:p>
            <a:pPr marL="349250" indent="-342900">
              <a:defRPr/>
            </a:pPr>
            <a:endParaRPr lang="en-US" sz="1600" b="0" dirty="0"/>
          </a:p>
        </p:txBody>
      </p:sp>
      <p:grpSp>
        <p:nvGrpSpPr>
          <p:cNvPr id="59398" name="Group 8"/>
          <p:cNvGrpSpPr>
            <a:grpSpLocks/>
          </p:cNvGrpSpPr>
          <p:nvPr/>
        </p:nvGrpSpPr>
        <p:grpSpPr bwMode="auto">
          <a:xfrm>
            <a:off x="1982788" y="3276600"/>
            <a:ext cx="811212" cy="2606675"/>
            <a:chOff x="577" y="2304"/>
            <a:chExt cx="511" cy="1642"/>
          </a:xfrm>
        </p:grpSpPr>
        <p:sp>
          <p:nvSpPr>
            <p:cNvPr id="515081" name="Rectangle 9"/>
            <p:cNvSpPr>
              <a:spLocks noChangeArrowheads="1"/>
            </p:cNvSpPr>
            <p:nvPr/>
          </p:nvSpPr>
          <p:spPr bwMode="auto">
            <a:xfrm>
              <a:off x="624" y="2304"/>
              <a:ext cx="432" cy="1632"/>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5082" name="Line 10"/>
            <p:cNvSpPr>
              <a:spLocks noChangeShapeType="1"/>
            </p:cNvSpPr>
            <p:nvPr/>
          </p:nvSpPr>
          <p:spPr bwMode="auto">
            <a:xfrm>
              <a:off x="624" y="3792"/>
              <a:ext cx="432"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5083" name="Line 11"/>
            <p:cNvSpPr>
              <a:spLocks noChangeShapeType="1"/>
            </p:cNvSpPr>
            <p:nvPr/>
          </p:nvSpPr>
          <p:spPr bwMode="auto">
            <a:xfrm>
              <a:off x="624" y="3552"/>
              <a:ext cx="432"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5084" name="Line 12"/>
            <p:cNvSpPr>
              <a:spLocks noChangeShapeType="1"/>
            </p:cNvSpPr>
            <p:nvPr/>
          </p:nvSpPr>
          <p:spPr bwMode="auto">
            <a:xfrm>
              <a:off x="624" y="3072"/>
              <a:ext cx="432"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5085" name="Line 13"/>
            <p:cNvSpPr>
              <a:spLocks noChangeShapeType="1"/>
            </p:cNvSpPr>
            <p:nvPr/>
          </p:nvSpPr>
          <p:spPr bwMode="auto">
            <a:xfrm>
              <a:off x="624" y="2880"/>
              <a:ext cx="432"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5086" name="Line 14"/>
            <p:cNvSpPr>
              <a:spLocks noChangeShapeType="1"/>
            </p:cNvSpPr>
            <p:nvPr/>
          </p:nvSpPr>
          <p:spPr bwMode="auto">
            <a:xfrm>
              <a:off x="624" y="2688"/>
              <a:ext cx="432"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5087" name="Line 15"/>
            <p:cNvSpPr>
              <a:spLocks noChangeShapeType="1"/>
            </p:cNvSpPr>
            <p:nvPr/>
          </p:nvSpPr>
          <p:spPr bwMode="auto">
            <a:xfrm>
              <a:off x="624" y="2544"/>
              <a:ext cx="432"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5088" name="Line 16"/>
            <p:cNvSpPr>
              <a:spLocks noChangeShapeType="1"/>
            </p:cNvSpPr>
            <p:nvPr/>
          </p:nvSpPr>
          <p:spPr bwMode="auto">
            <a:xfrm>
              <a:off x="624" y="3264"/>
              <a:ext cx="432" cy="0"/>
            </a:xfrm>
            <a:prstGeom prst="line">
              <a:avLst/>
            </a:prstGeom>
            <a:noFill/>
            <a:ln w="9525">
              <a:solidFill>
                <a:schemeClr val="tx1"/>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5089" name="Line 17"/>
            <p:cNvSpPr>
              <a:spLocks noChangeShapeType="1"/>
            </p:cNvSpPr>
            <p:nvPr/>
          </p:nvSpPr>
          <p:spPr bwMode="auto">
            <a:xfrm>
              <a:off x="624" y="3408"/>
              <a:ext cx="432" cy="0"/>
            </a:xfrm>
            <a:prstGeom prst="line">
              <a:avLst/>
            </a:prstGeom>
            <a:noFill/>
            <a:ln w="9525">
              <a:solidFill>
                <a:schemeClr val="tx1"/>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5090" name="Text Box 18"/>
            <p:cNvSpPr txBox="1">
              <a:spLocks noChangeArrowheads="1"/>
            </p:cNvSpPr>
            <p:nvPr/>
          </p:nvSpPr>
          <p:spPr bwMode="auto">
            <a:xfrm>
              <a:off x="624" y="3792"/>
              <a:ext cx="387"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algn="ctr">
                <a:defRPr/>
              </a:pPr>
              <a:r>
                <a:rPr lang="en-US" sz="1000" b="0"/>
                <a:t>Physical</a:t>
              </a:r>
            </a:p>
          </p:txBody>
        </p:sp>
        <p:sp>
          <p:nvSpPr>
            <p:cNvPr id="515091" name="Text Box 19"/>
            <p:cNvSpPr txBox="1">
              <a:spLocks noChangeArrowheads="1"/>
            </p:cNvSpPr>
            <p:nvPr/>
          </p:nvSpPr>
          <p:spPr bwMode="auto">
            <a:xfrm>
              <a:off x="625" y="3600"/>
              <a:ext cx="438"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algn="ctr">
                <a:defRPr/>
              </a:pPr>
              <a:r>
                <a:rPr lang="en-US" sz="1000" b="0"/>
                <a:t>Data Link</a:t>
              </a:r>
            </a:p>
          </p:txBody>
        </p:sp>
        <p:sp>
          <p:nvSpPr>
            <p:cNvPr id="515092" name="Text Box 20"/>
            <p:cNvSpPr txBox="1">
              <a:spLocks noChangeArrowheads="1"/>
            </p:cNvSpPr>
            <p:nvPr/>
          </p:nvSpPr>
          <p:spPr bwMode="auto">
            <a:xfrm>
              <a:off x="668" y="3408"/>
              <a:ext cx="329"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algn="ctr">
                <a:defRPr/>
              </a:pPr>
              <a:r>
                <a:rPr lang="en-US" sz="1000" b="0"/>
                <a:t>SNAC</a:t>
              </a:r>
            </a:p>
          </p:txBody>
        </p:sp>
        <p:sp>
          <p:nvSpPr>
            <p:cNvPr id="515093" name="Text Box 21"/>
            <p:cNvSpPr txBox="1">
              <a:spLocks noChangeArrowheads="1"/>
            </p:cNvSpPr>
            <p:nvPr/>
          </p:nvSpPr>
          <p:spPr bwMode="auto">
            <a:xfrm>
              <a:off x="672" y="3264"/>
              <a:ext cx="329"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algn="ctr">
                <a:defRPr/>
              </a:pPr>
              <a:r>
                <a:rPr lang="en-US" sz="1000" b="0"/>
                <a:t>SNDC</a:t>
              </a:r>
            </a:p>
          </p:txBody>
        </p:sp>
        <p:sp>
          <p:nvSpPr>
            <p:cNvPr id="515094" name="Text Box 22"/>
            <p:cNvSpPr txBox="1">
              <a:spLocks noChangeArrowheads="1"/>
            </p:cNvSpPr>
            <p:nvPr/>
          </p:nvSpPr>
          <p:spPr bwMode="auto">
            <a:xfrm>
              <a:off x="672" y="3120"/>
              <a:ext cx="298"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algn="ctr">
                <a:defRPr/>
              </a:pPr>
              <a:r>
                <a:rPr lang="en-US" sz="1000" b="0"/>
                <a:t>SNIC</a:t>
              </a:r>
            </a:p>
          </p:txBody>
        </p:sp>
        <p:sp>
          <p:nvSpPr>
            <p:cNvPr id="515095" name="Text Box 23"/>
            <p:cNvSpPr txBox="1">
              <a:spLocks noChangeArrowheads="1"/>
            </p:cNvSpPr>
            <p:nvPr/>
          </p:nvSpPr>
          <p:spPr bwMode="auto">
            <a:xfrm>
              <a:off x="625" y="2928"/>
              <a:ext cx="427"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algn="ctr">
                <a:defRPr/>
              </a:pPr>
              <a:r>
                <a:rPr lang="en-US" sz="1000" b="0"/>
                <a:t>Transport</a:t>
              </a:r>
            </a:p>
          </p:txBody>
        </p:sp>
        <p:sp>
          <p:nvSpPr>
            <p:cNvPr id="515096" name="Text Box 24"/>
            <p:cNvSpPr txBox="1">
              <a:spLocks noChangeArrowheads="1"/>
            </p:cNvSpPr>
            <p:nvPr/>
          </p:nvSpPr>
          <p:spPr bwMode="auto">
            <a:xfrm>
              <a:off x="672" y="2688"/>
              <a:ext cx="360"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algn="ctr">
                <a:defRPr/>
              </a:pPr>
              <a:r>
                <a:rPr lang="en-US" sz="1000" b="0"/>
                <a:t>Session</a:t>
              </a:r>
            </a:p>
          </p:txBody>
        </p:sp>
        <p:sp>
          <p:nvSpPr>
            <p:cNvPr id="515097" name="Text Box 25"/>
            <p:cNvSpPr txBox="1">
              <a:spLocks noChangeArrowheads="1"/>
            </p:cNvSpPr>
            <p:nvPr/>
          </p:nvSpPr>
          <p:spPr bwMode="auto">
            <a:xfrm>
              <a:off x="577" y="2544"/>
              <a:ext cx="511"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algn="ctr">
                <a:defRPr/>
              </a:pPr>
              <a:r>
                <a:rPr lang="en-US" sz="1000" b="0"/>
                <a:t>Presentation</a:t>
              </a:r>
            </a:p>
          </p:txBody>
        </p:sp>
        <p:sp>
          <p:nvSpPr>
            <p:cNvPr id="515098" name="Text Box 26"/>
            <p:cNvSpPr txBox="1">
              <a:spLocks noChangeArrowheads="1"/>
            </p:cNvSpPr>
            <p:nvPr/>
          </p:nvSpPr>
          <p:spPr bwMode="auto">
            <a:xfrm>
              <a:off x="592" y="2337"/>
              <a:ext cx="494"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algn="ctr">
                <a:defRPr/>
              </a:pPr>
              <a:r>
                <a:rPr lang="en-US" sz="1000" b="0"/>
                <a:t>Application</a:t>
              </a:r>
            </a:p>
          </p:txBody>
        </p:sp>
      </p:grpSp>
      <p:grpSp>
        <p:nvGrpSpPr>
          <p:cNvPr id="59399" name="Group 27"/>
          <p:cNvGrpSpPr>
            <a:grpSpLocks/>
          </p:cNvGrpSpPr>
          <p:nvPr/>
        </p:nvGrpSpPr>
        <p:grpSpPr bwMode="auto">
          <a:xfrm>
            <a:off x="7392988" y="3276600"/>
            <a:ext cx="811212" cy="2606675"/>
            <a:chOff x="577" y="2304"/>
            <a:chExt cx="511" cy="1642"/>
          </a:xfrm>
        </p:grpSpPr>
        <p:sp>
          <p:nvSpPr>
            <p:cNvPr id="515100" name="Rectangle 28"/>
            <p:cNvSpPr>
              <a:spLocks noChangeArrowheads="1"/>
            </p:cNvSpPr>
            <p:nvPr/>
          </p:nvSpPr>
          <p:spPr bwMode="auto">
            <a:xfrm>
              <a:off x="624" y="2304"/>
              <a:ext cx="432" cy="1632"/>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5101" name="Line 29"/>
            <p:cNvSpPr>
              <a:spLocks noChangeShapeType="1"/>
            </p:cNvSpPr>
            <p:nvPr/>
          </p:nvSpPr>
          <p:spPr bwMode="auto">
            <a:xfrm>
              <a:off x="624" y="3792"/>
              <a:ext cx="432"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5102" name="Line 30"/>
            <p:cNvSpPr>
              <a:spLocks noChangeShapeType="1"/>
            </p:cNvSpPr>
            <p:nvPr/>
          </p:nvSpPr>
          <p:spPr bwMode="auto">
            <a:xfrm>
              <a:off x="624" y="3552"/>
              <a:ext cx="432"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5103" name="Line 31"/>
            <p:cNvSpPr>
              <a:spLocks noChangeShapeType="1"/>
            </p:cNvSpPr>
            <p:nvPr/>
          </p:nvSpPr>
          <p:spPr bwMode="auto">
            <a:xfrm>
              <a:off x="624" y="3072"/>
              <a:ext cx="432"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5104" name="Line 32"/>
            <p:cNvSpPr>
              <a:spLocks noChangeShapeType="1"/>
            </p:cNvSpPr>
            <p:nvPr/>
          </p:nvSpPr>
          <p:spPr bwMode="auto">
            <a:xfrm>
              <a:off x="624" y="2880"/>
              <a:ext cx="432"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5105" name="Line 33"/>
            <p:cNvSpPr>
              <a:spLocks noChangeShapeType="1"/>
            </p:cNvSpPr>
            <p:nvPr/>
          </p:nvSpPr>
          <p:spPr bwMode="auto">
            <a:xfrm>
              <a:off x="624" y="2688"/>
              <a:ext cx="432"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5106" name="Line 34"/>
            <p:cNvSpPr>
              <a:spLocks noChangeShapeType="1"/>
            </p:cNvSpPr>
            <p:nvPr/>
          </p:nvSpPr>
          <p:spPr bwMode="auto">
            <a:xfrm>
              <a:off x="624" y="2544"/>
              <a:ext cx="432"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5107" name="Line 35"/>
            <p:cNvSpPr>
              <a:spLocks noChangeShapeType="1"/>
            </p:cNvSpPr>
            <p:nvPr/>
          </p:nvSpPr>
          <p:spPr bwMode="auto">
            <a:xfrm>
              <a:off x="624" y="3264"/>
              <a:ext cx="432" cy="0"/>
            </a:xfrm>
            <a:prstGeom prst="line">
              <a:avLst/>
            </a:prstGeom>
            <a:noFill/>
            <a:ln w="9525">
              <a:solidFill>
                <a:schemeClr val="tx1"/>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5108" name="Line 36"/>
            <p:cNvSpPr>
              <a:spLocks noChangeShapeType="1"/>
            </p:cNvSpPr>
            <p:nvPr/>
          </p:nvSpPr>
          <p:spPr bwMode="auto">
            <a:xfrm>
              <a:off x="624" y="3408"/>
              <a:ext cx="432" cy="0"/>
            </a:xfrm>
            <a:prstGeom prst="line">
              <a:avLst/>
            </a:prstGeom>
            <a:noFill/>
            <a:ln w="9525">
              <a:solidFill>
                <a:schemeClr val="tx1"/>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5109" name="Text Box 37"/>
            <p:cNvSpPr txBox="1">
              <a:spLocks noChangeArrowheads="1"/>
            </p:cNvSpPr>
            <p:nvPr/>
          </p:nvSpPr>
          <p:spPr bwMode="auto">
            <a:xfrm>
              <a:off x="624" y="3792"/>
              <a:ext cx="387"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algn="ctr">
                <a:defRPr/>
              </a:pPr>
              <a:r>
                <a:rPr lang="en-US" sz="1000" b="0"/>
                <a:t>Physical</a:t>
              </a:r>
            </a:p>
          </p:txBody>
        </p:sp>
        <p:sp>
          <p:nvSpPr>
            <p:cNvPr id="515110" name="Text Box 38"/>
            <p:cNvSpPr txBox="1">
              <a:spLocks noChangeArrowheads="1"/>
            </p:cNvSpPr>
            <p:nvPr/>
          </p:nvSpPr>
          <p:spPr bwMode="auto">
            <a:xfrm>
              <a:off x="625" y="3600"/>
              <a:ext cx="438"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algn="ctr">
                <a:defRPr/>
              </a:pPr>
              <a:r>
                <a:rPr lang="en-US" sz="1000" b="0"/>
                <a:t>Data Link</a:t>
              </a:r>
            </a:p>
          </p:txBody>
        </p:sp>
        <p:sp>
          <p:nvSpPr>
            <p:cNvPr id="515111" name="Text Box 39"/>
            <p:cNvSpPr txBox="1">
              <a:spLocks noChangeArrowheads="1"/>
            </p:cNvSpPr>
            <p:nvPr/>
          </p:nvSpPr>
          <p:spPr bwMode="auto">
            <a:xfrm>
              <a:off x="672" y="3408"/>
              <a:ext cx="321"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algn="ctr">
                <a:defRPr/>
              </a:pPr>
              <a:r>
                <a:rPr lang="en-US" sz="1000" b="0"/>
                <a:t>SNPA</a:t>
              </a:r>
            </a:p>
          </p:txBody>
        </p:sp>
        <p:sp>
          <p:nvSpPr>
            <p:cNvPr id="515112" name="Text Box 40"/>
            <p:cNvSpPr txBox="1">
              <a:spLocks noChangeArrowheads="1"/>
            </p:cNvSpPr>
            <p:nvPr/>
          </p:nvSpPr>
          <p:spPr bwMode="auto">
            <a:xfrm>
              <a:off x="672" y="3264"/>
              <a:ext cx="329"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algn="ctr">
                <a:defRPr/>
              </a:pPr>
              <a:r>
                <a:rPr lang="en-US" sz="1000" b="0"/>
                <a:t>SNDC</a:t>
              </a:r>
            </a:p>
          </p:txBody>
        </p:sp>
        <p:sp>
          <p:nvSpPr>
            <p:cNvPr id="515113" name="Text Box 41"/>
            <p:cNvSpPr txBox="1">
              <a:spLocks noChangeArrowheads="1"/>
            </p:cNvSpPr>
            <p:nvPr/>
          </p:nvSpPr>
          <p:spPr bwMode="auto">
            <a:xfrm>
              <a:off x="672" y="3120"/>
              <a:ext cx="298"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algn="ctr">
                <a:defRPr/>
              </a:pPr>
              <a:r>
                <a:rPr lang="en-US" sz="1000" b="0"/>
                <a:t>SNIC</a:t>
              </a:r>
            </a:p>
          </p:txBody>
        </p:sp>
        <p:sp>
          <p:nvSpPr>
            <p:cNvPr id="515114" name="Text Box 42"/>
            <p:cNvSpPr txBox="1">
              <a:spLocks noChangeArrowheads="1"/>
            </p:cNvSpPr>
            <p:nvPr/>
          </p:nvSpPr>
          <p:spPr bwMode="auto">
            <a:xfrm>
              <a:off x="625" y="2928"/>
              <a:ext cx="427"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algn="ctr">
                <a:defRPr/>
              </a:pPr>
              <a:r>
                <a:rPr lang="en-US" sz="1000" b="0"/>
                <a:t>Transport</a:t>
              </a:r>
            </a:p>
          </p:txBody>
        </p:sp>
        <p:sp>
          <p:nvSpPr>
            <p:cNvPr id="515115" name="Text Box 43"/>
            <p:cNvSpPr txBox="1">
              <a:spLocks noChangeArrowheads="1"/>
            </p:cNvSpPr>
            <p:nvPr/>
          </p:nvSpPr>
          <p:spPr bwMode="auto">
            <a:xfrm>
              <a:off x="672" y="2688"/>
              <a:ext cx="360"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algn="ctr">
                <a:defRPr/>
              </a:pPr>
              <a:r>
                <a:rPr lang="en-US" sz="1000" b="0"/>
                <a:t>Session</a:t>
              </a:r>
            </a:p>
          </p:txBody>
        </p:sp>
        <p:sp>
          <p:nvSpPr>
            <p:cNvPr id="515116" name="Text Box 44"/>
            <p:cNvSpPr txBox="1">
              <a:spLocks noChangeArrowheads="1"/>
            </p:cNvSpPr>
            <p:nvPr/>
          </p:nvSpPr>
          <p:spPr bwMode="auto">
            <a:xfrm>
              <a:off x="577" y="2544"/>
              <a:ext cx="511"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algn="ctr">
                <a:defRPr/>
              </a:pPr>
              <a:r>
                <a:rPr lang="en-US" sz="1000" b="0"/>
                <a:t>Presentation</a:t>
              </a:r>
            </a:p>
          </p:txBody>
        </p:sp>
        <p:sp>
          <p:nvSpPr>
            <p:cNvPr id="515117" name="Text Box 45"/>
            <p:cNvSpPr txBox="1">
              <a:spLocks noChangeArrowheads="1"/>
            </p:cNvSpPr>
            <p:nvPr/>
          </p:nvSpPr>
          <p:spPr bwMode="auto">
            <a:xfrm>
              <a:off x="592" y="2337"/>
              <a:ext cx="494" cy="15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algn="ctr">
                <a:defRPr/>
              </a:pPr>
              <a:r>
                <a:rPr lang="en-US" sz="1000" b="0"/>
                <a:t>Application</a:t>
              </a:r>
            </a:p>
          </p:txBody>
        </p:sp>
      </p:grpSp>
      <p:grpSp>
        <p:nvGrpSpPr>
          <p:cNvPr id="59400" name="Group 46"/>
          <p:cNvGrpSpPr>
            <a:grpSpLocks/>
          </p:cNvGrpSpPr>
          <p:nvPr/>
        </p:nvGrpSpPr>
        <p:grpSpPr bwMode="auto">
          <a:xfrm>
            <a:off x="4800600" y="4495800"/>
            <a:ext cx="609600" cy="1371600"/>
            <a:chOff x="1152" y="3072"/>
            <a:chExt cx="384" cy="864"/>
          </a:xfrm>
        </p:grpSpPr>
        <p:sp>
          <p:nvSpPr>
            <p:cNvPr id="515119" name="Rectangle 47"/>
            <p:cNvSpPr>
              <a:spLocks noChangeArrowheads="1"/>
            </p:cNvSpPr>
            <p:nvPr/>
          </p:nvSpPr>
          <p:spPr bwMode="auto">
            <a:xfrm>
              <a:off x="1152" y="3072"/>
              <a:ext cx="384" cy="864"/>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5120" name="Line 48"/>
            <p:cNvSpPr>
              <a:spLocks noChangeShapeType="1"/>
            </p:cNvSpPr>
            <p:nvPr/>
          </p:nvSpPr>
          <p:spPr bwMode="auto">
            <a:xfrm>
              <a:off x="1152" y="3792"/>
              <a:ext cx="384"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5121" name="Line 49"/>
            <p:cNvSpPr>
              <a:spLocks noChangeShapeType="1"/>
            </p:cNvSpPr>
            <p:nvPr/>
          </p:nvSpPr>
          <p:spPr bwMode="auto">
            <a:xfrm>
              <a:off x="1152" y="3552"/>
              <a:ext cx="384"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5122" name="Line 50"/>
            <p:cNvSpPr>
              <a:spLocks noChangeShapeType="1"/>
            </p:cNvSpPr>
            <p:nvPr/>
          </p:nvSpPr>
          <p:spPr bwMode="auto">
            <a:xfrm>
              <a:off x="1152" y="3408"/>
              <a:ext cx="384" cy="0"/>
            </a:xfrm>
            <a:prstGeom prst="line">
              <a:avLst/>
            </a:prstGeom>
            <a:noFill/>
            <a:ln w="9525">
              <a:solidFill>
                <a:schemeClr val="tx1"/>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5123" name="Line 51"/>
            <p:cNvSpPr>
              <a:spLocks noChangeShapeType="1"/>
            </p:cNvSpPr>
            <p:nvPr/>
          </p:nvSpPr>
          <p:spPr bwMode="auto">
            <a:xfrm>
              <a:off x="1152" y="3264"/>
              <a:ext cx="384" cy="0"/>
            </a:xfrm>
            <a:prstGeom prst="line">
              <a:avLst/>
            </a:prstGeom>
            <a:noFill/>
            <a:ln w="9525">
              <a:solidFill>
                <a:schemeClr val="tx1"/>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sp>
        <p:nvSpPr>
          <p:cNvPr id="515130" name="Rectangle 58"/>
          <p:cNvSpPr>
            <a:spLocks noChangeArrowheads="1"/>
          </p:cNvSpPr>
          <p:nvPr/>
        </p:nvSpPr>
        <p:spPr bwMode="auto">
          <a:xfrm>
            <a:off x="2514600" y="5867400"/>
            <a:ext cx="914400" cy="762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5131" name="Rectangle 59"/>
          <p:cNvSpPr>
            <a:spLocks noChangeArrowheads="1"/>
          </p:cNvSpPr>
          <p:nvPr/>
        </p:nvSpPr>
        <p:spPr bwMode="auto">
          <a:xfrm>
            <a:off x="3810000" y="5867400"/>
            <a:ext cx="1143000" cy="762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5132" name="Rectangle 60"/>
          <p:cNvSpPr>
            <a:spLocks noChangeArrowheads="1"/>
          </p:cNvSpPr>
          <p:nvPr/>
        </p:nvSpPr>
        <p:spPr bwMode="auto">
          <a:xfrm>
            <a:off x="6629400" y="5867400"/>
            <a:ext cx="990600" cy="762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5133" name="Text Box 61"/>
          <p:cNvSpPr txBox="1">
            <a:spLocks noChangeArrowheads="1"/>
          </p:cNvSpPr>
          <p:nvPr/>
        </p:nvSpPr>
        <p:spPr bwMode="auto">
          <a:xfrm>
            <a:off x="230188" y="3048000"/>
            <a:ext cx="1203325" cy="5492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algn="ctr">
              <a:defRPr/>
            </a:pPr>
            <a:r>
              <a:rPr lang="en-US" sz="1000" b="0"/>
              <a:t>Application Process</a:t>
            </a:r>
          </a:p>
          <a:p>
            <a:pPr algn="ctr">
              <a:defRPr/>
            </a:pPr>
            <a:r>
              <a:rPr lang="en-US" sz="1000" b="0"/>
              <a:t>Application Entity</a:t>
            </a:r>
          </a:p>
          <a:p>
            <a:pPr algn="ctr">
              <a:defRPr/>
            </a:pPr>
            <a:r>
              <a:rPr lang="en-US" sz="1000" b="0"/>
              <a:t>(type &amp; instance)</a:t>
            </a:r>
          </a:p>
        </p:txBody>
      </p:sp>
      <p:sp>
        <p:nvSpPr>
          <p:cNvPr id="515134" name="Text Box 62"/>
          <p:cNvSpPr txBox="1">
            <a:spLocks noChangeArrowheads="1"/>
          </p:cNvSpPr>
          <p:nvPr/>
        </p:nvSpPr>
        <p:spPr bwMode="auto">
          <a:xfrm>
            <a:off x="297834" y="4951383"/>
            <a:ext cx="1241070" cy="40011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algn="ctr">
              <a:defRPr/>
            </a:pPr>
            <a:r>
              <a:rPr lang="en-US" sz="1000" b="0" dirty="0"/>
              <a:t>(Network) Point of </a:t>
            </a:r>
          </a:p>
          <a:p>
            <a:pPr algn="ctr">
              <a:defRPr/>
            </a:pPr>
            <a:r>
              <a:rPr lang="en-US" sz="1000" b="0" dirty="0"/>
              <a:t>Attachment Address</a:t>
            </a:r>
          </a:p>
        </p:txBody>
      </p:sp>
      <p:sp>
        <p:nvSpPr>
          <p:cNvPr id="515135" name="Text Box 63"/>
          <p:cNvSpPr txBox="1">
            <a:spLocks noChangeArrowheads="1"/>
          </p:cNvSpPr>
          <p:nvPr/>
        </p:nvSpPr>
        <p:spPr bwMode="auto">
          <a:xfrm>
            <a:off x="152400" y="4533464"/>
            <a:ext cx="1623854" cy="24622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nchor="ctr">
            <a:spAutoFit/>
          </a:bodyPr>
          <a:lstStyle/>
          <a:p>
            <a:pPr algn="r">
              <a:defRPr/>
            </a:pPr>
            <a:r>
              <a:rPr lang="en-US" sz="1000" b="0" dirty="0"/>
              <a:t>(Inter)Network Address</a:t>
            </a:r>
          </a:p>
        </p:txBody>
      </p:sp>
      <p:sp>
        <p:nvSpPr>
          <p:cNvPr id="515136" name="Line 64"/>
          <p:cNvSpPr>
            <a:spLocks noChangeShapeType="1"/>
          </p:cNvSpPr>
          <p:nvPr/>
        </p:nvSpPr>
        <p:spPr bwMode="auto">
          <a:xfrm>
            <a:off x="1371600" y="3352800"/>
            <a:ext cx="6858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5137" name="Line 65"/>
          <p:cNvSpPr>
            <a:spLocks noChangeShapeType="1"/>
          </p:cNvSpPr>
          <p:nvPr/>
        </p:nvSpPr>
        <p:spPr bwMode="auto">
          <a:xfrm>
            <a:off x="1524000" y="4724400"/>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5138" name="Line 66"/>
          <p:cNvSpPr>
            <a:spLocks noChangeShapeType="1"/>
          </p:cNvSpPr>
          <p:nvPr/>
        </p:nvSpPr>
        <p:spPr bwMode="auto">
          <a:xfrm>
            <a:off x="1447800" y="5105400"/>
            <a:ext cx="609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5139" name="Line 67"/>
          <p:cNvSpPr>
            <a:spLocks noChangeShapeType="1"/>
          </p:cNvSpPr>
          <p:nvPr/>
        </p:nvSpPr>
        <p:spPr bwMode="auto">
          <a:xfrm>
            <a:off x="1447800" y="5486400"/>
            <a:ext cx="609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5140" name="Text Box 68"/>
          <p:cNvSpPr txBox="1">
            <a:spLocks noChangeArrowheads="1"/>
          </p:cNvSpPr>
          <p:nvPr/>
        </p:nvSpPr>
        <p:spPr bwMode="auto">
          <a:xfrm>
            <a:off x="554038" y="5410200"/>
            <a:ext cx="920750" cy="3968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algn="ctr">
              <a:defRPr/>
            </a:pPr>
            <a:r>
              <a:rPr lang="en-US" sz="1000" b="0"/>
              <a:t>Data Link/</a:t>
            </a:r>
          </a:p>
          <a:p>
            <a:pPr algn="ctr">
              <a:defRPr/>
            </a:pPr>
            <a:r>
              <a:rPr lang="en-US" sz="1000" b="0"/>
              <a:t>MAC Address</a:t>
            </a:r>
          </a:p>
        </p:txBody>
      </p:sp>
      <p:sp>
        <p:nvSpPr>
          <p:cNvPr id="515141" name="Line 69"/>
          <p:cNvSpPr>
            <a:spLocks noChangeShapeType="1"/>
          </p:cNvSpPr>
          <p:nvPr/>
        </p:nvSpPr>
        <p:spPr bwMode="auto">
          <a:xfrm flipH="1">
            <a:off x="2743200" y="4038600"/>
            <a:ext cx="8382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5142" name="Line 70"/>
          <p:cNvSpPr>
            <a:spLocks noChangeShapeType="1"/>
          </p:cNvSpPr>
          <p:nvPr/>
        </p:nvSpPr>
        <p:spPr bwMode="auto">
          <a:xfrm flipH="1" flipV="1">
            <a:off x="2819400" y="3886200"/>
            <a:ext cx="7620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5143" name="Line 71"/>
          <p:cNvSpPr>
            <a:spLocks noChangeShapeType="1"/>
          </p:cNvSpPr>
          <p:nvPr/>
        </p:nvSpPr>
        <p:spPr bwMode="auto">
          <a:xfrm flipH="1" flipV="1">
            <a:off x="2743200" y="3657600"/>
            <a:ext cx="83820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5144" name="Text Box 72"/>
          <p:cNvSpPr txBox="1">
            <a:spLocks noChangeArrowheads="1"/>
          </p:cNvSpPr>
          <p:nvPr/>
        </p:nvSpPr>
        <p:spPr bwMode="auto">
          <a:xfrm>
            <a:off x="3506788" y="3886200"/>
            <a:ext cx="1012825" cy="2444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spAutoFit/>
          </a:bodyPr>
          <a:lstStyle/>
          <a:p>
            <a:pPr algn="ctr">
              <a:defRPr/>
            </a:pPr>
            <a:r>
              <a:rPr lang="en-US" sz="1000" b="0"/>
              <a:t>Selectors (local)</a:t>
            </a:r>
          </a:p>
        </p:txBody>
      </p:sp>
      <p:sp>
        <p:nvSpPr>
          <p:cNvPr id="515145" name="Text Box 73"/>
          <p:cNvSpPr txBox="1">
            <a:spLocks noChangeArrowheads="1"/>
          </p:cNvSpPr>
          <p:nvPr/>
        </p:nvSpPr>
        <p:spPr bwMode="auto">
          <a:xfrm>
            <a:off x="5943600" y="6096000"/>
            <a:ext cx="2325688" cy="5492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1000" b="0"/>
              <a:t>SNIC -  Subnet Independent Convergence</a:t>
            </a:r>
          </a:p>
          <a:p>
            <a:pPr>
              <a:defRPr/>
            </a:pPr>
            <a:r>
              <a:rPr lang="en-US" sz="1000" b="0"/>
              <a:t>SNDC - Subnet Dependent Convergence</a:t>
            </a:r>
          </a:p>
          <a:p>
            <a:pPr>
              <a:defRPr/>
            </a:pPr>
            <a:r>
              <a:rPr lang="en-US" sz="1000" b="0"/>
              <a:t>SNAC - Subnet Access</a:t>
            </a:r>
          </a:p>
        </p:txBody>
      </p:sp>
      <p:grpSp>
        <p:nvGrpSpPr>
          <p:cNvPr id="59417" name="Group 80"/>
          <p:cNvGrpSpPr>
            <a:grpSpLocks/>
          </p:cNvGrpSpPr>
          <p:nvPr/>
        </p:nvGrpSpPr>
        <p:grpSpPr bwMode="auto">
          <a:xfrm>
            <a:off x="3276600" y="4800600"/>
            <a:ext cx="609600" cy="1066800"/>
            <a:chOff x="2304" y="3024"/>
            <a:chExt cx="384" cy="672"/>
          </a:xfrm>
        </p:grpSpPr>
        <p:sp>
          <p:nvSpPr>
            <p:cNvPr id="515147" name="Rectangle 75"/>
            <p:cNvSpPr>
              <a:spLocks noChangeArrowheads="1"/>
            </p:cNvSpPr>
            <p:nvPr/>
          </p:nvSpPr>
          <p:spPr bwMode="auto">
            <a:xfrm>
              <a:off x="2304" y="3024"/>
              <a:ext cx="384" cy="672"/>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5148" name="Line 76"/>
            <p:cNvSpPr>
              <a:spLocks noChangeShapeType="1"/>
            </p:cNvSpPr>
            <p:nvPr/>
          </p:nvSpPr>
          <p:spPr bwMode="auto">
            <a:xfrm>
              <a:off x="2304" y="3552"/>
              <a:ext cx="384"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5149" name="Line 77"/>
            <p:cNvSpPr>
              <a:spLocks noChangeShapeType="1"/>
            </p:cNvSpPr>
            <p:nvPr/>
          </p:nvSpPr>
          <p:spPr bwMode="auto">
            <a:xfrm>
              <a:off x="2304" y="3312"/>
              <a:ext cx="384"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5150" name="Line 78"/>
            <p:cNvSpPr>
              <a:spLocks noChangeShapeType="1"/>
            </p:cNvSpPr>
            <p:nvPr/>
          </p:nvSpPr>
          <p:spPr bwMode="auto">
            <a:xfrm>
              <a:off x="2304" y="3168"/>
              <a:ext cx="384" cy="0"/>
            </a:xfrm>
            <a:prstGeom prst="line">
              <a:avLst/>
            </a:prstGeom>
            <a:noFill/>
            <a:ln w="9525">
              <a:solidFill>
                <a:schemeClr val="tx1"/>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59418" name="Group 81"/>
          <p:cNvGrpSpPr>
            <a:grpSpLocks/>
          </p:cNvGrpSpPr>
          <p:nvPr/>
        </p:nvGrpSpPr>
        <p:grpSpPr bwMode="auto">
          <a:xfrm>
            <a:off x="6172200" y="4800600"/>
            <a:ext cx="609600" cy="1066800"/>
            <a:chOff x="2304" y="3024"/>
            <a:chExt cx="384" cy="672"/>
          </a:xfrm>
        </p:grpSpPr>
        <p:sp>
          <p:nvSpPr>
            <p:cNvPr id="515154" name="Rectangle 82"/>
            <p:cNvSpPr>
              <a:spLocks noChangeArrowheads="1"/>
            </p:cNvSpPr>
            <p:nvPr/>
          </p:nvSpPr>
          <p:spPr bwMode="auto">
            <a:xfrm>
              <a:off x="2304" y="3024"/>
              <a:ext cx="384" cy="672"/>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5155" name="Line 83"/>
            <p:cNvSpPr>
              <a:spLocks noChangeShapeType="1"/>
            </p:cNvSpPr>
            <p:nvPr/>
          </p:nvSpPr>
          <p:spPr bwMode="auto">
            <a:xfrm>
              <a:off x="2304" y="3552"/>
              <a:ext cx="384"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5156" name="Line 84"/>
            <p:cNvSpPr>
              <a:spLocks noChangeShapeType="1"/>
            </p:cNvSpPr>
            <p:nvPr/>
          </p:nvSpPr>
          <p:spPr bwMode="auto">
            <a:xfrm>
              <a:off x="2304" y="3312"/>
              <a:ext cx="384"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15157" name="Line 85"/>
            <p:cNvSpPr>
              <a:spLocks noChangeShapeType="1"/>
            </p:cNvSpPr>
            <p:nvPr/>
          </p:nvSpPr>
          <p:spPr bwMode="auto">
            <a:xfrm>
              <a:off x="2304" y="3168"/>
              <a:ext cx="384" cy="0"/>
            </a:xfrm>
            <a:prstGeom prst="line">
              <a:avLst/>
            </a:prstGeom>
            <a:noFill/>
            <a:ln w="9525">
              <a:solidFill>
                <a:schemeClr val="tx1"/>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sp>
        <p:nvSpPr>
          <p:cNvPr id="515158" name="Rectangle 86"/>
          <p:cNvSpPr>
            <a:spLocks noChangeArrowheads="1"/>
          </p:cNvSpPr>
          <p:nvPr/>
        </p:nvSpPr>
        <p:spPr bwMode="auto">
          <a:xfrm>
            <a:off x="5334000" y="5867400"/>
            <a:ext cx="990600" cy="762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15075">
                                            <p:txEl>
                                              <p:pRg st="0" end="0"/>
                                            </p:txEl>
                                          </p:spTgt>
                                        </p:tgtEl>
                                        <p:attrNameLst>
                                          <p:attrName>style.visibility</p:attrName>
                                        </p:attrNameLst>
                                      </p:cBhvr>
                                      <p:to>
                                        <p:strVal val="visible"/>
                                      </p:to>
                                    </p:set>
                                    <p:anim calcmode="lin" valueType="num">
                                      <p:cBhvr additive="base">
                                        <p:cTn id="7" dur="500" fill="hold"/>
                                        <p:tgtEl>
                                          <p:spTgt spid="51507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15075">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515075">
                                            <p:txEl>
                                              <p:pRg st="1" end="1"/>
                                            </p:txEl>
                                          </p:spTgt>
                                        </p:tgtEl>
                                        <p:attrNameLst>
                                          <p:attrName>style.visibility</p:attrName>
                                        </p:attrNameLst>
                                      </p:cBhvr>
                                      <p:to>
                                        <p:strVal val="visible"/>
                                      </p:to>
                                    </p:set>
                                    <p:anim calcmode="lin" valueType="num">
                                      <p:cBhvr additive="base">
                                        <p:cTn id="11" dur="500" fill="hold"/>
                                        <p:tgtEl>
                                          <p:spTgt spid="515075">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51507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515075">
                                            <p:txEl>
                                              <p:pRg st="2" end="2"/>
                                            </p:txEl>
                                          </p:spTgt>
                                        </p:tgtEl>
                                        <p:attrNameLst>
                                          <p:attrName>style.visibility</p:attrName>
                                        </p:attrNameLst>
                                      </p:cBhvr>
                                      <p:to>
                                        <p:strVal val="visible"/>
                                      </p:to>
                                    </p:set>
                                    <p:anim calcmode="lin" valueType="num">
                                      <p:cBhvr additive="base">
                                        <p:cTn id="17" dur="500" fill="hold"/>
                                        <p:tgtEl>
                                          <p:spTgt spid="515075">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51507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515075">
                                            <p:txEl>
                                              <p:pRg st="3" end="3"/>
                                            </p:txEl>
                                          </p:spTgt>
                                        </p:tgtEl>
                                        <p:attrNameLst>
                                          <p:attrName>style.visibility</p:attrName>
                                        </p:attrNameLst>
                                      </p:cBhvr>
                                      <p:to>
                                        <p:strVal val="visible"/>
                                      </p:to>
                                    </p:set>
                                    <p:anim calcmode="lin" valueType="num">
                                      <p:cBhvr additive="base">
                                        <p:cTn id="23" dur="500" fill="hold"/>
                                        <p:tgtEl>
                                          <p:spTgt spid="515075">
                                            <p:txEl>
                                              <p:pRg st="3" end="3"/>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515075">
                                            <p:txEl>
                                              <p:pRg st="3" end="3"/>
                                            </p:tx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515075">
                                            <p:txEl>
                                              <p:pRg st="4" end="4"/>
                                            </p:txEl>
                                          </p:spTgt>
                                        </p:tgtEl>
                                        <p:attrNameLst>
                                          <p:attrName>style.visibility</p:attrName>
                                        </p:attrNameLst>
                                      </p:cBhvr>
                                      <p:to>
                                        <p:strVal val="visible"/>
                                      </p:to>
                                    </p:set>
                                    <p:anim calcmode="lin" valueType="num">
                                      <p:cBhvr additive="base">
                                        <p:cTn id="27" dur="500" fill="hold"/>
                                        <p:tgtEl>
                                          <p:spTgt spid="515075">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51507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5075"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Date Placeholder 3"/>
          <p:cNvSpPr>
            <a:spLocks noGrp="1"/>
          </p:cNvSpPr>
          <p:nvPr>
            <p:ph type="dt" sz="quarter" idx="10"/>
          </p:nvPr>
        </p:nvSpPr>
        <p:spPr/>
        <p:txBody>
          <a:bodyPr/>
          <a:lstStyle/>
          <a:p>
            <a:pPr>
              <a:defRPr/>
            </a:pPr>
            <a:fld id="{A2842602-2FB1-8E4D-BB9D-3FB8AC43AD7A}" type="datetime3">
              <a:rPr lang="en-US"/>
              <a:pPr>
                <a:defRPr/>
              </a:pPr>
              <a:t>14 January 2026</a:t>
            </a:fld>
            <a:endParaRPr lang="en-US"/>
          </a:p>
        </p:txBody>
      </p:sp>
      <p:sp>
        <p:nvSpPr>
          <p:cNvPr id="13" name="Slide Number Placeholder 5"/>
          <p:cNvSpPr>
            <a:spLocks noGrp="1"/>
          </p:cNvSpPr>
          <p:nvPr>
            <p:ph type="sldNum" sz="quarter" idx="12"/>
          </p:nvPr>
        </p:nvSpPr>
        <p:spPr/>
        <p:txBody>
          <a:bodyPr/>
          <a:lstStyle/>
          <a:p>
            <a:pPr>
              <a:defRPr/>
            </a:pPr>
            <a:fld id="{A1DB4E87-585B-CD44-974D-4709BD1A9487}" type="slidenum">
              <a:rPr lang="en-US"/>
              <a:pPr>
                <a:defRPr/>
              </a:pPr>
              <a:t>17</a:t>
            </a:fld>
            <a:endParaRPr lang="en-US"/>
          </a:p>
        </p:txBody>
      </p:sp>
      <p:sp>
        <p:nvSpPr>
          <p:cNvPr id="450562" name="Rectangle 2"/>
          <p:cNvSpPr>
            <a:spLocks noGrp="1" noChangeArrowheads="1"/>
          </p:cNvSpPr>
          <p:nvPr>
            <p:ph type="title"/>
          </p:nvPr>
        </p:nvSpPr>
        <p:spPr>
          <a:xfrm>
            <a:off x="685800" y="304800"/>
            <a:ext cx="7772400" cy="1143000"/>
          </a:xfrm>
        </p:spPr>
        <p:txBody>
          <a:bodyPr/>
          <a:lstStyle/>
          <a:p>
            <a:pPr>
              <a:defRPr/>
            </a:pPr>
            <a:r>
              <a:rPr lang="en-US" sz="3200">
                <a:cs typeface="+mj-cs"/>
              </a:rPr>
              <a:t>What About This Missed Case?</a:t>
            </a:r>
            <a:br>
              <a:rPr lang="en-US" sz="3200">
                <a:cs typeface="+mj-cs"/>
              </a:rPr>
            </a:br>
            <a:r>
              <a:rPr lang="en-US" sz="2800">
                <a:cs typeface="+mj-cs"/>
              </a:rPr>
              <a:t>The Real World is More Diverse</a:t>
            </a:r>
            <a:br>
              <a:rPr lang="en-US" sz="2800">
                <a:cs typeface="+mj-cs"/>
              </a:rPr>
            </a:br>
            <a:r>
              <a:rPr lang="en-US" sz="1600">
                <a:cs typeface="+mj-cs"/>
              </a:rPr>
              <a:t>(for better or worse, OSI understood that, sort of)</a:t>
            </a:r>
            <a:endParaRPr lang="en-US" sz="3200">
              <a:cs typeface="+mj-cs"/>
            </a:endParaRPr>
          </a:p>
        </p:txBody>
      </p:sp>
      <p:sp>
        <p:nvSpPr>
          <p:cNvPr id="450563" name="Rectangle 3"/>
          <p:cNvSpPr>
            <a:spLocks noGrp="1" noChangeArrowheads="1"/>
          </p:cNvSpPr>
          <p:nvPr>
            <p:ph type="body" idx="1"/>
          </p:nvPr>
        </p:nvSpPr>
        <p:spPr>
          <a:xfrm>
            <a:off x="647700" y="3429000"/>
            <a:ext cx="8115300" cy="2362200"/>
          </a:xfrm>
        </p:spPr>
        <p:txBody>
          <a:bodyPr/>
          <a:lstStyle/>
          <a:p>
            <a:pPr>
              <a:defRPr/>
            </a:pPr>
            <a:r>
              <a:rPr lang="en-US" sz="1800" dirty="0">
                <a:cs typeface="+mn-cs"/>
              </a:rPr>
              <a:t>Three distinct cases: there may be a wire, a multi-drop </a:t>
            </a:r>
            <a:r>
              <a:rPr lang="ja-JP" altLang="en-US" sz="1800" dirty="0">
                <a:latin typeface="Arial"/>
                <a:cs typeface="+mn-cs"/>
              </a:rPr>
              <a:t>“</a:t>
            </a:r>
            <a:r>
              <a:rPr lang="en-US" sz="1800" dirty="0">
                <a:cs typeface="+mn-cs"/>
              </a:rPr>
              <a:t>wire</a:t>
            </a:r>
            <a:r>
              <a:rPr lang="ja-JP" altLang="en-US" sz="1800" dirty="0">
                <a:latin typeface="Arial"/>
                <a:cs typeface="+mn-cs"/>
              </a:rPr>
              <a:t>”</a:t>
            </a:r>
            <a:r>
              <a:rPr lang="en-US" sz="1800" dirty="0">
                <a:cs typeface="+mn-cs"/>
              </a:rPr>
              <a:t> or another network. </a:t>
            </a:r>
          </a:p>
          <a:p>
            <a:pPr lvl="1">
              <a:defRPr/>
            </a:pPr>
            <a:r>
              <a:rPr lang="en-US" sz="1600" dirty="0"/>
              <a:t>A simple wire requires no point of attachment address, </a:t>
            </a:r>
            <a:r>
              <a:rPr lang="en-US" sz="1400" dirty="0"/>
              <a:t>(source of the confusion)</a:t>
            </a:r>
          </a:p>
          <a:p>
            <a:pPr lvl="2">
              <a:defRPr/>
            </a:pPr>
            <a:r>
              <a:rPr lang="en-US" sz="1400" dirty="0"/>
              <a:t>If more than one local identifiers will suffice.</a:t>
            </a:r>
          </a:p>
          <a:p>
            <a:pPr lvl="1">
              <a:defRPr/>
            </a:pPr>
            <a:r>
              <a:rPr lang="en-US" sz="1600" dirty="0"/>
              <a:t>A multi-drop </a:t>
            </a:r>
            <a:r>
              <a:rPr lang="ja-JP" altLang="en-US" sz="1600" dirty="0">
                <a:latin typeface="Arial"/>
              </a:rPr>
              <a:t>“</a:t>
            </a:r>
            <a:r>
              <a:rPr lang="en-US" sz="1600" dirty="0"/>
              <a:t>wire</a:t>
            </a:r>
            <a:r>
              <a:rPr lang="ja-JP" altLang="en-US" sz="1600" dirty="0">
                <a:latin typeface="Arial"/>
              </a:rPr>
              <a:t>”</a:t>
            </a:r>
            <a:r>
              <a:rPr lang="en-US" sz="1600" dirty="0"/>
              <a:t> requires point of attachment identifiers, not really addresses.</a:t>
            </a:r>
          </a:p>
          <a:p>
            <a:pPr lvl="1">
              <a:defRPr/>
            </a:pPr>
            <a:r>
              <a:rPr lang="en-US" sz="1600" dirty="0"/>
              <a:t>A network generally requires addresses, point of attachment?  That depends.</a:t>
            </a:r>
          </a:p>
          <a:p>
            <a:pPr lvl="1">
              <a:defRPr/>
            </a:pPr>
            <a:r>
              <a:rPr lang="en-US" sz="1600" dirty="0"/>
              <a:t>If the wire needs more error control than LLC. If the network needs more, a subnet dependent convergence protocol</a:t>
            </a:r>
          </a:p>
          <a:p>
            <a:pPr lvl="1">
              <a:defRPr/>
            </a:pPr>
            <a:r>
              <a:rPr lang="en-US" sz="1600" dirty="0"/>
              <a:t>If an Internet then Subnet Independent (node) addresses are necessary (CLNP) to operate over Subnet-Access (X.25, IP, MAC)</a:t>
            </a:r>
          </a:p>
          <a:p>
            <a:pPr lvl="4">
              <a:defRPr/>
            </a:pPr>
            <a:r>
              <a:rPr lang="en-US" sz="1200" dirty="0"/>
              <a:t>(Another indicator of a repeating pattern)</a:t>
            </a:r>
          </a:p>
        </p:txBody>
      </p:sp>
      <p:grpSp>
        <p:nvGrpSpPr>
          <p:cNvPr id="61446" name="Group 4"/>
          <p:cNvGrpSpPr>
            <a:grpSpLocks/>
          </p:cNvGrpSpPr>
          <p:nvPr/>
        </p:nvGrpSpPr>
        <p:grpSpPr bwMode="auto">
          <a:xfrm>
            <a:off x="3810000" y="1600200"/>
            <a:ext cx="1524000" cy="1524000"/>
            <a:chOff x="2400" y="1056"/>
            <a:chExt cx="960" cy="960"/>
          </a:xfrm>
        </p:grpSpPr>
        <p:sp>
          <p:nvSpPr>
            <p:cNvPr id="450565" name="Rectangle 5"/>
            <p:cNvSpPr>
              <a:spLocks noChangeArrowheads="1"/>
            </p:cNvSpPr>
            <p:nvPr/>
          </p:nvSpPr>
          <p:spPr bwMode="auto">
            <a:xfrm>
              <a:off x="2400" y="1056"/>
              <a:ext cx="960" cy="960"/>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50566" name="Line 6"/>
            <p:cNvSpPr>
              <a:spLocks noChangeShapeType="1"/>
            </p:cNvSpPr>
            <p:nvPr/>
          </p:nvSpPr>
          <p:spPr bwMode="auto">
            <a:xfrm>
              <a:off x="2400" y="1728"/>
              <a:ext cx="96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50567" name="Line 7"/>
            <p:cNvSpPr>
              <a:spLocks noChangeShapeType="1"/>
            </p:cNvSpPr>
            <p:nvPr/>
          </p:nvSpPr>
          <p:spPr bwMode="auto">
            <a:xfrm>
              <a:off x="2400" y="1392"/>
              <a:ext cx="96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450568" name="Text Box 8"/>
            <p:cNvSpPr txBox="1">
              <a:spLocks noChangeArrowheads="1"/>
            </p:cNvSpPr>
            <p:nvPr/>
          </p:nvSpPr>
          <p:spPr bwMode="auto">
            <a:xfrm>
              <a:off x="2441" y="1776"/>
              <a:ext cx="877"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1600" b="0">
                  <a:cs typeface="+mn-cs"/>
                </a:rPr>
                <a:t>Subnet-Access</a:t>
              </a:r>
            </a:p>
          </p:txBody>
        </p:sp>
        <p:sp>
          <p:nvSpPr>
            <p:cNvPr id="450569" name="Text Box 9"/>
            <p:cNvSpPr txBox="1">
              <a:spLocks noChangeArrowheads="1"/>
            </p:cNvSpPr>
            <p:nvPr/>
          </p:nvSpPr>
          <p:spPr bwMode="auto">
            <a:xfrm>
              <a:off x="2545" y="1392"/>
              <a:ext cx="670" cy="36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sz="1600" b="0">
                  <a:cs typeface="+mn-cs"/>
                </a:rPr>
                <a:t>Subnet</a:t>
              </a:r>
            </a:p>
            <a:p>
              <a:pPr algn="ctr">
                <a:defRPr/>
              </a:pPr>
              <a:r>
                <a:rPr lang="en-US" sz="1600" b="0">
                  <a:cs typeface="+mn-cs"/>
                </a:rPr>
                <a:t>Dependent</a:t>
              </a:r>
            </a:p>
          </p:txBody>
        </p:sp>
        <p:sp>
          <p:nvSpPr>
            <p:cNvPr id="450570" name="Text Box 10"/>
            <p:cNvSpPr txBox="1">
              <a:spLocks noChangeArrowheads="1"/>
            </p:cNvSpPr>
            <p:nvPr/>
          </p:nvSpPr>
          <p:spPr bwMode="auto">
            <a:xfrm>
              <a:off x="2505" y="1056"/>
              <a:ext cx="749" cy="36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sz="1600" b="0">
                  <a:cs typeface="+mn-cs"/>
                </a:rPr>
                <a:t>Subnet</a:t>
              </a:r>
            </a:p>
            <a:p>
              <a:pPr algn="ctr">
                <a:defRPr/>
              </a:pPr>
              <a:r>
                <a:rPr lang="en-US" sz="1600" b="0">
                  <a:cs typeface="+mn-cs"/>
                </a:rPr>
                <a:t>Independent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05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056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5056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5056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5056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5056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50563">
                                            <p:txEl>
                                              <p:pRg st="6" end="6"/>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5056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6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04B056DD-A335-0248-841C-1CA7EADBBB69}" type="datetime3">
              <a:rPr lang="en-US"/>
              <a:pPr>
                <a:defRPr/>
              </a:pPr>
              <a:t>14 January 2026</a:t>
            </a:fld>
            <a:endParaRPr lang="en-US"/>
          </a:p>
        </p:txBody>
      </p:sp>
      <p:sp>
        <p:nvSpPr>
          <p:cNvPr id="5" name="Footer Placeholder 4"/>
          <p:cNvSpPr>
            <a:spLocks noGrp="1"/>
          </p:cNvSpPr>
          <p:nvPr>
            <p:ph type="ftr" sz="quarter" idx="11"/>
          </p:nvPr>
        </p:nvSpPr>
        <p:spPr/>
        <p:txBody>
          <a:bodyPr/>
          <a:lstStyle/>
          <a:p>
            <a:pPr>
              <a:defRPr/>
            </a:pPr>
            <a:r>
              <a:rPr lang="en-US"/>
              <a:t>.</a:t>
            </a:r>
          </a:p>
        </p:txBody>
      </p:sp>
      <p:sp>
        <p:nvSpPr>
          <p:cNvPr id="6" name="Slide Number Placeholder 5"/>
          <p:cNvSpPr>
            <a:spLocks noGrp="1"/>
          </p:cNvSpPr>
          <p:nvPr>
            <p:ph type="sldNum" sz="quarter" idx="12"/>
          </p:nvPr>
        </p:nvSpPr>
        <p:spPr/>
        <p:txBody>
          <a:bodyPr/>
          <a:lstStyle/>
          <a:p>
            <a:pPr>
              <a:defRPr/>
            </a:pPr>
            <a:fld id="{AB580B79-4E9C-2249-9275-BCFF0002AB49}" type="slidenum">
              <a:rPr lang="en-US"/>
              <a:pPr>
                <a:defRPr/>
              </a:pPr>
              <a:t>18</a:t>
            </a:fld>
            <a:endParaRPr lang="en-US"/>
          </a:p>
        </p:txBody>
      </p:sp>
      <p:sp>
        <p:nvSpPr>
          <p:cNvPr id="519170" name="Rectangle 2"/>
          <p:cNvSpPr>
            <a:spLocks noGrp="1" noChangeArrowheads="1"/>
          </p:cNvSpPr>
          <p:nvPr>
            <p:ph type="title"/>
          </p:nvPr>
        </p:nvSpPr>
        <p:spPr>
          <a:xfrm>
            <a:off x="685800" y="228600"/>
            <a:ext cx="7772400" cy="1143000"/>
          </a:xfrm>
        </p:spPr>
        <p:txBody>
          <a:bodyPr/>
          <a:lstStyle/>
          <a:p>
            <a:pPr>
              <a:defRPr/>
            </a:pPr>
            <a:r>
              <a:rPr lang="en-US" sz="3200" dirty="0">
                <a:cs typeface="+mj-cs"/>
              </a:rPr>
              <a:t>The First Great Internet Addressing Crisis</a:t>
            </a:r>
          </a:p>
        </p:txBody>
      </p:sp>
      <p:sp>
        <p:nvSpPr>
          <p:cNvPr id="519171" name="Rectangle 3"/>
          <p:cNvSpPr>
            <a:spLocks noGrp="1" noChangeArrowheads="1"/>
          </p:cNvSpPr>
          <p:nvPr>
            <p:ph type="body" idx="1"/>
          </p:nvPr>
        </p:nvSpPr>
        <p:spPr>
          <a:xfrm>
            <a:off x="685800" y="1524000"/>
            <a:ext cx="8077200" cy="4114800"/>
          </a:xfrm>
        </p:spPr>
        <p:txBody>
          <a:bodyPr/>
          <a:lstStyle/>
          <a:p>
            <a:pPr>
              <a:defRPr/>
            </a:pPr>
            <a:r>
              <a:rPr lang="en-US" sz="2000" dirty="0">
                <a:cs typeface="+mn-cs"/>
              </a:rPr>
              <a:t>In 1992, we have the first addressing crisis.</a:t>
            </a:r>
          </a:p>
          <a:p>
            <a:pPr lvl="1">
              <a:defRPr/>
            </a:pPr>
            <a:r>
              <a:rPr lang="en-US" sz="1800" dirty="0"/>
              <a:t>IPv4 addresses are getting scarc</a:t>
            </a:r>
            <a:r>
              <a:rPr lang="en-US" sz="1600" dirty="0"/>
              <a:t>e</a:t>
            </a:r>
          </a:p>
          <a:p>
            <a:pPr lvl="2">
              <a:defRPr/>
            </a:pPr>
            <a:r>
              <a:rPr lang="en-US" sz="1600" dirty="0"/>
              <a:t>Router Table Size is increasing exponentially</a:t>
            </a:r>
          </a:p>
          <a:p>
            <a:pPr lvl="2">
              <a:defRPr/>
            </a:pPr>
            <a:r>
              <a:rPr lang="en-US" sz="1600" dirty="0"/>
              <a:t> A chance to fix </a:t>
            </a:r>
            <a:r>
              <a:rPr lang="en-US" sz="1600" dirty="0" err="1"/>
              <a:t>multihoming</a:t>
            </a:r>
            <a:endParaRPr lang="en-US" sz="1600" dirty="0"/>
          </a:p>
          <a:p>
            <a:pPr>
              <a:defRPr/>
            </a:pPr>
            <a:r>
              <a:rPr lang="en-US" sz="2000" dirty="0">
                <a:cs typeface="+mn-cs"/>
              </a:rPr>
              <a:t>Short-term Measures to Moderate the Problem</a:t>
            </a:r>
          </a:p>
          <a:p>
            <a:pPr lvl="1">
              <a:defRPr/>
            </a:pPr>
            <a:r>
              <a:rPr lang="en-US" sz="1800" dirty="0">
                <a:cs typeface="+mn-cs"/>
              </a:rPr>
              <a:t>Create Private Address Space and Use Network Address Translation (NATs)</a:t>
            </a:r>
          </a:p>
          <a:p>
            <a:pPr lvl="1">
              <a:defRPr/>
            </a:pPr>
            <a:r>
              <a:rPr lang="en-US" sz="1800" dirty="0">
                <a:cs typeface="+mn-cs"/>
              </a:rPr>
              <a:t>Tighten-Rules for Handing out Large Blocks of Addresses</a:t>
            </a:r>
          </a:p>
          <a:p>
            <a:pPr lvl="2">
              <a:defRPr/>
            </a:pPr>
            <a:r>
              <a:rPr lang="en-US" sz="1600" dirty="0">
                <a:cs typeface="+mn-cs"/>
              </a:rPr>
              <a:t>Refer most to Tier 1 Providers</a:t>
            </a:r>
          </a:p>
          <a:p>
            <a:pPr lvl="1">
              <a:defRPr/>
            </a:pPr>
            <a:r>
              <a:rPr lang="en-US" sz="1800" dirty="0">
                <a:cs typeface="+mn-cs"/>
              </a:rPr>
              <a:t>Give Tier 1 providers large blocks for their customers</a:t>
            </a:r>
          </a:p>
          <a:p>
            <a:pPr lvl="2">
              <a:defRPr/>
            </a:pPr>
            <a:r>
              <a:rPr lang="en-US" sz="1600" dirty="0">
                <a:cs typeface="+mn-cs"/>
              </a:rPr>
              <a:t>Allows Addresses to be aggregated</a:t>
            </a:r>
          </a:p>
          <a:p>
            <a:pPr lvl="1">
              <a:defRPr/>
            </a:pPr>
            <a:r>
              <a:rPr lang="en-US" sz="1800" dirty="0">
                <a:cs typeface="+mn-cs"/>
              </a:rPr>
              <a:t>Move to Classless Inter-Domain Routing</a:t>
            </a:r>
          </a:p>
          <a:p>
            <a:pPr lvl="1">
              <a:defRPr/>
            </a:pPr>
            <a:r>
              <a:rPr lang="en-US" sz="1800" dirty="0">
                <a:cs typeface="+mn-cs"/>
              </a:rPr>
              <a:t>Recommend a Replacement for IPv4</a:t>
            </a:r>
          </a:p>
          <a:p>
            <a:pPr lvl="1">
              <a:defRPr/>
            </a:pPr>
            <a:endParaRPr lang="en-US" sz="1800" dirty="0">
              <a:cs typeface="+mn-cs"/>
            </a:endParaRPr>
          </a:p>
          <a:p>
            <a:pPr>
              <a:defRPr/>
            </a:pPr>
            <a:endParaRPr lang="en-US" sz="1800" dirty="0">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917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917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1917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19171">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19171">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19171">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19171">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19171">
                                            <p:txEl>
                                              <p:pRg st="7" end="7"/>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19171">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19171">
                                            <p:txEl>
                                              <p:pRg st="9" end="9"/>
                                            </p:txEl>
                                          </p:spTgt>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19171">
                                            <p:txEl>
                                              <p:pRg st="10" end="10"/>
                                            </p:txEl>
                                          </p:spTgt>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19171">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9171"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04B056DD-A335-0248-841C-1CA7EADBBB69}" type="datetime3">
              <a:rPr lang="en-US"/>
              <a:pPr>
                <a:defRPr/>
              </a:pPr>
              <a:t>14 January 2026</a:t>
            </a:fld>
            <a:endParaRPr lang="en-US"/>
          </a:p>
        </p:txBody>
      </p:sp>
      <p:sp>
        <p:nvSpPr>
          <p:cNvPr id="5" name="Footer Placeholder 4"/>
          <p:cNvSpPr>
            <a:spLocks noGrp="1"/>
          </p:cNvSpPr>
          <p:nvPr>
            <p:ph type="ftr" sz="quarter" idx="11"/>
          </p:nvPr>
        </p:nvSpPr>
        <p:spPr/>
        <p:txBody>
          <a:bodyPr/>
          <a:lstStyle/>
          <a:p>
            <a:pPr>
              <a:defRPr/>
            </a:pPr>
            <a:r>
              <a:rPr lang="en-US"/>
              <a:t>.</a:t>
            </a:r>
          </a:p>
        </p:txBody>
      </p:sp>
      <p:sp>
        <p:nvSpPr>
          <p:cNvPr id="6" name="Slide Number Placeholder 5"/>
          <p:cNvSpPr>
            <a:spLocks noGrp="1"/>
          </p:cNvSpPr>
          <p:nvPr>
            <p:ph type="sldNum" sz="quarter" idx="12"/>
          </p:nvPr>
        </p:nvSpPr>
        <p:spPr/>
        <p:txBody>
          <a:bodyPr/>
          <a:lstStyle/>
          <a:p>
            <a:pPr>
              <a:defRPr/>
            </a:pPr>
            <a:fld id="{65BAB8EB-BD06-5D4D-AB93-1A1257D1C881}" type="slidenum">
              <a:rPr lang="en-US"/>
              <a:pPr>
                <a:defRPr/>
              </a:pPr>
              <a:t>19</a:t>
            </a:fld>
            <a:endParaRPr lang="en-US"/>
          </a:p>
        </p:txBody>
      </p:sp>
      <p:sp>
        <p:nvSpPr>
          <p:cNvPr id="519170" name="Rectangle 2"/>
          <p:cNvSpPr>
            <a:spLocks noGrp="1" noChangeArrowheads="1"/>
          </p:cNvSpPr>
          <p:nvPr>
            <p:ph type="title"/>
          </p:nvPr>
        </p:nvSpPr>
        <p:spPr>
          <a:xfrm>
            <a:off x="685800" y="228600"/>
            <a:ext cx="7772400" cy="1143000"/>
          </a:xfrm>
        </p:spPr>
        <p:txBody>
          <a:bodyPr/>
          <a:lstStyle/>
          <a:p>
            <a:pPr>
              <a:defRPr/>
            </a:pPr>
            <a:r>
              <a:rPr lang="en-US" sz="3200" dirty="0">
                <a:cs typeface="+mj-cs"/>
              </a:rPr>
              <a:t>Finding A Replacement for IPv4</a:t>
            </a:r>
          </a:p>
        </p:txBody>
      </p:sp>
      <p:sp>
        <p:nvSpPr>
          <p:cNvPr id="519171" name="Rectangle 3"/>
          <p:cNvSpPr>
            <a:spLocks noGrp="1" noChangeArrowheads="1"/>
          </p:cNvSpPr>
          <p:nvPr>
            <p:ph type="body" idx="1"/>
          </p:nvPr>
        </p:nvSpPr>
        <p:spPr>
          <a:xfrm>
            <a:off x="685800" y="1524000"/>
            <a:ext cx="7772400" cy="4114800"/>
          </a:xfrm>
        </p:spPr>
        <p:txBody>
          <a:bodyPr/>
          <a:lstStyle/>
          <a:p>
            <a:pPr>
              <a:defRPr/>
            </a:pPr>
            <a:endParaRPr lang="en-US" sz="1400" dirty="0"/>
          </a:p>
          <a:p>
            <a:pPr>
              <a:defRPr/>
            </a:pPr>
            <a:r>
              <a:rPr lang="en-US" sz="2000" dirty="0">
                <a:cs typeface="+mn-cs"/>
              </a:rPr>
              <a:t>The IAB convenes the ROAD process</a:t>
            </a:r>
          </a:p>
          <a:p>
            <a:pPr lvl="1">
              <a:defRPr/>
            </a:pPr>
            <a:r>
              <a:rPr lang="en-US" sz="1800" dirty="0"/>
              <a:t>Recommends CLNP as IPv7</a:t>
            </a:r>
          </a:p>
          <a:p>
            <a:pPr lvl="2">
              <a:defRPr/>
            </a:pPr>
            <a:r>
              <a:rPr lang="en-US" sz="1600" dirty="0"/>
              <a:t>Basically, IP with variable length </a:t>
            </a:r>
            <a:r>
              <a:rPr lang="en-US" sz="1600" dirty="0" err="1"/>
              <a:t>aggregateable</a:t>
            </a:r>
            <a:r>
              <a:rPr lang="en-US" sz="1600" dirty="0"/>
              <a:t> addresses.</a:t>
            </a:r>
          </a:p>
          <a:p>
            <a:pPr lvl="2">
              <a:defRPr/>
            </a:pPr>
            <a:r>
              <a:rPr lang="en-US" sz="1600" dirty="0"/>
              <a:t>CLNP names the node. Hence, fixes the </a:t>
            </a:r>
            <a:r>
              <a:rPr lang="en-US" sz="1600" dirty="0" err="1"/>
              <a:t>multihoming</a:t>
            </a:r>
            <a:r>
              <a:rPr lang="en-US" sz="1600" dirty="0"/>
              <a:t> problem.</a:t>
            </a:r>
          </a:p>
          <a:p>
            <a:pPr lvl="2">
              <a:defRPr/>
            </a:pPr>
            <a:r>
              <a:rPr lang="en-US" sz="1600" dirty="0"/>
              <a:t>Reduces router table size by a factor 3 - 4</a:t>
            </a:r>
          </a:p>
          <a:p>
            <a:pPr>
              <a:defRPr/>
            </a:pPr>
            <a:r>
              <a:rPr lang="en-US" sz="2000" dirty="0">
                <a:cs typeface="+mn-cs"/>
              </a:rPr>
              <a:t>The IETF goes berserk!</a:t>
            </a:r>
          </a:p>
          <a:p>
            <a:pPr lvl="1">
              <a:defRPr/>
            </a:pPr>
            <a:r>
              <a:rPr lang="en-US" sz="1800" dirty="0"/>
              <a:t>No OSI, no way, no how!</a:t>
            </a:r>
          </a:p>
          <a:p>
            <a:pPr lvl="2">
              <a:defRPr/>
            </a:pPr>
            <a:r>
              <a:rPr lang="en-US" sz="1600" dirty="0"/>
              <a:t>A model? We don</a:t>
            </a:r>
            <a:r>
              <a:rPr lang="en-US" sz="1600" dirty="0">
                <a:latin typeface="Arial"/>
              </a:rPr>
              <a:t>’</a:t>
            </a:r>
            <a:r>
              <a:rPr lang="en-US" sz="1600" dirty="0"/>
              <a:t>t need no stinking model. </a:t>
            </a:r>
            <a:r>
              <a:rPr lang="en-US" sz="1600" i="1" dirty="0"/>
              <a:t>We</a:t>
            </a:r>
            <a:r>
              <a:rPr lang="en-US" sz="1600" i="1" dirty="0">
                <a:latin typeface="Arial"/>
              </a:rPr>
              <a:t>’</a:t>
            </a:r>
            <a:r>
              <a:rPr lang="en-US" sz="1600" i="1" dirty="0"/>
              <a:t>ve got</a:t>
            </a:r>
          </a:p>
          <a:p>
            <a:pPr lvl="2">
              <a:defRPr/>
            </a:pPr>
            <a:r>
              <a:rPr lang="en-US" sz="1600" dirty="0"/>
              <a:t>Rough Consensus and Running Code!</a:t>
            </a:r>
          </a:p>
          <a:p>
            <a:pPr lvl="1">
              <a:defRPr/>
            </a:pPr>
            <a:r>
              <a:rPr lang="en-US" sz="2000" dirty="0"/>
              <a:t>Now a Process for an </a:t>
            </a:r>
            <a:r>
              <a:rPr lang="en-US" sz="2000" dirty="0" err="1"/>
              <a:t>IPng</a:t>
            </a:r>
            <a:endParaRPr lang="en-US" sz="2000" dirty="0"/>
          </a:p>
          <a:p>
            <a:pPr>
              <a:defRPr/>
            </a:pPr>
            <a:endParaRPr lang="en-US" sz="1800" dirty="0">
              <a:cs typeface="+mn-cs"/>
            </a:endParaRPr>
          </a:p>
          <a:p>
            <a:pPr>
              <a:defRPr/>
            </a:pPr>
            <a:endParaRPr lang="en-US" sz="1800" dirty="0">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917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917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19171">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19171">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19171">
                                            <p:txEl>
                                              <p:pRg st="5" end="5"/>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19171">
                                            <p:txEl>
                                              <p:pRg st="6" end="6"/>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19171">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19171">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19171">
                                            <p:txEl>
                                              <p:pRg st="9" end="9"/>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1917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9171"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56D8D809-02A2-4B49-ABF8-314F718345D4}" type="datetime3">
              <a:rPr lang="en-US"/>
              <a:pPr>
                <a:defRPr/>
              </a:pPr>
              <a:t>14 January 2026</a:t>
            </a:fld>
            <a:endParaRPr lang="en-US"/>
          </a:p>
        </p:txBody>
      </p:sp>
      <p:sp>
        <p:nvSpPr>
          <p:cNvPr id="5" name="Footer Placeholder 4"/>
          <p:cNvSpPr>
            <a:spLocks noGrp="1"/>
          </p:cNvSpPr>
          <p:nvPr>
            <p:ph type="ftr" sz="quarter" idx="11"/>
          </p:nvPr>
        </p:nvSpPr>
        <p:spPr/>
        <p:txBody>
          <a:bodyPr/>
          <a:lstStyle/>
          <a:p>
            <a:pPr>
              <a:defRPr/>
            </a:pPr>
            <a:r>
              <a:rPr lang="en-US"/>
              <a:t>.</a:t>
            </a:r>
          </a:p>
        </p:txBody>
      </p:sp>
      <p:sp>
        <p:nvSpPr>
          <p:cNvPr id="6" name="Slide Number Placeholder 5"/>
          <p:cNvSpPr>
            <a:spLocks noGrp="1"/>
          </p:cNvSpPr>
          <p:nvPr>
            <p:ph type="sldNum" sz="quarter" idx="12"/>
          </p:nvPr>
        </p:nvSpPr>
        <p:spPr/>
        <p:txBody>
          <a:bodyPr/>
          <a:lstStyle/>
          <a:p>
            <a:pPr>
              <a:defRPr/>
            </a:pPr>
            <a:fld id="{54504AB8-21F8-C14E-A731-24FFB6417CF5}" type="slidenum">
              <a:rPr lang="en-US"/>
              <a:pPr>
                <a:defRPr/>
              </a:pPr>
              <a:t>20</a:t>
            </a:fld>
            <a:endParaRPr lang="en-US"/>
          </a:p>
        </p:txBody>
      </p:sp>
      <p:sp>
        <p:nvSpPr>
          <p:cNvPr id="521218" name="Rectangle 2"/>
          <p:cNvSpPr>
            <a:spLocks noGrp="1" noChangeArrowheads="1"/>
          </p:cNvSpPr>
          <p:nvPr>
            <p:ph type="title"/>
          </p:nvPr>
        </p:nvSpPr>
        <p:spPr>
          <a:xfrm>
            <a:off x="685800" y="304800"/>
            <a:ext cx="7772400" cy="1143000"/>
          </a:xfrm>
        </p:spPr>
        <p:txBody>
          <a:bodyPr/>
          <a:lstStyle/>
          <a:p>
            <a:pPr>
              <a:defRPr/>
            </a:pPr>
            <a:r>
              <a:rPr lang="en-US" sz="3200" dirty="0">
                <a:cs typeface="+mj-cs"/>
              </a:rPr>
              <a:t>The </a:t>
            </a:r>
            <a:r>
              <a:rPr lang="en-US" sz="3200" dirty="0" err="1">
                <a:cs typeface="+mj-cs"/>
              </a:rPr>
              <a:t>IPng</a:t>
            </a:r>
            <a:r>
              <a:rPr lang="en-US" sz="3200" dirty="0">
                <a:cs typeface="+mj-cs"/>
              </a:rPr>
              <a:t> Process</a:t>
            </a:r>
          </a:p>
        </p:txBody>
      </p:sp>
      <p:sp>
        <p:nvSpPr>
          <p:cNvPr id="521219" name="Rectangle 3"/>
          <p:cNvSpPr>
            <a:spLocks noGrp="1" noChangeArrowheads="1"/>
          </p:cNvSpPr>
          <p:nvPr>
            <p:ph type="body" idx="1"/>
          </p:nvPr>
        </p:nvSpPr>
        <p:spPr>
          <a:xfrm>
            <a:off x="1066800" y="1371600"/>
            <a:ext cx="7315200" cy="4114800"/>
          </a:xfrm>
        </p:spPr>
        <p:txBody>
          <a:bodyPr/>
          <a:lstStyle/>
          <a:p>
            <a:pPr>
              <a:defRPr/>
            </a:pPr>
            <a:r>
              <a:rPr lang="en-US" sz="2400" dirty="0">
                <a:cs typeface="+mn-cs"/>
              </a:rPr>
              <a:t>The Rules were:</a:t>
            </a:r>
          </a:p>
          <a:p>
            <a:pPr lvl="1">
              <a:defRPr/>
            </a:pPr>
            <a:r>
              <a:rPr lang="en-US" sz="2000" dirty="0"/>
              <a:t>Fixed Length Address</a:t>
            </a:r>
          </a:p>
          <a:p>
            <a:pPr lvl="1">
              <a:defRPr/>
            </a:pPr>
            <a:r>
              <a:rPr lang="en-US" sz="2000" dirty="0"/>
              <a:t>Continue to Name the Interface.</a:t>
            </a:r>
          </a:p>
          <a:p>
            <a:pPr lvl="1">
              <a:defRPr/>
            </a:pPr>
            <a:r>
              <a:rPr lang="en-US" sz="2000" dirty="0"/>
              <a:t>At least 20 octets of address</a:t>
            </a:r>
          </a:p>
          <a:p>
            <a:pPr lvl="1">
              <a:defRPr/>
            </a:pPr>
            <a:r>
              <a:rPr lang="en-US" sz="2000" dirty="0"/>
              <a:t>Open Standard</a:t>
            </a:r>
          </a:p>
          <a:p>
            <a:pPr>
              <a:defRPr/>
            </a:pPr>
            <a:r>
              <a:rPr lang="en-US" sz="2400" dirty="0" err="1">
                <a:cs typeface="+mn-cs"/>
              </a:rPr>
              <a:t>Voil</a:t>
            </a:r>
            <a:r>
              <a:rPr lang="en-US" altLang="ja-JP" sz="2400" dirty="0" err="1">
                <a:cs typeface="+mn-cs"/>
              </a:rPr>
              <a:t>á</a:t>
            </a:r>
            <a:r>
              <a:rPr lang="en-US" altLang="ja-JP" sz="2400" dirty="0">
                <a:cs typeface="+mn-cs"/>
              </a:rPr>
              <a:t>!  IPv6!</a:t>
            </a:r>
          </a:p>
          <a:p>
            <a:pPr lvl="2">
              <a:defRPr/>
            </a:pPr>
            <a:r>
              <a:rPr lang="en-US" sz="2000" dirty="0"/>
              <a:t>or anything but CLNP.</a:t>
            </a:r>
          </a:p>
          <a:p>
            <a:pPr>
              <a:defRPr/>
            </a:pPr>
            <a:r>
              <a:rPr lang="en-US" sz="2400" dirty="0">
                <a:cs typeface="+mn-cs"/>
              </a:rPr>
              <a:t>Still no solution to </a:t>
            </a:r>
            <a:r>
              <a:rPr lang="en-US" sz="2400" dirty="0" err="1">
                <a:cs typeface="+mn-cs"/>
              </a:rPr>
              <a:t>multihoming</a:t>
            </a:r>
            <a:endParaRPr lang="en-US" sz="2400" dirty="0">
              <a:cs typeface="+mn-cs"/>
            </a:endParaRPr>
          </a:p>
          <a:p>
            <a:pPr lvl="1">
              <a:defRPr/>
            </a:pPr>
            <a:r>
              <a:rPr lang="en-US" sz="2000" dirty="0"/>
              <a:t>Problem is now 20 years old</a:t>
            </a:r>
          </a:p>
          <a:p>
            <a:pPr lvl="1">
              <a:defRPr/>
            </a:pPr>
            <a:r>
              <a:rPr lang="en-US" sz="2000" dirty="0"/>
              <a:t>And no large reduction in router table size</a:t>
            </a:r>
          </a:p>
          <a:p>
            <a:pPr lvl="2">
              <a:defRPr/>
            </a:pPr>
            <a:r>
              <a:rPr lang="en-US" sz="1600" dirty="0"/>
              <a:t>This is totally irresponsible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121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121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2121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21219">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21219">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21219">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21219">
                                            <p:txEl>
                                              <p:pRg st="6" end="6"/>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21219">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21219">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21219">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2121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1219"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126B4593-0E9B-7B47-8AB5-1478E24D84E8}" type="datetime3">
              <a:rPr lang="en-US"/>
              <a:pPr>
                <a:defRPr/>
              </a:pPr>
              <a:t>14 January 2026</a:t>
            </a:fld>
            <a:endParaRPr lang="en-US"/>
          </a:p>
        </p:txBody>
      </p:sp>
      <p:sp>
        <p:nvSpPr>
          <p:cNvPr id="5" name="Footer Placeholder 4"/>
          <p:cNvSpPr>
            <a:spLocks noGrp="1"/>
          </p:cNvSpPr>
          <p:nvPr>
            <p:ph type="ftr" sz="quarter" idx="11"/>
          </p:nvPr>
        </p:nvSpPr>
        <p:spPr/>
        <p:txBody>
          <a:bodyPr/>
          <a:lstStyle/>
          <a:p>
            <a:pPr>
              <a:defRPr/>
            </a:pPr>
            <a:r>
              <a:rPr lang="en-US"/>
              <a:t>.</a:t>
            </a:r>
          </a:p>
        </p:txBody>
      </p:sp>
      <p:sp>
        <p:nvSpPr>
          <p:cNvPr id="6" name="Slide Number Placeholder 5"/>
          <p:cNvSpPr>
            <a:spLocks noGrp="1"/>
          </p:cNvSpPr>
          <p:nvPr>
            <p:ph type="sldNum" sz="quarter" idx="12"/>
          </p:nvPr>
        </p:nvSpPr>
        <p:spPr/>
        <p:txBody>
          <a:bodyPr/>
          <a:lstStyle/>
          <a:p>
            <a:pPr>
              <a:defRPr/>
            </a:pPr>
            <a:fld id="{B4521EF2-29A3-F346-B3BC-FC26609250AF}" type="slidenum">
              <a:rPr lang="en-US"/>
              <a:pPr>
                <a:defRPr/>
              </a:pPr>
              <a:t>21</a:t>
            </a:fld>
            <a:endParaRPr lang="en-US"/>
          </a:p>
        </p:txBody>
      </p:sp>
      <p:sp>
        <p:nvSpPr>
          <p:cNvPr id="523266" name="Rectangle 2"/>
          <p:cNvSpPr>
            <a:spLocks noGrp="1" noChangeArrowheads="1"/>
          </p:cNvSpPr>
          <p:nvPr>
            <p:ph type="title"/>
          </p:nvPr>
        </p:nvSpPr>
        <p:spPr>
          <a:xfrm>
            <a:off x="685800" y="0"/>
            <a:ext cx="7772400" cy="1143000"/>
          </a:xfrm>
        </p:spPr>
        <p:txBody>
          <a:bodyPr/>
          <a:lstStyle/>
          <a:p>
            <a:pPr>
              <a:defRPr/>
            </a:pPr>
            <a:r>
              <a:rPr lang="en-US" sz="3200">
                <a:cs typeface="+mj-cs"/>
              </a:rPr>
              <a:t>All is Not Well</a:t>
            </a:r>
          </a:p>
        </p:txBody>
      </p:sp>
      <p:sp>
        <p:nvSpPr>
          <p:cNvPr id="523267" name="Rectangle 3"/>
          <p:cNvSpPr>
            <a:spLocks noGrp="1" noChangeArrowheads="1"/>
          </p:cNvSpPr>
          <p:nvPr>
            <p:ph type="body" idx="1"/>
          </p:nvPr>
        </p:nvSpPr>
        <p:spPr>
          <a:xfrm>
            <a:off x="685800" y="1371600"/>
            <a:ext cx="7772400" cy="4114800"/>
          </a:xfrm>
        </p:spPr>
        <p:txBody>
          <a:bodyPr/>
          <a:lstStyle/>
          <a:p>
            <a:pPr>
              <a:defRPr/>
            </a:pPr>
            <a:r>
              <a:rPr lang="en-US" sz="2000" dirty="0">
                <a:cs typeface="+mn-cs"/>
              </a:rPr>
              <a:t>Several Months later, light dawns (</a:t>
            </a:r>
            <a:r>
              <a:rPr lang="en-US" sz="1400" dirty="0">
                <a:cs typeface="+mn-cs"/>
              </a:rPr>
              <a:t>slightly</a:t>
            </a:r>
            <a:r>
              <a:rPr lang="en-US" sz="2000" dirty="0">
                <a:cs typeface="+mn-cs"/>
              </a:rPr>
              <a:t>)!</a:t>
            </a:r>
          </a:p>
          <a:p>
            <a:pPr lvl="1">
              <a:defRPr/>
            </a:pPr>
            <a:r>
              <a:rPr lang="en-US" sz="1800" dirty="0"/>
              <a:t>Name the Interface, but route aggregation is a must</a:t>
            </a:r>
          </a:p>
          <a:p>
            <a:pPr lvl="1">
              <a:defRPr/>
            </a:pPr>
            <a:r>
              <a:rPr lang="en-US" sz="1800" dirty="0"/>
              <a:t>Implies provider-based assignment. </a:t>
            </a:r>
          </a:p>
          <a:p>
            <a:pPr lvl="1">
              <a:defRPr/>
            </a:pPr>
            <a:r>
              <a:rPr lang="en-US" sz="1800" dirty="0"/>
              <a:t>Means if you change providers, must renumber your net. WHAT!?</a:t>
            </a:r>
          </a:p>
          <a:p>
            <a:pPr lvl="2">
              <a:defRPr/>
            </a:pPr>
            <a:r>
              <a:rPr lang="en-US" sz="1800" dirty="0"/>
              <a:t>That is expensive, time-consuming and error-prone.</a:t>
            </a:r>
          </a:p>
          <a:p>
            <a:pPr lvl="2">
              <a:defRPr/>
            </a:pPr>
            <a:r>
              <a:rPr lang="en-US" sz="1600" dirty="0"/>
              <a:t>Kind of shot yourself in the foot, eh?</a:t>
            </a:r>
          </a:p>
          <a:p>
            <a:pPr>
              <a:defRPr/>
            </a:pPr>
            <a:r>
              <a:rPr lang="en-US" sz="2000" dirty="0">
                <a:cs typeface="+mn-cs"/>
              </a:rPr>
              <a:t>Transition is dual stack with a NAT</a:t>
            </a:r>
          </a:p>
          <a:p>
            <a:pPr lvl="1">
              <a:defRPr/>
            </a:pPr>
            <a:r>
              <a:rPr lang="en-US" sz="1800" dirty="0"/>
              <a:t>Once you have a NAT, you don</a:t>
            </a:r>
            <a:r>
              <a:rPr lang="en-US" sz="1800" dirty="0">
                <a:latin typeface="Arial"/>
              </a:rPr>
              <a:t>’</a:t>
            </a:r>
            <a:r>
              <a:rPr lang="en-US" sz="1800" dirty="0"/>
              <a:t>t need v6  . . .  oops.</a:t>
            </a:r>
          </a:p>
          <a:p>
            <a:pPr lvl="2">
              <a:defRPr/>
            </a:pPr>
            <a:r>
              <a:rPr lang="en-US" sz="1600" dirty="0"/>
              <a:t>How many feet do you have?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326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326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2326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2326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23267">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23267">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23267">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23267">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2326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3267"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0B90F22C-A549-A144-BFAE-E1D12B2E91C3}" type="datetime3">
              <a:rPr lang="en-US"/>
              <a:pPr>
                <a:defRPr/>
              </a:pPr>
              <a:t>14 January 2026</a:t>
            </a:fld>
            <a:endParaRPr lang="en-US"/>
          </a:p>
        </p:txBody>
      </p:sp>
      <p:sp>
        <p:nvSpPr>
          <p:cNvPr id="5" name="Footer Placeholder 4"/>
          <p:cNvSpPr>
            <a:spLocks noGrp="1"/>
          </p:cNvSpPr>
          <p:nvPr>
            <p:ph type="ftr" sz="quarter" idx="11"/>
          </p:nvPr>
        </p:nvSpPr>
        <p:spPr>
          <a:xfrm>
            <a:off x="3124200" y="6324600"/>
            <a:ext cx="2895600" cy="457200"/>
          </a:xfrm>
        </p:spPr>
        <p:txBody>
          <a:bodyPr/>
          <a:lstStyle/>
          <a:p>
            <a:pPr>
              <a:defRPr/>
            </a:pPr>
            <a:r>
              <a:rPr lang="en-US"/>
              <a:t>.</a:t>
            </a:r>
          </a:p>
        </p:txBody>
      </p:sp>
      <p:sp>
        <p:nvSpPr>
          <p:cNvPr id="6" name="Slide Number Placeholder 5"/>
          <p:cNvSpPr>
            <a:spLocks noGrp="1"/>
          </p:cNvSpPr>
          <p:nvPr>
            <p:ph type="sldNum" sz="quarter" idx="12"/>
          </p:nvPr>
        </p:nvSpPr>
        <p:spPr>
          <a:xfrm>
            <a:off x="6553200" y="6324600"/>
            <a:ext cx="1905000" cy="228600"/>
          </a:xfrm>
        </p:spPr>
        <p:txBody>
          <a:bodyPr/>
          <a:lstStyle/>
          <a:p>
            <a:pPr>
              <a:defRPr/>
            </a:pPr>
            <a:fld id="{DB1C780E-B76B-D741-9797-B1073C2C087A}" type="slidenum">
              <a:rPr lang="en-US"/>
              <a:pPr>
                <a:defRPr/>
              </a:pPr>
              <a:t>22</a:t>
            </a:fld>
            <a:endParaRPr lang="en-US"/>
          </a:p>
        </p:txBody>
      </p:sp>
      <p:sp>
        <p:nvSpPr>
          <p:cNvPr id="525314" name="Rectangle 2"/>
          <p:cNvSpPr>
            <a:spLocks noGrp="1" noChangeArrowheads="1"/>
          </p:cNvSpPr>
          <p:nvPr>
            <p:ph type="title"/>
          </p:nvPr>
        </p:nvSpPr>
        <p:spPr>
          <a:xfrm>
            <a:off x="685800" y="533400"/>
            <a:ext cx="7772400" cy="1143000"/>
          </a:xfrm>
        </p:spPr>
        <p:txBody>
          <a:bodyPr/>
          <a:lstStyle/>
          <a:p>
            <a:pPr>
              <a:defRPr/>
            </a:pPr>
            <a:r>
              <a:rPr lang="en-US" sz="3200" dirty="0">
                <a:cs typeface="+mj-cs"/>
              </a:rPr>
              <a:t>Craftsmen Play Scientists</a:t>
            </a:r>
          </a:p>
        </p:txBody>
      </p:sp>
      <p:sp>
        <p:nvSpPr>
          <p:cNvPr id="525315" name="Rectangle 3"/>
          <p:cNvSpPr>
            <a:spLocks noGrp="1" noChangeArrowheads="1"/>
          </p:cNvSpPr>
          <p:nvPr>
            <p:ph type="body" idx="1"/>
          </p:nvPr>
        </p:nvSpPr>
        <p:spPr>
          <a:xfrm>
            <a:off x="685800" y="1676400"/>
            <a:ext cx="7772400" cy="4114800"/>
          </a:xfrm>
        </p:spPr>
        <p:txBody>
          <a:bodyPr/>
          <a:lstStyle/>
          <a:p>
            <a:pPr>
              <a:defRPr/>
            </a:pPr>
            <a:r>
              <a:rPr lang="en-US" sz="2000" dirty="0">
                <a:cs typeface="+mn-cs"/>
              </a:rPr>
              <a:t>Finally, around 2000, need to deal with multihoming, but</a:t>
            </a:r>
          </a:p>
          <a:p>
            <a:pPr lvl="3">
              <a:defRPr/>
            </a:pPr>
            <a:r>
              <a:rPr lang="en-US" sz="1400" dirty="0"/>
              <a:t>given negative reaction to naming the node need a workaround</a:t>
            </a:r>
          </a:p>
          <a:p>
            <a:pPr>
              <a:defRPr/>
            </a:pPr>
            <a:r>
              <a:rPr lang="en-US" sz="1800" dirty="0" err="1">
                <a:cs typeface="+mn-cs"/>
              </a:rPr>
              <a:t>Ahh</a:t>
            </a:r>
            <a:r>
              <a:rPr lang="en-US" sz="1800" dirty="0">
                <a:cs typeface="+mn-cs"/>
              </a:rPr>
              <a:t>!  The problem is that we have been overloading the semantics of the IP address with location and identifier information.</a:t>
            </a:r>
          </a:p>
          <a:p>
            <a:pPr lvl="1">
              <a:defRPr/>
            </a:pPr>
            <a:r>
              <a:rPr lang="en-US" sz="1600" dirty="0"/>
              <a:t>We need to split them. </a:t>
            </a:r>
          </a:p>
          <a:p>
            <a:pPr>
              <a:defRPr/>
            </a:pPr>
            <a:r>
              <a:rPr lang="en-US" sz="2000" dirty="0"/>
              <a:t>Loc/id split is the Answer!</a:t>
            </a:r>
          </a:p>
          <a:p>
            <a:pPr lvl="1">
              <a:defRPr/>
            </a:pPr>
            <a:r>
              <a:rPr lang="en-US" sz="1800" dirty="0"/>
              <a:t>A locator we can route on and a flat endpoint id (EID)</a:t>
            </a:r>
          </a:p>
          <a:p>
            <a:pPr lvl="2">
              <a:defRPr/>
            </a:pPr>
            <a:r>
              <a:rPr lang="en-US" sz="1600" dirty="0" err="1"/>
              <a:t>Psssst</a:t>
            </a:r>
            <a:r>
              <a:rPr lang="en-US" sz="1600" dirty="0"/>
              <a:t>!  Can</a:t>
            </a:r>
            <a:r>
              <a:rPr lang="en-US" sz="1600" dirty="0">
                <a:latin typeface="Arial"/>
              </a:rPr>
              <a:t>’</a:t>
            </a:r>
            <a:r>
              <a:rPr lang="en-US" sz="1600" dirty="0"/>
              <a:t>t identify something without locating it and vice versa</a:t>
            </a:r>
          </a:p>
          <a:p>
            <a:pPr lvl="3">
              <a:defRPr/>
            </a:pPr>
            <a:r>
              <a:rPr lang="en-US" sz="1400" dirty="0" err="1"/>
              <a:t>Saltzer</a:t>
            </a:r>
            <a:r>
              <a:rPr lang="en-US" sz="1400" dirty="0"/>
              <a:t> [1977] defines </a:t>
            </a:r>
            <a:r>
              <a:rPr lang="ja-JP" altLang="en-US" sz="1400" dirty="0">
                <a:latin typeface="Arial"/>
              </a:rPr>
              <a:t>“</a:t>
            </a:r>
            <a:r>
              <a:rPr lang="en-US" sz="1400" dirty="0"/>
              <a:t>resolve</a:t>
            </a:r>
            <a:r>
              <a:rPr lang="ja-JP" altLang="en-US" sz="1400" dirty="0">
                <a:latin typeface="Arial"/>
              </a:rPr>
              <a:t>”</a:t>
            </a:r>
            <a:r>
              <a:rPr lang="en-US" sz="1400" dirty="0">
                <a:latin typeface="Lucida Grande" charset="0"/>
              </a:rPr>
              <a:t> </a:t>
            </a:r>
            <a:r>
              <a:rPr lang="en-US" sz="1400" dirty="0"/>
              <a:t>as in </a:t>
            </a:r>
            <a:r>
              <a:rPr lang="en-US" sz="1400" dirty="0">
                <a:ea typeface="ヒラギノ角ゴ ProN W3" charset="0"/>
                <a:cs typeface="ヒラギノ角ゴ ProN W3" charset="0"/>
              </a:rPr>
              <a:t>“r</a:t>
            </a:r>
            <a:r>
              <a:rPr lang="en-US" sz="1400" dirty="0"/>
              <a:t>esolving a name</a:t>
            </a:r>
            <a:r>
              <a:rPr lang="ja-JP" altLang="en-US" sz="1400" dirty="0">
                <a:latin typeface="Arial"/>
              </a:rPr>
              <a:t>”</a:t>
            </a:r>
            <a:r>
              <a:rPr lang="en-US" sz="1400" dirty="0"/>
              <a:t> as </a:t>
            </a:r>
            <a:r>
              <a:rPr lang="en-US" sz="1400" dirty="0">
                <a:ea typeface="ヒラギノ角ゴ ProN W3" charset="0"/>
                <a:cs typeface="ヒラギノ角ゴ ProN W3" charset="0"/>
              </a:rPr>
              <a:t>“t</a:t>
            </a:r>
            <a:r>
              <a:rPr lang="en-US" sz="1400" dirty="0"/>
              <a:t>o locate an object in a particular context, given its name.</a:t>
            </a:r>
            <a:r>
              <a:rPr lang="ja-JP" altLang="en-US" sz="1400" dirty="0">
                <a:latin typeface="Arial"/>
              </a:rPr>
              <a:t>”</a:t>
            </a:r>
            <a:endParaRPr lang="en-US" sz="1400" dirty="0">
              <a:latin typeface="Lucida Grande" charset="0"/>
            </a:endParaRPr>
          </a:p>
          <a:p>
            <a:pPr lvl="2">
              <a:defRPr/>
            </a:pPr>
            <a:r>
              <a:rPr lang="en-US" sz="1600" dirty="0"/>
              <a:t>Got another foot?</a:t>
            </a:r>
          </a:p>
          <a:p>
            <a:pPr>
              <a:defRPr/>
            </a:pPr>
            <a:r>
              <a:rPr lang="en-US" sz="2000" dirty="0">
                <a:cs typeface="+mn-cs"/>
              </a:rPr>
              <a:t>Don</a:t>
            </a:r>
            <a:r>
              <a:rPr lang="en-US" sz="2000" dirty="0">
                <a:latin typeface="Arial"/>
                <a:cs typeface="+mn-cs"/>
              </a:rPr>
              <a:t>’</a:t>
            </a:r>
            <a:r>
              <a:rPr lang="en-US" sz="2000" dirty="0">
                <a:cs typeface="+mn-cs"/>
              </a:rPr>
              <a:t>t bother me with </a:t>
            </a:r>
            <a:r>
              <a:rPr lang="en-US" sz="2000" dirty="0" err="1">
                <a:cs typeface="+mn-cs"/>
              </a:rPr>
              <a:t>pedantics</a:t>
            </a:r>
            <a:r>
              <a:rPr lang="en-US" sz="2000" dirty="0">
                <a:cs typeface="+mn-cs"/>
              </a:rPr>
              <a:t>, IPv6 is the future!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53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531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2531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2531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25315">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25315">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25315">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25315">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25315">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2531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5315"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45C2EF25-18B1-274B-BDC0-47C5A2A7BE8D}" type="datetime3">
              <a:rPr lang="en-US"/>
              <a:pPr>
                <a:defRPr/>
              </a:pPr>
              <a:t>14 January 2026</a:t>
            </a:fld>
            <a:endParaRPr lang="en-US"/>
          </a:p>
        </p:txBody>
      </p:sp>
      <p:sp>
        <p:nvSpPr>
          <p:cNvPr id="5" name="Footer Placeholder 4"/>
          <p:cNvSpPr>
            <a:spLocks noGrp="1"/>
          </p:cNvSpPr>
          <p:nvPr>
            <p:ph type="ftr" sz="quarter" idx="11"/>
          </p:nvPr>
        </p:nvSpPr>
        <p:spPr/>
        <p:txBody>
          <a:bodyPr/>
          <a:lstStyle/>
          <a:p>
            <a:pPr>
              <a:defRPr/>
            </a:pPr>
            <a:r>
              <a:rPr lang="en-US"/>
              <a:t>.</a:t>
            </a:r>
          </a:p>
        </p:txBody>
      </p:sp>
      <p:sp>
        <p:nvSpPr>
          <p:cNvPr id="6" name="Slide Number Placeholder 5"/>
          <p:cNvSpPr>
            <a:spLocks noGrp="1"/>
          </p:cNvSpPr>
          <p:nvPr>
            <p:ph type="sldNum" sz="quarter" idx="12"/>
          </p:nvPr>
        </p:nvSpPr>
        <p:spPr/>
        <p:txBody>
          <a:bodyPr/>
          <a:lstStyle/>
          <a:p>
            <a:pPr>
              <a:defRPr/>
            </a:pPr>
            <a:fld id="{70F2744C-17DF-F84D-A2FB-A6F2EAE3100A}" type="slidenum">
              <a:rPr lang="en-US"/>
              <a:pPr>
                <a:defRPr/>
              </a:pPr>
              <a:t>23</a:t>
            </a:fld>
            <a:endParaRPr lang="en-US"/>
          </a:p>
        </p:txBody>
      </p:sp>
      <p:sp>
        <p:nvSpPr>
          <p:cNvPr id="527362" name="Rectangle 2"/>
          <p:cNvSpPr>
            <a:spLocks noGrp="1" noChangeArrowheads="1"/>
          </p:cNvSpPr>
          <p:nvPr>
            <p:ph type="title"/>
          </p:nvPr>
        </p:nvSpPr>
        <p:spPr>
          <a:xfrm>
            <a:off x="685800" y="228600"/>
            <a:ext cx="7772400" cy="1143000"/>
          </a:xfrm>
        </p:spPr>
        <p:txBody>
          <a:bodyPr/>
          <a:lstStyle/>
          <a:p>
            <a:pPr>
              <a:defRPr/>
            </a:pPr>
            <a:r>
              <a:rPr lang="en-US" sz="3200">
                <a:cs typeface="+mj-cs"/>
              </a:rPr>
              <a:t>Trouble is Not Much Interest in v6</a:t>
            </a:r>
          </a:p>
        </p:txBody>
      </p:sp>
      <p:sp>
        <p:nvSpPr>
          <p:cNvPr id="527363" name="Rectangle 3"/>
          <p:cNvSpPr>
            <a:spLocks noGrp="1" noChangeArrowheads="1"/>
          </p:cNvSpPr>
          <p:nvPr>
            <p:ph type="body" idx="1"/>
          </p:nvPr>
        </p:nvSpPr>
        <p:spPr>
          <a:xfrm>
            <a:off x="685800" y="1295400"/>
            <a:ext cx="7772400" cy="4114800"/>
          </a:xfrm>
        </p:spPr>
        <p:txBody>
          <a:bodyPr/>
          <a:lstStyle/>
          <a:p>
            <a:pPr>
              <a:defRPr/>
            </a:pPr>
            <a:r>
              <a:rPr lang="en-US" sz="1800" dirty="0">
                <a:cs typeface="+mn-cs"/>
              </a:rPr>
              <a:t>It offers no benefit to those who pay for adopting it</a:t>
            </a:r>
          </a:p>
          <a:p>
            <a:pPr lvl="1">
              <a:defRPr/>
            </a:pPr>
            <a:r>
              <a:rPr lang="en-US" sz="1600" dirty="0"/>
              <a:t>They just don</a:t>
            </a:r>
            <a:r>
              <a:rPr lang="en-US" sz="1600" dirty="0">
                <a:latin typeface="Arial"/>
              </a:rPr>
              <a:t>’</a:t>
            </a:r>
            <a:r>
              <a:rPr lang="en-US" sz="1600" dirty="0"/>
              <a:t>t know they want it.</a:t>
            </a:r>
          </a:p>
          <a:p>
            <a:pPr>
              <a:defRPr/>
            </a:pPr>
            <a:r>
              <a:rPr lang="en-US" sz="1800" dirty="0">
                <a:cs typeface="+mn-cs"/>
              </a:rPr>
              <a:t>For the next decade, there is the hype:</a:t>
            </a:r>
          </a:p>
          <a:p>
            <a:pPr lvl="1">
              <a:defRPr/>
            </a:pPr>
            <a:r>
              <a:rPr lang="en-US" sz="1600" dirty="0"/>
              <a:t>Better security, better </a:t>
            </a:r>
            <a:r>
              <a:rPr lang="en-US" sz="1600" dirty="0" err="1"/>
              <a:t>QoS</a:t>
            </a:r>
            <a:r>
              <a:rPr lang="en-US" sz="1600" dirty="0"/>
              <a:t>, better mobility</a:t>
            </a:r>
          </a:p>
          <a:p>
            <a:pPr lvl="3">
              <a:defRPr/>
            </a:pPr>
            <a:r>
              <a:rPr lang="ja-JP" altLang="en-US" sz="1200" dirty="0">
                <a:latin typeface="Arial"/>
              </a:rPr>
              <a:t>“</a:t>
            </a:r>
            <a:r>
              <a:rPr lang="en-US" sz="1200" dirty="0"/>
              <a:t>A dessert topping and a floor wax!</a:t>
            </a:r>
            <a:r>
              <a:rPr lang="ja-JP" altLang="en-US" sz="1200" dirty="0">
                <a:latin typeface="Arial"/>
              </a:rPr>
              <a:t>”</a:t>
            </a:r>
            <a:r>
              <a:rPr lang="en-US" sz="1200" dirty="0"/>
              <a:t> - Mike O</a:t>
            </a:r>
            <a:r>
              <a:rPr lang="ja-JP" altLang="en-US" sz="1200" dirty="0">
                <a:latin typeface="Arial"/>
              </a:rPr>
              <a:t>’</a:t>
            </a:r>
            <a:r>
              <a:rPr lang="en-US" sz="1200" dirty="0"/>
              <a:t>Dell</a:t>
            </a:r>
          </a:p>
          <a:p>
            <a:pPr lvl="2">
              <a:defRPr/>
            </a:pPr>
            <a:r>
              <a:rPr lang="en-US" sz="1400" dirty="0"/>
              <a:t>In fact, all of these are the same as IPv4 . . . no different</a:t>
            </a:r>
            <a:endParaRPr lang="en-US" sz="1800" dirty="0"/>
          </a:p>
          <a:p>
            <a:pPr>
              <a:defRPr/>
            </a:pPr>
            <a:r>
              <a:rPr lang="ja-JP" altLang="en-US" sz="1800" dirty="0">
                <a:latin typeface="Arial"/>
                <a:cs typeface="+mn-cs"/>
              </a:rPr>
              <a:t>“</a:t>
            </a:r>
            <a:r>
              <a:rPr lang="en-US" sz="1800" dirty="0">
                <a:cs typeface="+mn-cs"/>
              </a:rPr>
              <a:t>IPv6 has all the benefit of a minor technology change with all the disruption of a major fork-lift upgrade.</a:t>
            </a:r>
            <a:r>
              <a:rPr lang="ja-JP" altLang="en-US" sz="1800" dirty="0">
                <a:latin typeface="Arial"/>
                <a:cs typeface="+mn-cs"/>
              </a:rPr>
              <a:t>”</a:t>
            </a:r>
            <a:r>
              <a:rPr lang="en-US" sz="1800" dirty="0">
                <a:cs typeface="+mn-cs"/>
              </a:rPr>
              <a:t>  - Geoff Huston, 2008.</a:t>
            </a:r>
          </a:p>
          <a:p>
            <a:pPr lvl="1">
              <a:defRPr/>
            </a:pPr>
            <a:r>
              <a:rPr lang="en-US" sz="1600" dirty="0"/>
              <a:t>Just switch to v6 and all will be well.</a:t>
            </a:r>
          </a:p>
          <a:p>
            <a:pPr>
              <a:defRPr/>
            </a:pPr>
            <a:r>
              <a:rPr lang="en-US" sz="1800" dirty="0">
                <a:cs typeface="+mn-cs"/>
              </a:rPr>
              <a:t>By 2000, aware the architecture is running out of steam</a:t>
            </a:r>
          </a:p>
          <a:p>
            <a:pPr lvl="1">
              <a:defRPr/>
            </a:pPr>
            <a:r>
              <a:rPr lang="en-US" sz="1600" dirty="0"/>
              <a:t>NEWARCH, Clean Slate, FIND and GENI are hot!</a:t>
            </a:r>
          </a:p>
          <a:p>
            <a:pPr lvl="1">
              <a:defRPr/>
            </a:pPr>
            <a:r>
              <a:rPr lang="en-US" sz="1600" dirty="0"/>
              <a:t>Starts to be a lot of talk about </a:t>
            </a:r>
            <a:r>
              <a:rPr lang="en-US" sz="1600" dirty="0" err="1"/>
              <a:t>loc</a:t>
            </a:r>
            <a:r>
              <a:rPr lang="en-US" sz="1600" dirty="0"/>
              <a:t>/id split.</a:t>
            </a:r>
          </a:p>
          <a:p>
            <a:pPr lvl="1">
              <a:defRPr/>
            </a:pPr>
            <a:r>
              <a:rPr lang="en-US" sz="1600" dirty="0"/>
              <a:t>This is clearly the answer . . . . (really?).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736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7363">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2736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2736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2736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27363">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2736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27363">
                                            <p:txEl>
                                              <p:pRg st="7" end="7"/>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2736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2736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27363">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2736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736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39CDE389-2A2E-9347-8A51-621A510A5BF1}" type="datetime3">
              <a:rPr lang="en-US"/>
              <a:pPr>
                <a:defRPr/>
              </a:pPr>
              <a:t>14 January 2026</a:t>
            </a:fld>
            <a:endParaRPr lang="en-US"/>
          </a:p>
        </p:txBody>
      </p:sp>
      <p:sp>
        <p:nvSpPr>
          <p:cNvPr id="5" name="Footer Placeholder 4"/>
          <p:cNvSpPr>
            <a:spLocks noGrp="1"/>
          </p:cNvSpPr>
          <p:nvPr>
            <p:ph type="ftr" sz="quarter" idx="11"/>
          </p:nvPr>
        </p:nvSpPr>
        <p:spPr/>
        <p:txBody>
          <a:bodyPr/>
          <a:lstStyle/>
          <a:p>
            <a:pPr>
              <a:defRPr/>
            </a:pPr>
            <a:r>
              <a:rPr lang="en-US"/>
              <a:t>.</a:t>
            </a:r>
          </a:p>
        </p:txBody>
      </p:sp>
      <p:sp>
        <p:nvSpPr>
          <p:cNvPr id="6" name="Slide Number Placeholder 5"/>
          <p:cNvSpPr>
            <a:spLocks noGrp="1"/>
          </p:cNvSpPr>
          <p:nvPr>
            <p:ph type="sldNum" sz="quarter" idx="12"/>
          </p:nvPr>
        </p:nvSpPr>
        <p:spPr/>
        <p:txBody>
          <a:bodyPr/>
          <a:lstStyle/>
          <a:p>
            <a:pPr>
              <a:defRPr/>
            </a:pPr>
            <a:fld id="{97B78A28-637E-E149-88CA-25D9857C28D0}" type="slidenum">
              <a:rPr lang="en-US"/>
              <a:pPr>
                <a:defRPr/>
              </a:pPr>
              <a:t>24</a:t>
            </a:fld>
            <a:endParaRPr lang="en-US"/>
          </a:p>
        </p:txBody>
      </p:sp>
      <p:sp>
        <p:nvSpPr>
          <p:cNvPr id="529410" name="Rectangle 2"/>
          <p:cNvSpPr>
            <a:spLocks noGrp="1" noChangeArrowheads="1"/>
          </p:cNvSpPr>
          <p:nvPr>
            <p:ph type="title"/>
          </p:nvPr>
        </p:nvSpPr>
        <p:spPr>
          <a:xfrm>
            <a:off x="685800" y="381000"/>
            <a:ext cx="7772400" cy="1143000"/>
          </a:xfrm>
        </p:spPr>
        <p:txBody>
          <a:bodyPr/>
          <a:lstStyle/>
          <a:p>
            <a:pPr>
              <a:defRPr/>
            </a:pPr>
            <a:r>
              <a:rPr lang="en-US" sz="3200">
                <a:cs typeface="+mj-cs"/>
              </a:rPr>
              <a:t>Houston, We Have a Problem</a:t>
            </a:r>
            <a:br>
              <a:rPr lang="en-US" sz="3200">
                <a:cs typeface="+mj-cs"/>
              </a:rPr>
            </a:br>
            <a:r>
              <a:rPr lang="en-US" sz="2000">
                <a:cs typeface="+mj-cs"/>
              </a:rPr>
              <a:t>(The Second Great Internet Addressing Crisis)</a:t>
            </a:r>
            <a:endParaRPr lang="en-US" sz="3200">
              <a:cs typeface="+mj-cs"/>
            </a:endParaRPr>
          </a:p>
        </p:txBody>
      </p:sp>
      <p:sp>
        <p:nvSpPr>
          <p:cNvPr id="529411" name="Rectangle 3"/>
          <p:cNvSpPr>
            <a:spLocks noGrp="1" noChangeArrowheads="1"/>
          </p:cNvSpPr>
          <p:nvPr>
            <p:ph type="body" idx="1"/>
          </p:nvPr>
        </p:nvSpPr>
        <p:spPr>
          <a:xfrm>
            <a:off x="685800" y="2057400"/>
            <a:ext cx="7772400" cy="4114800"/>
          </a:xfrm>
        </p:spPr>
        <p:txBody>
          <a:bodyPr/>
          <a:lstStyle/>
          <a:p>
            <a:pPr>
              <a:defRPr/>
            </a:pPr>
            <a:r>
              <a:rPr lang="en-US" sz="2000" dirty="0">
                <a:cs typeface="+mn-cs"/>
              </a:rPr>
              <a:t>October 2006, major presentation at IEPG.  </a:t>
            </a:r>
          </a:p>
          <a:p>
            <a:pPr lvl="1">
              <a:defRPr/>
            </a:pPr>
            <a:r>
              <a:rPr lang="en-US" sz="1800" dirty="0"/>
              <a:t>Router table size is on the increase, due to </a:t>
            </a:r>
            <a:r>
              <a:rPr lang="en-US" sz="1800" dirty="0" err="1"/>
              <a:t>multihoming</a:t>
            </a:r>
            <a:r>
              <a:rPr lang="en-US" sz="1800" dirty="0"/>
              <a:t>.  </a:t>
            </a:r>
          </a:p>
          <a:p>
            <a:pPr lvl="1">
              <a:defRPr/>
            </a:pPr>
            <a:r>
              <a:rPr lang="en-US" sz="1800" dirty="0"/>
              <a:t>Moore</a:t>
            </a:r>
            <a:r>
              <a:rPr lang="en-US" sz="1800" dirty="0">
                <a:latin typeface="Arial"/>
              </a:rPr>
              <a:t>’</a:t>
            </a:r>
            <a:r>
              <a:rPr lang="en-US" sz="1800" dirty="0"/>
              <a:t>s Law won</a:t>
            </a:r>
            <a:r>
              <a:rPr lang="en-US" sz="1800" dirty="0">
                <a:latin typeface="Arial"/>
              </a:rPr>
              <a:t>’</a:t>
            </a:r>
            <a:r>
              <a:rPr lang="en-US" sz="1800" dirty="0"/>
              <a:t>t bail us out this time.</a:t>
            </a:r>
          </a:p>
          <a:p>
            <a:pPr lvl="2">
              <a:defRPr/>
            </a:pPr>
            <a:r>
              <a:rPr lang="en-US" sz="1600" dirty="0"/>
              <a:t>This is a big-time crisis. We are in big trouble</a:t>
            </a:r>
            <a:r>
              <a:rPr lang="en-US" sz="1400" dirty="0"/>
              <a:t>.</a:t>
            </a:r>
          </a:p>
          <a:p>
            <a:pPr>
              <a:defRPr/>
            </a:pPr>
            <a:r>
              <a:rPr lang="en-US" sz="2000" dirty="0">
                <a:cs typeface="+mn-cs"/>
              </a:rPr>
              <a:t>If not fixed, it is the end of the Internet as we know it.</a:t>
            </a:r>
          </a:p>
          <a:p>
            <a:pPr lvl="1">
              <a:defRPr/>
            </a:pPr>
            <a:r>
              <a:rPr lang="en-US" sz="1800" dirty="0"/>
              <a:t>Net will fragment. Costs in the core will skyrocket.</a:t>
            </a:r>
          </a:p>
          <a:p>
            <a:pPr lvl="1">
              <a:defRPr/>
            </a:pPr>
            <a:r>
              <a:rPr lang="en-US" sz="1800" dirty="0" err="1"/>
              <a:t>NetworkWorld</a:t>
            </a:r>
            <a:r>
              <a:rPr lang="en-US" sz="1800" dirty="0"/>
              <a:t> sits on the story for a year.</a:t>
            </a:r>
          </a:p>
          <a:p>
            <a:pPr lvl="1">
              <a:defRPr/>
            </a:pPr>
            <a:r>
              <a:rPr lang="en-US" sz="1800" dirty="0"/>
              <a:t>Tons of papers written on </a:t>
            </a:r>
            <a:r>
              <a:rPr lang="en-US" sz="1800" dirty="0" err="1"/>
              <a:t>loc</a:t>
            </a:r>
            <a:r>
              <a:rPr lang="en-US" sz="1800" dirty="0"/>
              <a:t>/id split!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941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941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2941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29411">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29411">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29411">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29411">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2941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9411"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p:cNvSpPr>
            <a:spLocks noGrp="1"/>
          </p:cNvSpPr>
          <p:nvPr>
            <p:ph type="dt" sz="quarter" idx="10"/>
          </p:nvPr>
        </p:nvSpPr>
        <p:spPr/>
        <p:txBody>
          <a:bodyPr/>
          <a:lstStyle/>
          <a:p>
            <a:pPr>
              <a:defRPr/>
            </a:pPr>
            <a:fld id="{0F5A7745-3ADB-FA48-AD7C-6AA2D4D2AC95}" type="datetime3">
              <a:rPr lang="en-US"/>
              <a:pPr>
                <a:defRPr/>
              </a:pPr>
              <a:t>14 January 2026</a:t>
            </a:fld>
            <a:endParaRPr lang="en-US"/>
          </a:p>
        </p:txBody>
      </p:sp>
      <p:sp>
        <p:nvSpPr>
          <p:cNvPr id="6" name="Footer Placeholder 4"/>
          <p:cNvSpPr>
            <a:spLocks noGrp="1"/>
          </p:cNvSpPr>
          <p:nvPr>
            <p:ph type="ftr" sz="quarter" idx="11"/>
          </p:nvPr>
        </p:nvSpPr>
        <p:spPr/>
        <p:txBody>
          <a:bodyPr/>
          <a:lstStyle/>
          <a:p>
            <a:pPr>
              <a:defRPr/>
            </a:pPr>
            <a:r>
              <a:rPr lang="en-US"/>
              <a:t>.</a:t>
            </a:r>
          </a:p>
        </p:txBody>
      </p:sp>
      <p:sp>
        <p:nvSpPr>
          <p:cNvPr id="7" name="Slide Number Placeholder 5"/>
          <p:cNvSpPr>
            <a:spLocks noGrp="1"/>
          </p:cNvSpPr>
          <p:nvPr>
            <p:ph type="sldNum" sz="quarter" idx="12"/>
          </p:nvPr>
        </p:nvSpPr>
        <p:spPr/>
        <p:txBody>
          <a:bodyPr/>
          <a:lstStyle/>
          <a:p>
            <a:pPr>
              <a:defRPr/>
            </a:pPr>
            <a:fld id="{C1E435B3-E904-DD4A-9B1D-9B9E2334B5CB}" type="slidenum">
              <a:rPr lang="en-US"/>
              <a:pPr>
                <a:defRPr/>
              </a:pPr>
              <a:t>25</a:t>
            </a:fld>
            <a:endParaRPr lang="en-US"/>
          </a:p>
        </p:txBody>
      </p:sp>
      <p:sp>
        <p:nvSpPr>
          <p:cNvPr id="531458" name="Rectangle 2"/>
          <p:cNvSpPr>
            <a:spLocks noGrp="1" noChangeArrowheads="1"/>
          </p:cNvSpPr>
          <p:nvPr>
            <p:ph type="title"/>
          </p:nvPr>
        </p:nvSpPr>
        <p:spPr/>
        <p:txBody>
          <a:bodyPr/>
          <a:lstStyle/>
          <a:p>
            <a:pPr>
              <a:defRPr/>
            </a:pPr>
            <a:r>
              <a:rPr lang="en-US" sz="3200">
                <a:cs typeface="+mj-cs"/>
              </a:rPr>
              <a:t>But We Do Multihoming!</a:t>
            </a:r>
            <a:br>
              <a:rPr lang="en-US" sz="3200">
                <a:cs typeface="+mj-cs"/>
              </a:rPr>
            </a:br>
            <a:r>
              <a:rPr lang="en-US" sz="2000">
                <a:cs typeface="+mj-cs"/>
              </a:rPr>
              <a:t>(not really)</a:t>
            </a:r>
            <a:endParaRPr lang="en-US" sz="3200">
              <a:cs typeface="+mj-cs"/>
            </a:endParaRPr>
          </a:p>
        </p:txBody>
      </p:sp>
      <p:sp>
        <p:nvSpPr>
          <p:cNvPr id="531459" name="Rectangle 3"/>
          <p:cNvSpPr>
            <a:spLocks noGrp="1" noChangeArrowheads="1"/>
          </p:cNvSpPr>
          <p:nvPr>
            <p:ph type="body" idx="1"/>
          </p:nvPr>
        </p:nvSpPr>
        <p:spPr>
          <a:xfrm>
            <a:off x="685800" y="1905000"/>
            <a:ext cx="7772400" cy="4114800"/>
          </a:xfrm>
        </p:spPr>
        <p:txBody>
          <a:bodyPr/>
          <a:lstStyle/>
          <a:p>
            <a:pPr>
              <a:defRPr/>
            </a:pPr>
            <a:r>
              <a:rPr lang="en-US" sz="2000" dirty="0">
                <a:cs typeface="+mn-cs"/>
              </a:rPr>
              <a:t>We kludge it.</a:t>
            </a:r>
          </a:p>
          <a:p>
            <a:pPr>
              <a:defRPr/>
            </a:pPr>
            <a:r>
              <a:rPr lang="en-US" sz="2000" dirty="0">
                <a:cs typeface="+mn-cs"/>
              </a:rPr>
              <a:t>Because we route on the interface, this forces route aggregation to be provider-based.</a:t>
            </a:r>
          </a:p>
          <a:p>
            <a:pPr lvl="1">
              <a:defRPr/>
            </a:pPr>
            <a:r>
              <a:rPr lang="en-US" sz="1800" dirty="0"/>
              <a:t>Addresses with a common prefix go to the same provider then we can store a single route (to the provider) rather than a route for every address on that provider.</a:t>
            </a:r>
          </a:p>
          <a:p>
            <a:pPr>
              <a:defRPr/>
            </a:pPr>
            <a:r>
              <a:rPr lang="en-US" sz="2000" dirty="0">
                <a:cs typeface="+mn-cs"/>
              </a:rPr>
              <a:t>To do </a:t>
            </a:r>
            <a:r>
              <a:rPr lang="en-US" sz="2000" dirty="0" err="1">
                <a:cs typeface="+mn-cs"/>
              </a:rPr>
              <a:t>multihoming</a:t>
            </a:r>
            <a:r>
              <a:rPr lang="en-US" sz="2000" dirty="0">
                <a:cs typeface="+mn-cs"/>
              </a:rPr>
              <a:t>, must assign provider-independent addresses or new AS numbers </a:t>
            </a:r>
            <a:r>
              <a:rPr lang="en-US" sz="1600" dirty="0">
                <a:cs typeface="+mn-cs"/>
              </a:rPr>
              <a:t>(same thing)</a:t>
            </a:r>
            <a:r>
              <a:rPr lang="en-US" sz="2000" dirty="0">
                <a:cs typeface="+mn-cs"/>
              </a:rPr>
              <a:t>.</a:t>
            </a:r>
          </a:p>
          <a:p>
            <a:pPr lvl="1">
              <a:defRPr/>
            </a:pPr>
            <a:r>
              <a:rPr lang="en-US" sz="1800" dirty="0"/>
              <a:t>Can</a:t>
            </a:r>
            <a:r>
              <a:rPr lang="en-US" sz="1800" dirty="0">
                <a:latin typeface="Arial"/>
              </a:rPr>
              <a:t>’</a:t>
            </a:r>
            <a:r>
              <a:rPr lang="en-US" sz="1800" dirty="0"/>
              <a:t>t be aggregated                Router table size increases</a:t>
            </a:r>
          </a:p>
          <a:p>
            <a:pPr lvl="1">
              <a:defRPr/>
            </a:pPr>
            <a:endParaRPr lang="en-US" sz="2000" dirty="0"/>
          </a:p>
          <a:p>
            <a:pPr lvl="1">
              <a:defRPr/>
            </a:pPr>
            <a:r>
              <a:rPr lang="en-US" sz="1800" dirty="0"/>
              <a:t>Remember what our problem is? Router table size is increasing</a:t>
            </a:r>
          </a:p>
        </p:txBody>
      </p:sp>
      <p:sp>
        <p:nvSpPr>
          <p:cNvPr id="531460" name="AutoShape 4"/>
          <p:cNvSpPr>
            <a:spLocks noChangeArrowheads="1"/>
          </p:cNvSpPr>
          <p:nvPr/>
        </p:nvSpPr>
        <p:spPr bwMode="auto">
          <a:xfrm>
            <a:off x="3505200" y="4572000"/>
            <a:ext cx="609600" cy="228600"/>
          </a:xfrm>
          <a:prstGeom prst="rightArrow">
            <a:avLst>
              <a:gd name="adj1" fmla="val 50000"/>
              <a:gd name="adj2" fmla="val 66667"/>
            </a:avLst>
          </a:prstGeom>
          <a:solidFill>
            <a:schemeClr val="accent1"/>
          </a:solidFill>
          <a:ln w="9525">
            <a:solidFill>
              <a:schemeClr val="tx1"/>
            </a:solidFill>
            <a:miter lim="800000"/>
            <a:headEnd/>
            <a:tailEnd/>
          </a:ln>
        </p:spPr>
        <p:txBody>
          <a:bodyPr wrap="none" anchor="ctr"/>
          <a:lstStyle/>
          <a:p>
            <a:pPr algn="ctr"/>
            <a:r>
              <a:rPr lang="en-US" sz="2400" b="0">
                <a:latin typeface="Arial"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145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145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31459">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31459">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31459">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3146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3145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1459" grpId="0" build="p"/>
      <p:bldP spid="53146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9C931A42-BC7D-9543-8A88-21F7C5AAC0F3}" type="datetime3">
              <a:rPr lang="en-US"/>
              <a:pPr>
                <a:defRPr/>
              </a:pPr>
              <a:t>14 January 2026</a:t>
            </a:fld>
            <a:endParaRPr lang="en-US"/>
          </a:p>
        </p:txBody>
      </p:sp>
      <p:sp>
        <p:nvSpPr>
          <p:cNvPr id="5" name="Footer Placeholder 4"/>
          <p:cNvSpPr>
            <a:spLocks noGrp="1"/>
          </p:cNvSpPr>
          <p:nvPr>
            <p:ph type="ftr" sz="quarter" idx="11"/>
          </p:nvPr>
        </p:nvSpPr>
        <p:spPr/>
        <p:txBody>
          <a:bodyPr/>
          <a:lstStyle/>
          <a:p>
            <a:pPr>
              <a:defRPr/>
            </a:pPr>
            <a:r>
              <a:rPr lang="en-US"/>
              <a:t>.</a:t>
            </a:r>
          </a:p>
        </p:txBody>
      </p:sp>
      <p:sp>
        <p:nvSpPr>
          <p:cNvPr id="6" name="Slide Number Placeholder 5"/>
          <p:cNvSpPr>
            <a:spLocks noGrp="1"/>
          </p:cNvSpPr>
          <p:nvPr>
            <p:ph type="sldNum" sz="quarter" idx="12"/>
          </p:nvPr>
        </p:nvSpPr>
        <p:spPr/>
        <p:txBody>
          <a:bodyPr/>
          <a:lstStyle/>
          <a:p>
            <a:pPr>
              <a:defRPr/>
            </a:pPr>
            <a:fld id="{D16A10D9-B7FC-7547-B131-A2FBD2846793}" type="slidenum">
              <a:rPr lang="en-US"/>
              <a:pPr>
                <a:defRPr/>
              </a:pPr>
              <a:t>26</a:t>
            </a:fld>
            <a:endParaRPr lang="en-US"/>
          </a:p>
        </p:txBody>
      </p:sp>
      <p:sp>
        <p:nvSpPr>
          <p:cNvPr id="533506" name="Rectangle 2"/>
          <p:cNvSpPr>
            <a:spLocks noGrp="1" noChangeArrowheads="1"/>
          </p:cNvSpPr>
          <p:nvPr>
            <p:ph type="title"/>
          </p:nvPr>
        </p:nvSpPr>
        <p:spPr>
          <a:xfrm>
            <a:off x="685800" y="228600"/>
            <a:ext cx="7772400" cy="1143000"/>
          </a:xfrm>
        </p:spPr>
        <p:txBody>
          <a:bodyPr/>
          <a:lstStyle/>
          <a:p>
            <a:pPr>
              <a:defRPr/>
            </a:pPr>
            <a:r>
              <a:rPr lang="en-US" sz="3200" dirty="0">
                <a:cs typeface="+mj-cs"/>
              </a:rPr>
              <a:t>So Why Wasn</a:t>
            </a:r>
            <a:r>
              <a:rPr lang="en-US" sz="3200" dirty="0">
                <a:latin typeface="Arial"/>
                <a:cs typeface="+mj-cs"/>
              </a:rPr>
              <a:t>’</a:t>
            </a:r>
            <a:r>
              <a:rPr lang="en-US" sz="3200" dirty="0">
                <a:cs typeface="+mj-cs"/>
              </a:rPr>
              <a:t>t It Fixed?</a:t>
            </a:r>
          </a:p>
        </p:txBody>
      </p:sp>
      <p:sp>
        <p:nvSpPr>
          <p:cNvPr id="533507" name="Rectangle 3"/>
          <p:cNvSpPr>
            <a:spLocks noGrp="1" noChangeArrowheads="1"/>
          </p:cNvSpPr>
          <p:nvPr>
            <p:ph type="body" idx="1"/>
          </p:nvPr>
        </p:nvSpPr>
        <p:spPr>
          <a:xfrm>
            <a:off x="685800" y="1371600"/>
            <a:ext cx="7772400" cy="4114800"/>
          </a:xfrm>
        </p:spPr>
        <p:txBody>
          <a:bodyPr/>
          <a:lstStyle/>
          <a:p>
            <a:pPr>
              <a:defRPr/>
            </a:pPr>
            <a:r>
              <a:rPr lang="en-US" sz="2000" dirty="0">
                <a:cs typeface="+mn-cs"/>
              </a:rPr>
              <a:t>Odd that a </a:t>
            </a:r>
            <a:r>
              <a:rPr lang="en-US" sz="2000" dirty="0" err="1">
                <a:cs typeface="+mn-cs"/>
              </a:rPr>
              <a:t>DoD</a:t>
            </a:r>
            <a:r>
              <a:rPr lang="en-US" sz="2000" dirty="0">
                <a:cs typeface="+mn-cs"/>
              </a:rPr>
              <a:t> network touted to survive nuclear attack didn</a:t>
            </a:r>
            <a:r>
              <a:rPr lang="en-US" sz="2000" dirty="0">
                <a:latin typeface="Arial"/>
                <a:cs typeface="+mn-cs"/>
              </a:rPr>
              <a:t>’</a:t>
            </a:r>
            <a:r>
              <a:rPr lang="en-US" sz="2000" dirty="0">
                <a:cs typeface="+mn-cs"/>
              </a:rPr>
              <a:t>t support redundant links. Lots of </a:t>
            </a:r>
            <a:r>
              <a:rPr lang="ja-JP" altLang="en-US" sz="2000" dirty="0">
                <a:latin typeface="Arial"/>
                <a:cs typeface="+mn-cs"/>
              </a:rPr>
              <a:t>“</a:t>
            </a:r>
            <a:r>
              <a:rPr lang="en-US" sz="2000" dirty="0">
                <a:cs typeface="+mn-cs"/>
              </a:rPr>
              <a:t>good” reasons:</a:t>
            </a:r>
          </a:p>
          <a:p>
            <a:pPr lvl="1">
              <a:defRPr/>
            </a:pPr>
            <a:r>
              <a:rPr lang="en-US" sz="1800" dirty="0"/>
              <a:t>Not that many hosts need to be multi-homed.</a:t>
            </a:r>
          </a:p>
          <a:p>
            <a:pPr lvl="2">
              <a:defRPr/>
            </a:pPr>
            <a:r>
              <a:rPr lang="en-US" sz="1600" dirty="0"/>
              <a:t>Not then, but the ones that did were the ones everyone wanted to get to.</a:t>
            </a:r>
          </a:p>
          <a:p>
            <a:pPr lvl="1">
              <a:defRPr/>
            </a:pPr>
            <a:r>
              <a:rPr lang="en-US" sz="1800" dirty="0"/>
              <a:t>Not everyone should have to bear the cost for a few.</a:t>
            </a:r>
          </a:p>
          <a:p>
            <a:pPr lvl="2">
              <a:defRPr/>
            </a:pPr>
            <a:r>
              <a:rPr lang="en-US" sz="1600" dirty="0"/>
              <a:t>Classic committee politics: Put a condition on the solution that guarantees any proposal will be rejected (asymmetry in this case)</a:t>
            </a:r>
          </a:p>
          <a:p>
            <a:pPr lvl="2">
              <a:defRPr/>
            </a:pPr>
            <a:r>
              <a:rPr lang="en-US" sz="1600" dirty="0"/>
              <a:t>Also assumes there is a cost.</a:t>
            </a:r>
          </a:p>
          <a:p>
            <a:pPr lvl="1">
              <a:defRPr/>
            </a:pPr>
            <a:r>
              <a:rPr lang="en-US" sz="1800" dirty="0" err="1"/>
              <a:t>Multihoming</a:t>
            </a:r>
            <a:r>
              <a:rPr lang="en-US" sz="1800" dirty="0"/>
              <a:t> will be to different providers, so no point.</a:t>
            </a:r>
          </a:p>
          <a:p>
            <a:pPr lvl="2">
              <a:defRPr/>
            </a:pPr>
            <a:r>
              <a:rPr lang="en-US" sz="1600" dirty="0"/>
              <a:t>Assumption is wrong and even if right assumes a static network.</a:t>
            </a:r>
          </a:p>
          <a:p>
            <a:pPr lvl="1">
              <a:defRPr/>
            </a:pPr>
            <a:r>
              <a:rPr lang="en-US" sz="1800" dirty="0"/>
              <a:t>Remember, we tried to fix it but it was rejected by the IETF.</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350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350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33507">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33507">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33507">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33507">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33507">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33507">
                                            <p:txEl>
                                              <p:pRg st="7" end="7"/>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3350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507"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E513CE29-B7F1-1D42-8ACC-E3ECF7C4A0CD}" type="datetime3">
              <a:rPr lang="en-US"/>
              <a:pPr>
                <a:defRPr/>
              </a:pPr>
              <a:t>14 January 2026</a:t>
            </a:fld>
            <a:endParaRPr lang="en-US"/>
          </a:p>
        </p:txBody>
      </p:sp>
      <p:sp>
        <p:nvSpPr>
          <p:cNvPr id="5" name="Footer Placeholder 4"/>
          <p:cNvSpPr>
            <a:spLocks noGrp="1"/>
          </p:cNvSpPr>
          <p:nvPr>
            <p:ph type="ftr" sz="quarter" idx="11"/>
          </p:nvPr>
        </p:nvSpPr>
        <p:spPr/>
        <p:txBody>
          <a:bodyPr/>
          <a:lstStyle/>
          <a:p>
            <a:pPr>
              <a:defRPr/>
            </a:pPr>
            <a:r>
              <a:rPr lang="en-US"/>
              <a:t>.</a:t>
            </a:r>
          </a:p>
        </p:txBody>
      </p:sp>
      <p:sp>
        <p:nvSpPr>
          <p:cNvPr id="6" name="Slide Number Placeholder 5"/>
          <p:cNvSpPr>
            <a:spLocks noGrp="1"/>
          </p:cNvSpPr>
          <p:nvPr>
            <p:ph type="sldNum" sz="quarter" idx="12"/>
          </p:nvPr>
        </p:nvSpPr>
        <p:spPr/>
        <p:txBody>
          <a:bodyPr/>
          <a:lstStyle/>
          <a:p>
            <a:pPr>
              <a:defRPr/>
            </a:pPr>
            <a:fld id="{8A82926D-7ADA-FA46-BE63-25C3901624C4}" type="slidenum">
              <a:rPr lang="en-US"/>
              <a:pPr>
                <a:defRPr/>
              </a:pPr>
              <a:t>27</a:t>
            </a:fld>
            <a:endParaRPr lang="en-US"/>
          </a:p>
        </p:txBody>
      </p:sp>
      <p:sp>
        <p:nvSpPr>
          <p:cNvPr id="541698" name="Rectangle 2"/>
          <p:cNvSpPr>
            <a:spLocks noGrp="1" noChangeArrowheads="1"/>
          </p:cNvSpPr>
          <p:nvPr>
            <p:ph type="title"/>
          </p:nvPr>
        </p:nvSpPr>
        <p:spPr/>
        <p:txBody>
          <a:bodyPr/>
          <a:lstStyle/>
          <a:p>
            <a:pPr>
              <a:defRPr/>
            </a:pPr>
            <a:r>
              <a:rPr lang="en-US" sz="2000">
                <a:cs typeface="+mj-cs"/>
              </a:rPr>
              <a:t>Apply the e2e principle!</a:t>
            </a:r>
            <a:br>
              <a:rPr lang="en-US" sz="2000">
                <a:cs typeface="+mj-cs"/>
              </a:rPr>
            </a:br>
            <a:r>
              <a:rPr lang="en-US" sz="3200">
                <a:cs typeface="+mj-cs"/>
              </a:rPr>
              <a:t>Solve the Problem in the Hosts</a:t>
            </a:r>
          </a:p>
        </p:txBody>
      </p:sp>
      <p:sp>
        <p:nvSpPr>
          <p:cNvPr id="541699" name="Rectangle 3"/>
          <p:cNvSpPr>
            <a:spLocks noGrp="1" noChangeArrowheads="1"/>
          </p:cNvSpPr>
          <p:nvPr>
            <p:ph type="body" idx="1"/>
          </p:nvPr>
        </p:nvSpPr>
        <p:spPr>
          <a:xfrm>
            <a:off x="685800" y="1905000"/>
            <a:ext cx="7772400" cy="4114800"/>
          </a:xfrm>
        </p:spPr>
        <p:txBody>
          <a:bodyPr/>
          <a:lstStyle/>
          <a:p>
            <a:pPr>
              <a:defRPr/>
            </a:pPr>
            <a:r>
              <a:rPr lang="en-US" sz="2000" dirty="0">
                <a:cs typeface="+mn-cs"/>
              </a:rPr>
              <a:t>There are poor misguided souls claiming this.</a:t>
            </a:r>
          </a:p>
          <a:p>
            <a:pPr lvl="1">
              <a:defRPr/>
            </a:pPr>
            <a:r>
              <a:rPr lang="en-US" sz="1800" dirty="0"/>
              <a:t>Mostly done by changing the definition of </a:t>
            </a:r>
            <a:r>
              <a:rPr lang="en-US" sz="1800" dirty="0" err="1"/>
              <a:t>multihoming</a:t>
            </a:r>
            <a:r>
              <a:rPr lang="en-US" sz="1800" dirty="0"/>
              <a:t>.</a:t>
            </a:r>
          </a:p>
          <a:p>
            <a:pPr>
              <a:defRPr/>
            </a:pPr>
            <a:r>
              <a:rPr lang="en-US" sz="2000" dirty="0" err="1"/>
              <a:t>Multihoming</a:t>
            </a:r>
            <a:r>
              <a:rPr lang="en-US" sz="2000" dirty="0"/>
              <a:t> is for load balancing. . . . . . not.</a:t>
            </a:r>
          </a:p>
          <a:p>
            <a:pPr lvl="1">
              <a:defRPr/>
            </a:pPr>
            <a:r>
              <a:rPr lang="en-US" sz="1800" dirty="0"/>
              <a:t>Ignores that it might take seconds if not minutes to do the failover.</a:t>
            </a:r>
          </a:p>
          <a:p>
            <a:pPr>
              <a:defRPr/>
            </a:pPr>
            <a:r>
              <a:rPr lang="en-US" sz="2000" dirty="0">
                <a:cs typeface="+mn-cs"/>
              </a:rPr>
              <a:t>Remember the fundamental problem is that the network doesn</a:t>
            </a:r>
            <a:r>
              <a:rPr lang="en-US" sz="2000" dirty="0">
                <a:latin typeface="Arial"/>
                <a:cs typeface="+mn-cs"/>
              </a:rPr>
              <a:t>’</a:t>
            </a:r>
            <a:r>
              <a:rPr lang="en-US" sz="2000" dirty="0">
                <a:cs typeface="+mn-cs"/>
              </a:rPr>
              <a:t>t know that two paths go to the same place.</a:t>
            </a:r>
          </a:p>
          <a:p>
            <a:pPr lvl="1">
              <a:defRPr/>
            </a:pPr>
            <a:r>
              <a:rPr lang="en-US" sz="1800" dirty="0"/>
              <a:t>This is a problem of </a:t>
            </a:r>
            <a:r>
              <a:rPr lang="en-US" sz="1800" i="1" dirty="0"/>
              <a:t>delivering</a:t>
            </a:r>
            <a:r>
              <a:rPr lang="en-US" sz="1800" dirty="0"/>
              <a:t>, not sending.</a:t>
            </a:r>
          </a:p>
          <a:p>
            <a:pPr lvl="1">
              <a:defRPr/>
            </a:pPr>
            <a:r>
              <a:rPr lang="en-US" sz="1800" dirty="0"/>
              <a:t>There is no host-based solution.</a:t>
            </a:r>
          </a:p>
          <a:p>
            <a:pPr>
              <a:defRPr/>
            </a:pPr>
            <a:endParaRPr lang="en-US" sz="2000" dirty="0">
              <a:cs typeface="+mn-cs"/>
            </a:endParaRPr>
          </a:p>
          <a:p>
            <a:pPr>
              <a:defRPr/>
            </a:pPr>
            <a:r>
              <a:rPr lang="en-US" sz="2000" dirty="0">
                <a:cs typeface="+mn-cs"/>
              </a:rPr>
              <a:t>There is no solution as long as one routes only on the interface address.  Which means . . . </a:t>
            </a:r>
          </a:p>
          <a:p>
            <a:pPr lvl="1">
              <a:defRPr/>
            </a:pPr>
            <a:r>
              <a:rPr lang="en-US" sz="1600" dirty="0">
                <a:cs typeface="+mn-cs"/>
              </a:rPr>
              <a:t>A Recent PhD thesis analyzed 15 </a:t>
            </a:r>
            <a:r>
              <a:rPr lang="en-US" sz="1600" dirty="0" err="1">
                <a:cs typeface="+mn-cs"/>
              </a:rPr>
              <a:t>loc</a:t>
            </a:r>
            <a:r>
              <a:rPr lang="en-US" sz="1600" dirty="0">
                <a:cs typeface="+mn-cs"/>
              </a:rPr>
              <a:t>/id split proposals and found all were flawed.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169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41699">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4169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41699">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41699">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41699">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41699">
                                            <p:txEl>
                                              <p:pRg st="6" end="6"/>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41699">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4169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1699"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E6E45488-E829-9F4B-B53E-B21CDCA498CB}" type="datetime3">
              <a:rPr lang="en-US"/>
              <a:pPr>
                <a:defRPr/>
              </a:pPr>
              <a:t>14 January 2026</a:t>
            </a:fld>
            <a:endParaRPr lang="en-US"/>
          </a:p>
        </p:txBody>
      </p:sp>
      <p:sp>
        <p:nvSpPr>
          <p:cNvPr id="5" name="Footer Placeholder 4"/>
          <p:cNvSpPr>
            <a:spLocks noGrp="1"/>
          </p:cNvSpPr>
          <p:nvPr>
            <p:ph type="ftr" sz="quarter" idx="11"/>
          </p:nvPr>
        </p:nvSpPr>
        <p:spPr/>
        <p:txBody>
          <a:bodyPr/>
          <a:lstStyle/>
          <a:p>
            <a:pPr>
              <a:defRPr/>
            </a:pPr>
            <a:r>
              <a:rPr lang="en-US"/>
              <a:t>.</a:t>
            </a:r>
          </a:p>
        </p:txBody>
      </p:sp>
      <p:sp>
        <p:nvSpPr>
          <p:cNvPr id="6" name="Slide Number Placeholder 5"/>
          <p:cNvSpPr>
            <a:spLocks noGrp="1"/>
          </p:cNvSpPr>
          <p:nvPr>
            <p:ph type="sldNum" sz="quarter" idx="12"/>
          </p:nvPr>
        </p:nvSpPr>
        <p:spPr/>
        <p:txBody>
          <a:bodyPr/>
          <a:lstStyle/>
          <a:p>
            <a:pPr>
              <a:defRPr/>
            </a:pPr>
            <a:fld id="{22DB9D24-896D-6B42-8281-7A36A3B3FBF7}" type="slidenum">
              <a:rPr lang="en-US"/>
              <a:pPr>
                <a:defRPr/>
              </a:pPr>
              <a:t>28</a:t>
            </a:fld>
            <a:endParaRPr lang="en-US"/>
          </a:p>
        </p:txBody>
      </p:sp>
      <p:sp>
        <p:nvSpPr>
          <p:cNvPr id="535554" name="Rectangle 2"/>
          <p:cNvSpPr>
            <a:spLocks noGrp="1" noChangeArrowheads="1"/>
          </p:cNvSpPr>
          <p:nvPr>
            <p:ph type="title"/>
          </p:nvPr>
        </p:nvSpPr>
        <p:spPr>
          <a:xfrm>
            <a:off x="685800" y="381000"/>
            <a:ext cx="7772400" cy="1371600"/>
          </a:xfrm>
        </p:spPr>
        <p:txBody>
          <a:bodyPr/>
          <a:lstStyle/>
          <a:p>
            <a:pPr>
              <a:defRPr/>
            </a:pPr>
            <a:r>
              <a:rPr lang="en-US" sz="3200">
                <a:cs typeface="+mj-cs"/>
              </a:rPr>
              <a:t>But By This Time</a:t>
            </a:r>
          </a:p>
        </p:txBody>
      </p:sp>
      <p:sp>
        <p:nvSpPr>
          <p:cNvPr id="535555" name="Rectangle 3"/>
          <p:cNvSpPr>
            <a:spLocks noGrp="1" noChangeArrowheads="1"/>
          </p:cNvSpPr>
          <p:nvPr>
            <p:ph type="body" idx="1"/>
          </p:nvPr>
        </p:nvSpPr>
        <p:spPr>
          <a:xfrm>
            <a:off x="685800" y="1371600"/>
            <a:ext cx="7772400" cy="4114800"/>
          </a:xfrm>
        </p:spPr>
        <p:txBody>
          <a:bodyPr/>
          <a:lstStyle/>
          <a:p>
            <a:pPr>
              <a:defRPr/>
            </a:pPr>
            <a:r>
              <a:rPr lang="en-US" sz="2400">
                <a:cs typeface="+mn-cs"/>
              </a:rPr>
              <a:t>Cisco and others start proposing solutions to the multihoming problem.</a:t>
            </a:r>
          </a:p>
          <a:p>
            <a:pPr lvl="1">
              <a:defRPr/>
            </a:pPr>
            <a:r>
              <a:rPr lang="en-US" sz="2000"/>
              <a:t>Mostly requiring patches involving NATs and a bevy of new protocols.</a:t>
            </a:r>
          </a:p>
          <a:p>
            <a:pPr lvl="1">
              <a:defRPr/>
            </a:pPr>
            <a:r>
              <a:rPr lang="en-US" sz="2000"/>
              <a:t>In particular, LISP or Loc/ID Split Protocol</a:t>
            </a:r>
          </a:p>
          <a:p>
            <a:pPr lvl="2">
              <a:defRPr/>
            </a:pPr>
            <a:r>
              <a:rPr lang="en-US" sz="1800"/>
              <a:t>This makes everyone nervous, but what else to do?</a:t>
            </a:r>
          </a:p>
          <a:p>
            <a:pPr>
              <a:defRPr/>
            </a:pPr>
            <a:r>
              <a:rPr lang="en-US" sz="2400">
                <a:cs typeface="+mn-cs"/>
              </a:rPr>
              <a:t>This is a crisis!</a:t>
            </a:r>
          </a:p>
          <a:p>
            <a:pPr lvl="2">
              <a:defRPr/>
            </a:pPr>
            <a:r>
              <a:rPr lang="en-US" sz="2000"/>
              <a:t>Best way known to stampede people to your view.</a:t>
            </a:r>
          </a:p>
          <a:p>
            <a:pPr>
              <a:defRPr/>
            </a:pPr>
            <a:endParaRPr lang="en-US" sz="2400">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C7E5F64B-B094-A44C-A718-0CCA91DA0E38}" type="datetime3">
              <a:rPr lang="en-US"/>
              <a:pPr>
                <a:defRPr/>
              </a:pPr>
              <a:t>14 January 2026</a:t>
            </a:fld>
            <a:endParaRPr lang="en-US"/>
          </a:p>
        </p:txBody>
      </p:sp>
      <p:sp>
        <p:nvSpPr>
          <p:cNvPr id="5" name="Footer Placeholder 4"/>
          <p:cNvSpPr>
            <a:spLocks noGrp="1"/>
          </p:cNvSpPr>
          <p:nvPr>
            <p:ph type="ftr" sz="quarter" idx="11"/>
          </p:nvPr>
        </p:nvSpPr>
        <p:spPr/>
        <p:txBody>
          <a:bodyPr/>
          <a:lstStyle/>
          <a:p>
            <a:pPr>
              <a:defRPr/>
            </a:pPr>
            <a:r>
              <a:rPr lang="en-US"/>
              <a:t>.</a:t>
            </a:r>
          </a:p>
        </p:txBody>
      </p:sp>
      <p:sp>
        <p:nvSpPr>
          <p:cNvPr id="6" name="Slide Number Placeholder 5"/>
          <p:cNvSpPr>
            <a:spLocks noGrp="1"/>
          </p:cNvSpPr>
          <p:nvPr>
            <p:ph type="sldNum" sz="quarter" idx="12"/>
          </p:nvPr>
        </p:nvSpPr>
        <p:spPr/>
        <p:txBody>
          <a:bodyPr/>
          <a:lstStyle/>
          <a:p>
            <a:pPr>
              <a:defRPr/>
            </a:pPr>
            <a:fld id="{E562D398-4060-6D4E-983C-C0E394A12183}" type="slidenum">
              <a:rPr lang="en-US"/>
              <a:pPr>
                <a:defRPr/>
              </a:pPr>
              <a:t>29</a:t>
            </a:fld>
            <a:endParaRPr lang="en-US"/>
          </a:p>
        </p:txBody>
      </p:sp>
      <p:sp>
        <p:nvSpPr>
          <p:cNvPr id="537602" name="Rectangle 2"/>
          <p:cNvSpPr>
            <a:spLocks noGrp="1" noChangeArrowheads="1"/>
          </p:cNvSpPr>
          <p:nvPr>
            <p:ph type="title"/>
          </p:nvPr>
        </p:nvSpPr>
        <p:spPr/>
        <p:txBody>
          <a:bodyPr/>
          <a:lstStyle/>
          <a:p>
            <a:pPr>
              <a:defRPr/>
            </a:pPr>
            <a:r>
              <a:rPr lang="en-US" sz="3200">
                <a:cs typeface="+mj-cs"/>
              </a:rPr>
              <a:t>November 2008</a:t>
            </a:r>
            <a:br>
              <a:rPr lang="en-US" sz="3200">
                <a:cs typeface="+mj-cs"/>
              </a:rPr>
            </a:br>
            <a:r>
              <a:rPr lang="en-US" sz="3200">
                <a:cs typeface="+mj-cs"/>
              </a:rPr>
              <a:t>Houston, We have a Bigger Problem</a:t>
            </a:r>
            <a:endParaRPr lang="en-US">
              <a:cs typeface="+mj-cs"/>
            </a:endParaRPr>
          </a:p>
        </p:txBody>
      </p:sp>
      <p:sp>
        <p:nvSpPr>
          <p:cNvPr id="537603" name="Rectangle 3"/>
          <p:cNvSpPr>
            <a:spLocks noGrp="1" noChangeArrowheads="1"/>
          </p:cNvSpPr>
          <p:nvPr>
            <p:ph type="body" idx="1"/>
          </p:nvPr>
        </p:nvSpPr>
        <p:spPr/>
        <p:txBody>
          <a:bodyPr/>
          <a:lstStyle/>
          <a:p>
            <a:pPr>
              <a:defRPr/>
            </a:pPr>
            <a:r>
              <a:rPr lang="en-US" sz="2000" dirty="0">
                <a:cs typeface="+mn-cs"/>
              </a:rPr>
              <a:t>A Guy from Cisco calls, </a:t>
            </a:r>
            <a:r>
              <a:rPr lang="ja-JP" altLang="en-US" sz="2000" dirty="0">
                <a:latin typeface="Arial"/>
                <a:cs typeface="+mn-cs"/>
              </a:rPr>
              <a:t>‘</a:t>
            </a:r>
            <a:r>
              <a:rPr lang="en-US" sz="2000" dirty="0">
                <a:cs typeface="+mn-cs"/>
              </a:rPr>
              <a:t>I have an </a:t>
            </a:r>
            <a:r>
              <a:rPr lang="ja-JP" altLang="en-US" sz="2000" dirty="0">
                <a:latin typeface="Arial"/>
                <a:cs typeface="+mn-cs"/>
              </a:rPr>
              <a:t>“</a:t>
            </a:r>
            <a:r>
              <a:rPr lang="en-US" sz="2000" dirty="0">
                <a:cs typeface="+mn-cs"/>
              </a:rPr>
              <a:t>architectural issue</a:t>
            </a:r>
            <a:r>
              <a:rPr lang="ja-JP" altLang="en-US" sz="2000" dirty="0">
                <a:latin typeface="Arial"/>
                <a:cs typeface="+mn-cs"/>
              </a:rPr>
              <a:t>”</a:t>
            </a:r>
            <a:r>
              <a:rPr lang="en-US" sz="2000" dirty="0">
                <a:cs typeface="+mn-cs"/>
              </a:rPr>
              <a:t> to discuss.</a:t>
            </a:r>
            <a:r>
              <a:rPr lang="ja-JP" altLang="en-US" sz="2000" dirty="0">
                <a:latin typeface="Arial"/>
                <a:cs typeface="+mn-cs"/>
              </a:rPr>
              <a:t>’</a:t>
            </a:r>
            <a:endParaRPr lang="en-US" sz="2000" dirty="0">
              <a:cs typeface="+mn-cs"/>
            </a:endParaRPr>
          </a:p>
          <a:p>
            <a:pPr lvl="1">
              <a:defRPr/>
            </a:pPr>
            <a:r>
              <a:rPr lang="en-US" sz="1800" dirty="0"/>
              <a:t>He has come across two problems in implementing LISP.</a:t>
            </a:r>
          </a:p>
          <a:p>
            <a:pPr lvl="1">
              <a:defRPr/>
            </a:pPr>
            <a:r>
              <a:rPr lang="en-US" sz="1800" dirty="0"/>
              <a:t>Both require doing path discovery.</a:t>
            </a:r>
          </a:p>
          <a:p>
            <a:pPr lvl="1">
              <a:defRPr/>
            </a:pPr>
            <a:r>
              <a:rPr lang="en-US" sz="1800" dirty="0"/>
              <a:t>Path discovery doesn</a:t>
            </a:r>
            <a:r>
              <a:rPr lang="en-US" sz="1800" dirty="0">
                <a:latin typeface="Arial"/>
              </a:rPr>
              <a:t>’</a:t>
            </a:r>
            <a:r>
              <a:rPr lang="en-US" sz="1800" dirty="0"/>
              <a:t>t scale.  LISP won</a:t>
            </a:r>
            <a:r>
              <a:rPr lang="en-US" sz="1800" dirty="0">
                <a:latin typeface="Arial"/>
              </a:rPr>
              <a:t>’</a:t>
            </a:r>
            <a:r>
              <a:rPr lang="en-US" sz="1800" dirty="0"/>
              <a:t>t scale.  QED</a:t>
            </a:r>
          </a:p>
          <a:p>
            <a:pPr lvl="1">
              <a:defRPr/>
            </a:pPr>
            <a:r>
              <a:rPr lang="en-US" sz="1800" dirty="0"/>
              <a:t>He suspects that any </a:t>
            </a:r>
            <a:r>
              <a:rPr lang="en-US" sz="1800" dirty="0" err="1"/>
              <a:t>loc</a:t>
            </a:r>
            <a:r>
              <a:rPr lang="en-US" sz="1800" dirty="0"/>
              <a:t>/id approach will have the same problem</a:t>
            </a:r>
            <a:r>
              <a:rPr lang="en-US" sz="2000" dirty="0"/>
              <a:t>.</a:t>
            </a:r>
          </a:p>
          <a:p>
            <a:pPr lvl="2">
              <a:defRPr/>
            </a:pPr>
            <a:r>
              <a:rPr lang="en-US" sz="1600" dirty="0"/>
              <a:t>draft-meyer-loc-id-implications-01.txt</a:t>
            </a:r>
          </a:p>
          <a:p>
            <a:pPr lvl="2">
              <a:defRPr/>
            </a:pPr>
            <a:r>
              <a:rPr lang="en-US" sz="1600" dirty="0"/>
              <a:t>In case you didn</a:t>
            </a:r>
            <a:r>
              <a:rPr lang="en-US" sz="1600" dirty="0">
                <a:latin typeface="Arial"/>
              </a:rPr>
              <a:t>’</a:t>
            </a:r>
            <a:r>
              <a:rPr lang="en-US" sz="1600" dirty="0"/>
              <a:t>t notice, we just went to DefCon1</a:t>
            </a:r>
          </a:p>
          <a:p>
            <a:pPr>
              <a:defRPr/>
            </a:pPr>
            <a:r>
              <a:rPr lang="en-US" sz="2000" dirty="0">
                <a:cs typeface="+mn-cs"/>
              </a:rPr>
              <a:t>Why hasn</a:t>
            </a:r>
            <a:r>
              <a:rPr lang="en-US" sz="2000" dirty="0">
                <a:latin typeface="Arial"/>
                <a:cs typeface="+mn-cs"/>
              </a:rPr>
              <a:t>’</a:t>
            </a:r>
            <a:r>
              <a:rPr lang="en-US" sz="2000" dirty="0">
                <a:cs typeface="+mn-cs"/>
              </a:rPr>
              <a:t>t anyone noticed this in the last 15 years?</a:t>
            </a:r>
          </a:p>
          <a:p>
            <a:pPr>
              <a:defRPr/>
            </a:pPr>
            <a:r>
              <a:rPr lang="en-US" sz="2000" dirty="0">
                <a:cs typeface="+mn-cs"/>
              </a:rPr>
              <a:t>Because they didn</a:t>
            </a:r>
            <a:r>
              <a:rPr lang="en-US" sz="2000" dirty="0">
                <a:latin typeface="Arial"/>
                <a:cs typeface="+mn-cs"/>
              </a:rPr>
              <a:t>’</a:t>
            </a:r>
            <a:r>
              <a:rPr lang="en-US" sz="2000" dirty="0">
                <a:cs typeface="+mn-cs"/>
              </a:rPr>
              <a:t>t want to?  ;-)</a:t>
            </a:r>
          </a:p>
          <a:p>
            <a:pPr>
              <a:defRPr/>
            </a:pPr>
            <a:endParaRPr lang="en-US" sz="2000" dirty="0">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760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760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3760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3760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3760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3760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37603">
                                            <p:txEl>
                                              <p:pRg st="6" end="6"/>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37603">
                                            <p:txEl>
                                              <p:pRg st="7" end="7"/>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3760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760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FDA32BF-DAB0-FF12-4970-896B5D05ABA1}"/>
              </a:ext>
            </a:extLst>
          </p:cNvPr>
          <p:cNvSpPr>
            <a:spLocks noGrp="1"/>
          </p:cNvSpPr>
          <p:nvPr>
            <p:ph type="dt" sz="half" idx="10"/>
          </p:nvPr>
        </p:nvSpPr>
        <p:spPr/>
        <p:txBody>
          <a:bodyPr/>
          <a:lstStyle/>
          <a:p>
            <a:pPr>
              <a:defRPr/>
            </a:pPr>
            <a:fld id="{07F1AB86-1AD0-824F-BC17-575697053103}" type="datetime3">
              <a:rPr lang="en-US" smtClean="0"/>
              <a:pPr>
                <a:defRPr/>
              </a:pPr>
              <a:t>14 January 2026</a:t>
            </a:fld>
            <a:endParaRPr lang="en-US"/>
          </a:p>
        </p:txBody>
      </p:sp>
      <p:sp>
        <p:nvSpPr>
          <p:cNvPr id="5" name="Footer Placeholder 4">
            <a:extLst>
              <a:ext uri="{FF2B5EF4-FFF2-40B4-BE49-F238E27FC236}">
                <a16:creationId xmlns:a16="http://schemas.microsoft.com/office/drawing/2014/main" id="{EFF7376B-95C0-94D4-D0AD-B3AD9A4CC76B}"/>
              </a:ext>
            </a:extLst>
          </p:cNvPr>
          <p:cNvSpPr>
            <a:spLocks noGrp="1"/>
          </p:cNvSpPr>
          <p:nvPr>
            <p:ph type="ftr" sz="quarter" idx="11"/>
          </p:nvPr>
        </p:nvSpPr>
        <p:spPr/>
        <p:txBody>
          <a:bodyPr/>
          <a:lstStyle/>
          <a:p>
            <a:pPr>
              <a:defRPr/>
            </a:pPr>
            <a:r>
              <a:rPr lang="en-US"/>
              <a:t>.</a:t>
            </a:r>
          </a:p>
        </p:txBody>
      </p:sp>
      <p:sp>
        <p:nvSpPr>
          <p:cNvPr id="6" name="Slide Number Placeholder 5">
            <a:extLst>
              <a:ext uri="{FF2B5EF4-FFF2-40B4-BE49-F238E27FC236}">
                <a16:creationId xmlns:a16="http://schemas.microsoft.com/office/drawing/2014/main" id="{3A528B0C-5A3A-415C-50E1-103178AEF262}"/>
              </a:ext>
            </a:extLst>
          </p:cNvPr>
          <p:cNvSpPr>
            <a:spLocks noGrp="1"/>
          </p:cNvSpPr>
          <p:nvPr>
            <p:ph type="sldNum" sz="quarter" idx="12"/>
          </p:nvPr>
        </p:nvSpPr>
        <p:spPr/>
        <p:txBody>
          <a:bodyPr/>
          <a:lstStyle/>
          <a:p>
            <a:pPr>
              <a:defRPr/>
            </a:pPr>
            <a:fld id="{387784B1-C076-7041-9578-8D2F54B7CB27}" type="slidenum">
              <a:rPr lang="en-US" smtClean="0"/>
              <a:pPr>
                <a:defRPr/>
              </a:pPr>
              <a:t>30</a:t>
            </a:fld>
            <a:endParaRPr lang="en-US"/>
          </a:p>
        </p:txBody>
      </p:sp>
      <p:sp>
        <p:nvSpPr>
          <p:cNvPr id="7" name="Title 1">
            <a:extLst>
              <a:ext uri="{FF2B5EF4-FFF2-40B4-BE49-F238E27FC236}">
                <a16:creationId xmlns:a16="http://schemas.microsoft.com/office/drawing/2014/main" id="{4D930DD3-56CA-36BD-BB6C-FE70D2D6AD1F}"/>
              </a:ext>
            </a:extLst>
          </p:cNvPr>
          <p:cNvSpPr>
            <a:spLocks noGrp="1"/>
          </p:cNvSpPr>
          <p:nvPr>
            <p:ph type="title"/>
          </p:nvPr>
        </p:nvSpPr>
        <p:spPr>
          <a:xfrm>
            <a:off x="457200" y="274638"/>
            <a:ext cx="8229600" cy="1143000"/>
          </a:xfrm>
        </p:spPr>
        <p:txBody>
          <a:bodyPr/>
          <a:lstStyle/>
          <a:p>
            <a:r>
              <a:rPr lang="en-US" sz="2800" dirty="0"/>
              <a:t>What is </a:t>
            </a:r>
            <a:r>
              <a:rPr lang="en-US" sz="2800" dirty="0" err="1"/>
              <a:t>Loc</a:t>
            </a:r>
            <a:r>
              <a:rPr lang="en-US" sz="2800" dirty="0"/>
              <a:t>/ID Suppose to be about?</a:t>
            </a:r>
          </a:p>
        </p:txBody>
      </p:sp>
      <p:sp>
        <p:nvSpPr>
          <p:cNvPr id="8" name="Content Placeholder 2">
            <a:extLst>
              <a:ext uri="{FF2B5EF4-FFF2-40B4-BE49-F238E27FC236}">
                <a16:creationId xmlns:a16="http://schemas.microsoft.com/office/drawing/2014/main" id="{5BD5E53E-6F62-C6DC-E584-A12805BD5B1E}"/>
              </a:ext>
            </a:extLst>
          </p:cNvPr>
          <p:cNvSpPr>
            <a:spLocks noGrp="1"/>
          </p:cNvSpPr>
          <p:nvPr>
            <p:ph idx="1"/>
          </p:nvPr>
        </p:nvSpPr>
        <p:spPr>
          <a:xfrm>
            <a:off x="685800" y="2491145"/>
            <a:ext cx="8229600" cy="3985855"/>
          </a:xfrm>
        </p:spPr>
        <p:txBody>
          <a:bodyPr>
            <a:normAutofit fontScale="62500" lnSpcReduction="20000"/>
          </a:bodyPr>
          <a:lstStyle/>
          <a:p>
            <a:r>
              <a:rPr lang="en-US" dirty="0"/>
              <a:t>The idea is to divide the IPv6 address in two:</a:t>
            </a:r>
          </a:p>
          <a:p>
            <a:pPr lvl="1"/>
            <a:r>
              <a:rPr lang="en-US" dirty="0"/>
              <a:t>Locator </a:t>
            </a:r>
            <a:r>
              <a:rPr lang="mr-IN" dirty="0"/>
              <a:t>–</a:t>
            </a:r>
            <a:r>
              <a:rPr lang="en-US" dirty="0"/>
              <a:t> that is </a:t>
            </a:r>
            <a:r>
              <a:rPr lang="en-US" dirty="0" err="1"/>
              <a:t>aggregateable</a:t>
            </a:r>
            <a:r>
              <a:rPr lang="en-US" dirty="0"/>
              <a:t> and used for routing to an interface.</a:t>
            </a:r>
          </a:p>
          <a:p>
            <a:pPr lvl="1"/>
            <a:r>
              <a:rPr lang="en-US" dirty="0"/>
              <a:t>Endpoint-id </a:t>
            </a:r>
            <a:r>
              <a:rPr lang="mr-IN" dirty="0"/>
              <a:t>–</a:t>
            </a:r>
            <a:r>
              <a:rPr lang="en-US" dirty="0"/>
              <a:t> that is a globally flat-identifier</a:t>
            </a:r>
          </a:p>
          <a:p>
            <a:pPr lvl="2"/>
            <a:r>
              <a:rPr lang="en-US" dirty="0"/>
              <a:t>There is no concise definition of what the EID names.</a:t>
            </a:r>
          </a:p>
          <a:p>
            <a:r>
              <a:rPr lang="en-US" dirty="0"/>
              <a:t>Interfaces on the same host have different Locators, but the same EID.</a:t>
            </a:r>
          </a:p>
          <a:p>
            <a:pPr lvl="1">
              <a:tabLst>
                <a:tab pos="1539875" algn="l"/>
              </a:tabLst>
            </a:pPr>
            <a:r>
              <a:rPr lang="en-US" dirty="0"/>
              <a:t>The old Network/Host distinction but with with CIDR and different semantics.</a:t>
            </a:r>
          </a:p>
          <a:p>
            <a:r>
              <a:rPr lang="en-US" dirty="0"/>
              <a:t>If an interface goes down, one simply looks for an interface with the same EID.</a:t>
            </a:r>
          </a:p>
          <a:p>
            <a:r>
              <a:rPr lang="en-US" dirty="0"/>
              <a:t>How do you find a host or router with the same EID?</a:t>
            </a:r>
          </a:p>
          <a:p>
            <a:pPr lvl="1"/>
            <a:r>
              <a:rPr lang="en-US" dirty="0"/>
              <a:t>A Flat EID space implies exhaustive search is about the only way.</a:t>
            </a:r>
          </a:p>
          <a:p>
            <a:pPr lvl="1"/>
            <a:r>
              <a:rPr lang="en-US" dirty="0"/>
              <a:t>Find a route that ends with an address with that EID.</a:t>
            </a:r>
          </a:p>
          <a:p>
            <a:pPr lvl="1"/>
            <a:r>
              <a:rPr lang="en-US" dirty="0"/>
              <a:t>That is path discovery requires exhaustive search and that doesn’t scale.</a:t>
            </a:r>
          </a:p>
          <a:p>
            <a:pPr lvl="1"/>
            <a:r>
              <a:rPr lang="en-US" dirty="0"/>
              <a:t>Eventually, they conclude that the EID had to be </a:t>
            </a:r>
            <a:r>
              <a:rPr lang="en-US" dirty="0" err="1"/>
              <a:t>aggregateable</a:t>
            </a:r>
            <a:r>
              <a:rPr lang="en-US" dirty="0"/>
              <a:t>.</a:t>
            </a:r>
          </a:p>
          <a:p>
            <a:pPr lvl="1"/>
            <a:r>
              <a:rPr lang="en-US" dirty="0"/>
              <a:t>Loc/Loc?</a:t>
            </a:r>
          </a:p>
          <a:p>
            <a:pPr lvl="1"/>
            <a:endParaRPr lang="en-US" dirty="0"/>
          </a:p>
        </p:txBody>
      </p:sp>
      <p:grpSp>
        <p:nvGrpSpPr>
          <p:cNvPr id="9" name="Group 8">
            <a:extLst>
              <a:ext uri="{FF2B5EF4-FFF2-40B4-BE49-F238E27FC236}">
                <a16:creationId xmlns:a16="http://schemas.microsoft.com/office/drawing/2014/main" id="{6438876E-1F24-3057-78AC-37363DC9214A}"/>
              </a:ext>
            </a:extLst>
          </p:cNvPr>
          <p:cNvGrpSpPr/>
          <p:nvPr/>
        </p:nvGrpSpPr>
        <p:grpSpPr>
          <a:xfrm>
            <a:off x="2298700" y="1274048"/>
            <a:ext cx="4610100" cy="881063"/>
            <a:chOff x="2298700" y="1417637"/>
            <a:chExt cx="4610100" cy="881063"/>
          </a:xfrm>
        </p:grpSpPr>
        <p:sp>
          <p:nvSpPr>
            <p:cNvPr id="10" name="Rectangle 9">
              <a:extLst>
                <a:ext uri="{FF2B5EF4-FFF2-40B4-BE49-F238E27FC236}">
                  <a16:creationId xmlns:a16="http://schemas.microsoft.com/office/drawing/2014/main" id="{850724A5-130A-E508-02A1-CB8E23225F90}"/>
                </a:ext>
              </a:extLst>
            </p:cNvPr>
            <p:cNvSpPr/>
            <p:nvPr/>
          </p:nvSpPr>
          <p:spPr>
            <a:xfrm>
              <a:off x="2298700" y="1752600"/>
              <a:ext cx="4610100" cy="546100"/>
            </a:xfrm>
            <a:prstGeom prst="rect">
              <a:avLst/>
            </a:prstGeom>
            <a:noFill/>
            <a:ln>
              <a:solidFill>
                <a:schemeClr val="tx1">
                  <a:lumMod val="95000"/>
                  <a:lumOff val="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DF372147-7279-C564-5388-CEA5B887E83F}"/>
                </a:ext>
              </a:extLst>
            </p:cNvPr>
            <p:cNvCxnSpPr>
              <a:stCxn id="10" idx="0"/>
              <a:endCxn id="10" idx="2"/>
            </p:cNvCxnSpPr>
            <p:nvPr/>
          </p:nvCxnSpPr>
          <p:spPr>
            <a:xfrm>
              <a:off x="4603750" y="1752600"/>
              <a:ext cx="0" cy="546100"/>
            </a:xfrm>
            <a:prstGeom prst="line">
              <a:avLst/>
            </a:prstGeom>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2DDCD7B9-BD93-2D28-ABF6-F9DB1C0F2816}"/>
                </a:ext>
              </a:extLst>
            </p:cNvPr>
            <p:cNvSpPr txBox="1"/>
            <p:nvPr/>
          </p:nvSpPr>
          <p:spPr>
            <a:xfrm>
              <a:off x="3937000" y="1417637"/>
              <a:ext cx="1147219" cy="307777"/>
            </a:xfrm>
            <a:prstGeom prst="rect">
              <a:avLst/>
            </a:prstGeom>
            <a:noFill/>
          </p:spPr>
          <p:txBody>
            <a:bodyPr wrap="none" rtlCol="0">
              <a:spAutoFit/>
            </a:bodyPr>
            <a:lstStyle/>
            <a:p>
              <a:r>
                <a:rPr lang="en-US" sz="1400" dirty="0">
                  <a:latin typeface="Times New Roman"/>
                  <a:cs typeface="Times New Roman"/>
                </a:rPr>
                <a:t>IPv6 Address</a:t>
              </a:r>
            </a:p>
          </p:txBody>
        </p:sp>
        <p:sp>
          <p:nvSpPr>
            <p:cNvPr id="13" name="TextBox 12">
              <a:extLst>
                <a:ext uri="{FF2B5EF4-FFF2-40B4-BE49-F238E27FC236}">
                  <a16:creationId xmlns:a16="http://schemas.microsoft.com/office/drawing/2014/main" id="{2566E2F4-7FC5-F678-DB68-A8A0A6991702}"/>
                </a:ext>
              </a:extLst>
            </p:cNvPr>
            <p:cNvSpPr txBox="1"/>
            <p:nvPr/>
          </p:nvSpPr>
          <p:spPr>
            <a:xfrm>
              <a:off x="2959100" y="1847334"/>
              <a:ext cx="748923" cy="307777"/>
            </a:xfrm>
            <a:prstGeom prst="rect">
              <a:avLst/>
            </a:prstGeom>
            <a:noFill/>
          </p:spPr>
          <p:txBody>
            <a:bodyPr wrap="none" rtlCol="0">
              <a:spAutoFit/>
            </a:bodyPr>
            <a:lstStyle/>
            <a:p>
              <a:r>
                <a:rPr lang="en-US" sz="1400" dirty="0">
                  <a:latin typeface="Times New Roman"/>
                  <a:cs typeface="Times New Roman"/>
                </a:rPr>
                <a:t>Locator</a:t>
              </a:r>
            </a:p>
          </p:txBody>
        </p:sp>
        <p:sp>
          <p:nvSpPr>
            <p:cNvPr id="14" name="TextBox 13">
              <a:extLst>
                <a:ext uri="{FF2B5EF4-FFF2-40B4-BE49-F238E27FC236}">
                  <a16:creationId xmlns:a16="http://schemas.microsoft.com/office/drawing/2014/main" id="{CA1B6C7B-2C5F-C8A9-4AFE-46C5F352CBB3}"/>
                </a:ext>
              </a:extLst>
            </p:cNvPr>
            <p:cNvSpPr txBox="1"/>
            <p:nvPr/>
          </p:nvSpPr>
          <p:spPr>
            <a:xfrm>
              <a:off x="5084219" y="1860034"/>
              <a:ext cx="1515847" cy="307777"/>
            </a:xfrm>
            <a:prstGeom prst="rect">
              <a:avLst/>
            </a:prstGeom>
            <a:noFill/>
          </p:spPr>
          <p:txBody>
            <a:bodyPr wrap="none" rtlCol="0">
              <a:spAutoFit/>
            </a:bodyPr>
            <a:lstStyle/>
            <a:p>
              <a:r>
                <a:rPr lang="en-US" sz="1400" dirty="0">
                  <a:latin typeface="Times New Roman"/>
                  <a:cs typeface="Times New Roman"/>
                </a:rPr>
                <a:t>Endpoint-Id (EID)</a:t>
              </a:r>
            </a:p>
          </p:txBody>
        </p:sp>
      </p:grpSp>
    </p:spTree>
    <p:extLst>
      <p:ext uri="{BB962C8B-B14F-4D97-AF65-F5344CB8AC3E}">
        <p14:creationId xmlns:p14="http://schemas.microsoft.com/office/powerpoint/2010/main" val="1560754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xEl>
                                              <p:pRg st="9" end="9"/>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
                                            <p:txEl>
                                              <p:pRg st="10" end="1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
                                            <p:txEl>
                                              <p:pRg st="11" end="11"/>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AE04E4A-A68A-50A6-ADE3-8EDF49987C68}"/>
              </a:ext>
            </a:extLst>
          </p:cNvPr>
          <p:cNvSpPr>
            <a:spLocks noGrp="1"/>
          </p:cNvSpPr>
          <p:nvPr>
            <p:ph type="dt" sz="half" idx="10"/>
          </p:nvPr>
        </p:nvSpPr>
        <p:spPr/>
        <p:txBody>
          <a:bodyPr/>
          <a:lstStyle/>
          <a:p>
            <a:pPr>
              <a:defRPr/>
            </a:pPr>
            <a:fld id="{07F1AB86-1AD0-824F-BC17-575697053103}" type="datetime3">
              <a:rPr lang="en-US" smtClean="0"/>
              <a:pPr>
                <a:defRPr/>
              </a:pPr>
              <a:t>14 January 2026</a:t>
            </a:fld>
            <a:endParaRPr lang="en-US"/>
          </a:p>
        </p:txBody>
      </p:sp>
      <p:sp>
        <p:nvSpPr>
          <p:cNvPr id="5" name="Footer Placeholder 4">
            <a:extLst>
              <a:ext uri="{FF2B5EF4-FFF2-40B4-BE49-F238E27FC236}">
                <a16:creationId xmlns:a16="http://schemas.microsoft.com/office/drawing/2014/main" id="{C642F2A5-9616-E8F6-DECE-D60E0DCFD398}"/>
              </a:ext>
            </a:extLst>
          </p:cNvPr>
          <p:cNvSpPr>
            <a:spLocks noGrp="1"/>
          </p:cNvSpPr>
          <p:nvPr>
            <p:ph type="ftr" sz="quarter" idx="11"/>
          </p:nvPr>
        </p:nvSpPr>
        <p:spPr/>
        <p:txBody>
          <a:bodyPr/>
          <a:lstStyle/>
          <a:p>
            <a:pPr>
              <a:defRPr/>
            </a:pPr>
            <a:r>
              <a:rPr lang="en-US"/>
              <a:t>.</a:t>
            </a:r>
          </a:p>
        </p:txBody>
      </p:sp>
      <p:sp>
        <p:nvSpPr>
          <p:cNvPr id="6" name="Slide Number Placeholder 5">
            <a:extLst>
              <a:ext uri="{FF2B5EF4-FFF2-40B4-BE49-F238E27FC236}">
                <a16:creationId xmlns:a16="http://schemas.microsoft.com/office/drawing/2014/main" id="{6C9B85C9-2D66-AD25-D06C-320C325DDD45}"/>
              </a:ext>
            </a:extLst>
          </p:cNvPr>
          <p:cNvSpPr>
            <a:spLocks noGrp="1"/>
          </p:cNvSpPr>
          <p:nvPr>
            <p:ph type="sldNum" sz="quarter" idx="12"/>
          </p:nvPr>
        </p:nvSpPr>
        <p:spPr/>
        <p:txBody>
          <a:bodyPr/>
          <a:lstStyle/>
          <a:p>
            <a:pPr>
              <a:defRPr/>
            </a:pPr>
            <a:fld id="{387784B1-C076-7041-9578-8D2F54B7CB27}" type="slidenum">
              <a:rPr lang="en-US" smtClean="0"/>
              <a:pPr>
                <a:defRPr/>
              </a:pPr>
              <a:t>31</a:t>
            </a:fld>
            <a:endParaRPr lang="en-US"/>
          </a:p>
        </p:txBody>
      </p:sp>
      <p:sp>
        <p:nvSpPr>
          <p:cNvPr id="7" name="Title 1">
            <a:extLst>
              <a:ext uri="{FF2B5EF4-FFF2-40B4-BE49-F238E27FC236}">
                <a16:creationId xmlns:a16="http://schemas.microsoft.com/office/drawing/2014/main" id="{4461E14B-5EF2-0235-FBC5-5B48BDD99B48}"/>
              </a:ext>
            </a:extLst>
          </p:cNvPr>
          <p:cNvSpPr>
            <a:spLocks noGrp="1"/>
          </p:cNvSpPr>
          <p:nvPr>
            <p:ph type="title"/>
          </p:nvPr>
        </p:nvSpPr>
        <p:spPr>
          <a:xfrm>
            <a:off x="457200" y="20638"/>
            <a:ext cx="8229600" cy="1143000"/>
          </a:xfrm>
        </p:spPr>
        <p:txBody>
          <a:bodyPr/>
          <a:lstStyle/>
          <a:p>
            <a:r>
              <a:rPr lang="en-US" sz="3200" dirty="0"/>
              <a:t>This is a Big Problem</a:t>
            </a:r>
          </a:p>
        </p:txBody>
      </p:sp>
      <p:sp>
        <p:nvSpPr>
          <p:cNvPr id="8" name="Content Placeholder 2">
            <a:extLst>
              <a:ext uri="{FF2B5EF4-FFF2-40B4-BE49-F238E27FC236}">
                <a16:creationId xmlns:a16="http://schemas.microsoft.com/office/drawing/2014/main" id="{9352AD92-9FE2-5683-9E71-E76B986292B9}"/>
              </a:ext>
            </a:extLst>
          </p:cNvPr>
          <p:cNvSpPr>
            <a:spLocks noGrp="1"/>
          </p:cNvSpPr>
          <p:nvPr>
            <p:ph idx="1"/>
          </p:nvPr>
        </p:nvSpPr>
        <p:spPr>
          <a:xfrm>
            <a:off x="457200" y="1163638"/>
            <a:ext cx="8229600" cy="4525963"/>
          </a:xfrm>
        </p:spPr>
        <p:txBody>
          <a:bodyPr/>
          <a:lstStyle/>
          <a:p>
            <a:r>
              <a:rPr lang="en-US" sz="2000" dirty="0"/>
              <a:t>20 Years into IPv6 and there are fundamental problems.</a:t>
            </a:r>
          </a:p>
          <a:p>
            <a:pPr lvl="1"/>
            <a:r>
              <a:rPr lang="en-US" sz="1800" dirty="0"/>
              <a:t>This is not good.</a:t>
            </a:r>
          </a:p>
          <a:p>
            <a:r>
              <a:rPr lang="en-US" sz="2000" dirty="0"/>
              <a:t>The Internet Research Task Force (IRTF) creates the Routing Research Group to study it.</a:t>
            </a:r>
          </a:p>
          <a:p>
            <a:pPr lvl="1"/>
            <a:r>
              <a:rPr lang="en-US" sz="1800" dirty="0"/>
              <a:t>There is a long discussion over several IETF meetings and lots of emails</a:t>
            </a:r>
          </a:p>
          <a:p>
            <a:pPr lvl="2"/>
            <a:r>
              <a:rPr lang="en-US" sz="1600" dirty="0"/>
              <a:t>The discussion is always in terms of specific proposals and implementations.</a:t>
            </a:r>
          </a:p>
          <a:p>
            <a:pPr lvl="1"/>
            <a:r>
              <a:rPr lang="en-US" sz="1600" dirty="0"/>
              <a:t>There is never an attempt at an abstract model to see what is really going on.</a:t>
            </a:r>
          </a:p>
          <a:p>
            <a:pPr lvl="2"/>
            <a:r>
              <a:rPr lang="en-US" sz="1600" dirty="0"/>
              <a:t>The earlier IRTF Name Space Research Group 1999-2003 had the same problem.</a:t>
            </a:r>
          </a:p>
          <a:p>
            <a:pPr lvl="2"/>
            <a:r>
              <a:rPr lang="en-US" sz="1600" dirty="0"/>
              <a:t>Why? They </a:t>
            </a:r>
            <a:r>
              <a:rPr lang="en-US" sz="1600" dirty="0" err="1"/>
              <a:t>didn</a:t>
            </a:r>
            <a:r>
              <a:rPr lang="mr-IN" sz="1600" dirty="0"/>
              <a:t>’</a:t>
            </a:r>
            <a:r>
              <a:rPr lang="en-US" sz="1600" dirty="0"/>
              <a:t>t need to, they </a:t>
            </a:r>
            <a:r>
              <a:rPr lang="en-US" sz="1600" i="1" dirty="0"/>
              <a:t>knew</a:t>
            </a:r>
            <a:r>
              <a:rPr lang="en-US" sz="1600" dirty="0"/>
              <a:t> what they were doing.</a:t>
            </a:r>
          </a:p>
          <a:p>
            <a:pPr lvl="2"/>
            <a:r>
              <a:rPr lang="en-US" sz="1600" dirty="0"/>
              <a:t>Sound familiar?</a:t>
            </a:r>
          </a:p>
          <a:p>
            <a:pPr lvl="1"/>
            <a:r>
              <a:rPr lang="en-US" sz="1800" dirty="0"/>
              <a:t>The problem they are struggling with is best illustrated by a remark one of the experts made when an abstract model was described to them:</a:t>
            </a:r>
          </a:p>
        </p:txBody>
      </p:sp>
    </p:spTree>
    <p:extLst>
      <p:ext uri="{BB962C8B-B14F-4D97-AF65-F5344CB8AC3E}">
        <p14:creationId xmlns:p14="http://schemas.microsoft.com/office/powerpoint/2010/main" val="2334670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1D815A3-4954-3F56-94F6-2EDA65D0F559}"/>
              </a:ext>
            </a:extLst>
          </p:cNvPr>
          <p:cNvSpPr>
            <a:spLocks noGrp="1"/>
          </p:cNvSpPr>
          <p:nvPr>
            <p:ph type="dt" sz="half" idx="10"/>
          </p:nvPr>
        </p:nvSpPr>
        <p:spPr/>
        <p:txBody>
          <a:bodyPr/>
          <a:lstStyle/>
          <a:p>
            <a:pPr>
              <a:defRPr/>
            </a:pPr>
            <a:fld id="{07F1AB86-1AD0-824F-BC17-575697053103}" type="datetime3">
              <a:rPr lang="en-US" smtClean="0"/>
              <a:pPr>
                <a:defRPr/>
              </a:pPr>
              <a:t>14 January 2026</a:t>
            </a:fld>
            <a:endParaRPr lang="en-US"/>
          </a:p>
        </p:txBody>
      </p:sp>
      <p:sp>
        <p:nvSpPr>
          <p:cNvPr id="5" name="Footer Placeholder 4">
            <a:extLst>
              <a:ext uri="{FF2B5EF4-FFF2-40B4-BE49-F238E27FC236}">
                <a16:creationId xmlns:a16="http://schemas.microsoft.com/office/drawing/2014/main" id="{3A6D920D-C434-62E9-D820-64CE464D1593}"/>
              </a:ext>
            </a:extLst>
          </p:cNvPr>
          <p:cNvSpPr>
            <a:spLocks noGrp="1"/>
          </p:cNvSpPr>
          <p:nvPr>
            <p:ph type="ftr" sz="quarter" idx="11"/>
          </p:nvPr>
        </p:nvSpPr>
        <p:spPr/>
        <p:txBody>
          <a:bodyPr/>
          <a:lstStyle/>
          <a:p>
            <a:pPr>
              <a:defRPr/>
            </a:pPr>
            <a:r>
              <a:rPr lang="en-US"/>
              <a:t>.</a:t>
            </a:r>
          </a:p>
        </p:txBody>
      </p:sp>
      <p:sp>
        <p:nvSpPr>
          <p:cNvPr id="6" name="Slide Number Placeholder 5">
            <a:extLst>
              <a:ext uri="{FF2B5EF4-FFF2-40B4-BE49-F238E27FC236}">
                <a16:creationId xmlns:a16="http://schemas.microsoft.com/office/drawing/2014/main" id="{EF616277-6986-941D-D6E3-C01EDE81C3C8}"/>
              </a:ext>
            </a:extLst>
          </p:cNvPr>
          <p:cNvSpPr>
            <a:spLocks noGrp="1"/>
          </p:cNvSpPr>
          <p:nvPr>
            <p:ph type="sldNum" sz="quarter" idx="12"/>
          </p:nvPr>
        </p:nvSpPr>
        <p:spPr/>
        <p:txBody>
          <a:bodyPr/>
          <a:lstStyle/>
          <a:p>
            <a:pPr>
              <a:defRPr/>
            </a:pPr>
            <a:fld id="{387784B1-C076-7041-9578-8D2F54B7CB27}" type="slidenum">
              <a:rPr lang="en-US" smtClean="0"/>
              <a:pPr>
                <a:defRPr/>
              </a:pPr>
              <a:t>32</a:t>
            </a:fld>
            <a:endParaRPr lang="en-US"/>
          </a:p>
        </p:txBody>
      </p:sp>
      <p:sp>
        <p:nvSpPr>
          <p:cNvPr id="7" name="TextBox 6">
            <a:extLst>
              <a:ext uri="{FF2B5EF4-FFF2-40B4-BE49-F238E27FC236}">
                <a16:creationId xmlns:a16="http://schemas.microsoft.com/office/drawing/2014/main" id="{BD948471-6E2A-C723-E7D0-CDB98FAD5720}"/>
              </a:ext>
            </a:extLst>
          </p:cNvPr>
          <p:cNvSpPr txBox="1"/>
          <p:nvPr/>
        </p:nvSpPr>
        <p:spPr>
          <a:xfrm>
            <a:off x="2403688" y="311510"/>
            <a:ext cx="5902112" cy="830997"/>
          </a:xfrm>
          <a:prstGeom prst="rect">
            <a:avLst/>
          </a:prstGeom>
          <a:noFill/>
        </p:spPr>
        <p:txBody>
          <a:bodyPr wrap="square" rtlCol="0">
            <a:spAutoFit/>
          </a:bodyPr>
          <a:lstStyle/>
          <a:p>
            <a:pPr algn="ctr"/>
            <a:r>
              <a:rPr lang="en-US" sz="2400" dirty="0">
                <a:latin typeface="Times New Roman"/>
                <a:cs typeface="Times New Roman"/>
              </a:rPr>
              <a:t>If All of the Drawings of Networks You See,</a:t>
            </a:r>
          </a:p>
          <a:p>
            <a:pPr algn="ctr"/>
            <a:r>
              <a:rPr lang="en-US" sz="2400" dirty="0">
                <a:latin typeface="Times New Roman"/>
                <a:cs typeface="Times New Roman"/>
              </a:rPr>
              <a:t> Look Like This:</a:t>
            </a:r>
          </a:p>
        </p:txBody>
      </p:sp>
      <p:sp>
        <p:nvSpPr>
          <p:cNvPr id="8" name="Rectangle 7">
            <a:extLst>
              <a:ext uri="{FF2B5EF4-FFF2-40B4-BE49-F238E27FC236}">
                <a16:creationId xmlns:a16="http://schemas.microsoft.com/office/drawing/2014/main" id="{C85C44CF-17C7-54BD-113E-9485AD1F8B17}"/>
              </a:ext>
            </a:extLst>
          </p:cNvPr>
          <p:cNvSpPr/>
          <p:nvPr/>
        </p:nvSpPr>
        <p:spPr>
          <a:xfrm>
            <a:off x="527174" y="3830719"/>
            <a:ext cx="3475602" cy="738664"/>
          </a:xfrm>
          <a:prstGeom prst="rect">
            <a:avLst/>
          </a:prstGeom>
        </p:spPr>
        <p:txBody>
          <a:bodyPr wrap="square">
            <a:spAutoFit/>
          </a:bodyPr>
          <a:lstStyle/>
          <a:p>
            <a:r>
              <a:rPr lang="en-US" sz="1400" b="0" dirty="0">
                <a:latin typeface="Times New Roman"/>
                <a:cs typeface="Times New Roman"/>
              </a:rPr>
              <a:t>“In a network of devices, why would we route between processes?”</a:t>
            </a:r>
          </a:p>
          <a:p>
            <a:r>
              <a:rPr lang="en-US" sz="1400" b="0" dirty="0">
                <a:latin typeface="Times New Roman"/>
                <a:cs typeface="Times New Roman"/>
              </a:rPr>
              <a:t>	           -  Toni </a:t>
            </a:r>
            <a:r>
              <a:rPr lang="en-US" sz="1400" b="0" dirty="0" err="1">
                <a:latin typeface="Times New Roman"/>
                <a:cs typeface="Times New Roman"/>
              </a:rPr>
              <a:t>Stoey</a:t>
            </a:r>
            <a:r>
              <a:rPr lang="en-US" sz="1400" b="0" dirty="0">
                <a:latin typeface="Times New Roman"/>
                <a:cs typeface="Times New Roman"/>
              </a:rPr>
              <a:t>, RRG 2009</a:t>
            </a:r>
          </a:p>
        </p:txBody>
      </p:sp>
      <p:grpSp>
        <p:nvGrpSpPr>
          <p:cNvPr id="75" name="Group 74">
            <a:extLst>
              <a:ext uri="{FF2B5EF4-FFF2-40B4-BE49-F238E27FC236}">
                <a16:creationId xmlns:a16="http://schemas.microsoft.com/office/drawing/2014/main" id="{14DB419F-C4B1-6063-9ADA-F987CE1FCE88}"/>
              </a:ext>
            </a:extLst>
          </p:cNvPr>
          <p:cNvGrpSpPr/>
          <p:nvPr/>
        </p:nvGrpSpPr>
        <p:grpSpPr>
          <a:xfrm>
            <a:off x="1899600" y="1368808"/>
            <a:ext cx="5113425" cy="2111807"/>
            <a:chOff x="1899600" y="1368808"/>
            <a:chExt cx="5113425" cy="2111807"/>
          </a:xfrm>
        </p:grpSpPr>
        <p:pic>
          <p:nvPicPr>
            <p:cNvPr id="10" name="Picture 9">
              <a:extLst>
                <a:ext uri="{FF2B5EF4-FFF2-40B4-BE49-F238E27FC236}">
                  <a16:creationId xmlns:a16="http://schemas.microsoft.com/office/drawing/2014/main" id="{906F762D-A810-7953-71C6-A5B85F2F9F85}"/>
                </a:ext>
              </a:extLst>
            </p:cNvPr>
            <p:cNvPicPr>
              <a:picLocks noChangeAspect="1"/>
            </p:cNvPicPr>
            <p:nvPr/>
          </p:nvPicPr>
          <p:blipFill>
            <a:blip r:embed="rId2"/>
            <a:stretch>
              <a:fillRect/>
            </a:stretch>
          </p:blipFill>
          <p:spPr>
            <a:xfrm>
              <a:off x="3251044" y="3166627"/>
              <a:ext cx="338627" cy="313988"/>
            </a:xfrm>
            <a:prstGeom prst="rect">
              <a:avLst/>
            </a:prstGeom>
            <a:noFill/>
          </p:spPr>
        </p:pic>
        <p:pic>
          <p:nvPicPr>
            <p:cNvPr id="11" name="Picture 10">
              <a:extLst>
                <a:ext uri="{FF2B5EF4-FFF2-40B4-BE49-F238E27FC236}">
                  <a16:creationId xmlns:a16="http://schemas.microsoft.com/office/drawing/2014/main" id="{8669438E-85DD-3969-167E-D838077587F6}"/>
                </a:ext>
              </a:extLst>
            </p:cNvPr>
            <p:cNvPicPr>
              <a:picLocks noChangeAspect="1"/>
            </p:cNvPicPr>
            <p:nvPr/>
          </p:nvPicPr>
          <p:blipFill>
            <a:blip r:embed="rId2"/>
            <a:stretch>
              <a:fillRect/>
            </a:stretch>
          </p:blipFill>
          <p:spPr>
            <a:xfrm>
              <a:off x="2810825" y="2391885"/>
              <a:ext cx="338627" cy="313988"/>
            </a:xfrm>
            <a:prstGeom prst="rect">
              <a:avLst/>
            </a:prstGeom>
            <a:noFill/>
          </p:spPr>
        </p:pic>
        <p:cxnSp>
          <p:nvCxnSpPr>
            <p:cNvPr id="12" name="Straight Connector 11">
              <a:extLst>
                <a:ext uri="{FF2B5EF4-FFF2-40B4-BE49-F238E27FC236}">
                  <a16:creationId xmlns:a16="http://schemas.microsoft.com/office/drawing/2014/main" id="{4642587A-974E-2B9D-9112-ECEA5F52DC20}"/>
                </a:ext>
              </a:extLst>
            </p:cNvPr>
            <p:cNvCxnSpPr/>
            <p:nvPr/>
          </p:nvCxnSpPr>
          <p:spPr>
            <a:xfrm flipH="1" flipV="1">
              <a:off x="3086076" y="2536064"/>
              <a:ext cx="207319" cy="781257"/>
            </a:xfrm>
            <a:prstGeom prst="line">
              <a:avLst/>
            </a:prstGeom>
            <a:noFill/>
            <a:ln>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497D893C-8A5D-BA1B-6D30-439CC39CF26A}"/>
                </a:ext>
              </a:extLst>
            </p:cNvPr>
            <p:cNvCxnSpPr>
              <a:stCxn id="10" idx="3"/>
              <a:endCxn id="20" idx="1"/>
            </p:cNvCxnSpPr>
            <p:nvPr/>
          </p:nvCxnSpPr>
          <p:spPr>
            <a:xfrm flipV="1">
              <a:off x="3589671" y="3062778"/>
              <a:ext cx="945815" cy="260843"/>
            </a:xfrm>
            <a:prstGeom prst="line">
              <a:avLst/>
            </a:prstGeom>
            <a:noFill/>
            <a:ln>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2670FE2D-12DE-46D9-AA5A-DAC44E078C22}"/>
                </a:ext>
              </a:extLst>
            </p:cNvPr>
            <p:cNvCxnSpPr/>
            <p:nvPr/>
          </p:nvCxnSpPr>
          <p:spPr>
            <a:xfrm>
              <a:off x="4704800" y="3062778"/>
              <a:ext cx="981214" cy="16990"/>
            </a:xfrm>
            <a:prstGeom prst="line">
              <a:avLst/>
            </a:prstGeom>
            <a:noFill/>
            <a:ln>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05218863-DC29-32B2-1737-7A048B69A42F}"/>
                </a:ext>
              </a:extLst>
            </p:cNvPr>
            <p:cNvCxnSpPr>
              <a:cxnSpLocks/>
              <a:endCxn id="18" idx="1"/>
            </p:cNvCxnSpPr>
            <p:nvPr/>
          </p:nvCxnSpPr>
          <p:spPr>
            <a:xfrm>
              <a:off x="4914900" y="1508687"/>
              <a:ext cx="1022087" cy="836655"/>
            </a:xfrm>
            <a:prstGeom prst="line">
              <a:avLst/>
            </a:prstGeom>
            <a:noFill/>
            <a:ln>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0348BDB8-B076-D560-D8FF-23B86A34F9A8}"/>
                </a:ext>
              </a:extLst>
            </p:cNvPr>
            <p:cNvPicPr>
              <a:picLocks noChangeAspect="1"/>
            </p:cNvPicPr>
            <p:nvPr/>
          </p:nvPicPr>
          <p:blipFill>
            <a:blip r:embed="rId3"/>
            <a:stretch>
              <a:fillRect/>
            </a:stretch>
          </p:blipFill>
          <p:spPr>
            <a:xfrm>
              <a:off x="6490680" y="2383878"/>
              <a:ext cx="522345" cy="825598"/>
            </a:xfrm>
            <a:prstGeom prst="rect">
              <a:avLst/>
            </a:prstGeom>
            <a:noFill/>
          </p:spPr>
        </p:pic>
        <p:pic>
          <p:nvPicPr>
            <p:cNvPr id="17" name="Picture 16">
              <a:extLst>
                <a:ext uri="{FF2B5EF4-FFF2-40B4-BE49-F238E27FC236}">
                  <a16:creationId xmlns:a16="http://schemas.microsoft.com/office/drawing/2014/main" id="{AC84A671-82AB-EE65-3166-13BBA364C299}"/>
                </a:ext>
              </a:extLst>
            </p:cNvPr>
            <p:cNvPicPr>
              <a:picLocks noChangeAspect="1"/>
            </p:cNvPicPr>
            <p:nvPr/>
          </p:nvPicPr>
          <p:blipFill>
            <a:blip r:embed="rId4"/>
            <a:stretch>
              <a:fillRect/>
            </a:stretch>
          </p:blipFill>
          <p:spPr>
            <a:xfrm>
              <a:off x="1899600" y="2219115"/>
              <a:ext cx="504088" cy="608662"/>
            </a:xfrm>
            <a:prstGeom prst="rect">
              <a:avLst/>
            </a:prstGeom>
            <a:noFill/>
          </p:spPr>
        </p:pic>
        <p:pic>
          <p:nvPicPr>
            <p:cNvPr id="18" name="Picture 17">
              <a:extLst>
                <a:ext uri="{FF2B5EF4-FFF2-40B4-BE49-F238E27FC236}">
                  <a16:creationId xmlns:a16="http://schemas.microsoft.com/office/drawing/2014/main" id="{29FE20BC-811F-FEE4-AE12-70D395996832}"/>
                </a:ext>
              </a:extLst>
            </p:cNvPr>
            <p:cNvPicPr>
              <a:picLocks noChangeAspect="1"/>
            </p:cNvPicPr>
            <p:nvPr/>
          </p:nvPicPr>
          <p:blipFill>
            <a:blip r:embed="rId2"/>
            <a:stretch>
              <a:fillRect/>
            </a:stretch>
          </p:blipFill>
          <p:spPr>
            <a:xfrm>
              <a:off x="5936987" y="2188348"/>
              <a:ext cx="338627" cy="313988"/>
            </a:xfrm>
            <a:prstGeom prst="rect">
              <a:avLst/>
            </a:prstGeom>
            <a:noFill/>
          </p:spPr>
        </p:pic>
        <p:pic>
          <p:nvPicPr>
            <p:cNvPr id="19" name="Picture 18">
              <a:extLst>
                <a:ext uri="{FF2B5EF4-FFF2-40B4-BE49-F238E27FC236}">
                  <a16:creationId xmlns:a16="http://schemas.microsoft.com/office/drawing/2014/main" id="{2B5E272D-EAF0-AF89-B176-D4CFFBA2E9CA}"/>
                </a:ext>
              </a:extLst>
            </p:cNvPr>
            <p:cNvPicPr>
              <a:picLocks noChangeAspect="1"/>
            </p:cNvPicPr>
            <p:nvPr/>
          </p:nvPicPr>
          <p:blipFill>
            <a:blip r:embed="rId2"/>
            <a:stretch>
              <a:fillRect/>
            </a:stretch>
          </p:blipFill>
          <p:spPr>
            <a:xfrm>
              <a:off x="4031895" y="2238584"/>
              <a:ext cx="338627" cy="313988"/>
            </a:xfrm>
            <a:prstGeom prst="rect">
              <a:avLst/>
            </a:prstGeom>
            <a:noFill/>
          </p:spPr>
        </p:pic>
        <p:pic>
          <p:nvPicPr>
            <p:cNvPr id="20" name="Picture 19">
              <a:extLst>
                <a:ext uri="{FF2B5EF4-FFF2-40B4-BE49-F238E27FC236}">
                  <a16:creationId xmlns:a16="http://schemas.microsoft.com/office/drawing/2014/main" id="{46E2EBB4-8F74-C8F2-2572-13F9942F5AC5}"/>
                </a:ext>
              </a:extLst>
            </p:cNvPr>
            <p:cNvPicPr>
              <a:picLocks noChangeAspect="1"/>
            </p:cNvPicPr>
            <p:nvPr/>
          </p:nvPicPr>
          <p:blipFill>
            <a:blip r:embed="rId2"/>
            <a:stretch>
              <a:fillRect/>
            </a:stretch>
          </p:blipFill>
          <p:spPr>
            <a:xfrm>
              <a:off x="4535486" y="2905784"/>
              <a:ext cx="338627" cy="313988"/>
            </a:xfrm>
            <a:prstGeom prst="rect">
              <a:avLst/>
            </a:prstGeom>
            <a:noFill/>
          </p:spPr>
        </p:pic>
        <p:pic>
          <p:nvPicPr>
            <p:cNvPr id="21" name="Picture 20">
              <a:extLst>
                <a:ext uri="{FF2B5EF4-FFF2-40B4-BE49-F238E27FC236}">
                  <a16:creationId xmlns:a16="http://schemas.microsoft.com/office/drawing/2014/main" id="{33E67C07-FB6E-FD71-CB7D-A113CBF1E2BE}"/>
                </a:ext>
              </a:extLst>
            </p:cNvPr>
            <p:cNvPicPr>
              <a:picLocks noChangeAspect="1"/>
            </p:cNvPicPr>
            <p:nvPr/>
          </p:nvPicPr>
          <p:blipFill>
            <a:blip r:embed="rId2"/>
            <a:stretch>
              <a:fillRect/>
            </a:stretch>
          </p:blipFill>
          <p:spPr>
            <a:xfrm>
              <a:off x="3462144" y="1767443"/>
              <a:ext cx="338627" cy="313988"/>
            </a:xfrm>
            <a:prstGeom prst="rect">
              <a:avLst/>
            </a:prstGeom>
            <a:noFill/>
          </p:spPr>
        </p:pic>
        <p:cxnSp>
          <p:nvCxnSpPr>
            <p:cNvPr id="22" name="Straight Connector 21">
              <a:extLst>
                <a:ext uri="{FF2B5EF4-FFF2-40B4-BE49-F238E27FC236}">
                  <a16:creationId xmlns:a16="http://schemas.microsoft.com/office/drawing/2014/main" id="{0B980843-FA4E-FEC4-56AA-2D50F9C9E040}"/>
                </a:ext>
              </a:extLst>
            </p:cNvPr>
            <p:cNvCxnSpPr/>
            <p:nvPr/>
          </p:nvCxnSpPr>
          <p:spPr>
            <a:xfrm>
              <a:off x="3684069" y="1974524"/>
              <a:ext cx="347826" cy="410987"/>
            </a:xfrm>
            <a:prstGeom prst="line">
              <a:avLst/>
            </a:prstGeom>
            <a:noFill/>
            <a:ln>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3E8A2EBB-393A-591D-AB34-16F80C726211}"/>
                </a:ext>
              </a:extLst>
            </p:cNvPr>
            <p:cNvCxnSpPr/>
            <p:nvPr/>
          </p:nvCxnSpPr>
          <p:spPr>
            <a:xfrm flipV="1">
              <a:off x="3500714" y="2447028"/>
              <a:ext cx="611840" cy="772744"/>
            </a:xfrm>
            <a:prstGeom prst="line">
              <a:avLst/>
            </a:prstGeom>
            <a:noFill/>
            <a:ln>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DA03D1DE-7AC4-6148-2853-8EA88179BA63}"/>
                </a:ext>
              </a:extLst>
            </p:cNvPr>
            <p:cNvCxnSpPr/>
            <p:nvPr/>
          </p:nvCxnSpPr>
          <p:spPr>
            <a:xfrm flipV="1">
              <a:off x="3684069" y="1525802"/>
              <a:ext cx="1020731" cy="352175"/>
            </a:xfrm>
            <a:prstGeom prst="line">
              <a:avLst/>
            </a:prstGeom>
            <a:noFill/>
            <a:ln>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pic>
          <p:nvPicPr>
            <p:cNvPr id="25" name="Picture 24">
              <a:extLst>
                <a:ext uri="{FF2B5EF4-FFF2-40B4-BE49-F238E27FC236}">
                  <a16:creationId xmlns:a16="http://schemas.microsoft.com/office/drawing/2014/main" id="{8C38346B-F8FF-0CE5-881F-D882937E2F70}"/>
                </a:ext>
              </a:extLst>
            </p:cNvPr>
            <p:cNvPicPr>
              <a:picLocks noChangeAspect="1"/>
            </p:cNvPicPr>
            <p:nvPr/>
          </p:nvPicPr>
          <p:blipFill>
            <a:blip r:embed="rId2"/>
            <a:stretch>
              <a:fillRect/>
            </a:stretch>
          </p:blipFill>
          <p:spPr>
            <a:xfrm>
              <a:off x="4623325" y="1368808"/>
              <a:ext cx="338627" cy="313988"/>
            </a:xfrm>
            <a:prstGeom prst="rect">
              <a:avLst/>
            </a:prstGeom>
            <a:noFill/>
          </p:spPr>
        </p:pic>
        <p:pic>
          <p:nvPicPr>
            <p:cNvPr id="26" name="Picture 25">
              <a:extLst>
                <a:ext uri="{FF2B5EF4-FFF2-40B4-BE49-F238E27FC236}">
                  <a16:creationId xmlns:a16="http://schemas.microsoft.com/office/drawing/2014/main" id="{50BFB14E-1F94-4331-46D9-BCB0F20CB75D}"/>
                </a:ext>
              </a:extLst>
            </p:cNvPr>
            <p:cNvPicPr>
              <a:picLocks noChangeAspect="1"/>
            </p:cNvPicPr>
            <p:nvPr/>
          </p:nvPicPr>
          <p:blipFill>
            <a:blip r:embed="rId2"/>
            <a:stretch>
              <a:fillRect/>
            </a:stretch>
          </p:blipFill>
          <p:spPr>
            <a:xfrm>
              <a:off x="4936629" y="2154117"/>
              <a:ext cx="338627" cy="313988"/>
            </a:xfrm>
            <a:prstGeom prst="rect">
              <a:avLst/>
            </a:prstGeom>
            <a:noFill/>
          </p:spPr>
        </p:pic>
        <p:pic>
          <p:nvPicPr>
            <p:cNvPr id="27" name="Picture 26">
              <a:extLst>
                <a:ext uri="{FF2B5EF4-FFF2-40B4-BE49-F238E27FC236}">
                  <a16:creationId xmlns:a16="http://schemas.microsoft.com/office/drawing/2014/main" id="{C2E676BE-1733-C122-D263-A670024695DD}"/>
                </a:ext>
              </a:extLst>
            </p:cNvPr>
            <p:cNvPicPr>
              <a:picLocks noChangeAspect="1"/>
            </p:cNvPicPr>
            <p:nvPr/>
          </p:nvPicPr>
          <p:blipFill>
            <a:blip r:embed="rId2"/>
            <a:stretch>
              <a:fillRect/>
            </a:stretch>
          </p:blipFill>
          <p:spPr>
            <a:xfrm>
              <a:off x="5604541" y="2892134"/>
              <a:ext cx="338627" cy="313988"/>
            </a:xfrm>
            <a:prstGeom prst="rect">
              <a:avLst/>
            </a:prstGeom>
            <a:noFill/>
          </p:spPr>
        </p:pic>
        <p:cxnSp>
          <p:nvCxnSpPr>
            <p:cNvPr id="28" name="Straight Connector 27">
              <a:extLst>
                <a:ext uri="{FF2B5EF4-FFF2-40B4-BE49-F238E27FC236}">
                  <a16:creationId xmlns:a16="http://schemas.microsoft.com/office/drawing/2014/main" id="{E319355D-8C8E-973A-64FE-5E4C654DE146}"/>
                </a:ext>
              </a:extLst>
            </p:cNvPr>
            <p:cNvCxnSpPr/>
            <p:nvPr/>
          </p:nvCxnSpPr>
          <p:spPr>
            <a:xfrm flipV="1">
              <a:off x="5842883" y="2385511"/>
              <a:ext cx="323549" cy="573867"/>
            </a:xfrm>
            <a:prstGeom prst="line">
              <a:avLst/>
            </a:prstGeom>
            <a:noFill/>
            <a:ln>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596C16DC-2E7F-D0DD-FA20-E111E1F628B2}"/>
                </a:ext>
              </a:extLst>
            </p:cNvPr>
            <p:cNvCxnSpPr/>
            <p:nvPr/>
          </p:nvCxnSpPr>
          <p:spPr>
            <a:xfrm>
              <a:off x="6215384" y="2319375"/>
              <a:ext cx="433606" cy="386498"/>
            </a:xfrm>
            <a:prstGeom prst="line">
              <a:avLst/>
            </a:prstGeom>
            <a:noFill/>
            <a:ln>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65335FC9-FE32-7694-E7B9-4A9017CBC8B2}"/>
                </a:ext>
              </a:extLst>
            </p:cNvPr>
            <p:cNvCxnSpPr/>
            <p:nvPr/>
          </p:nvCxnSpPr>
          <p:spPr>
            <a:xfrm flipV="1">
              <a:off x="5879290" y="2705873"/>
              <a:ext cx="769700" cy="267944"/>
            </a:xfrm>
            <a:prstGeom prst="line">
              <a:avLst/>
            </a:prstGeom>
            <a:noFill/>
            <a:ln>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2E2EC45C-6DDD-7B6B-45A7-03964A1ADE7B}"/>
                </a:ext>
              </a:extLst>
            </p:cNvPr>
            <p:cNvCxnSpPr/>
            <p:nvPr/>
          </p:nvCxnSpPr>
          <p:spPr>
            <a:xfrm flipV="1">
              <a:off x="3086076" y="1902502"/>
              <a:ext cx="473879" cy="565604"/>
            </a:xfrm>
            <a:prstGeom prst="line">
              <a:avLst/>
            </a:prstGeom>
            <a:noFill/>
            <a:ln>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C55B3094-11BB-277B-B833-B2F196C5C010}"/>
                </a:ext>
              </a:extLst>
            </p:cNvPr>
            <p:cNvCxnSpPr>
              <a:endCxn id="11" idx="1"/>
            </p:cNvCxnSpPr>
            <p:nvPr/>
          </p:nvCxnSpPr>
          <p:spPr>
            <a:xfrm flipV="1">
              <a:off x="2307188" y="2548879"/>
              <a:ext cx="503637" cy="151780"/>
            </a:xfrm>
            <a:prstGeom prst="line">
              <a:avLst/>
            </a:prstGeom>
            <a:noFill/>
            <a:ln>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7223A4C0-E337-8C85-DD4D-BB4EE1472F36}"/>
                </a:ext>
              </a:extLst>
            </p:cNvPr>
            <p:cNvCxnSpPr>
              <a:endCxn id="20" idx="1"/>
            </p:cNvCxnSpPr>
            <p:nvPr/>
          </p:nvCxnSpPr>
          <p:spPr>
            <a:xfrm>
              <a:off x="4284683" y="2447028"/>
              <a:ext cx="250803" cy="615750"/>
            </a:xfrm>
            <a:prstGeom prst="line">
              <a:avLst/>
            </a:prstGeom>
            <a:noFill/>
            <a:ln>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0B688FB7-0A41-974E-B465-C089137D23D4}"/>
                </a:ext>
              </a:extLst>
            </p:cNvPr>
            <p:cNvCxnSpPr/>
            <p:nvPr/>
          </p:nvCxnSpPr>
          <p:spPr>
            <a:xfrm flipV="1">
              <a:off x="4284683" y="2311112"/>
              <a:ext cx="651946" cy="74399"/>
            </a:xfrm>
            <a:prstGeom prst="line">
              <a:avLst/>
            </a:prstGeom>
            <a:noFill/>
            <a:ln>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9BBC396F-994D-3998-2F66-DFC5C8B9F632}"/>
                </a:ext>
              </a:extLst>
            </p:cNvPr>
            <p:cNvCxnSpPr>
              <a:cxnSpLocks/>
              <a:endCxn id="18" idx="1"/>
            </p:cNvCxnSpPr>
            <p:nvPr/>
          </p:nvCxnSpPr>
          <p:spPr>
            <a:xfrm>
              <a:off x="5220182" y="2311111"/>
              <a:ext cx="716805" cy="34231"/>
            </a:xfrm>
            <a:prstGeom prst="line">
              <a:avLst/>
            </a:prstGeom>
            <a:noFill/>
            <a:ln>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grpSp>
      <p:grpSp>
        <p:nvGrpSpPr>
          <p:cNvPr id="36" name="Group 35">
            <a:extLst>
              <a:ext uri="{FF2B5EF4-FFF2-40B4-BE49-F238E27FC236}">
                <a16:creationId xmlns:a16="http://schemas.microsoft.com/office/drawing/2014/main" id="{31487912-EA45-3671-CD1D-A160E6200A44}"/>
              </a:ext>
            </a:extLst>
          </p:cNvPr>
          <p:cNvGrpSpPr/>
          <p:nvPr/>
        </p:nvGrpSpPr>
        <p:grpSpPr>
          <a:xfrm>
            <a:off x="4346936" y="2705873"/>
            <a:ext cx="2302054" cy="1540345"/>
            <a:chOff x="4346936" y="2705873"/>
            <a:chExt cx="2302054" cy="1540345"/>
          </a:xfrm>
        </p:grpSpPr>
        <p:sp>
          <p:nvSpPr>
            <p:cNvPr id="37" name="TextBox 36">
              <a:extLst>
                <a:ext uri="{FF2B5EF4-FFF2-40B4-BE49-F238E27FC236}">
                  <a16:creationId xmlns:a16="http://schemas.microsoft.com/office/drawing/2014/main" id="{5FBA12F2-CB77-6260-632B-4DE230F9F7B2}"/>
                </a:ext>
              </a:extLst>
            </p:cNvPr>
            <p:cNvSpPr txBox="1"/>
            <p:nvPr/>
          </p:nvSpPr>
          <p:spPr>
            <a:xfrm>
              <a:off x="4346936" y="3507554"/>
              <a:ext cx="1310038" cy="738664"/>
            </a:xfrm>
            <a:prstGeom prst="rect">
              <a:avLst/>
            </a:prstGeom>
            <a:noFill/>
          </p:spPr>
          <p:txBody>
            <a:bodyPr wrap="square" rtlCol="0">
              <a:spAutoFit/>
            </a:bodyPr>
            <a:lstStyle/>
            <a:p>
              <a:pPr algn="r"/>
              <a:r>
                <a:rPr lang="en-US" sz="1400" b="0" dirty="0">
                  <a:latin typeface="Times New Roman"/>
                  <a:cs typeface="Times New Roman"/>
                </a:rPr>
                <a:t>And think the</a:t>
              </a:r>
            </a:p>
            <a:p>
              <a:pPr algn="r"/>
              <a:r>
                <a:rPr lang="en-US" sz="1400" b="0" dirty="0">
                  <a:latin typeface="Times New Roman"/>
                  <a:cs typeface="Times New Roman"/>
                </a:rPr>
                <a:t>end of a route</a:t>
              </a:r>
            </a:p>
            <a:p>
              <a:pPr algn="r"/>
              <a:r>
                <a:rPr lang="en-US" sz="1400" b="0" dirty="0">
                  <a:latin typeface="Times New Roman"/>
                  <a:cs typeface="Times New Roman"/>
                </a:rPr>
                <a:t>is here</a:t>
              </a:r>
            </a:p>
          </p:txBody>
        </p:sp>
        <p:cxnSp>
          <p:nvCxnSpPr>
            <p:cNvPr id="38" name="Straight Arrow Connector 37">
              <a:extLst>
                <a:ext uri="{FF2B5EF4-FFF2-40B4-BE49-F238E27FC236}">
                  <a16:creationId xmlns:a16="http://schemas.microsoft.com/office/drawing/2014/main" id="{C6569474-AEF2-34AE-F778-F1E38641AA52}"/>
                </a:ext>
              </a:extLst>
            </p:cNvPr>
            <p:cNvCxnSpPr/>
            <p:nvPr/>
          </p:nvCxnSpPr>
          <p:spPr>
            <a:xfrm flipV="1">
              <a:off x="5604541" y="2705873"/>
              <a:ext cx="1044449" cy="1325242"/>
            </a:xfrm>
            <a:prstGeom prst="straightConnector1">
              <a:avLst/>
            </a:prstGeom>
            <a:ln w="3175" cmpd="sng">
              <a:solidFill>
                <a:srgbClr val="FF0000"/>
              </a:solidFill>
              <a:tailEnd type="arrow"/>
            </a:ln>
          </p:spPr>
          <p:style>
            <a:lnRef idx="2">
              <a:schemeClr val="accent1"/>
            </a:lnRef>
            <a:fillRef idx="0">
              <a:schemeClr val="accent1"/>
            </a:fillRef>
            <a:effectRef idx="1">
              <a:schemeClr val="accent1"/>
            </a:effectRef>
            <a:fontRef idx="minor">
              <a:schemeClr val="tx1"/>
            </a:fontRef>
          </p:style>
        </p:cxnSp>
      </p:grpSp>
      <p:sp>
        <p:nvSpPr>
          <p:cNvPr id="39" name="TextBox 38">
            <a:extLst>
              <a:ext uri="{FF2B5EF4-FFF2-40B4-BE49-F238E27FC236}">
                <a16:creationId xmlns:a16="http://schemas.microsoft.com/office/drawing/2014/main" id="{4D95A9FC-0EE9-419B-EC09-1E66163EC5A8}"/>
              </a:ext>
            </a:extLst>
          </p:cNvPr>
          <p:cNvSpPr txBox="1"/>
          <p:nvPr/>
        </p:nvSpPr>
        <p:spPr>
          <a:xfrm>
            <a:off x="548449" y="3472271"/>
            <a:ext cx="2847404" cy="400110"/>
          </a:xfrm>
          <a:prstGeom prst="rect">
            <a:avLst/>
          </a:prstGeom>
          <a:noFill/>
        </p:spPr>
        <p:txBody>
          <a:bodyPr wrap="none" rtlCol="0">
            <a:spAutoFit/>
          </a:bodyPr>
          <a:lstStyle/>
          <a:p>
            <a:r>
              <a:rPr lang="en-US" sz="2000" dirty="0">
                <a:latin typeface="Times New Roman"/>
                <a:cs typeface="Times New Roman"/>
              </a:rPr>
              <a:t>You Might Start to Think:</a:t>
            </a:r>
          </a:p>
        </p:txBody>
      </p:sp>
      <p:grpSp>
        <p:nvGrpSpPr>
          <p:cNvPr id="40" name="Group 39">
            <a:extLst>
              <a:ext uri="{FF2B5EF4-FFF2-40B4-BE49-F238E27FC236}">
                <a16:creationId xmlns:a16="http://schemas.microsoft.com/office/drawing/2014/main" id="{FA3F9B2B-4B52-19D2-6F9F-2CEAEB583FB8}"/>
              </a:ext>
            </a:extLst>
          </p:cNvPr>
          <p:cNvGrpSpPr/>
          <p:nvPr/>
        </p:nvGrpSpPr>
        <p:grpSpPr>
          <a:xfrm>
            <a:off x="6215384" y="2327639"/>
            <a:ext cx="1963416" cy="3565161"/>
            <a:chOff x="6215384" y="2327639"/>
            <a:chExt cx="1963416" cy="3565161"/>
          </a:xfrm>
        </p:grpSpPr>
        <p:grpSp>
          <p:nvGrpSpPr>
            <p:cNvPr id="41" name="Group 40">
              <a:extLst>
                <a:ext uri="{FF2B5EF4-FFF2-40B4-BE49-F238E27FC236}">
                  <a16:creationId xmlns:a16="http://schemas.microsoft.com/office/drawing/2014/main" id="{9B990A5C-2D8C-B4E2-C52B-DC7E5F8A65B5}"/>
                </a:ext>
              </a:extLst>
            </p:cNvPr>
            <p:cNvGrpSpPr/>
            <p:nvPr/>
          </p:nvGrpSpPr>
          <p:grpSpPr>
            <a:xfrm>
              <a:off x="6437449" y="4826000"/>
              <a:ext cx="1536700" cy="685800"/>
              <a:chOff x="2438400" y="2895600"/>
              <a:chExt cx="4889500" cy="1828800"/>
            </a:xfrm>
          </p:grpSpPr>
          <p:sp>
            <p:nvSpPr>
              <p:cNvPr id="46" name="Rectangle 5">
                <a:extLst>
                  <a:ext uri="{FF2B5EF4-FFF2-40B4-BE49-F238E27FC236}">
                    <a16:creationId xmlns:a16="http://schemas.microsoft.com/office/drawing/2014/main" id="{0477963C-1AE6-50E1-3E4F-0968EA206A21}"/>
                  </a:ext>
                </a:extLst>
              </p:cNvPr>
              <p:cNvSpPr>
                <a:spLocks noChangeArrowheads="1"/>
              </p:cNvSpPr>
              <p:nvPr/>
            </p:nvSpPr>
            <p:spPr bwMode="auto">
              <a:xfrm>
                <a:off x="4038600" y="2895600"/>
                <a:ext cx="1447800" cy="1828800"/>
              </a:xfrm>
              <a:prstGeom prst="rect">
                <a:avLst/>
              </a:prstGeom>
              <a:solidFill>
                <a:srgbClr val="2AD544"/>
              </a:solidFill>
              <a:ln w="9525">
                <a:solidFill>
                  <a:schemeClr val="tx1"/>
                </a:solidFill>
                <a:miter lim="800000"/>
                <a:headEnd/>
                <a:tailEnd/>
              </a:ln>
            </p:spPr>
            <p:txBody>
              <a:bodyPr wrap="none" anchor="ctr"/>
              <a:lstStyle/>
              <a:p>
                <a:endParaRPr lang="en-US"/>
              </a:p>
            </p:txBody>
          </p:sp>
          <p:sp>
            <p:nvSpPr>
              <p:cNvPr id="47" name="Line 6">
                <a:extLst>
                  <a:ext uri="{FF2B5EF4-FFF2-40B4-BE49-F238E27FC236}">
                    <a16:creationId xmlns:a16="http://schemas.microsoft.com/office/drawing/2014/main" id="{E2B81B69-B802-80B7-696D-E348ECF0DA9A}"/>
                  </a:ext>
                </a:extLst>
              </p:cNvPr>
              <p:cNvSpPr>
                <a:spLocks noChangeShapeType="1"/>
              </p:cNvSpPr>
              <p:nvPr/>
            </p:nvSpPr>
            <p:spPr bwMode="auto">
              <a:xfrm>
                <a:off x="4038600" y="3505200"/>
                <a:ext cx="1447800" cy="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8" name="Line 7">
                <a:extLst>
                  <a:ext uri="{FF2B5EF4-FFF2-40B4-BE49-F238E27FC236}">
                    <a16:creationId xmlns:a16="http://schemas.microsoft.com/office/drawing/2014/main" id="{4AB8B742-AB2C-64F7-5C35-D0A542C3519F}"/>
                  </a:ext>
                </a:extLst>
              </p:cNvPr>
              <p:cNvSpPr>
                <a:spLocks noChangeShapeType="1"/>
              </p:cNvSpPr>
              <p:nvPr/>
            </p:nvSpPr>
            <p:spPr bwMode="auto">
              <a:xfrm>
                <a:off x="4038600" y="4114800"/>
                <a:ext cx="1447800" cy="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49" name="Line 8">
                <a:extLst>
                  <a:ext uri="{FF2B5EF4-FFF2-40B4-BE49-F238E27FC236}">
                    <a16:creationId xmlns:a16="http://schemas.microsoft.com/office/drawing/2014/main" id="{44A9C3DC-52DA-6C71-7118-8A83D09BCD02}"/>
                  </a:ext>
                </a:extLst>
              </p:cNvPr>
              <p:cNvSpPr>
                <a:spLocks noChangeShapeType="1"/>
              </p:cNvSpPr>
              <p:nvPr/>
            </p:nvSpPr>
            <p:spPr bwMode="auto">
              <a:xfrm flipH="1">
                <a:off x="4495800" y="3886200"/>
                <a:ext cx="152400" cy="38100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50" name="Line 9">
                <a:extLst>
                  <a:ext uri="{FF2B5EF4-FFF2-40B4-BE49-F238E27FC236}">
                    <a16:creationId xmlns:a16="http://schemas.microsoft.com/office/drawing/2014/main" id="{F83D15D3-4C35-7D10-D40A-30AB66501D9B}"/>
                  </a:ext>
                </a:extLst>
              </p:cNvPr>
              <p:cNvSpPr>
                <a:spLocks noChangeShapeType="1"/>
              </p:cNvSpPr>
              <p:nvPr/>
            </p:nvSpPr>
            <p:spPr bwMode="auto">
              <a:xfrm>
                <a:off x="4724400" y="3810000"/>
                <a:ext cx="381000" cy="53340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51" name="Oval 10">
                <a:extLst>
                  <a:ext uri="{FF2B5EF4-FFF2-40B4-BE49-F238E27FC236}">
                    <a16:creationId xmlns:a16="http://schemas.microsoft.com/office/drawing/2014/main" id="{F98A799F-0594-3DDF-C46C-745A271BC452}"/>
                  </a:ext>
                </a:extLst>
              </p:cNvPr>
              <p:cNvSpPr>
                <a:spLocks noChangeArrowheads="1"/>
              </p:cNvSpPr>
              <p:nvPr/>
            </p:nvSpPr>
            <p:spPr bwMode="auto">
              <a:xfrm>
                <a:off x="4267200" y="4191000"/>
                <a:ext cx="457200" cy="457200"/>
              </a:xfrm>
              <a:prstGeom prst="ellipse">
                <a:avLst/>
              </a:prstGeom>
              <a:solidFill>
                <a:schemeClr val="bg1"/>
              </a:solidFill>
              <a:ln w="9525">
                <a:solidFill>
                  <a:schemeClr val="tx1"/>
                </a:solidFill>
                <a:round/>
                <a:headEnd/>
                <a:tailEnd/>
              </a:ln>
            </p:spPr>
            <p:txBody>
              <a:bodyPr wrap="none" anchor="ctr"/>
              <a:lstStyle/>
              <a:p>
                <a:endParaRPr lang="en-US"/>
              </a:p>
            </p:txBody>
          </p:sp>
          <p:sp>
            <p:nvSpPr>
              <p:cNvPr id="52" name="Oval 11">
                <a:extLst>
                  <a:ext uri="{FF2B5EF4-FFF2-40B4-BE49-F238E27FC236}">
                    <a16:creationId xmlns:a16="http://schemas.microsoft.com/office/drawing/2014/main" id="{D5C9426D-237A-A2E7-566D-C5E98D468E32}"/>
                  </a:ext>
                </a:extLst>
              </p:cNvPr>
              <p:cNvSpPr>
                <a:spLocks noChangeArrowheads="1"/>
              </p:cNvSpPr>
              <p:nvPr/>
            </p:nvSpPr>
            <p:spPr bwMode="auto">
              <a:xfrm>
                <a:off x="4876800" y="4191000"/>
                <a:ext cx="457200" cy="457200"/>
              </a:xfrm>
              <a:prstGeom prst="ellipse">
                <a:avLst/>
              </a:prstGeom>
              <a:solidFill>
                <a:schemeClr val="bg1"/>
              </a:solidFill>
              <a:ln w="9525">
                <a:solidFill>
                  <a:schemeClr val="tx1"/>
                </a:solidFill>
                <a:round/>
                <a:headEnd/>
                <a:tailEnd/>
              </a:ln>
            </p:spPr>
            <p:txBody>
              <a:bodyPr wrap="none" anchor="ctr"/>
              <a:lstStyle/>
              <a:p>
                <a:endParaRPr lang="en-US"/>
              </a:p>
            </p:txBody>
          </p:sp>
          <p:sp>
            <p:nvSpPr>
              <p:cNvPr id="53" name="Oval 12">
                <a:extLst>
                  <a:ext uri="{FF2B5EF4-FFF2-40B4-BE49-F238E27FC236}">
                    <a16:creationId xmlns:a16="http://schemas.microsoft.com/office/drawing/2014/main" id="{03B027C1-04A7-EAA2-DDDB-52274869DCF3}"/>
                  </a:ext>
                </a:extLst>
              </p:cNvPr>
              <p:cNvSpPr>
                <a:spLocks noChangeArrowheads="1"/>
              </p:cNvSpPr>
              <p:nvPr/>
            </p:nvSpPr>
            <p:spPr bwMode="auto">
              <a:xfrm>
                <a:off x="4495800" y="3581400"/>
                <a:ext cx="457200" cy="457200"/>
              </a:xfrm>
              <a:prstGeom prst="ellipse">
                <a:avLst/>
              </a:prstGeom>
              <a:solidFill>
                <a:schemeClr val="bg1"/>
              </a:solidFill>
              <a:ln w="9525">
                <a:solidFill>
                  <a:schemeClr val="tx1"/>
                </a:solidFill>
                <a:round/>
                <a:headEnd/>
                <a:tailEnd/>
              </a:ln>
            </p:spPr>
            <p:txBody>
              <a:bodyPr wrap="none" anchor="ctr"/>
              <a:lstStyle/>
              <a:p>
                <a:endParaRPr lang="en-US"/>
              </a:p>
            </p:txBody>
          </p:sp>
          <p:sp>
            <p:nvSpPr>
              <p:cNvPr id="54" name="Line 21">
                <a:extLst>
                  <a:ext uri="{FF2B5EF4-FFF2-40B4-BE49-F238E27FC236}">
                    <a16:creationId xmlns:a16="http://schemas.microsoft.com/office/drawing/2014/main" id="{BA08A038-5CFC-48FE-F40A-53BA77B3A1FF}"/>
                  </a:ext>
                </a:extLst>
              </p:cNvPr>
              <p:cNvSpPr>
                <a:spLocks noChangeShapeType="1"/>
              </p:cNvSpPr>
              <p:nvPr/>
            </p:nvSpPr>
            <p:spPr bwMode="auto">
              <a:xfrm flipH="1">
                <a:off x="2438400" y="4419600"/>
                <a:ext cx="1828800" cy="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55" name="Oval 22">
                <a:extLst>
                  <a:ext uri="{FF2B5EF4-FFF2-40B4-BE49-F238E27FC236}">
                    <a16:creationId xmlns:a16="http://schemas.microsoft.com/office/drawing/2014/main" id="{54F5A836-9968-D30D-B9BF-4F0A464143EB}"/>
                  </a:ext>
                </a:extLst>
              </p:cNvPr>
              <p:cNvSpPr>
                <a:spLocks noChangeArrowheads="1"/>
              </p:cNvSpPr>
              <p:nvPr/>
            </p:nvSpPr>
            <p:spPr bwMode="auto">
              <a:xfrm>
                <a:off x="3048000" y="4191000"/>
                <a:ext cx="457200" cy="457200"/>
              </a:xfrm>
              <a:prstGeom prst="ellipse">
                <a:avLst/>
              </a:prstGeom>
              <a:solidFill>
                <a:schemeClr val="bg1"/>
              </a:solidFill>
              <a:ln w="9525">
                <a:solidFill>
                  <a:schemeClr val="tx1"/>
                </a:solidFill>
                <a:round/>
                <a:headEnd/>
                <a:tailEnd/>
              </a:ln>
            </p:spPr>
            <p:txBody>
              <a:bodyPr wrap="none" anchor="ctr"/>
              <a:lstStyle/>
              <a:p>
                <a:endParaRPr lang="en-US"/>
              </a:p>
            </p:txBody>
          </p:sp>
          <p:sp>
            <p:nvSpPr>
              <p:cNvPr id="56" name="Line 21">
                <a:extLst>
                  <a:ext uri="{FF2B5EF4-FFF2-40B4-BE49-F238E27FC236}">
                    <a16:creationId xmlns:a16="http://schemas.microsoft.com/office/drawing/2014/main" id="{4E0768D7-C77C-B2B2-6DB1-D700903D42DA}"/>
                  </a:ext>
                </a:extLst>
              </p:cNvPr>
              <p:cNvSpPr>
                <a:spLocks noChangeShapeType="1"/>
              </p:cNvSpPr>
              <p:nvPr/>
            </p:nvSpPr>
            <p:spPr bwMode="auto">
              <a:xfrm flipH="1">
                <a:off x="5334000" y="4419600"/>
                <a:ext cx="1993900" cy="2540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57" name="Oval 23">
                <a:extLst>
                  <a:ext uri="{FF2B5EF4-FFF2-40B4-BE49-F238E27FC236}">
                    <a16:creationId xmlns:a16="http://schemas.microsoft.com/office/drawing/2014/main" id="{C8EC04C1-9298-9ABF-1BFE-9593955F2046}"/>
                  </a:ext>
                </a:extLst>
              </p:cNvPr>
              <p:cNvSpPr>
                <a:spLocks noChangeArrowheads="1"/>
              </p:cNvSpPr>
              <p:nvPr/>
            </p:nvSpPr>
            <p:spPr bwMode="auto">
              <a:xfrm>
                <a:off x="6019800" y="4216400"/>
                <a:ext cx="457200" cy="457200"/>
              </a:xfrm>
              <a:prstGeom prst="ellipse">
                <a:avLst/>
              </a:prstGeom>
              <a:solidFill>
                <a:schemeClr val="bg1"/>
              </a:solidFill>
              <a:ln w="9525">
                <a:solidFill>
                  <a:schemeClr val="tx1"/>
                </a:solidFill>
                <a:round/>
                <a:headEnd/>
                <a:tailEnd/>
              </a:ln>
            </p:spPr>
            <p:txBody>
              <a:bodyPr wrap="none" anchor="ctr"/>
              <a:lstStyle/>
              <a:p>
                <a:endParaRPr lang="en-US"/>
              </a:p>
            </p:txBody>
          </p:sp>
        </p:grpSp>
        <p:sp>
          <p:nvSpPr>
            <p:cNvPr id="42" name="Oval 41">
              <a:extLst>
                <a:ext uri="{FF2B5EF4-FFF2-40B4-BE49-F238E27FC236}">
                  <a16:creationId xmlns:a16="http://schemas.microsoft.com/office/drawing/2014/main" id="{DAD60403-FDF5-C873-A427-896DF2915FE5}"/>
                </a:ext>
              </a:extLst>
            </p:cNvPr>
            <p:cNvSpPr/>
            <p:nvPr/>
          </p:nvSpPr>
          <p:spPr>
            <a:xfrm>
              <a:off x="6215384" y="4483100"/>
              <a:ext cx="1963416" cy="14097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604EBED5-A3FC-BB8C-E442-AC78FE33EDF3}"/>
                </a:ext>
              </a:extLst>
            </p:cNvPr>
            <p:cNvSpPr/>
            <p:nvPr/>
          </p:nvSpPr>
          <p:spPr>
            <a:xfrm>
              <a:off x="6437449" y="2327639"/>
              <a:ext cx="718457" cy="838988"/>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4" name="Straight Connector 43">
              <a:extLst>
                <a:ext uri="{FF2B5EF4-FFF2-40B4-BE49-F238E27FC236}">
                  <a16:creationId xmlns:a16="http://schemas.microsoft.com/office/drawing/2014/main" id="{8BB24111-C4EA-767F-95C3-D306DBE38606}"/>
                </a:ext>
              </a:extLst>
            </p:cNvPr>
            <p:cNvCxnSpPr>
              <a:stCxn id="43" idx="6"/>
              <a:endCxn id="42" idx="6"/>
            </p:cNvCxnSpPr>
            <p:nvPr/>
          </p:nvCxnSpPr>
          <p:spPr>
            <a:xfrm>
              <a:off x="7155906" y="2747133"/>
              <a:ext cx="1022894" cy="2440817"/>
            </a:xfrm>
            <a:prstGeom prst="line">
              <a:avLst/>
            </a:prstGeom>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E8159F62-8E4F-7E07-A942-5133AB968DDF}"/>
                </a:ext>
              </a:extLst>
            </p:cNvPr>
            <p:cNvCxnSpPr>
              <a:stCxn id="43" idx="2"/>
              <a:endCxn id="42" idx="2"/>
            </p:cNvCxnSpPr>
            <p:nvPr/>
          </p:nvCxnSpPr>
          <p:spPr>
            <a:xfrm flipH="1">
              <a:off x="6215384" y="2747133"/>
              <a:ext cx="222065" cy="2440817"/>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58" name="Group 57">
            <a:extLst>
              <a:ext uri="{FF2B5EF4-FFF2-40B4-BE49-F238E27FC236}">
                <a16:creationId xmlns:a16="http://schemas.microsoft.com/office/drawing/2014/main" id="{9758659D-C8B5-8832-3E5E-BAF68A117B7A}"/>
              </a:ext>
            </a:extLst>
          </p:cNvPr>
          <p:cNvGrpSpPr/>
          <p:nvPr/>
        </p:nvGrpSpPr>
        <p:grpSpPr>
          <a:xfrm>
            <a:off x="4535486" y="4731405"/>
            <a:ext cx="2548574" cy="523220"/>
            <a:chOff x="4535486" y="4731405"/>
            <a:chExt cx="2548574" cy="523220"/>
          </a:xfrm>
        </p:grpSpPr>
        <p:sp>
          <p:nvSpPr>
            <p:cNvPr id="59" name="TextBox 58">
              <a:extLst>
                <a:ext uri="{FF2B5EF4-FFF2-40B4-BE49-F238E27FC236}">
                  <a16:creationId xmlns:a16="http://schemas.microsoft.com/office/drawing/2014/main" id="{2145BE7C-DCE1-1AF0-6ED2-EA04186E49EA}"/>
                </a:ext>
              </a:extLst>
            </p:cNvPr>
            <p:cNvSpPr txBox="1"/>
            <p:nvPr/>
          </p:nvSpPr>
          <p:spPr>
            <a:xfrm>
              <a:off x="4535486" y="4731405"/>
              <a:ext cx="1069055" cy="523220"/>
            </a:xfrm>
            <a:prstGeom prst="rect">
              <a:avLst/>
            </a:prstGeom>
            <a:noFill/>
          </p:spPr>
          <p:txBody>
            <a:bodyPr wrap="square" rtlCol="0">
              <a:spAutoFit/>
            </a:bodyPr>
            <a:lstStyle/>
            <a:p>
              <a:r>
                <a:rPr lang="en-US" sz="1400" b="0" dirty="0">
                  <a:latin typeface="Times New Roman"/>
                  <a:cs typeface="Times New Roman"/>
                </a:rPr>
                <a:t>And forget it is here</a:t>
              </a:r>
            </a:p>
          </p:txBody>
        </p:sp>
        <p:cxnSp>
          <p:nvCxnSpPr>
            <p:cNvPr id="60" name="Straight Arrow Connector 59">
              <a:extLst>
                <a:ext uri="{FF2B5EF4-FFF2-40B4-BE49-F238E27FC236}">
                  <a16:creationId xmlns:a16="http://schemas.microsoft.com/office/drawing/2014/main" id="{CE8092B9-5E5C-8AFE-FFCF-AFCFFB537729}"/>
                </a:ext>
              </a:extLst>
            </p:cNvPr>
            <p:cNvCxnSpPr>
              <a:endCxn id="53" idx="2"/>
            </p:cNvCxnSpPr>
            <p:nvPr/>
          </p:nvCxnSpPr>
          <p:spPr>
            <a:xfrm>
              <a:off x="5275256" y="5083175"/>
              <a:ext cx="1808804" cy="85725"/>
            </a:xfrm>
            <a:prstGeom prst="straightConnector1">
              <a:avLst/>
            </a:prstGeom>
            <a:ln w="3175" cmpd="sng">
              <a:solidFill>
                <a:srgbClr val="FF0000"/>
              </a:solidFill>
              <a:tailEnd type="arrow"/>
            </a:ln>
          </p:spPr>
          <p:style>
            <a:lnRef idx="2">
              <a:schemeClr val="accent1"/>
            </a:lnRef>
            <a:fillRef idx="0">
              <a:schemeClr val="accent1"/>
            </a:fillRef>
            <a:effectRef idx="1">
              <a:schemeClr val="accent1"/>
            </a:effectRef>
            <a:fontRef idx="minor">
              <a:schemeClr val="tx1"/>
            </a:fontRef>
          </p:style>
        </p:cxnSp>
      </p:grpSp>
      <p:sp>
        <p:nvSpPr>
          <p:cNvPr id="61" name="TextBox 60">
            <a:extLst>
              <a:ext uri="{FF2B5EF4-FFF2-40B4-BE49-F238E27FC236}">
                <a16:creationId xmlns:a16="http://schemas.microsoft.com/office/drawing/2014/main" id="{72D95750-5804-23FF-167F-3E6C258BC9D0}"/>
              </a:ext>
            </a:extLst>
          </p:cNvPr>
          <p:cNvSpPr txBox="1"/>
          <p:nvPr/>
        </p:nvSpPr>
        <p:spPr>
          <a:xfrm>
            <a:off x="2293104" y="5250089"/>
            <a:ext cx="2629441" cy="646331"/>
          </a:xfrm>
          <a:prstGeom prst="rect">
            <a:avLst/>
          </a:prstGeom>
          <a:noFill/>
        </p:spPr>
        <p:txBody>
          <a:bodyPr wrap="square" rtlCol="0">
            <a:spAutoFit/>
          </a:bodyPr>
          <a:lstStyle/>
          <a:p>
            <a:pPr algn="ctr"/>
            <a:r>
              <a:rPr lang="en-US" sz="1800" b="0" dirty="0">
                <a:latin typeface="Times New Roman"/>
                <a:cs typeface="Times New Roman"/>
              </a:rPr>
              <a:t>And forget that all routing </a:t>
            </a:r>
            <a:r>
              <a:rPr lang="en-US" sz="1800" b="0" i="1" dirty="0">
                <a:latin typeface="Times New Roman"/>
                <a:cs typeface="Times New Roman"/>
              </a:rPr>
              <a:t>is</a:t>
            </a:r>
            <a:r>
              <a:rPr lang="en-US" sz="1800" b="0" dirty="0">
                <a:latin typeface="Times New Roman"/>
                <a:cs typeface="Times New Roman"/>
              </a:rPr>
              <a:t> between processes</a:t>
            </a:r>
          </a:p>
        </p:txBody>
      </p:sp>
      <p:sp>
        <p:nvSpPr>
          <p:cNvPr id="62" name="TextBox 61">
            <a:extLst>
              <a:ext uri="{FF2B5EF4-FFF2-40B4-BE49-F238E27FC236}">
                <a16:creationId xmlns:a16="http://schemas.microsoft.com/office/drawing/2014/main" id="{D7E23804-7F5C-E87B-ED31-9C352719DEE1}"/>
              </a:ext>
            </a:extLst>
          </p:cNvPr>
          <p:cNvSpPr txBox="1"/>
          <p:nvPr/>
        </p:nvSpPr>
        <p:spPr>
          <a:xfrm>
            <a:off x="1549873" y="5875077"/>
            <a:ext cx="4338977" cy="461665"/>
          </a:xfrm>
          <a:prstGeom prst="rect">
            <a:avLst/>
          </a:prstGeom>
          <a:noFill/>
        </p:spPr>
        <p:txBody>
          <a:bodyPr wrap="square" rtlCol="0">
            <a:spAutoFit/>
          </a:bodyPr>
          <a:lstStyle/>
          <a:p>
            <a:r>
              <a:rPr lang="en-US" b="0" dirty="0">
                <a:latin typeface="Times New Roman"/>
                <a:cs typeface="Times New Roman"/>
              </a:rPr>
              <a:t>Ahh, but they found that routing was on the node address! Great!</a:t>
            </a:r>
          </a:p>
          <a:p>
            <a:endParaRPr lang="en-US" b="0" dirty="0"/>
          </a:p>
        </p:txBody>
      </p:sp>
      <p:sp>
        <p:nvSpPr>
          <p:cNvPr id="63" name="TextBox 62">
            <a:extLst>
              <a:ext uri="{FF2B5EF4-FFF2-40B4-BE49-F238E27FC236}">
                <a16:creationId xmlns:a16="http://schemas.microsoft.com/office/drawing/2014/main" id="{62E2C5D3-6A64-FE31-FE1B-606F8A34CBDA}"/>
              </a:ext>
            </a:extLst>
          </p:cNvPr>
          <p:cNvSpPr txBox="1"/>
          <p:nvPr/>
        </p:nvSpPr>
        <p:spPr>
          <a:xfrm>
            <a:off x="2429034" y="6244171"/>
            <a:ext cx="2709909" cy="276999"/>
          </a:xfrm>
          <a:prstGeom prst="rect">
            <a:avLst/>
          </a:prstGeom>
          <a:noFill/>
        </p:spPr>
        <p:txBody>
          <a:bodyPr wrap="none" rtlCol="0">
            <a:spAutoFit/>
          </a:bodyPr>
          <a:lstStyle/>
          <a:p>
            <a:r>
              <a:rPr lang="en-US" b="0" dirty="0"/>
              <a:t>Alas! No! Inexplicably They Concluded:</a:t>
            </a:r>
          </a:p>
        </p:txBody>
      </p:sp>
    </p:spTree>
    <p:extLst>
      <p:ext uri="{BB962C8B-B14F-4D97-AF65-F5344CB8AC3E}">
        <p14:creationId xmlns:p14="http://schemas.microsoft.com/office/powerpoint/2010/main" val="1172290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9" grpId="0"/>
      <p:bldP spid="61" grpId="0"/>
      <p:bldP spid="62" grpId="0"/>
      <p:bldP spid="6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Date Placeholder 3"/>
          <p:cNvSpPr>
            <a:spLocks noGrp="1"/>
          </p:cNvSpPr>
          <p:nvPr>
            <p:ph type="dt" sz="quarter" idx="10"/>
          </p:nvPr>
        </p:nvSpPr>
        <p:spPr/>
        <p:txBody>
          <a:bodyPr/>
          <a:lstStyle/>
          <a:p>
            <a:pPr>
              <a:defRPr/>
            </a:pPr>
            <a:fld id="{93B62A00-79B2-4B41-8B35-989B221A6AFC}" type="datetime3">
              <a:rPr lang="en-US"/>
              <a:pPr>
                <a:defRPr/>
              </a:pPr>
              <a:t>14 January 2026</a:t>
            </a:fld>
            <a:endParaRPr lang="en-US"/>
          </a:p>
        </p:txBody>
      </p:sp>
      <p:sp>
        <p:nvSpPr>
          <p:cNvPr id="26" name="Footer Placeholder 4"/>
          <p:cNvSpPr>
            <a:spLocks noGrp="1"/>
          </p:cNvSpPr>
          <p:nvPr>
            <p:ph type="ftr" sz="quarter" idx="11"/>
          </p:nvPr>
        </p:nvSpPr>
        <p:spPr/>
        <p:txBody>
          <a:bodyPr/>
          <a:lstStyle/>
          <a:p>
            <a:pPr>
              <a:defRPr/>
            </a:pPr>
            <a:r>
              <a:rPr lang="en-US"/>
              <a:t>.</a:t>
            </a:r>
          </a:p>
        </p:txBody>
      </p:sp>
      <p:sp>
        <p:nvSpPr>
          <p:cNvPr id="27" name="Slide Number Placeholder 5"/>
          <p:cNvSpPr>
            <a:spLocks noGrp="1"/>
          </p:cNvSpPr>
          <p:nvPr>
            <p:ph type="sldNum" sz="quarter" idx="12"/>
          </p:nvPr>
        </p:nvSpPr>
        <p:spPr/>
        <p:txBody>
          <a:bodyPr/>
          <a:lstStyle/>
          <a:p>
            <a:pPr>
              <a:defRPr/>
            </a:pPr>
            <a:fld id="{64EB03F7-E9F2-F542-9BE4-5DCAEAD12973}" type="slidenum">
              <a:rPr lang="en-US"/>
              <a:pPr>
                <a:defRPr/>
              </a:pPr>
              <a:t>33</a:t>
            </a:fld>
            <a:endParaRPr lang="en-US"/>
          </a:p>
        </p:txBody>
      </p:sp>
      <p:sp>
        <p:nvSpPr>
          <p:cNvPr id="539650" name="Rectangle 2"/>
          <p:cNvSpPr>
            <a:spLocks noGrp="1" noChangeArrowheads="1"/>
          </p:cNvSpPr>
          <p:nvPr>
            <p:ph type="title"/>
          </p:nvPr>
        </p:nvSpPr>
        <p:spPr>
          <a:xfrm>
            <a:off x="685800" y="533400"/>
            <a:ext cx="7772400" cy="990600"/>
          </a:xfrm>
        </p:spPr>
        <p:txBody>
          <a:bodyPr/>
          <a:lstStyle/>
          <a:p>
            <a:pPr>
              <a:defRPr/>
            </a:pPr>
            <a:r>
              <a:rPr lang="en-US" sz="3200" dirty="0">
                <a:cs typeface="+mj-cs"/>
              </a:rPr>
              <a:t>They Conclude It Names</a:t>
            </a:r>
            <a:br>
              <a:rPr lang="en-US" sz="3200" dirty="0">
                <a:cs typeface="+mj-cs"/>
              </a:rPr>
            </a:br>
            <a:r>
              <a:rPr lang="en-US" sz="3200" dirty="0">
                <a:cs typeface="+mj-cs"/>
              </a:rPr>
              <a:t>the Endpoint with the Application</a:t>
            </a:r>
          </a:p>
        </p:txBody>
      </p:sp>
      <p:sp>
        <p:nvSpPr>
          <p:cNvPr id="539651" name="Rectangle 3"/>
          <p:cNvSpPr>
            <a:spLocks noGrp="1" noChangeArrowheads="1"/>
          </p:cNvSpPr>
          <p:nvPr>
            <p:ph type="body" idx="1"/>
          </p:nvPr>
        </p:nvSpPr>
        <p:spPr>
          <a:xfrm>
            <a:off x="685800" y="1600200"/>
            <a:ext cx="7772400" cy="4114800"/>
          </a:xfrm>
        </p:spPr>
        <p:txBody>
          <a:bodyPr/>
          <a:lstStyle/>
          <a:p>
            <a:pPr>
              <a:defRPr/>
            </a:pPr>
            <a:r>
              <a:rPr lang="en-US" sz="2000" dirty="0">
                <a:cs typeface="+mn-cs"/>
              </a:rPr>
              <a:t>All proposals based on </a:t>
            </a:r>
            <a:r>
              <a:rPr lang="en-US" sz="2000" dirty="0" err="1">
                <a:cs typeface="+mn-cs"/>
              </a:rPr>
              <a:t>loc</a:t>
            </a:r>
            <a:r>
              <a:rPr lang="en-US" sz="2000" dirty="0">
                <a:cs typeface="+mn-cs"/>
              </a:rPr>
              <a:t>/id split have the same flaw.</a:t>
            </a:r>
          </a:p>
          <a:p>
            <a:pPr>
              <a:defRPr/>
            </a:pPr>
            <a:r>
              <a:rPr lang="en-US" sz="2000" dirty="0">
                <a:cs typeface="+mn-cs"/>
              </a:rPr>
              <a:t>Let us put it in the context of the IPC Model.</a:t>
            </a:r>
          </a:p>
          <a:p>
            <a:pPr>
              <a:defRPr/>
            </a:pPr>
            <a:r>
              <a:rPr lang="en-US" sz="2000" dirty="0">
                <a:cs typeface="+mn-cs"/>
              </a:rPr>
              <a:t>Let us look at it very carefully. What do the locator and the identifier name?</a:t>
            </a:r>
          </a:p>
        </p:txBody>
      </p:sp>
      <p:grpSp>
        <p:nvGrpSpPr>
          <p:cNvPr id="539652" name="Group 4"/>
          <p:cNvGrpSpPr>
            <a:grpSpLocks/>
          </p:cNvGrpSpPr>
          <p:nvPr/>
        </p:nvGrpSpPr>
        <p:grpSpPr bwMode="auto">
          <a:xfrm>
            <a:off x="4038600" y="2895600"/>
            <a:ext cx="1447800" cy="1828800"/>
            <a:chOff x="2544" y="1824"/>
            <a:chExt cx="912" cy="1152"/>
          </a:xfrm>
        </p:grpSpPr>
        <p:sp>
          <p:nvSpPr>
            <p:cNvPr id="86049" name="Rectangle 5"/>
            <p:cNvSpPr>
              <a:spLocks noChangeArrowheads="1"/>
            </p:cNvSpPr>
            <p:nvPr/>
          </p:nvSpPr>
          <p:spPr bwMode="auto">
            <a:xfrm>
              <a:off x="2544" y="1824"/>
              <a:ext cx="912" cy="1152"/>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86050" name="Line 6"/>
            <p:cNvSpPr>
              <a:spLocks noChangeShapeType="1"/>
            </p:cNvSpPr>
            <p:nvPr/>
          </p:nvSpPr>
          <p:spPr bwMode="auto">
            <a:xfrm>
              <a:off x="2544" y="2208"/>
              <a:ext cx="912"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6051" name="Line 7"/>
            <p:cNvSpPr>
              <a:spLocks noChangeShapeType="1"/>
            </p:cNvSpPr>
            <p:nvPr/>
          </p:nvSpPr>
          <p:spPr bwMode="auto">
            <a:xfrm>
              <a:off x="2544" y="2592"/>
              <a:ext cx="912"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6052" name="Line 8"/>
            <p:cNvSpPr>
              <a:spLocks noChangeShapeType="1"/>
            </p:cNvSpPr>
            <p:nvPr/>
          </p:nvSpPr>
          <p:spPr bwMode="auto">
            <a:xfrm flipH="1">
              <a:off x="2832" y="2448"/>
              <a:ext cx="96" cy="24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6053" name="Line 9"/>
            <p:cNvSpPr>
              <a:spLocks noChangeShapeType="1"/>
            </p:cNvSpPr>
            <p:nvPr/>
          </p:nvSpPr>
          <p:spPr bwMode="auto">
            <a:xfrm>
              <a:off x="2976" y="2400"/>
              <a:ext cx="240" cy="336"/>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6054" name="Oval 10"/>
            <p:cNvSpPr>
              <a:spLocks noChangeArrowheads="1"/>
            </p:cNvSpPr>
            <p:nvPr/>
          </p:nvSpPr>
          <p:spPr bwMode="auto">
            <a:xfrm>
              <a:off x="2688" y="2640"/>
              <a:ext cx="288" cy="288"/>
            </a:xfrm>
            <a:prstGeom prst="ellipse">
              <a:avLst/>
            </a:prstGeom>
            <a:solidFill>
              <a:schemeClr val="bg1"/>
            </a:solidFill>
            <a:ln w="9525">
              <a:solidFill>
                <a:schemeClr val="tx1"/>
              </a:solidFill>
              <a:round/>
              <a:headEnd/>
              <a:tailEnd/>
            </a:ln>
          </p:spPr>
          <p:txBody>
            <a:bodyPr wrap="none" anchor="ctr"/>
            <a:lstStyle/>
            <a:p>
              <a:endParaRPr lang="en-US"/>
            </a:p>
          </p:txBody>
        </p:sp>
        <p:sp>
          <p:nvSpPr>
            <p:cNvPr id="86055" name="Oval 11"/>
            <p:cNvSpPr>
              <a:spLocks noChangeArrowheads="1"/>
            </p:cNvSpPr>
            <p:nvPr/>
          </p:nvSpPr>
          <p:spPr bwMode="auto">
            <a:xfrm>
              <a:off x="3072" y="2640"/>
              <a:ext cx="288" cy="288"/>
            </a:xfrm>
            <a:prstGeom prst="ellipse">
              <a:avLst/>
            </a:prstGeom>
            <a:solidFill>
              <a:schemeClr val="bg1"/>
            </a:solidFill>
            <a:ln w="9525">
              <a:solidFill>
                <a:schemeClr val="tx1"/>
              </a:solidFill>
              <a:round/>
              <a:headEnd/>
              <a:tailEnd/>
            </a:ln>
          </p:spPr>
          <p:txBody>
            <a:bodyPr wrap="none" anchor="ctr"/>
            <a:lstStyle/>
            <a:p>
              <a:endParaRPr lang="en-US"/>
            </a:p>
          </p:txBody>
        </p:sp>
        <p:sp>
          <p:nvSpPr>
            <p:cNvPr id="86056" name="Oval 12"/>
            <p:cNvSpPr>
              <a:spLocks noChangeArrowheads="1"/>
            </p:cNvSpPr>
            <p:nvPr/>
          </p:nvSpPr>
          <p:spPr bwMode="auto">
            <a:xfrm>
              <a:off x="2832" y="2256"/>
              <a:ext cx="288" cy="288"/>
            </a:xfrm>
            <a:prstGeom prst="ellipse">
              <a:avLst/>
            </a:prstGeom>
            <a:solidFill>
              <a:schemeClr val="bg1"/>
            </a:solidFill>
            <a:ln w="9525">
              <a:solidFill>
                <a:schemeClr val="tx1"/>
              </a:solidFill>
              <a:round/>
              <a:headEnd/>
              <a:tailEnd/>
            </a:ln>
          </p:spPr>
          <p:txBody>
            <a:bodyPr wrap="none" anchor="ctr"/>
            <a:lstStyle/>
            <a:p>
              <a:endParaRPr lang="en-US"/>
            </a:p>
          </p:txBody>
        </p:sp>
      </p:grpSp>
      <p:grpSp>
        <p:nvGrpSpPr>
          <p:cNvPr id="539664" name="Group 16"/>
          <p:cNvGrpSpPr>
            <a:grpSpLocks/>
          </p:cNvGrpSpPr>
          <p:nvPr/>
        </p:nvGrpSpPr>
        <p:grpSpPr bwMode="auto">
          <a:xfrm>
            <a:off x="5410200" y="4243388"/>
            <a:ext cx="1720850" cy="304800"/>
            <a:chOff x="3408" y="2673"/>
            <a:chExt cx="1084" cy="192"/>
          </a:xfrm>
        </p:grpSpPr>
        <p:sp>
          <p:nvSpPr>
            <p:cNvPr id="86047" name="Line 17"/>
            <p:cNvSpPr>
              <a:spLocks noChangeShapeType="1"/>
            </p:cNvSpPr>
            <p:nvPr/>
          </p:nvSpPr>
          <p:spPr bwMode="auto">
            <a:xfrm>
              <a:off x="3408" y="2784"/>
              <a:ext cx="528" cy="0"/>
            </a:xfrm>
            <a:prstGeom prst="line">
              <a:avLst/>
            </a:prstGeom>
            <a:noFill/>
            <a:ln w="9525">
              <a:solidFill>
                <a:schemeClr val="tx1"/>
              </a:solidFill>
              <a:round/>
              <a:headEnd type="triangle" w="med" len="me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6048" name="Text Box 18"/>
            <p:cNvSpPr txBox="1">
              <a:spLocks noChangeArrowheads="1"/>
            </p:cNvSpPr>
            <p:nvPr/>
          </p:nvSpPr>
          <p:spPr bwMode="auto">
            <a:xfrm>
              <a:off x="3984" y="2673"/>
              <a:ext cx="508" cy="19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wrap="none">
              <a:spAutoFit/>
            </a:bodyPr>
            <a:lstStyle>
              <a:lvl1pPr>
                <a:defRPr sz="1200" b="1">
                  <a:solidFill>
                    <a:schemeClr val="tx1"/>
                  </a:solidFill>
                  <a:latin typeface="Times" charset="0"/>
                  <a:ea typeface="ＭＳ Ｐゴシック" charset="0"/>
                  <a:cs typeface="ＭＳ Ｐゴシック" charset="0"/>
                </a:defRPr>
              </a:lvl1pPr>
              <a:lvl2pPr marL="742950" indent="-285750">
                <a:defRPr sz="1200" b="1">
                  <a:solidFill>
                    <a:schemeClr val="tx1"/>
                  </a:solidFill>
                  <a:latin typeface="Times" charset="0"/>
                  <a:ea typeface="ＭＳ Ｐゴシック" charset="0"/>
                </a:defRPr>
              </a:lvl2pPr>
              <a:lvl3pPr marL="1143000" indent="-228600">
                <a:defRPr sz="1200" b="1">
                  <a:solidFill>
                    <a:schemeClr val="tx1"/>
                  </a:solidFill>
                  <a:latin typeface="Times" charset="0"/>
                  <a:ea typeface="ＭＳ Ｐゴシック" charset="0"/>
                </a:defRPr>
              </a:lvl3pPr>
              <a:lvl4pPr marL="1600200" indent="-228600">
                <a:defRPr sz="1200" b="1">
                  <a:solidFill>
                    <a:schemeClr val="tx1"/>
                  </a:solidFill>
                  <a:latin typeface="Times" charset="0"/>
                  <a:ea typeface="ＭＳ Ｐゴシック" charset="0"/>
                </a:defRPr>
              </a:lvl4pPr>
              <a:lvl5pPr marL="2057400" indent="-228600">
                <a:defRPr sz="1200" b="1">
                  <a:solidFill>
                    <a:schemeClr val="tx1"/>
                  </a:solidFill>
                  <a:latin typeface="Times" charset="0"/>
                  <a:ea typeface="ＭＳ Ｐゴシック" charset="0"/>
                </a:defRPr>
              </a:lvl5pPr>
              <a:lvl6pPr marL="2514600" indent="-228600" eaLnBrk="0" fontAlgn="base" hangingPunct="0">
                <a:spcBef>
                  <a:spcPct val="0"/>
                </a:spcBef>
                <a:spcAft>
                  <a:spcPct val="0"/>
                </a:spcAft>
                <a:defRPr sz="1200" b="1">
                  <a:solidFill>
                    <a:schemeClr val="tx1"/>
                  </a:solidFill>
                  <a:latin typeface="Times" charset="0"/>
                  <a:ea typeface="ＭＳ Ｐゴシック" charset="0"/>
                </a:defRPr>
              </a:lvl6pPr>
              <a:lvl7pPr marL="2971800" indent="-228600" eaLnBrk="0" fontAlgn="base" hangingPunct="0">
                <a:spcBef>
                  <a:spcPct val="0"/>
                </a:spcBef>
                <a:spcAft>
                  <a:spcPct val="0"/>
                </a:spcAft>
                <a:defRPr sz="1200" b="1">
                  <a:solidFill>
                    <a:schemeClr val="tx1"/>
                  </a:solidFill>
                  <a:latin typeface="Times" charset="0"/>
                  <a:ea typeface="ＭＳ Ｐゴシック" charset="0"/>
                </a:defRPr>
              </a:lvl7pPr>
              <a:lvl8pPr marL="3429000" indent="-228600" eaLnBrk="0" fontAlgn="base" hangingPunct="0">
                <a:spcBef>
                  <a:spcPct val="0"/>
                </a:spcBef>
                <a:spcAft>
                  <a:spcPct val="0"/>
                </a:spcAft>
                <a:defRPr sz="1200" b="1">
                  <a:solidFill>
                    <a:schemeClr val="tx1"/>
                  </a:solidFill>
                  <a:latin typeface="Times" charset="0"/>
                  <a:ea typeface="ＭＳ Ｐゴシック" charset="0"/>
                </a:defRPr>
              </a:lvl8pPr>
              <a:lvl9pPr marL="3886200" indent="-228600" eaLnBrk="0" fontAlgn="base" hangingPunct="0">
                <a:spcBef>
                  <a:spcPct val="0"/>
                </a:spcBef>
                <a:spcAft>
                  <a:spcPct val="0"/>
                </a:spcAft>
                <a:defRPr sz="1200" b="1">
                  <a:solidFill>
                    <a:schemeClr val="tx1"/>
                  </a:solidFill>
                  <a:latin typeface="Times" charset="0"/>
                  <a:ea typeface="ＭＳ Ｐゴシック" charset="0"/>
                </a:defRPr>
              </a:lvl9pPr>
            </a:lstStyle>
            <a:p>
              <a:r>
                <a:rPr lang="en-US" sz="1400" b="0"/>
                <a:t>Locators</a:t>
              </a:r>
            </a:p>
          </p:txBody>
        </p:sp>
      </p:grpSp>
      <p:sp>
        <p:nvSpPr>
          <p:cNvPr id="539667" name="Text Box 19"/>
          <p:cNvSpPr txBox="1">
            <a:spLocks noChangeArrowheads="1"/>
          </p:cNvSpPr>
          <p:nvPr/>
        </p:nvSpPr>
        <p:spPr bwMode="auto">
          <a:xfrm>
            <a:off x="1866900" y="5029200"/>
            <a:ext cx="5410200" cy="64135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spAutoFit/>
          </a:bodyPr>
          <a:lstStyle>
            <a:lvl1pPr>
              <a:defRPr sz="1200" b="1">
                <a:solidFill>
                  <a:schemeClr val="tx1"/>
                </a:solidFill>
                <a:latin typeface="Times" charset="0"/>
                <a:ea typeface="ＭＳ Ｐゴシック" charset="0"/>
                <a:cs typeface="ＭＳ Ｐゴシック" charset="0"/>
              </a:defRPr>
            </a:lvl1pPr>
            <a:lvl2pPr marL="742950" indent="-285750">
              <a:defRPr sz="1200" b="1">
                <a:solidFill>
                  <a:schemeClr val="tx1"/>
                </a:solidFill>
                <a:latin typeface="Times" charset="0"/>
                <a:ea typeface="ＭＳ Ｐゴシック" charset="0"/>
              </a:defRPr>
            </a:lvl2pPr>
            <a:lvl3pPr marL="1143000" indent="-228600">
              <a:defRPr sz="1200" b="1">
                <a:solidFill>
                  <a:schemeClr val="tx1"/>
                </a:solidFill>
                <a:latin typeface="Times" charset="0"/>
                <a:ea typeface="ＭＳ Ｐゴシック" charset="0"/>
              </a:defRPr>
            </a:lvl3pPr>
            <a:lvl4pPr marL="1600200" indent="-228600">
              <a:defRPr sz="1200" b="1">
                <a:solidFill>
                  <a:schemeClr val="tx1"/>
                </a:solidFill>
                <a:latin typeface="Times" charset="0"/>
                <a:ea typeface="ＭＳ Ｐゴシック" charset="0"/>
              </a:defRPr>
            </a:lvl4pPr>
            <a:lvl5pPr marL="2057400" indent="-228600">
              <a:defRPr sz="1200" b="1">
                <a:solidFill>
                  <a:schemeClr val="tx1"/>
                </a:solidFill>
                <a:latin typeface="Times" charset="0"/>
                <a:ea typeface="ＭＳ Ｐゴシック" charset="0"/>
              </a:defRPr>
            </a:lvl5pPr>
            <a:lvl6pPr marL="2514600" indent="-228600" eaLnBrk="0" fontAlgn="base" hangingPunct="0">
              <a:spcBef>
                <a:spcPct val="0"/>
              </a:spcBef>
              <a:spcAft>
                <a:spcPct val="0"/>
              </a:spcAft>
              <a:defRPr sz="1200" b="1">
                <a:solidFill>
                  <a:schemeClr val="tx1"/>
                </a:solidFill>
                <a:latin typeface="Times" charset="0"/>
                <a:ea typeface="ＭＳ Ｐゴシック" charset="0"/>
              </a:defRPr>
            </a:lvl6pPr>
            <a:lvl7pPr marL="2971800" indent="-228600" eaLnBrk="0" fontAlgn="base" hangingPunct="0">
              <a:spcBef>
                <a:spcPct val="0"/>
              </a:spcBef>
              <a:spcAft>
                <a:spcPct val="0"/>
              </a:spcAft>
              <a:defRPr sz="1200" b="1">
                <a:solidFill>
                  <a:schemeClr val="tx1"/>
                </a:solidFill>
                <a:latin typeface="Times" charset="0"/>
                <a:ea typeface="ＭＳ Ｐゴシック" charset="0"/>
              </a:defRPr>
            </a:lvl7pPr>
            <a:lvl8pPr marL="3429000" indent="-228600" eaLnBrk="0" fontAlgn="base" hangingPunct="0">
              <a:spcBef>
                <a:spcPct val="0"/>
              </a:spcBef>
              <a:spcAft>
                <a:spcPct val="0"/>
              </a:spcAft>
              <a:defRPr sz="1200" b="1">
                <a:solidFill>
                  <a:schemeClr val="tx1"/>
                </a:solidFill>
                <a:latin typeface="Times" charset="0"/>
                <a:ea typeface="ＭＳ Ｐゴシック" charset="0"/>
              </a:defRPr>
            </a:lvl8pPr>
            <a:lvl9pPr marL="3886200" indent="-228600" eaLnBrk="0" fontAlgn="base" hangingPunct="0">
              <a:spcBef>
                <a:spcPct val="0"/>
              </a:spcBef>
              <a:spcAft>
                <a:spcPct val="0"/>
              </a:spcAft>
              <a:defRPr sz="1200" b="1">
                <a:solidFill>
                  <a:schemeClr val="tx1"/>
                </a:solidFill>
                <a:latin typeface="Times" charset="0"/>
                <a:ea typeface="ＭＳ Ｐゴシック" charset="0"/>
              </a:defRPr>
            </a:lvl9pPr>
          </a:lstStyle>
          <a:p>
            <a:pPr algn="ctr"/>
            <a:r>
              <a:rPr lang="en-US" sz="2000" b="0"/>
              <a:t>The Locator Locates the Wrong Thing!</a:t>
            </a:r>
            <a:r>
              <a:rPr lang="en-US" sz="2400" b="0"/>
              <a:t> </a:t>
            </a:r>
          </a:p>
          <a:p>
            <a:pPr algn="ctr"/>
            <a:r>
              <a:rPr lang="en-US" sz="1600" b="0"/>
              <a:t>The locator is part of the path, not the final destination. </a:t>
            </a:r>
          </a:p>
        </p:txBody>
      </p:sp>
      <p:grpSp>
        <p:nvGrpSpPr>
          <p:cNvPr id="539668" name="Group 20"/>
          <p:cNvGrpSpPr>
            <a:grpSpLocks/>
          </p:cNvGrpSpPr>
          <p:nvPr/>
        </p:nvGrpSpPr>
        <p:grpSpPr bwMode="auto">
          <a:xfrm>
            <a:off x="1447800" y="4191000"/>
            <a:ext cx="2819400" cy="457200"/>
            <a:chOff x="528" y="2784"/>
            <a:chExt cx="1776" cy="288"/>
          </a:xfrm>
        </p:grpSpPr>
        <p:sp>
          <p:nvSpPr>
            <p:cNvPr id="86044" name="Line 21"/>
            <p:cNvSpPr>
              <a:spLocks noChangeShapeType="1"/>
            </p:cNvSpPr>
            <p:nvPr/>
          </p:nvSpPr>
          <p:spPr bwMode="auto">
            <a:xfrm flipH="1">
              <a:off x="528" y="2928"/>
              <a:ext cx="1776"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6045" name="Oval 22"/>
            <p:cNvSpPr>
              <a:spLocks noChangeArrowheads="1"/>
            </p:cNvSpPr>
            <p:nvPr/>
          </p:nvSpPr>
          <p:spPr bwMode="auto">
            <a:xfrm>
              <a:off x="1536" y="2784"/>
              <a:ext cx="288" cy="288"/>
            </a:xfrm>
            <a:prstGeom prst="ellipse">
              <a:avLst/>
            </a:prstGeom>
            <a:solidFill>
              <a:schemeClr val="bg1"/>
            </a:solidFill>
            <a:ln w="9525">
              <a:solidFill>
                <a:schemeClr val="tx1"/>
              </a:solidFill>
              <a:round/>
              <a:headEnd/>
              <a:tailEnd/>
            </a:ln>
          </p:spPr>
          <p:txBody>
            <a:bodyPr wrap="none" anchor="ctr"/>
            <a:lstStyle/>
            <a:p>
              <a:endParaRPr lang="en-US"/>
            </a:p>
          </p:txBody>
        </p:sp>
        <p:sp>
          <p:nvSpPr>
            <p:cNvPr id="86046" name="Oval 23"/>
            <p:cNvSpPr>
              <a:spLocks noChangeArrowheads="1"/>
            </p:cNvSpPr>
            <p:nvPr/>
          </p:nvSpPr>
          <p:spPr bwMode="auto">
            <a:xfrm>
              <a:off x="960" y="2784"/>
              <a:ext cx="288" cy="288"/>
            </a:xfrm>
            <a:prstGeom prst="ellipse">
              <a:avLst/>
            </a:prstGeom>
            <a:solidFill>
              <a:schemeClr val="bg1"/>
            </a:solidFill>
            <a:ln w="9525">
              <a:solidFill>
                <a:schemeClr val="tx1"/>
              </a:solidFill>
              <a:round/>
              <a:headEnd/>
              <a:tailEnd/>
            </a:ln>
          </p:spPr>
          <p:txBody>
            <a:bodyPr wrap="none" anchor="ctr"/>
            <a:lstStyle/>
            <a:p>
              <a:endParaRPr lang="en-US"/>
            </a:p>
          </p:txBody>
        </p:sp>
      </p:grpSp>
      <p:sp>
        <p:nvSpPr>
          <p:cNvPr id="539672" name="Text Box 24"/>
          <p:cNvSpPr txBox="1">
            <a:spLocks noChangeArrowheads="1"/>
          </p:cNvSpPr>
          <p:nvPr/>
        </p:nvSpPr>
        <p:spPr bwMode="auto">
          <a:xfrm>
            <a:off x="2289175" y="5715000"/>
            <a:ext cx="4351710" cy="36933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wrap="none">
            <a:spAutoFit/>
          </a:bodyPr>
          <a:lstStyle>
            <a:lvl1pPr>
              <a:defRPr sz="1200" b="1">
                <a:solidFill>
                  <a:schemeClr val="tx1"/>
                </a:solidFill>
                <a:latin typeface="Times" charset="0"/>
                <a:ea typeface="ＭＳ Ｐゴシック" charset="0"/>
                <a:cs typeface="ＭＳ Ｐゴシック" charset="0"/>
              </a:defRPr>
            </a:lvl1pPr>
            <a:lvl2pPr marL="742950" indent="-285750">
              <a:defRPr sz="1200" b="1">
                <a:solidFill>
                  <a:schemeClr val="tx1"/>
                </a:solidFill>
                <a:latin typeface="Times" charset="0"/>
                <a:ea typeface="ＭＳ Ｐゴシック" charset="0"/>
              </a:defRPr>
            </a:lvl2pPr>
            <a:lvl3pPr marL="1143000" indent="-228600">
              <a:defRPr sz="1200" b="1">
                <a:solidFill>
                  <a:schemeClr val="tx1"/>
                </a:solidFill>
                <a:latin typeface="Times" charset="0"/>
                <a:ea typeface="ＭＳ Ｐゴシック" charset="0"/>
              </a:defRPr>
            </a:lvl3pPr>
            <a:lvl4pPr marL="1600200" indent="-228600">
              <a:defRPr sz="1200" b="1">
                <a:solidFill>
                  <a:schemeClr val="tx1"/>
                </a:solidFill>
                <a:latin typeface="Times" charset="0"/>
                <a:ea typeface="ＭＳ Ｐゴシック" charset="0"/>
              </a:defRPr>
            </a:lvl4pPr>
            <a:lvl5pPr marL="2057400" indent="-228600">
              <a:defRPr sz="1200" b="1">
                <a:solidFill>
                  <a:schemeClr val="tx1"/>
                </a:solidFill>
                <a:latin typeface="Times" charset="0"/>
                <a:ea typeface="ＭＳ Ｐゴシック" charset="0"/>
              </a:defRPr>
            </a:lvl5pPr>
            <a:lvl6pPr marL="2514600" indent="-228600" eaLnBrk="0" fontAlgn="base" hangingPunct="0">
              <a:spcBef>
                <a:spcPct val="0"/>
              </a:spcBef>
              <a:spcAft>
                <a:spcPct val="0"/>
              </a:spcAft>
              <a:defRPr sz="1200" b="1">
                <a:solidFill>
                  <a:schemeClr val="tx1"/>
                </a:solidFill>
                <a:latin typeface="Times" charset="0"/>
                <a:ea typeface="ＭＳ Ｐゴシック" charset="0"/>
              </a:defRPr>
            </a:lvl6pPr>
            <a:lvl7pPr marL="2971800" indent="-228600" eaLnBrk="0" fontAlgn="base" hangingPunct="0">
              <a:spcBef>
                <a:spcPct val="0"/>
              </a:spcBef>
              <a:spcAft>
                <a:spcPct val="0"/>
              </a:spcAft>
              <a:defRPr sz="1200" b="1">
                <a:solidFill>
                  <a:schemeClr val="tx1"/>
                </a:solidFill>
                <a:latin typeface="Times" charset="0"/>
                <a:ea typeface="ＭＳ Ｐゴシック" charset="0"/>
              </a:defRPr>
            </a:lvl7pPr>
            <a:lvl8pPr marL="3429000" indent="-228600" eaLnBrk="0" fontAlgn="base" hangingPunct="0">
              <a:spcBef>
                <a:spcPct val="0"/>
              </a:spcBef>
              <a:spcAft>
                <a:spcPct val="0"/>
              </a:spcAft>
              <a:defRPr sz="1200" b="1">
                <a:solidFill>
                  <a:schemeClr val="tx1"/>
                </a:solidFill>
                <a:latin typeface="Times" charset="0"/>
                <a:ea typeface="ＭＳ Ｐゴシック" charset="0"/>
              </a:defRPr>
            </a:lvl8pPr>
            <a:lvl9pPr marL="3886200" indent="-228600" eaLnBrk="0" fontAlgn="base" hangingPunct="0">
              <a:spcBef>
                <a:spcPct val="0"/>
              </a:spcBef>
              <a:spcAft>
                <a:spcPct val="0"/>
              </a:spcAft>
              <a:defRPr sz="1200" b="1">
                <a:solidFill>
                  <a:schemeClr val="tx1"/>
                </a:solidFill>
                <a:latin typeface="Times" charset="0"/>
                <a:ea typeface="ＭＳ Ｐゴシック" charset="0"/>
              </a:defRPr>
            </a:lvl9pPr>
          </a:lstStyle>
          <a:p>
            <a:r>
              <a:rPr lang="en-US" sz="1800" b="0" dirty="0"/>
              <a:t>No wonder he ran into </a:t>
            </a:r>
            <a:r>
              <a:rPr lang="en-US" sz="1800" b="0" i="1" dirty="0"/>
              <a:t>path</a:t>
            </a:r>
            <a:r>
              <a:rPr lang="en-US" sz="1800" b="0" dirty="0"/>
              <a:t> discovery issues.</a:t>
            </a:r>
          </a:p>
        </p:txBody>
      </p:sp>
      <p:grpSp>
        <p:nvGrpSpPr>
          <p:cNvPr id="18" name="Group 17"/>
          <p:cNvGrpSpPr>
            <a:grpSpLocks/>
          </p:cNvGrpSpPr>
          <p:nvPr/>
        </p:nvGrpSpPr>
        <p:grpSpPr bwMode="auto">
          <a:xfrm>
            <a:off x="4114800" y="2667000"/>
            <a:ext cx="3894138" cy="914400"/>
            <a:chOff x="4114800" y="2667000"/>
            <a:chExt cx="3894138" cy="914400"/>
          </a:xfrm>
        </p:grpSpPr>
        <p:grpSp>
          <p:nvGrpSpPr>
            <p:cNvPr id="86033" name="Group 13"/>
            <p:cNvGrpSpPr>
              <a:grpSpLocks/>
            </p:cNvGrpSpPr>
            <p:nvPr/>
          </p:nvGrpSpPr>
          <p:grpSpPr bwMode="auto">
            <a:xfrm>
              <a:off x="5257800" y="2667000"/>
              <a:ext cx="2751138" cy="304800"/>
              <a:chOff x="3216" y="2289"/>
              <a:chExt cx="1733" cy="192"/>
            </a:xfrm>
          </p:grpSpPr>
          <p:sp>
            <p:nvSpPr>
              <p:cNvPr id="86042" name="Line 14"/>
              <p:cNvSpPr>
                <a:spLocks noChangeShapeType="1"/>
              </p:cNvSpPr>
              <p:nvPr/>
            </p:nvSpPr>
            <p:spPr bwMode="auto">
              <a:xfrm>
                <a:off x="3216" y="2400"/>
                <a:ext cx="768" cy="0"/>
              </a:xfrm>
              <a:prstGeom prst="line">
                <a:avLst/>
              </a:prstGeom>
              <a:noFill/>
              <a:ln w="9525">
                <a:solidFill>
                  <a:schemeClr val="tx1"/>
                </a:solidFill>
                <a:round/>
                <a:headEnd type="triangle" w="med" len="me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6043" name="Text Box 15"/>
              <p:cNvSpPr txBox="1">
                <a:spLocks noChangeArrowheads="1"/>
              </p:cNvSpPr>
              <p:nvPr/>
            </p:nvSpPr>
            <p:spPr bwMode="auto">
              <a:xfrm>
                <a:off x="3984" y="2289"/>
                <a:ext cx="965" cy="19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wrap="none">
                <a:spAutoFit/>
              </a:bodyPr>
              <a:lstStyle>
                <a:lvl1pPr>
                  <a:defRPr sz="1200" b="1">
                    <a:solidFill>
                      <a:schemeClr val="tx1"/>
                    </a:solidFill>
                    <a:latin typeface="Times" charset="0"/>
                    <a:ea typeface="ＭＳ Ｐゴシック" charset="0"/>
                    <a:cs typeface="ＭＳ Ｐゴシック" charset="0"/>
                  </a:defRPr>
                </a:lvl1pPr>
                <a:lvl2pPr marL="742950" indent="-285750">
                  <a:defRPr sz="1200" b="1">
                    <a:solidFill>
                      <a:schemeClr val="tx1"/>
                    </a:solidFill>
                    <a:latin typeface="Times" charset="0"/>
                    <a:ea typeface="ＭＳ Ｐゴシック" charset="0"/>
                  </a:defRPr>
                </a:lvl2pPr>
                <a:lvl3pPr marL="1143000" indent="-228600">
                  <a:defRPr sz="1200" b="1">
                    <a:solidFill>
                      <a:schemeClr val="tx1"/>
                    </a:solidFill>
                    <a:latin typeface="Times" charset="0"/>
                    <a:ea typeface="ＭＳ Ｐゴシック" charset="0"/>
                  </a:defRPr>
                </a:lvl3pPr>
                <a:lvl4pPr marL="1600200" indent="-228600">
                  <a:defRPr sz="1200" b="1">
                    <a:solidFill>
                      <a:schemeClr val="tx1"/>
                    </a:solidFill>
                    <a:latin typeface="Times" charset="0"/>
                    <a:ea typeface="ＭＳ Ｐゴシック" charset="0"/>
                  </a:defRPr>
                </a:lvl4pPr>
                <a:lvl5pPr marL="2057400" indent="-228600">
                  <a:defRPr sz="1200" b="1">
                    <a:solidFill>
                      <a:schemeClr val="tx1"/>
                    </a:solidFill>
                    <a:latin typeface="Times" charset="0"/>
                    <a:ea typeface="ＭＳ Ｐゴシック" charset="0"/>
                  </a:defRPr>
                </a:lvl5pPr>
                <a:lvl6pPr marL="2514600" indent="-228600" eaLnBrk="0" fontAlgn="base" hangingPunct="0">
                  <a:spcBef>
                    <a:spcPct val="0"/>
                  </a:spcBef>
                  <a:spcAft>
                    <a:spcPct val="0"/>
                  </a:spcAft>
                  <a:defRPr sz="1200" b="1">
                    <a:solidFill>
                      <a:schemeClr val="tx1"/>
                    </a:solidFill>
                    <a:latin typeface="Times" charset="0"/>
                    <a:ea typeface="ＭＳ Ｐゴシック" charset="0"/>
                  </a:defRPr>
                </a:lvl6pPr>
                <a:lvl7pPr marL="2971800" indent="-228600" eaLnBrk="0" fontAlgn="base" hangingPunct="0">
                  <a:spcBef>
                    <a:spcPct val="0"/>
                  </a:spcBef>
                  <a:spcAft>
                    <a:spcPct val="0"/>
                  </a:spcAft>
                  <a:defRPr sz="1200" b="1">
                    <a:solidFill>
                      <a:schemeClr val="tx1"/>
                    </a:solidFill>
                    <a:latin typeface="Times" charset="0"/>
                    <a:ea typeface="ＭＳ Ｐゴシック" charset="0"/>
                  </a:defRPr>
                </a:lvl7pPr>
                <a:lvl8pPr marL="3429000" indent="-228600" eaLnBrk="0" fontAlgn="base" hangingPunct="0">
                  <a:spcBef>
                    <a:spcPct val="0"/>
                  </a:spcBef>
                  <a:spcAft>
                    <a:spcPct val="0"/>
                  </a:spcAft>
                  <a:defRPr sz="1200" b="1">
                    <a:solidFill>
                      <a:schemeClr val="tx1"/>
                    </a:solidFill>
                    <a:latin typeface="Times" charset="0"/>
                    <a:ea typeface="ＭＳ Ｐゴシック" charset="0"/>
                  </a:defRPr>
                </a:lvl8pPr>
                <a:lvl9pPr marL="3886200" indent="-228600" eaLnBrk="0" fontAlgn="base" hangingPunct="0">
                  <a:spcBef>
                    <a:spcPct val="0"/>
                  </a:spcBef>
                  <a:spcAft>
                    <a:spcPct val="0"/>
                  </a:spcAft>
                  <a:defRPr sz="1200" b="1">
                    <a:solidFill>
                      <a:schemeClr val="tx1"/>
                    </a:solidFill>
                    <a:latin typeface="Times" charset="0"/>
                    <a:ea typeface="ＭＳ Ｐゴシック" charset="0"/>
                  </a:defRPr>
                </a:lvl9pPr>
              </a:lstStyle>
              <a:p>
                <a:r>
                  <a:rPr lang="en-US" sz="1400" b="0"/>
                  <a:t>Endpoint Identifier</a:t>
                </a:r>
                <a:endParaRPr lang="en-US" b="0"/>
              </a:p>
            </p:txBody>
          </p:sp>
        </p:grpSp>
        <p:sp>
          <p:nvSpPr>
            <p:cNvPr id="86034" name="Oval 2"/>
            <p:cNvSpPr>
              <a:spLocks noChangeArrowheads="1"/>
            </p:cNvSpPr>
            <p:nvPr/>
          </p:nvSpPr>
          <p:spPr bwMode="auto">
            <a:xfrm>
              <a:off x="4114800" y="2743200"/>
              <a:ext cx="228600" cy="228600"/>
            </a:xfrm>
            <a:prstGeom prst="ellipse">
              <a:avLst/>
            </a:prstGeom>
            <a:solidFill>
              <a:schemeClr val="bg1"/>
            </a:solidFill>
            <a:ln w="9525">
              <a:solidFill>
                <a:schemeClr val="tx1"/>
              </a:solidFill>
              <a:round/>
              <a:headEnd/>
              <a:tailEnd/>
            </a:ln>
          </p:spPr>
          <p:txBody>
            <a:bodyPr/>
            <a:lstStyle/>
            <a:p>
              <a:endParaRPr lang="en-US" sz="2400" b="0">
                <a:solidFill>
                  <a:srgbClr val="000000"/>
                </a:solidFill>
              </a:endParaRPr>
            </a:p>
          </p:txBody>
        </p:sp>
        <p:sp>
          <p:nvSpPr>
            <p:cNvPr id="86035" name="Oval 29"/>
            <p:cNvSpPr>
              <a:spLocks noChangeArrowheads="1"/>
            </p:cNvSpPr>
            <p:nvPr/>
          </p:nvSpPr>
          <p:spPr bwMode="auto">
            <a:xfrm>
              <a:off x="4419600" y="2743200"/>
              <a:ext cx="228600" cy="228600"/>
            </a:xfrm>
            <a:prstGeom prst="ellipse">
              <a:avLst/>
            </a:prstGeom>
            <a:solidFill>
              <a:schemeClr val="bg1"/>
            </a:solidFill>
            <a:ln w="9525">
              <a:solidFill>
                <a:schemeClr val="tx1"/>
              </a:solidFill>
              <a:round/>
              <a:headEnd/>
              <a:tailEnd/>
            </a:ln>
          </p:spPr>
          <p:txBody>
            <a:bodyPr/>
            <a:lstStyle/>
            <a:p>
              <a:endParaRPr lang="en-US" sz="2400" b="0">
                <a:solidFill>
                  <a:srgbClr val="000000"/>
                </a:solidFill>
              </a:endParaRPr>
            </a:p>
          </p:txBody>
        </p:sp>
        <p:sp>
          <p:nvSpPr>
            <p:cNvPr id="86036" name="Oval 30"/>
            <p:cNvSpPr>
              <a:spLocks noChangeArrowheads="1"/>
            </p:cNvSpPr>
            <p:nvPr/>
          </p:nvSpPr>
          <p:spPr bwMode="auto">
            <a:xfrm>
              <a:off x="4724400" y="2743200"/>
              <a:ext cx="228600" cy="228600"/>
            </a:xfrm>
            <a:prstGeom prst="ellipse">
              <a:avLst/>
            </a:prstGeom>
            <a:solidFill>
              <a:schemeClr val="bg1"/>
            </a:solidFill>
            <a:ln w="9525">
              <a:solidFill>
                <a:schemeClr val="tx1"/>
              </a:solidFill>
              <a:round/>
              <a:headEnd/>
              <a:tailEnd/>
            </a:ln>
          </p:spPr>
          <p:txBody>
            <a:bodyPr/>
            <a:lstStyle/>
            <a:p>
              <a:endParaRPr lang="en-US" sz="2400" b="0">
                <a:solidFill>
                  <a:srgbClr val="000000"/>
                </a:solidFill>
              </a:endParaRPr>
            </a:p>
          </p:txBody>
        </p:sp>
        <p:sp>
          <p:nvSpPr>
            <p:cNvPr id="86037" name="Oval 31"/>
            <p:cNvSpPr>
              <a:spLocks noChangeArrowheads="1"/>
            </p:cNvSpPr>
            <p:nvPr/>
          </p:nvSpPr>
          <p:spPr bwMode="auto">
            <a:xfrm>
              <a:off x="5029200" y="2743200"/>
              <a:ext cx="228600" cy="228600"/>
            </a:xfrm>
            <a:prstGeom prst="ellipse">
              <a:avLst/>
            </a:prstGeom>
            <a:solidFill>
              <a:schemeClr val="bg1"/>
            </a:solidFill>
            <a:ln w="9525">
              <a:solidFill>
                <a:schemeClr val="tx1"/>
              </a:solidFill>
              <a:round/>
              <a:headEnd/>
              <a:tailEnd/>
            </a:ln>
          </p:spPr>
          <p:txBody>
            <a:bodyPr/>
            <a:lstStyle/>
            <a:p>
              <a:endParaRPr lang="en-US" sz="2400" b="0">
                <a:solidFill>
                  <a:srgbClr val="000000"/>
                </a:solidFill>
              </a:endParaRPr>
            </a:p>
          </p:txBody>
        </p:sp>
        <p:cxnSp>
          <p:nvCxnSpPr>
            <p:cNvPr id="5" name="Straight Connector 4"/>
            <p:cNvCxnSpPr>
              <a:stCxn id="86034" idx="5"/>
              <a:endCxn id="86056" idx="0"/>
            </p:cNvCxnSpPr>
            <p:nvPr/>
          </p:nvCxnSpPr>
          <p:spPr bwMode="auto">
            <a:xfrm>
              <a:off x="4310063" y="2938463"/>
              <a:ext cx="414337" cy="64293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35" name="Straight Connector 34"/>
            <p:cNvCxnSpPr>
              <a:stCxn id="86035" idx="4"/>
              <a:endCxn id="86056" idx="0"/>
            </p:cNvCxnSpPr>
            <p:nvPr/>
          </p:nvCxnSpPr>
          <p:spPr bwMode="auto">
            <a:xfrm>
              <a:off x="4533900" y="2971800"/>
              <a:ext cx="190500" cy="6096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0" name="Straight Connector 9"/>
            <p:cNvCxnSpPr>
              <a:stCxn id="86036" idx="4"/>
              <a:endCxn id="86056" idx="0"/>
            </p:cNvCxnSpPr>
            <p:nvPr/>
          </p:nvCxnSpPr>
          <p:spPr bwMode="auto">
            <a:xfrm flipH="1">
              <a:off x="4724400" y="2971800"/>
              <a:ext cx="114300" cy="6096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2" name="Straight Connector 11"/>
            <p:cNvCxnSpPr>
              <a:stCxn id="86037" idx="4"/>
              <a:endCxn id="86056" idx="0"/>
            </p:cNvCxnSpPr>
            <p:nvPr/>
          </p:nvCxnSpPr>
          <p:spPr bwMode="auto">
            <a:xfrm flipH="1">
              <a:off x="4724400" y="2971800"/>
              <a:ext cx="419100" cy="6096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grpSp>
        <p:nvGrpSpPr>
          <p:cNvPr id="20" name="Group 19"/>
          <p:cNvGrpSpPr>
            <a:grpSpLocks/>
          </p:cNvGrpSpPr>
          <p:nvPr/>
        </p:nvGrpSpPr>
        <p:grpSpPr bwMode="auto">
          <a:xfrm>
            <a:off x="4953004" y="3200401"/>
            <a:ext cx="2485148" cy="733717"/>
            <a:chOff x="4953004" y="3200400"/>
            <a:chExt cx="2485949" cy="734491"/>
          </a:xfrm>
        </p:grpSpPr>
        <p:grpSp>
          <p:nvGrpSpPr>
            <p:cNvPr id="86029" name="Group 15"/>
            <p:cNvGrpSpPr>
              <a:grpSpLocks/>
            </p:cNvGrpSpPr>
            <p:nvPr/>
          </p:nvGrpSpPr>
          <p:grpSpPr bwMode="auto">
            <a:xfrm>
              <a:off x="4953004" y="3657600"/>
              <a:ext cx="2485949" cy="277291"/>
              <a:chOff x="4953004" y="3657600"/>
              <a:chExt cx="2485949" cy="277291"/>
            </a:xfrm>
          </p:grpSpPr>
          <p:sp>
            <p:nvSpPr>
              <p:cNvPr id="86031" name="TextBox 12"/>
              <p:cNvSpPr txBox="1">
                <a:spLocks noChangeArrowheads="1"/>
              </p:cNvSpPr>
              <p:nvPr/>
            </p:nvSpPr>
            <p:spPr bwMode="auto">
              <a:xfrm>
                <a:off x="5715000" y="3657600"/>
                <a:ext cx="1723953" cy="277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200" b="1">
                    <a:solidFill>
                      <a:schemeClr val="tx1"/>
                    </a:solidFill>
                    <a:latin typeface="Times" charset="0"/>
                    <a:ea typeface="ＭＳ Ｐゴシック" charset="0"/>
                    <a:cs typeface="ＭＳ Ｐゴシック" charset="0"/>
                  </a:defRPr>
                </a:lvl1pPr>
                <a:lvl2pPr marL="742950" indent="-285750">
                  <a:defRPr sz="1200" b="1">
                    <a:solidFill>
                      <a:schemeClr val="tx1"/>
                    </a:solidFill>
                    <a:latin typeface="Times" charset="0"/>
                    <a:ea typeface="ＭＳ Ｐゴシック" charset="0"/>
                  </a:defRPr>
                </a:lvl2pPr>
                <a:lvl3pPr marL="1143000" indent="-228600">
                  <a:defRPr sz="1200" b="1">
                    <a:solidFill>
                      <a:schemeClr val="tx1"/>
                    </a:solidFill>
                    <a:latin typeface="Times" charset="0"/>
                    <a:ea typeface="ＭＳ Ｐゴシック" charset="0"/>
                  </a:defRPr>
                </a:lvl3pPr>
                <a:lvl4pPr marL="1600200" indent="-228600">
                  <a:defRPr sz="1200" b="1">
                    <a:solidFill>
                      <a:schemeClr val="tx1"/>
                    </a:solidFill>
                    <a:latin typeface="Times" charset="0"/>
                    <a:ea typeface="ＭＳ Ｐゴシック" charset="0"/>
                  </a:defRPr>
                </a:lvl4pPr>
                <a:lvl5pPr marL="2057400" indent="-228600">
                  <a:defRPr sz="1200" b="1">
                    <a:solidFill>
                      <a:schemeClr val="tx1"/>
                    </a:solidFill>
                    <a:latin typeface="Times" charset="0"/>
                    <a:ea typeface="ＭＳ Ｐゴシック" charset="0"/>
                  </a:defRPr>
                </a:lvl5pPr>
                <a:lvl6pPr marL="2514600" indent="-228600" eaLnBrk="0" fontAlgn="base" hangingPunct="0">
                  <a:spcBef>
                    <a:spcPct val="0"/>
                  </a:spcBef>
                  <a:spcAft>
                    <a:spcPct val="0"/>
                  </a:spcAft>
                  <a:defRPr sz="1200" b="1">
                    <a:solidFill>
                      <a:schemeClr val="tx1"/>
                    </a:solidFill>
                    <a:latin typeface="Times" charset="0"/>
                    <a:ea typeface="ＭＳ Ｐゴシック" charset="0"/>
                  </a:defRPr>
                </a:lvl6pPr>
                <a:lvl7pPr marL="2971800" indent="-228600" eaLnBrk="0" fontAlgn="base" hangingPunct="0">
                  <a:spcBef>
                    <a:spcPct val="0"/>
                  </a:spcBef>
                  <a:spcAft>
                    <a:spcPct val="0"/>
                  </a:spcAft>
                  <a:defRPr sz="1200" b="1">
                    <a:solidFill>
                      <a:schemeClr val="tx1"/>
                    </a:solidFill>
                    <a:latin typeface="Times" charset="0"/>
                    <a:ea typeface="ＭＳ Ｐゴシック" charset="0"/>
                  </a:defRPr>
                </a:lvl7pPr>
                <a:lvl8pPr marL="3429000" indent="-228600" eaLnBrk="0" fontAlgn="base" hangingPunct="0">
                  <a:spcBef>
                    <a:spcPct val="0"/>
                  </a:spcBef>
                  <a:spcAft>
                    <a:spcPct val="0"/>
                  </a:spcAft>
                  <a:defRPr sz="1200" b="1">
                    <a:solidFill>
                      <a:schemeClr val="tx1"/>
                    </a:solidFill>
                    <a:latin typeface="Times" charset="0"/>
                    <a:ea typeface="ＭＳ Ｐゴシック" charset="0"/>
                  </a:defRPr>
                </a:lvl8pPr>
                <a:lvl9pPr marL="3886200" indent="-228600" eaLnBrk="0" fontAlgn="base" hangingPunct="0">
                  <a:spcBef>
                    <a:spcPct val="0"/>
                  </a:spcBef>
                  <a:spcAft>
                    <a:spcPct val="0"/>
                  </a:spcAft>
                  <a:defRPr sz="1200" b="1">
                    <a:solidFill>
                      <a:schemeClr val="tx1"/>
                    </a:solidFill>
                    <a:latin typeface="Times" charset="0"/>
                    <a:ea typeface="ＭＳ Ｐゴシック" charset="0"/>
                  </a:defRPr>
                </a:lvl9pPr>
              </a:lstStyle>
              <a:p>
                <a:r>
                  <a:rPr lang="en-US" b="0" dirty="0"/>
                  <a:t>End of the Routing Path!</a:t>
                </a:r>
              </a:p>
            </p:txBody>
          </p:sp>
          <p:cxnSp>
            <p:nvCxnSpPr>
              <p:cNvPr id="15" name="Straight Arrow Connector 14"/>
              <p:cNvCxnSpPr>
                <a:stCxn id="86031" idx="1"/>
              </p:cNvCxnSpPr>
              <p:nvPr/>
            </p:nvCxnSpPr>
            <p:spPr bwMode="auto">
              <a:xfrm flipH="1">
                <a:off x="4953004" y="3796246"/>
                <a:ext cx="761996" cy="14397"/>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sp>
          <p:nvSpPr>
            <p:cNvPr id="86030" name="TextBox 18"/>
            <p:cNvSpPr txBox="1">
              <a:spLocks noChangeArrowheads="1"/>
            </p:cNvSpPr>
            <p:nvPr/>
          </p:nvSpPr>
          <p:spPr bwMode="auto">
            <a:xfrm>
              <a:off x="5562600" y="3200400"/>
              <a:ext cx="1685077"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200" b="1">
                  <a:solidFill>
                    <a:schemeClr val="tx1"/>
                  </a:solidFill>
                  <a:latin typeface="Times" charset="0"/>
                  <a:ea typeface="ＭＳ Ｐゴシック" charset="0"/>
                  <a:cs typeface="ＭＳ Ｐゴシック" charset="0"/>
                </a:defRPr>
              </a:lvl1pPr>
              <a:lvl2pPr marL="742950" indent="-285750">
                <a:defRPr sz="1200" b="1">
                  <a:solidFill>
                    <a:schemeClr val="tx1"/>
                  </a:solidFill>
                  <a:latin typeface="Times" charset="0"/>
                  <a:ea typeface="ＭＳ Ｐゴシック" charset="0"/>
                </a:defRPr>
              </a:lvl2pPr>
              <a:lvl3pPr marL="1143000" indent="-228600">
                <a:defRPr sz="1200" b="1">
                  <a:solidFill>
                    <a:schemeClr val="tx1"/>
                  </a:solidFill>
                  <a:latin typeface="Times" charset="0"/>
                  <a:ea typeface="ＭＳ Ｐゴシック" charset="0"/>
                </a:defRPr>
              </a:lvl3pPr>
              <a:lvl4pPr marL="1600200" indent="-228600">
                <a:defRPr sz="1200" b="1">
                  <a:solidFill>
                    <a:schemeClr val="tx1"/>
                  </a:solidFill>
                  <a:latin typeface="Times" charset="0"/>
                  <a:ea typeface="ＭＳ Ｐゴシック" charset="0"/>
                </a:defRPr>
              </a:lvl4pPr>
              <a:lvl5pPr marL="2057400" indent="-228600">
                <a:defRPr sz="1200" b="1">
                  <a:solidFill>
                    <a:schemeClr val="tx1"/>
                  </a:solidFill>
                  <a:latin typeface="Times" charset="0"/>
                  <a:ea typeface="ＭＳ Ｐゴシック" charset="0"/>
                </a:defRPr>
              </a:lvl5pPr>
              <a:lvl6pPr marL="2514600" indent="-228600" eaLnBrk="0" fontAlgn="base" hangingPunct="0">
                <a:spcBef>
                  <a:spcPct val="0"/>
                </a:spcBef>
                <a:spcAft>
                  <a:spcPct val="0"/>
                </a:spcAft>
                <a:defRPr sz="1200" b="1">
                  <a:solidFill>
                    <a:schemeClr val="tx1"/>
                  </a:solidFill>
                  <a:latin typeface="Times" charset="0"/>
                  <a:ea typeface="ＭＳ Ｐゴシック" charset="0"/>
                </a:defRPr>
              </a:lvl6pPr>
              <a:lvl7pPr marL="2971800" indent="-228600" eaLnBrk="0" fontAlgn="base" hangingPunct="0">
                <a:spcBef>
                  <a:spcPct val="0"/>
                </a:spcBef>
                <a:spcAft>
                  <a:spcPct val="0"/>
                </a:spcAft>
                <a:defRPr sz="1200" b="1">
                  <a:solidFill>
                    <a:schemeClr val="tx1"/>
                  </a:solidFill>
                  <a:latin typeface="Times" charset="0"/>
                  <a:ea typeface="ＭＳ Ｐゴシック" charset="0"/>
                </a:defRPr>
              </a:lvl7pPr>
              <a:lvl8pPr marL="3429000" indent="-228600" eaLnBrk="0" fontAlgn="base" hangingPunct="0">
                <a:spcBef>
                  <a:spcPct val="0"/>
                </a:spcBef>
                <a:spcAft>
                  <a:spcPct val="0"/>
                </a:spcAft>
                <a:defRPr sz="1200" b="1">
                  <a:solidFill>
                    <a:schemeClr val="tx1"/>
                  </a:solidFill>
                  <a:latin typeface="Times" charset="0"/>
                  <a:ea typeface="ＭＳ Ｐゴシック" charset="0"/>
                </a:defRPr>
              </a:lvl8pPr>
              <a:lvl9pPr marL="3886200" indent="-228600" eaLnBrk="0" fontAlgn="base" hangingPunct="0">
                <a:spcBef>
                  <a:spcPct val="0"/>
                </a:spcBef>
                <a:spcAft>
                  <a:spcPct val="0"/>
                </a:spcAft>
                <a:defRPr sz="1200" b="1">
                  <a:solidFill>
                    <a:schemeClr val="tx1"/>
                  </a:solidFill>
                  <a:latin typeface="Times" charset="0"/>
                  <a:ea typeface="ＭＳ Ｐゴシック" charset="0"/>
                </a:defRPr>
              </a:lvl9pPr>
            </a:lstStyle>
            <a:p>
              <a:r>
                <a:rPr lang="en-US"/>
                <a:t>Names Everything But</a:t>
              </a:r>
            </a:p>
            <a:p>
              <a:r>
                <a:rPr lang="en-US"/>
                <a:t>What is Needed:</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965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965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3965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3965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3966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3966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39668"/>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39672"/>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9651" grpId="0" build="p"/>
      <p:bldP spid="539667" grpId="0"/>
      <p:bldP spid="53967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A25AE-F513-E31C-4780-7069C32ED296}"/>
              </a:ext>
            </a:extLst>
          </p:cNvPr>
          <p:cNvSpPr>
            <a:spLocks noGrp="1"/>
          </p:cNvSpPr>
          <p:nvPr>
            <p:ph type="title"/>
          </p:nvPr>
        </p:nvSpPr>
        <p:spPr/>
        <p:txBody>
          <a:bodyPr/>
          <a:lstStyle/>
          <a:p>
            <a:r>
              <a:rPr lang="en-US" dirty="0"/>
              <a:t>But IP Addresses Were Always</a:t>
            </a:r>
            <a:br>
              <a:rPr lang="en-US" dirty="0"/>
            </a:br>
            <a:r>
              <a:rPr lang="en-US" dirty="0"/>
              <a:t>Divided into the Network and Host Parts</a:t>
            </a:r>
          </a:p>
        </p:txBody>
      </p:sp>
      <p:sp>
        <p:nvSpPr>
          <p:cNvPr id="3" name="Content Placeholder 2">
            <a:extLst>
              <a:ext uri="{FF2B5EF4-FFF2-40B4-BE49-F238E27FC236}">
                <a16:creationId xmlns:a16="http://schemas.microsoft.com/office/drawing/2014/main" id="{D1817526-A1EA-6B05-0379-B87FEFC15D1B}"/>
              </a:ext>
            </a:extLst>
          </p:cNvPr>
          <p:cNvSpPr>
            <a:spLocks noGrp="1"/>
          </p:cNvSpPr>
          <p:nvPr>
            <p:ph idx="1"/>
          </p:nvPr>
        </p:nvSpPr>
        <p:spPr>
          <a:xfrm>
            <a:off x="457200" y="1589314"/>
            <a:ext cx="8229600" cy="4525963"/>
          </a:xfrm>
        </p:spPr>
        <p:txBody>
          <a:bodyPr>
            <a:normAutofit lnSpcReduction="10000"/>
          </a:bodyPr>
          <a:lstStyle/>
          <a:p>
            <a:r>
              <a:rPr lang="en-US" dirty="0"/>
              <a:t>Yes, the Network part was assigned by IANA, the Host part was for the owner of the block to assign.</a:t>
            </a:r>
          </a:p>
          <a:p>
            <a:pPr lvl="1"/>
            <a:r>
              <a:rPr lang="en-US" dirty="0"/>
              <a:t>Initially, the host part was just a list of hosts in that organization. </a:t>
            </a:r>
          </a:p>
          <a:p>
            <a:pPr lvl="1"/>
            <a:r>
              <a:rPr lang="en-US" dirty="0"/>
              <a:t>As organization networks became more complex, some continued the hierarchy into the host part</a:t>
            </a:r>
          </a:p>
          <a:p>
            <a:pPr lvl="2"/>
            <a:r>
              <a:rPr lang="en-US" dirty="0"/>
              <a:t>And with great benefit.</a:t>
            </a:r>
          </a:p>
          <a:p>
            <a:r>
              <a:rPr lang="en-US" dirty="0"/>
              <a:t>The Internet has always had a hang-up about naming hosts.</a:t>
            </a:r>
          </a:p>
          <a:p>
            <a:pPr lvl="1"/>
            <a:r>
              <a:rPr lang="en-US" dirty="0"/>
              <a:t>But we have known since the early 80s that naming the host is not involved.</a:t>
            </a:r>
          </a:p>
          <a:p>
            <a:pPr lvl="2"/>
            <a:r>
              <a:rPr lang="en-US" dirty="0"/>
              <a:t>Fundamental to the ARPANET was, hosts were not part of the network. </a:t>
            </a:r>
          </a:p>
          <a:p>
            <a:pPr lvl="3"/>
            <a:r>
              <a:rPr lang="en-US" dirty="0"/>
              <a:t>IMP-to-Host created connection to destination, not the Host-to-Host protocol.</a:t>
            </a:r>
          </a:p>
          <a:p>
            <a:pPr lvl="3"/>
            <a:r>
              <a:rPr lang="en-US" dirty="0"/>
              <a:t>In this regard, CYCLADES was a major change. But early imprinting dies hard.</a:t>
            </a:r>
          </a:p>
          <a:p>
            <a:pPr lvl="1"/>
            <a:r>
              <a:rPr lang="en-US" dirty="0"/>
              <a:t>The Internet never learned not to concatenate an (N-1)-address with an (N)-identifier to form an (N)-address.</a:t>
            </a:r>
          </a:p>
          <a:p>
            <a:pPr lvl="1"/>
            <a:r>
              <a:rPr lang="en-US" dirty="0"/>
              <a:t>At the same time, there was considerable unease about routing on the node address.</a:t>
            </a:r>
          </a:p>
          <a:p>
            <a:pPr lvl="2"/>
            <a:r>
              <a:rPr lang="en-US" dirty="0"/>
              <a:t>Especially after </a:t>
            </a:r>
            <a:r>
              <a:rPr lang="en-US" dirty="0" err="1"/>
              <a:t>IPng</a:t>
            </a:r>
            <a:r>
              <a:rPr lang="en-US" dirty="0"/>
              <a:t>. Post-IPng-trauma was prevalent</a:t>
            </a:r>
          </a:p>
        </p:txBody>
      </p:sp>
    </p:spTree>
    <p:extLst>
      <p:ext uri="{BB962C8B-B14F-4D97-AF65-F5344CB8AC3E}">
        <p14:creationId xmlns:p14="http://schemas.microsoft.com/office/powerpoint/2010/main" val="183792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09600" y="228600"/>
            <a:ext cx="7772400" cy="1143000"/>
          </a:xfrm>
        </p:spPr>
        <p:txBody>
          <a:bodyPr/>
          <a:lstStyle/>
          <a:p>
            <a:r>
              <a:rPr lang="en-US" sz="2800" dirty="0"/>
              <a:t>Precisely What Should Happen When Routing</a:t>
            </a:r>
          </a:p>
        </p:txBody>
      </p:sp>
      <p:sp>
        <p:nvSpPr>
          <p:cNvPr id="6" name="Content Placeholder 5"/>
          <p:cNvSpPr>
            <a:spLocks noGrp="1"/>
          </p:cNvSpPr>
          <p:nvPr>
            <p:ph idx="1"/>
          </p:nvPr>
        </p:nvSpPr>
        <p:spPr>
          <a:xfrm>
            <a:off x="762000" y="1219200"/>
            <a:ext cx="7772400" cy="2667000"/>
          </a:xfrm>
        </p:spPr>
        <p:txBody>
          <a:bodyPr/>
          <a:lstStyle/>
          <a:p>
            <a:r>
              <a:rPr lang="en-US" sz="1600" dirty="0"/>
              <a:t>A 2-PDU arrives on the wire.  (2)-Protocol-Machine (PM) processes the PCI, and discovers the 2-destination-address = </a:t>
            </a:r>
            <a:r>
              <a:rPr lang="en-US" sz="1600" dirty="0" err="1"/>
              <a:t>addr</a:t>
            </a:r>
            <a:r>
              <a:rPr lang="en-US" sz="1600" dirty="0"/>
              <a:t>(2-PM). </a:t>
            </a:r>
            <a:r>
              <a:rPr lang="en-US" sz="1200" dirty="0"/>
              <a:t>IOW, here</a:t>
            </a:r>
            <a:r>
              <a:rPr lang="en-US" sz="1600" dirty="0"/>
              <a:t>.</a:t>
            </a:r>
          </a:p>
          <a:p>
            <a:r>
              <a:rPr lang="en-US" sz="1600" dirty="0"/>
              <a:t>Inspects the destination Connection Endpoint-ID (CEP-id), strips off the 2-PCI and delivers a 3-PDU to the (3-PM) on the 2-port-id bound to the 2-CEP-id.</a:t>
            </a:r>
          </a:p>
          <a:p>
            <a:r>
              <a:rPr lang="en-US" sz="1600" dirty="0"/>
              <a:t>The 3-PM inspects the 3-PCI and determines that the destination address ≠ </a:t>
            </a:r>
            <a:r>
              <a:rPr lang="en-US" sz="1600" dirty="0" err="1"/>
              <a:t>addr</a:t>
            </a:r>
            <a:r>
              <a:rPr lang="en-US" sz="1600" dirty="0"/>
              <a:t>(3-PM). </a:t>
            </a:r>
          </a:p>
          <a:p>
            <a:r>
              <a:rPr lang="en-US" sz="1600" dirty="0"/>
              <a:t>It then uses the destination address to index the forwarding table to find the (2)-port-id to send the PDU on and </a:t>
            </a:r>
          </a:p>
          <a:p>
            <a:r>
              <a:rPr lang="en-US" sz="1600" dirty="0"/>
              <a:t>invoke Send((2)-port-id, PDU), the 2-PM sends it on the wire.</a:t>
            </a:r>
          </a:p>
        </p:txBody>
      </p:sp>
      <p:sp>
        <p:nvSpPr>
          <p:cNvPr id="2" name="Date Placeholder 1"/>
          <p:cNvSpPr>
            <a:spLocks noGrp="1"/>
          </p:cNvSpPr>
          <p:nvPr>
            <p:ph type="dt" sz="half" idx="10"/>
          </p:nvPr>
        </p:nvSpPr>
        <p:spPr/>
        <p:txBody>
          <a:bodyPr/>
          <a:lstStyle/>
          <a:p>
            <a:pPr>
              <a:defRPr/>
            </a:pPr>
            <a:fld id="{CBF4C81F-A52B-A14E-9304-5F492CCEDCDC}" type="datetime3">
              <a:rPr lang="en-US" smtClean="0"/>
              <a:pPr>
                <a:defRPr/>
              </a:pPr>
              <a:t>14 January 2026</a:t>
            </a:fld>
            <a:endParaRPr lang="en-US"/>
          </a:p>
        </p:txBody>
      </p:sp>
      <p:sp>
        <p:nvSpPr>
          <p:cNvPr id="3" name="Footer Placeholder 2"/>
          <p:cNvSpPr>
            <a:spLocks noGrp="1"/>
          </p:cNvSpPr>
          <p:nvPr>
            <p:ph type="ftr" sz="quarter" idx="11"/>
          </p:nvPr>
        </p:nvSpPr>
        <p:spPr/>
        <p:txBody>
          <a:bodyPr/>
          <a:lstStyle/>
          <a:p>
            <a:pPr>
              <a:defRPr/>
            </a:pPr>
            <a:r>
              <a:rPr lang="en-US"/>
              <a:t>.</a:t>
            </a:r>
          </a:p>
        </p:txBody>
      </p:sp>
      <p:sp>
        <p:nvSpPr>
          <p:cNvPr id="4" name="Slide Number Placeholder 3"/>
          <p:cNvSpPr>
            <a:spLocks noGrp="1"/>
          </p:cNvSpPr>
          <p:nvPr>
            <p:ph type="sldNum" sz="quarter" idx="12"/>
          </p:nvPr>
        </p:nvSpPr>
        <p:spPr/>
        <p:txBody>
          <a:bodyPr/>
          <a:lstStyle/>
          <a:p>
            <a:pPr>
              <a:defRPr/>
            </a:pPr>
            <a:fld id="{69099406-CFAA-9E4F-AC3E-6F4D350E9882}" type="slidenum">
              <a:rPr lang="en-US" smtClean="0"/>
              <a:pPr>
                <a:defRPr/>
              </a:pPr>
              <a:t>35</a:t>
            </a:fld>
            <a:endParaRPr lang="en-US"/>
          </a:p>
        </p:txBody>
      </p:sp>
      <p:grpSp>
        <p:nvGrpSpPr>
          <p:cNvPr id="10" name="Group 9"/>
          <p:cNvGrpSpPr/>
          <p:nvPr/>
        </p:nvGrpSpPr>
        <p:grpSpPr>
          <a:xfrm>
            <a:off x="685800" y="3429000"/>
            <a:ext cx="7696200" cy="2971800"/>
            <a:chOff x="685800" y="3200400"/>
            <a:chExt cx="7696200" cy="2971800"/>
          </a:xfrm>
        </p:grpSpPr>
        <p:sp>
          <p:nvSpPr>
            <p:cNvPr id="29" name="Rectangle 28"/>
            <p:cNvSpPr/>
            <p:nvPr/>
          </p:nvSpPr>
          <p:spPr bwMode="auto">
            <a:xfrm>
              <a:off x="4953000" y="6019800"/>
              <a:ext cx="1447800" cy="152400"/>
            </a:xfrm>
            <a:prstGeom prst="rect">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sp>
          <p:nvSpPr>
            <p:cNvPr id="31" name="Rectangle 30"/>
            <p:cNvSpPr/>
            <p:nvPr/>
          </p:nvSpPr>
          <p:spPr bwMode="auto">
            <a:xfrm>
              <a:off x="2133600" y="6019800"/>
              <a:ext cx="1447800" cy="152400"/>
            </a:xfrm>
            <a:prstGeom prst="rect">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grpSp>
          <p:nvGrpSpPr>
            <p:cNvPr id="62" name="Group 61"/>
            <p:cNvGrpSpPr/>
            <p:nvPr/>
          </p:nvGrpSpPr>
          <p:grpSpPr>
            <a:xfrm>
              <a:off x="685800" y="3886200"/>
              <a:ext cx="1801964" cy="276999"/>
              <a:chOff x="1524000" y="4800600"/>
              <a:chExt cx="1801964" cy="276999"/>
            </a:xfrm>
          </p:grpSpPr>
          <p:sp>
            <p:nvSpPr>
              <p:cNvPr id="52" name="TextBox 51"/>
              <p:cNvSpPr txBox="1"/>
              <p:nvPr/>
            </p:nvSpPr>
            <p:spPr>
              <a:xfrm>
                <a:off x="1981200" y="4800600"/>
                <a:ext cx="1344764" cy="276999"/>
              </a:xfrm>
              <a:prstGeom prst="rect">
                <a:avLst/>
              </a:prstGeom>
              <a:noFill/>
            </p:spPr>
            <p:txBody>
              <a:bodyPr wrap="none" rtlCol="0">
                <a:spAutoFit/>
              </a:bodyPr>
              <a:lstStyle/>
              <a:p>
                <a:r>
                  <a:rPr lang="en-US" b="0" dirty="0">
                    <a:solidFill>
                      <a:srgbClr val="000000"/>
                    </a:solidFill>
                  </a:rPr>
                  <a:t>Toward the Source</a:t>
                </a:r>
              </a:p>
            </p:txBody>
          </p:sp>
          <p:cxnSp>
            <p:nvCxnSpPr>
              <p:cNvPr id="55" name="Straight Arrow Connector 54"/>
              <p:cNvCxnSpPr>
                <a:stCxn id="52" idx="1"/>
              </p:cNvCxnSpPr>
              <p:nvPr/>
            </p:nvCxnSpPr>
            <p:spPr bwMode="auto">
              <a:xfrm flipH="1">
                <a:off x="1524000" y="4939100"/>
                <a:ext cx="457200" cy="1390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grpSp>
          <p:nvGrpSpPr>
            <p:cNvPr id="65" name="Group 64"/>
            <p:cNvGrpSpPr/>
            <p:nvPr/>
          </p:nvGrpSpPr>
          <p:grpSpPr>
            <a:xfrm>
              <a:off x="6934200" y="3886200"/>
              <a:ext cx="1447800" cy="461665"/>
              <a:chOff x="7315200" y="4419600"/>
              <a:chExt cx="1447800" cy="461665"/>
            </a:xfrm>
          </p:grpSpPr>
          <p:sp>
            <p:nvSpPr>
              <p:cNvPr id="53" name="TextBox 52"/>
              <p:cNvSpPr txBox="1"/>
              <p:nvPr/>
            </p:nvSpPr>
            <p:spPr>
              <a:xfrm>
                <a:off x="7315200" y="4419600"/>
                <a:ext cx="894145" cy="461665"/>
              </a:xfrm>
              <a:prstGeom prst="rect">
                <a:avLst/>
              </a:prstGeom>
              <a:noFill/>
            </p:spPr>
            <p:txBody>
              <a:bodyPr wrap="none" rtlCol="0">
                <a:spAutoFit/>
              </a:bodyPr>
              <a:lstStyle/>
              <a:p>
                <a:r>
                  <a:rPr lang="en-US" b="0" dirty="0">
                    <a:solidFill>
                      <a:srgbClr val="000000"/>
                    </a:solidFill>
                  </a:rPr>
                  <a:t>Toward the </a:t>
                </a:r>
              </a:p>
              <a:p>
                <a:pPr algn="ctr"/>
                <a:r>
                  <a:rPr lang="en-US" b="0" dirty="0">
                    <a:solidFill>
                      <a:srgbClr val="000000"/>
                    </a:solidFill>
                  </a:rPr>
                  <a:t>Destination</a:t>
                </a:r>
              </a:p>
            </p:txBody>
          </p:sp>
          <p:cxnSp>
            <p:nvCxnSpPr>
              <p:cNvPr id="64" name="Straight Arrow Connector 63"/>
              <p:cNvCxnSpPr>
                <a:stCxn id="53" idx="3"/>
              </p:cNvCxnSpPr>
              <p:nvPr/>
            </p:nvCxnSpPr>
            <p:spPr bwMode="auto">
              <a:xfrm flipV="1">
                <a:off x="8209345" y="4648200"/>
                <a:ext cx="553655" cy="2233"/>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grpSp>
          <p:nvGrpSpPr>
            <p:cNvPr id="105" name="Group 104"/>
            <p:cNvGrpSpPr/>
            <p:nvPr/>
          </p:nvGrpSpPr>
          <p:grpSpPr>
            <a:xfrm>
              <a:off x="1143000" y="5334000"/>
              <a:ext cx="1930395" cy="597932"/>
              <a:chOff x="152400" y="4800600"/>
              <a:chExt cx="1930395" cy="597932"/>
            </a:xfrm>
          </p:grpSpPr>
          <p:sp>
            <p:nvSpPr>
              <p:cNvPr id="68" name="Rectangle 67"/>
              <p:cNvSpPr/>
              <p:nvPr/>
            </p:nvSpPr>
            <p:spPr bwMode="auto">
              <a:xfrm>
                <a:off x="152400" y="5029205"/>
                <a:ext cx="1895017" cy="301853"/>
              </a:xfrm>
              <a:prstGeom prst="rect">
                <a:avLst/>
              </a:prstGeom>
              <a:solidFill>
                <a:schemeClr val="accent3"/>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900" b="0" dirty="0">
                  <a:solidFill>
                    <a:srgbClr val="000000"/>
                  </a:solidFill>
                </a:endParaRPr>
              </a:p>
            </p:txBody>
          </p:sp>
          <p:cxnSp>
            <p:nvCxnSpPr>
              <p:cNvPr id="69" name="Straight Connector 68"/>
              <p:cNvCxnSpPr/>
              <p:nvPr/>
            </p:nvCxnSpPr>
            <p:spPr bwMode="auto">
              <a:xfrm>
                <a:off x="1676400" y="5029200"/>
                <a:ext cx="0" cy="30185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70" name="Straight Connector 69"/>
              <p:cNvCxnSpPr/>
              <p:nvPr/>
            </p:nvCxnSpPr>
            <p:spPr bwMode="auto">
              <a:xfrm>
                <a:off x="1371600" y="5029200"/>
                <a:ext cx="0" cy="30185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71" name="TextBox 70"/>
              <p:cNvSpPr txBox="1"/>
              <p:nvPr/>
            </p:nvSpPr>
            <p:spPr>
              <a:xfrm>
                <a:off x="1295400" y="5029200"/>
                <a:ext cx="787395" cy="230832"/>
              </a:xfrm>
              <a:prstGeom prst="rect">
                <a:avLst/>
              </a:prstGeom>
              <a:noFill/>
            </p:spPr>
            <p:txBody>
              <a:bodyPr wrap="none" rtlCol="0">
                <a:spAutoFit/>
              </a:bodyPr>
              <a:lstStyle/>
              <a:p>
                <a:r>
                  <a:rPr lang="en-US" sz="900" b="0" dirty="0">
                    <a:solidFill>
                      <a:srgbClr val="000000"/>
                    </a:solidFill>
                  </a:rPr>
                  <a:t>    </a:t>
                </a:r>
                <a:r>
                  <a:rPr lang="en-US" sz="900" b="0" dirty="0" err="1">
                    <a:solidFill>
                      <a:srgbClr val="000000"/>
                    </a:solidFill>
                  </a:rPr>
                  <a:t>Src</a:t>
                </a:r>
                <a:r>
                  <a:rPr lang="en-US" sz="900" b="0" dirty="0">
                    <a:solidFill>
                      <a:srgbClr val="000000"/>
                    </a:solidFill>
                  </a:rPr>
                  <a:t>    </a:t>
                </a:r>
                <a:r>
                  <a:rPr lang="en-US" sz="900" b="0" dirty="0" err="1">
                    <a:solidFill>
                      <a:srgbClr val="000000"/>
                    </a:solidFill>
                  </a:rPr>
                  <a:t>Dest</a:t>
                </a:r>
                <a:endParaRPr lang="en-US" sz="900" b="0" dirty="0">
                  <a:solidFill>
                    <a:srgbClr val="000000"/>
                  </a:solidFill>
                </a:endParaRPr>
              </a:p>
            </p:txBody>
          </p:sp>
          <p:cxnSp>
            <p:nvCxnSpPr>
              <p:cNvPr id="76" name="Straight Connector 75"/>
              <p:cNvCxnSpPr/>
              <p:nvPr/>
            </p:nvCxnSpPr>
            <p:spPr bwMode="auto">
              <a:xfrm>
                <a:off x="990600" y="5029200"/>
                <a:ext cx="0" cy="3048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77" name="TextBox 76"/>
              <p:cNvSpPr txBox="1"/>
              <p:nvPr/>
            </p:nvSpPr>
            <p:spPr>
              <a:xfrm>
                <a:off x="609600" y="4800600"/>
                <a:ext cx="762000" cy="230832"/>
              </a:xfrm>
              <a:prstGeom prst="rect">
                <a:avLst/>
              </a:prstGeom>
              <a:noFill/>
            </p:spPr>
            <p:txBody>
              <a:bodyPr wrap="square" rtlCol="0">
                <a:spAutoFit/>
              </a:bodyPr>
              <a:lstStyle/>
              <a:p>
                <a:pPr algn="ctr"/>
                <a:r>
                  <a:rPr lang="en-US" sz="900" b="0" dirty="0">
                    <a:solidFill>
                      <a:srgbClr val="000000"/>
                    </a:solidFill>
                  </a:rPr>
                  <a:t>2-PDU</a:t>
                </a:r>
              </a:p>
            </p:txBody>
          </p:sp>
          <p:sp>
            <p:nvSpPr>
              <p:cNvPr id="104" name="TextBox 103"/>
              <p:cNvSpPr txBox="1"/>
              <p:nvPr/>
            </p:nvSpPr>
            <p:spPr>
              <a:xfrm>
                <a:off x="990600" y="5029200"/>
                <a:ext cx="434772" cy="369332"/>
              </a:xfrm>
              <a:prstGeom prst="rect">
                <a:avLst/>
              </a:prstGeom>
              <a:noFill/>
            </p:spPr>
            <p:txBody>
              <a:bodyPr wrap="none" rtlCol="0">
                <a:spAutoFit/>
              </a:bodyPr>
              <a:lstStyle/>
              <a:p>
                <a:pPr algn="ctr"/>
                <a:r>
                  <a:rPr lang="en-US" sz="900" b="0" dirty="0">
                    <a:solidFill>
                      <a:srgbClr val="000000"/>
                    </a:solidFill>
                  </a:rPr>
                  <a:t>Conn</a:t>
                </a:r>
              </a:p>
              <a:p>
                <a:pPr algn="ctr"/>
                <a:r>
                  <a:rPr lang="en-US" sz="900" b="0" dirty="0">
                    <a:solidFill>
                      <a:srgbClr val="000000"/>
                    </a:solidFill>
                  </a:rPr>
                  <a:t>Id</a:t>
                </a:r>
              </a:p>
            </p:txBody>
          </p:sp>
        </p:grpSp>
        <p:grpSp>
          <p:nvGrpSpPr>
            <p:cNvPr id="144" name="Group 143"/>
            <p:cNvGrpSpPr/>
            <p:nvPr/>
          </p:nvGrpSpPr>
          <p:grpSpPr>
            <a:xfrm>
              <a:off x="3200400" y="4114800"/>
              <a:ext cx="2209800" cy="1905000"/>
              <a:chOff x="3200400" y="4114800"/>
              <a:chExt cx="2209800" cy="1905000"/>
            </a:xfrm>
          </p:grpSpPr>
          <p:grpSp>
            <p:nvGrpSpPr>
              <p:cNvPr id="16" name="Group 15"/>
              <p:cNvGrpSpPr/>
              <p:nvPr/>
            </p:nvGrpSpPr>
            <p:grpSpPr>
              <a:xfrm>
                <a:off x="3200400" y="4114800"/>
                <a:ext cx="2209800" cy="1905000"/>
                <a:chOff x="1981200" y="5105400"/>
                <a:chExt cx="914400" cy="990600"/>
              </a:xfrm>
            </p:grpSpPr>
            <p:sp>
              <p:nvSpPr>
                <p:cNvPr id="7" name="Rectangle 6"/>
                <p:cNvSpPr/>
                <p:nvPr/>
              </p:nvSpPr>
              <p:spPr bwMode="auto">
                <a:xfrm>
                  <a:off x="1981200" y="5105400"/>
                  <a:ext cx="914400" cy="9906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cxnSp>
              <p:nvCxnSpPr>
                <p:cNvPr id="9" name="Straight Connector 8"/>
                <p:cNvCxnSpPr/>
                <p:nvPr/>
              </p:nvCxnSpPr>
              <p:spPr bwMode="auto">
                <a:xfrm>
                  <a:off x="1981200" y="5791200"/>
                  <a:ext cx="9144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2" name="Straight Connector 11"/>
                <p:cNvCxnSpPr/>
                <p:nvPr/>
              </p:nvCxnSpPr>
              <p:spPr bwMode="auto">
                <a:xfrm>
                  <a:off x="1981200" y="5486400"/>
                  <a:ext cx="9144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4" name="Straight Connector 13"/>
                <p:cNvCxnSpPr>
                  <a:endCxn id="7" idx="2"/>
                </p:cNvCxnSpPr>
                <p:nvPr/>
              </p:nvCxnSpPr>
              <p:spPr bwMode="auto">
                <a:xfrm>
                  <a:off x="2438400" y="5486400"/>
                  <a:ext cx="0" cy="6096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5" name="Oval 14"/>
                <p:cNvSpPr/>
                <p:nvPr/>
              </p:nvSpPr>
              <p:spPr bwMode="auto">
                <a:xfrm>
                  <a:off x="2286000" y="5181600"/>
                  <a:ext cx="304800" cy="304800"/>
                </a:xfrm>
                <a:prstGeom prst="ellipse">
                  <a:avLst/>
                </a:prstGeom>
                <a:solidFill>
                  <a:srgbClr val="FFFF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grpSp>
          <p:sp>
            <p:nvSpPr>
              <p:cNvPr id="100" name="Oval 99"/>
              <p:cNvSpPr/>
              <p:nvPr/>
            </p:nvSpPr>
            <p:spPr bwMode="auto">
              <a:xfrm>
                <a:off x="3657600" y="4953000"/>
                <a:ext cx="453292" cy="448235"/>
              </a:xfrm>
              <a:prstGeom prst="ellipse">
                <a:avLst/>
              </a:prstGeom>
              <a:solidFill>
                <a:schemeClr val="accent3"/>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sp>
            <p:nvSpPr>
              <p:cNvPr id="101" name="Oval 100"/>
              <p:cNvSpPr/>
              <p:nvPr/>
            </p:nvSpPr>
            <p:spPr bwMode="auto">
              <a:xfrm>
                <a:off x="4724400" y="4953000"/>
                <a:ext cx="453292" cy="448235"/>
              </a:xfrm>
              <a:prstGeom prst="ellipse">
                <a:avLst/>
              </a:prstGeom>
              <a:solidFill>
                <a:schemeClr val="accent3"/>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sp>
            <p:nvSpPr>
              <p:cNvPr id="106" name="Oval 105"/>
              <p:cNvSpPr/>
              <p:nvPr/>
            </p:nvSpPr>
            <p:spPr bwMode="auto">
              <a:xfrm>
                <a:off x="3427046" y="4787153"/>
                <a:ext cx="113323" cy="11205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sp>
            <p:nvSpPr>
              <p:cNvPr id="107" name="Oval 106"/>
              <p:cNvSpPr/>
              <p:nvPr/>
            </p:nvSpPr>
            <p:spPr bwMode="auto">
              <a:xfrm>
                <a:off x="3653692" y="4787153"/>
                <a:ext cx="113323" cy="11205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sp>
            <p:nvSpPr>
              <p:cNvPr id="108" name="Oval 107"/>
              <p:cNvSpPr/>
              <p:nvPr/>
            </p:nvSpPr>
            <p:spPr bwMode="auto">
              <a:xfrm>
                <a:off x="4560277" y="4787153"/>
                <a:ext cx="113323" cy="11205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sp>
            <p:nvSpPr>
              <p:cNvPr id="109" name="Oval 108"/>
              <p:cNvSpPr/>
              <p:nvPr/>
            </p:nvSpPr>
            <p:spPr bwMode="auto">
              <a:xfrm>
                <a:off x="4956908" y="4787153"/>
                <a:ext cx="113323" cy="11205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sp>
            <p:nvSpPr>
              <p:cNvPr id="110" name="Oval 109"/>
              <p:cNvSpPr/>
              <p:nvPr/>
            </p:nvSpPr>
            <p:spPr bwMode="auto">
              <a:xfrm>
                <a:off x="5183554" y="4787153"/>
                <a:ext cx="113323" cy="11205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sp>
            <p:nvSpPr>
              <p:cNvPr id="111" name="Oval 110"/>
              <p:cNvSpPr/>
              <p:nvPr/>
            </p:nvSpPr>
            <p:spPr bwMode="auto">
              <a:xfrm>
                <a:off x="3937000" y="4787153"/>
                <a:ext cx="113323" cy="11205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grpSp>
        <p:sp>
          <p:nvSpPr>
            <p:cNvPr id="114" name="Rectangle 113"/>
            <p:cNvSpPr/>
            <p:nvPr/>
          </p:nvSpPr>
          <p:spPr bwMode="auto">
            <a:xfrm>
              <a:off x="5638800" y="5486405"/>
              <a:ext cx="1895017" cy="301853"/>
            </a:xfrm>
            <a:prstGeom prst="rect">
              <a:avLst/>
            </a:prstGeom>
            <a:solidFill>
              <a:schemeClr val="accent3"/>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900" b="0" dirty="0">
                <a:solidFill>
                  <a:srgbClr val="000000"/>
                </a:solidFill>
              </a:endParaRPr>
            </a:p>
          </p:txBody>
        </p:sp>
        <p:cxnSp>
          <p:nvCxnSpPr>
            <p:cNvPr id="115" name="Straight Connector 114"/>
            <p:cNvCxnSpPr/>
            <p:nvPr/>
          </p:nvCxnSpPr>
          <p:spPr bwMode="auto">
            <a:xfrm>
              <a:off x="7162800" y="5486400"/>
              <a:ext cx="0" cy="301853"/>
            </a:xfrm>
            <a:prstGeom prst="lin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16" name="Straight Connector 115"/>
            <p:cNvCxnSpPr/>
            <p:nvPr/>
          </p:nvCxnSpPr>
          <p:spPr bwMode="auto">
            <a:xfrm>
              <a:off x="6858000" y="5486400"/>
              <a:ext cx="0" cy="301853"/>
            </a:xfrm>
            <a:prstGeom prst="lin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17" name="TextBox 116"/>
            <p:cNvSpPr txBox="1"/>
            <p:nvPr/>
          </p:nvSpPr>
          <p:spPr>
            <a:xfrm>
              <a:off x="6781800" y="5486400"/>
              <a:ext cx="787395" cy="230832"/>
            </a:xfrm>
            <a:prstGeom prst="rect">
              <a:avLst/>
            </a:prstGeom>
            <a:noFill/>
            <a:ln w="12700" cmpd="sng">
              <a:noFill/>
            </a:ln>
          </p:spPr>
          <p:txBody>
            <a:bodyPr wrap="none" rtlCol="0">
              <a:spAutoFit/>
            </a:bodyPr>
            <a:lstStyle/>
            <a:p>
              <a:r>
                <a:rPr lang="en-US" sz="900" b="0" dirty="0">
                  <a:solidFill>
                    <a:srgbClr val="000000"/>
                  </a:solidFill>
                </a:rPr>
                <a:t>    </a:t>
              </a:r>
              <a:r>
                <a:rPr lang="en-US" sz="900" b="0" dirty="0" err="1">
                  <a:solidFill>
                    <a:srgbClr val="000000"/>
                  </a:solidFill>
                </a:rPr>
                <a:t>Src</a:t>
              </a:r>
              <a:r>
                <a:rPr lang="en-US" sz="900" b="0" dirty="0">
                  <a:solidFill>
                    <a:srgbClr val="000000"/>
                  </a:solidFill>
                </a:rPr>
                <a:t>    </a:t>
              </a:r>
              <a:r>
                <a:rPr lang="en-US" sz="900" b="0" dirty="0" err="1">
                  <a:solidFill>
                    <a:srgbClr val="000000"/>
                  </a:solidFill>
                </a:rPr>
                <a:t>Dest</a:t>
              </a:r>
              <a:endParaRPr lang="en-US" sz="900" b="0" dirty="0">
                <a:solidFill>
                  <a:srgbClr val="000000"/>
                </a:solidFill>
              </a:endParaRPr>
            </a:p>
          </p:txBody>
        </p:sp>
        <p:cxnSp>
          <p:nvCxnSpPr>
            <p:cNvPr id="118" name="Straight Connector 117"/>
            <p:cNvCxnSpPr/>
            <p:nvPr/>
          </p:nvCxnSpPr>
          <p:spPr bwMode="auto">
            <a:xfrm>
              <a:off x="6477000" y="5486400"/>
              <a:ext cx="0" cy="304800"/>
            </a:xfrm>
            <a:prstGeom prst="lin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19" name="TextBox 118"/>
            <p:cNvSpPr txBox="1"/>
            <p:nvPr/>
          </p:nvSpPr>
          <p:spPr>
            <a:xfrm>
              <a:off x="6324600" y="5105400"/>
              <a:ext cx="762000" cy="369332"/>
            </a:xfrm>
            <a:prstGeom prst="rect">
              <a:avLst/>
            </a:prstGeom>
            <a:noFill/>
            <a:ln w="12700" cmpd="sng">
              <a:noFill/>
            </a:ln>
          </p:spPr>
          <p:txBody>
            <a:bodyPr wrap="square" rtlCol="0">
              <a:spAutoFit/>
            </a:bodyPr>
            <a:lstStyle/>
            <a:p>
              <a:pPr algn="ctr"/>
              <a:r>
                <a:rPr lang="en-US" sz="900" b="0" dirty="0">
                  <a:solidFill>
                    <a:srgbClr val="000000"/>
                  </a:solidFill>
                </a:rPr>
                <a:t>New</a:t>
              </a:r>
            </a:p>
            <a:p>
              <a:pPr algn="ctr"/>
              <a:r>
                <a:rPr lang="en-US" sz="900" b="0" dirty="0">
                  <a:solidFill>
                    <a:srgbClr val="000000"/>
                  </a:solidFill>
                </a:rPr>
                <a:t>2-PDU</a:t>
              </a:r>
            </a:p>
          </p:txBody>
        </p:sp>
        <p:sp>
          <p:nvSpPr>
            <p:cNvPr id="120" name="TextBox 119"/>
            <p:cNvSpPr txBox="1"/>
            <p:nvPr/>
          </p:nvSpPr>
          <p:spPr>
            <a:xfrm>
              <a:off x="6477000" y="5486400"/>
              <a:ext cx="434772" cy="369332"/>
            </a:xfrm>
            <a:prstGeom prst="rect">
              <a:avLst/>
            </a:prstGeom>
            <a:noFill/>
            <a:ln w="12700" cmpd="sng">
              <a:noFill/>
            </a:ln>
          </p:spPr>
          <p:txBody>
            <a:bodyPr wrap="none" rtlCol="0">
              <a:spAutoFit/>
            </a:bodyPr>
            <a:lstStyle/>
            <a:p>
              <a:pPr algn="ctr"/>
              <a:r>
                <a:rPr lang="en-US" sz="900" b="0" dirty="0">
                  <a:solidFill>
                    <a:srgbClr val="000000"/>
                  </a:solidFill>
                </a:rPr>
                <a:t>Conn</a:t>
              </a:r>
            </a:p>
            <a:p>
              <a:pPr algn="ctr"/>
              <a:r>
                <a:rPr lang="en-US" sz="900" b="0" dirty="0">
                  <a:solidFill>
                    <a:srgbClr val="000000"/>
                  </a:solidFill>
                </a:rPr>
                <a:t>Id</a:t>
              </a:r>
            </a:p>
          </p:txBody>
        </p:sp>
        <p:grpSp>
          <p:nvGrpSpPr>
            <p:cNvPr id="81" name="Group 80"/>
            <p:cNvGrpSpPr/>
            <p:nvPr/>
          </p:nvGrpSpPr>
          <p:grpSpPr>
            <a:xfrm>
              <a:off x="4648200" y="3200400"/>
              <a:ext cx="1172116" cy="914400"/>
              <a:chOff x="2559484" y="4343400"/>
              <a:chExt cx="1172116" cy="914400"/>
            </a:xfrm>
          </p:grpSpPr>
          <p:grpSp>
            <p:nvGrpSpPr>
              <p:cNvPr id="48" name="Group 47"/>
              <p:cNvGrpSpPr/>
              <p:nvPr/>
            </p:nvGrpSpPr>
            <p:grpSpPr>
              <a:xfrm>
                <a:off x="2971800" y="4800600"/>
                <a:ext cx="304800" cy="457200"/>
                <a:chOff x="2971800" y="4800600"/>
                <a:chExt cx="304800" cy="457200"/>
              </a:xfrm>
            </p:grpSpPr>
            <p:sp>
              <p:nvSpPr>
                <p:cNvPr id="39" name="Rectangle 38"/>
                <p:cNvSpPr/>
                <p:nvPr/>
              </p:nvSpPr>
              <p:spPr bwMode="auto">
                <a:xfrm>
                  <a:off x="2971800" y="4800600"/>
                  <a:ext cx="304800" cy="457200"/>
                </a:xfrm>
                <a:prstGeom prst="rect">
                  <a:avLst/>
                </a:prstGeom>
                <a:solidFill>
                  <a:srgbClr val="FFFF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cxnSp>
              <p:nvCxnSpPr>
                <p:cNvPr id="41" name="Straight Connector 40"/>
                <p:cNvCxnSpPr>
                  <a:stCxn id="39" idx="0"/>
                  <a:endCxn id="39" idx="2"/>
                </p:cNvCxnSpPr>
                <p:nvPr/>
              </p:nvCxnSpPr>
              <p:spPr bwMode="auto">
                <a:xfrm>
                  <a:off x="3124200" y="4800600"/>
                  <a:ext cx="0" cy="4572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3" name="Straight Connector 42"/>
                <p:cNvCxnSpPr/>
                <p:nvPr/>
              </p:nvCxnSpPr>
              <p:spPr bwMode="auto">
                <a:xfrm>
                  <a:off x="2971800" y="4876800"/>
                  <a:ext cx="3048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4" name="Straight Connector 43"/>
                <p:cNvCxnSpPr/>
                <p:nvPr/>
              </p:nvCxnSpPr>
              <p:spPr bwMode="auto">
                <a:xfrm>
                  <a:off x="2971800" y="4953000"/>
                  <a:ext cx="3048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5" name="Straight Connector 44"/>
                <p:cNvCxnSpPr/>
                <p:nvPr/>
              </p:nvCxnSpPr>
              <p:spPr bwMode="auto">
                <a:xfrm>
                  <a:off x="2971800" y="5029200"/>
                  <a:ext cx="3048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6" name="Straight Connector 45"/>
                <p:cNvCxnSpPr/>
                <p:nvPr/>
              </p:nvCxnSpPr>
              <p:spPr bwMode="auto">
                <a:xfrm>
                  <a:off x="2971800" y="5105400"/>
                  <a:ext cx="3048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7" name="Straight Connector 46"/>
                <p:cNvCxnSpPr/>
                <p:nvPr/>
              </p:nvCxnSpPr>
              <p:spPr bwMode="auto">
                <a:xfrm>
                  <a:off x="2971800" y="5181600"/>
                  <a:ext cx="3048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sp>
            <p:nvSpPr>
              <p:cNvPr id="49" name="TextBox 48"/>
              <p:cNvSpPr txBox="1"/>
              <p:nvPr/>
            </p:nvSpPr>
            <p:spPr>
              <a:xfrm>
                <a:off x="2559484" y="4343400"/>
                <a:ext cx="1172116" cy="507831"/>
              </a:xfrm>
              <a:prstGeom prst="rect">
                <a:avLst/>
              </a:prstGeom>
              <a:noFill/>
            </p:spPr>
            <p:txBody>
              <a:bodyPr wrap="none" rtlCol="0">
                <a:spAutoFit/>
              </a:bodyPr>
              <a:lstStyle/>
              <a:p>
                <a:pPr algn="ctr"/>
                <a:r>
                  <a:rPr lang="en-US" sz="900" b="0" dirty="0">
                    <a:solidFill>
                      <a:srgbClr val="000000"/>
                    </a:solidFill>
                  </a:rPr>
                  <a:t>Forwarding</a:t>
                </a:r>
              </a:p>
              <a:p>
                <a:pPr algn="ctr"/>
                <a:r>
                  <a:rPr lang="en-US" sz="900" b="0" dirty="0">
                    <a:solidFill>
                      <a:srgbClr val="000000"/>
                    </a:solidFill>
                  </a:rPr>
                  <a:t>Table</a:t>
                </a:r>
              </a:p>
              <a:p>
                <a:pPr algn="ctr"/>
                <a:r>
                  <a:rPr lang="en-US" sz="900" b="0" dirty="0" err="1">
                    <a:solidFill>
                      <a:srgbClr val="000000"/>
                    </a:solidFill>
                  </a:rPr>
                  <a:t>DestAddr</a:t>
                </a:r>
                <a:r>
                  <a:rPr lang="en-US" sz="900" b="0" dirty="0">
                    <a:solidFill>
                      <a:srgbClr val="000000"/>
                    </a:solidFill>
                  </a:rPr>
                  <a:t>  (N-1)-port</a:t>
                </a:r>
              </a:p>
            </p:txBody>
          </p:sp>
        </p:grpSp>
        <p:grpSp>
          <p:nvGrpSpPr>
            <p:cNvPr id="79" name="Group 78"/>
            <p:cNvGrpSpPr/>
            <p:nvPr/>
          </p:nvGrpSpPr>
          <p:grpSpPr>
            <a:xfrm>
              <a:off x="2057400" y="4267200"/>
              <a:ext cx="1433979" cy="459432"/>
              <a:chOff x="152400" y="4876800"/>
              <a:chExt cx="1433979" cy="459432"/>
            </a:xfrm>
          </p:grpSpPr>
          <p:sp>
            <p:nvSpPr>
              <p:cNvPr id="37" name="TextBox 36"/>
              <p:cNvSpPr txBox="1"/>
              <p:nvPr/>
            </p:nvSpPr>
            <p:spPr>
              <a:xfrm>
                <a:off x="685800" y="4876800"/>
                <a:ext cx="518091" cy="230832"/>
              </a:xfrm>
              <a:prstGeom prst="rect">
                <a:avLst/>
              </a:prstGeom>
              <a:noFill/>
            </p:spPr>
            <p:txBody>
              <a:bodyPr wrap="none" rtlCol="0">
                <a:spAutoFit/>
              </a:bodyPr>
              <a:lstStyle/>
              <a:p>
                <a:r>
                  <a:rPr lang="en-US" sz="900" b="0" dirty="0">
                    <a:solidFill>
                      <a:srgbClr val="000000"/>
                    </a:solidFill>
                  </a:rPr>
                  <a:t>3-PDU</a:t>
                </a:r>
              </a:p>
            </p:txBody>
          </p:sp>
          <p:grpSp>
            <p:nvGrpSpPr>
              <p:cNvPr id="66" name="Group 65"/>
              <p:cNvGrpSpPr/>
              <p:nvPr/>
            </p:nvGrpSpPr>
            <p:grpSpPr>
              <a:xfrm>
                <a:off x="152400" y="5105400"/>
                <a:ext cx="1433979" cy="230832"/>
                <a:chOff x="228600" y="5105400"/>
                <a:chExt cx="1433979" cy="230832"/>
              </a:xfrm>
            </p:grpSpPr>
            <p:sp>
              <p:nvSpPr>
                <p:cNvPr id="33" name="Rectangle 32"/>
                <p:cNvSpPr/>
                <p:nvPr/>
              </p:nvSpPr>
              <p:spPr bwMode="auto">
                <a:xfrm>
                  <a:off x="228600" y="5105400"/>
                  <a:ext cx="1371600" cy="228600"/>
                </a:xfrm>
                <a:prstGeom prst="rect">
                  <a:avLst/>
                </a:prstGeom>
                <a:solidFill>
                  <a:schemeClr val="accent3"/>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cxnSp>
              <p:nvCxnSpPr>
                <p:cNvPr id="35" name="Straight Connector 34"/>
                <p:cNvCxnSpPr/>
                <p:nvPr/>
              </p:nvCxnSpPr>
              <p:spPr bwMode="auto">
                <a:xfrm>
                  <a:off x="1295400" y="5105400"/>
                  <a:ext cx="0" cy="2286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36" name="Straight Connector 35"/>
                <p:cNvCxnSpPr/>
                <p:nvPr/>
              </p:nvCxnSpPr>
              <p:spPr bwMode="auto">
                <a:xfrm>
                  <a:off x="990600" y="5105400"/>
                  <a:ext cx="0" cy="2286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50" name="TextBox 49"/>
                <p:cNvSpPr txBox="1"/>
                <p:nvPr/>
              </p:nvSpPr>
              <p:spPr>
                <a:xfrm>
                  <a:off x="990600" y="5105400"/>
                  <a:ext cx="671979" cy="230832"/>
                </a:xfrm>
                <a:prstGeom prst="rect">
                  <a:avLst/>
                </a:prstGeom>
                <a:noFill/>
              </p:spPr>
              <p:txBody>
                <a:bodyPr wrap="none" rtlCol="0">
                  <a:spAutoFit/>
                </a:bodyPr>
                <a:lstStyle/>
                <a:p>
                  <a:r>
                    <a:rPr lang="en-US" sz="900" b="0" dirty="0" err="1">
                      <a:solidFill>
                        <a:srgbClr val="000000"/>
                      </a:solidFill>
                    </a:rPr>
                    <a:t>Src</a:t>
                  </a:r>
                  <a:r>
                    <a:rPr lang="en-US" sz="900" b="0" dirty="0">
                      <a:solidFill>
                        <a:srgbClr val="000000"/>
                      </a:solidFill>
                    </a:rPr>
                    <a:t>    </a:t>
                  </a:r>
                  <a:r>
                    <a:rPr lang="en-US" sz="900" b="0" dirty="0" err="1">
                      <a:solidFill>
                        <a:srgbClr val="000000"/>
                      </a:solidFill>
                    </a:rPr>
                    <a:t>Dest</a:t>
                  </a:r>
                  <a:endParaRPr lang="en-US" sz="900" b="0" dirty="0">
                    <a:solidFill>
                      <a:srgbClr val="000000"/>
                    </a:solidFill>
                  </a:endParaRPr>
                </a:p>
              </p:txBody>
            </p:sp>
          </p:grpSp>
        </p:grpSp>
        <p:cxnSp>
          <p:nvCxnSpPr>
            <p:cNvPr id="122" name="Curved Connector 121"/>
            <p:cNvCxnSpPr>
              <a:endCxn id="100" idx="2"/>
            </p:cNvCxnSpPr>
            <p:nvPr/>
          </p:nvCxnSpPr>
          <p:spPr bwMode="auto">
            <a:xfrm rot="5400000" flipH="1" flipV="1">
              <a:off x="3173217" y="5360611"/>
              <a:ext cx="667875" cy="300891"/>
            </a:xfrm>
            <a:prstGeom prst="curvedConnector2">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28" name="Curved Connector 127"/>
            <p:cNvCxnSpPr>
              <a:stCxn id="100" idx="1"/>
              <a:endCxn id="15" idx="2"/>
            </p:cNvCxnSpPr>
            <p:nvPr/>
          </p:nvCxnSpPr>
          <p:spPr bwMode="auto">
            <a:xfrm rot="5400000" flipH="1" flipV="1">
              <a:off x="3598378" y="4680021"/>
              <a:ext cx="464227" cy="213017"/>
            </a:xfrm>
            <a:prstGeom prst="curvedConnector2">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32" name="Curved Connector 131"/>
            <p:cNvCxnSpPr>
              <a:stCxn id="15" idx="6"/>
              <a:endCxn id="101" idx="7"/>
            </p:cNvCxnSpPr>
            <p:nvPr/>
          </p:nvCxnSpPr>
          <p:spPr bwMode="auto">
            <a:xfrm>
              <a:off x="4673600" y="4554415"/>
              <a:ext cx="437709" cy="464227"/>
            </a:xfrm>
            <a:prstGeom prst="curvedConnector2">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36" name="Curved Connector 135"/>
            <p:cNvCxnSpPr>
              <a:stCxn id="101" idx="6"/>
            </p:cNvCxnSpPr>
            <p:nvPr/>
          </p:nvCxnSpPr>
          <p:spPr bwMode="auto">
            <a:xfrm>
              <a:off x="5177692" y="5177118"/>
              <a:ext cx="130908" cy="667870"/>
            </a:xfrm>
            <a:prstGeom prst="curvedConnector2">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39" name="Curved Connector 138"/>
            <p:cNvCxnSpPr>
              <a:stCxn id="15" idx="0"/>
              <a:endCxn id="39" idx="1"/>
            </p:cNvCxnSpPr>
            <p:nvPr/>
          </p:nvCxnSpPr>
          <p:spPr bwMode="auto">
            <a:xfrm rot="5400000" flipH="1" flipV="1">
              <a:off x="4495339" y="3696161"/>
              <a:ext cx="375138" cy="755216"/>
            </a:xfrm>
            <a:prstGeom prst="curvedConnector2">
              <a:avLst/>
            </a:prstGeom>
            <a:solidFill>
              <a:schemeClr val="accent1"/>
            </a:solidFill>
            <a:ln w="9525" cap="flat" cmpd="sng" algn="ctr">
              <a:solidFill>
                <a:schemeClr val="tx1"/>
              </a:solidFill>
              <a:prstDash val="solid"/>
              <a:round/>
              <a:headEnd type="arrow"/>
              <a:tailEnd type="arrow"/>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8" name="TextBox 7"/>
            <p:cNvSpPr txBox="1"/>
            <p:nvPr/>
          </p:nvSpPr>
          <p:spPr>
            <a:xfrm>
              <a:off x="5715000" y="3886200"/>
              <a:ext cx="723275" cy="276999"/>
            </a:xfrm>
            <a:prstGeom prst="rect">
              <a:avLst/>
            </a:prstGeom>
            <a:noFill/>
          </p:spPr>
          <p:txBody>
            <a:bodyPr wrap="none" rtlCol="0">
              <a:spAutoFit/>
            </a:bodyPr>
            <a:lstStyle/>
            <a:p>
              <a:r>
                <a:rPr lang="en-US" b="0" dirty="0">
                  <a:solidFill>
                    <a:srgbClr val="000000"/>
                  </a:solidFill>
                </a:rPr>
                <a:t>Address</a:t>
              </a:r>
            </a:p>
          </p:txBody>
        </p:sp>
        <p:cxnSp>
          <p:nvCxnSpPr>
            <p:cNvPr id="11" name="Straight Arrow Connector 10"/>
            <p:cNvCxnSpPr>
              <a:stCxn id="8" idx="1"/>
            </p:cNvCxnSpPr>
            <p:nvPr/>
          </p:nvCxnSpPr>
          <p:spPr bwMode="auto">
            <a:xfrm flipH="1">
              <a:off x="4648200" y="4024700"/>
              <a:ext cx="1066800" cy="39490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3" name="Straight Arrow Connector 12"/>
            <p:cNvCxnSpPr/>
            <p:nvPr/>
          </p:nvCxnSpPr>
          <p:spPr bwMode="auto">
            <a:xfrm>
              <a:off x="685800" y="5334000"/>
              <a:ext cx="1143000" cy="0"/>
            </a:xfrm>
            <a:prstGeom prst="straightConnector1">
              <a:avLst/>
            </a:prstGeom>
            <a:solidFill>
              <a:schemeClr val="accent1"/>
            </a:solidFill>
            <a:ln w="28575" cap="flat" cmpd="sng" algn="ctr">
              <a:solidFill>
                <a:schemeClr val="tx1"/>
              </a:solidFill>
              <a:prstDash val="solid"/>
              <a:round/>
              <a:headEnd type="none" w="med" len="med"/>
              <a:tailEnd type="arrow"/>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72" name="Straight Arrow Connector 71"/>
            <p:cNvCxnSpPr/>
            <p:nvPr/>
          </p:nvCxnSpPr>
          <p:spPr bwMode="auto">
            <a:xfrm>
              <a:off x="7086600" y="5334000"/>
              <a:ext cx="1143000" cy="0"/>
            </a:xfrm>
            <a:prstGeom prst="straightConnector1">
              <a:avLst/>
            </a:prstGeom>
            <a:solidFill>
              <a:schemeClr val="accent1"/>
            </a:solidFill>
            <a:ln w="28575" cap="flat" cmpd="sng" algn="ctr">
              <a:solidFill>
                <a:schemeClr val="tx1"/>
              </a:solidFill>
              <a:prstDash val="solid"/>
              <a:round/>
              <a:headEnd type="none" w="med" len="med"/>
              <a:tailEnd type="arrow"/>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spTree>
    <p:extLst>
      <p:ext uri="{BB962C8B-B14F-4D97-AF65-F5344CB8AC3E}">
        <p14:creationId xmlns:p14="http://schemas.microsoft.com/office/powerpoint/2010/main" val="1911514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09600" y="0"/>
            <a:ext cx="7772400" cy="1143000"/>
          </a:xfrm>
        </p:spPr>
        <p:txBody>
          <a:bodyPr/>
          <a:lstStyle/>
          <a:p>
            <a:r>
              <a:rPr lang="en-US" sz="2800" dirty="0"/>
              <a:t>If IP Does What the Spec Says</a:t>
            </a:r>
          </a:p>
        </p:txBody>
      </p:sp>
      <p:sp>
        <p:nvSpPr>
          <p:cNvPr id="6" name="Content Placeholder 5"/>
          <p:cNvSpPr>
            <a:spLocks noGrp="1"/>
          </p:cNvSpPr>
          <p:nvPr>
            <p:ph idx="1"/>
          </p:nvPr>
        </p:nvSpPr>
        <p:spPr>
          <a:xfrm>
            <a:off x="685800" y="871283"/>
            <a:ext cx="7848600" cy="1371600"/>
          </a:xfrm>
        </p:spPr>
        <p:txBody>
          <a:bodyPr/>
          <a:lstStyle/>
          <a:p>
            <a:r>
              <a:rPr lang="en-US" sz="2000" dirty="0"/>
              <a:t>That would imply that something very messy was going on in routers. </a:t>
            </a:r>
          </a:p>
          <a:p>
            <a:pPr lvl="1"/>
            <a:r>
              <a:rPr lang="en-US" sz="1600" dirty="0"/>
              <a:t>A kludge was needed but that would impair forwarding times.</a:t>
            </a:r>
          </a:p>
          <a:p>
            <a:r>
              <a:rPr lang="en-US" sz="2000" dirty="0"/>
              <a:t>Router vendors are no fools. </a:t>
            </a:r>
          </a:p>
          <a:p>
            <a:r>
              <a:rPr lang="en-US" sz="2000" dirty="0"/>
              <a:t>So, I claimed that if Hosts don’t do Multihoming then Routers don’t Either. Waiting for someone to call me on it. </a:t>
            </a:r>
          </a:p>
          <a:p>
            <a:r>
              <a:rPr lang="en-US" sz="2000" dirty="0"/>
              <a:t>Finally, someone did. ;-)</a:t>
            </a:r>
          </a:p>
        </p:txBody>
      </p:sp>
      <p:sp>
        <p:nvSpPr>
          <p:cNvPr id="2" name="Date Placeholder 1"/>
          <p:cNvSpPr>
            <a:spLocks noGrp="1"/>
          </p:cNvSpPr>
          <p:nvPr>
            <p:ph type="dt" sz="half" idx="10"/>
          </p:nvPr>
        </p:nvSpPr>
        <p:spPr/>
        <p:txBody>
          <a:bodyPr/>
          <a:lstStyle/>
          <a:p>
            <a:pPr>
              <a:defRPr/>
            </a:pPr>
            <a:fld id="{CBF4C81F-A52B-A14E-9304-5F492CCEDCDC}" type="datetime3">
              <a:rPr lang="en-US" smtClean="0"/>
              <a:pPr>
                <a:defRPr/>
              </a:pPr>
              <a:t>14 January 2026</a:t>
            </a:fld>
            <a:endParaRPr lang="en-US"/>
          </a:p>
        </p:txBody>
      </p:sp>
      <p:sp>
        <p:nvSpPr>
          <p:cNvPr id="3" name="Footer Placeholder 2"/>
          <p:cNvSpPr>
            <a:spLocks noGrp="1"/>
          </p:cNvSpPr>
          <p:nvPr>
            <p:ph type="ftr" sz="quarter" idx="11"/>
          </p:nvPr>
        </p:nvSpPr>
        <p:spPr/>
        <p:txBody>
          <a:bodyPr/>
          <a:lstStyle/>
          <a:p>
            <a:pPr>
              <a:defRPr/>
            </a:pPr>
            <a:r>
              <a:rPr lang="en-US"/>
              <a:t>.</a:t>
            </a:r>
          </a:p>
        </p:txBody>
      </p:sp>
      <p:sp>
        <p:nvSpPr>
          <p:cNvPr id="4" name="Slide Number Placeholder 3"/>
          <p:cNvSpPr>
            <a:spLocks noGrp="1"/>
          </p:cNvSpPr>
          <p:nvPr>
            <p:ph type="sldNum" sz="quarter" idx="12"/>
          </p:nvPr>
        </p:nvSpPr>
        <p:spPr/>
        <p:txBody>
          <a:bodyPr/>
          <a:lstStyle/>
          <a:p>
            <a:pPr>
              <a:defRPr/>
            </a:pPr>
            <a:fld id="{69099406-CFAA-9E4F-AC3E-6F4D350E9882}" type="slidenum">
              <a:rPr lang="en-US" smtClean="0"/>
              <a:pPr>
                <a:defRPr/>
              </a:pPr>
              <a:t>36</a:t>
            </a:fld>
            <a:endParaRPr lang="en-US"/>
          </a:p>
        </p:txBody>
      </p:sp>
      <p:sp>
        <p:nvSpPr>
          <p:cNvPr id="29" name="Rectangle 28"/>
          <p:cNvSpPr/>
          <p:nvPr/>
        </p:nvSpPr>
        <p:spPr bwMode="auto">
          <a:xfrm>
            <a:off x="4953000" y="6019800"/>
            <a:ext cx="1447800" cy="152400"/>
          </a:xfrm>
          <a:prstGeom prst="rect">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sp>
        <p:nvSpPr>
          <p:cNvPr id="31" name="Rectangle 30"/>
          <p:cNvSpPr/>
          <p:nvPr/>
        </p:nvSpPr>
        <p:spPr bwMode="auto">
          <a:xfrm>
            <a:off x="2133600" y="6019800"/>
            <a:ext cx="1447800" cy="152400"/>
          </a:xfrm>
          <a:prstGeom prst="rect">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grpSp>
        <p:nvGrpSpPr>
          <p:cNvPr id="62" name="Group 61"/>
          <p:cNvGrpSpPr/>
          <p:nvPr/>
        </p:nvGrpSpPr>
        <p:grpSpPr>
          <a:xfrm>
            <a:off x="685800" y="3886200"/>
            <a:ext cx="1801964" cy="276999"/>
            <a:chOff x="1524000" y="4800600"/>
            <a:chExt cx="1801964" cy="276999"/>
          </a:xfrm>
        </p:grpSpPr>
        <p:sp>
          <p:nvSpPr>
            <p:cNvPr id="52" name="TextBox 51"/>
            <p:cNvSpPr txBox="1"/>
            <p:nvPr/>
          </p:nvSpPr>
          <p:spPr>
            <a:xfrm>
              <a:off x="1981200" y="4800600"/>
              <a:ext cx="1344764" cy="276999"/>
            </a:xfrm>
            <a:prstGeom prst="rect">
              <a:avLst/>
            </a:prstGeom>
            <a:noFill/>
          </p:spPr>
          <p:txBody>
            <a:bodyPr wrap="none" rtlCol="0">
              <a:spAutoFit/>
            </a:bodyPr>
            <a:lstStyle/>
            <a:p>
              <a:r>
                <a:rPr lang="en-US" b="0" dirty="0">
                  <a:solidFill>
                    <a:srgbClr val="000000"/>
                  </a:solidFill>
                </a:rPr>
                <a:t>Toward the Source</a:t>
              </a:r>
            </a:p>
          </p:txBody>
        </p:sp>
        <p:cxnSp>
          <p:nvCxnSpPr>
            <p:cNvPr id="55" name="Straight Arrow Connector 54"/>
            <p:cNvCxnSpPr>
              <a:stCxn id="52" idx="1"/>
            </p:cNvCxnSpPr>
            <p:nvPr/>
          </p:nvCxnSpPr>
          <p:spPr bwMode="auto">
            <a:xfrm flipH="1">
              <a:off x="1524000" y="4939100"/>
              <a:ext cx="457200" cy="1390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grpSp>
        <p:nvGrpSpPr>
          <p:cNvPr id="65" name="Group 64"/>
          <p:cNvGrpSpPr/>
          <p:nvPr/>
        </p:nvGrpSpPr>
        <p:grpSpPr>
          <a:xfrm>
            <a:off x="6934200" y="3886200"/>
            <a:ext cx="1447800" cy="461665"/>
            <a:chOff x="7315200" y="4419600"/>
            <a:chExt cx="1447800" cy="461665"/>
          </a:xfrm>
        </p:grpSpPr>
        <p:sp>
          <p:nvSpPr>
            <p:cNvPr id="53" name="TextBox 52"/>
            <p:cNvSpPr txBox="1"/>
            <p:nvPr/>
          </p:nvSpPr>
          <p:spPr>
            <a:xfrm>
              <a:off x="7315200" y="4419600"/>
              <a:ext cx="894145" cy="461665"/>
            </a:xfrm>
            <a:prstGeom prst="rect">
              <a:avLst/>
            </a:prstGeom>
            <a:noFill/>
          </p:spPr>
          <p:txBody>
            <a:bodyPr wrap="none" rtlCol="0">
              <a:spAutoFit/>
            </a:bodyPr>
            <a:lstStyle/>
            <a:p>
              <a:r>
                <a:rPr lang="en-US" b="0" dirty="0">
                  <a:solidFill>
                    <a:srgbClr val="000000"/>
                  </a:solidFill>
                </a:rPr>
                <a:t>Toward the </a:t>
              </a:r>
            </a:p>
            <a:p>
              <a:pPr algn="ctr"/>
              <a:r>
                <a:rPr lang="en-US" b="0" dirty="0">
                  <a:solidFill>
                    <a:srgbClr val="000000"/>
                  </a:solidFill>
                </a:rPr>
                <a:t>Destination</a:t>
              </a:r>
            </a:p>
          </p:txBody>
        </p:sp>
        <p:cxnSp>
          <p:nvCxnSpPr>
            <p:cNvPr id="64" name="Straight Arrow Connector 63"/>
            <p:cNvCxnSpPr>
              <a:stCxn id="53" idx="3"/>
            </p:cNvCxnSpPr>
            <p:nvPr/>
          </p:nvCxnSpPr>
          <p:spPr bwMode="auto">
            <a:xfrm flipV="1">
              <a:off x="8209345" y="4648200"/>
              <a:ext cx="553655" cy="2233"/>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grpSp>
        <p:nvGrpSpPr>
          <p:cNvPr id="105" name="Group 104"/>
          <p:cNvGrpSpPr/>
          <p:nvPr/>
        </p:nvGrpSpPr>
        <p:grpSpPr>
          <a:xfrm>
            <a:off x="1143000" y="5334000"/>
            <a:ext cx="1930395" cy="533400"/>
            <a:chOff x="152400" y="4800600"/>
            <a:chExt cx="1930395" cy="533400"/>
          </a:xfrm>
        </p:grpSpPr>
        <p:sp>
          <p:nvSpPr>
            <p:cNvPr id="68" name="Rectangle 67"/>
            <p:cNvSpPr/>
            <p:nvPr/>
          </p:nvSpPr>
          <p:spPr bwMode="auto">
            <a:xfrm>
              <a:off x="152400" y="5029205"/>
              <a:ext cx="1895017" cy="301853"/>
            </a:xfrm>
            <a:prstGeom prst="rect">
              <a:avLst/>
            </a:prstGeom>
            <a:solidFill>
              <a:schemeClr val="accent3"/>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900" b="0" dirty="0">
                <a:solidFill>
                  <a:srgbClr val="000000"/>
                </a:solidFill>
              </a:endParaRPr>
            </a:p>
          </p:txBody>
        </p:sp>
        <p:cxnSp>
          <p:nvCxnSpPr>
            <p:cNvPr id="69" name="Straight Connector 68"/>
            <p:cNvCxnSpPr/>
            <p:nvPr/>
          </p:nvCxnSpPr>
          <p:spPr bwMode="auto">
            <a:xfrm>
              <a:off x="1676400" y="5029200"/>
              <a:ext cx="0" cy="30185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70" name="Straight Connector 69"/>
            <p:cNvCxnSpPr/>
            <p:nvPr/>
          </p:nvCxnSpPr>
          <p:spPr bwMode="auto">
            <a:xfrm>
              <a:off x="1371600" y="5029200"/>
              <a:ext cx="0" cy="30185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71" name="TextBox 70"/>
            <p:cNvSpPr txBox="1"/>
            <p:nvPr/>
          </p:nvSpPr>
          <p:spPr>
            <a:xfrm>
              <a:off x="1295400" y="5029200"/>
              <a:ext cx="787395" cy="230832"/>
            </a:xfrm>
            <a:prstGeom prst="rect">
              <a:avLst/>
            </a:prstGeom>
            <a:noFill/>
          </p:spPr>
          <p:txBody>
            <a:bodyPr wrap="none" rtlCol="0">
              <a:spAutoFit/>
            </a:bodyPr>
            <a:lstStyle/>
            <a:p>
              <a:r>
                <a:rPr lang="en-US" sz="900" b="0" dirty="0">
                  <a:solidFill>
                    <a:srgbClr val="000000"/>
                  </a:solidFill>
                </a:rPr>
                <a:t>    </a:t>
              </a:r>
              <a:r>
                <a:rPr lang="en-US" sz="900" b="0" dirty="0" err="1">
                  <a:solidFill>
                    <a:srgbClr val="000000"/>
                  </a:solidFill>
                </a:rPr>
                <a:t>Src</a:t>
              </a:r>
              <a:r>
                <a:rPr lang="en-US" sz="900" b="0" dirty="0">
                  <a:solidFill>
                    <a:srgbClr val="000000"/>
                  </a:solidFill>
                </a:rPr>
                <a:t>    </a:t>
              </a:r>
              <a:r>
                <a:rPr lang="en-US" sz="900" b="0" dirty="0" err="1">
                  <a:solidFill>
                    <a:srgbClr val="000000"/>
                  </a:solidFill>
                </a:rPr>
                <a:t>Dest</a:t>
              </a:r>
              <a:endParaRPr lang="en-US" sz="900" b="0" dirty="0">
                <a:solidFill>
                  <a:srgbClr val="000000"/>
                </a:solidFill>
              </a:endParaRPr>
            </a:p>
          </p:txBody>
        </p:sp>
        <p:cxnSp>
          <p:nvCxnSpPr>
            <p:cNvPr id="76" name="Straight Connector 75"/>
            <p:cNvCxnSpPr/>
            <p:nvPr/>
          </p:nvCxnSpPr>
          <p:spPr bwMode="auto">
            <a:xfrm>
              <a:off x="990600" y="5029200"/>
              <a:ext cx="0" cy="3048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77" name="TextBox 76"/>
            <p:cNvSpPr txBox="1"/>
            <p:nvPr/>
          </p:nvSpPr>
          <p:spPr>
            <a:xfrm>
              <a:off x="609600" y="4800600"/>
              <a:ext cx="762000" cy="230832"/>
            </a:xfrm>
            <a:prstGeom prst="rect">
              <a:avLst/>
            </a:prstGeom>
            <a:noFill/>
          </p:spPr>
          <p:txBody>
            <a:bodyPr wrap="square" rtlCol="0">
              <a:spAutoFit/>
            </a:bodyPr>
            <a:lstStyle/>
            <a:p>
              <a:pPr algn="ctr"/>
              <a:r>
                <a:rPr lang="en-US" sz="900" b="0" dirty="0">
                  <a:solidFill>
                    <a:srgbClr val="000000"/>
                  </a:solidFill>
                </a:rPr>
                <a:t>MAC-PDU</a:t>
              </a:r>
            </a:p>
          </p:txBody>
        </p:sp>
        <p:sp>
          <p:nvSpPr>
            <p:cNvPr id="104" name="TextBox 103"/>
            <p:cNvSpPr txBox="1"/>
            <p:nvPr/>
          </p:nvSpPr>
          <p:spPr>
            <a:xfrm>
              <a:off x="1115653" y="5029200"/>
              <a:ext cx="184666" cy="230832"/>
            </a:xfrm>
            <a:prstGeom prst="rect">
              <a:avLst/>
            </a:prstGeom>
            <a:noFill/>
          </p:spPr>
          <p:txBody>
            <a:bodyPr wrap="none" rtlCol="0">
              <a:spAutoFit/>
            </a:bodyPr>
            <a:lstStyle/>
            <a:p>
              <a:pPr algn="ctr"/>
              <a:endParaRPr lang="en-US" sz="900" b="0" dirty="0">
                <a:solidFill>
                  <a:srgbClr val="000000"/>
                </a:solidFill>
              </a:endParaRPr>
            </a:p>
          </p:txBody>
        </p:sp>
      </p:grpSp>
      <p:sp>
        <p:nvSpPr>
          <p:cNvPr id="7" name="Rectangle 6"/>
          <p:cNvSpPr/>
          <p:nvPr/>
        </p:nvSpPr>
        <p:spPr bwMode="auto">
          <a:xfrm>
            <a:off x="3200400" y="4114800"/>
            <a:ext cx="2209800" cy="19050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cxnSp>
        <p:nvCxnSpPr>
          <p:cNvPr id="9" name="Straight Connector 8"/>
          <p:cNvCxnSpPr/>
          <p:nvPr/>
        </p:nvCxnSpPr>
        <p:spPr bwMode="auto">
          <a:xfrm>
            <a:off x="3200400" y="5433646"/>
            <a:ext cx="22098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2" name="Straight Connector 11"/>
          <p:cNvCxnSpPr/>
          <p:nvPr/>
        </p:nvCxnSpPr>
        <p:spPr bwMode="auto">
          <a:xfrm>
            <a:off x="3200400" y="4847492"/>
            <a:ext cx="22098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4" name="Straight Connector 13"/>
          <p:cNvCxnSpPr>
            <a:stCxn id="7" idx="0"/>
            <a:endCxn id="7" idx="2"/>
          </p:cNvCxnSpPr>
          <p:nvPr/>
        </p:nvCxnSpPr>
        <p:spPr bwMode="auto">
          <a:xfrm>
            <a:off x="4305300" y="4114800"/>
            <a:ext cx="0" cy="19050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5" name="Oval 14"/>
          <p:cNvSpPr/>
          <p:nvPr/>
        </p:nvSpPr>
        <p:spPr bwMode="auto">
          <a:xfrm>
            <a:off x="3733800" y="4267200"/>
            <a:ext cx="482600" cy="463062"/>
          </a:xfrm>
          <a:prstGeom prst="ellipse">
            <a:avLst/>
          </a:prstGeom>
          <a:solidFill>
            <a:srgbClr val="FFFF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sp>
        <p:nvSpPr>
          <p:cNvPr id="100" name="Oval 99"/>
          <p:cNvSpPr/>
          <p:nvPr/>
        </p:nvSpPr>
        <p:spPr bwMode="auto">
          <a:xfrm>
            <a:off x="3657600" y="4953000"/>
            <a:ext cx="453292" cy="448235"/>
          </a:xfrm>
          <a:prstGeom prst="ellipse">
            <a:avLst/>
          </a:prstGeom>
          <a:solidFill>
            <a:schemeClr val="accent3"/>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sp>
        <p:nvSpPr>
          <p:cNvPr id="101" name="Oval 100"/>
          <p:cNvSpPr/>
          <p:nvPr/>
        </p:nvSpPr>
        <p:spPr bwMode="auto">
          <a:xfrm>
            <a:off x="4724400" y="4953000"/>
            <a:ext cx="453292" cy="448235"/>
          </a:xfrm>
          <a:prstGeom prst="ellipse">
            <a:avLst/>
          </a:prstGeom>
          <a:solidFill>
            <a:schemeClr val="accent3"/>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sp>
        <p:nvSpPr>
          <p:cNvPr id="106" name="Oval 105"/>
          <p:cNvSpPr/>
          <p:nvPr/>
        </p:nvSpPr>
        <p:spPr bwMode="auto">
          <a:xfrm>
            <a:off x="3427046" y="4787153"/>
            <a:ext cx="113323" cy="11205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sp>
        <p:nvSpPr>
          <p:cNvPr id="107" name="Oval 106"/>
          <p:cNvSpPr/>
          <p:nvPr/>
        </p:nvSpPr>
        <p:spPr bwMode="auto">
          <a:xfrm>
            <a:off x="3653692" y="4787153"/>
            <a:ext cx="113323" cy="11205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sp>
        <p:nvSpPr>
          <p:cNvPr id="108" name="Oval 107"/>
          <p:cNvSpPr/>
          <p:nvPr/>
        </p:nvSpPr>
        <p:spPr bwMode="auto">
          <a:xfrm>
            <a:off x="4560277" y="4787153"/>
            <a:ext cx="113323" cy="11205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sp>
        <p:nvSpPr>
          <p:cNvPr id="109" name="Oval 108"/>
          <p:cNvSpPr/>
          <p:nvPr/>
        </p:nvSpPr>
        <p:spPr bwMode="auto">
          <a:xfrm>
            <a:off x="4956908" y="4787153"/>
            <a:ext cx="113323" cy="11205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sp>
        <p:nvSpPr>
          <p:cNvPr id="110" name="Oval 109"/>
          <p:cNvSpPr/>
          <p:nvPr/>
        </p:nvSpPr>
        <p:spPr bwMode="auto">
          <a:xfrm>
            <a:off x="5183554" y="4787153"/>
            <a:ext cx="113323" cy="11205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sp>
        <p:nvSpPr>
          <p:cNvPr id="111" name="Oval 110"/>
          <p:cNvSpPr/>
          <p:nvPr/>
        </p:nvSpPr>
        <p:spPr bwMode="auto">
          <a:xfrm>
            <a:off x="3937000" y="4787153"/>
            <a:ext cx="113323" cy="11205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grpSp>
        <p:nvGrpSpPr>
          <p:cNvPr id="113" name="Group 112"/>
          <p:cNvGrpSpPr/>
          <p:nvPr/>
        </p:nvGrpSpPr>
        <p:grpSpPr>
          <a:xfrm>
            <a:off x="5486400" y="4724400"/>
            <a:ext cx="1930395" cy="533400"/>
            <a:chOff x="152400" y="4800600"/>
            <a:chExt cx="1930395" cy="533400"/>
          </a:xfrm>
        </p:grpSpPr>
        <p:sp>
          <p:nvSpPr>
            <p:cNvPr id="114" name="Rectangle 113"/>
            <p:cNvSpPr/>
            <p:nvPr/>
          </p:nvSpPr>
          <p:spPr bwMode="auto">
            <a:xfrm>
              <a:off x="152400" y="5029205"/>
              <a:ext cx="1895017" cy="301853"/>
            </a:xfrm>
            <a:prstGeom prst="rect">
              <a:avLst/>
            </a:prstGeom>
            <a:solidFill>
              <a:schemeClr val="accent3"/>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900" b="0" dirty="0">
                <a:solidFill>
                  <a:srgbClr val="000000"/>
                </a:solidFill>
              </a:endParaRPr>
            </a:p>
          </p:txBody>
        </p:sp>
        <p:cxnSp>
          <p:nvCxnSpPr>
            <p:cNvPr id="115" name="Straight Connector 114"/>
            <p:cNvCxnSpPr/>
            <p:nvPr/>
          </p:nvCxnSpPr>
          <p:spPr bwMode="auto">
            <a:xfrm>
              <a:off x="1676400" y="5029200"/>
              <a:ext cx="0" cy="30185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16" name="Straight Connector 115"/>
            <p:cNvCxnSpPr/>
            <p:nvPr/>
          </p:nvCxnSpPr>
          <p:spPr bwMode="auto">
            <a:xfrm>
              <a:off x="1371600" y="5029200"/>
              <a:ext cx="0" cy="30185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17" name="TextBox 116"/>
            <p:cNvSpPr txBox="1"/>
            <p:nvPr/>
          </p:nvSpPr>
          <p:spPr>
            <a:xfrm>
              <a:off x="1295400" y="5029200"/>
              <a:ext cx="787395" cy="230832"/>
            </a:xfrm>
            <a:prstGeom prst="rect">
              <a:avLst/>
            </a:prstGeom>
            <a:noFill/>
          </p:spPr>
          <p:txBody>
            <a:bodyPr wrap="none" rtlCol="0">
              <a:spAutoFit/>
            </a:bodyPr>
            <a:lstStyle/>
            <a:p>
              <a:r>
                <a:rPr lang="en-US" sz="900" b="0" dirty="0">
                  <a:solidFill>
                    <a:srgbClr val="000000"/>
                  </a:solidFill>
                </a:rPr>
                <a:t>    </a:t>
              </a:r>
              <a:r>
                <a:rPr lang="en-US" sz="900" b="0" dirty="0" err="1">
                  <a:solidFill>
                    <a:srgbClr val="000000"/>
                  </a:solidFill>
                </a:rPr>
                <a:t>Src</a:t>
              </a:r>
              <a:r>
                <a:rPr lang="en-US" sz="900" b="0" dirty="0">
                  <a:solidFill>
                    <a:srgbClr val="000000"/>
                  </a:solidFill>
                </a:rPr>
                <a:t>    </a:t>
              </a:r>
              <a:r>
                <a:rPr lang="en-US" sz="900" b="0" dirty="0" err="1">
                  <a:solidFill>
                    <a:srgbClr val="000000"/>
                  </a:solidFill>
                </a:rPr>
                <a:t>Dest</a:t>
              </a:r>
              <a:endParaRPr lang="en-US" sz="900" b="0" dirty="0">
                <a:solidFill>
                  <a:srgbClr val="000000"/>
                </a:solidFill>
              </a:endParaRPr>
            </a:p>
          </p:txBody>
        </p:sp>
        <p:cxnSp>
          <p:nvCxnSpPr>
            <p:cNvPr id="118" name="Straight Connector 117"/>
            <p:cNvCxnSpPr/>
            <p:nvPr/>
          </p:nvCxnSpPr>
          <p:spPr bwMode="auto">
            <a:xfrm>
              <a:off x="990600" y="5029200"/>
              <a:ext cx="0" cy="3048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19" name="TextBox 118"/>
            <p:cNvSpPr txBox="1"/>
            <p:nvPr/>
          </p:nvSpPr>
          <p:spPr>
            <a:xfrm>
              <a:off x="609600" y="4800600"/>
              <a:ext cx="762000" cy="230832"/>
            </a:xfrm>
            <a:prstGeom prst="rect">
              <a:avLst/>
            </a:prstGeom>
            <a:noFill/>
          </p:spPr>
          <p:txBody>
            <a:bodyPr wrap="square" rtlCol="0">
              <a:spAutoFit/>
            </a:bodyPr>
            <a:lstStyle/>
            <a:p>
              <a:pPr algn="ctr"/>
              <a:r>
                <a:rPr lang="en-US" sz="900" b="0" dirty="0">
                  <a:solidFill>
                    <a:srgbClr val="000000"/>
                  </a:solidFill>
                </a:rPr>
                <a:t>2-PDU</a:t>
              </a:r>
            </a:p>
          </p:txBody>
        </p:sp>
        <p:sp>
          <p:nvSpPr>
            <p:cNvPr id="120" name="TextBox 119"/>
            <p:cNvSpPr txBox="1"/>
            <p:nvPr/>
          </p:nvSpPr>
          <p:spPr>
            <a:xfrm>
              <a:off x="1115652" y="5029200"/>
              <a:ext cx="184666" cy="230832"/>
            </a:xfrm>
            <a:prstGeom prst="rect">
              <a:avLst/>
            </a:prstGeom>
            <a:noFill/>
          </p:spPr>
          <p:txBody>
            <a:bodyPr wrap="none" rtlCol="0">
              <a:spAutoFit/>
            </a:bodyPr>
            <a:lstStyle/>
            <a:p>
              <a:pPr algn="ctr"/>
              <a:endParaRPr lang="en-US" sz="900" b="0" dirty="0">
                <a:solidFill>
                  <a:srgbClr val="000000"/>
                </a:solidFill>
              </a:endParaRPr>
            </a:p>
          </p:txBody>
        </p:sp>
      </p:grpSp>
      <p:grpSp>
        <p:nvGrpSpPr>
          <p:cNvPr id="81" name="Group 80"/>
          <p:cNvGrpSpPr/>
          <p:nvPr/>
        </p:nvGrpSpPr>
        <p:grpSpPr>
          <a:xfrm>
            <a:off x="5141546" y="3146612"/>
            <a:ext cx="1172116" cy="914400"/>
            <a:chOff x="2559484" y="4343400"/>
            <a:chExt cx="1172116" cy="914400"/>
          </a:xfrm>
        </p:grpSpPr>
        <p:grpSp>
          <p:nvGrpSpPr>
            <p:cNvPr id="48" name="Group 47"/>
            <p:cNvGrpSpPr/>
            <p:nvPr/>
          </p:nvGrpSpPr>
          <p:grpSpPr>
            <a:xfrm>
              <a:off x="2971800" y="4800600"/>
              <a:ext cx="304800" cy="457200"/>
              <a:chOff x="2971800" y="4800600"/>
              <a:chExt cx="304800" cy="457200"/>
            </a:xfrm>
          </p:grpSpPr>
          <p:sp>
            <p:nvSpPr>
              <p:cNvPr id="39" name="Rectangle 38"/>
              <p:cNvSpPr/>
              <p:nvPr/>
            </p:nvSpPr>
            <p:spPr bwMode="auto">
              <a:xfrm>
                <a:off x="2971800" y="4800600"/>
                <a:ext cx="304800" cy="457200"/>
              </a:xfrm>
              <a:prstGeom prst="rect">
                <a:avLst/>
              </a:prstGeom>
              <a:solidFill>
                <a:srgbClr val="FFFF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cxnSp>
            <p:nvCxnSpPr>
              <p:cNvPr id="41" name="Straight Connector 40"/>
              <p:cNvCxnSpPr>
                <a:stCxn id="39" idx="0"/>
                <a:endCxn id="39" idx="2"/>
              </p:cNvCxnSpPr>
              <p:nvPr/>
            </p:nvCxnSpPr>
            <p:spPr bwMode="auto">
              <a:xfrm>
                <a:off x="3124200" y="4800600"/>
                <a:ext cx="0" cy="4572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3" name="Straight Connector 42"/>
              <p:cNvCxnSpPr/>
              <p:nvPr/>
            </p:nvCxnSpPr>
            <p:spPr bwMode="auto">
              <a:xfrm>
                <a:off x="2971800" y="4876800"/>
                <a:ext cx="3048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4" name="Straight Connector 43"/>
              <p:cNvCxnSpPr/>
              <p:nvPr/>
            </p:nvCxnSpPr>
            <p:spPr bwMode="auto">
              <a:xfrm>
                <a:off x="2971800" y="4953000"/>
                <a:ext cx="3048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5" name="Straight Connector 44"/>
              <p:cNvCxnSpPr/>
              <p:nvPr/>
            </p:nvCxnSpPr>
            <p:spPr bwMode="auto">
              <a:xfrm>
                <a:off x="2971800" y="5029200"/>
                <a:ext cx="3048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6" name="Straight Connector 45"/>
              <p:cNvCxnSpPr/>
              <p:nvPr/>
            </p:nvCxnSpPr>
            <p:spPr bwMode="auto">
              <a:xfrm>
                <a:off x="2971800" y="5105400"/>
                <a:ext cx="3048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7" name="Straight Connector 46"/>
              <p:cNvCxnSpPr/>
              <p:nvPr/>
            </p:nvCxnSpPr>
            <p:spPr bwMode="auto">
              <a:xfrm>
                <a:off x="2971800" y="5181600"/>
                <a:ext cx="3048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sp>
          <p:nvSpPr>
            <p:cNvPr id="49" name="TextBox 48"/>
            <p:cNvSpPr txBox="1"/>
            <p:nvPr/>
          </p:nvSpPr>
          <p:spPr>
            <a:xfrm>
              <a:off x="2559484" y="4343400"/>
              <a:ext cx="1172116" cy="507831"/>
            </a:xfrm>
            <a:prstGeom prst="rect">
              <a:avLst/>
            </a:prstGeom>
            <a:noFill/>
          </p:spPr>
          <p:txBody>
            <a:bodyPr wrap="none" rtlCol="0">
              <a:spAutoFit/>
            </a:bodyPr>
            <a:lstStyle/>
            <a:p>
              <a:pPr algn="ctr"/>
              <a:r>
                <a:rPr lang="en-US" sz="900" b="0" dirty="0">
                  <a:solidFill>
                    <a:srgbClr val="000000"/>
                  </a:solidFill>
                </a:rPr>
                <a:t>Forwarding</a:t>
              </a:r>
            </a:p>
            <a:p>
              <a:pPr algn="ctr"/>
              <a:r>
                <a:rPr lang="en-US" sz="900" b="0" dirty="0">
                  <a:solidFill>
                    <a:srgbClr val="000000"/>
                  </a:solidFill>
                </a:rPr>
                <a:t>Table</a:t>
              </a:r>
            </a:p>
            <a:p>
              <a:pPr algn="ctr"/>
              <a:r>
                <a:rPr lang="en-US" sz="900" b="0" dirty="0" err="1">
                  <a:solidFill>
                    <a:srgbClr val="000000"/>
                  </a:solidFill>
                </a:rPr>
                <a:t>DestAddr</a:t>
              </a:r>
              <a:r>
                <a:rPr lang="en-US" sz="900" b="0" dirty="0">
                  <a:solidFill>
                    <a:srgbClr val="000000"/>
                  </a:solidFill>
                </a:rPr>
                <a:t>  (N-1)-port</a:t>
              </a:r>
            </a:p>
          </p:txBody>
        </p:sp>
      </p:grpSp>
      <p:grpSp>
        <p:nvGrpSpPr>
          <p:cNvPr id="79" name="Group 78"/>
          <p:cNvGrpSpPr/>
          <p:nvPr/>
        </p:nvGrpSpPr>
        <p:grpSpPr>
          <a:xfrm>
            <a:off x="2057400" y="4267200"/>
            <a:ext cx="1433979" cy="459432"/>
            <a:chOff x="152400" y="4876800"/>
            <a:chExt cx="1433979" cy="459432"/>
          </a:xfrm>
        </p:grpSpPr>
        <p:sp>
          <p:nvSpPr>
            <p:cNvPr id="37" name="TextBox 36"/>
            <p:cNvSpPr txBox="1"/>
            <p:nvPr/>
          </p:nvSpPr>
          <p:spPr>
            <a:xfrm>
              <a:off x="685800" y="4876800"/>
              <a:ext cx="569387" cy="230832"/>
            </a:xfrm>
            <a:prstGeom prst="rect">
              <a:avLst/>
            </a:prstGeom>
            <a:noFill/>
          </p:spPr>
          <p:txBody>
            <a:bodyPr wrap="none" rtlCol="0">
              <a:spAutoFit/>
            </a:bodyPr>
            <a:lstStyle/>
            <a:p>
              <a:r>
                <a:rPr lang="en-US" sz="900" b="0" dirty="0">
                  <a:solidFill>
                    <a:srgbClr val="000000"/>
                  </a:solidFill>
                </a:rPr>
                <a:t>IP-PDU</a:t>
              </a:r>
            </a:p>
          </p:txBody>
        </p:sp>
        <p:grpSp>
          <p:nvGrpSpPr>
            <p:cNvPr id="66" name="Group 65"/>
            <p:cNvGrpSpPr/>
            <p:nvPr/>
          </p:nvGrpSpPr>
          <p:grpSpPr>
            <a:xfrm>
              <a:off x="152400" y="5105400"/>
              <a:ext cx="1433979" cy="230832"/>
              <a:chOff x="228600" y="5105400"/>
              <a:chExt cx="1433979" cy="230832"/>
            </a:xfrm>
          </p:grpSpPr>
          <p:sp>
            <p:nvSpPr>
              <p:cNvPr id="33" name="Rectangle 32"/>
              <p:cNvSpPr/>
              <p:nvPr/>
            </p:nvSpPr>
            <p:spPr bwMode="auto">
              <a:xfrm>
                <a:off x="228600" y="5105400"/>
                <a:ext cx="1371600" cy="228600"/>
              </a:xfrm>
              <a:prstGeom prst="rect">
                <a:avLst/>
              </a:prstGeom>
              <a:solidFill>
                <a:schemeClr val="accent3"/>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cxnSp>
            <p:nvCxnSpPr>
              <p:cNvPr id="35" name="Straight Connector 34"/>
              <p:cNvCxnSpPr/>
              <p:nvPr/>
            </p:nvCxnSpPr>
            <p:spPr bwMode="auto">
              <a:xfrm>
                <a:off x="1295400" y="5105400"/>
                <a:ext cx="0" cy="2286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36" name="Straight Connector 35"/>
              <p:cNvCxnSpPr/>
              <p:nvPr/>
            </p:nvCxnSpPr>
            <p:spPr bwMode="auto">
              <a:xfrm>
                <a:off x="990600" y="5105400"/>
                <a:ext cx="0" cy="2286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50" name="TextBox 49"/>
              <p:cNvSpPr txBox="1"/>
              <p:nvPr/>
            </p:nvSpPr>
            <p:spPr>
              <a:xfrm>
                <a:off x="990600" y="5105400"/>
                <a:ext cx="671979" cy="230832"/>
              </a:xfrm>
              <a:prstGeom prst="rect">
                <a:avLst/>
              </a:prstGeom>
              <a:noFill/>
            </p:spPr>
            <p:txBody>
              <a:bodyPr wrap="none" rtlCol="0">
                <a:spAutoFit/>
              </a:bodyPr>
              <a:lstStyle/>
              <a:p>
                <a:r>
                  <a:rPr lang="en-US" sz="900" b="0" dirty="0" err="1">
                    <a:solidFill>
                      <a:srgbClr val="000000"/>
                    </a:solidFill>
                  </a:rPr>
                  <a:t>Src</a:t>
                </a:r>
                <a:r>
                  <a:rPr lang="en-US" sz="900" b="0" dirty="0">
                    <a:solidFill>
                      <a:srgbClr val="000000"/>
                    </a:solidFill>
                  </a:rPr>
                  <a:t>    </a:t>
                </a:r>
                <a:r>
                  <a:rPr lang="en-US" sz="900" b="0" dirty="0" err="1">
                    <a:solidFill>
                      <a:srgbClr val="000000"/>
                    </a:solidFill>
                  </a:rPr>
                  <a:t>Dest</a:t>
                </a:r>
                <a:endParaRPr lang="en-US" sz="900" b="0" dirty="0">
                  <a:solidFill>
                    <a:srgbClr val="000000"/>
                  </a:solidFill>
                </a:endParaRPr>
              </a:p>
            </p:txBody>
          </p:sp>
        </p:grpSp>
      </p:grpSp>
      <p:cxnSp>
        <p:nvCxnSpPr>
          <p:cNvPr id="122" name="Curved Connector 121"/>
          <p:cNvCxnSpPr>
            <a:endCxn id="100" idx="2"/>
          </p:cNvCxnSpPr>
          <p:nvPr/>
        </p:nvCxnSpPr>
        <p:spPr bwMode="auto">
          <a:xfrm rot="5400000" flipH="1" flipV="1">
            <a:off x="3173217" y="5360611"/>
            <a:ext cx="667875" cy="300891"/>
          </a:xfrm>
          <a:prstGeom prst="curvedConnector2">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28" name="Curved Connector 127"/>
          <p:cNvCxnSpPr>
            <a:stCxn id="100" idx="1"/>
            <a:endCxn id="15" idx="2"/>
          </p:cNvCxnSpPr>
          <p:nvPr/>
        </p:nvCxnSpPr>
        <p:spPr bwMode="auto">
          <a:xfrm rot="5400000" flipH="1" flipV="1">
            <a:off x="3468936" y="4753779"/>
            <a:ext cx="519911" cy="9817"/>
          </a:xfrm>
          <a:prstGeom prst="curvedConnector2">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8" name="TextBox 7"/>
          <p:cNvSpPr txBox="1"/>
          <p:nvPr/>
        </p:nvSpPr>
        <p:spPr>
          <a:xfrm>
            <a:off x="2162142" y="3516672"/>
            <a:ext cx="978453" cy="276999"/>
          </a:xfrm>
          <a:prstGeom prst="rect">
            <a:avLst/>
          </a:prstGeom>
          <a:noFill/>
        </p:spPr>
        <p:txBody>
          <a:bodyPr wrap="none" rtlCol="0">
            <a:spAutoFit/>
          </a:bodyPr>
          <a:lstStyle/>
          <a:p>
            <a:r>
              <a:rPr lang="en-US" b="0" dirty="0">
                <a:solidFill>
                  <a:srgbClr val="000000"/>
                </a:solidFill>
              </a:rPr>
              <a:t>IP Addresses</a:t>
            </a:r>
          </a:p>
        </p:txBody>
      </p:sp>
      <p:sp>
        <p:nvSpPr>
          <p:cNvPr id="78" name="Oval 77"/>
          <p:cNvSpPr/>
          <p:nvPr/>
        </p:nvSpPr>
        <p:spPr bwMode="auto">
          <a:xfrm>
            <a:off x="4572000" y="4267200"/>
            <a:ext cx="482600" cy="463062"/>
          </a:xfrm>
          <a:prstGeom prst="ellipse">
            <a:avLst/>
          </a:prstGeom>
          <a:solidFill>
            <a:srgbClr val="FFFF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cxnSp>
        <p:nvCxnSpPr>
          <p:cNvPr id="25" name="Straight Arrow Connector 24"/>
          <p:cNvCxnSpPr>
            <a:stCxn id="8" idx="2"/>
            <a:endCxn id="15" idx="1"/>
          </p:cNvCxnSpPr>
          <p:nvPr/>
        </p:nvCxnSpPr>
        <p:spPr bwMode="auto">
          <a:xfrm>
            <a:off x="2651369" y="3793671"/>
            <a:ext cx="1153106" cy="541343"/>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7" name="Straight Arrow Connector 26"/>
          <p:cNvCxnSpPr>
            <a:stCxn id="8" idx="2"/>
            <a:endCxn id="78" idx="1"/>
          </p:cNvCxnSpPr>
          <p:nvPr/>
        </p:nvCxnSpPr>
        <p:spPr bwMode="auto">
          <a:xfrm>
            <a:off x="2651369" y="3793671"/>
            <a:ext cx="1991306" cy="541343"/>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7" name="Curved Connector 16"/>
          <p:cNvCxnSpPr>
            <a:stCxn id="101" idx="6"/>
            <a:endCxn id="78" idx="6"/>
          </p:cNvCxnSpPr>
          <p:nvPr/>
        </p:nvCxnSpPr>
        <p:spPr bwMode="auto">
          <a:xfrm flipH="1" flipV="1">
            <a:off x="5054600" y="4498731"/>
            <a:ext cx="123092" cy="678387"/>
          </a:xfrm>
          <a:prstGeom prst="curvedConnector3">
            <a:avLst>
              <a:gd name="adj1" fmla="val -185715"/>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38" name="Curved Connector 37"/>
          <p:cNvCxnSpPr>
            <a:endCxn id="101" idx="6"/>
          </p:cNvCxnSpPr>
          <p:nvPr/>
        </p:nvCxnSpPr>
        <p:spPr bwMode="auto">
          <a:xfrm rot="5400000" flipH="1" flipV="1">
            <a:off x="4834505" y="5448013"/>
            <a:ext cx="614082" cy="72292"/>
          </a:xfrm>
          <a:prstGeom prst="curvedConnector4">
            <a:avLst>
              <a:gd name="adj1" fmla="val 730"/>
              <a:gd name="adj2" fmla="val 416218"/>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nvGrpSpPr>
          <p:cNvPr id="18" name="Group 17">
            <a:extLst>
              <a:ext uri="{FF2B5EF4-FFF2-40B4-BE49-F238E27FC236}">
                <a16:creationId xmlns:a16="http://schemas.microsoft.com/office/drawing/2014/main" id="{064DFB54-0C6D-C84E-89B8-F637E988BDDF}"/>
              </a:ext>
            </a:extLst>
          </p:cNvPr>
          <p:cNvGrpSpPr/>
          <p:nvPr/>
        </p:nvGrpSpPr>
        <p:grpSpPr>
          <a:xfrm>
            <a:off x="3710353" y="3281416"/>
            <a:ext cx="1151277" cy="811403"/>
            <a:chOff x="3504918" y="3127981"/>
            <a:chExt cx="1151277" cy="811403"/>
          </a:xfrm>
        </p:grpSpPr>
        <p:sp>
          <p:nvSpPr>
            <p:cNvPr id="13" name="TextBox 12">
              <a:extLst>
                <a:ext uri="{FF2B5EF4-FFF2-40B4-BE49-F238E27FC236}">
                  <a16:creationId xmlns:a16="http://schemas.microsoft.com/office/drawing/2014/main" id="{C2852770-E8EC-AF4B-B336-050C3B125BB5}"/>
                </a:ext>
              </a:extLst>
            </p:cNvPr>
            <p:cNvSpPr txBox="1"/>
            <p:nvPr/>
          </p:nvSpPr>
          <p:spPr>
            <a:xfrm>
              <a:off x="3504918" y="3127981"/>
              <a:ext cx="1151277" cy="461665"/>
            </a:xfrm>
            <a:prstGeom prst="rect">
              <a:avLst/>
            </a:prstGeom>
            <a:noFill/>
          </p:spPr>
          <p:txBody>
            <a:bodyPr wrap="none" rtlCol="0">
              <a:spAutoFit/>
            </a:bodyPr>
            <a:lstStyle/>
            <a:p>
              <a:pPr algn="ctr"/>
              <a:r>
                <a:rPr lang="en-US" b="0" dirty="0"/>
                <a:t>Need a Kludge</a:t>
              </a:r>
            </a:p>
            <a:p>
              <a:pPr algn="ctr"/>
              <a:r>
                <a:rPr lang="en-US" b="0" dirty="0"/>
                <a:t>Here</a:t>
              </a:r>
            </a:p>
          </p:txBody>
        </p:sp>
        <p:sp>
          <p:nvSpPr>
            <p:cNvPr id="16" name="Down Arrow 15">
              <a:extLst>
                <a:ext uri="{FF2B5EF4-FFF2-40B4-BE49-F238E27FC236}">
                  <a16:creationId xmlns:a16="http://schemas.microsoft.com/office/drawing/2014/main" id="{A001BE01-39CC-0143-A97C-5E42EEFDBDB8}"/>
                </a:ext>
              </a:extLst>
            </p:cNvPr>
            <p:cNvSpPr/>
            <p:nvPr/>
          </p:nvSpPr>
          <p:spPr bwMode="auto">
            <a:xfrm>
              <a:off x="3993115" y="3581825"/>
              <a:ext cx="241300" cy="357559"/>
            </a:xfrm>
            <a:prstGeom prst="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Times" charset="0"/>
                <a:ea typeface="ＭＳ Ｐゴシック" charset="0"/>
              </a:endParaRPr>
            </a:p>
          </p:txBody>
        </p:sp>
      </p:grpSp>
    </p:spTree>
    <p:extLst>
      <p:ext uri="{BB962C8B-B14F-4D97-AF65-F5344CB8AC3E}">
        <p14:creationId xmlns:p14="http://schemas.microsoft.com/office/powerpoint/2010/main" val="1182165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74077" y="8793"/>
            <a:ext cx="7772400" cy="1143000"/>
          </a:xfrm>
        </p:spPr>
        <p:txBody>
          <a:bodyPr/>
          <a:lstStyle/>
          <a:p>
            <a:r>
              <a:rPr lang="en-US" sz="2800" dirty="0"/>
              <a:t>What Routers Actually Do</a:t>
            </a:r>
          </a:p>
        </p:txBody>
      </p:sp>
      <p:sp>
        <p:nvSpPr>
          <p:cNvPr id="6" name="Content Placeholder 5"/>
          <p:cNvSpPr>
            <a:spLocks noGrp="1"/>
          </p:cNvSpPr>
          <p:nvPr>
            <p:ph idx="1"/>
          </p:nvPr>
        </p:nvSpPr>
        <p:spPr>
          <a:xfrm>
            <a:off x="762000" y="903374"/>
            <a:ext cx="7772400" cy="1295400"/>
          </a:xfrm>
        </p:spPr>
        <p:txBody>
          <a:bodyPr/>
          <a:lstStyle/>
          <a:p>
            <a:r>
              <a:rPr lang="en-US" sz="1800" dirty="0"/>
              <a:t>Routers don’t route on the interface, they route on the Loopback Address.</a:t>
            </a:r>
          </a:p>
          <a:p>
            <a:r>
              <a:rPr lang="en-US" sz="1800" dirty="0"/>
              <a:t>Now the first reaction of the thinking student is,  </a:t>
            </a:r>
            <a:endParaRPr lang="en-US" sz="1600" dirty="0"/>
          </a:p>
          <a:p>
            <a:pPr lvl="1"/>
            <a:r>
              <a:rPr lang="en-US" sz="1600" dirty="0"/>
              <a:t>‘Wait a minute! That won’t work, there aren’t enough loopback addresses!’</a:t>
            </a:r>
          </a:p>
          <a:p>
            <a:r>
              <a:rPr lang="en-US" sz="1800" dirty="0"/>
              <a:t>To which they say, “O, it isn’t </a:t>
            </a:r>
            <a:r>
              <a:rPr lang="en-US" sz="1800" i="1" dirty="0"/>
              <a:t>that</a:t>
            </a:r>
            <a:r>
              <a:rPr lang="en-US" sz="1800" dirty="0"/>
              <a:t> loopback address. We just call it the loopback address.”</a:t>
            </a:r>
          </a:p>
          <a:p>
            <a:r>
              <a:rPr lang="en-US" sz="1800" dirty="0"/>
              <a:t>To which you say,</a:t>
            </a:r>
          </a:p>
          <a:p>
            <a:r>
              <a:rPr lang="en-US" sz="1800" dirty="0"/>
              <a:t>‘Hey, if we followed the spec, it wouldn’t work! No one has ever noticed.’ </a:t>
            </a:r>
          </a:p>
          <a:p>
            <a:r>
              <a:rPr lang="en-US" sz="1800" dirty="0"/>
              <a:t>Multihoming is solved for routers, but not for hosts.</a:t>
            </a:r>
          </a:p>
        </p:txBody>
      </p:sp>
      <p:sp>
        <p:nvSpPr>
          <p:cNvPr id="2" name="Date Placeholder 1"/>
          <p:cNvSpPr>
            <a:spLocks noGrp="1"/>
          </p:cNvSpPr>
          <p:nvPr>
            <p:ph type="dt" sz="half" idx="10"/>
          </p:nvPr>
        </p:nvSpPr>
        <p:spPr/>
        <p:txBody>
          <a:bodyPr/>
          <a:lstStyle/>
          <a:p>
            <a:pPr>
              <a:defRPr/>
            </a:pPr>
            <a:fld id="{CBF4C81F-A52B-A14E-9304-5F492CCEDCDC}" type="datetime3">
              <a:rPr lang="en-US" smtClean="0"/>
              <a:pPr>
                <a:defRPr/>
              </a:pPr>
              <a:t>14 January 2026</a:t>
            </a:fld>
            <a:endParaRPr lang="en-US"/>
          </a:p>
        </p:txBody>
      </p:sp>
      <p:sp>
        <p:nvSpPr>
          <p:cNvPr id="3" name="Footer Placeholder 2"/>
          <p:cNvSpPr>
            <a:spLocks noGrp="1"/>
          </p:cNvSpPr>
          <p:nvPr>
            <p:ph type="ftr" sz="quarter" idx="11"/>
          </p:nvPr>
        </p:nvSpPr>
        <p:spPr/>
        <p:txBody>
          <a:bodyPr/>
          <a:lstStyle/>
          <a:p>
            <a:pPr>
              <a:defRPr/>
            </a:pPr>
            <a:r>
              <a:rPr lang="en-US"/>
              <a:t>.</a:t>
            </a:r>
          </a:p>
        </p:txBody>
      </p:sp>
      <p:sp>
        <p:nvSpPr>
          <p:cNvPr id="4" name="Slide Number Placeholder 3"/>
          <p:cNvSpPr>
            <a:spLocks noGrp="1"/>
          </p:cNvSpPr>
          <p:nvPr>
            <p:ph type="sldNum" sz="quarter" idx="12"/>
          </p:nvPr>
        </p:nvSpPr>
        <p:spPr/>
        <p:txBody>
          <a:bodyPr/>
          <a:lstStyle/>
          <a:p>
            <a:pPr>
              <a:defRPr/>
            </a:pPr>
            <a:fld id="{69099406-CFAA-9E4F-AC3E-6F4D350E9882}" type="slidenum">
              <a:rPr lang="en-US" smtClean="0"/>
              <a:pPr>
                <a:defRPr/>
              </a:pPr>
              <a:t>37</a:t>
            </a:fld>
            <a:endParaRPr lang="en-US"/>
          </a:p>
        </p:txBody>
      </p:sp>
      <p:sp>
        <p:nvSpPr>
          <p:cNvPr id="29" name="Rectangle 28"/>
          <p:cNvSpPr/>
          <p:nvPr/>
        </p:nvSpPr>
        <p:spPr bwMode="auto">
          <a:xfrm>
            <a:off x="4953000" y="6248400"/>
            <a:ext cx="1447800" cy="152400"/>
          </a:xfrm>
          <a:prstGeom prst="rect">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sp>
        <p:nvSpPr>
          <p:cNvPr id="31" name="Rectangle 30"/>
          <p:cNvSpPr/>
          <p:nvPr/>
        </p:nvSpPr>
        <p:spPr bwMode="auto">
          <a:xfrm>
            <a:off x="2133600" y="6248400"/>
            <a:ext cx="1447800" cy="152400"/>
          </a:xfrm>
          <a:prstGeom prst="rect">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grpSp>
        <p:nvGrpSpPr>
          <p:cNvPr id="62" name="Group 61"/>
          <p:cNvGrpSpPr/>
          <p:nvPr/>
        </p:nvGrpSpPr>
        <p:grpSpPr>
          <a:xfrm>
            <a:off x="685800" y="4114800"/>
            <a:ext cx="1801964" cy="276999"/>
            <a:chOff x="1524000" y="4800600"/>
            <a:chExt cx="1801964" cy="276999"/>
          </a:xfrm>
        </p:grpSpPr>
        <p:sp>
          <p:nvSpPr>
            <p:cNvPr id="52" name="TextBox 51"/>
            <p:cNvSpPr txBox="1"/>
            <p:nvPr/>
          </p:nvSpPr>
          <p:spPr>
            <a:xfrm>
              <a:off x="1981200" y="4800600"/>
              <a:ext cx="1344764" cy="276999"/>
            </a:xfrm>
            <a:prstGeom prst="rect">
              <a:avLst/>
            </a:prstGeom>
            <a:noFill/>
          </p:spPr>
          <p:txBody>
            <a:bodyPr wrap="none" rtlCol="0">
              <a:spAutoFit/>
            </a:bodyPr>
            <a:lstStyle/>
            <a:p>
              <a:r>
                <a:rPr lang="en-US" b="0" dirty="0">
                  <a:solidFill>
                    <a:srgbClr val="000000"/>
                  </a:solidFill>
                </a:rPr>
                <a:t>Toward the Source</a:t>
              </a:r>
            </a:p>
          </p:txBody>
        </p:sp>
        <p:cxnSp>
          <p:nvCxnSpPr>
            <p:cNvPr id="55" name="Straight Arrow Connector 54"/>
            <p:cNvCxnSpPr>
              <a:stCxn id="52" idx="1"/>
            </p:cNvCxnSpPr>
            <p:nvPr/>
          </p:nvCxnSpPr>
          <p:spPr bwMode="auto">
            <a:xfrm flipH="1">
              <a:off x="1524000" y="4939100"/>
              <a:ext cx="457200" cy="1390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grpSp>
        <p:nvGrpSpPr>
          <p:cNvPr id="65" name="Group 64"/>
          <p:cNvGrpSpPr/>
          <p:nvPr/>
        </p:nvGrpSpPr>
        <p:grpSpPr>
          <a:xfrm>
            <a:off x="6477000" y="4724400"/>
            <a:ext cx="1447800" cy="461665"/>
            <a:chOff x="6858000" y="5029200"/>
            <a:chExt cx="1447800" cy="461665"/>
          </a:xfrm>
        </p:grpSpPr>
        <p:sp>
          <p:nvSpPr>
            <p:cNvPr id="53" name="TextBox 52"/>
            <p:cNvSpPr txBox="1"/>
            <p:nvPr/>
          </p:nvSpPr>
          <p:spPr>
            <a:xfrm>
              <a:off x="6858000" y="5029200"/>
              <a:ext cx="894145" cy="461665"/>
            </a:xfrm>
            <a:prstGeom prst="rect">
              <a:avLst/>
            </a:prstGeom>
            <a:noFill/>
          </p:spPr>
          <p:txBody>
            <a:bodyPr wrap="none" rtlCol="0">
              <a:spAutoFit/>
            </a:bodyPr>
            <a:lstStyle/>
            <a:p>
              <a:r>
                <a:rPr lang="en-US" b="0" dirty="0">
                  <a:solidFill>
                    <a:srgbClr val="000000"/>
                  </a:solidFill>
                </a:rPr>
                <a:t>Toward the </a:t>
              </a:r>
            </a:p>
            <a:p>
              <a:pPr algn="ctr"/>
              <a:r>
                <a:rPr lang="en-US" b="0" dirty="0">
                  <a:solidFill>
                    <a:srgbClr val="000000"/>
                  </a:solidFill>
                </a:rPr>
                <a:t>Destination</a:t>
              </a:r>
            </a:p>
          </p:txBody>
        </p:sp>
        <p:cxnSp>
          <p:nvCxnSpPr>
            <p:cNvPr id="64" name="Straight Arrow Connector 63"/>
            <p:cNvCxnSpPr>
              <a:stCxn id="53" idx="3"/>
            </p:cNvCxnSpPr>
            <p:nvPr/>
          </p:nvCxnSpPr>
          <p:spPr bwMode="auto">
            <a:xfrm flipV="1">
              <a:off x="7752145" y="5257800"/>
              <a:ext cx="553655" cy="2233"/>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grpSp>
        <p:nvGrpSpPr>
          <p:cNvPr id="105" name="Group 104"/>
          <p:cNvGrpSpPr/>
          <p:nvPr/>
        </p:nvGrpSpPr>
        <p:grpSpPr>
          <a:xfrm>
            <a:off x="1143000" y="5562600"/>
            <a:ext cx="1930395" cy="597932"/>
            <a:chOff x="152400" y="4800600"/>
            <a:chExt cx="1930395" cy="597932"/>
          </a:xfrm>
        </p:grpSpPr>
        <p:sp>
          <p:nvSpPr>
            <p:cNvPr id="68" name="Rectangle 67"/>
            <p:cNvSpPr/>
            <p:nvPr/>
          </p:nvSpPr>
          <p:spPr bwMode="auto">
            <a:xfrm>
              <a:off x="152400" y="5029205"/>
              <a:ext cx="1895017" cy="301853"/>
            </a:xfrm>
            <a:prstGeom prst="rect">
              <a:avLst/>
            </a:prstGeom>
            <a:solidFill>
              <a:schemeClr val="accent3"/>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900" b="0" dirty="0">
                <a:solidFill>
                  <a:srgbClr val="000000"/>
                </a:solidFill>
              </a:endParaRPr>
            </a:p>
          </p:txBody>
        </p:sp>
        <p:cxnSp>
          <p:nvCxnSpPr>
            <p:cNvPr id="69" name="Straight Connector 68"/>
            <p:cNvCxnSpPr/>
            <p:nvPr/>
          </p:nvCxnSpPr>
          <p:spPr bwMode="auto">
            <a:xfrm>
              <a:off x="1676400" y="5029200"/>
              <a:ext cx="0" cy="30185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70" name="Straight Connector 69"/>
            <p:cNvCxnSpPr/>
            <p:nvPr/>
          </p:nvCxnSpPr>
          <p:spPr bwMode="auto">
            <a:xfrm>
              <a:off x="1371600" y="5029200"/>
              <a:ext cx="0" cy="30185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71" name="TextBox 70"/>
            <p:cNvSpPr txBox="1"/>
            <p:nvPr/>
          </p:nvSpPr>
          <p:spPr>
            <a:xfrm>
              <a:off x="1295400" y="5029200"/>
              <a:ext cx="787395" cy="230832"/>
            </a:xfrm>
            <a:prstGeom prst="rect">
              <a:avLst/>
            </a:prstGeom>
            <a:noFill/>
          </p:spPr>
          <p:txBody>
            <a:bodyPr wrap="none" rtlCol="0">
              <a:spAutoFit/>
            </a:bodyPr>
            <a:lstStyle/>
            <a:p>
              <a:r>
                <a:rPr lang="en-US" sz="900" b="0" dirty="0">
                  <a:solidFill>
                    <a:srgbClr val="000000"/>
                  </a:solidFill>
                </a:rPr>
                <a:t>    </a:t>
              </a:r>
              <a:r>
                <a:rPr lang="en-US" sz="900" b="0" dirty="0" err="1">
                  <a:solidFill>
                    <a:srgbClr val="000000"/>
                  </a:solidFill>
                </a:rPr>
                <a:t>Src</a:t>
              </a:r>
              <a:r>
                <a:rPr lang="en-US" sz="900" b="0" dirty="0">
                  <a:solidFill>
                    <a:srgbClr val="000000"/>
                  </a:solidFill>
                </a:rPr>
                <a:t>    </a:t>
              </a:r>
              <a:r>
                <a:rPr lang="en-US" sz="900" b="0" dirty="0" err="1">
                  <a:solidFill>
                    <a:srgbClr val="000000"/>
                  </a:solidFill>
                </a:rPr>
                <a:t>Dest</a:t>
              </a:r>
              <a:endParaRPr lang="en-US" sz="900" b="0" dirty="0">
                <a:solidFill>
                  <a:srgbClr val="000000"/>
                </a:solidFill>
              </a:endParaRPr>
            </a:p>
          </p:txBody>
        </p:sp>
        <p:cxnSp>
          <p:nvCxnSpPr>
            <p:cNvPr id="76" name="Straight Connector 75"/>
            <p:cNvCxnSpPr/>
            <p:nvPr/>
          </p:nvCxnSpPr>
          <p:spPr bwMode="auto">
            <a:xfrm>
              <a:off x="990600" y="5029200"/>
              <a:ext cx="0" cy="3048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77" name="TextBox 76"/>
            <p:cNvSpPr txBox="1"/>
            <p:nvPr/>
          </p:nvSpPr>
          <p:spPr>
            <a:xfrm>
              <a:off x="609600" y="4800600"/>
              <a:ext cx="762000" cy="230832"/>
            </a:xfrm>
            <a:prstGeom prst="rect">
              <a:avLst/>
            </a:prstGeom>
            <a:noFill/>
          </p:spPr>
          <p:txBody>
            <a:bodyPr wrap="square" rtlCol="0">
              <a:spAutoFit/>
            </a:bodyPr>
            <a:lstStyle/>
            <a:p>
              <a:pPr algn="ctr"/>
              <a:r>
                <a:rPr lang="en-US" sz="900" b="0" dirty="0">
                  <a:solidFill>
                    <a:srgbClr val="000000"/>
                  </a:solidFill>
                </a:rPr>
                <a:t>2-PDU</a:t>
              </a:r>
            </a:p>
          </p:txBody>
        </p:sp>
        <p:sp>
          <p:nvSpPr>
            <p:cNvPr id="104" name="TextBox 103"/>
            <p:cNvSpPr txBox="1"/>
            <p:nvPr/>
          </p:nvSpPr>
          <p:spPr>
            <a:xfrm>
              <a:off x="990600" y="5029200"/>
              <a:ext cx="434772" cy="369332"/>
            </a:xfrm>
            <a:prstGeom prst="rect">
              <a:avLst/>
            </a:prstGeom>
            <a:noFill/>
          </p:spPr>
          <p:txBody>
            <a:bodyPr wrap="none" rtlCol="0">
              <a:spAutoFit/>
            </a:bodyPr>
            <a:lstStyle/>
            <a:p>
              <a:pPr algn="ctr"/>
              <a:r>
                <a:rPr lang="en-US" sz="900" b="0" dirty="0">
                  <a:solidFill>
                    <a:srgbClr val="000000"/>
                  </a:solidFill>
                </a:rPr>
                <a:t>Conn</a:t>
              </a:r>
            </a:p>
            <a:p>
              <a:pPr algn="ctr"/>
              <a:r>
                <a:rPr lang="en-US" sz="900" b="0" dirty="0">
                  <a:solidFill>
                    <a:srgbClr val="000000"/>
                  </a:solidFill>
                </a:rPr>
                <a:t>Id</a:t>
              </a:r>
            </a:p>
          </p:txBody>
        </p:sp>
      </p:grpSp>
      <p:grpSp>
        <p:nvGrpSpPr>
          <p:cNvPr id="144" name="Group 143"/>
          <p:cNvGrpSpPr/>
          <p:nvPr/>
        </p:nvGrpSpPr>
        <p:grpSpPr>
          <a:xfrm>
            <a:off x="3200400" y="4343400"/>
            <a:ext cx="2209800" cy="1905000"/>
            <a:chOff x="3200400" y="4114800"/>
            <a:chExt cx="2209800" cy="1905000"/>
          </a:xfrm>
        </p:grpSpPr>
        <p:grpSp>
          <p:nvGrpSpPr>
            <p:cNvPr id="16" name="Group 15"/>
            <p:cNvGrpSpPr/>
            <p:nvPr/>
          </p:nvGrpSpPr>
          <p:grpSpPr>
            <a:xfrm>
              <a:off x="3200400" y="4114800"/>
              <a:ext cx="2209800" cy="1905000"/>
              <a:chOff x="1981200" y="5105400"/>
              <a:chExt cx="914400" cy="990600"/>
            </a:xfrm>
          </p:grpSpPr>
          <p:sp>
            <p:nvSpPr>
              <p:cNvPr id="7" name="Rectangle 6"/>
              <p:cNvSpPr/>
              <p:nvPr/>
            </p:nvSpPr>
            <p:spPr bwMode="auto">
              <a:xfrm>
                <a:off x="1981200" y="5105400"/>
                <a:ext cx="914400" cy="9906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cxnSp>
            <p:nvCxnSpPr>
              <p:cNvPr id="9" name="Straight Connector 8"/>
              <p:cNvCxnSpPr/>
              <p:nvPr/>
            </p:nvCxnSpPr>
            <p:spPr bwMode="auto">
              <a:xfrm>
                <a:off x="1981200" y="5791200"/>
                <a:ext cx="9144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2" name="Straight Connector 11"/>
              <p:cNvCxnSpPr/>
              <p:nvPr/>
            </p:nvCxnSpPr>
            <p:spPr bwMode="auto">
              <a:xfrm>
                <a:off x="1981200" y="5486400"/>
                <a:ext cx="9144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4" name="Straight Connector 13"/>
              <p:cNvCxnSpPr>
                <a:endCxn id="7" idx="2"/>
              </p:cNvCxnSpPr>
              <p:nvPr/>
            </p:nvCxnSpPr>
            <p:spPr bwMode="auto">
              <a:xfrm>
                <a:off x="2438400" y="5486400"/>
                <a:ext cx="0" cy="6096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5" name="Oval 14"/>
              <p:cNvSpPr/>
              <p:nvPr/>
            </p:nvSpPr>
            <p:spPr bwMode="auto">
              <a:xfrm>
                <a:off x="2286000" y="5181600"/>
                <a:ext cx="304800" cy="304800"/>
              </a:xfrm>
              <a:prstGeom prst="ellipse">
                <a:avLst/>
              </a:prstGeom>
              <a:solidFill>
                <a:srgbClr val="FFFF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grpSp>
        <p:sp>
          <p:nvSpPr>
            <p:cNvPr id="100" name="Oval 99"/>
            <p:cNvSpPr/>
            <p:nvPr/>
          </p:nvSpPr>
          <p:spPr bwMode="auto">
            <a:xfrm>
              <a:off x="3657600" y="4953000"/>
              <a:ext cx="453292" cy="448235"/>
            </a:xfrm>
            <a:prstGeom prst="ellipse">
              <a:avLst/>
            </a:prstGeom>
            <a:solidFill>
              <a:schemeClr val="accent3"/>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sp>
          <p:nvSpPr>
            <p:cNvPr id="101" name="Oval 100"/>
            <p:cNvSpPr/>
            <p:nvPr/>
          </p:nvSpPr>
          <p:spPr bwMode="auto">
            <a:xfrm>
              <a:off x="4724400" y="4953000"/>
              <a:ext cx="453292" cy="448235"/>
            </a:xfrm>
            <a:prstGeom prst="ellipse">
              <a:avLst/>
            </a:prstGeom>
            <a:solidFill>
              <a:schemeClr val="accent3"/>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sp>
          <p:nvSpPr>
            <p:cNvPr id="106" name="Oval 105"/>
            <p:cNvSpPr/>
            <p:nvPr/>
          </p:nvSpPr>
          <p:spPr bwMode="auto">
            <a:xfrm>
              <a:off x="3427046" y="4787153"/>
              <a:ext cx="113323" cy="11205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sp>
          <p:nvSpPr>
            <p:cNvPr id="107" name="Oval 106"/>
            <p:cNvSpPr/>
            <p:nvPr/>
          </p:nvSpPr>
          <p:spPr bwMode="auto">
            <a:xfrm>
              <a:off x="3653692" y="4787153"/>
              <a:ext cx="113323" cy="11205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sp>
          <p:nvSpPr>
            <p:cNvPr id="108" name="Oval 107"/>
            <p:cNvSpPr/>
            <p:nvPr/>
          </p:nvSpPr>
          <p:spPr bwMode="auto">
            <a:xfrm>
              <a:off x="4560277" y="4787153"/>
              <a:ext cx="113323" cy="11205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sp>
          <p:nvSpPr>
            <p:cNvPr id="109" name="Oval 108"/>
            <p:cNvSpPr/>
            <p:nvPr/>
          </p:nvSpPr>
          <p:spPr bwMode="auto">
            <a:xfrm>
              <a:off x="4956908" y="4787153"/>
              <a:ext cx="113323" cy="11205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sp>
          <p:nvSpPr>
            <p:cNvPr id="110" name="Oval 109"/>
            <p:cNvSpPr/>
            <p:nvPr/>
          </p:nvSpPr>
          <p:spPr bwMode="auto">
            <a:xfrm>
              <a:off x="5183554" y="4787153"/>
              <a:ext cx="113323" cy="11205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sp>
          <p:nvSpPr>
            <p:cNvPr id="111" name="Oval 110"/>
            <p:cNvSpPr/>
            <p:nvPr/>
          </p:nvSpPr>
          <p:spPr bwMode="auto">
            <a:xfrm>
              <a:off x="3937000" y="4787153"/>
              <a:ext cx="113323" cy="112059"/>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grpSp>
      <p:sp>
        <p:nvSpPr>
          <p:cNvPr id="114" name="Rectangle 113"/>
          <p:cNvSpPr/>
          <p:nvPr/>
        </p:nvSpPr>
        <p:spPr bwMode="auto">
          <a:xfrm>
            <a:off x="5638800" y="5715005"/>
            <a:ext cx="1895017" cy="301853"/>
          </a:xfrm>
          <a:prstGeom prst="rect">
            <a:avLst/>
          </a:prstGeom>
          <a:solidFill>
            <a:schemeClr val="accent3"/>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900" b="0" dirty="0">
              <a:solidFill>
                <a:srgbClr val="000000"/>
              </a:solidFill>
            </a:endParaRPr>
          </a:p>
        </p:txBody>
      </p:sp>
      <p:cxnSp>
        <p:nvCxnSpPr>
          <p:cNvPr id="115" name="Straight Connector 114"/>
          <p:cNvCxnSpPr/>
          <p:nvPr/>
        </p:nvCxnSpPr>
        <p:spPr bwMode="auto">
          <a:xfrm>
            <a:off x="7162800" y="5715000"/>
            <a:ext cx="0" cy="301853"/>
          </a:xfrm>
          <a:prstGeom prst="lin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16" name="Straight Connector 115"/>
          <p:cNvCxnSpPr/>
          <p:nvPr/>
        </p:nvCxnSpPr>
        <p:spPr bwMode="auto">
          <a:xfrm>
            <a:off x="6858000" y="5715000"/>
            <a:ext cx="0" cy="301853"/>
          </a:xfrm>
          <a:prstGeom prst="lin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17" name="TextBox 116"/>
          <p:cNvSpPr txBox="1"/>
          <p:nvPr/>
        </p:nvSpPr>
        <p:spPr>
          <a:xfrm>
            <a:off x="6781800" y="5715000"/>
            <a:ext cx="787395" cy="230832"/>
          </a:xfrm>
          <a:prstGeom prst="rect">
            <a:avLst/>
          </a:prstGeom>
          <a:noFill/>
          <a:ln w="12700" cmpd="sng">
            <a:noFill/>
          </a:ln>
        </p:spPr>
        <p:txBody>
          <a:bodyPr wrap="none" rtlCol="0">
            <a:spAutoFit/>
          </a:bodyPr>
          <a:lstStyle/>
          <a:p>
            <a:r>
              <a:rPr lang="en-US" sz="900" b="0" dirty="0">
                <a:solidFill>
                  <a:srgbClr val="000000"/>
                </a:solidFill>
              </a:rPr>
              <a:t>    </a:t>
            </a:r>
            <a:r>
              <a:rPr lang="en-US" sz="900" b="0" dirty="0" err="1">
                <a:solidFill>
                  <a:srgbClr val="000000"/>
                </a:solidFill>
              </a:rPr>
              <a:t>Src</a:t>
            </a:r>
            <a:r>
              <a:rPr lang="en-US" sz="900" b="0" dirty="0">
                <a:solidFill>
                  <a:srgbClr val="000000"/>
                </a:solidFill>
              </a:rPr>
              <a:t>    </a:t>
            </a:r>
            <a:r>
              <a:rPr lang="en-US" sz="900" b="0" dirty="0" err="1">
                <a:solidFill>
                  <a:srgbClr val="000000"/>
                </a:solidFill>
              </a:rPr>
              <a:t>Dest</a:t>
            </a:r>
            <a:endParaRPr lang="en-US" sz="900" b="0" dirty="0">
              <a:solidFill>
                <a:srgbClr val="000000"/>
              </a:solidFill>
            </a:endParaRPr>
          </a:p>
        </p:txBody>
      </p:sp>
      <p:cxnSp>
        <p:nvCxnSpPr>
          <p:cNvPr id="118" name="Straight Connector 117"/>
          <p:cNvCxnSpPr/>
          <p:nvPr/>
        </p:nvCxnSpPr>
        <p:spPr bwMode="auto">
          <a:xfrm>
            <a:off x="6477000" y="5715000"/>
            <a:ext cx="0" cy="304800"/>
          </a:xfrm>
          <a:prstGeom prst="lin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19" name="TextBox 118"/>
          <p:cNvSpPr txBox="1"/>
          <p:nvPr/>
        </p:nvSpPr>
        <p:spPr>
          <a:xfrm>
            <a:off x="6324600" y="5334000"/>
            <a:ext cx="762000" cy="369332"/>
          </a:xfrm>
          <a:prstGeom prst="rect">
            <a:avLst/>
          </a:prstGeom>
          <a:noFill/>
          <a:ln w="12700" cmpd="sng">
            <a:noFill/>
          </a:ln>
        </p:spPr>
        <p:txBody>
          <a:bodyPr wrap="square" rtlCol="0">
            <a:spAutoFit/>
          </a:bodyPr>
          <a:lstStyle/>
          <a:p>
            <a:pPr algn="ctr"/>
            <a:r>
              <a:rPr lang="en-US" sz="900" b="0" dirty="0">
                <a:solidFill>
                  <a:srgbClr val="000000"/>
                </a:solidFill>
              </a:rPr>
              <a:t>New</a:t>
            </a:r>
          </a:p>
          <a:p>
            <a:pPr algn="ctr"/>
            <a:r>
              <a:rPr lang="en-US" sz="900" b="0" dirty="0">
                <a:solidFill>
                  <a:srgbClr val="000000"/>
                </a:solidFill>
              </a:rPr>
              <a:t>2-PDU</a:t>
            </a:r>
          </a:p>
        </p:txBody>
      </p:sp>
      <p:sp>
        <p:nvSpPr>
          <p:cNvPr id="120" name="TextBox 119"/>
          <p:cNvSpPr txBox="1"/>
          <p:nvPr/>
        </p:nvSpPr>
        <p:spPr>
          <a:xfrm>
            <a:off x="6477000" y="5715000"/>
            <a:ext cx="434772" cy="369332"/>
          </a:xfrm>
          <a:prstGeom prst="rect">
            <a:avLst/>
          </a:prstGeom>
          <a:noFill/>
          <a:ln w="12700" cmpd="sng">
            <a:noFill/>
          </a:ln>
        </p:spPr>
        <p:txBody>
          <a:bodyPr wrap="none" rtlCol="0">
            <a:spAutoFit/>
          </a:bodyPr>
          <a:lstStyle/>
          <a:p>
            <a:pPr algn="ctr"/>
            <a:r>
              <a:rPr lang="en-US" sz="900" b="0" dirty="0">
                <a:solidFill>
                  <a:srgbClr val="000000"/>
                </a:solidFill>
              </a:rPr>
              <a:t>Conn</a:t>
            </a:r>
          </a:p>
          <a:p>
            <a:pPr algn="ctr"/>
            <a:r>
              <a:rPr lang="en-US" sz="900" b="0" dirty="0">
                <a:solidFill>
                  <a:srgbClr val="000000"/>
                </a:solidFill>
              </a:rPr>
              <a:t>Id</a:t>
            </a:r>
          </a:p>
        </p:txBody>
      </p:sp>
      <p:grpSp>
        <p:nvGrpSpPr>
          <p:cNvPr id="81" name="Group 80"/>
          <p:cNvGrpSpPr/>
          <p:nvPr/>
        </p:nvGrpSpPr>
        <p:grpSpPr>
          <a:xfrm>
            <a:off x="4648200" y="3429000"/>
            <a:ext cx="1172116" cy="914400"/>
            <a:chOff x="2559484" y="4343400"/>
            <a:chExt cx="1172116" cy="914400"/>
          </a:xfrm>
        </p:grpSpPr>
        <p:grpSp>
          <p:nvGrpSpPr>
            <p:cNvPr id="48" name="Group 47"/>
            <p:cNvGrpSpPr/>
            <p:nvPr/>
          </p:nvGrpSpPr>
          <p:grpSpPr>
            <a:xfrm>
              <a:off x="2971800" y="4800600"/>
              <a:ext cx="304800" cy="457200"/>
              <a:chOff x="2971800" y="4800600"/>
              <a:chExt cx="304800" cy="457200"/>
            </a:xfrm>
          </p:grpSpPr>
          <p:sp>
            <p:nvSpPr>
              <p:cNvPr id="39" name="Rectangle 38"/>
              <p:cNvSpPr/>
              <p:nvPr/>
            </p:nvSpPr>
            <p:spPr bwMode="auto">
              <a:xfrm>
                <a:off x="2971800" y="4800600"/>
                <a:ext cx="304800" cy="457200"/>
              </a:xfrm>
              <a:prstGeom prst="rect">
                <a:avLst/>
              </a:prstGeom>
              <a:solidFill>
                <a:srgbClr val="FFFF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cxnSp>
            <p:nvCxnSpPr>
              <p:cNvPr id="41" name="Straight Connector 40"/>
              <p:cNvCxnSpPr>
                <a:stCxn id="39" idx="0"/>
                <a:endCxn id="39" idx="2"/>
              </p:cNvCxnSpPr>
              <p:nvPr/>
            </p:nvCxnSpPr>
            <p:spPr bwMode="auto">
              <a:xfrm>
                <a:off x="3124200" y="4800600"/>
                <a:ext cx="0" cy="4572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3" name="Straight Connector 42"/>
              <p:cNvCxnSpPr/>
              <p:nvPr/>
            </p:nvCxnSpPr>
            <p:spPr bwMode="auto">
              <a:xfrm>
                <a:off x="2971800" y="4876800"/>
                <a:ext cx="3048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4" name="Straight Connector 43"/>
              <p:cNvCxnSpPr/>
              <p:nvPr/>
            </p:nvCxnSpPr>
            <p:spPr bwMode="auto">
              <a:xfrm>
                <a:off x="2971800" y="4953000"/>
                <a:ext cx="3048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5" name="Straight Connector 44"/>
              <p:cNvCxnSpPr/>
              <p:nvPr/>
            </p:nvCxnSpPr>
            <p:spPr bwMode="auto">
              <a:xfrm>
                <a:off x="2971800" y="5029200"/>
                <a:ext cx="3048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6" name="Straight Connector 45"/>
              <p:cNvCxnSpPr/>
              <p:nvPr/>
            </p:nvCxnSpPr>
            <p:spPr bwMode="auto">
              <a:xfrm>
                <a:off x="2971800" y="5105400"/>
                <a:ext cx="3048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47" name="Straight Connector 46"/>
              <p:cNvCxnSpPr/>
              <p:nvPr/>
            </p:nvCxnSpPr>
            <p:spPr bwMode="auto">
              <a:xfrm>
                <a:off x="2971800" y="5181600"/>
                <a:ext cx="3048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sp>
          <p:nvSpPr>
            <p:cNvPr id="49" name="TextBox 48"/>
            <p:cNvSpPr txBox="1"/>
            <p:nvPr/>
          </p:nvSpPr>
          <p:spPr>
            <a:xfrm>
              <a:off x="2559484" y="4343400"/>
              <a:ext cx="1172116" cy="507831"/>
            </a:xfrm>
            <a:prstGeom prst="rect">
              <a:avLst/>
            </a:prstGeom>
            <a:noFill/>
          </p:spPr>
          <p:txBody>
            <a:bodyPr wrap="none" rtlCol="0">
              <a:spAutoFit/>
            </a:bodyPr>
            <a:lstStyle/>
            <a:p>
              <a:pPr algn="ctr"/>
              <a:r>
                <a:rPr lang="en-US" sz="900" b="0" dirty="0">
                  <a:solidFill>
                    <a:srgbClr val="000000"/>
                  </a:solidFill>
                </a:rPr>
                <a:t>Forwarding</a:t>
              </a:r>
            </a:p>
            <a:p>
              <a:pPr algn="ctr"/>
              <a:r>
                <a:rPr lang="en-US" sz="900" b="0" dirty="0">
                  <a:solidFill>
                    <a:srgbClr val="000000"/>
                  </a:solidFill>
                </a:rPr>
                <a:t>Table</a:t>
              </a:r>
            </a:p>
            <a:p>
              <a:pPr algn="ctr"/>
              <a:r>
                <a:rPr lang="en-US" sz="900" b="0" dirty="0" err="1">
                  <a:solidFill>
                    <a:srgbClr val="000000"/>
                  </a:solidFill>
                </a:rPr>
                <a:t>DestAddr</a:t>
              </a:r>
              <a:r>
                <a:rPr lang="en-US" sz="900" b="0" dirty="0">
                  <a:solidFill>
                    <a:srgbClr val="000000"/>
                  </a:solidFill>
                </a:rPr>
                <a:t>  (N-1)-port</a:t>
              </a:r>
            </a:p>
          </p:txBody>
        </p:sp>
      </p:grpSp>
      <p:grpSp>
        <p:nvGrpSpPr>
          <p:cNvPr id="79" name="Group 78"/>
          <p:cNvGrpSpPr/>
          <p:nvPr/>
        </p:nvGrpSpPr>
        <p:grpSpPr>
          <a:xfrm>
            <a:off x="2057400" y="4495800"/>
            <a:ext cx="1433979" cy="459432"/>
            <a:chOff x="152400" y="4876800"/>
            <a:chExt cx="1433979" cy="459432"/>
          </a:xfrm>
        </p:grpSpPr>
        <p:sp>
          <p:nvSpPr>
            <p:cNvPr id="37" name="TextBox 36"/>
            <p:cNvSpPr txBox="1"/>
            <p:nvPr/>
          </p:nvSpPr>
          <p:spPr>
            <a:xfrm>
              <a:off x="685800" y="4876800"/>
              <a:ext cx="518091" cy="230832"/>
            </a:xfrm>
            <a:prstGeom prst="rect">
              <a:avLst/>
            </a:prstGeom>
            <a:noFill/>
          </p:spPr>
          <p:txBody>
            <a:bodyPr wrap="none" rtlCol="0">
              <a:spAutoFit/>
            </a:bodyPr>
            <a:lstStyle/>
            <a:p>
              <a:r>
                <a:rPr lang="en-US" sz="900" b="0" dirty="0">
                  <a:solidFill>
                    <a:srgbClr val="000000"/>
                  </a:solidFill>
                </a:rPr>
                <a:t>3-PDU</a:t>
              </a:r>
            </a:p>
          </p:txBody>
        </p:sp>
        <p:grpSp>
          <p:nvGrpSpPr>
            <p:cNvPr id="66" name="Group 65"/>
            <p:cNvGrpSpPr/>
            <p:nvPr/>
          </p:nvGrpSpPr>
          <p:grpSpPr>
            <a:xfrm>
              <a:off x="152400" y="5105400"/>
              <a:ext cx="1433979" cy="230832"/>
              <a:chOff x="228600" y="5105400"/>
              <a:chExt cx="1433979" cy="230832"/>
            </a:xfrm>
          </p:grpSpPr>
          <p:sp>
            <p:nvSpPr>
              <p:cNvPr id="33" name="Rectangle 32"/>
              <p:cNvSpPr/>
              <p:nvPr/>
            </p:nvSpPr>
            <p:spPr bwMode="auto">
              <a:xfrm>
                <a:off x="228600" y="5105400"/>
                <a:ext cx="1371600" cy="228600"/>
              </a:xfrm>
              <a:prstGeom prst="rect">
                <a:avLst/>
              </a:prstGeom>
              <a:solidFill>
                <a:schemeClr val="accent3"/>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2400" b="0">
                  <a:solidFill>
                    <a:srgbClr val="000000"/>
                  </a:solidFill>
                </a:endParaRPr>
              </a:p>
            </p:txBody>
          </p:sp>
          <p:cxnSp>
            <p:nvCxnSpPr>
              <p:cNvPr id="35" name="Straight Connector 34"/>
              <p:cNvCxnSpPr/>
              <p:nvPr/>
            </p:nvCxnSpPr>
            <p:spPr bwMode="auto">
              <a:xfrm>
                <a:off x="1295400" y="5105400"/>
                <a:ext cx="0" cy="2286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36" name="Straight Connector 35"/>
              <p:cNvCxnSpPr/>
              <p:nvPr/>
            </p:nvCxnSpPr>
            <p:spPr bwMode="auto">
              <a:xfrm>
                <a:off x="990600" y="5105400"/>
                <a:ext cx="0" cy="2286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50" name="TextBox 49"/>
              <p:cNvSpPr txBox="1"/>
              <p:nvPr/>
            </p:nvSpPr>
            <p:spPr>
              <a:xfrm>
                <a:off x="990600" y="5105400"/>
                <a:ext cx="671979" cy="230832"/>
              </a:xfrm>
              <a:prstGeom prst="rect">
                <a:avLst/>
              </a:prstGeom>
              <a:noFill/>
            </p:spPr>
            <p:txBody>
              <a:bodyPr wrap="none" rtlCol="0">
                <a:spAutoFit/>
              </a:bodyPr>
              <a:lstStyle/>
              <a:p>
                <a:r>
                  <a:rPr lang="en-US" sz="900" b="0" dirty="0" err="1">
                    <a:solidFill>
                      <a:srgbClr val="000000"/>
                    </a:solidFill>
                  </a:rPr>
                  <a:t>Src</a:t>
                </a:r>
                <a:r>
                  <a:rPr lang="en-US" sz="900" b="0" dirty="0">
                    <a:solidFill>
                      <a:srgbClr val="000000"/>
                    </a:solidFill>
                  </a:rPr>
                  <a:t>    </a:t>
                </a:r>
                <a:r>
                  <a:rPr lang="en-US" sz="900" b="0" dirty="0" err="1">
                    <a:solidFill>
                      <a:srgbClr val="000000"/>
                    </a:solidFill>
                  </a:rPr>
                  <a:t>Dest</a:t>
                </a:r>
                <a:endParaRPr lang="en-US" sz="900" b="0" dirty="0">
                  <a:solidFill>
                    <a:srgbClr val="000000"/>
                  </a:solidFill>
                </a:endParaRPr>
              </a:p>
            </p:txBody>
          </p:sp>
        </p:grpSp>
      </p:grpSp>
      <p:cxnSp>
        <p:nvCxnSpPr>
          <p:cNvPr id="122" name="Curved Connector 121"/>
          <p:cNvCxnSpPr>
            <a:endCxn id="100" idx="2"/>
          </p:cNvCxnSpPr>
          <p:nvPr/>
        </p:nvCxnSpPr>
        <p:spPr bwMode="auto">
          <a:xfrm rot="5400000" flipH="1" flipV="1">
            <a:off x="3173217" y="5589211"/>
            <a:ext cx="667875" cy="300891"/>
          </a:xfrm>
          <a:prstGeom prst="curvedConnector2">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28" name="Curved Connector 127"/>
          <p:cNvCxnSpPr>
            <a:stCxn id="100" idx="1"/>
            <a:endCxn id="15" idx="2"/>
          </p:cNvCxnSpPr>
          <p:nvPr/>
        </p:nvCxnSpPr>
        <p:spPr bwMode="auto">
          <a:xfrm rot="5400000" flipH="1" flipV="1">
            <a:off x="3598378" y="4908621"/>
            <a:ext cx="464227" cy="213017"/>
          </a:xfrm>
          <a:prstGeom prst="curvedConnector2">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32" name="Curved Connector 131"/>
          <p:cNvCxnSpPr>
            <a:stCxn id="15" idx="6"/>
            <a:endCxn id="101" idx="7"/>
          </p:cNvCxnSpPr>
          <p:nvPr/>
        </p:nvCxnSpPr>
        <p:spPr bwMode="auto">
          <a:xfrm>
            <a:off x="4673600" y="4783015"/>
            <a:ext cx="437709" cy="464227"/>
          </a:xfrm>
          <a:prstGeom prst="curvedConnector2">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36" name="Curved Connector 135"/>
          <p:cNvCxnSpPr>
            <a:stCxn id="101" idx="6"/>
          </p:cNvCxnSpPr>
          <p:nvPr/>
        </p:nvCxnSpPr>
        <p:spPr bwMode="auto">
          <a:xfrm>
            <a:off x="5177692" y="5405718"/>
            <a:ext cx="130908" cy="667870"/>
          </a:xfrm>
          <a:prstGeom prst="curvedConnector2">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39" name="Curved Connector 138"/>
          <p:cNvCxnSpPr>
            <a:stCxn id="15" idx="0"/>
            <a:endCxn id="39" idx="1"/>
          </p:cNvCxnSpPr>
          <p:nvPr/>
        </p:nvCxnSpPr>
        <p:spPr bwMode="auto">
          <a:xfrm rot="5400000" flipH="1" flipV="1">
            <a:off x="4495339" y="3924761"/>
            <a:ext cx="375138" cy="755216"/>
          </a:xfrm>
          <a:prstGeom prst="curvedConnector2">
            <a:avLst/>
          </a:prstGeom>
          <a:solidFill>
            <a:schemeClr val="accent1"/>
          </a:solidFill>
          <a:ln w="9525" cap="flat" cmpd="sng" algn="ctr">
            <a:solidFill>
              <a:schemeClr val="tx1"/>
            </a:solidFill>
            <a:prstDash val="solid"/>
            <a:round/>
            <a:headEnd type="arrow"/>
            <a:tailEnd type="arrow"/>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nvGrpSpPr>
          <p:cNvPr id="18" name="Group 17"/>
          <p:cNvGrpSpPr/>
          <p:nvPr/>
        </p:nvGrpSpPr>
        <p:grpSpPr>
          <a:xfrm>
            <a:off x="4648200" y="4114800"/>
            <a:ext cx="2784438" cy="533400"/>
            <a:chOff x="4648200" y="4114800"/>
            <a:chExt cx="2784438" cy="533400"/>
          </a:xfrm>
        </p:grpSpPr>
        <p:sp>
          <p:nvSpPr>
            <p:cNvPr id="8" name="TextBox 7"/>
            <p:cNvSpPr txBox="1"/>
            <p:nvPr/>
          </p:nvSpPr>
          <p:spPr>
            <a:xfrm>
              <a:off x="5715000" y="4114800"/>
              <a:ext cx="1717638" cy="338554"/>
            </a:xfrm>
            <a:prstGeom prst="rect">
              <a:avLst/>
            </a:prstGeom>
            <a:noFill/>
          </p:spPr>
          <p:txBody>
            <a:bodyPr wrap="none" rtlCol="0">
              <a:spAutoFit/>
            </a:bodyPr>
            <a:lstStyle/>
            <a:p>
              <a:r>
                <a:rPr lang="en-US" sz="1600" b="0" dirty="0">
                  <a:solidFill>
                    <a:srgbClr val="000000"/>
                  </a:solidFill>
                </a:rPr>
                <a:t>Loopback Address</a:t>
              </a:r>
            </a:p>
          </p:txBody>
        </p:sp>
        <p:cxnSp>
          <p:nvCxnSpPr>
            <p:cNvPr id="11" name="Straight Arrow Connector 10"/>
            <p:cNvCxnSpPr>
              <a:stCxn id="8" idx="1"/>
            </p:cNvCxnSpPr>
            <p:nvPr/>
          </p:nvCxnSpPr>
          <p:spPr bwMode="auto">
            <a:xfrm flipH="1">
              <a:off x="4648200" y="4284077"/>
              <a:ext cx="1066800" cy="364123"/>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cxnSp>
        <p:nvCxnSpPr>
          <p:cNvPr id="13" name="Straight Arrow Connector 12"/>
          <p:cNvCxnSpPr/>
          <p:nvPr/>
        </p:nvCxnSpPr>
        <p:spPr bwMode="auto">
          <a:xfrm>
            <a:off x="685800" y="5562600"/>
            <a:ext cx="1143000" cy="0"/>
          </a:xfrm>
          <a:prstGeom prst="straightConnector1">
            <a:avLst/>
          </a:prstGeom>
          <a:solidFill>
            <a:schemeClr val="accent1"/>
          </a:solidFill>
          <a:ln w="28575" cap="flat" cmpd="sng" algn="ctr">
            <a:solidFill>
              <a:schemeClr val="tx1"/>
            </a:solidFill>
            <a:prstDash val="solid"/>
            <a:round/>
            <a:headEnd type="none" w="med" len="med"/>
            <a:tailEnd type="arrow"/>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72" name="Straight Arrow Connector 71"/>
          <p:cNvCxnSpPr/>
          <p:nvPr/>
        </p:nvCxnSpPr>
        <p:spPr bwMode="auto">
          <a:xfrm>
            <a:off x="7086600" y="5562600"/>
            <a:ext cx="1143000" cy="0"/>
          </a:xfrm>
          <a:prstGeom prst="straightConnector1">
            <a:avLst/>
          </a:prstGeom>
          <a:solidFill>
            <a:schemeClr val="accent1"/>
          </a:solidFill>
          <a:ln w="28575" cap="flat" cmpd="sng" algn="ctr">
            <a:solidFill>
              <a:schemeClr val="tx1"/>
            </a:solidFill>
            <a:prstDash val="solid"/>
            <a:round/>
            <a:headEnd type="none" w="med" len="med"/>
            <a:tailEnd type="arrow"/>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7" name="TextBox 16"/>
          <p:cNvSpPr txBox="1"/>
          <p:nvPr/>
        </p:nvSpPr>
        <p:spPr>
          <a:xfrm>
            <a:off x="3014292" y="2176412"/>
            <a:ext cx="2209800" cy="830997"/>
          </a:xfrm>
          <a:prstGeom prst="rect">
            <a:avLst/>
          </a:prstGeom>
          <a:noFill/>
        </p:spPr>
        <p:txBody>
          <a:bodyPr wrap="square" rtlCol="0">
            <a:spAutoFit/>
          </a:bodyPr>
          <a:lstStyle/>
          <a:p>
            <a:pPr algn="ctr"/>
            <a:r>
              <a:rPr lang="en-US" sz="4800" dirty="0" err="1"/>
              <a:t>Wha</a:t>
            </a:r>
            <a:r>
              <a:rPr lang="en-US" sz="4800" dirty="0"/>
              <a:t>?!</a:t>
            </a:r>
          </a:p>
        </p:txBody>
      </p:sp>
    </p:spTree>
    <p:extLst>
      <p:ext uri="{BB962C8B-B14F-4D97-AF65-F5344CB8AC3E}">
        <p14:creationId xmlns:p14="http://schemas.microsoft.com/office/powerpoint/2010/main" val="3433091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1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A25AE-F513-E31C-4780-7069C32ED296}"/>
              </a:ext>
            </a:extLst>
          </p:cNvPr>
          <p:cNvSpPr>
            <a:spLocks noGrp="1"/>
          </p:cNvSpPr>
          <p:nvPr>
            <p:ph type="title"/>
          </p:nvPr>
        </p:nvSpPr>
        <p:spPr/>
        <p:txBody>
          <a:bodyPr/>
          <a:lstStyle/>
          <a:p>
            <a:r>
              <a:rPr lang="en-US" dirty="0"/>
              <a:t>So What Is Really Going On?</a:t>
            </a:r>
          </a:p>
        </p:txBody>
      </p:sp>
      <p:sp>
        <p:nvSpPr>
          <p:cNvPr id="3" name="Content Placeholder 2">
            <a:extLst>
              <a:ext uri="{FF2B5EF4-FFF2-40B4-BE49-F238E27FC236}">
                <a16:creationId xmlns:a16="http://schemas.microsoft.com/office/drawing/2014/main" id="{D1817526-A1EA-6B05-0379-B87FEFC15D1B}"/>
              </a:ext>
            </a:extLst>
          </p:cNvPr>
          <p:cNvSpPr>
            <a:spLocks noGrp="1"/>
          </p:cNvSpPr>
          <p:nvPr>
            <p:ph idx="1"/>
          </p:nvPr>
        </p:nvSpPr>
        <p:spPr>
          <a:xfrm>
            <a:off x="457200" y="1589314"/>
            <a:ext cx="8229600" cy="4525963"/>
          </a:xfrm>
        </p:spPr>
        <p:txBody>
          <a:bodyPr>
            <a:normAutofit/>
          </a:bodyPr>
          <a:lstStyle/>
          <a:p>
            <a:r>
              <a:rPr lang="en-US" dirty="0"/>
              <a:t>How is the address on a letter resolved?</a:t>
            </a:r>
          </a:p>
          <a:p>
            <a:pPr lvl="1"/>
            <a:r>
              <a:rPr lang="en-US" dirty="0"/>
              <a:t>Country subset to State/Province subset to City/Township</a:t>
            </a:r>
          </a:p>
          <a:p>
            <a:pPr lvl="1"/>
            <a:r>
              <a:rPr lang="en-US" dirty="0"/>
              <a:t>Linear search on Street (possibly alphabetical) to Linear search to Number</a:t>
            </a:r>
          </a:p>
          <a:p>
            <a:pPr lvl="2"/>
            <a:r>
              <a:rPr lang="en-US" dirty="0"/>
              <a:t>Various Postal Codes may extend the </a:t>
            </a:r>
            <a:r>
              <a:rPr lang="en-US" dirty="0" err="1"/>
              <a:t>subsetting</a:t>
            </a:r>
            <a:r>
              <a:rPr lang="en-US" dirty="0"/>
              <a:t> further since ultimately it is delivery route that is important, i.e., the mail carrier’s bag.</a:t>
            </a:r>
          </a:p>
          <a:p>
            <a:r>
              <a:rPr lang="en-US" dirty="0"/>
              <a:t>Resolution of an IP address is largely the same.</a:t>
            </a:r>
          </a:p>
          <a:p>
            <a:pPr lvl="1"/>
            <a:r>
              <a:rPr lang="en-US" dirty="0" err="1"/>
              <a:t>Subsetting</a:t>
            </a:r>
            <a:r>
              <a:rPr lang="en-US" dirty="0"/>
              <a:t> through the hierarchy of CIDR, then </a:t>
            </a:r>
            <a:r>
              <a:rPr lang="en-US" dirty="0" err="1"/>
              <a:t>subsetting</a:t>
            </a:r>
            <a:r>
              <a:rPr lang="en-US" dirty="0"/>
              <a:t> through a local hierarchy, then exhaustive search through the host part.</a:t>
            </a:r>
          </a:p>
          <a:p>
            <a:pPr lvl="2"/>
            <a:r>
              <a:rPr lang="en-US" dirty="0"/>
              <a:t>Networks are seldom as regular as streets. </a:t>
            </a:r>
          </a:p>
          <a:p>
            <a:pPr lvl="2"/>
            <a:r>
              <a:rPr lang="en-US" dirty="0"/>
              <a:t>At some level granularity exhaustive search is necessary.</a:t>
            </a:r>
          </a:p>
          <a:p>
            <a:pPr lvl="3"/>
            <a:r>
              <a:rPr lang="en-US" dirty="0"/>
              <a:t>Hopefully, it can be postponed to the point that the search is not onerous.</a:t>
            </a:r>
          </a:p>
          <a:p>
            <a:pPr lvl="1"/>
            <a:r>
              <a:rPr lang="en-US" dirty="0"/>
              <a:t>Often the second hierarchy is private address space.</a:t>
            </a:r>
          </a:p>
          <a:p>
            <a:pPr lvl="2"/>
            <a:r>
              <a:rPr lang="en-US" dirty="0"/>
              <a:t>Or is it the missing Network Layer? For example, </a:t>
            </a:r>
          </a:p>
        </p:txBody>
      </p:sp>
    </p:spTree>
    <p:extLst>
      <p:ext uri="{BB962C8B-B14F-4D97-AF65-F5344CB8AC3E}">
        <p14:creationId xmlns:p14="http://schemas.microsoft.com/office/powerpoint/2010/main" val="809784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p:cNvSpPr>
          <p:nvPr>
            <p:ph type="title"/>
          </p:nvPr>
        </p:nvSpPr>
        <p:spPr>
          <a:xfrm>
            <a:off x="368300" y="203200"/>
            <a:ext cx="8229600" cy="1066800"/>
          </a:xfrm>
        </p:spPr>
        <p:txBody>
          <a:bodyPr/>
          <a:lstStyle/>
          <a:p>
            <a:pPr algn="l"/>
            <a:r>
              <a:rPr lang="en-US" dirty="0">
                <a:solidFill>
                  <a:srgbClr val="009973"/>
                </a:solidFill>
              </a:rPr>
              <a:t>Good Design yields Better Security: I</a:t>
            </a:r>
            <a:br>
              <a:rPr dirty="0">
                <a:solidFill>
                  <a:srgbClr val="009973"/>
                </a:solidFill>
              </a:rPr>
            </a:br>
            <a:r>
              <a:rPr lang="en-US" sz="2000" dirty="0">
                <a:solidFill>
                  <a:srgbClr val="009973"/>
                </a:solidFill>
              </a:rPr>
              <a:t>Getting something for Nothing</a:t>
            </a:r>
            <a:endParaRPr dirty="0">
              <a:solidFill>
                <a:srgbClr val="009973"/>
              </a:solidFill>
            </a:endParaRPr>
          </a:p>
        </p:txBody>
      </p:sp>
      <p:sp>
        <p:nvSpPr>
          <p:cNvPr id="107572" name="Text Box 52"/>
          <p:cNvSpPr txBox="1">
            <a:spLocks noChangeArrowheads="1"/>
          </p:cNvSpPr>
          <p:nvPr/>
        </p:nvSpPr>
        <p:spPr bwMode="auto">
          <a:xfrm>
            <a:off x="6019800" y="6400800"/>
            <a:ext cx="2578100" cy="24447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a:ea typeface="ＭＳ Ｐゴシック" charset="0"/>
                <a:cs typeface="ＭＳ Ｐゴシック" charset="0"/>
                <a:sym typeface="Arial"/>
              </a:rPr>
              <a:t>©   John Day, All Rights Reserved, 2009</a:t>
            </a:r>
          </a:p>
        </p:txBody>
      </p:sp>
      <p:sp>
        <p:nvSpPr>
          <p:cNvPr id="3" name="Content Placeholder 2"/>
          <p:cNvSpPr>
            <a:spLocks noGrp="1"/>
          </p:cNvSpPr>
          <p:nvPr>
            <p:ph idx="1"/>
          </p:nvPr>
        </p:nvSpPr>
        <p:spPr>
          <a:xfrm>
            <a:off x="368300" y="1993900"/>
            <a:ext cx="7404100" cy="3187700"/>
          </a:xfrm>
        </p:spPr>
        <p:txBody>
          <a:bodyPr/>
          <a:lstStyle/>
          <a:p>
            <a:r>
              <a:rPr lang="en-US" sz="2000" dirty="0"/>
              <a:t>In 2023, a not unusual discussion broke out on one of the IPv6 lists about private address space.</a:t>
            </a:r>
          </a:p>
          <a:p>
            <a:r>
              <a:rPr lang="en-US" sz="2000" dirty="0"/>
              <a:t>The usual reasons were given for getting rid of it. </a:t>
            </a:r>
          </a:p>
          <a:p>
            <a:r>
              <a:rPr lang="en-US" sz="2000" dirty="0"/>
              <a:t>But someone countered that some liked private address space to hide the structure of their organization’s network.</a:t>
            </a:r>
          </a:p>
          <a:p>
            <a:r>
              <a:rPr lang="en-US" sz="2000" dirty="0"/>
              <a:t>Had they not lost the Internet Layer, so that was routing was as we saw before, the problem would never have come up and NATs wouldn’t have been necessary.</a:t>
            </a:r>
          </a:p>
          <a:p>
            <a:r>
              <a:rPr lang="en-US" sz="2000" dirty="0"/>
              <a:t>Consider the following:</a:t>
            </a:r>
          </a:p>
        </p:txBody>
      </p:sp>
      <p:cxnSp>
        <p:nvCxnSpPr>
          <p:cNvPr id="2" name="Straight Connector 1">
            <a:extLst>
              <a:ext uri="{FF2B5EF4-FFF2-40B4-BE49-F238E27FC236}">
                <a16:creationId xmlns:a16="http://schemas.microsoft.com/office/drawing/2014/main" id="{B371FA02-C93C-71F1-DF13-76C2368992DA}"/>
              </a:ext>
            </a:extLst>
          </p:cNvPr>
          <p:cNvCxnSpPr/>
          <p:nvPr/>
        </p:nvCxnSpPr>
        <p:spPr>
          <a:xfrm>
            <a:off x="535577" y="6766560"/>
            <a:ext cx="8125823"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8883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p:cNvSpPr>
          <p:nvPr>
            <p:ph type="title"/>
          </p:nvPr>
        </p:nvSpPr>
        <p:spPr>
          <a:xfrm>
            <a:off x="215900" y="241300"/>
            <a:ext cx="8229600" cy="1066800"/>
          </a:xfrm>
        </p:spPr>
        <p:txBody>
          <a:bodyPr/>
          <a:lstStyle/>
          <a:p>
            <a:pPr algn="l"/>
            <a:r>
              <a:rPr lang="en-US" dirty="0">
                <a:solidFill>
                  <a:srgbClr val="009973"/>
                </a:solidFill>
              </a:rPr>
              <a:t>Good Design yields Better Security: II</a:t>
            </a:r>
            <a:br>
              <a:rPr dirty="0">
                <a:solidFill>
                  <a:srgbClr val="009973"/>
                </a:solidFill>
              </a:rPr>
            </a:br>
            <a:r>
              <a:rPr lang="en-US" sz="2000" dirty="0">
                <a:solidFill>
                  <a:srgbClr val="009973"/>
                </a:solidFill>
              </a:rPr>
              <a:t>Getting something for Nothing</a:t>
            </a:r>
            <a:br>
              <a:rPr lang="en-US" sz="2000" dirty="0">
                <a:solidFill>
                  <a:srgbClr val="009973"/>
                </a:solidFill>
              </a:rPr>
            </a:br>
            <a:r>
              <a:rPr lang="en-US" sz="1400" dirty="0">
                <a:solidFill>
                  <a:srgbClr val="009973"/>
                </a:solidFill>
              </a:rPr>
              <a:t>Remember this from the Network Layer Lecture?</a:t>
            </a:r>
            <a:endParaRPr sz="1400" dirty="0">
              <a:solidFill>
                <a:srgbClr val="009973"/>
              </a:solidFill>
            </a:endParaRPr>
          </a:p>
        </p:txBody>
      </p:sp>
      <p:sp>
        <p:nvSpPr>
          <p:cNvPr id="107572" name="Text Box 52"/>
          <p:cNvSpPr txBox="1">
            <a:spLocks noChangeArrowheads="1"/>
          </p:cNvSpPr>
          <p:nvPr/>
        </p:nvSpPr>
        <p:spPr bwMode="auto">
          <a:xfrm>
            <a:off x="6019800" y="6400800"/>
            <a:ext cx="2578100" cy="244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a:ea typeface="ＭＳ Ｐゴシック" charset="0"/>
                <a:cs typeface="ＭＳ Ｐゴシック" charset="0"/>
                <a:sym typeface="Arial"/>
              </a:rPr>
              <a:t>©   John Day, All Rights Reserved, 2009</a:t>
            </a:r>
          </a:p>
        </p:txBody>
      </p:sp>
      <p:sp>
        <p:nvSpPr>
          <p:cNvPr id="3" name="Content Placeholder 2"/>
          <p:cNvSpPr>
            <a:spLocks noGrp="1"/>
          </p:cNvSpPr>
          <p:nvPr>
            <p:ph idx="1"/>
          </p:nvPr>
        </p:nvSpPr>
        <p:spPr>
          <a:xfrm>
            <a:off x="750106" y="4701193"/>
            <a:ext cx="7451697" cy="1570414"/>
          </a:xfrm>
        </p:spPr>
        <p:txBody>
          <a:bodyPr/>
          <a:lstStyle/>
          <a:p>
            <a:r>
              <a:rPr lang="en-US" sz="1600" dirty="0"/>
              <a:t>The address plan in the Internet Layer only reflects the internet structure.  The network structure is flat at this level and not divulged.</a:t>
            </a:r>
          </a:p>
          <a:p>
            <a:r>
              <a:rPr lang="en-US" sz="1600" dirty="0"/>
              <a:t>A packet is routed to Gateway A, is sent on the outgoing interface to the Network Layer below and routed to the destination using Network Layer addresses and delivered to the Internet address in the layer above.</a:t>
            </a:r>
          </a:p>
          <a:p>
            <a:r>
              <a:rPr lang="en-US" sz="1600" dirty="0"/>
              <a:t>And all of this comes at no cost, a consequence of the architecture.</a:t>
            </a:r>
          </a:p>
          <a:p>
            <a:endParaRPr lang="en-US" sz="1600" dirty="0"/>
          </a:p>
        </p:txBody>
      </p:sp>
      <p:sp>
        <p:nvSpPr>
          <p:cNvPr id="7" name="Text Box 5">
            <a:extLst>
              <a:ext uri="{FF2B5EF4-FFF2-40B4-BE49-F238E27FC236}">
                <a16:creationId xmlns:a16="http://schemas.microsoft.com/office/drawing/2014/main" id="{44420526-8165-7DCF-1119-55472C4CAFED}"/>
              </a:ext>
            </a:extLst>
          </p:cNvPr>
          <p:cNvSpPr txBox="1">
            <a:spLocks noChangeArrowheads="1"/>
          </p:cNvSpPr>
          <p:nvPr/>
        </p:nvSpPr>
        <p:spPr bwMode="auto">
          <a:xfrm>
            <a:off x="3346450" y="1647448"/>
            <a:ext cx="1485900" cy="342900"/>
          </a:xfrm>
          <a:prstGeom prst="rect">
            <a:avLst/>
          </a:prstGeom>
          <a:no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imes New Roman" charset="0"/>
                <a:ea typeface="ＭＳ Ｐゴシック" charset="0"/>
                <a:sym typeface="Arial"/>
              </a:rPr>
              <a:t>Internet Gateways</a:t>
            </a: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imes New Roman" charset="0"/>
                <a:ea typeface="ＭＳ Ｐゴシック" charset="0"/>
                <a:sym typeface="Arial"/>
              </a:rPr>
              <a:t>Routing BGP</a:t>
            </a:r>
          </a:p>
        </p:txBody>
      </p:sp>
      <p:grpSp>
        <p:nvGrpSpPr>
          <p:cNvPr id="8" name="Group 16">
            <a:extLst>
              <a:ext uri="{FF2B5EF4-FFF2-40B4-BE49-F238E27FC236}">
                <a16:creationId xmlns:a16="http://schemas.microsoft.com/office/drawing/2014/main" id="{F520CB0A-0056-E515-57F3-7F9AE9D6453F}"/>
              </a:ext>
            </a:extLst>
          </p:cNvPr>
          <p:cNvGrpSpPr>
            <a:grpSpLocks/>
          </p:cNvGrpSpPr>
          <p:nvPr/>
        </p:nvGrpSpPr>
        <p:grpSpPr bwMode="auto">
          <a:xfrm>
            <a:off x="2774950" y="2572961"/>
            <a:ext cx="571500" cy="1028700"/>
            <a:chOff x="2601" y="2164"/>
            <a:chExt cx="1080" cy="1620"/>
          </a:xfrm>
        </p:grpSpPr>
        <p:sp>
          <p:nvSpPr>
            <p:cNvPr id="58" name="Rectangle 17">
              <a:extLst>
                <a:ext uri="{FF2B5EF4-FFF2-40B4-BE49-F238E27FC236}">
                  <a16:creationId xmlns:a16="http://schemas.microsoft.com/office/drawing/2014/main" id="{5607EC26-A20A-3D6E-AF6D-85174B66EA57}"/>
                </a:ext>
              </a:extLst>
            </p:cNvPr>
            <p:cNvSpPr>
              <a:spLocks noChangeArrowheads="1"/>
            </p:cNvSpPr>
            <p:nvPr/>
          </p:nvSpPr>
          <p:spPr bwMode="auto">
            <a:xfrm>
              <a:off x="2601" y="3244"/>
              <a:ext cx="1080" cy="540"/>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99CCFF"/>
                  </a:solidFill>
                </a14:hiddenFill>
              </a:ext>
            </a:extLst>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9" name="Rectangle 18">
              <a:extLst>
                <a:ext uri="{FF2B5EF4-FFF2-40B4-BE49-F238E27FC236}">
                  <a16:creationId xmlns:a16="http://schemas.microsoft.com/office/drawing/2014/main" id="{8BCFB717-3AE8-F45F-87DD-DD28E4C944C6}"/>
                </a:ext>
              </a:extLst>
            </p:cNvPr>
            <p:cNvSpPr>
              <a:spLocks noChangeArrowheads="1"/>
            </p:cNvSpPr>
            <p:nvPr/>
          </p:nvSpPr>
          <p:spPr bwMode="auto">
            <a:xfrm>
              <a:off x="2601" y="2704"/>
              <a:ext cx="1080" cy="540"/>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99CCFF"/>
                  </a:solidFill>
                </a14:hiddenFill>
              </a:ext>
            </a:extLst>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0" name="Rectangle 19">
              <a:extLst>
                <a:ext uri="{FF2B5EF4-FFF2-40B4-BE49-F238E27FC236}">
                  <a16:creationId xmlns:a16="http://schemas.microsoft.com/office/drawing/2014/main" id="{34F51701-8719-63A9-1F07-7521CFEB2479}"/>
                </a:ext>
              </a:extLst>
            </p:cNvPr>
            <p:cNvSpPr>
              <a:spLocks noChangeArrowheads="1"/>
            </p:cNvSpPr>
            <p:nvPr/>
          </p:nvSpPr>
          <p:spPr bwMode="auto">
            <a:xfrm>
              <a:off x="2601" y="2164"/>
              <a:ext cx="1080" cy="540"/>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99CCFF"/>
                  </a:solidFill>
                </a14:hiddenFill>
              </a:ext>
            </a:extLst>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1" name="Line 20">
              <a:extLst>
                <a:ext uri="{FF2B5EF4-FFF2-40B4-BE49-F238E27FC236}">
                  <a16:creationId xmlns:a16="http://schemas.microsoft.com/office/drawing/2014/main" id="{CD5995B2-9415-4CDA-544B-86529644A082}"/>
                </a:ext>
              </a:extLst>
            </p:cNvPr>
            <p:cNvSpPr>
              <a:spLocks noChangeShapeType="1"/>
            </p:cNvSpPr>
            <p:nvPr/>
          </p:nvSpPr>
          <p:spPr bwMode="auto">
            <a:xfrm>
              <a:off x="3141" y="2704"/>
              <a:ext cx="0" cy="1080"/>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2" name="Line 21">
              <a:extLst>
                <a:ext uri="{FF2B5EF4-FFF2-40B4-BE49-F238E27FC236}">
                  <a16:creationId xmlns:a16="http://schemas.microsoft.com/office/drawing/2014/main" id="{A664735B-92B9-62B5-953D-324383D44D50}"/>
                </a:ext>
              </a:extLst>
            </p:cNvPr>
            <p:cNvSpPr>
              <a:spLocks noChangeShapeType="1"/>
            </p:cNvSpPr>
            <p:nvPr/>
          </p:nvSpPr>
          <p:spPr bwMode="auto">
            <a:xfrm>
              <a:off x="2601" y="2164"/>
              <a:ext cx="540" cy="540"/>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3" name="Line 22">
              <a:extLst>
                <a:ext uri="{FF2B5EF4-FFF2-40B4-BE49-F238E27FC236}">
                  <a16:creationId xmlns:a16="http://schemas.microsoft.com/office/drawing/2014/main" id="{7181CE17-E5B3-A684-CC8E-1311F4886B68}"/>
                </a:ext>
              </a:extLst>
            </p:cNvPr>
            <p:cNvSpPr>
              <a:spLocks noChangeShapeType="1"/>
            </p:cNvSpPr>
            <p:nvPr/>
          </p:nvSpPr>
          <p:spPr bwMode="auto">
            <a:xfrm flipH="1">
              <a:off x="3141" y="2164"/>
              <a:ext cx="540" cy="540"/>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a typeface="+mn-ea"/>
                <a:cs typeface="Arial"/>
                <a:sym typeface="Arial"/>
              </a:endParaRPr>
            </a:p>
          </p:txBody>
        </p:sp>
      </p:grpSp>
      <p:grpSp>
        <p:nvGrpSpPr>
          <p:cNvPr id="11" name="Group 23">
            <a:extLst>
              <a:ext uri="{FF2B5EF4-FFF2-40B4-BE49-F238E27FC236}">
                <a16:creationId xmlns:a16="http://schemas.microsoft.com/office/drawing/2014/main" id="{811CDD41-82E4-D97E-0C74-67371DC1B276}"/>
              </a:ext>
            </a:extLst>
          </p:cNvPr>
          <p:cNvGrpSpPr>
            <a:grpSpLocks/>
          </p:cNvGrpSpPr>
          <p:nvPr/>
        </p:nvGrpSpPr>
        <p:grpSpPr bwMode="auto">
          <a:xfrm>
            <a:off x="5213350" y="2572961"/>
            <a:ext cx="571500" cy="1028700"/>
            <a:chOff x="2601" y="2164"/>
            <a:chExt cx="1080" cy="1620"/>
          </a:xfrm>
        </p:grpSpPr>
        <p:sp>
          <p:nvSpPr>
            <p:cNvPr id="51" name="Rectangle 24">
              <a:extLst>
                <a:ext uri="{FF2B5EF4-FFF2-40B4-BE49-F238E27FC236}">
                  <a16:creationId xmlns:a16="http://schemas.microsoft.com/office/drawing/2014/main" id="{B9465EA0-ADAF-2A78-4B62-CAEEFAAB5AC1}"/>
                </a:ext>
              </a:extLst>
            </p:cNvPr>
            <p:cNvSpPr>
              <a:spLocks noChangeArrowheads="1"/>
            </p:cNvSpPr>
            <p:nvPr/>
          </p:nvSpPr>
          <p:spPr bwMode="auto">
            <a:xfrm>
              <a:off x="2601" y="3244"/>
              <a:ext cx="1080" cy="540"/>
            </a:xfrm>
            <a:prstGeom prst="rect">
              <a:avLst/>
            </a:prstGeom>
            <a:solidFill>
              <a:srgbClr val="FFFFFF"/>
            </a:solidFill>
            <a:ln w="9525">
              <a:solidFill>
                <a:srgbClr val="000000"/>
              </a:solidFill>
              <a:miter lim="800000"/>
              <a:headEnd/>
              <a:tailEnd/>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2" name="Rectangle 25">
              <a:extLst>
                <a:ext uri="{FF2B5EF4-FFF2-40B4-BE49-F238E27FC236}">
                  <a16:creationId xmlns:a16="http://schemas.microsoft.com/office/drawing/2014/main" id="{28DC31A9-9C5C-875A-4683-1897C13A65CA}"/>
                </a:ext>
              </a:extLst>
            </p:cNvPr>
            <p:cNvSpPr>
              <a:spLocks noChangeArrowheads="1"/>
            </p:cNvSpPr>
            <p:nvPr/>
          </p:nvSpPr>
          <p:spPr bwMode="auto">
            <a:xfrm>
              <a:off x="2601" y="2704"/>
              <a:ext cx="1080" cy="540"/>
            </a:xfrm>
            <a:prstGeom prst="rect">
              <a:avLst/>
            </a:prstGeom>
            <a:solidFill>
              <a:srgbClr val="FFFFFF"/>
            </a:solidFill>
            <a:ln w="9525">
              <a:solidFill>
                <a:srgbClr val="000000"/>
              </a:solidFill>
              <a:miter lim="800000"/>
              <a:headEnd/>
              <a:tailEnd/>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4" name="Rectangle 26">
              <a:extLst>
                <a:ext uri="{FF2B5EF4-FFF2-40B4-BE49-F238E27FC236}">
                  <a16:creationId xmlns:a16="http://schemas.microsoft.com/office/drawing/2014/main" id="{D964B8C0-736A-93FF-EFEE-B2139F335937}"/>
                </a:ext>
              </a:extLst>
            </p:cNvPr>
            <p:cNvSpPr>
              <a:spLocks noChangeArrowheads="1"/>
            </p:cNvSpPr>
            <p:nvPr/>
          </p:nvSpPr>
          <p:spPr bwMode="auto">
            <a:xfrm>
              <a:off x="2601" y="2164"/>
              <a:ext cx="1080" cy="540"/>
            </a:xfrm>
            <a:prstGeom prst="rect">
              <a:avLst/>
            </a:prstGeom>
            <a:solidFill>
              <a:srgbClr val="FFFFFF"/>
            </a:solidFill>
            <a:ln w="9525">
              <a:solidFill>
                <a:srgbClr val="000000"/>
              </a:solidFill>
              <a:miter lim="800000"/>
              <a:headEnd/>
              <a:tailEnd/>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5" name="Line 27">
              <a:extLst>
                <a:ext uri="{FF2B5EF4-FFF2-40B4-BE49-F238E27FC236}">
                  <a16:creationId xmlns:a16="http://schemas.microsoft.com/office/drawing/2014/main" id="{A34C3E3E-6737-B6C8-F2A4-EF4AC0638E35}"/>
                </a:ext>
              </a:extLst>
            </p:cNvPr>
            <p:cNvSpPr>
              <a:spLocks noChangeShapeType="1"/>
            </p:cNvSpPr>
            <p:nvPr/>
          </p:nvSpPr>
          <p:spPr bwMode="auto">
            <a:xfrm>
              <a:off x="3141" y="2704"/>
              <a:ext cx="0" cy="1080"/>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6" name="Line 28">
              <a:extLst>
                <a:ext uri="{FF2B5EF4-FFF2-40B4-BE49-F238E27FC236}">
                  <a16:creationId xmlns:a16="http://schemas.microsoft.com/office/drawing/2014/main" id="{0CAB85E5-6834-3A27-A6E2-68D5E57C58C7}"/>
                </a:ext>
              </a:extLst>
            </p:cNvPr>
            <p:cNvSpPr>
              <a:spLocks noChangeShapeType="1"/>
            </p:cNvSpPr>
            <p:nvPr/>
          </p:nvSpPr>
          <p:spPr bwMode="auto">
            <a:xfrm>
              <a:off x="2601" y="2164"/>
              <a:ext cx="540" cy="540"/>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7" name="Line 29">
              <a:extLst>
                <a:ext uri="{FF2B5EF4-FFF2-40B4-BE49-F238E27FC236}">
                  <a16:creationId xmlns:a16="http://schemas.microsoft.com/office/drawing/2014/main" id="{9781B59A-059B-F8A5-B669-373BB07E4F36}"/>
                </a:ext>
              </a:extLst>
            </p:cNvPr>
            <p:cNvSpPr>
              <a:spLocks noChangeShapeType="1"/>
            </p:cNvSpPr>
            <p:nvPr/>
          </p:nvSpPr>
          <p:spPr bwMode="auto">
            <a:xfrm flipH="1">
              <a:off x="3141" y="2164"/>
              <a:ext cx="540" cy="540"/>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a typeface="+mn-ea"/>
                <a:cs typeface="Arial"/>
                <a:sym typeface="Arial"/>
              </a:endParaRPr>
            </a:p>
          </p:txBody>
        </p:sp>
      </p:grpSp>
      <p:sp>
        <p:nvSpPr>
          <p:cNvPr id="12" name="Rectangle 11">
            <a:extLst>
              <a:ext uri="{FF2B5EF4-FFF2-40B4-BE49-F238E27FC236}">
                <a16:creationId xmlns:a16="http://schemas.microsoft.com/office/drawing/2014/main" id="{AEFA4664-D195-7CB6-2435-58E9DC3BBF49}"/>
              </a:ext>
            </a:extLst>
          </p:cNvPr>
          <p:cNvSpPr>
            <a:spLocks noChangeArrowheads="1"/>
          </p:cNvSpPr>
          <p:nvPr/>
        </p:nvSpPr>
        <p:spPr bwMode="auto">
          <a:xfrm>
            <a:off x="412750" y="3309561"/>
            <a:ext cx="800100" cy="342900"/>
          </a:xfrm>
          <a:prstGeom prst="rect">
            <a:avLst/>
          </a:prstGeom>
          <a:solidFill>
            <a:srgbClr val="FFFFFF"/>
          </a:solidFill>
          <a:ln w="9525">
            <a:solidFill>
              <a:srgbClr val="000000"/>
            </a:solidFill>
            <a:miter lim="800000"/>
            <a:headEnd/>
            <a:tailEnd/>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Times New Roman" charset="0"/>
                <a:ea typeface="+mn-ea"/>
                <a:cs typeface="Arial"/>
                <a:sym typeface="Arial"/>
              </a:rPr>
              <a:t>Data Link</a:t>
            </a:r>
          </a:p>
        </p:txBody>
      </p:sp>
      <p:sp>
        <p:nvSpPr>
          <p:cNvPr id="13" name="Rectangle 12">
            <a:extLst>
              <a:ext uri="{FF2B5EF4-FFF2-40B4-BE49-F238E27FC236}">
                <a16:creationId xmlns:a16="http://schemas.microsoft.com/office/drawing/2014/main" id="{96ED2330-F2E9-F97D-D379-87738764B993}"/>
              </a:ext>
            </a:extLst>
          </p:cNvPr>
          <p:cNvSpPr>
            <a:spLocks noChangeArrowheads="1"/>
          </p:cNvSpPr>
          <p:nvPr/>
        </p:nvSpPr>
        <p:spPr bwMode="auto">
          <a:xfrm>
            <a:off x="412750" y="2966661"/>
            <a:ext cx="800100" cy="342900"/>
          </a:xfrm>
          <a:prstGeom prst="rect">
            <a:avLst/>
          </a:prstGeom>
          <a:solidFill>
            <a:srgbClr val="FFFFFF"/>
          </a:solidFill>
          <a:ln w="9525">
            <a:solidFill>
              <a:srgbClr val="000000"/>
            </a:solidFill>
            <a:miter lim="800000"/>
            <a:headEnd/>
            <a:tailEnd/>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Times New Roman" charset="0"/>
                <a:ea typeface="+mn-ea"/>
                <a:cs typeface="Arial"/>
                <a:sym typeface="Arial"/>
              </a:rPr>
              <a:t>SNDC SNAC</a:t>
            </a:r>
          </a:p>
        </p:txBody>
      </p:sp>
      <p:sp>
        <p:nvSpPr>
          <p:cNvPr id="14" name="Rectangle 13">
            <a:extLst>
              <a:ext uri="{FF2B5EF4-FFF2-40B4-BE49-F238E27FC236}">
                <a16:creationId xmlns:a16="http://schemas.microsoft.com/office/drawing/2014/main" id="{C74EBE5C-1845-726C-F35C-6509DE7DF1D4}"/>
              </a:ext>
            </a:extLst>
          </p:cNvPr>
          <p:cNvSpPr>
            <a:spLocks noChangeArrowheads="1"/>
          </p:cNvSpPr>
          <p:nvPr/>
        </p:nvSpPr>
        <p:spPr bwMode="auto">
          <a:xfrm>
            <a:off x="412750" y="2572961"/>
            <a:ext cx="793750" cy="400050"/>
          </a:xfrm>
          <a:prstGeom prst="rect">
            <a:avLst/>
          </a:prstGeom>
          <a:solidFill>
            <a:srgbClr val="FFFFFF"/>
          </a:solidFill>
          <a:ln w="9525">
            <a:solidFill>
              <a:srgbClr val="000000"/>
            </a:solidFill>
            <a:miter lim="800000"/>
            <a:headEnd/>
            <a:tailEnd/>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Times New Roman" charset="0"/>
                <a:ea typeface="+mn-ea"/>
                <a:cs typeface="Arial"/>
                <a:sym typeface="Arial"/>
              </a:rPr>
              <a:t>Transport SNIC</a:t>
            </a:r>
          </a:p>
        </p:txBody>
      </p:sp>
      <p:sp>
        <p:nvSpPr>
          <p:cNvPr id="15" name="Rectangle 14">
            <a:extLst>
              <a:ext uri="{FF2B5EF4-FFF2-40B4-BE49-F238E27FC236}">
                <a16:creationId xmlns:a16="http://schemas.microsoft.com/office/drawing/2014/main" id="{C06FB871-BF40-7D17-2D74-12173293F8C0}"/>
              </a:ext>
            </a:extLst>
          </p:cNvPr>
          <p:cNvSpPr>
            <a:spLocks noChangeArrowheads="1"/>
          </p:cNvSpPr>
          <p:nvPr/>
        </p:nvSpPr>
        <p:spPr bwMode="auto">
          <a:xfrm>
            <a:off x="400050" y="2236411"/>
            <a:ext cx="800100" cy="342900"/>
          </a:xfrm>
          <a:prstGeom prst="rect">
            <a:avLst/>
          </a:prstGeom>
          <a:solidFill>
            <a:srgbClr val="FFFFFF"/>
          </a:solidFill>
          <a:ln w="9525">
            <a:solidFill>
              <a:srgbClr val="000000"/>
            </a:solidFill>
            <a:miter lim="800000"/>
            <a:headEnd/>
            <a:tailEnd/>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Times New Roman" charset="0"/>
                <a:ea typeface="+mn-ea"/>
                <a:cs typeface="Arial"/>
                <a:sym typeface="Arial"/>
              </a:rPr>
              <a:t>Application</a:t>
            </a:r>
          </a:p>
        </p:txBody>
      </p:sp>
      <p:sp>
        <p:nvSpPr>
          <p:cNvPr id="16" name="Text Box 33">
            <a:extLst>
              <a:ext uri="{FF2B5EF4-FFF2-40B4-BE49-F238E27FC236}">
                <a16:creationId xmlns:a16="http://schemas.microsoft.com/office/drawing/2014/main" id="{48A79004-B4B1-CC40-C268-F5D5F81F5565}"/>
              </a:ext>
            </a:extLst>
          </p:cNvPr>
          <p:cNvSpPr txBox="1">
            <a:spLocks noChangeArrowheads="1"/>
          </p:cNvSpPr>
          <p:nvPr/>
        </p:nvSpPr>
        <p:spPr bwMode="auto">
          <a:xfrm>
            <a:off x="469900" y="1874461"/>
            <a:ext cx="571500" cy="3429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imes New Roman" charset="0"/>
                <a:ea typeface="ＭＳ Ｐゴシック" charset="0"/>
                <a:sym typeface="Arial"/>
              </a:rPr>
              <a:t>Host</a:t>
            </a:r>
          </a:p>
        </p:txBody>
      </p:sp>
      <p:grpSp>
        <p:nvGrpSpPr>
          <p:cNvPr id="17" name="Group 3">
            <a:extLst>
              <a:ext uri="{FF2B5EF4-FFF2-40B4-BE49-F238E27FC236}">
                <a16:creationId xmlns:a16="http://schemas.microsoft.com/office/drawing/2014/main" id="{058DB32E-BA57-2CC0-3B8E-42956AF9CBCC}"/>
              </a:ext>
            </a:extLst>
          </p:cNvPr>
          <p:cNvGrpSpPr>
            <a:grpSpLocks/>
          </p:cNvGrpSpPr>
          <p:nvPr/>
        </p:nvGrpSpPr>
        <p:grpSpPr bwMode="auto">
          <a:xfrm>
            <a:off x="7346950" y="2001461"/>
            <a:ext cx="914400" cy="1600200"/>
            <a:chOff x="6619875" y="1400783"/>
            <a:chExt cx="914400" cy="1599592"/>
          </a:xfrm>
        </p:grpSpPr>
        <p:grpSp>
          <p:nvGrpSpPr>
            <p:cNvPr id="45" name="Group 11">
              <a:extLst>
                <a:ext uri="{FF2B5EF4-FFF2-40B4-BE49-F238E27FC236}">
                  <a16:creationId xmlns:a16="http://schemas.microsoft.com/office/drawing/2014/main" id="{A8BD6256-B23D-1D2C-25B3-A2E85E31AFA3}"/>
                </a:ext>
              </a:extLst>
            </p:cNvPr>
            <p:cNvGrpSpPr>
              <a:grpSpLocks/>
            </p:cNvGrpSpPr>
            <p:nvPr/>
          </p:nvGrpSpPr>
          <p:grpSpPr bwMode="auto">
            <a:xfrm>
              <a:off x="6619875" y="1629296"/>
              <a:ext cx="914400" cy="1371079"/>
              <a:chOff x="7641" y="1624"/>
              <a:chExt cx="1440" cy="2160"/>
            </a:xfrm>
          </p:grpSpPr>
          <p:sp>
            <p:nvSpPr>
              <p:cNvPr id="47" name="Rectangle 12">
                <a:extLst>
                  <a:ext uri="{FF2B5EF4-FFF2-40B4-BE49-F238E27FC236}">
                    <a16:creationId xmlns:a16="http://schemas.microsoft.com/office/drawing/2014/main" id="{DB5345C5-682B-DDEA-4D66-AC655A475802}"/>
                  </a:ext>
                </a:extLst>
              </p:cNvPr>
              <p:cNvSpPr>
                <a:spLocks noChangeArrowheads="1"/>
              </p:cNvSpPr>
              <p:nvPr/>
            </p:nvSpPr>
            <p:spPr bwMode="auto">
              <a:xfrm>
                <a:off x="7641" y="3244"/>
                <a:ext cx="1440" cy="540"/>
              </a:xfrm>
              <a:prstGeom prst="rect">
                <a:avLst/>
              </a:prstGeom>
              <a:solidFill>
                <a:srgbClr val="FFFFFF"/>
              </a:solidFill>
              <a:ln w="9525">
                <a:solidFill>
                  <a:srgbClr val="000000"/>
                </a:solidFill>
                <a:miter lim="800000"/>
                <a:headEnd/>
                <a:tailEnd/>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Times New Roman" charset="0"/>
                    <a:ea typeface="+mn-ea"/>
                    <a:cs typeface="Arial"/>
                    <a:sym typeface="Arial"/>
                  </a:rPr>
                  <a:t>Data Link</a:t>
                </a:r>
              </a:p>
            </p:txBody>
          </p:sp>
          <p:sp>
            <p:nvSpPr>
              <p:cNvPr id="48" name="Rectangle 13">
                <a:extLst>
                  <a:ext uri="{FF2B5EF4-FFF2-40B4-BE49-F238E27FC236}">
                    <a16:creationId xmlns:a16="http://schemas.microsoft.com/office/drawing/2014/main" id="{2E6F324C-E296-FFBF-49D8-AA5821C7BE36}"/>
                  </a:ext>
                </a:extLst>
              </p:cNvPr>
              <p:cNvSpPr>
                <a:spLocks noChangeArrowheads="1"/>
              </p:cNvSpPr>
              <p:nvPr/>
            </p:nvSpPr>
            <p:spPr bwMode="auto">
              <a:xfrm>
                <a:off x="7641" y="2704"/>
                <a:ext cx="1440" cy="540"/>
              </a:xfrm>
              <a:prstGeom prst="rect">
                <a:avLst/>
              </a:prstGeom>
              <a:solidFill>
                <a:srgbClr val="FFFFFF"/>
              </a:solidFill>
              <a:ln w="9525">
                <a:solidFill>
                  <a:srgbClr val="000000"/>
                </a:solidFill>
                <a:miter lim="800000"/>
                <a:headEnd/>
                <a:tailEnd/>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Times New Roman" charset="0"/>
                    <a:ea typeface="+mn-ea"/>
                    <a:cs typeface="Arial"/>
                    <a:sym typeface="Arial"/>
                  </a:rPr>
                  <a:t>Network</a:t>
                </a:r>
              </a:p>
            </p:txBody>
          </p:sp>
          <p:sp>
            <p:nvSpPr>
              <p:cNvPr id="49" name="Rectangle 14">
                <a:extLst>
                  <a:ext uri="{FF2B5EF4-FFF2-40B4-BE49-F238E27FC236}">
                    <a16:creationId xmlns:a16="http://schemas.microsoft.com/office/drawing/2014/main" id="{1758E1F4-60A1-1C9F-EF65-8A0EDB46F4C7}"/>
                  </a:ext>
                </a:extLst>
              </p:cNvPr>
              <p:cNvSpPr>
                <a:spLocks noChangeArrowheads="1"/>
              </p:cNvSpPr>
              <p:nvPr/>
            </p:nvSpPr>
            <p:spPr bwMode="auto">
              <a:xfrm>
                <a:off x="7641" y="2164"/>
                <a:ext cx="1440" cy="540"/>
              </a:xfrm>
              <a:prstGeom prst="rect">
                <a:avLst/>
              </a:prstGeom>
              <a:solidFill>
                <a:srgbClr val="FFFFFF"/>
              </a:solidFill>
              <a:ln w="9525">
                <a:solidFill>
                  <a:srgbClr val="000000"/>
                </a:solidFill>
                <a:miter lim="800000"/>
                <a:headEnd/>
                <a:tailEnd/>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Times New Roman" charset="0"/>
                    <a:ea typeface="+mn-ea"/>
                    <a:cs typeface="Arial"/>
                    <a:sym typeface="Arial"/>
                  </a:rPr>
                  <a:t>Internet</a:t>
                </a:r>
              </a:p>
            </p:txBody>
          </p:sp>
          <p:sp>
            <p:nvSpPr>
              <p:cNvPr id="50" name="Rectangle 15">
                <a:extLst>
                  <a:ext uri="{FF2B5EF4-FFF2-40B4-BE49-F238E27FC236}">
                    <a16:creationId xmlns:a16="http://schemas.microsoft.com/office/drawing/2014/main" id="{E92A570A-8541-8117-1727-41FFAAEFFC9E}"/>
                  </a:ext>
                </a:extLst>
              </p:cNvPr>
              <p:cNvSpPr>
                <a:spLocks noChangeArrowheads="1"/>
              </p:cNvSpPr>
              <p:nvPr/>
            </p:nvSpPr>
            <p:spPr bwMode="auto">
              <a:xfrm>
                <a:off x="7641" y="1624"/>
                <a:ext cx="1440" cy="540"/>
              </a:xfrm>
              <a:prstGeom prst="rect">
                <a:avLst/>
              </a:prstGeom>
              <a:solidFill>
                <a:srgbClr val="FFFFFF"/>
              </a:solidFill>
              <a:ln w="9525">
                <a:solidFill>
                  <a:srgbClr val="000000"/>
                </a:solidFill>
                <a:miter lim="800000"/>
                <a:headEnd/>
                <a:tailEnd/>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Times New Roman" charset="0"/>
                    <a:ea typeface="+mn-ea"/>
                    <a:cs typeface="Arial"/>
                    <a:sym typeface="Arial"/>
                  </a:rPr>
                  <a:t>Application</a:t>
                </a:r>
              </a:p>
            </p:txBody>
          </p:sp>
        </p:grpSp>
        <p:sp>
          <p:nvSpPr>
            <p:cNvPr id="46" name="Text Box 34">
              <a:extLst>
                <a:ext uri="{FF2B5EF4-FFF2-40B4-BE49-F238E27FC236}">
                  <a16:creationId xmlns:a16="http://schemas.microsoft.com/office/drawing/2014/main" id="{797665E7-5DD3-E569-3A83-D8147A616ADC}"/>
                </a:ext>
              </a:extLst>
            </p:cNvPr>
            <p:cNvSpPr txBox="1">
              <a:spLocks noChangeArrowheads="1"/>
            </p:cNvSpPr>
            <p:nvPr/>
          </p:nvSpPr>
          <p:spPr bwMode="auto">
            <a:xfrm>
              <a:off x="6848475" y="1400783"/>
              <a:ext cx="571500" cy="3427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Times New Roman" charset="0"/>
                  <a:ea typeface="ＭＳ Ｐゴシック" charset="0"/>
                  <a:sym typeface="Arial"/>
                </a:rPr>
                <a:t>Host</a:t>
              </a:r>
              <a:endParaRPr kumimoji="0" lang="en-US" sz="1000" b="0" i="0" u="none" strike="noStrike" kern="0" cap="none" spc="0" normalizeH="0" baseline="0" noProof="0">
                <a:ln>
                  <a:noFill/>
                </a:ln>
                <a:solidFill>
                  <a:srgbClr val="000000"/>
                </a:solidFill>
                <a:effectLst/>
                <a:uLnTx/>
                <a:uFillTx/>
                <a:latin typeface="Times New Roman" charset="0"/>
                <a:ea typeface="ＭＳ Ｐゴシック" charset="0"/>
                <a:sym typeface="Arial"/>
              </a:endParaRPr>
            </a:p>
          </p:txBody>
        </p:sp>
      </p:grpSp>
      <p:sp>
        <p:nvSpPr>
          <p:cNvPr id="18" name="Line 35">
            <a:extLst>
              <a:ext uri="{FF2B5EF4-FFF2-40B4-BE49-F238E27FC236}">
                <a16:creationId xmlns:a16="http://schemas.microsoft.com/office/drawing/2014/main" id="{F4977C47-1088-68A7-E179-A0B09655B4E6}"/>
              </a:ext>
            </a:extLst>
          </p:cNvPr>
          <p:cNvSpPr>
            <a:spLocks noChangeShapeType="1"/>
          </p:cNvSpPr>
          <p:nvPr/>
        </p:nvSpPr>
        <p:spPr bwMode="auto">
          <a:xfrm flipH="1">
            <a:off x="3308350" y="2144336"/>
            <a:ext cx="866775" cy="390525"/>
          </a:xfrm>
          <a:prstGeom prst="line">
            <a:avLst/>
          </a:prstGeom>
          <a:ln w="9525" cap="flat" cmpd="sng" algn="ctr">
            <a:solidFill>
              <a:schemeClr val="dk1"/>
            </a:solidFill>
            <a:prstDash val="solid"/>
            <a:round/>
            <a:headEnd type="none" w="med" len="med"/>
            <a:tailEnd type="arrow" w="med" len="med"/>
          </a:ln>
          <a:extLst>
            <a:ext uri="{909E8E84-426E-40dd-AFC4-6F175D3DCCD1}">
              <a14:hiddenFill xmlns="" xmlns:a14="http://schemas.microsoft.com/office/drawing/2010/main">
                <a:noFill/>
              </a14:hiddenFill>
            </a:ext>
          </a:extLst>
        </p:spPr>
        <p:style>
          <a:lnRef idx="0">
            <a:scrgbClr r="0" g="0" b="0"/>
          </a:lnRef>
          <a:fillRef idx="0">
            <a:scrgbClr r="0" g="0" b="0"/>
          </a:fillRef>
          <a:effectRef idx="0">
            <a:scrgbClr r="0" g="0" b="0"/>
          </a:effectRef>
          <a:fontRef idx="minor">
            <a:schemeClr val="tx1"/>
          </a:fontRef>
        </p:style>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Calibri"/>
              <a:ea typeface="+mn-ea"/>
              <a:cs typeface="+mn-cs"/>
              <a:sym typeface="Arial"/>
            </a:endParaRPr>
          </a:p>
        </p:txBody>
      </p:sp>
      <p:sp>
        <p:nvSpPr>
          <p:cNvPr id="19" name="Line 36">
            <a:extLst>
              <a:ext uri="{FF2B5EF4-FFF2-40B4-BE49-F238E27FC236}">
                <a16:creationId xmlns:a16="http://schemas.microsoft.com/office/drawing/2014/main" id="{CAEB02C4-B66E-AB4F-F7A7-CD09C9B3434B}"/>
              </a:ext>
            </a:extLst>
          </p:cNvPr>
          <p:cNvSpPr>
            <a:spLocks noChangeShapeType="1"/>
          </p:cNvSpPr>
          <p:nvPr/>
        </p:nvSpPr>
        <p:spPr bwMode="auto">
          <a:xfrm>
            <a:off x="4175125" y="2144336"/>
            <a:ext cx="1114425" cy="390525"/>
          </a:xfrm>
          <a:prstGeom prst="line">
            <a:avLst/>
          </a:prstGeom>
          <a:ln w="9525" cap="flat" cmpd="sng" algn="ctr">
            <a:solidFill>
              <a:schemeClr val="dk1"/>
            </a:solidFill>
            <a:prstDash val="solid"/>
            <a:round/>
            <a:headEnd type="none" w="med" len="med"/>
            <a:tailEnd type="arrow" w="med" len="med"/>
          </a:ln>
          <a:extLst>
            <a:ext uri="{909E8E84-426E-40dd-AFC4-6F175D3DCCD1}">
              <a14:hiddenFill xmlns="" xmlns:a14="http://schemas.microsoft.com/office/drawing/2010/main">
                <a:noFill/>
              </a14:hiddenFill>
            </a:ext>
          </a:extLst>
        </p:spPr>
        <p:style>
          <a:lnRef idx="0">
            <a:scrgbClr r="0" g="0" b="0"/>
          </a:lnRef>
          <a:fillRef idx="0">
            <a:scrgbClr r="0" g="0" b="0"/>
          </a:fillRef>
          <a:effectRef idx="0">
            <a:scrgbClr r="0" g="0" b="0"/>
          </a:effectRef>
          <a:fontRef idx="minor">
            <a:schemeClr val="tx1"/>
          </a:fontRef>
        </p:style>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Calibri"/>
              <a:ea typeface="+mn-ea"/>
              <a:cs typeface="+mn-cs"/>
              <a:sym typeface="Arial"/>
            </a:endParaRPr>
          </a:p>
        </p:txBody>
      </p:sp>
      <p:grpSp>
        <p:nvGrpSpPr>
          <p:cNvPr id="20" name="Group 7">
            <a:extLst>
              <a:ext uri="{FF2B5EF4-FFF2-40B4-BE49-F238E27FC236}">
                <a16:creationId xmlns:a16="http://schemas.microsoft.com/office/drawing/2014/main" id="{272ACF9E-52F6-B6C0-9197-C3FC7C84E5D4}"/>
              </a:ext>
            </a:extLst>
          </p:cNvPr>
          <p:cNvGrpSpPr>
            <a:grpSpLocks/>
          </p:cNvGrpSpPr>
          <p:nvPr/>
        </p:nvGrpSpPr>
        <p:grpSpPr bwMode="auto">
          <a:xfrm>
            <a:off x="1708150" y="2915861"/>
            <a:ext cx="571500" cy="685800"/>
            <a:chOff x="3886200" y="2743200"/>
            <a:chExt cx="571500" cy="685540"/>
          </a:xfrm>
        </p:grpSpPr>
        <p:sp>
          <p:nvSpPr>
            <p:cNvPr id="40" name="Rectangle 18">
              <a:extLst>
                <a:ext uri="{FF2B5EF4-FFF2-40B4-BE49-F238E27FC236}">
                  <a16:creationId xmlns:a16="http://schemas.microsoft.com/office/drawing/2014/main" id="{E51F2526-7198-73D8-24FC-92F2B05C6DB2}"/>
                </a:ext>
              </a:extLst>
            </p:cNvPr>
            <p:cNvSpPr>
              <a:spLocks noChangeArrowheads="1"/>
            </p:cNvSpPr>
            <p:nvPr/>
          </p:nvSpPr>
          <p:spPr bwMode="auto">
            <a:xfrm>
              <a:off x="3886200" y="3085970"/>
              <a:ext cx="571500" cy="342770"/>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99CCFF"/>
                  </a:solidFill>
                </a14:hiddenFill>
              </a:ext>
            </a:extLst>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1" name="Rectangle 19">
              <a:extLst>
                <a:ext uri="{FF2B5EF4-FFF2-40B4-BE49-F238E27FC236}">
                  <a16:creationId xmlns:a16="http://schemas.microsoft.com/office/drawing/2014/main" id="{5185AC58-B2AC-D559-F94F-2DABCD94067E}"/>
                </a:ext>
              </a:extLst>
            </p:cNvPr>
            <p:cNvSpPr>
              <a:spLocks noChangeArrowheads="1"/>
            </p:cNvSpPr>
            <p:nvPr/>
          </p:nvSpPr>
          <p:spPr bwMode="auto">
            <a:xfrm>
              <a:off x="3886200" y="2743200"/>
              <a:ext cx="571500" cy="342770"/>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99CCFF"/>
                  </a:solidFill>
                </a14:hiddenFill>
              </a:ext>
            </a:extLst>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2" name="Line 21">
              <a:extLst>
                <a:ext uri="{FF2B5EF4-FFF2-40B4-BE49-F238E27FC236}">
                  <a16:creationId xmlns:a16="http://schemas.microsoft.com/office/drawing/2014/main" id="{1748D07C-02EA-316C-CA30-77278CE6064C}"/>
                </a:ext>
              </a:extLst>
            </p:cNvPr>
            <p:cNvSpPr>
              <a:spLocks noChangeShapeType="1"/>
            </p:cNvSpPr>
            <p:nvPr/>
          </p:nvSpPr>
          <p:spPr bwMode="auto">
            <a:xfrm>
              <a:off x="3886200" y="2743200"/>
              <a:ext cx="285750" cy="342770"/>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3" name="Line 22">
              <a:extLst>
                <a:ext uri="{FF2B5EF4-FFF2-40B4-BE49-F238E27FC236}">
                  <a16:creationId xmlns:a16="http://schemas.microsoft.com/office/drawing/2014/main" id="{75D5ACC7-FCE1-FA9B-9496-8765AC3A6C25}"/>
                </a:ext>
              </a:extLst>
            </p:cNvPr>
            <p:cNvSpPr>
              <a:spLocks noChangeShapeType="1"/>
            </p:cNvSpPr>
            <p:nvPr/>
          </p:nvSpPr>
          <p:spPr bwMode="auto">
            <a:xfrm flipH="1">
              <a:off x="4171950" y="2743200"/>
              <a:ext cx="285750" cy="342770"/>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a typeface="+mn-ea"/>
                <a:cs typeface="Arial"/>
                <a:sym typeface="Arial"/>
              </a:endParaRPr>
            </a:p>
          </p:txBody>
        </p:sp>
        <p:cxnSp>
          <p:nvCxnSpPr>
            <p:cNvPr id="44" name="Straight Connector 43">
              <a:extLst>
                <a:ext uri="{FF2B5EF4-FFF2-40B4-BE49-F238E27FC236}">
                  <a16:creationId xmlns:a16="http://schemas.microsoft.com/office/drawing/2014/main" id="{15B76EEB-B616-CADC-8D32-36D001F69518}"/>
                </a:ext>
              </a:extLst>
            </p:cNvPr>
            <p:cNvCxnSpPr>
              <a:stCxn id="41" idx="2"/>
              <a:endCxn id="40" idx="2"/>
            </p:cNvCxnSpPr>
            <p:nvPr/>
          </p:nvCxnSpPr>
          <p:spPr bwMode="auto">
            <a:xfrm>
              <a:off x="4171950" y="3085970"/>
              <a:ext cx="0" cy="34277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grpSp>
      <p:grpSp>
        <p:nvGrpSpPr>
          <p:cNvPr id="21" name="Group 51">
            <a:extLst>
              <a:ext uri="{FF2B5EF4-FFF2-40B4-BE49-F238E27FC236}">
                <a16:creationId xmlns:a16="http://schemas.microsoft.com/office/drawing/2014/main" id="{13F90DD9-0507-612E-389C-F25F942C5145}"/>
              </a:ext>
            </a:extLst>
          </p:cNvPr>
          <p:cNvGrpSpPr>
            <a:grpSpLocks/>
          </p:cNvGrpSpPr>
          <p:nvPr/>
        </p:nvGrpSpPr>
        <p:grpSpPr bwMode="auto">
          <a:xfrm>
            <a:off x="3917950" y="2915861"/>
            <a:ext cx="571500" cy="685800"/>
            <a:chOff x="3886200" y="2743200"/>
            <a:chExt cx="571500" cy="685540"/>
          </a:xfrm>
        </p:grpSpPr>
        <p:sp>
          <p:nvSpPr>
            <p:cNvPr id="35" name="Rectangle 18">
              <a:extLst>
                <a:ext uri="{FF2B5EF4-FFF2-40B4-BE49-F238E27FC236}">
                  <a16:creationId xmlns:a16="http://schemas.microsoft.com/office/drawing/2014/main" id="{56277A12-EDFF-6C90-305F-24B988F808EF}"/>
                </a:ext>
              </a:extLst>
            </p:cNvPr>
            <p:cNvSpPr>
              <a:spLocks noChangeArrowheads="1"/>
            </p:cNvSpPr>
            <p:nvPr/>
          </p:nvSpPr>
          <p:spPr bwMode="auto">
            <a:xfrm>
              <a:off x="3886200" y="3085970"/>
              <a:ext cx="571500" cy="342770"/>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99CCFF"/>
                  </a:solidFill>
                </a14:hiddenFill>
              </a:ext>
            </a:extLst>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6" name="Rectangle 19">
              <a:extLst>
                <a:ext uri="{FF2B5EF4-FFF2-40B4-BE49-F238E27FC236}">
                  <a16:creationId xmlns:a16="http://schemas.microsoft.com/office/drawing/2014/main" id="{55A8D32B-9DFF-FB71-B7ED-9C8F602C40BD}"/>
                </a:ext>
              </a:extLst>
            </p:cNvPr>
            <p:cNvSpPr>
              <a:spLocks noChangeArrowheads="1"/>
            </p:cNvSpPr>
            <p:nvPr/>
          </p:nvSpPr>
          <p:spPr bwMode="auto">
            <a:xfrm>
              <a:off x="3886200" y="2743200"/>
              <a:ext cx="571500" cy="342770"/>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99CCFF"/>
                  </a:solidFill>
                </a14:hiddenFill>
              </a:ext>
            </a:extLst>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7" name="Line 21">
              <a:extLst>
                <a:ext uri="{FF2B5EF4-FFF2-40B4-BE49-F238E27FC236}">
                  <a16:creationId xmlns:a16="http://schemas.microsoft.com/office/drawing/2014/main" id="{DC9D62D7-DC54-EC6C-24E4-F8F1705D46F2}"/>
                </a:ext>
              </a:extLst>
            </p:cNvPr>
            <p:cNvSpPr>
              <a:spLocks noChangeShapeType="1"/>
            </p:cNvSpPr>
            <p:nvPr/>
          </p:nvSpPr>
          <p:spPr bwMode="auto">
            <a:xfrm>
              <a:off x="3886200" y="2743200"/>
              <a:ext cx="285750" cy="342770"/>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8" name="Line 22">
              <a:extLst>
                <a:ext uri="{FF2B5EF4-FFF2-40B4-BE49-F238E27FC236}">
                  <a16:creationId xmlns:a16="http://schemas.microsoft.com/office/drawing/2014/main" id="{0324632E-EA2E-2ED2-740C-E64BEF4B1785}"/>
                </a:ext>
              </a:extLst>
            </p:cNvPr>
            <p:cNvSpPr>
              <a:spLocks noChangeShapeType="1"/>
            </p:cNvSpPr>
            <p:nvPr/>
          </p:nvSpPr>
          <p:spPr bwMode="auto">
            <a:xfrm flipH="1">
              <a:off x="4171950" y="2743200"/>
              <a:ext cx="285750" cy="342770"/>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a typeface="+mn-ea"/>
                <a:cs typeface="Arial"/>
                <a:sym typeface="Arial"/>
              </a:endParaRPr>
            </a:p>
          </p:txBody>
        </p:sp>
        <p:cxnSp>
          <p:nvCxnSpPr>
            <p:cNvPr id="39" name="Straight Connector 38">
              <a:extLst>
                <a:ext uri="{FF2B5EF4-FFF2-40B4-BE49-F238E27FC236}">
                  <a16:creationId xmlns:a16="http://schemas.microsoft.com/office/drawing/2014/main" id="{E6C15567-7478-4D7F-6D39-7ED794A08305}"/>
                </a:ext>
              </a:extLst>
            </p:cNvPr>
            <p:cNvCxnSpPr>
              <a:stCxn id="36" idx="2"/>
              <a:endCxn id="35" idx="2"/>
            </p:cNvCxnSpPr>
            <p:nvPr/>
          </p:nvCxnSpPr>
          <p:spPr bwMode="auto">
            <a:xfrm>
              <a:off x="4171950" y="3085970"/>
              <a:ext cx="0" cy="34277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grpSp>
      <p:grpSp>
        <p:nvGrpSpPr>
          <p:cNvPr id="22" name="Group 57">
            <a:extLst>
              <a:ext uri="{FF2B5EF4-FFF2-40B4-BE49-F238E27FC236}">
                <a16:creationId xmlns:a16="http://schemas.microsoft.com/office/drawing/2014/main" id="{198D3ED4-B990-44C9-C93B-1D9D168FC54A}"/>
              </a:ext>
            </a:extLst>
          </p:cNvPr>
          <p:cNvGrpSpPr>
            <a:grpSpLocks/>
          </p:cNvGrpSpPr>
          <p:nvPr/>
        </p:nvGrpSpPr>
        <p:grpSpPr bwMode="auto">
          <a:xfrm>
            <a:off x="6356350" y="2915861"/>
            <a:ext cx="571500" cy="685800"/>
            <a:chOff x="3886200" y="2743200"/>
            <a:chExt cx="571500" cy="685540"/>
          </a:xfrm>
        </p:grpSpPr>
        <p:sp>
          <p:nvSpPr>
            <p:cNvPr id="30" name="Rectangle 18">
              <a:extLst>
                <a:ext uri="{FF2B5EF4-FFF2-40B4-BE49-F238E27FC236}">
                  <a16:creationId xmlns:a16="http://schemas.microsoft.com/office/drawing/2014/main" id="{C26D6F5C-D529-3506-C244-181046004D89}"/>
                </a:ext>
              </a:extLst>
            </p:cNvPr>
            <p:cNvSpPr>
              <a:spLocks noChangeArrowheads="1"/>
            </p:cNvSpPr>
            <p:nvPr/>
          </p:nvSpPr>
          <p:spPr bwMode="auto">
            <a:xfrm>
              <a:off x="3886200" y="3085970"/>
              <a:ext cx="571500" cy="342770"/>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99CCFF"/>
                  </a:solidFill>
                </a14:hiddenFill>
              </a:ext>
            </a:extLst>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1" name="Rectangle 19">
              <a:extLst>
                <a:ext uri="{FF2B5EF4-FFF2-40B4-BE49-F238E27FC236}">
                  <a16:creationId xmlns:a16="http://schemas.microsoft.com/office/drawing/2014/main" id="{99FF111A-52FB-FB10-247B-9890E875CC95}"/>
                </a:ext>
              </a:extLst>
            </p:cNvPr>
            <p:cNvSpPr>
              <a:spLocks noChangeArrowheads="1"/>
            </p:cNvSpPr>
            <p:nvPr/>
          </p:nvSpPr>
          <p:spPr bwMode="auto">
            <a:xfrm>
              <a:off x="3886200" y="2743200"/>
              <a:ext cx="571500" cy="342770"/>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99CCFF"/>
                  </a:solidFill>
                </a14:hiddenFill>
              </a:ext>
            </a:extLst>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2" name="Line 21">
              <a:extLst>
                <a:ext uri="{FF2B5EF4-FFF2-40B4-BE49-F238E27FC236}">
                  <a16:creationId xmlns:a16="http://schemas.microsoft.com/office/drawing/2014/main" id="{F29C6C8F-C6B3-EE29-FFDC-9983AB99E109}"/>
                </a:ext>
              </a:extLst>
            </p:cNvPr>
            <p:cNvSpPr>
              <a:spLocks noChangeShapeType="1"/>
            </p:cNvSpPr>
            <p:nvPr/>
          </p:nvSpPr>
          <p:spPr bwMode="auto">
            <a:xfrm>
              <a:off x="3886200" y="2743200"/>
              <a:ext cx="285750" cy="342770"/>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3" name="Line 22">
              <a:extLst>
                <a:ext uri="{FF2B5EF4-FFF2-40B4-BE49-F238E27FC236}">
                  <a16:creationId xmlns:a16="http://schemas.microsoft.com/office/drawing/2014/main" id="{5C3D929B-2AA8-CD29-6246-A9BF5055462F}"/>
                </a:ext>
              </a:extLst>
            </p:cNvPr>
            <p:cNvSpPr>
              <a:spLocks noChangeShapeType="1"/>
            </p:cNvSpPr>
            <p:nvPr/>
          </p:nvSpPr>
          <p:spPr bwMode="auto">
            <a:xfrm flipH="1">
              <a:off x="4171950" y="2743200"/>
              <a:ext cx="285750" cy="342770"/>
            </a:xfrm>
            <a:prstGeom prst="line">
              <a:avLst/>
            </a:prstGeom>
            <a:noFill/>
            <a:ln w="9525">
              <a:solidFill>
                <a:srgbClr val="000000"/>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a typeface="+mn-ea"/>
                <a:cs typeface="Arial"/>
                <a:sym typeface="Arial"/>
              </a:endParaRPr>
            </a:p>
          </p:txBody>
        </p:sp>
        <p:cxnSp>
          <p:nvCxnSpPr>
            <p:cNvPr id="34" name="Straight Connector 33">
              <a:extLst>
                <a:ext uri="{FF2B5EF4-FFF2-40B4-BE49-F238E27FC236}">
                  <a16:creationId xmlns:a16="http://schemas.microsoft.com/office/drawing/2014/main" id="{75235109-AA39-A5AA-6DEE-BBA5E8468B91}"/>
                </a:ext>
              </a:extLst>
            </p:cNvPr>
            <p:cNvCxnSpPr>
              <a:stCxn id="31" idx="2"/>
              <a:endCxn id="30" idx="2"/>
            </p:cNvCxnSpPr>
            <p:nvPr/>
          </p:nvCxnSpPr>
          <p:spPr bwMode="auto">
            <a:xfrm>
              <a:off x="4171950" y="3085970"/>
              <a:ext cx="0" cy="34277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grpSp>
      <p:sp>
        <p:nvSpPr>
          <p:cNvPr id="23" name="Rectangle 22">
            <a:extLst>
              <a:ext uri="{FF2B5EF4-FFF2-40B4-BE49-F238E27FC236}">
                <a16:creationId xmlns:a16="http://schemas.microsoft.com/office/drawing/2014/main" id="{B2EF04EA-B952-D814-EA8A-64CC34F70309}"/>
              </a:ext>
            </a:extLst>
          </p:cNvPr>
          <p:cNvSpPr/>
          <p:nvPr/>
        </p:nvSpPr>
        <p:spPr bwMode="auto">
          <a:xfrm>
            <a:off x="400050" y="2623761"/>
            <a:ext cx="7848600" cy="349250"/>
          </a:xfrm>
          <a:prstGeom prst="rect">
            <a:avLst/>
          </a:prstGeom>
          <a:solidFill>
            <a:srgbClr val="00B050">
              <a:alpha val="47000"/>
            </a:srgbClr>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B050"/>
              </a:solidFill>
              <a:effectLst/>
              <a:uLnTx/>
              <a:uFillTx/>
              <a:latin typeface="Arial"/>
              <a:ea typeface="+mn-ea"/>
              <a:cs typeface="Arial"/>
              <a:sym typeface="Arial"/>
            </a:endParaRPr>
          </a:p>
        </p:txBody>
      </p:sp>
      <p:sp>
        <p:nvSpPr>
          <p:cNvPr id="24" name="TextBox 23">
            <a:extLst>
              <a:ext uri="{FF2B5EF4-FFF2-40B4-BE49-F238E27FC236}">
                <a16:creationId xmlns:a16="http://schemas.microsoft.com/office/drawing/2014/main" id="{47B0AA7A-BA85-93C1-294B-0CB83EEB5C80}"/>
              </a:ext>
            </a:extLst>
          </p:cNvPr>
          <p:cNvSpPr txBox="1"/>
          <p:nvPr/>
        </p:nvSpPr>
        <p:spPr bwMode="auto">
          <a:xfrm>
            <a:off x="1555750" y="3754061"/>
            <a:ext cx="838200" cy="276225"/>
          </a:xfrm>
          <a:prstGeom prst="rect">
            <a:avLst/>
          </a:prstGeom>
          <a:noFill/>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imes"/>
                <a:ea typeface="+mn-ea"/>
                <a:cs typeface="Arial"/>
                <a:sym typeface="Arial"/>
              </a:rPr>
              <a:t>Network 1</a:t>
            </a:r>
          </a:p>
        </p:txBody>
      </p:sp>
      <p:sp>
        <p:nvSpPr>
          <p:cNvPr id="25" name="TextBox 24">
            <a:extLst>
              <a:ext uri="{FF2B5EF4-FFF2-40B4-BE49-F238E27FC236}">
                <a16:creationId xmlns:a16="http://schemas.microsoft.com/office/drawing/2014/main" id="{3E872F25-9319-1B56-38A6-98D2393C6AF7}"/>
              </a:ext>
            </a:extLst>
          </p:cNvPr>
          <p:cNvSpPr txBox="1"/>
          <p:nvPr/>
        </p:nvSpPr>
        <p:spPr bwMode="auto">
          <a:xfrm>
            <a:off x="3917950" y="3754061"/>
            <a:ext cx="1116011" cy="307777"/>
          </a:xfrm>
          <a:prstGeom prst="rect">
            <a:avLst/>
          </a:prstGeom>
          <a:noFill/>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imes"/>
                <a:ea typeface="+mn-ea"/>
                <a:cs typeface="Arial"/>
                <a:sym typeface="Arial"/>
              </a:rPr>
              <a:t>ISP Network</a:t>
            </a:r>
          </a:p>
        </p:txBody>
      </p:sp>
      <p:sp>
        <p:nvSpPr>
          <p:cNvPr id="26" name="TextBox 25">
            <a:extLst>
              <a:ext uri="{FF2B5EF4-FFF2-40B4-BE49-F238E27FC236}">
                <a16:creationId xmlns:a16="http://schemas.microsoft.com/office/drawing/2014/main" id="{B9B33533-8B8A-9FDB-C84E-9511CD3679E3}"/>
              </a:ext>
            </a:extLst>
          </p:cNvPr>
          <p:cNvSpPr txBox="1"/>
          <p:nvPr/>
        </p:nvSpPr>
        <p:spPr bwMode="auto">
          <a:xfrm>
            <a:off x="6356350" y="3754061"/>
            <a:ext cx="1576072" cy="307777"/>
          </a:xfrm>
          <a:prstGeom prst="rect">
            <a:avLst/>
          </a:prstGeom>
          <a:noFill/>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imes"/>
                <a:ea typeface="+mn-ea"/>
                <a:cs typeface="Arial"/>
                <a:sym typeface="Arial"/>
              </a:rPr>
              <a:t>Corporate Network</a:t>
            </a:r>
          </a:p>
        </p:txBody>
      </p:sp>
      <p:sp>
        <p:nvSpPr>
          <p:cNvPr id="27" name="Oval 26">
            <a:extLst>
              <a:ext uri="{FF2B5EF4-FFF2-40B4-BE49-F238E27FC236}">
                <a16:creationId xmlns:a16="http://schemas.microsoft.com/office/drawing/2014/main" id="{EF33EAB3-3D06-965A-F727-37821457053A}"/>
              </a:ext>
            </a:extLst>
          </p:cNvPr>
          <p:cNvSpPr/>
          <p:nvPr/>
        </p:nvSpPr>
        <p:spPr bwMode="auto">
          <a:xfrm>
            <a:off x="5568950" y="2915861"/>
            <a:ext cx="2159000" cy="406400"/>
          </a:xfrm>
          <a:prstGeom prst="ellipse">
            <a:avLst/>
          </a:prstGeom>
          <a:solidFill>
            <a:srgbClr val="3366FF">
              <a:alpha val="60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8" name="Oval 27">
            <a:extLst>
              <a:ext uri="{FF2B5EF4-FFF2-40B4-BE49-F238E27FC236}">
                <a16:creationId xmlns:a16="http://schemas.microsoft.com/office/drawing/2014/main" id="{58DD61CD-CCF9-F0E7-7E3A-508F1B7D2F27}"/>
              </a:ext>
            </a:extLst>
          </p:cNvPr>
          <p:cNvSpPr/>
          <p:nvPr/>
        </p:nvSpPr>
        <p:spPr bwMode="auto">
          <a:xfrm>
            <a:off x="3168650" y="2890461"/>
            <a:ext cx="2159000" cy="406400"/>
          </a:xfrm>
          <a:prstGeom prst="ellipse">
            <a:avLst/>
          </a:prstGeom>
          <a:solidFill>
            <a:srgbClr val="3366FF">
              <a:alpha val="60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9" name="Oval 28">
            <a:extLst>
              <a:ext uri="{FF2B5EF4-FFF2-40B4-BE49-F238E27FC236}">
                <a16:creationId xmlns:a16="http://schemas.microsoft.com/office/drawing/2014/main" id="{0D919E86-2B3C-38EB-2DFD-C40309749B90}"/>
              </a:ext>
            </a:extLst>
          </p:cNvPr>
          <p:cNvSpPr/>
          <p:nvPr/>
        </p:nvSpPr>
        <p:spPr bwMode="auto">
          <a:xfrm>
            <a:off x="1085850" y="2865061"/>
            <a:ext cx="1828800" cy="406400"/>
          </a:xfrm>
          <a:prstGeom prst="ellipse">
            <a:avLst/>
          </a:prstGeom>
          <a:solidFill>
            <a:srgbClr val="3366FF">
              <a:alpha val="60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a:ea typeface="+mn-ea"/>
              <a:cs typeface="Arial"/>
              <a:sym typeface="Arial"/>
            </a:endParaRPr>
          </a:p>
        </p:txBody>
      </p:sp>
      <p:grpSp>
        <p:nvGrpSpPr>
          <p:cNvPr id="107539" name="Group 107538">
            <a:extLst>
              <a:ext uri="{FF2B5EF4-FFF2-40B4-BE49-F238E27FC236}">
                <a16:creationId xmlns:a16="http://schemas.microsoft.com/office/drawing/2014/main" id="{E20E2119-6701-7752-6733-E647622DC68F}"/>
              </a:ext>
            </a:extLst>
          </p:cNvPr>
          <p:cNvGrpSpPr/>
          <p:nvPr/>
        </p:nvGrpSpPr>
        <p:grpSpPr>
          <a:xfrm>
            <a:off x="5568950" y="1766646"/>
            <a:ext cx="1625766" cy="869815"/>
            <a:chOff x="5568950" y="1766646"/>
            <a:chExt cx="1625766" cy="869815"/>
          </a:xfrm>
        </p:grpSpPr>
        <p:sp>
          <p:nvSpPr>
            <p:cNvPr id="107524" name="TextBox 107523">
              <a:extLst>
                <a:ext uri="{FF2B5EF4-FFF2-40B4-BE49-F238E27FC236}">
                  <a16:creationId xmlns:a16="http://schemas.microsoft.com/office/drawing/2014/main" id="{D192CE43-6741-A603-F7A3-DF3BF1346172}"/>
                </a:ext>
              </a:extLst>
            </p:cNvPr>
            <p:cNvSpPr txBox="1"/>
            <p:nvPr/>
          </p:nvSpPr>
          <p:spPr>
            <a:xfrm>
              <a:off x="5568950" y="1766646"/>
              <a:ext cx="1625766"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But not local Structure.</a:t>
              </a:r>
            </a:p>
          </p:txBody>
        </p:sp>
        <p:cxnSp>
          <p:nvCxnSpPr>
            <p:cNvPr id="107526" name="Straight Arrow Connector 107525">
              <a:extLst>
                <a:ext uri="{FF2B5EF4-FFF2-40B4-BE49-F238E27FC236}">
                  <a16:creationId xmlns:a16="http://schemas.microsoft.com/office/drawing/2014/main" id="{4557AC2A-7428-FC23-735E-65BB1342D8D4}"/>
                </a:ext>
              </a:extLst>
            </p:cNvPr>
            <p:cNvCxnSpPr>
              <a:cxnSpLocks/>
            </p:cNvCxnSpPr>
            <p:nvPr/>
          </p:nvCxnSpPr>
          <p:spPr>
            <a:xfrm>
              <a:off x="6499225" y="2045911"/>
              <a:ext cx="0" cy="59055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07528" name="TextBox 107527">
            <a:extLst>
              <a:ext uri="{FF2B5EF4-FFF2-40B4-BE49-F238E27FC236}">
                <a16:creationId xmlns:a16="http://schemas.microsoft.com/office/drawing/2014/main" id="{66571A14-85F7-F04A-0143-1216906B3205}"/>
              </a:ext>
            </a:extLst>
          </p:cNvPr>
          <p:cNvSpPr txBox="1"/>
          <p:nvPr/>
        </p:nvSpPr>
        <p:spPr>
          <a:xfrm>
            <a:off x="4913636" y="3980249"/>
            <a:ext cx="1872928"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IP addresses assigned to reflect the structure of the network</a:t>
            </a:r>
          </a:p>
        </p:txBody>
      </p:sp>
      <p:cxnSp>
        <p:nvCxnSpPr>
          <p:cNvPr id="107530" name="Straight Arrow Connector 107529">
            <a:extLst>
              <a:ext uri="{FF2B5EF4-FFF2-40B4-BE49-F238E27FC236}">
                <a16:creationId xmlns:a16="http://schemas.microsoft.com/office/drawing/2014/main" id="{24AF7EEF-FC99-BC1E-5292-17C9AD74F42A}"/>
              </a:ext>
            </a:extLst>
          </p:cNvPr>
          <p:cNvCxnSpPr>
            <a:cxnSpLocks/>
            <a:stCxn id="107528" idx="0"/>
          </p:cNvCxnSpPr>
          <p:nvPr/>
        </p:nvCxnSpPr>
        <p:spPr>
          <a:xfrm flipV="1">
            <a:off x="5850100" y="3315911"/>
            <a:ext cx="372900" cy="66433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7531" name="TextBox 107530">
            <a:extLst>
              <a:ext uri="{FF2B5EF4-FFF2-40B4-BE49-F238E27FC236}">
                <a16:creationId xmlns:a16="http://schemas.microsoft.com/office/drawing/2014/main" id="{14AF923F-D776-9FBB-6932-0775B7E09CC3}"/>
              </a:ext>
            </a:extLst>
          </p:cNvPr>
          <p:cNvSpPr txBox="1"/>
          <p:nvPr/>
        </p:nvSpPr>
        <p:spPr>
          <a:xfrm>
            <a:off x="5059552" y="2219953"/>
            <a:ext cx="768159"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Gateway A</a:t>
            </a:r>
          </a:p>
        </p:txBody>
      </p:sp>
      <p:grpSp>
        <p:nvGrpSpPr>
          <p:cNvPr id="107540" name="Group 107539">
            <a:extLst>
              <a:ext uri="{FF2B5EF4-FFF2-40B4-BE49-F238E27FC236}">
                <a16:creationId xmlns:a16="http://schemas.microsoft.com/office/drawing/2014/main" id="{A9DBD43A-CFEC-3287-57C3-D9D37576026F}"/>
              </a:ext>
            </a:extLst>
          </p:cNvPr>
          <p:cNvGrpSpPr/>
          <p:nvPr/>
        </p:nvGrpSpPr>
        <p:grpSpPr>
          <a:xfrm>
            <a:off x="2393950" y="3119061"/>
            <a:ext cx="3175000" cy="1556732"/>
            <a:chOff x="2393950" y="3119061"/>
            <a:chExt cx="3175000" cy="1556732"/>
          </a:xfrm>
        </p:grpSpPr>
        <p:sp>
          <p:nvSpPr>
            <p:cNvPr id="5" name="TextBox 4">
              <a:extLst>
                <a:ext uri="{FF2B5EF4-FFF2-40B4-BE49-F238E27FC236}">
                  <a16:creationId xmlns:a16="http://schemas.microsoft.com/office/drawing/2014/main" id="{E5CBC682-F365-0704-316C-9B3AFC48127B}"/>
                </a:ext>
              </a:extLst>
            </p:cNvPr>
            <p:cNvSpPr txBox="1"/>
            <p:nvPr/>
          </p:nvSpPr>
          <p:spPr>
            <a:xfrm>
              <a:off x="2435214" y="4029462"/>
              <a:ext cx="1714511"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All Network Layers are effectively private address spaces</a:t>
              </a:r>
            </a:p>
          </p:txBody>
        </p:sp>
        <p:cxnSp>
          <p:nvCxnSpPr>
            <p:cNvPr id="9" name="Straight Arrow Connector 8">
              <a:extLst>
                <a:ext uri="{FF2B5EF4-FFF2-40B4-BE49-F238E27FC236}">
                  <a16:creationId xmlns:a16="http://schemas.microsoft.com/office/drawing/2014/main" id="{33B21FB1-41D3-FC01-FD1D-1718F24D1E96}"/>
                </a:ext>
              </a:extLst>
            </p:cNvPr>
            <p:cNvCxnSpPr>
              <a:cxnSpLocks/>
              <a:stCxn id="5" idx="0"/>
            </p:cNvCxnSpPr>
            <p:nvPr/>
          </p:nvCxnSpPr>
          <p:spPr>
            <a:xfrm flipH="1" flipV="1">
              <a:off x="2393950" y="3306009"/>
              <a:ext cx="898520" cy="723453"/>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53" name="Straight Arrow Connector 52">
              <a:extLst>
                <a:ext uri="{FF2B5EF4-FFF2-40B4-BE49-F238E27FC236}">
                  <a16:creationId xmlns:a16="http://schemas.microsoft.com/office/drawing/2014/main" id="{43A6B9AA-E39D-FC2B-6D73-C86128D0A96E}"/>
                </a:ext>
              </a:extLst>
            </p:cNvPr>
            <p:cNvCxnSpPr>
              <a:cxnSpLocks/>
              <a:stCxn id="5" idx="0"/>
            </p:cNvCxnSpPr>
            <p:nvPr/>
          </p:nvCxnSpPr>
          <p:spPr>
            <a:xfrm flipV="1">
              <a:off x="3292470" y="3296861"/>
              <a:ext cx="365449" cy="732601"/>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cxnSp>
          <p:nvCxnSpPr>
            <p:cNvPr id="107521" name="Straight Arrow Connector 107520">
              <a:extLst>
                <a:ext uri="{FF2B5EF4-FFF2-40B4-BE49-F238E27FC236}">
                  <a16:creationId xmlns:a16="http://schemas.microsoft.com/office/drawing/2014/main" id="{6A7845C7-2A19-EEDC-CFBA-602CA07C502C}"/>
                </a:ext>
              </a:extLst>
            </p:cNvPr>
            <p:cNvCxnSpPr>
              <a:cxnSpLocks/>
              <a:stCxn id="5" idx="0"/>
              <a:endCxn id="27" idx="2"/>
            </p:cNvCxnSpPr>
            <p:nvPr/>
          </p:nvCxnSpPr>
          <p:spPr>
            <a:xfrm flipV="1">
              <a:off x="3292470" y="3119061"/>
              <a:ext cx="2276480" cy="910401"/>
            </a:xfrm>
            <a:prstGeom prst="straightConnector1">
              <a:avLst/>
            </a:prstGeom>
            <a:ln w="19050">
              <a:tailEnd type="triangle"/>
            </a:ln>
          </p:spPr>
          <p:style>
            <a:lnRef idx="2">
              <a:schemeClr val="dk1"/>
            </a:lnRef>
            <a:fillRef idx="0">
              <a:schemeClr val="dk1"/>
            </a:fillRef>
            <a:effectRef idx="1">
              <a:schemeClr val="dk1"/>
            </a:effectRef>
            <a:fontRef idx="minor">
              <a:schemeClr val="tx1"/>
            </a:fontRef>
          </p:style>
        </p:cxnSp>
      </p:grpSp>
      <p:cxnSp>
        <p:nvCxnSpPr>
          <p:cNvPr id="107525" name="Straight Connector 107524">
            <a:extLst>
              <a:ext uri="{FF2B5EF4-FFF2-40B4-BE49-F238E27FC236}">
                <a16:creationId xmlns:a16="http://schemas.microsoft.com/office/drawing/2014/main" id="{9321B9FB-DC77-98E7-2B10-422FC3BC7583}"/>
              </a:ext>
            </a:extLst>
          </p:cNvPr>
          <p:cNvCxnSpPr>
            <a:cxnSpLocks/>
          </p:cNvCxnSpPr>
          <p:nvPr/>
        </p:nvCxnSpPr>
        <p:spPr>
          <a:xfrm>
            <a:off x="857250" y="6787243"/>
            <a:ext cx="774065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7538" name="Group 107537">
            <a:extLst>
              <a:ext uri="{FF2B5EF4-FFF2-40B4-BE49-F238E27FC236}">
                <a16:creationId xmlns:a16="http://schemas.microsoft.com/office/drawing/2014/main" id="{425F543B-4532-FB0B-EA90-831CDDD0B680}"/>
              </a:ext>
            </a:extLst>
          </p:cNvPr>
          <p:cNvGrpSpPr/>
          <p:nvPr/>
        </p:nvGrpSpPr>
        <p:grpSpPr>
          <a:xfrm>
            <a:off x="1298576" y="1731665"/>
            <a:ext cx="1762124" cy="888289"/>
            <a:chOff x="1298576" y="1731665"/>
            <a:chExt cx="1762124" cy="888289"/>
          </a:xfrm>
        </p:grpSpPr>
        <p:sp>
          <p:nvSpPr>
            <p:cNvPr id="107535" name="TextBox 107534">
              <a:extLst>
                <a:ext uri="{FF2B5EF4-FFF2-40B4-BE49-F238E27FC236}">
                  <a16:creationId xmlns:a16="http://schemas.microsoft.com/office/drawing/2014/main" id="{4BBA835E-F1B3-3C81-DA7F-831A090B5162}"/>
                </a:ext>
              </a:extLst>
            </p:cNvPr>
            <p:cNvSpPr txBox="1"/>
            <p:nvPr/>
          </p:nvSpPr>
          <p:spPr>
            <a:xfrm>
              <a:off x="1298576" y="1731665"/>
              <a:ext cx="1762124"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Internet Layer Addresses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Arial"/>
                </a:rPr>
                <a:t>reflects internet structure</a:t>
              </a:r>
            </a:p>
          </p:txBody>
        </p:sp>
        <p:cxnSp>
          <p:nvCxnSpPr>
            <p:cNvPr id="107537" name="Straight Arrow Connector 107536">
              <a:extLst>
                <a:ext uri="{FF2B5EF4-FFF2-40B4-BE49-F238E27FC236}">
                  <a16:creationId xmlns:a16="http://schemas.microsoft.com/office/drawing/2014/main" id="{1E6E6847-8A0B-C89F-5F0F-D45614867B1B}"/>
                </a:ext>
              </a:extLst>
            </p:cNvPr>
            <p:cNvCxnSpPr>
              <a:stCxn id="107535" idx="2"/>
            </p:cNvCxnSpPr>
            <p:nvPr/>
          </p:nvCxnSpPr>
          <p:spPr>
            <a:xfrm>
              <a:off x="2179638" y="2193330"/>
              <a:ext cx="14287" cy="426624"/>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44416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753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753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754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D180A439-984B-484D-B613-3FE58FC306E2}" type="datetime3">
              <a:rPr lang="en-US"/>
              <a:pPr>
                <a:defRPr/>
              </a:pPr>
              <a:t>14 January 2026</a:t>
            </a:fld>
            <a:endParaRPr lang="en-US"/>
          </a:p>
        </p:txBody>
      </p:sp>
      <p:sp>
        <p:nvSpPr>
          <p:cNvPr id="5" name="Footer Placeholder 4"/>
          <p:cNvSpPr>
            <a:spLocks noGrp="1"/>
          </p:cNvSpPr>
          <p:nvPr>
            <p:ph type="ftr" sz="quarter" idx="11"/>
          </p:nvPr>
        </p:nvSpPr>
        <p:spPr>
          <a:xfrm>
            <a:off x="3124200" y="6324600"/>
            <a:ext cx="2895600" cy="457200"/>
          </a:xfrm>
        </p:spPr>
        <p:txBody>
          <a:bodyPr/>
          <a:lstStyle/>
          <a:p>
            <a:pPr>
              <a:defRPr/>
            </a:pPr>
            <a:r>
              <a:rPr lang="en-US"/>
              <a:t>.</a:t>
            </a:r>
          </a:p>
        </p:txBody>
      </p:sp>
      <p:sp>
        <p:nvSpPr>
          <p:cNvPr id="6" name="Slide Number Placeholder 5"/>
          <p:cNvSpPr>
            <a:spLocks noGrp="1"/>
          </p:cNvSpPr>
          <p:nvPr>
            <p:ph type="sldNum" sz="quarter" idx="12"/>
          </p:nvPr>
        </p:nvSpPr>
        <p:spPr/>
        <p:txBody>
          <a:bodyPr/>
          <a:lstStyle/>
          <a:p>
            <a:pPr>
              <a:defRPr/>
            </a:pPr>
            <a:fld id="{B221294B-6535-9E41-A7CC-7A325BE7427A}" type="slidenum">
              <a:rPr lang="en-US"/>
              <a:pPr>
                <a:defRPr/>
              </a:pPr>
              <a:t>41</a:t>
            </a:fld>
            <a:endParaRPr lang="en-US"/>
          </a:p>
        </p:txBody>
      </p:sp>
      <p:sp>
        <p:nvSpPr>
          <p:cNvPr id="551938" name="Rectangle 2"/>
          <p:cNvSpPr>
            <a:spLocks noGrp="1" noChangeArrowheads="1"/>
          </p:cNvSpPr>
          <p:nvPr>
            <p:ph type="title"/>
          </p:nvPr>
        </p:nvSpPr>
        <p:spPr/>
        <p:txBody>
          <a:bodyPr/>
          <a:lstStyle/>
          <a:p>
            <a:pPr>
              <a:defRPr/>
            </a:pPr>
            <a:r>
              <a:rPr lang="en-US" sz="3200">
                <a:cs typeface="+mj-cs"/>
              </a:rPr>
              <a:t>Wanna Hear the Real P*sser?</a:t>
            </a:r>
          </a:p>
        </p:txBody>
      </p:sp>
      <p:sp>
        <p:nvSpPr>
          <p:cNvPr id="551939" name="Rectangle 3"/>
          <p:cNvSpPr>
            <a:spLocks noGrp="1" noChangeArrowheads="1"/>
          </p:cNvSpPr>
          <p:nvPr>
            <p:ph type="body" idx="1"/>
          </p:nvPr>
        </p:nvSpPr>
        <p:spPr>
          <a:xfrm>
            <a:off x="685800" y="1752600"/>
            <a:ext cx="8153400" cy="4038600"/>
          </a:xfrm>
        </p:spPr>
        <p:txBody>
          <a:bodyPr/>
          <a:lstStyle/>
          <a:p>
            <a:pPr>
              <a:defRPr/>
            </a:pPr>
            <a:r>
              <a:rPr lang="en-US" sz="2000" dirty="0">
                <a:cs typeface="+mn-cs"/>
              </a:rPr>
              <a:t>We had the right answer in 1992.</a:t>
            </a:r>
          </a:p>
          <a:p>
            <a:pPr marL="1085850" lvl="2">
              <a:defRPr/>
            </a:pPr>
            <a:r>
              <a:rPr lang="en-US" sz="1600" dirty="0"/>
              <a:t>The answer we had known since 1972.</a:t>
            </a:r>
          </a:p>
          <a:p>
            <a:pPr lvl="1">
              <a:defRPr/>
            </a:pPr>
            <a:r>
              <a:rPr lang="en-US" sz="1800" dirty="0"/>
              <a:t>It was rejected by the IETF.</a:t>
            </a:r>
          </a:p>
          <a:p>
            <a:pPr>
              <a:defRPr/>
            </a:pPr>
            <a:r>
              <a:rPr lang="en-US" sz="2000" dirty="0">
                <a:cs typeface="+mn-cs"/>
              </a:rPr>
              <a:t>To add insult to injury, it was DEPLOYED and Operational in the routers.</a:t>
            </a:r>
          </a:p>
          <a:p>
            <a:pPr lvl="1">
              <a:defRPr/>
            </a:pPr>
            <a:r>
              <a:rPr lang="en-US" sz="1800" dirty="0"/>
              <a:t>Transition had already begun. Instead, it is 30 years later and still waiting</a:t>
            </a:r>
          </a:p>
          <a:p>
            <a:pPr lvl="1">
              <a:defRPr/>
            </a:pPr>
            <a:r>
              <a:rPr lang="en-US" sz="1800" dirty="0"/>
              <a:t>Rather than have something that works, we spent 100s of millions on a small incremental change that provides no benefit to your bottom line and is fundamentally flawed.</a:t>
            </a:r>
          </a:p>
          <a:p>
            <a:pPr lvl="1">
              <a:defRPr/>
            </a:pPr>
            <a:r>
              <a:rPr lang="en-US" sz="1800" dirty="0"/>
              <a:t>In 1992, there was more IPv7 (CLNP) deployed in the Internet, than IPv6 in 2014!</a:t>
            </a:r>
          </a:p>
          <a:p>
            <a:pPr lvl="1">
              <a:defRPr/>
            </a:pPr>
            <a:r>
              <a:rPr lang="en-US" sz="1800" dirty="0"/>
              <a:t>And a whole myth being built as to why this was good.</a:t>
            </a:r>
          </a:p>
          <a:p>
            <a:pPr lvl="1">
              <a:buFontTx/>
              <a:buNone/>
              <a:defRPr/>
            </a:pPr>
            <a:endParaRPr lang="en-US" sz="2000" dirty="0"/>
          </a:p>
          <a:p>
            <a:pPr lvl="1">
              <a:defRPr/>
            </a:pPr>
            <a:r>
              <a:rPr lang="en-US" sz="1800" dirty="0"/>
              <a:t>You just can</a:t>
            </a:r>
            <a:r>
              <a:rPr lang="en-US" sz="1800" dirty="0">
                <a:latin typeface="Arial"/>
              </a:rPr>
              <a:t>’</a:t>
            </a:r>
            <a:r>
              <a:rPr lang="en-US" sz="1800" dirty="0"/>
              <a:t>t make stuff like this up!</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193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5193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5193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5193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5193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51939">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51939">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51939">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5193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1939"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Date Placeholder 3"/>
          <p:cNvSpPr>
            <a:spLocks noGrp="1"/>
          </p:cNvSpPr>
          <p:nvPr>
            <p:ph type="dt" sz="quarter" idx="10"/>
          </p:nvPr>
        </p:nvSpPr>
        <p:spPr/>
        <p:txBody>
          <a:bodyPr/>
          <a:lstStyle/>
          <a:p>
            <a:pPr>
              <a:defRPr/>
            </a:pPr>
            <a:fld id="{6C7E9E6B-08E6-5C40-B18D-645EEE068D62}" type="datetime3">
              <a:rPr lang="en-US"/>
              <a:pPr>
                <a:defRPr/>
              </a:pPr>
              <a:t>14 January 2026</a:t>
            </a:fld>
            <a:endParaRPr lang="en-US"/>
          </a:p>
        </p:txBody>
      </p:sp>
      <p:sp>
        <p:nvSpPr>
          <p:cNvPr id="67" name="Footer Placeholder 4"/>
          <p:cNvSpPr>
            <a:spLocks noGrp="1"/>
          </p:cNvSpPr>
          <p:nvPr>
            <p:ph type="ftr" sz="quarter" idx="11"/>
          </p:nvPr>
        </p:nvSpPr>
        <p:spPr/>
        <p:txBody>
          <a:bodyPr/>
          <a:lstStyle/>
          <a:p>
            <a:pPr>
              <a:defRPr/>
            </a:pPr>
            <a:r>
              <a:rPr lang="en-US"/>
              <a:t>.</a:t>
            </a:r>
          </a:p>
        </p:txBody>
      </p:sp>
      <p:sp>
        <p:nvSpPr>
          <p:cNvPr id="68" name="Slide Number Placeholder 5"/>
          <p:cNvSpPr>
            <a:spLocks noGrp="1"/>
          </p:cNvSpPr>
          <p:nvPr>
            <p:ph type="sldNum" sz="quarter" idx="12"/>
          </p:nvPr>
        </p:nvSpPr>
        <p:spPr/>
        <p:txBody>
          <a:bodyPr/>
          <a:lstStyle/>
          <a:p>
            <a:pPr>
              <a:defRPr/>
            </a:pPr>
            <a:fld id="{F3F54EBE-2B75-594F-8385-996971039D84}" type="slidenum">
              <a:rPr lang="en-US"/>
              <a:pPr>
                <a:defRPr/>
              </a:pPr>
              <a:t>42</a:t>
            </a:fld>
            <a:endParaRPr lang="en-US"/>
          </a:p>
        </p:txBody>
      </p:sp>
      <p:sp>
        <p:nvSpPr>
          <p:cNvPr id="553986" name="Rectangle 2"/>
          <p:cNvSpPr>
            <a:spLocks noGrp="1" noChangeArrowheads="1"/>
          </p:cNvSpPr>
          <p:nvPr>
            <p:ph type="title"/>
          </p:nvPr>
        </p:nvSpPr>
        <p:spPr>
          <a:xfrm>
            <a:off x="685800" y="381000"/>
            <a:ext cx="7772400" cy="838200"/>
          </a:xfrm>
        </p:spPr>
        <p:txBody>
          <a:bodyPr/>
          <a:lstStyle/>
          <a:p>
            <a:pPr>
              <a:defRPr/>
            </a:pPr>
            <a:r>
              <a:rPr lang="en-US" sz="2000">
                <a:cs typeface="+mj-cs"/>
              </a:rPr>
              <a:t>The Problem was Never Separating Locator from Identifier. </a:t>
            </a:r>
            <a:br>
              <a:rPr lang="en-US" sz="2000">
                <a:cs typeface="+mj-cs"/>
              </a:rPr>
            </a:br>
            <a:r>
              <a:rPr lang="en-US" sz="2000">
                <a:cs typeface="+mj-cs"/>
              </a:rPr>
              <a:t>It was and is at least</a:t>
            </a:r>
            <a:br>
              <a:rPr lang="en-US" sz="2000">
                <a:cs typeface="+mj-cs"/>
              </a:rPr>
            </a:br>
            <a:r>
              <a:rPr lang="en-US" sz="2800">
                <a:cs typeface="+mj-cs"/>
              </a:rPr>
              <a:t>Separating Logical Location from Physical Location</a:t>
            </a:r>
          </a:p>
        </p:txBody>
      </p:sp>
      <p:sp>
        <p:nvSpPr>
          <p:cNvPr id="553987" name="Rectangle 3"/>
          <p:cNvSpPr>
            <a:spLocks noGrp="1" noChangeArrowheads="1"/>
          </p:cNvSpPr>
          <p:nvPr>
            <p:ph type="body" idx="1"/>
          </p:nvPr>
        </p:nvSpPr>
        <p:spPr>
          <a:xfrm>
            <a:off x="685800" y="1371600"/>
            <a:ext cx="7772400" cy="2057400"/>
          </a:xfrm>
        </p:spPr>
        <p:txBody>
          <a:bodyPr/>
          <a:lstStyle/>
          <a:p>
            <a:pPr>
              <a:defRPr/>
            </a:pPr>
            <a:r>
              <a:rPr lang="en-US" sz="1600" dirty="0">
                <a:cs typeface="+mn-cs"/>
              </a:rPr>
              <a:t>It is impossible to locate something without also identifying it.</a:t>
            </a:r>
          </a:p>
          <a:p>
            <a:pPr>
              <a:defRPr/>
            </a:pPr>
            <a:r>
              <a:rPr lang="en-US" sz="1600" dirty="0">
                <a:cs typeface="+mn-cs"/>
              </a:rPr>
              <a:t>This pseudo-problem arises from not having a complete address architecture.</a:t>
            </a:r>
          </a:p>
          <a:p>
            <a:pPr lvl="1">
              <a:defRPr/>
            </a:pPr>
            <a:r>
              <a:rPr lang="en-US" sz="1400" dirty="0"/>
              <a:t>And creates enough epicycles upon epicycles to make </a:t>
            </a:r>
            <a:r>
              <a:rPr lang="en-US" sz="1400" dirty="0" err="1"/>
              <a:t>Clavius</a:t>
            </a:r>
            <a:r>
              <a:rPr lang="en-US" sz="1400" dirty="0"/>
              <a:t> proud</a:t>
            </a:r>
          </a:p>
          <a:p>
            <a:pPr>
              <a:defRPr/>
            </a:pPr>
            <a:r>
              <a:rPr lang="en-US" sz="1600" dirty="0">
                <a:cs typeface="+mn-cs"/>
              </a:rPr>
              <a:t>And from not being precise in your terms, Or as Wittgenstein said,</a:t>
            </a:r>
          </a:p>
          <a:p>
            <a:pPr lvl="1">
              <a:defRPr/>
            </a:pPr>
            <a:r>
              <a:rPr lang="ja-JP" altLang="en-US" sz="1400" dirty="0">
                <a:latin typeface="Arial"/>
              </a:rPr>
              <a:t>“</a:t>
            </a:r>
            <a:r>
              <a:rPr lang="en-US" sz="1400" dirty="0"/>
              <a:t>7  That of which we can not speak, we must pass over in silence.</a:t>
            </a:r>
            <a:r>
              <a:rPr lang="ja-JP" altLang="en-US" sz="1400" dirty="0">
                <a:latin typeface="Arial"/>
              </a:rPr>
              <a:t>”</a:t>
            </a:r>
            <a:endParaRPr lang="en-US" sz="1400" dirty="0"/>
          </a:p>
          <a:p>
            <a:pPr>
              <a:defRPr/>
            </a:pPr>
            <a:r>
              <a:rPr lang="en-US" sz="1600" dirty="0">
                <a:cs typeface="+mn-cs"/>
              </a:rPr>
              <a:t>But we will give O</a:t>
            </a:r>
            <a:r>
              <a:rPr lang="en-US" sz="1600" dirty="0">
                <a:latin typeface="Arial"/>
                <a:cs typeface="+mn-cs"/>
              </a:rPr>
              <a:t>’</a:t>
            </a:r>
            <a:r>
              <a:rPr lang="en-US" sz="1600" dirty="0">
                <a:cs typeface="+mn-cs"/>
              </a:rPr>
              <a:t>Dell the last word:</a:t>
            </a:r>
            <a:endParaRPr lang="en-US" sz="1800" dirty="0">
              <a:cs typeface="+mn-cs"/>
            </a:endParaRPr>
          </a:p>
          <a:p>
            <a:pPr lvl="1">
              <a:defRPr/>
            </a:pPr>
            <a:r>
              <a:rPr lang="en-US" sz="1400" dirty="0"/>
              <a:t>When all you have is a hammer, everything looks like your thumb</a:t>
            </a:r>
          </a:p>
        </p:txBody>
      </p:sp>
      <p:sp>
        <p:nvSpPr>
          <p:cNvPr id="553988" name="Text Box 4"/>
          <p:cNvSpPr txBox="1">
            <a:spLocks noChangeArrowheads="1"/>
          </p:cNvSpPr>
          <p:nvPr/>
        </p:nvSpPr>
        <p:spPr bwMode="auto">
          <a:xfrm>
            <a:off x="4343400" y="4648200"/>
            <a:ext cx="1487488"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defRPr/>
            </a:pPr>
            <a:r>
              <a:rPr lang="en-US" b="0">
                <a:cs typeface="+mn-cs"/>
              </a:rPr>
              <a:t>Location dependent,</a:t>
            </a:r>
          </a:p>
          <a:p>
            <a:pPr algn="ctr">
              <a:defRPr/>
            </a:pPr>
            <a:r>
              <a:rPr lang="en-US" b="0">
                <a:cs typeface="+mn-cs"/>
              </a:rPr>
              <a:t>Route independent</a:t>
            </a:r>
          </a:p>
        </p:txBody>
      </p:sp>
      <p:sp>
        <p:nvSpPr>
          <p:cNvPr id="553989" name="Text Box 5"/>
          <p:cNvSpPr txBox="1">
            <a:spLocks noChangeArrowheads="1"/>
          </p:cNvSpPr>
          <p:nvPr/>
        </p:nvSpPr>
        <p:spPr bwMode="auto">
          <a:xfrm>
            <a:off x="4343400" y="5334000"/>
            <a:ext cx="1411288"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defRPr/>
            </a:pPr>
            <a:r>
              <a:rPr lang="en-US" b="0">
                <a:cs typeface="+mn-cs"/>
              </a:rPr>
              <a:t>Route Dependent</a:t>
            </a:r>
          </a:p>
        </p:txBody>
      </p:sp>
      <p:grpSp>
        <p:nvGrpSpPr>
          <p:cNvPr id="100360" name="Group 6"/>
          <p:cNvGrpSpPr>
            <a:grpSpLocks/>
          </p:cNvGrpSpPr>
          <p:nvPr/>
        </p:nvGrpSpPr>
        <p:grpSpPr bwMode="auto">
          <a:xfrm>
            <a:off x="990600" y="3886200"/>
            <a:ext cx="3402013" cy="1676400"/>
            <a:chOff x="929" y="2592"/>
            <a:chExt cx="3360" cy="1344"/>
          </a:xfrm>
        </p:grpSpPr>
        <p:sp>
          <p:nvSpPr>
            <p:cNvPr id="553991" name="Oval 7" descr="60%"/>
            <p:cNvSpPr>
              <a:spLocks noChangeArrowheads="1"/>
            </p:cNvSpPr>
            <p:nvPr/>
          </p:nvSpPr>
          <p:spPr bwMode="auto">
            <a:xfrm>
              <a:off x="3856" y="3695"/>
              <a:ext cx="97" cy="241"/>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sp>
          <p:nvSpPr>
            <p:cNvPr id="553992" name="Oval 8" descr="60%"/>
            <p:cNvSpPr>
              <a:spLocks noChangeArrowheads="1"/>
            </p:cNvSpPr>
            <p:nvPr/>
          </p:nvSpPr>
          <p:spPr bwMode="auto">
            <a:xfrm>
              <a:off x="3185" y="3695"/>
              <a:ext cx="96" cy="241"/>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sp>
          <p:nvSpPr>
            <p:cNvPr id="553993" name="Oval 9" descr="60%"/>
            <p:cNvSpPr>
              <a:spLocks noChangeArrowheads="1"/>
            </p:cNvSpPr>
            <p:nvPr/>
          </p:nvSpPr>
          <p:spPr bwMode="auto">
            <a:xfrm>
              <a:off x="2801" y="3695"/>
              <a:ext cx="96" cy="241"/>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sp>
          <p:nvSpPr>
            <p:cNvPr id="553994" name="Oval 10" descr="60%"/>
            <p:cNvSpPr>
              <a:spLocks noChangeArrowheads="1"/>
            </p:cNvSpPr>
            <p:nvPr/>
          </p:nvSpPr>
          <p:spPr bwMode="auto">
            <a:xfrm>
              <a:off x="2177" y="3695"/>
              <a:ext cx="96" cy="241"/>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sp>
          <p:nvSpPr>
            <p:cNvPr id="553995" name="Oval 11" descr="60%"/>
            <p:cNvSpPr>
              <a:spLocks noChangeArrowheads="1"/>
            </p:cNvSpPr>
            <p:nvPr/>
          </p:nvSpPr>
          <p:spPr bwMode="auto">
            <a:xfrm>
              <a:off x="1793" y="3695"/>
              <a:ext cx="96" cy="241"/>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sp>
          <p:nvSpPr>
            <p:cNvPr id="553996" name="Oval 12" descr="60%"/>
            <p:cNvSpPr>
              <a:spLocks noChangeArrowheads="1"/>
            </p:cNvSpPr>
            <p:nvPr/>
          </p:nvSpPr>
          <p:spPr bwMode="auto">
            <a:xfrm>
              <a:off x="1169" y="3695"/>
              <a:ext cx="96" cy="241"/>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grpSp>
          <p:nvGrpSpPr>
            <p:cNvPr id="100378" name="Group 13"/>
            <p:cNvGrpSpPr>
              <a:grpSpLocks/>
            </p:cNvGrpSpPr>
            <p:nvPr/>
          </p:nvGrpSpPr>
          <p:grpSpPr bwMode="auto">
            <a:xfrm>
              <a:off x="1025" y="2880"/>
              <a:ext cx="3024" cy="240"/>
              <a:chOff x="1152" y="1344"/>
              <a:chExt cx="3024" cy="240"/>
            </a:xfrm>
          </p:grpSpPr>
          <p:sp>
            <p:nvSpPr>
              <p:cNvPr id="553998" name="Oval 14" descr="20%"/>
              <p:cNvSpPr>
                <a:spLocks noChangeArrowheads="1"/>
              </p:cNvSpPr>
              <p:nvPr/>
            </p:nvSpPr>
            <p:spPr bwMode="auto">
              <a:xfrm>
                <a:off x="1392" y="1392"/>
                <a:ext cx="2640" cy="144"/>
              </a:xfrm>
              <a:prstGeom prst="ellipse">
                <a:avLst/>
              </a:prstGeom>
              <a:pattFill prst="pct2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53999" name="Rectangle 15"/>
              <p:cNvSpPr>
                <a:spLocks noChangeArrowheads="1"/>
              </p:cNvSpPr>
              <p:nvPr/>
            </p:nvSpPr>
            <p:spPr bwMode="auto">
              <a:xfrm>
                <a:off x="1152" y="1344"/>
                <a:ext cx="3024" cy="243"/>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54000" name="Oval 16"/>
              <p:cNvSpPr>
                <a:spLocks noChangeArrowheads="1"/>
              </p:cNvSpPr>
              <p:nvPr/>
            </p:nvSpPr>
            <p:spPr bwMode="auto">
              <a:xfrm>
                <a:off x="1247" y="1392"/>
                <a:ext cx="143"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54001" name="Oval 17"/>
              <p:cNvSpPr>
                <a:spLocks noChangeArrowheads="1"/>
              </p:cNvSpPr>
              <p:nvPr/>
            </p:nvSpPr>
            <p:spPr bwMode="auto">
              <a:xfrm>
                <a:off x="3985" y="1392"/>
                <a:ext cx="143"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sp>
          <p:nvSpPr>
            <p:cNvPr id="554002" name="Oval 18" descr="20%"/>
            <p:cNvSpPr>
              <a:spLocks noChangeArrowheads="1"/>
            </p:cNvSpPr>
            <p:nvPr/>
          </p:nvSpPr>
          <p:spPr bwMode="auto">
            <a:xfrm>
              <a:off x="1217" y="3600"/>
              <a:ext cx="624" cy="95"/>
            </a:xfrm>
            <a:prstGeom prst="ellipse">
              <a:avLst/>
            </a:prstGeom>
            <a:pattFill prst="pct2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54003" name="Oval 19" descr="60%"/>
            <p:cNvSpPr>
              <a:spLocks noChangeArrowheads="1"/>
            </p:cNvSpPr>
            <p:nvPr/>
          </p:nvSpPr>
          <p:spPr bwMode="auto">
            <a:xfrm rot="1127993">
              <a:off x="1896" y="3361"/>
              <a:ext cx="96" cy="289"/>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sp>
          <p:nvSpPr>
            <p:cNvPr id="554004" name="Oval 20" descr="60%"/>
            <p:cNvSpPr>
              <a:spLocks noChangeArrowheads="1"/>
            </p:cNvSpPr>
            <p:nvPr/>
          </p:nvSpPr>
          <p:spPr bwMode="auto">
            <a:xfrm>
              <a:off x="1169" y="3408"/>
              <a:ext cx="96" cy="242"/>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sp>
          <p:nvSpPr>
            <p:cNvPr id="554005" name="Rectangle 21"/>
            <p:cNvSpPr>
              <a:spLocks noChangeArrowheads="1"/>
            </p:cNvSpPr>
            <p:nvPr/>
          </p:nvSpPr>
          <p:spPr bwMode="auto">
            <a:xfrm>
              <a:off x="1025" y="3552"/>
              <a:ext cx="1008" cy="242"/>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54006" name="Oval 22"/>
            <p:cNvSpPr>
              <a:spLocks noChangeArrowheads="1"/>
            </p:cNvSpPr>
            <p:nvPr/>
          </p:nvSpPr>
          <p:spPr bwMode="auto">
            <a:xfrm>
              <a:off x="1120" y="3600"/>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54007" name="Oval 23"/>
            <p:cNvSpPr>
              <a:spLocks noChangeArrowheads="1"/>
            </p:cNvSpPr>
            <p:nvPr/>
          </p:nvSpPr>
          <p:spPr bwMode="auto">
            <a:xfrm>
              <a:off x="1793" y="3600"/>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54008" name="Oval 24" descr="20%"/>
            <p:cNvSpPr>
              <a:spLocks noChangeArrowheads="1"/>
            </p:cNvSpPr>
            <p:nvPr/>
          </p:nvSpPr>
          <p:spPr bwMode="auto">
            <a:xfrm>
              <a:off x="2226" y="3600"/>
              <a:ext cx="624" cy="95"/>
            </a:xfrm>
            <a:prstGeom prst="ellipse">
              <a:avLst/>
            </a:prstGeom>
            <a:pattFill prst="pct2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54009" name="Oval 25" descr="60%"/>
            <p:cNvSpPr>
              <a:spLocks noChangeArrowheads="1"/>
            </p:cNvSpPr>
            <p:nvPr/>
          </p:nvSpPr>
          <p:spPr bwMode="auto">
            <a:xfrm rot="1638151">
              <a:off x="2945" y="3408"/>
              <a:ext cx="96" cy="242"/>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sp>
          <p:nvSpPr>
            <p:cNvPr id="554010" name="Oval 26" descr="60%"/>
            <p:cNvSpPr>
              <a:spLocks noChangeArrowheads="1"/>
            </p:cNvSpPr>
            <p:nvPr/>
          </p:nvSpPr>
          <p:spPr bwMode="auto">
            <a:xfrm rot="-1187808">
              <a:off x="2041" y="3358"/>
              <a:ext cx="96" cy="288"/>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sp>
          <p:nvSpPr>
            <p:cNvPr id="554011" name="Rectangle 27"/>
            <p:cNvSpPr>
              <a:spLocks noChangeArrowheads="1"/>
            </p:cNvSpPr>
            <p:nvPr/>
          </p:nvSpPr>
          <p:spPr bwMode="auto">
            <a:xfrm>
              <a:off x="2033" y="3552"/>
              <a:ext cx="1008" cy="242"/>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54012" name="Oval 28"/>
            <p:cNvSpPr>
              <a:spLocks noChangeArrowheads="1"/>
            </p:cNvSpPr>
            <p:nvPr/>
          </p:nvSpPr>
          <p:spPr bwMode="auto">
            <a:xfrm>
              <a:off x="2128" y="3600"/>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54013" name="Oval 29"/>
            <p:cNvSpPr>
              <a:spLocks noChangeArrowheads="1"/>
            </p:cNvSpPr>
            <p:nvPr/>
          </p:nvSpPr>
          <p:spPr bwMode="auto">
            <a:xfrm>
              <a:off x="2801" y="3600"/>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54014" name="Oval 30" descr="20%"/>
            <p:cNvSpPr>
              <a:spLocks noChangeArrowheads="1"/>
            </p:cNvSpPr>
            <p:nvPr/>
          </p:nvSpPr>
          <p:spPr bwMode="auto">
            <a:xfrm>
              <a:off x="3232" y="3600"/>
              <a:ext cx="624" cy="95"/>
            </a:xfrm>
            <a:prstGeom prst="ellipse">
              <a:avLst/>
            </a:prstGeom>
            <a:pattFill prst="pct2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54015" name="Oval 31" descr="60%"/>
            <p:cNvSpPr>
              <a:spLocks noChangeArrowheads="1"/>
            </p:cNvSpPr>
            <p:nvPr/>
          </p:nvSpPr>
          <p:spPr bwMode="auto">
            <a:xfrm>
              <a:off x="3856" y="3408"/>
              <a:ext cx="97" cy="242"/>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sp>
          <p:nvSpPr>
            <p:cNvPr id="554016" name="Oval 32" descr="60%"/>
            <p:cNvSpPr>
              <a:spLocks noChangeArrowheads="1"/>
            </p:cNvSpPr>
            <p:nvPr/>
          </p:nvSpPr>
          <p:spPr bwMode="auto">
            <a:xfrm rot="-1510090">
              <a:off x="3090" y="3408"/>
              <a:ext cx="97" cy="242"/>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sp>
          <p:nvSpPr>
            <p:cNvPr id="554017" name="Rectangle 33"/>
            <p:cNvSpPr>
              <a:spLocks noChangeArrowheads="1"/>
            </p:cNvSpPr>
            <p:nvPr/>
          </p:nvSpPr>
          <p:spPr bwMode="auto">
            <a:xfrm>
              <a:off x="3041" y="3552"/>
              <a:ext cx="1008" cy="242"/>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54018" name="Oval 34"/>
            <p:cNvSpPr>
              <a:spLocks noChangeArrowheads="1"/>
            </p:cNvSpPr>
            <p:nvPr/>
          </p:nvSpPr>
          <p:spPr bwMode="auto">
            <a:xfrm>
              <a:off x="3137" y="3600"/>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54019" name="Oval 35"/>
            <p:cNvSpPr>
              <a:spLocks noChangeArrowheads="1"/>
            </p:cNvSpPr>
            <p:nvPr/>
          </p:nvSpPr>
          <p:spPr bwMode="auto">
            <a:xfrm>
              <a:off x="3809" y="3600"/>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54020" name="Oval 36" descr="20%"/>
            <p:cNvSpPr>
              <a:spLocks noChangeArrowheads="1"/>
            </p:cNvSpPr>
            <p:nvPr/>
          </p:nvSpPr>
          <p:spPr bwMode="auto">
            <a:xfrm>
              <a:off x="1217" y="3264"/>
              <a:ext cx="768" cy="95"/>
            </a:xfrm>
            <a:prstGeom prst="ellipse">
              <a:avLst/>
            </a:prstGeom>
            <a:pattFill prst="pct2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54021" name="Oval 37" descr="60%"/>
            <p:cNvSpPr>
              <a:spLocks noChangeArrowheads="1"/>
            </p:cNvSpPr>
            <p:nvPr/>
          </p:nvSpPr>
          <p:spPr bwMode="auto">
            <a:xfrm>
              <a:off x="1169" y="3072"/>
              <a:ext cx="96" cy="242"/>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sp>
          <p:nvSpPr>
            <p:cNvPr id="554022" name="Rectangle 38"/>
            <p:cNvSpPr>
              <a:spLocks noChangeArrowheads="1"/>
            </p:cNvSpPr>
            <p:nvPr/>
          </p:nvSpPr>
          <p:spPr bwMode="auto">
            <a:xfrm>
              <a:off x="1025" y="3216"/>
              <a:ext cx="1008" cy="242"/>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54023" name="Oval 39"/>
            <p:cNvSpPr>
              <a:spLocks noChangeArrowheads="1"/>
            </p:cNvSpPr>
            <p:nvPr/>
          </p:nvSpPr>
          <p:spPr bwMode="auto">
            <a:xfrm>
              <a:off x="1120" y="3264"/>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54024" name="Oval 40" descr="20%"/>
            <p:cNvSpPr>
              <a:spLocks noChangeArrowheads="1"/>
            </p:cNvSpPr>
            <p:nvPr/>
          </p:nvSpPr>
          <p:spPr bwMode="auto">
            <a:xfrm>
              <a:off x="2081" y="3264"/>
              <a:ext cx="960" cy="95"/>
            </a:xfrm>
            <a:prstGeom prst="ellipse">
              <a:avLst/>
            </a:prstGeom>
            <a:pattFill prst="pct2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54025" name="Rectangle 41"/>
            <p:cNvSpPr>
              <a:spLocks noChangeArrowheads="1"/>
            </p:cNvSpPr>
            <p:nvPr/>
          </p:nvSpPr>
          <p:spPr bwMode="auto">
            <a:xfrm>
              <a:off x="2033" y="3216"/>
              <a:ext cx="1008" cy="242"/>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54026" name="Oval 42" descr="20%"/>
            <p:cNvSpPr>
              <a:spLocks noChangeArrowheads="1"/>
            </p:cNvSpPr>
            <p:nvPr/>
          </p:nvSpPr>
          <p:spPr bwMode="auto">
            <a:xfrm>
              <a:off x="3137" y="3264"/>
              <a:ext cx="720" cy="95"/>
            </a:xfrm>
            <a:prstGeom prst="ellipse">
              <a:avLst/>
            </a:prstGeom>
            <a:pattFill prst="pct2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54027" name="Oval 43" descr="60%"/>
            <p:cNvSpPr>
              <a:spLocks noChangeArrowheads="1"/>
            </p:cNvSpPr>
            <p:nvPr/>
          </p:nvSpPr>
          <p:spPr bwMode="auto">
            <a:xfrm>
              <a:off x="3856" y="3072"/>
              <a:ext cx="97" cy="242"/>
            </a:xfrm>
            <a:prstGeom prst="ellipse">
              <a:avLst/>
            </a:prstGeom>
            <a:pattFill prst="pct60">
              <a:fgClr>
                <a:schemeClr val="tx1"/>
              </a:fgClr>
              <a:bgClr>
                <a:srgbClr val="FFFFFF"/>
              </a:bgClr>
            </a:patt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en-US" sz="2400" b="0">
                <a:solidFill>
                  <a:schemeClr val="accent1"/>
                </a:solidFill>
                <a:cs typeface="+mn-cs"/>
              </a:endParaRPr>
            </a:p>
          </p:txBody>
        </p:sp>
        <p:sp>
          <p:nvSpPr>
            <p:cNvPr id="554028" name="Rectangle 44"/>
            <p:cNvSpPr>
              <a:spLocks noChangeArrowheads="1"/>
            </p:cNvSpPr>
            <p:nvPr/>
          </p:nvSpPr>
          <p:spPr bwMode="auto">
            <a:xfrm>
              <a:off x="3041" y="3216"/>
              <a:ext cx="1008" cy="242"/>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54029" name="Oval 45"/>
            <p:cNvSpPr>
              <a:spLocks noChangeArrowheads="1"/>
            </p:cNvSpPr>
            <p:nvPr/>
          </p:nvSpPr>
          <p:spPr bwMode="auto">
            <a:xfrm>
              <a:off x="3809" y="3264"/>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54030" name="Rectangle 46"/>
            <p:cNvSpPr>
              <a:spLocks noChangeArrowheads="1"/>
            </p:cNvSpPr>
            <p:nvPr/>
          </p:nvSpPr>
          <p:spPr bwMode="auto">
            <a:xfrm>
              <a:off x="929" y="2592"/>
              <a:ext cx="480" cy="1249"/>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54031" name="Rectangle 47"/>
            <p:cNvSpPr>
              <a:spLocks noChangeArrowheads="1"/>
            </p:cNvSpPr>
            <p:nvPr/>
          </p:nvSpPr>
          <p:spPr bwMode="auto">
            <a:xfrm>
              <a:off x="1744" y="2592"/>
              <a:ext cx="528" cy="1249"/>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54032" name="Rectangle 48"/>
            <p:cNvSpPr>
              <a:spLocks noChangeArrowheads="1"/>
            </p:cNvSpPr>
            <p:nvPr/>
          </p:nvSpPr>
          <p:spPr bwMode="auto">
            <a:xfrm>
              <a:off x="2752" y="2592"/>
              <a:ext cx="527" cy="1249"/>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54033" name="Rectangle 49"/>
            <p:cNvSpPr>
              <a:spLocks noChangeArrowheads="1"/>
            </p:cNvSpPr>
            <p:nvPr/>
          </p:nvSpPr>
          <p:spPr bwMode="auto">
            <a:xfrm>
              <a:off x="3714" y="2592"/>
              <a:ext cx="575" cy="1249"/>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54034" name="Rectangle 50"/>
            <p:cNvSpPr>
              <a:spLocks noChangeArrowheads="1"/>
            </p:cNvSpPr>
            <p:nvPr/>
          </p:nvSpPr>
          <p:spPr bwMode="auto">
            <a:xfrm>
              <a:off x="1120" y="3841"/>
              <a:ext cx="768" cy="95"/>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54035" name="Rectangle 51"/>
            <p:cNvSpPr>
              <a:spLocks noChangeArrowheads="1"/>
            </p:cNvSpPr>
            <p:nvPr/>
          </p:nvSpPr>
          <p:spPr bwMode="auto">
            <a:xfrm>
              <a:off x="2177" y="3841"/>
              <a:ext cx="768" cy="95"/>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54036" name="Rectangle 52"/>
            <p:cNvSpPr>
              <a:spLocks noChangeArrowheads="1"/>
            </p:cNvSpPr>
            <p:nvPr/>
          </p:nvSpPr>
          <p:spPr bwMode="auto">
            <a:xfrm>
              <a:off x="3185" y="3841"/>
              <a:ext cx="768" cy="95"/>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54037" name="Oval 53"/>
            <p:cNvSpPr>
              <a:spLocks noChangeArrowheads="1"/>
            </p:cNvSpPr>
            <p:nvPr/>
          </p:nvSpPr>
          <p:spPr bwMode="auto">
            <a:xfrm>
              <a:off x="1937" y="3264"/>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54038" name="Oval 54"/>
            <p:cNvSpPr>
              <a:spLocks noChangeArrowheads="1"/>
            </p:cNvSpPr>
            <p:nvPr/>
          </p:nvSpPr>
          <p:spPr bwMode="auto">
            <a:xfrm>
              <a:off x="2992" y="3264"/>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sp>
        <p:nvSpPr>
          <p:cNvPr id="554039" name="Text Box 55"/>
          <p:cNvSpPr txBox="1">
            <a:spLocks noChangeArrowheads="1"/>
          </p:cNvSpPr>
          <p:nvPr/>
        </p:nvSpPr>
        <p:spPr bwMode="auto">
          <a:xfrm>
            <a:off x="4572000" y="4114800"/>
            <a:ext cx="1030288"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defRPr/>
            </a:pPr>
            <a:r>
              <a:rPr lang="en-US" b="0">
                <a:cs typeface="+mn-cs"/>
              </a:rPr>
              <a:t>Location</a:t>
            </a:r>
          </a:p>
          <a:p>
            <a:pPr algn="ctr">
              <a:defRPr/>
            </a:pPr>
            <a:r>
              <a:rPr lang="en-US" b="0">
                <a:cs typeface="+mn-cs"/>
              </a:rPr>
              <a:t>Independence</a:t>
            </a:r>
          </a:p>
        </p:txBody>
      </p:sp>
      <p:grpSp>
        <p:nvGrpSpPr>
          <p:cNvPr id="100362" name="Group 56"/>
          <p:cNvGrpSpPr>
            <a:grpSpLocks/>
          </p:cNvGrpSpPr>
          <p:nvPr/>
        </p:nvGrpSpPr>
        <p:grpSpPr bwMode="auto">
          <a:xfrm>
            <a:off x="5638800" y="3962400"/>
            <a:ext cx="2743200" cy="1524000"/>
            <a:chOff x="1200" y="800"/>
            <a:chExt cx="3256" cy="1456"/>
          </a:xfrm>
        </p:grpSpPr>
        <p:sp>
          <p:nvSpPr>
            <p:cNvPr id="554041" name="Rectangle 57"/>
            <p:cNvSpPr>
              <a:spLocks noChangeArrowheads="1"/>
            </p:cNvSpPr>
            <p:nvPr/>
          </p:nvSpPr>
          <p:spPr bwMode="auto">
            <a:xfrm>
              <a:off x="2152" y="1313"/>
              <a:ext cx="224" cy="26"/>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54042" name="AutoShape 58"/>
            <p:cNvSpPr>
              <a:spLocks noChangeArrowheads="1"/>
            </p:cNvSpPr>
            <p:nvPr/>
          </p:nvSpPr>
          <p:spPr bwMode="auto">
            <a:xfrm>
              <a:off x="1304" y="800"/>
              <a:ext cx="3152" cy="359"/>
            </a:xfrm>
            <a:prstGeom prst="parallelogram">
              <a:avLst>
                <a:gd name="adj" fmla="val 218889"/>
              </a:avLst>
            </a:prstGeom>
            <a:solidFill>
              <a:schemeClr val="bg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sz="1400" b="0">
                  <a:cs typeface="+mn-cs"/>
                </a:rPr>
                <a:t>Application Name Space</a:t>
              </a:r>
              <a:endParaRPr lang="en-US" sz="1800" b="0">
                <a:latin typeface="Helvetica" charset="0"/>
                <a:cs typeface="+mn-cs"/>
              </a:endParaRPr>
            </a:p>
          </p:txBody>
        </p:sp>
        <p:sp>
          <p:nvSpPr>
            <p:cNvPr id="554043" name="AutoShape 59"/>
            <p:cNvSpPr>
              <a:spLocks noChangeArrowheads="1"/>
            </p:cNvSpPr>
            <p:nvPr/>
          </p:nvSpPr>
          <p:spPr bwMode="auto">
            <a:xfrm>
              <a:off x="1304" y="1344"/>
              <a:ext cx="3152" cy="358"/>
            </a:xfrm>
            <a:prstGeom prst="parallelogram">
              <a:avLst>
                <a:gd name="adj" fmla="val 218889"/>
              </a:avLst>
            </a:prstGeom>
            <a:solidFill>
              <a:schemeClr val="bg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sz="1400" b="0">
                  <a:cs typeface="+mn-cs"/>
                </a:rPr>
                <a:t>Logical Name Space</a:t>
              </a:r>
            </a:p>
          </p:txBody>
        </p:sp>
        <p:sp>
          <p:nvSpPr>
            <p:cNvPr id="554044" name="AutoShape 60"/>
            <p:cNvSpPr>
              <a:spLocks noChangeArrowheads="1"/>
            </p:cNvSpPr>
            <p:nvPr/>
          </p:nvSpPr>
          <p:spPr bwMode="auto">
            <a:xfrm>
              <a:off x="1200" y="1897"/>
              <a:ext cx="3152" cy="359"/>
            </a:xfrm>
            <a:prstGeom prst="parallelogram">
              <a:avLst>
                <a:gd name="adj" fmla="val 218889"/>
              </a:avLst>
            </a:prstGeom>
            <a:solidFill>
              <a:schemeClr val="bg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sz="1400" b="0">
                  <a:cs typeface="+mn-cs"/>
                </a:rPr>
                <a:t>Physical Name Space</a:t>
              </a:r>
            </a:p>
          </p:txBody>
        </p:sp>
        <p:sp>
          <p:nvSpPr>
            <p:cNvPr id="554045" name="AutoShape 61"/>
            <p:cNvSpPr>
              <a:spLocks noChangeArrowheads="1"/>
            </p:cNvSpPr>
            <p:nvPr/>
          </p:nvSpPr>
          <p:spPr bwMode="auto">
            <a:xfrm>
              <a:off x="2664" y="1120"/>
              <a:ext cx="217" cy="312"/>
            </a:xfrm>
            <a:prstGeom prst="downArrow">
              <a:avLst>
                <a:gd name="adj1" fmla="val 50000"/>
                <a:gd name="adj2" fmla="val 36111"/>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554046" name="AutoShape 62"/>
            <p:cNvSpPr>
              <a:spLocks noChangeArrowheads="1"/>
            </p:cNvSpPr>
            <p:nvPr/>
          </p:nvSpPr>
          <p:spPr bwMode="auto">
            <a:xfrm>
              <a:off x="2664" y="1704"/>
              <a:ext cx="217" cy="312"/>
            </a:xfrm>
            <a:prstGeom prst="downArrow">
              <a:avLst>
                <a:gd name="adj1" fmla="val 50000"/>
                <a:gd name="adj2" fmla="val 36111"/>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sp>
        <p:nvSpPr>
          <p:cNvPr id="554047" name="Text Box 63"/>
          <p:cNvSpPr txBox="1">
            <a:spLocks noChangeArrowheads="1"/>
          </p:cNvSpPr>
          <p:nvPr/>
        </p:nvSpPr>
        <p:spPr bwMode="auto">
          <a:xfrm>
            <a:off x="1905000" y="4267200"/>
            <a:ext cx="1365250"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b="0">
                <a:cs typeface="+mn-cs"/>
              </a:rPr>
              <a:t>Application Names</a:t>
            </a:r>
          </a:p>
        </p:txBody>
      </p:sp>
      <p:sp>
        <p:nvSpPr>
          <p:cNvPr id="554048" name="Text Box 64"/>
          <p:cNvSpPr txBox="1">
            <a:spLocks noChangeArrowheads="1"/>
          </p:cNvSpPr>
          <p:nvPr/>
        </p:nvSpPr>
        <p:spPr bwMode="auto">
          <a:xfrm>
            <a:off x="2133600" y="4724400"/>
            <a:ext cx="1219200"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b="0">
                <a:cs typeface="+mn-cs"/>
              </a:rPr>
              <a:t>Node Address </a:t>
            </a:r>
          </a:p>
        </p:txBody>
      </p:sp>
      <p:sp>
        <p:nvSpPr>
          <p:cNvPr id="554049" name="Text Box 65"/>
          <p:cNvSpPr txBox="1">
            <a:spLocks noChangeArrowheads="1"/>
          </p:cNvSpPr>
          <p:nvPr/>
        </p:nvSpPr>
        <p:spPr bwMode="auto">
          <a:xfrm>
            <a:off x="1981200" y="5105400"/>
            <a:ext cx="1524000"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b="0">
                <a:cs typeface="+mn-cs"/>
              </a:rPr>
              <a:t>Point of Attachment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39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398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53987">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53987">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53987">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53987">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5398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987"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A6E09CA0-C846-4A4A-8CC8-9F8ACB515573}" type="datetime3">
              <a:rPr lang="en-US"/>
              <a:pPr>
                <a:defRPr/>
              </a:pPr>
              <a:t>14 January 2026</a:t>
            </a:fld>
            <a:endParaRPr lang="en-US"/>
          </a:p>
        </p:txBody>
      </p:sp>
      <p:sp>
        <p:nvSpPr>
          <p:cNvPr id="5" name="Footer Placeholder 4"/>
          <p:cNvSpPr>
            <a:spLocks noGrp="1"/>
          </p:cNvSpPr>
          <p:nvPr>
            <p:ph type="ftr" sz="quarter" idx="11"/>
          </p:nvPr>
        </p:nvSpPr>
        <p:spPr/>
        <p:txBody>
          <a:bodyPr/>
          <a:lstStyle/>
          <a:p>
            <a:pPr>
              <a:defRPr/>
            </a:pPr>
            <a:r>
              <a:rPr lang="en-US"/>
              <a:t>.</a:t>
            </a:r>
          </a:p>
        </p:txBody>
      </p:sp>
      <p:sp>
        <p:nvSpPr>
          <p:cNvPr id="6" name="Slide Number Placeholder 5"/>
          <p:cNvSpPr>
            <a:spLocks noGrp="1"/>
          </p:cNvSpPr>
          <p:nvPr>
            <p:ph type="sldNum" sz="quarter" idx="12"/>
          </p:nvPr>
        </p:nvSpPr>
        <p:spPr/>
        <p:txBody>
          <a:bodyPr/>
          <a:lstStyle/>
          <a:p>
            <a:pPr>
              <a:defRPr/>
            </a:pPr>
            <a:fld id="{6E6F9D98-C07B-EF4A-84D4-B8F94CE1C0EE}" type="slidenum">
              <a:rPr lang="en-US"/>
              <a:pPr>
                <a:defRPr/>
              </a:pPr>
              <a:t>43</a:t>
            </a:fld>
            <a:endParaRPr lang="en-US"/>
          </a:p>
        </p:txBody>
      </p:sp>
      <p:sp>
        <p:nvSpPr>
          <p:cNvPr id="557058" name="Rectangle 2"/>
          <p:cNvSpPr>
            <a:spLocks noGrp="1" noChangeArrowheads="1"/>
          </p:cNvSpPr>
          <p:nvPr>
            <p:ph type="title"/>
          </p:nvPr>
        </p:nvSpPr>
        <p:spPr>
          <a:xfrm>
            <a:off x="685800" y="304800"/>
            <a:ext cx="7772400" cy="1143000"/>
          </a:xfrm>
        </p:spPr>
        <p:txBody>
          <a:bodyPr/>
          <a:lstStyle/>
          <a:p>
            <a:pPr>
              <a:defRPr/>
            </a:pPr>
            <a:r>
              <a:rPr lang="en-US" sz="3600">
                <a:cs typeface="+mj-cs"/>
              </a:rPr>
              <a:t>Conclusions</a:t>
            </a:r>
          </a:p>
        </p:txBody>
      </p:sp>
      <p:sp>
        <p:nvSpPr>
          <p:cNvPr id="557059" name="Rectangle 3"/>
          <p:cNvSpPr>
            <a:spLocks noGrp="1" noChangeArrowheads="1"/>
          </p:cNvSpPr>
          <p:nvPr>
            <p:ph type="body" idx="1"/>
          </p:nvPr>
        </p:nvSpPr>
        <p:spPr>
          <a:xfrm>
            <a:off x="685800" y="1371600"/>
            <a:ext cx="7772400" cy="4114800"/>
          </a:xfrm>
        </p:spPr>
        <p:txBody>
          <a:bodyPr/>
          <a:lstStyle/>
          <a:p>
            <a:pPr>
              <a:defRPr/>
            </a:pPr>
            <a:r>
              <a:rPr lang="en-US" sz="1800" dirty="0">
                <a:cs typeface="+mn-cs"/>
              </a:rPr>
              <a:t>Most of the problems in the Internet today: scaling, </a:t>
            </a:r>
            <a:r>
              <a:rPr lang="en-US" sz="1800" dirty="0" err="1">
                <a:cs typeface="+mn-cs"/>
              </a:rPr>
              <a:t>multihoming</a:t>
            </a:r>
            <a:r>
              <a:rPr lang="en-US" sz="1800" dirty="0">
                <a:cs typeface="+mn-cs"/>
              </a:rPr>
              <a:t>, mobility, distributed applications, etc. are rooted in not having a complete addressing architecture.</a:t>
            </a:r>
          </a:p>
          <a:p>
            <a:pPr>
              <a:defRPr/>
            </a:pPr>
            <a:r>
              <a:rPr lang="en-US" sz="1800" dirty="0">
                <a:cs typeface="+mn-cs"/>
              </a:rPr>
              <a:t>The Internet is truly like DOS: only physical addresses.</a:t>
            </a:r>
          </a:p>
          <a:p>
            <a:pPr lvl="1">
              <a:defRPr/>
            </a:pPr>
            <a:r>
              <a:rPr lang="en-US" sz="1600" dirty="0"/>
              <a:t>Unlike an OS, there is no indirection in its addressing architecture.</a:t>
            </a:r>
          </a:p>
          <a:p>
            <a:pPr lvl="2">
              <a:defRPr/>
            </a:pPr>
            <a:r>
              <a:rPr lang="en-US" sz="1400" dirty="0"/>
              <a:t>Imagine trying to do re-locatable code without virtual addresses!</a:t>
            </a:r>
          </a:p>
          <a:p>
            <a:pPr lvl="1">
              <a:defRPr/>
            </a:pPr>
            <a:r>
              <a:rPr lang="en-US" sz="1600" dirty="0"/>
              <a:t>More identifiers without decoupling the name spaces solves nothing.</a:t>
            </a:r>
          </a:p>
          <a:p>
            <a:pPr lvl="1">
              <a:defRPr/>
            </a:pPr>
            <a:r>
              <a:rPr lang="en-US" sz="1600" dirty="0"/>
              <a:t>Loc/id split was just post-</a:t>
            </a:r>
            <a:r>
              <a:rPr lang="en-US" sz="1600" dirty="0" err="1"/>
              <a:t>IPng</a:t>
            </a:r>
            <a:r>
              <a:rPr lang="en-US" sz="1600" dirty="0"/>
              <a:t> trauma. </a:t>
            </a:r>
          </a:p>
          <a:p>
            <a:pPr lvl="2">
              <a:defRPr/>
            </a:pPr>
            <a:r>
              <a:rPr lang="en-US" sz="1400" dirty="0"/>
              <a:t>Such intense reaction to naming the node, that there had to be a workaround.</a:t>
            </a:r>
          </a:p>
          <a:p>
            <a:pPr lvl="2">
              <a:defRPr/>
            </a:pPr>
            <a:r>
              <a:rPr lang="en-US" sz="1400" dirty="0"/>
              <a:t>There isn</a:t>
            </a:r>
            <a:r>
              <a:rPr lang="en-US" sz="1400" dirty="0">
                <a:latin typeface="Arial"/>
              </a:rPr>
              <a:t>’</a:t>
            </a:r>
            <a:r>
              <a:rPr lang="en-US" sz="1400" dirty="0"/>
              <a:t>t. </a:t>
            </a:r>
            <a:r>
              <a:rPr lang="en-US" sz="1200" dirty="0"/>
              <a:t>(Just like there isn</a:t>
            </a:r>
            <a:r>
              <a:rPr lang="en-US" sz="1200" dirty="0">
                <a:latin typeface="Arial"/>
              </a:rPr>
              <a:t>’</a:t>
            </a:r>
            <a:r>
              <a:rPr lang="en-US" sz="1200" dirty="0"/>
              <a:t>t in operating systems)</a:t>
            </a:r>
            <a:endParaRPr lang="en-US" sz="1400" dirty="0"/>
          </a:p>
          <a:p>
            <a:pPr>
              <a:defRPr/>
            </a:pPr>
            <a:endParaRPr lang="en-US" sz="1800" dirty="0">
              <a:cs typeface="+mn-cs"/>
            </a:endParaRPr>
          </a:p>
          <a:p>
            <a:pPr>
              <a:defRPr/>
            </a:pPr>
            <a:r>
              <a:rPr lang="en-US" sz="1800" dirty="0">
                <a:cs typeface="+mn-cs"/>
              </a:rPr>
              <a:t>Now </a:t>
            </a:r>
            <a:r>
              <a:rPr lang="en-US" sz="1800" dirty="0" err="1">
                <a:cs typeface="+mn-cs"/>
              </a:rPr>
              <a:t>Mrs</a:t>
            </a:r>
            <a:r>
              <a:rPr lang="en-US" sz="1800" dirty="0">
                <a:cs typeface="+mn-cs"/>
              </a:rPr>
              <a:t> </a:t>
            </a:r>
            <a:r>
              <a:rPr lang="en-US" sz="1800" dirty="0" err="1">
                <a:cs typeface="+mn-cs"/>
              </a:rPr>
              <a:t>McCave</a:t>
            </a:r>
            <a:r>
              <a:rPr lang="en-US" sz="1800" dirty="0">
                <a:cs typeface="+mn-cs"/>
              </a:rPr>
              <a:t> wishes she had fixed that problem in the 70s.  </a:t>
            </a:r>
          </a:p>
          <a:p>
            <a:pPr>
              <a:defRPr/>
            </a:pPr>
            <a:r>
              <a:rPr lang="en-US" sz="1800" dirty="0">
                <a:cs typeface="+mn-cs"/>
              </a:rPr>
              <a:t>But she didn</a:t>
            </a:r>
            <a:r>
              <a:rPr lang="en-US" sz="1800" dirty="0">
                <a:latin typeface="Arial"/>
                <a:cs typeface="+mn-cs"/>
              </a:rPr>
              <a:t>’</a:t>
            </a:r>
            <a:r>
              <a:rPr lang="en-US" sz="1800" dirty="0">
                <a:cs typeface="+mn-cs"/>
              </a:rPr>
              <a:t>t do it and now it is too late! </a:t>
            </a:r>
          </a:p>
          <a:p>
            <a:pPr>
              <a:defRPr/>
            </a:pPr>
            <a:r>
              <a:rPr lang="en-US" sz="1800">
                <a:cs typeface="+mn-cs"/>
              </a:rPr>
              <a:t>                                                                               . </a:t>
            </a:r>
            <a:r>
              <a:rPr lang="en-US" sz="1800" dirty="0">
                <a:cs typeface="+mn-cs"/>
              </a:rPr>
              <a:t>. . for IP.</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705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70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57059">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57059">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57059">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57059">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57059">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57059">
                                            <p:txEl>
                                              <p:pRg st="7" end="7"/>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57059">
                                            <p:txEl>
                                              <p:pRg st="9" end="9"/>
                                            </p:txEl>
                                          </p:spTgt>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57059">
                                            <p:txEl>
                                              <p:pRg st="10" end="1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5705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7059" grpId="0" uiExpand="1" build="p"/>
    </p:bldLst>
  </p:timing>
</p:sld>
</file>

<file path=ppt/tags/tag1.xml><?xml version="1.0" encoding="utf-8"?>
<p:tagLst xmlns:a="http://schemas.openxmlformats.org/drawingml/2006/main" xmlns:r="http://schemas.openxmlformats.org/officeDocument/2006/relationships" xmlns:p="http://schemas.openxmlformats.org/presentationml/2006/main">
  <p:tag name="TIMING" val="|0.6|0.7|0.7"/>
</p:tagLst>
</file>

<file path=ppt/tags/tag2.xml><?xml version="1.0" encoding="utf-8"?>
<p:tagLst xmlns:a="http://schemas.openxmlformats.org/drawingml/2006/main" xmlns:r="http://schemas.openxmlformats.org/officeDocument/2006/relationships" xmlns:p="http://schemas.openxmlformats.org/presentationml/2006/main">
  <p:tag name="TIMING" val="|0.9|0.9|0.7"/>
</p:tagLst>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Times"/>
        <a:ea typeface="ＭＳ Ｐゴシック"/>
        <a:cs typeface=""/>
      </a:majorFont>
      <a:minorFont>
        <a:latin typeface="Times"/>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Times"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Times" charset="0"/>
            <a:ea typeface="ＭＳ Ｐゴシック"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3_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Times"/>
        <a:ea typeface="ＭＳ Ｐゴシック"/>
        <a:cs typeface=""/>
      </a:majorFont>
      <a:minorFont>
        <a:latin typeface="Times"/>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Times"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Times" charset="0"/>
            <a:ea typeface="ＭＳ Ｐゴシック"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Times"/>
        <a:ea typeface="ＭＳ Ｐゴシック"/>
        <a:cs typeface=""/>
      </a:majorFont>
      <a:minorFont>
        <a:latin typeface="Times"/>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Times"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Times" charset="0"/>
            <a:ea typeface="ＭＳ Ｐゴシック"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3_Custom Design">
  <a:themeElements>
    <a:clrScheme name="Custom 4">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6565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System:Tools:Microsoft Office 98:Templates:Blank Presentation</Template>
  <TotalTime>5691</TotalTime>
  <Words>5820</Words>
  <Application>Microsoft Macintosh PowerPoint</Application>
  <PresentationFormat>On-screen Show (4:3)</PresentationFormat>
  <Paragraphs>769</Paragraphs>
  <Slides>43</Slides>
  <Notes>37</Notes>
  <HiddenSlides>0</HiddenSlides>
  <MMClips>0</MMClips>
  <ScaleCrop>false</ScaleCrop>
  <HeadingPairs>
    <vt:vector size="6" baseType="variant">
      <vt:variant>
        <vt:lpstr>Fonts Used</vt:lpstr>
      </vt:variant>
      <vt:variant>
        <vt:i4>7</vt:i4>
      </vt:variant>
      <vt:variant>
        <vt:lpstr>Theme</vt:lpstr>
      </vt:variant>
      <vt:variant>
        <vt:i4>5</vt:i4>
      </vt:variant>
      <vt:variant>
        <vt:lpstr>Slide Titles</vt:lpstr>
      </vt:variant>
      <vt:variant>
        <vt:i4>43</vt:i4>
      </vt:variant>
    </vt:vector>
  </HeadingPairs>
  <TitlesOfParts>
    <vt:vector size="55" baseType="lpstr">
      <vt:lpstr>Arial</vt:lpstr>
      <vt:lpstr>Calibri</vt:lpstr>
      <vt:lpstr>Helvetica</vt:lpstr>
      <vt:lpstr>Lucida Grande</vt:lpstr>
      <vt:lpstr>Times</vt:lpstr>
      <vt:lpstr>Times New Roman</vt:lpstr>
      <vt:lpstr>ヒラギノ角ゴ ProN W3</vt:lpstr>
      <vt:lpstr>Blank Presentation</vt:lpstr>
      <vt:lpstr>3_Blank Presentation</vt:lpstr>
      <vt:lpstr>1_Blank Presentation</vt:lpstr>
      <vt:lpstr>Office Theme</vt:lpstr>
      <vt:lpstr>3_Custom Design</vt:lpstr>
      <vt:lpstr>Why IP Addressing Is So Screwed Up!</vt:lpstr>
      <vt:lpstr>What Do We Know Already?</vt:lpstr>
      <vt:lpstr>The Origins of Internet Addressing The Root Cause of our Problems</vt:lpstr>
      <vt:lpstr>PowerPoint Presentation</vt:lpstr>
      <vt:lpstr>PowerPoint Presentation</vt:lpstr>
      <vt:lpstr>PowerPoint Presentation</vt:lpstr>
      <vt:lpstr>Computers Are Different Unlike Passive Phones and Terminals They are Active </vt:lpstr>
      <vt:lpstr>Operating Systems as a Guide</vt:lpstr>
      <vt:lpstr>Learned a Few Things</vt:lpstr>
      <vt:lpstr>Further Refinement</vt:lpstr>
      <vt:lpstr>Saltzer’s View of Networks</vt:lpstr>
      <vt:lpstr>Oddly, Saltzer Saw What Made Networks Different But He Didn’t See Its Implications</vt:lpstr>
      <vt:lpstr>Avoiding What Saltzer Missed</vt:lpstr>
      <vt:lpstr>To Recap Mappings between Name Spaces</vt:lpstr>
      <vt:lpstr>Applying Results to Real Architectures: The Internet (This is a Network Architecture)</vt:lpstr>
      <vt:lpstr>PowerPoint Presentation</vt:lpstr>
      <vt:lpstr>What About This Missed Case? The Real World is More Diverse (for better or worse, OSI understood that, sort of)</vt:lpstr>
      <vt:lpstr>The First Great Internet Addressing Crisis</vt:lpstr>
      <vt:lpstr>Finding A Replacement for IPv4</vt:lpstr>
      <vt:lpstr>The IPng Process</vt:lpstr>
      <vt:lpstr>All is Not Well</vt:lpstr>
      <vt:lpstr>Craftsmen Play Scientists</vt:lpstr>
      <vt:lpstr>Trouble is Not Much Interest in v6</vt:lpstr>
      <vt:lpstr>Houston, We Have a Problem (The Second Great Internet Addressing Crisis)</vt:lpstr>
      <vt:lpstr>But We Do Multihoming! (not really)</vt:lpstr>
      <vt:lpstr>So Why Wasn’t It Fixed?</vt:lpstr>
      <vt:lpstr>Apply the e2e principle! Solve the Problem in the Hosts</vt:lpstr>
      <vt:lpstr>But By This Time</vt:lpstr>
      <vt:lpstr>November 2008 Houston, We have a Bigger Problem</vt:lpstr>
      <vt:lpstr>What is Loc/ID Suppose to be about?</vt:lpstr>
      <vt:lpstr>This is a Big Problem</vt:lpstr>
      <vt:lpstr>PowerPoint Presentation</vt:lpstr>
      <vt:lpstr>They Conclude It Names the Endpoint with the Application</vt:lpstr>
      <vt:lpstr>But IP Addresses Were Always Divided into the Network and Host Parts</vt:lpstr>
      <vt:lpstr>Precisely What Should Happen When Routing</vt:lpstr>
      <vt:lpstr>If IP Does What the Spec Says</vt:lpstr>
      <vt:lpstr>What Routers Actually Do</vt:lpstr>
      <vt:lpstr>So What Is Really Going On?</vt:lpstr>
      <vt:lpstr>Good Design yields Better Security: I Getting something for Nothing</vt:lpstr>
      <vt:lpstr>Good Design yields Better Security: II Getting something for Nothing Remember this from the Network Layer Lecture?</vt:lpstr>
      <vt:lpstr>Wanna Hear the Real P*sser?</vt:lpstr>
      <vt:lpstr>The Problem was Never Separating Locator from Identifier.  It was and is at least Separating Logical Location from Physical Location</vt:lpstr>
      <vt:lpstr>Conclusions</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Things They Never Taught You About  Naming and Addressing</dc:title>
  <dc:creator> </dc:creator>
  <cp:lastModifiedBy>Day, John</cp:lastModifiedBy>
  <cp:revision>106</cp:revision>
  <cp:lastPrinted>2010-02-25T01:36:06Z</cp:lastPrinted>
  <dcterms:created xsi:type="dcterms:W3CDTF">2010-02-18T02:39:22Z</dcterms:created>
  <dcterms:modified xsi:type="dcterms:W3CDTF">2026-01-14T21:23:43Z</dcterms:modified>
</cp:coreProperties>
</file>