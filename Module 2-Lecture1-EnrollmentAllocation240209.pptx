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96" r:id="rId4"/>
    <p:sldMasterId id="2147483708" r:id="rId5"/>
    <p:sldMasterId id="2147483720" r:id="rId6"/>
  </p:sldMasterIdLst>
  <p:notesMasterIdLst>
    <p:notesMasterId r:id="rId54"/>
  </p:notesMasterIdLst>
  <p:sldIdLst>
    <p:sldId id="256" r:id="rId7"/>
    <p:sldId id="257" r:id="rId8"/>
    <p:sldId id="332" r:id="rId9"/>
    <p:sldId id="333" r:id="rId10"/>
    <p:sldId id="334" r:id="rId11"/>
    <p:sldId id="335" r:id="rId12"/>
    <p:sldId id="336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385" r:id="rId21"/>
    <p:sldId id="265" r:id="rId22"/>
    <p:sldId id="266" r:id="rId23"/>
    <p:sldId id="267" r:id="rId24"/>
    <p:sldId id="268" r:id="rId25"/>
    <p:sldId id="326" r:id="rId26"/>
    <p:sldId id="317" r:id="rId27"/>
    <p:sldId id="312" r:id="rId28"/>
    <p:sldId id="313" r:id="rId29"/>
    <p:sldId id="315" r:id="rId30"/>
    <p:sldId id="318" r:id="rId31"/>
    <p:sldId id="337" r:id="rId32"/>
    <p:sldId id="319" r:id="rId33"/>
    <p:sldId id="320" r:id="rId34"/>
    <p:sldId id="321" r:id="rId35"/>
    <p:sldId id="322" r:id="rId36"/>
    <p:sldId id="323" r:id="rId37"/>
    <p:sldId id="382" r:id="rId38"/>
    <p:sldId id="348" r:id="rId39"/>
    <p:sldId id="349" r:id="rId40"/>
    <p:sldId id="341" r:id="rId41"/>
    <p:sldId id="383" r:id="rId42"/>
    <p:sldId id="387" r:id="rId43"/>
    <p:sldId id="373" r:id="rId44"/>
    <p:sldId id="363" r:id="rId45"/>
    <p:sldId id="376" r:id="rId46"/>
    <p:sldId id="364" r:id="rId47"/>
    <p:sldId id="384" r:id="rId48"/>
    <p:sldId id="374" r:id="rId49"/>
    <p:sldId id="375" r:id="rId50"/>
    <p:sldId id="371" r:id="rId51"/>
    <p:sldId id="372" r:id="rId52"/>
    <p:sldId id="398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92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theme" Target="theme/theme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A8A51-92CC-4D4D-BDD0-7C7D4A3D95F6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3DEE-63B4-B442-88D1-D8C67B3C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7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4F840F71-4D7F-5045-9B4D-F7BD60671F10}" type="slidenum">
              <a:rPr lang="en-US" sz="1200">
                <a:solidFill>
                  <a:srgbClr val="000000"/>
                </a:solidFill>
                <a:latin typeface="Arial" charset="0"/>
              </a:rPr>
              <a:pPr/>
              <a:t>2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035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A37271-C5B8-E74A-BD60-138FC7CDABC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70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What is this called today?   DHCP.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859226-4692-0642-AC40-8D3ABF9E655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90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A5DED3-4FB4-0641-9C9A-E4463BBDFD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611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0B514A-E312-1D43-B0BA-FB9C76D70D6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631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00D8FD-56C7-5A43-8D4D-F24662B5261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6521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9E932EB0-45D4-0F4C-B325-F09A3DB0B032}" type="slidenum">
              <a:rPr lang="en-US" sz="1200">
                <a:solidFill>
                  <a:srgbClr val="000000"/>
                </a:solidFill>
                <a:latin typeface="Arial" charset="0"/>
              </a:rPr>
              <a:pPr/>
              <a:t>8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60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C7A1FDB5-7C01-5545-84B0-7CC283DBD8FE}" type="slidenum">
              <a:rPr lang="en-US" sz="1200">
                <a:solidFill>
                  <a:srgbClr val="000000"/>
                </a:solidFill>
                <a:latin typeface="Arial" charset="0"/>
              </a:rPr>
              <a:pPr algn="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/>
              <a:t>This is a phase of operation we have tried to ignore.  Successfully for the most part.  DHCP and a few other ad hoc procedures are pretty much as close as we have come.</a:t>
            </a:r>
          </a:p>
          <a:p>
            <a:pPr eaLnBrk="1" hangingPunct="1"/>
            <a:r>
              <a:rPr lang="en-US"/>
              <a:t>We will cover this in more detail later.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C458BD-9822-EA45-8C3E-37A656BBB5F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4099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BC7C2B6F-4656-A74A-B83F-933119B5851F}" type="slidenum">
              <a:rPr lang="en-US" sz="1200">
                <a:solidFill>
                  <a:srgbClr val="000000"/>
                </a:solidFill>
                <a:latin typeface="Arial" charset="0"/>
              </a:rPr>
              <a:pPr/>
              <a:t>17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1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/>
              <a:t>He also shows that one can</a:t>
            </a:r>
            <a:r>
              <a:rPr lang="ja-JP" altLang="en-US"/>
              <a:t>’</a:t>
            </a:r>
            <a:r>
              <a:rPr lang="en-US" altLang="ja-JP"/>
              <a:t>t really do a practical protocol without bounding these three.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2B7FB7E6-985A-B647-8913-0981FC8D64D3}" type="slidenum">
              <a:rPr lang="en-US" sz="1200">
                <a:solidFill>
                  <a:srgbClr val="000000"/>
                </a:solidFill>
                <a:latin typeface="Arial" charset="0"/>
              </a:rPr>
              <a:pPr/>
              <a:t>18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OSI actually defined an (N)-connection as being between (N+1)-entities!!!  But it was ignored in practice.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This is the beads-on-a-string model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F13675E1-A032-E24A-9DBC-DAC7F75BCD85}" type="slidenum">
              <a:rPr lang="en-US" sz="1200">
                <a:solidFill>
                  <a:srgbClr val="000000"/>
                </a:solidFill>
                <a:latin typeface="Arial" charset="0"/>
              </a:rPr>
              <a:pPr/>
              <a:t>19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489EF-D528-5945-8009-9A4E92FE1D4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1EC05-9679-4D4E-9EEE-0146E1BA41A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C1977-DFFD-EC4A-B716-1F21561E979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8F230C-1150-6644-B87D-236B0842DE7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087B8B-2CA3-054F-9DFF-82C8DF5056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46969-7CED-7F48-AC94-94D713D92AB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AB823F-1C0A-2E49-A091-91B778202AC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6726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1F78A7-5D6A-C844-87F8-2B1E624F1E1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9D5951-71D1-5148-BC02-C33BB35AED0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8FB0E3-EF27-444B-8F5E-713B01EC8B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6DE0C7-F3FA-9F4B-BB6E-70F8FAC6E81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34819-9AC6-0C46-B628-B784C16956A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DBEB0F-18DA-B943-8636-DDD62FCBC7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89B802-456F-6145-A947-F046A08D08E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490525-4D77-B846-B79E-E2330321C203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33689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631443-CB39-574A-BB62-D07B242AF1A8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2754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76A51E-0047-E343-89BE-1FF94B936FB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FEF677-3A1E-DB42-9488-34FA549F0F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76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272290-9FE9-D046-A295-A4BBFB0C986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358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682CB4-6649-7344-B781-4F1D9C02D8C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563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44FE9-E075-7D69-B6F1-AFE999C36017}"/>
              </a:ext>
            </a:extLst>
          </p:cNvPr>
          <p:cNvSpPr txBox="1"/>
          <p:nvPr userDrawn="1"/>
        </p:nvSpPr>
        <p:spPr>
          <a:xfrm>
            <a:off x="6248400" y="6278880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© John Day 2022</a:t>
            </a:r>
          </a:p>
          <a:p>
            <a:r>
              <a:rPr lang="en-US" sz="900" dirty="0"/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1505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4DB57-EDB1-EE54-67C0-78C1CBFC32A6}"/>
              </a:ext>
            </a:extLst>
          </p:cNvPr>
          <p:cNvSpPr txBox="1"/>
          <p:nvPr userDrawn="1"/>
        </p:nvSpPr>
        <p:spPr>
          <a:xfrm>
            <a:off x="6553200" y="6214030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© John Day 2022</a:t>
            </a:r>
          </a:p>
          <a:p>
            <a:r>
              <a:rPr lang="en-US" sz="900" dirty="0"/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194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4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2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4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9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7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8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1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896072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04131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46152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7522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71142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216406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64138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893966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997383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554690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25317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71753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630300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478792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301704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923606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695507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575565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582149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163628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410853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363750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885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870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645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200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177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78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703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409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944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91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03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230C5-DCD6-994A-929B-0508386D0DF5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432593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A6DE2-DD40-1043-9102-2AC14EFF6A16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297105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E5FCB-EC8C-3044-8BFF-128E1C3F9C48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8332394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3118A-8996-3649-9C33-6EB663FD5BD3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8356317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067C1-0B87-6D48-AB61-7792C07B0AC0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314124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7E4B4-D15C-134E-B159-649804887AA7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8848602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FFDF0-ECCE-1749-A242-B9C0F9D0304F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8836414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C6BC4-2B33-6F48-AB8D-4C959D5BB44C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8159276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80878-C7CC-6542-9569-3DD2A9CF35A4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2737592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548F2-2AA3-A540-AB01-262BCC448F4B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2656209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BA32A-7FE3-044E-AE9F-D44DB321A546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37930293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649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6242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519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2461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71870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516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7735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0939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748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5580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72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31E3E-A7D9-CA44-A6EA-0193E2E38305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91D29-D821-3A45-8E82-F2166E2AE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4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52400"/>
            <a:ext cx="939800" cy="88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1032" name="Group 8"/>
          <p:cNvGrpSpPr>
            <a:grpSpLocks/>
          </p:cNvGrpSpPr>
          <p:nvPr userDrawn="1"/>
        </p:nvGrpSpPr>
        <p:grpSpPr bwMode="auto">
          <a:xfrm>
            <a:off x="7620000" y="152400"/>
            <a:ext cx="1219200" cy="1006475"/>
            <a:chOff x="4800" y="96"/>
            <a:chExt cx="768" cy="634"/>
          </a:xfrm>
        </p:grpSpPr>
        <p:pic>
          <p:nvPicPr>
            <p:cNvPr id="1033" name="Picture 9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96"/>
              <a:ext cx="576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1037" name="Text Box 10"/>
            <p:cNvSpPr txBox="1">
              <a:spLocks noChangeArrowheads="1"/>
            </p:cNvSpPr>
            <p:nvPr userDrawn="1"/>
          </p:nvSpPr>
          <p:spPr bwMode="auto">
            <a:xfrm>
              <a:off x="4800" y="576"/>
              <a:ext cx="76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333399"/>
                  </a:solidFill>
                </a:rPr>
                <a:t>The Pouzin Society</a:t>
              </a:r>
            </a:p>
          </p:txBody>
        </p:sp>
      </p:grpSp>
      <p:sp>
        <p:nvSpPr>
          <p:cNvPr id="1074" name="Text Box 50"/>
          <p:cNvSpPr txBox="1">
            <a:spLocks noChangeArrowheads="1"/>
          </p:cNvSpPr>
          <p:nvPr userDrawn="1"/>
        </p:nvSpPr>
        <p:spPr bwMode="auto">
          <a:xfrm>
            <a:off x="6640513" y="6270625"/>
            <a:ext cx="15240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defTabSz="9144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©  John Day, 2013</a:t>
            </a:r>
          </a:p>
          <a:p>
            <a:pPr algn="r" defTabSz="914400"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All Rights Reserved</a:t>
            </a:r>
          </a:p>
        </p:txBody>
      </p:sp>
      <p:sp>
        <p:nvSpPr>
          <p:cNvPr id="1034" name="Text Box 51"/>
          <p:cNvSpPr txBox="1">
            <a:spLocks noChangeArrowheads="1"/>
          </p:cNvSpPr>
          <p:nvPr userDrawn="1"/>
        </p:nvSpPr>
        <p:spPr bwMode="auto">
          <a:xfrm>
            <a:off x="8153400" y="617220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78F4E629-4A86-C94A-A862-7D43F21FF0FE}" type="slidenum">
              <a:rPr lang="en-US" sz="1200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1200">
              <a:solidFill>
                <a:srgbClr val="000000"/>
              </a:solidFill>
            </a:endParaRPr>
          </a:p>
        </p:txBody>
      </p:sp>
      <p:pic>
        <p:nvPicPr>
          <p:cNvPr id="1035" name="Picture 10" descr="logo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12192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031" name="Group 8"/>
          <p:cNvGrpSpPr>
            <a:grpSpLocks/>
          </p:cNvGrpSpPr>
          <p:nvPr userDrawn="1"/>
        </p:nvGrpSpPr>
        <p:grpSpPr bwMode="auto">
          <a:xfrm>
            <a:off x="7924800" y="12700"/>
            <a:ext cx="1219200" cy="1006475"/>
            <a:chOff x="4800" y="96"/>
            <a:chExt cx="768" cy="634"/>
          </a:xfrm>
        </p:grpSpPr>
        <p:pic>
          <p:nvPicPr>
            <p:cNvPr id="1033" name="Picture 9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96"/>
              <a:ext cx="576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1037" name="Text Box 10"/>
            <p:cNvSpPr txBox="1">
              <a:spLocks noChangeArrowheads="1"/>
            </p:cNvSpPr>
            <p:nvPr userDrawn="1"/>
          </p:nvSpPr>
          <p:spPr bwMode="auto">
            <a:xfrm>
              <a:off x="4800" y="576"/>
              <a:ext cx="76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333399"/>
                  </a:solidFill>
                </a:rPr>
                <a:t>The Pouzin Society</a:t>
              </a:r>
            </a:p>
          </p:txBody>
        </p:sp>
      </p:grpSp>
      <p:sp>
        <p:nvSpPr>
          <p:cNvPr id="1074" name="Text Box 50"/>
          <p:cNvSpPr txBox="1">
            <a:spLocks noChangeArrowheads="1"/>
          </p:cNvSpPr>
          <p:nvPr userDrawn="1"/>
        </p:nvSpPr>
        <p:spPr bwMode="auto">
          <a:xfrm>
            <a:off x="6400800" y="6172200"/>
            <a:ext cx="15240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defTabSz="9144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©  John Day, 2014</a:t>
            </a:r>
          </a:p>
          <a:p>
            <a:pPr algn="r" defTabSz="914400"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All Rights Reserved</a:t>
            </a:r>
          </a:p>
        </p:txBody>
      </p:sp>
      <p:sp>
        <p:nvSpPr>
          <p:cNvPr id="1034" name="Text Box 51"/>
          <p:cNvSpPr txBox="1">
            <a:spLocks noChangeArrowheads="1"/>
          </p:cNvSpPr>
          <p:nvPr userDrawn="1"/>
        </p:nvSpPr>
        <p:spPr bwMode="auto">
          <a:xfrm>
            <a:off x="8153400" y="617220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F8E65585-DA82-584B-B1B1-4BED1F17E625}" type="slidenum">
              <a:rPr lang="en-US" sz="1200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1200">
              <a:solidFill>
                <a:srgbClr val="000000"/>
              </a:solidFill>
            </a:endParaRPr>
          </a:p>
        </p:txBody>
      </p:sp>
      <p:pic>
        <p:nvPicPr>
          <p:cNvPr id="2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11430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0" descr="log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8305800" y="6248400"/>
            <a:ext cx="457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fld id="{6216EE10-A2EB-834E-80E4-34363B4172D1}" type="slidenum">
              <a:rPr lang="en-US" b="1">
                <a:cs typeface="+mn-cs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US" b="1"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6019800" y="6400800"/>
            <a:ext cx="25781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000">
                <a:latin typeface="Helvetica" charset="0"/>
                <a:cs typeface="+mn-cs"/>
              </a:rPr>
              <a:t>©   John Day, All Rights Reserved, 2009</a:t>
            </a:r>
          </a:p>
        </p:txBody>
      </p:sp>
    </p:spTree>
    <p:extLst>
      <p:ext uri="{BB962C8B-B14F-4D97-AF65-F5344CB8AC3E}">
        <p14:creationId xmlns:p14="http://schemas.microsoft.com/office/powerpoint/2010/main" val="428561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8C82FDE1-09E6-CD4A-A7C1-AFD39DD383C1}" type="slidenum">
              <a:rPr lang="en-US">
                <a:solidFill>
                  <a:srgbClr val="000000"/>
                </a:solidFill>
                <a:latin typeface="Time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"/>
            </a:endParaRP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6477000" y="6324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000">
                <a:solidFill>
                  <a:srgbClr val="000000"/>
                </a:solidFill>
                <a:latin typeface="Arial"/>
              </a:rPr>
              <a:t>©  John Day, 2013    </a:t>
            </a:r>
            <a:fld id="{D774E85D-0417-AD47-A8D1-D7677E3C30B2}" type="slidenum">
              <a:rPr lang="en-US" sz="1000">
                <a:solidFill>
                  <a:srgbClr val="000000"/>
                </a:solidFill>
              </a:rPr>
              <a:pPr algn="r"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  <a:p>
            <a:pPr algn="r">
              <a:defRPr/>
            </a:pPr>
            <a:r>
              <a:rPr lang="en-US" sz="1000">
                <a:solidFill>
                  <a:srgbClr val="000000"/>
                </a:solidFill>
              </a:rPr>
              <a:t>Rights Reserved</a:t>
            </a:r>
          </a:p>
        </p:txBody>
      </p:sp>
      <p:pic>
        <p:nvPicPr>
          <p:cNvPr id="1032" name="Picture 10" descr="logo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3" name="Group 9"/>
          <p:cNvGrpSpPr>
            <a:grpSpLocks/>
          </p:cNvGrpSpPr>
          <p:nvPr userDrawn="1"/>
        </p:nvGrpSpPr>
        <p:grpSpPr bwMode="auto">
          <a:xfrm>
            <a:off x="7620000" y="152400"/>
            <a:ext cx="1219200" cy="1006475"/>
            <a:chOff x="4800" y="96"/>
            <a:chExt cx="768" cy="634"/>
          </a:xfrm>
        </p:grpSpPr>
        <p:pic>
          <p:nvPicPr>
            <p:cNvPr id="2" name="Picture 10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96"/>
              <a:ext cx="576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1035" name="Text Box 11"/>
            <p:cNvSpPr txBox="1">
              <a:spLocks noChangeArrowheads="1"/>
            </p:cNvSpPr>
            <p:nvPr userDrawn="1"/>
          </p:nvSpPr>
          <p:spPr bwMode="auto">
            <a:xfrm>
              <a:off x="4800" y="576"/>
              <a:ext cx="76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000">
                  <a:solidFill>
                    <a:srgbClr val="333399"/>
                  </a:solidFill>
                  <a:latin typeface="Times" charset="0"/>
                </a:rPr>
                <a:t>The Pouzin Society</a:t>
              </a:r>
            </a:p>
          </p:txBody>
        </p:sp>
      </p:grpSp>
      <p:pic>
        <p:nvPicPr>
          <p:cNvPr id="1034" name="Picture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99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42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"/>
                <a:cs typeface="Times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9DA4739C-8B8B-2941-9D42-E6F597824BAD}" type="datetimeFigureOut">
              <a:rPr lang="en-US" smtClean="0">
                <a:solidFill>
                  <a:prstClr val="black">
                    <a:tint val="75000"/>
                  </a:prstClr>
                </a:solidFill>
                <a:ea typeface="+mn-ea"/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2/9/24</a:t>
            </a:fld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"/>
                <a:cs typeface="Times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"/>
                <a:cs typeface="Times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B7317FF9-D0AA-654A-9E48-DDF7BA842D56}" type="slidenum">
              <a:rPr lang="en-US" smtClean="0">
                <a:solidFill>
                  <a:prstClr val="black">
                    <a:tint val="75000"/>
                  </a:prstClr>
                </a:solidFill>
                <a:ea typeface="+mn-ea"/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563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Times"/>
          <a:ea typeface="+mj-ea"/>
          <a:cs typeface="Time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"/>
          <a:ea typeface="+mn-ea"/>
          <a:cs typeface="Time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imes"/>
          <a:ea typeface="+mn-ea"/>
          <a:cs typeface="Time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Times"/>
          <a:ea typeface="+mn-ea"/>
          <a:cs typeface="Time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Times"/>
          <a:ea typeface="+mn-ea"/>
          <a:cs typeface="Time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Times"/>
          <a:ea typeface="+mn-ea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imes"/>
                <a:cs typeface="Times"/>
              </a:rPr>
              <a:t>Enrollment and Allocation</a:t>
            </a:r>
            <a:endParaRPr lang="en-US" sz="3600" dirty="0">
              <a:latin typeface="Times"/>
              <a:cs typeface="Time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"/>
                <a:cs typeface="Times"/>
              </a:rPr>
              <a:t>MET CS 775</a:t>
            </a:r>
          </a:p>
          <a:p>
            <a:r>
              <a:rPr lang="en-US" sz="2400" dirty="0">
                <a:latin typeface="Times"/>
                <a:cs typeface="Times"/>
              </a:rPr>
              <a:t>John Day</a:t>
            </a:r>
          </a:p>
          <a:p>
            <a:r>
              <a:rPr lang="en-US" sz="2400" dirty="0">
                <a:latin typeface="Times"/>
                <a:cs typeface="Times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51038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ChangeArrowheads="1"/>
          </p:cNvSpPr>
          <p:nvPr/>
        </p:nvSpPr>
        <p:spPr bwMode="auto">
          <a:xfrm>
            <a:off x="609600" y="3048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br>
              <a:rPr lang="en-US" sz="2800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 sz="2800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All Communication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Goes through Three Phases</a:t>
            </a:r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609600" y="1981200"/>
            <a:ext cx="7924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Enrollment</a:t>
            </a:r>
            <a:endParaRPr lang="en-US" sz="2000" dirty="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  <a:p>
            <a:pPr marL="742950" lvl="1" indent="-285750" defTabSz="91440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Operations to create sufficient state within the network to allow an instance of communication to be created.</a:t>
            </a: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Allocation</a:t>
            </a:r>
            <a:r>
              <a:rPr lang="en-US" sz="2000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 (also known as Establishment)</a:t>
            </a:r>
          </a:p>
          <a:p>
            <a:pPr marL="742950" lvl="1" indent="-285750" defTabSz="91440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Operations required to allocate an instance of communication creating sufficient shared state among instances to support the functions of the data transfer phase.</a:t>
            </a: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Data Transfer</a:t>
            </a:r>
            <a:endParaRPr lang="en-US" sz="2000" dirty="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  <a:p>
            <a:pPr marL="742950" lvl="1" indent="-285750" defTabSz="91440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Operations to provide the actual transfer of data and functions which support it.</a:t>
            </a: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Most of our attention has been on the last two.  The first has often been ignored and is usually seen as necessarily ad-hoc. But enrollment turns out to be key.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Enrollment:  Joining a Network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5029200"/>
            <a:ext cx="7848600" cy="10668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New Host or even Subnet wants to join an existing layer.  How does it work?</a:t>
            </a:r>
          </a:p>
          <a:p>
            <a:pPr lvl="1">
              <a:defRPr/>
            </a:pPr>
            <a:r>
              <a:rPr lang="en-US" dirty="0"/>
              <a:t>Do what the model says.</a:t>
            </a:r>
          </a:p>
        </p:txBody>
      </p:sp>
      <p:sp>
        <p:nvSpPr>
          <p:cNvPr id="256004" name="Oval 4"/>
          <p:cNvSpPr>
            <a:spLocks noChangeArrowheads="1"/>
          </p:cNvSpPr>
          <p:nvPr/>
        </p:nvSpPr>
        <p:spPr bwMode="auto">
          <a:xfrm>
            <a:off x="4114800" y="1981200"/>
            <a:ext cx="34290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05" name="Oval 5"/>
          <p:cNvSpPr>
            <a:spLocks noChangeArrowheads="1"/>
          </p:cNvSpPr>
          <p:nvPr/>
        </p:nvSpPr>
        <p:spPr bwMode="auto">
          <a:xfrm>
            <a:off x="4419600" y="24384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06" name="Oval 6"/>
          <p:cNvSpPr>
            <a:spLocks noChangeArrowheads="1"/>
          </p:cNvSpPr>
          <p:nvPr/>
        </p:nvSpPr>
        <p:spPr bwMode="auto">
          <a:xfrm>
            <a:off x="4419600" y="30480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07" name="Oval 7"/>
          <p:cNvSpPr>
            <a:spLocks noChangeArrowheads="1"/>
          </p:cNvSpPr>
          <p:nvPr/>
        </p:nvSpPr>
        <p:spPr bwMode="auto">
          <a:xfrm>
            <a:off x="4953000" y="22860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08" name="Oval 8"/>
          <p:cNvSpPr>
            <a:spLocks noChangeArrowheads="1"/>
          </p:cNvSpPr>
          <p:nvPr/>
        </p:nvSpPr>
        <p:spPr bwMode="auto">
          <a:xfrm>
            <a:off x="5715000" y="22098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09" name="Oval 9"/>
          <p:cNvSpPr>
            <a:spLocks noChangeArrowheads="1"/>
          </p:cNvSpPr>
          <p:nvPr/>
        </p:nvSpPr>
        <p:spPr bwMode="auto">
          <a:xfrm>
            <a:off x="6248400" y="22860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0" name="Oval 10"/>
          <p:cNvSpPr>
            <a:spLocks noChangeArrowheads="1"/>
          </p:cNvSpPr>
          <p:nvPr/>
        </p:nvSpPr>
        <p:spPr bwMode="auto">
          <a:xfrm>
            <a:off x="4953000" y="32385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1" name="Oval 11"/>
          <p:cNvSpPr>
            <a:spLocks noChangeArrowheads="1"/>
          </p:cNvSpPr>
          <p:nvPr/>
        </p:nvSpPr>
        <p:spPr bwMode="auto">
          <a:xfrm>
            <a:off x="5638800" y="34290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2" name="Oval 12"/>
          <p:cNvSpPr>
            <a:spLocks noChangeArrowheads="1"/>
          </p:cNvSpPr>
          <p:nvPr/>
        </p:nvSpPr>
        <p:spPr bwMode="auto">
          <a:xfrm>
            <a:off x="5334000" y="26670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3" name="Oval 13"/>
          <p:cNvSpPr>
            <a:spLocks noChangeArrowheads="1"/>
          </p:cNvSpPr>
          <p:nvPr/>
        </p:nvSpPr>
        <p:spPr bwMode="auto">
          <a:xfrm>
            <a:off x="5867400" y="28194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4" name="Oval 14"/>
          <p:cNvSpPr>
            <a:spLocks noChangeArrowheads="1"/>
          </p:cNvSpPr>
          <p:nvPr/>
        </p:nvSpPr>
        <p:spPr bwMode="auto">
          <a:xfrm>
            <a:off x="6248400" y="32385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5" name="Oval 15"/>
          <p:cNvSpPr>
            <a:spLocks noChangeArrowheads="1"/>
          </p:cNvSpPr>
          <p:nvPr/>
        </p:nvSpPr>
        <p:spPr bwMode="auto">
          <a:xfrm>
            <a:off x="6781800" y="30480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6" name="Oval 16"/>
          <p:cNvSpPr>
            <a:spLocks noChangeArrowheads="1"/>
          </p:cNvSpPr>
          <p:nvPr/>
        </p:nvSpPr>
        <p:spPr bwMode="auto">
          <a:xfrm>
            <a:off x="6781800" y="24384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6017" name="Oval 17"/>
          <p:cNvSpPr>
            <a:spLocks noChangeArrowheads="1"/>
          </p:cNvSpPr>
          <p:nvPr/>
        </p:nvSpPr>
        <p:spPr bwMode="auto">
          <a:xfrm>
            <a:off x="2667000" y="274320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62200" y="2286000"/>
            <a:ext cx="932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New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IPC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62600" y="4191000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A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Enrollment:  Joining an IPC Facility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i.e. joining a layer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8078" name="Text Box 30"/>
          <p:cNvSpPr txBox="1">
            <a:spLocks noChangeArrowheads="1"/>
          </p:cNvSpPr>
          <p:nvPr/>
        </p:nvSpPr>
        <p:spPr bwMode="auto">
          <a:xfrm>
            <a:off x="1371600" y="4800600"/>
            <a:ext cx="649287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(N)-Layer-A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consists of IPC-Processes on a set of systems. Suppose that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is an IPC Process that wishes to join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(N)-Layer-A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has the name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(N)-Layer-A,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which resolves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the (N)-IPC-Process, in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IPC Processes in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(N)-Layer-A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operate over a number of (N-1)-Layers, one of which is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(N-1)-Layer-C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also can operate over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C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and has the distributed-application-name 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(N)-Layer-A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  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allocates a (N-1)-flow to the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distributed-application-name 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f (N)-Layer-A,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which is resolved to the application-name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MEMBER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, so that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can communicate with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MEMBER.</a:t>
            </a:r>
          </a:p>
        </p:txBody>
      </p:sp>
      <p:sp>
        <p:nvSpPr>
          <p:cNvPr id="258081" name="Text Box 33"/>
          <p:cNvSpPr txBox="1">
            <a:spLocks noChangeArrowheads="1"/>
          </p:cNvSpPr>
          <p:nvPr/>
        </p:nvSpPr>
        <p:spPr bwMode="auto">
          <a:xfrm>
            <a:off x="3581400" y="4419600"/>
            <a:ext cx="154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Enrollment Phase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95400" y="2286000"/>
            <a:ext cx="5732780" cy="1828800"/>
            <a:chOff x="1295400" y="2286000"/>
            <a:chExt cx="5732780" cy="1828800"/>
          </a:xfrm>
        </p:grpSpPr>
        <p:sp>
          <p:nvSpPr>
            <p:cNvPr id="258051" name="Rectangle 3"/>
            <p:cNvSpPr>
              <a:spLocks noChangeArrowheads="1"/>
            </p:cNvSpPr>
            <p:nvPr/>
          </p:nvSpPr>
          <p:spPr bwMode="auto">
            <a:xfrm>
              <a:off x="1371600" y="2743200"/>
              <a:ext cx="35814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52" name="Text Box 4"/>
            <p:cNvSpPr txBox="1">
              <a:spLocks noChangeArrowheads="1"/>
            </p:cNvSpPr>
            <p:nvPr/>
          </p:nvSpPr>
          <p:spPr bwMode="auto">
            <a:xfrm>
              <a:off x="1295400" y="2286000"/>
              <a:ext cx="100540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(N)-Layer-A</a:t>
              </a:r>
            </a:p>
          </p:txBody>
        </p:sp>
        <p:sp>
          <p:nvSpPr>
            <p:cNvPr id="258069" name="Text Box 21"/>
            <p:cNvSpPr txBox="1">
              <a:spLocks noChangeArrowheads="1"/>
            </p:cNvSpPr>
            <p:nvPr/>
          </p:nvSpPr>
          <p:spPr bwMode="auto">
            <a:xfrm>
              <a:off x="5715000" y="2514600"/>
              <a:ext cx="131318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New IPC Process</a:t>
              </a:r>
            </a:p>
          </p:txBody>
        </p:sp>
        <p:sp>
          <p:nvSpPr>
            <p:cNvPr id="258070" name="Oval 22"/>
            <p:cNvSpPr>
              <a:spLocks noChangeArrowheads="1"/>
            </p:cNvSpPr>
            <p:nvPr/>
          </p:nvSpPr>
          <p:spPr bwMode="auto">
            <a:xfrm>
              <a:off x="1676400" y="2819400"/>
              <a:ext cx="5334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1" name="Oval 23"/>
            <p:cNvSpPr>
              <a:spLocks noChangeArrowheads="1"/>
            </p:cNvSpPr>
            <p:nvPr/>
          </p:nvSpPr>
          <p:spPr bwMode="auto">
            <a:xfrm>
              <a:off x="2362200" y="2819400"/>
              <a:ext cx="5334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2" name="Oval 24"/>
            <p:cNvSpPr>
              <a:spLocks noChangeArrowheads="1"/>
            </p:cNvSpPr>
            <p:nvPr/>
          </p:nvSpPr>
          <p:spPr bwMode="auto">
            <a:xfrm>
              <a:off x="4191000" y="2819400"/>
              <a:ext cx="5334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3" name="Oval 25"/>
            <p:cNvSpPr>
              <a:spLocks noChangeArrowheads="1"/>
            </p:cNvSpPr>
            <p:nvPr/>
          </p:nvSpPr>
          <p:spPr bwMode="auto">
            <a:xfrm>
              <a:off x="6172200" y="2819400"/>
              <a:ext cx="5334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4" name="Rectangle 26"/>
            <p:cNvSpPr>
              <a:spLocks noChangeArrowheads="1"/>
            </p:cNvSpPr>
            <p:nvPr/>
          </p:nvSpPr>
          <p:spPr bwMode="auto">
            <a:xfrm>
              <a:off x="4419600" y="3657600"/>
              <a:ext cx="1752600" cy="457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5" name="Text Box 27"/>
            <p:cNvSpPr txBox="1">
              <a:spLocks noChangeArrowheads="1"/>
            </p:cNvSpPr>
            <p:nvPr/>
          </p:nvSpPr>
          <p:spPr bwMode="auto">
            <a:xfrm>
              <a:off x="4800600" y="3733800"/>
              <a:ext cx="1127607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(N-1)-Layer-C</a:t>
              </a:r>
            </a:p>
          </p:txBody>
        </p:sp>
        <p:sp>
          <p:nvSpPr>
            <p:cNvPr id="258076" name="Line 28"/>
            <p:cNvSpPr>
              <a:spLocks noChangeShapeType="1"/>
            </p:cNvSpPr>
            <p:nvPr/>
          </p:nvSpPr>
          <p:spPr bwMode="auto">
            <a:xfrm flipH="1">
              <a:off x="6096000" y="3276600"/>
              <a:ext cx="30480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7" name="Line 29"/>
            <p:cNvSpPr>
              <a:spLocks noChangeShapeType="1"/>
            </p:cNvSpPr>
            <p:nvPr/>
          </p:nvSpPr>
          <p:spPr bwMode="auto">
            <a:xfrm>
              <a:off x="4495800" y="3276600"/>
              <a:ext cx="228600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58079" name="Text Box 31"/>
            <p:cNvSpPr txBox="1">
              <a:spLocks noChangeArrowheads="1"/>
            </p:cNvSpPr>
            <p:nvPr/>
          </p:nvSpPr>
          <p:spPr bwMode="auto">
            <a:xfrm>
              <a:off x="6172200" y="2895600"/>
              <a:ext cx="55656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NEW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3429000" y="2819400"/>
              <a:ext cx="8516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MEMBER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ChangeArrowheads="1"/>
          </p:cNvSpPr>
          <p:nvPr/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Joining an IPC Facility: II</a:t>
            </a:r>
          </a:p>
        </p:txBody>
      </p:sp>
      <p:sp>
        <p:nvSpPr>
          <p:cNvPr id="260126" name="Text Box 30"/>
          <p:cNvSpPr txBox="1">
            <a:spLocks noChangeArrowheads="1"/>
          </p:cNvSpPr>
          <p:nvPr/>
        </p:nvSpPr>
        <p:spPr bwMode="auto">
          <a:xfrm>
            <a:off x="1355725" y="4465638"/>
            <a:ext cx="634047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Using the (N-1)-IPC-Facility, Member uses an enrollment procedure to establish an application connection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with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in the same manner that any other application would establish a connection with a peer.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Member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knows only its local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(N-1)-port-id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and the Application name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95400" y="2286000"/>
            <a:ext cx="5732780" cy="1828800"/>
            <a:chOff x="1295400" y="2286000"/>
            <a:chExt cx="5732780" cy="1828800"/>
          </a:xfrm>
        </p:grpSpPr>
        <p:grpSp>
          <p:nvGrpSpPr>
            <p:cNvPr id="35" name="Group 34"/>
            <p:cNvGrpSpPr/>
            <p:nvPr/>
          </p:nvGrpSpPr>
          <p:grpSpPr>
            <a:xfrm>
              <a:off x="1295400" y="2286000"/>
              <a:ext cx="5732780" cy="1828800"/>
              <a:chOff x="1295400" y="2286000"/>
              <a:chExt cx="5732780" cy="1828800"/>
            </a:xfrm>
          </p:grpSpPr>
          <p:sp>
            <p:nvSpPr>
              <p:cNvPr id="36" name="Rectangle 3"/>
              <p:cNvSpPr>
                <a:spLocks noChangeArrowheads="1"/>
              </p:cNvSpPr>
              <p:nvPr/>
            </p:nvSpPr>
            <p:spPr bwMode="auto">
              <a:xfrm>
                <a:off x="1371600" y="2743200"/>
                <a:ext cx="3581400" cy="6858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" name="Text Box 4"/>
              <p:cNvSpPr txBox="1">
                <a:spLocks noChangeArrowheads="1"/>
              </p:cNvSpPr>
              <p:nvPr/>
            </p:nvSpPr>
            <p:spPr bwMode="auto">
              <a:xfrm>
                <a:off x="1295400" y="2286000"/>
                <a:ext cx="1005403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(N)-Layer-A</a:t>
                </a:r>
              </a:p>
            </p:txBody>
          </p:sp>
          <p:sp>
            <p:nvSpPr>
              <p:cNvPr id="38" name="Text Box 21"/>
              <p:cNvSpPr txBox="1">
                <a:spLocks noChangeArrowheads="1"/>
              </p:cNvSpPr>
              <p:nvPr/>
            </p:nvSpPr>
            <p:spPr bwMode="auto">
              <a:xfrm>
                <a:off x="5715000" y="2514600"/>
                <a:ext cx="1313180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New IPC Process</a:t>
                </a:r>
              </a:p>
            </p:txBody>
          </p:sp>
          <p:sp>
            <p:nvSpPr>
              <p:cNvPr id="39" name="Oval 22"/>
              <p:cNvSpPr>
                <a:spLocks noChangeArrowheads="1"/>
              </p:cNvSpPr>
              <p:nvPr/>
            </p:nvSpPr>
            <p:spPr bwMode="auto">
              <a:xfrm>
                <a:off x="16764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" name="Oval 23"/>
              <p:cNvSpPr>
                <a:spLocks noChangeArrowheads="1"/>
              </p:cNvSpPr>
              <p:nvPr/>
            </p:nvSpPr>
            <p:spPr bwMode="auto">
              <a:xfrm>
                <a:off x="23622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Oval 24"/>
              <p:cNvSpPr>
                <a:spLocks noChangeArrowheads="1"/>
              </p:cNvSpPr>
              <p:nvPr/>
            </p:nvSpPr>
            <p:spPr bwMode="auto">
              <a:xfrm>
                <a:off x="41910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Oval 25"/>
              <p:cNvSpPr>
                <a:spLocks noChangeArrowheads="1"/>
              </p:cNvSpPr>
              <p:nvPr/>
            </p:nvSpPr>
            <p:spPr bwMode="auto">
              <a:xfrm>
                <a:off x="61722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" name="Rectangle 26"/>
              <p:cNvSpPr>
                <a:spLocks noChangeArrowheads="1"/>
              </p:cNvSpPr>
              <p:nvPr/>
            </p:nvSpPr>
            <p:spPr bwMode="auto">
              <a:xfrm>
                <a:off x="4419600" y="3657600"/>
                <a:ext cx="1752600" cy="457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" name="Text Box 27"/>
              <p:cNvSpPr txBox="1">
                <a:spLocks noChangeArrowheads="1"/>
              </p:cNvSpPr>
              <p:nvPr/>
            </p:nvSpPr>
            <p:spPr bwMode="auto">
              <a:xfrm>
                <a:off x="4800600" y="3733800"/>
                <a:ext cx="1127607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(N-1)-Layer-C</a:t>
                </a:r>
              </a:p>
            </p:txBody>
          </p:sp>
          <p:sp>
            <p:nvSpPr>
              <p:cNvPr id="45" name="Line 28"/>
              <p:cNvSpPr>
                <a:spLocks noChangeShapeType="1"/>
              </p:cNvSpPr>
              <p:nvPr/>
            </p:nvSpPr>
            <p:spPr bwMode="auto">
              <a:xfrm flipH="1">
                <a:off x="6096000" y="3276600"/>
                <a:ext cx="304800" cy="381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" name="Line 29"/>
              <p:cNvSpPr>
                <a:spLocks noChangeShapeType="1"/>
              </p:cNvSpPr>
              <p:nvPr/>
            </p:nvSpPr>
            <p:spPr bwMode="auto">
              <a:xfrm>
                <a:off x="4495800" y="3276600"/>
                <a:ext cx="228600" cy="381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" name="Text Box 31"/>
              <p:cNvSpPr txBox="1">
                <a:spLocks noChangeArrowheads="1"/>
              </p:cNvSpPr>
              <p:nvPr/>
            </p:nvSpPr>
            <p:spPr bwMode="auto">
              <a:xfrm>
                <a:off x="6172200" y="2895600"/>
                <a:ext cx="556563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NEW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3429000" y="2819400"/>
                <a:ext cx="8516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</a:rPr>
                  <a:t>MEMBER</a:t>
                </a:r>
              </a:p>
            </p:txBody>
          </p:sp>
        </p:grpSp>
        <p:cxnSp>
          <p:nvCxnSpPr>
            <p:cNvPr id="3" name="Straight Arrow Connector 2"/>
            <p:cNvCxnSpPr>
              <a:endCxn id="47" idx="1"/>
            </p:cNvCxnSpPr>
            <p:nvPr/>
          </p:nvCxnSpPr>
          <p:spPr bwMode="auto">
            <a:xfrm flipV="1">
              <a:off x="4800600" y="3034100"/>
              <a:ext cx="1371600" cy="139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Joining an IPC Facility: III</a:t>
            </a:r>
          </a:p>
        </p:txBody>
      </p:sp>
      <p:sp>
        <p:nvSpPr>
          <p:cNvPr id="262147" name="Rectangle 3"/>
          <p:cNvSpPr>
            <a:spLocks noChangeArrowheads="1"/>
          </p:cNvSpPr>
          <p:nvPr/>
        </p:nvSpPr>
        <p:spPr bwMode="auto">
          <a:xfrm>
            <a:off x="762000" y="3733800"/>
            <a:ext cx="7467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Once the application is established,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 MEMBER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authenticates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and determines whether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can be a member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 If so,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MEMBER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assigns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an address (and uploads any other initial parameters) for use in cooperating with other members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is now a member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 Yielding: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447800" y="1600200"/>
            <a:ext cx="5732780" cy="1828800"/>
            <a:chOff x="1295400" y="2286000"/>
            <a:chExt cx="5732780" cy="1828800"/>
          </a:xfrm>
        </p:grpSpPr>
        <p:grpSp>
          <p:nvGrpSpPr>
            <p:cNvPr id="21" name="Group 20"/>
            <p:cNvGrpSpPr/>
            <p:nvPr/>
          </p:nvGrpSpPr>
          <p:grpSpPr>
            <a:xfrm>
              <a:off x="1295400" y="2286000"/>
              <a:ext cx="5732780" cy="1828800"/>
              <a:chOff x="1295400" y="2286000"/>
              <a:chExt cx="5732780" cy="1828800"/>
            </a:xfrm>
          </p:grpSpPr>
          <p:sp>
            <p:nvSpPr>
              <p:cNvPr id="23" name="Rectangle 3"/>
              <p:cNvSpPr>
                <a:spLocks noChangeArrowheads="1"/>
              </p:cNvSpPr>
              <p:nvPr/>
            </p:nvSpPr>
            <p:spPr bwMode="auto">
              <a:xfrm>
                <a:off x="1371600" y="2743200"/>
                <a:ext cx="3581400" cy="6858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" name="Text Box 4"/>
              <p:cNvSpPr txBox="1">
                <a:spLocks noChangeArrowheads="1"/>
              </p:cNvSpPr>
              <p:nvPr/>
            </p:nvSpPr>
            <p:spPr bwMode="auto">
              <a:xfrm>
                <a:off x="1295400" y="2286000"/>
                <a:ext cx="1005403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(N)-Layer-A</a:t>
                </a:r>
              </a:p>
            </p:txBody>
          </p:sp>
          <p:sp>
            <p:nvSpPr>
              <p:cNvPr id="25" name="Text Box 21"/>
              <p:cNvSpPr txBox="1">
                <a:spLocks noChangeArrowheads="1"/>
              </p:cNvSpPr>
              <p:nvPr/>
            </p:nvSpPr>
            <p:spPr bwMode="auto">
              <a:xfrm>
                <a:off x="5715000" y="2514600"/>
                <a:ext cx="1313180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New IPC Process</a:t>
                </a:r>
              </a:p>
            </p:txBody>
          </p:sp>
          <p:sp>
            <p:nvSpPr>
              <p:cNvPr id="26" name="Oval 22"/>
              <p:cNvSpPr>
                <a:spLocks noChangeArrowheads="1"/>
              </p:cNvSpPr>
              <p:nvPr/>
            </p:nvSpPr>
            <p:spPr bwMode="auto">
              <a:xfrm>
                <a:off x="16764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" name="Oval 23"/>
              <p:cNvSpPr>
                <a:spLocks noChangeArrowheads="1"/>
              </p:cNvSpPr>
              <p:nvPr/>
            </p:nvSpPr>
            <p:spPr bwMode="auto">
              <a:xfrm>
                <a:off x="23622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" name="Oval 24"/>
              <p:cNvSpPr>
                <a:spLocks noChangeArrowheads="1"/>
              </p:cNvSpPr>
              <p:nvPr/>
            </p:nvSpPr>
            <p:spPr bwMode="auto">
              <a:xfrm>
                <a:off x="41910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" name="Oval 25"/>
              <p:cNvSpPr>
                <a:spLocks noChangeArrowheads="1"/>
              </p:cNvSpPr>
              <p:nvPr/>
            </p:nvSpPr>
            <p:spPr bwMode="auto">
              <a:xfrm>
                <a:off x="6172200" y="2819400"/>
                <a:ext cx="5334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419600" y="3657600"/>
                <a:ext cx="1752600" cy="457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" name="Text Box 27"/>
              <p:cNvSpPr txBox="1">
                <a:spLocks noChangeArrowheads="1"/>
              </p:cNvSpPr>
              <p:nvPr/>
            </p:nvSpPr>
            <p:spPr bwMode="auto">
              <a:xfrm>
                <a:off x="4800600" y="3733800"/>
                <a:ext cx="1127607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(N-1)-Layer-C</a:t>
                </a:r>
              </a:p>
            </p:txBody>
          </p:sp>
          <p:sp>
            <p:nvSpPr>
              <p:cNvPr id="32" name="Line 28"/>
              <p:cNvSpPr>
                <a:spLocks noChangeShapeType="1"/>
              </p:cNvSpPr>
              <p:nvPr/>
            </p:nvSpPr>
            <p:spPr bwMode="auto">
              <a:xfrm flipH="1">
                <a:off x="6096000" y="3276600"/>
                <a:ext cx="304800" cy="381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3" name="Line 29"/>
              <p:cNvSpPr>
                <a:spLocks noChangeShapeType="1"/>
              </p:cNvSpPr>
              <p:nvPr/>
            </p:nvSpPr>
            <p:spPr bwMode="auto">
              <a:xfrm>
                <a:off x="4495800" y="3276600"/>
                <a:ext cx="228600" cy="381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" name="Text Box 31"/>
              <p:cNvSpPr txBox="1">
                <a:spLocks noChangeArrowheads="1"/>
              </p:cNvSpPr>
              <p:nvPr/>
            </p:nvSpPr>
            <p:spPr bwMode="auto">
              <a:xfrm>
                <a:off x="6172200" y="2895600"/>
                <a:ext cx="556563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NEW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429000" y="2819400"/>
                <a:ext cx="8516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</a:rPr>
                  <a:t>MEMBER</a:t>
                </a:r>
              </a:p>
            </p:txBody>
          </p:sp>
        </p:grpSp>
        <p:cxnSp>
          <p:nvCxnSpPr>
            <p:cNvPr id="22" name="Straight Arrow Connector 21"/>
            <p:cNvCxnSpPr>
              <a:endCxn id="34" idx="1"/>
            </p:cNvCxnSpPr>
            <p:nvPr/>
          </p:nvCxnSpPr>
          <p:spPr bwMode="auto">
            <a:xfrm flipV="1">
              <a:off x="4800600" y="3034100"/>
              <a:ext cx="1371600" cy="139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Joining an IPC Facility: IV</a:t>
            </a:r>
          </a:p>
        </p:txBody>
      </p:sp>
      <p:sp>
        <p:nvSpPr>
          <p:cNvPr id="264195" name="Rectangle 3"/>
          <p:cNvSpPr>
            <a:spLocks noChangeArrowheads="1"/>
          </p:cNvSpPr>
          <p:nvPr/>
        </p:nvSpPr>
        <p:spPr bwMode="auto">
          <a:xfrm>
            <a:off x="457200" y="3733800"/>
            <a:ext cx="7772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Once complete,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is updated with current routing and resource allocation information and establishes connections with other 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rPr>
              <a:t>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nearest neighbors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rPr>
              <a:t>”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 who are members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.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Notice that this mechanism replaces  DHCP,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IPsec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, ICMP, and SNMP.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There is a procedure almost identical to this in 802.11.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More complex approach has been developed that assumes that the new member is joining the DIF after a crash and has recently been a member. Once authenticated the existing member determines whether a new address is necessary and then lets the new member determine what other information it needs.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No, this is not a connection-oriented model any more than IP running over SONET is connection-oriented. The forwarding of user-PDUs occurs within the distributed IPC-application. The mechanisms used to accomplish this may be either connectionless or connection-oriented. That depends entirely on the degree to which the forwarding decision of a PDU depends on the density of traffic.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1447800" y="2514600"/>
            <a:ext cx="5715000" cy="685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1371600" y="2057400"/>
            <a:ext cx="10054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(N)-Layer-A</a:t>
            </a:r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1752600" y="25908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2438400" y="25908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4267200" y="25908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6248400" y="2590800"/>
            <a:ext cx="533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6248400" y="2667000"/>
            <a:ext cx="5565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5200" y="2590800"/>
            <a:ext cx="851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MEMBER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How Does It Work?</a:t>
            </a:r>
            <a:br>
              <a:rPr lang="en-US"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>
                <a:latin typeface="Times" charset="0"/>
                <a:ea typeface="ＭＳ Ｐゴシック" charset="0"/>
                <a:cs typeface="ＭＳ Ｐゴシック" charset="0"/>
              </a:rPr>
              <a:t>Enrollment or</a:t>
            </a:r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>
                <a:latin typeface="Times" charset="0"/>
                <a:ea typeface="ＭＳ Ｐゴシック" charset="0"/>
                <a:cs typeface="ＭＳ Ｐゴシック" charset="0"/>
              </a:rPr>
              <a:t>Joining a Layer</a:t>
            </a:r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4343400"/>
            <a:ext cx="8229600" cy="1219200"/>
          </a:xfrm>
        </p:spPr>
        <p:txBody>
          <a:bodyPr/>
          <a:lstStyle/>
          <a:p>
            <a:pPr eaLnBrk="1" hangingPunct="1"/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Nothing more than Applications establishing communication (for management)</a:t>
            </a:r>
          </a:p>
          <a:p>
            <a:pPr lvl="1" eaLnBrk="1" hangingPunct="1"/>
            <a:r>
              <a:rPr lang="en-US" sz="1600">
                <a:latin typeface="Times" charset="0"/>
                <a:ea typeface="ＭＳ Ｐゴシック" charset="0"/>
              </a:rPr>
              <a:t>Authenticating that A is a valid member of the (N)-DIF</a:t>
            </a:r>
          </a:p>
          <a:p>
            <a:pPr lvl="1" eaLnBrk="1" hangingPunct="1"/>
            <a:r>
              <a:rPr lang="en-US" sz="1600">
                <a:latin typeface="Times" charset="0"/>
                <a:ea typeface="ＭＳ Ｐゴシック" charset="0"/>
              </a:rPr>
              <a:t>Initializing it with the current information on the DIF </a:t>
            </a:r>
          </a:p>
          <a:p>
            <a:pPr lvl="1" eaLnBrk="1" hangingPunct="1"/>
            <a:r>
              <a:rPr lang="en-US" sz="1600">
                <a:latin typeface="Times" charset="0"/>
                <a:ea typeface="ＭＳ Ｐゴシック" charset="0"/>
              </a:rPr>
              <a:t>Assigning it a synonym to facilitate finding IPC Processes in the DIF, i.e. an address</a:t>
            </a:r>
          </a:p>
          <a:p>
            <a:pPr lvl="1" eaLnBrk="1" hangingPunct="1"/>
            <a:r>
              <a:rPr lang="en-US" sz="1600">
                <a:latin typeface="Times" charset="0"/>
                <a:ea typeface="ＭＳ Ｐゴシック" charset="0"/>
              </a:rPr>
              <a:t>(see the Enrollment specification for an example.)</a:t>
            </a:r>
          </a:p>
        </p:txBody>
      </p:sp>
      <p:grpSp>
        <p:nvGrpSpPr>
          <p:cNvPr id="45059" name="Group 4"/>
          <p:cNvGrpSpPr>
            <a:grpSpLocks/>
          </p:cNvGrpSpPr>
          <p:nvPr/>
        </p:nvGrpSpPr>
        <p:grpSpPr bwMode="auto">
          <a:xfrm>
            <a:off x="1143000" y="2133600"/>
            <a:ext cx="7467600" cy="1828800"/>
            <a:chOff x="624" y="1680"/>
            <a:chExt cx="4704" cy="1152"/>
          </a:xfrm>
        </p:grpSpPr>
        <p:grpSp>
          <p:nvGrpSpPr>
            <p:cNvPr id="45062" name="Group 5"/>
            <p:cNvGrpSpPr>
              <a:grpSpLocks/>
            </p:cNvGrpSpPr>
            <p:nvPr/>
          </p:nvGrpSpPr>
          <p:grpSpPr bwMode="auto">
            <a:xfrm>
              <a:off x="624" y="2016"/>
              <a:ext cx="576" cy="288"/>
              <a:chOff x="576" y="1680"/>
              <a:chExt cx="1248" cy="720"/>
            </a:xfrm>
          </p:grpSpPr>
          <p:sp>
            <p:nvSpPr>
              <p:cNvPr id="45211" name="Rectangle 6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12" name="Oval 7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13" name="Oval 8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14" name="Oval 9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215" name="Group 10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219" name="Oval 11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220" name="Oval 12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221" name="Line 13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222" name="Line 14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216" name="Rectangle 15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17" name="Oval 16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18" name="Oval 17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63" name="Group 18"/>
            <p:cNvGrpSpPr>
              <a:grpSpLocks/>
            </p:cNvGrpSpPr>
            <p:nvPr/>
          </p:nvGrpSpPr>
          <p:grpSpPr bwMode="auto">
            <a:xfrm>
              <a:off x="2112" y="2016"/>
              <a:ext cx="432" cy="240"/>
              <a:chOff x="576" y="1680"/>
              <a:chExt cx="1248" cy="720"/>
            </a:xfrm>
          </p:grpSpPr>
          <p:sp>
            <p:nvSpPr>
              <p:cNvPr id="45199" name="Rectangle 19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00" name="Oval 20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01" name="Oval 21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02" name="Oval 22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203" name="Group 23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207" name="Oval 24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208" name="Oval 25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209" name="Line 26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210" name="Line 27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204" name="Rectangle 28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05" name="Oval 29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206" name="Oval 30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5064" name="Oval 31"/>
            <p:cNvSpPr>
              <a:spLocks noChangeArrowheads="1"/>
            </p:cNvSpPr>
            <p:nvPr/>
          </p:nvSpPr>
          <p:spPr bwMode="auto">
            <a:xfrm>
              <a:off x="1968" y="1776"/>
              <a:ext cx="3360" cy="8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45065" name="Group 32"/>
            <p:cNvGrpSpPr>
              <a:grpSpLocks/>
            </p:cNvGrpSpPr>
            <p:nvPr/>
          </p:nvGrpSpPr>
          <p:grpSpPr bwMode="auto">
            <a:xfrm>
              <a:off x="3072" y="1920"/>
              <a:ext cx="240" cy="144"/>
              <a:chOff x="576" y="1680"/>
              <a:chExt cx="1248" cy="720"/>
            </a:xfrm>
          </p:grpSpPr>
          <p:sp>
            <p:nvSpPr>
              <p:cNvPr id="45187" name="Rectangle 33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88" name="Oval 34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89" name="Oval 35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90" name="Oval 36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91" name="Group 37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95" name="Oval 38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96" name="Oval 39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97" name="Line 40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98" name="Line 41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92" name="Rectangle 42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93" name="Oval 43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94" name="Oval 44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66" name="Group 45"/>
            <p:cNvGrpSpPr>
              <a:grpSpLocks/>
            </p:cNvGrpSpPr>
            <p:nvPr/>
          </p:nvGrpSpPr>
          <p:grpSpPr bwMode="auto">
            <a:xfrm>
              <a:off x="3552" y="1872"/>
              <a:ext cx="240" cy="144"/>
              <a:chOff x="576" y="1680"/>
              <a:chExt cx="1248" cy="720"/>
            </a:xfrm>
          </p:grpSpPr>
          <p:sp>
            <p:nvSpPr>
              <p:cNvPr id="45175" name="Rectangle 46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76" name="Oval 47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77" name="Oval 48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78" name="Oval 49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79" name="Group 50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83" name="Oval 51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84" name="Oval 52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85" name="Line 53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86" name="Line 54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80" name="Rectangle 55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81" name="Oval 56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82" name="Oval 57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67" name="Group 58"/>
            <p:cNvGrpSpPr>
              <a:grpSpLocks/>
            </p:cNvGrpSpPr>
            <p:nvPr/>
          </p:nvGrpSpPr>
          <p:grpSpPr bwMode="auto">
            <a:xfrm>
              <a:off x="4080" y="1920"/>
              <a:ext cx="240" cy="144"/>
              <a:chOff x="576" y="1680"/>
              <a:chExt cx="1248" cy="720"/>
            </a:xfrm>
          </p:grpSpPr>
          <p:sp>
            <p:nvSpPr>
              <p:cNvPr id="45163" name="Rectangle 59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64" name="Oval 60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65" name="Oval 61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66" name="Oval 62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67" name="Group 63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71" name="Oval 64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72" name="Oval 65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73" name="Line 66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74" name="Line 67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68" name="Rectangle 68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69" name="Oval 69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70" name="Oval 70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68" name="Group 71"/>
            <p:cNvGrpSpPr>
              <a:grpSpLocks/>
            </p:cNvGrpSpPr>
            <p:nvPr/>
          </p:nvGrpSpPr>
          <p:grpSpPr bwMode="auto">
            <a:xfrm>
              <a:off x="4704" y="2304"/>
              <a:ext cx="240" cy="144"/>
              <a:chOff x="576" y="1680"/>
              <a:chExt cx="1248" cy="720"/>
            </a:xfrm>
          </p:grpSpPr>
          <p:sp>
            <p:nvSpPr>
              <p:cNvPr id="45151" name="Rectangle 72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52" name="Oval 73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53" name="Oval 74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54" name="Oval 75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55" name="Group 76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59" name="Oval 77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60" name="Oval 78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61" name="Line 79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62" name="Line 80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56" name="Rectangle 81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57" name="Oval 82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58" name="Oval 83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69" name="Group 84"/>
            <p:cNvGrpSpPr>
              <a:grpSpLocks/>
            </p:cNvGrpSpPr>
            <p:nvPr/>
          </p:nvGrpSpPr>
          <p:grpSpPr bwMode="auto">
            <a:xfrm>
              <a:off x="4032" y="2448"/>
              <a:ext cx="240" cy="144"/>
              <a:chOff x="576" y="1680"/>
              <a:chExt cx="1248" cy="720"/>
            </a:xfrm>
          </p:grpSpPr>
          <p:sp>
            <p:nvSpPr>
              <p:cNvPr id="45139" name="Rectangle 85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0" name="Oval 86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1" name="Oval 87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2" name="Oval 88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43" name="Group 89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47" name="Oval 90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48" name="Oval 91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49" name="Line 92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50" name="Line 93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44" name="Rectangle 94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5" name="Oval 95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46" name="Oval 96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70" name="Group 97"/>
            <p:cNvGrpSpPr>
              <a:grpSpLocks/>
            </p:cNvGrpSpPr>
            <p:nvPr/>
          </p:nvGrpSpPr>
          <p:grpSpPr bwMode="auto">
            <a:xfrm>
              <a:off x="3504" y="2448"/>
              <a:ext cx="240" cy="144"/>
              <a:chOff x="576" y="1680"/>
              <a:chExt cx="1248" cy="720"/>
            </a:xfrm>
          </p:grpSpPr>
          <p:sp>
            <p:nvSpPr>
              <p:cNvPr id="45127" name="Rectangle 98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28" name="Oval 99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29" name="Oval 100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30" name="Oval 101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31" name="Group 102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35" name="Oval 103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36" name="Oval 104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37" name="Line 105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38" name="Line 106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32" name="Rectangle 107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33" name="Oval 108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34" name="Oval 109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71" name="Group 110"/>
            <p:cNvGrpSpPr>
              <a:grpSpLocks/>
            </p:cNvGrpSpPr>
            <p:nvPr/>
          </p:nvGrpSpPr>
          <p:grpSpPr bwMode="auto">
            <a:xfrm>
              <a:off x="2952" y="2400"/>
              <a:ext cx="240" cy="144"/>
              <a:chOff x="576" y="1680"/>
              <a:chExt cx="1248" cy="720"/>
            </a:xfrm>
          </p:grpSpPr>
          <p:sp>
            <p:nvSpPr>
              <p:cNvPr id="45115" name="Rectangle 111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6" name="Oval 112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7" name="Oval 113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8" name="Oval 114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19" name="Group 115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23" name="Oval 116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24" name="Oval 117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25" name="Line 118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26" name="Line 119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20" name="Rectangle 120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21" name="Oval 121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22" name="Oval 122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72" name="Group 123"/>
            <p:cNvGrpSpPr>
              <a:grpSpLocks/>
            </p:cNvGrpSpPr>
            <p:nvPr/>
          </p:nvGrpSpPr>
          <p:grpSpPr bwMode="auto">
            <a:xfrm>
              <a:off x="3984" y="2160"/>
              <a:ext cx="240" cy="144"/>
              <a:chOff x="576" y="1680"/>
              <a:chExt cx="1248" cy="720"/>
            </a:xfrm>
          </p:grpSpPr>
          <p:sp>
            <p:nvSpPr>
              <p:cNvPr id="45103" name="Rectangle 124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04" name="Oval 125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05" name="Oval 126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06" name="Oval 127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107" name="Group 128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111" name="Oval 129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12" name="Oval 130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13" name="Line 131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14" name="Line 132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108" name="Rectangle 133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09" name="Oval 134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110" name="Oval 135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73" name="Group 136"/>
            <p:cNvGrpSpPr>
              <a:grpSpLocks/>
            </p:cNvGrpSpPr>
            <p:nvPr/>
          </p:nvGrpSpPr>
          <p:grpSpPr bwMode="auto">
            <a:xfrm>
              <a:off x="4608" y="2016"/>
              <a:ext cx="240" cy="144"/>
              <a:chOff x="576" y="1680"/>
              <a:chExt cx="1248" cy="720"/>
            </a:xfrm>
          </p:grpSpPr>
          <p:sp>
            <p:nvSpPr>
              <p:cNvPr id="45091" name="Rectangle 137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92" name="Oval 138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93" name="Oval 139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94" name="Oval 140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095" name="Group 141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099" name="Oval 142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00" name="Oval 143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01" name="Line 144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102" name="Line 145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096" name="Rectangle 146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97" name="Oval 147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98" name="Oval 148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5074" name="Group 149"/>
            <p:cNvGrpSpPr>
              <a:grpSpLocks/>
            </p:cNvGrpSpPr>
            <p:nvPr/>
          </p:nvGrpSpPr>
          <p:grpSpPr bwMode="auto">
            <a:xfrm>
              <a:off x="3456" y="2160"/>
              <a:ext cx="240" cy="144"/>
              <a:chOff x="576" y="1680"/>
              <a:chExt cx="1248" cy="720"/>
            </a:xfrm>
          </p:grpSpPr>
          <p:sp>
            <p:nvSpPr>
              <p:cNvPr id="45079" name="Rectangle 150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0" name="Oval 151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1" name="Oval 152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2" name="Oval 153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5083" name="Group 154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45087" name="Oval 155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088" name="Oval 156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089" name="Line 157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45090" name="Line 158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5084" name="Rectangle 159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5" name="Oval 160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086" name="Oval 161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5075" name="Oval 162"/>
            <p:cNvSpPr>
              <a:spLocks noChangeArrowheads="1"/>
            </p:cNvSpPr>
            <p:nvPr/>
          </p:nvSpPr>
          <p:spPr bwMode="auto">
            <a:xfrm>
              <a:off x="960" y="2448"/>
              <a:ext cx="1392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(N-1)-DIF</a:t>
              </a:r>
            </a:p>
          </p:txBody>
        </p:sp>
        <p:sp>
          <p:nvSpPr>
            <p:cNvPr id="45076" name="Line 163"/>
            <p:cNvSpPr>
              <a:spLocks noChangeShapeType="1"/>
            </p:cNvSpPr>
            <p:nvPr/>
          </p:nvSpPr>
          <p:spPr bwMode="auto">
            <a:xfrm>
              <a:off x="1104" y="225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077" name="Line 164"/>
            <p:cNvSpPr>
              <a:spLocks noChangeShapeType="1"/>
            </p:cNvSpPr>
            <p:nvPr/>
          </p:nvSpPr>
          <p:spPr bwMode="auto">
            <a:xfrm flipH="1">
              <a:off x="1968" y="225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078" name="Text Box 165"/>
            <p:cNvSpPr txBox="1">
              <a:spLocks noChangeArrowheads="1"/>
            </p:cNvSpPr>
            <p:nvPr/>
          </p:nvSpPr>
          <p:spPr bwMode="auto">
            <a:xfrm>
              <a:off x="2636" y="1680"/>
              <a:ext cx="4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(N)-DIF</a:t>
              </a:r>
            </a:p>
          </p:txBody>
        </p:sp>
      </p:grpSp>
      <p:sp>
        <p:nvSpPr>
          <p:cNvPr id="31910" name="Line 166"/>
          <p:cNvSpPr>
            <a:spLocks noChangeShapeType="1"/>
          </p:cNvSpPr>
          <p:nvPr/>
        </p:nvSpPr>
        <p:spPr bwMode="auto">
          <a:xfrm>
            <a:off x="2057400" y="2895600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5061" name="Text Box 167"/>
          <p:cNvSpPr txBox="1">
            <a:spLocks noChangeArrowheads="1"/>
          </p:cNvSpPr>
          <p:nvPr/>
        </p:nvSpPr>
        <p:spPr bwMode="auto">
          <a:xfrm>
            <a:off x="1371600" y="2438400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A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  <p:bldP spid="319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Enrollment</a:t>
            </a:r>
            <a:br>
              <a:rPr lang="en-US"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 sz="2000">
                <a:latin typeface="Times" charset="0"/>
                <a:ea typeface="ＭＳ Ｐゴシック" charset="0"/>
                <a:cs typeface="ＭＳ Ｐゴシック" charset="0"/>
              </a:rPr>
              <a:t>Details: The Naïve Approach</a:t>
            </a:r>
            <a:endParaRPr lang="en-US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5334000"/>
            <a:ext cx="7848600" cy="990600"/>
          </a:xfrm>
        </p:spPr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First, create a flow with the lower layer.  </a:t>
            </a:r>
          </a:p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Then, create an application connection with a member of the DIF at this layer, then authenticate each other. If successful, proceed to enroll.</a:t>
            </a:r>
          </a:p>
        </p:txBody>
      </p:sp>
      <p:sp>
        <p:nvSpPr>
          <p:cNvPr id="47107" name="Line 4"/>
          <p:cNvSpPr>
            <a:spLocks noChangeShapeType="1"/>
          </p:cNvSpPr>
          <p:nvPr/>
        </p:nvSpPr>
        <p:spPr bwMode="auto">
          <a:xfrm>
            <a:off x="3733800" y="1447800"/>
            <a:ext cx="14288" cy="38433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08" name="Line 5"/>
          <p:cNvSpPr>
            <a:spLocks noChangeShapeType="1"/>
          </p:cNvSpPr>
          <p:nvPr/>
        </p:nvSpPr>
        <p:spPr bwMode="auto">
          <a:xfrm>
            <a:off x="5334000" y="1447800"/>
            <a:ext cx="12700" cy="38449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09" name="Text Box 6"/>
          <p:cNvSpPr txBox="1">
            <a:spLocks noChangeArrowheads="1"/>
          </p:cNvSpPr>
          <p:nvPr/>
        </p:nvSpPr>
        <p:spPr bwMode="auto">
          <a:xfrm>
            <a:off x="2209800" y="1333500"/>
            <a:ext cx="1447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Allocate (N-1)-flow</a:t>
            </a:r>
          </a:p>
        </p:txBody>
      </p:sp>
      <p:sp>
        <p:nvSpPr>
          <p:cNvPr id="47110" name="Text Box 7"/>
          <p:cNvSpPr txBox="1">
            <a:spLocks noChangeArrowheads="1"/>
          </p:cNvSpPr>
          <p:nvPr/>
        </p:nvSpPr>
        <p:spPr bwMode="auto">
          <a:xfrm>
            <a:off x="2881313" y="1638300"/>
            <a:ext cx="739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Connect</a:t>
            </a:r>
          </a:p>
        </p:txBody>
      </p:sp>
      <p:sp>
        <p:nvSpPr>
          <p:cNvPr id="47111" name="Line 8"/>
          <p:cNvSpPr>
            <a:spLocks noChangeShapeType="1"/>
          </p:cNvSpPr>
          <p:nvPr/>
        </p:nvSpPr>
        <p:spPr bwMode="auto">
          <a:xfrm>
            <a:off x="3733800" y="16383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12" name="Line 9"/>
          <p:cNvSpPr>
            <a:spLocks noChangeShapeType="1"/>
          </p:cNvSpPr>
          <p:nvPr/>
        </p:nvSpPr>
        <p:spPr bwMode="auto">
          <a:xfrm flipH="1">
            <a:off x="3733800" y="2019300"/>
            <a:ext cx="1600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13" name="Text Box 10"/>
          <p:cNvSpPr txBox="1">
            <a:spLocks noChangeArrowheads="1"/>
          </p:cNvSpPr>
          <p:nvPr/>
        </p:nvSpPr>
        <p:spPr bwMode="auto">
          <a:xfrm>
            <a:off x="5410200" y="1790700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Connect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Response</a:t>
            </a:r>
          </a:p>
        </p:txBody>
      </p:sp>
      <p:sp>
        <p:nvSpPr>
          <p:cNvPr id="47114" name="Line 12"/>
          <p:cNvSpPr>
            <a:spLocks noChangeShapeType="1"/>
          </p:cNvSpPr>
          <p:nvPr/>
        </p:nvSpPr>
        <p:spPr bwMode="auto">
          <a:xfrm flipH="1">
            <a:off x="3733800" y="27813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15" name="Line 13"/>
          <p:cNvSpPr>
            <a:spLocks noChangeShapeType="1"/>
          </p:cNvSpPr>
          <p:nvPr/>
        </p:nvSpPr>
        <p:spPr bwMode="auto">
          <a:xfrm flipH="1">
            <a:off x="3733800" y="30099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16" name="Text Box 14"/>
          <p:cNvSpPr txBox="1">
            <a:spLocks noChangeArrowheads="1"/>
          </p:cNvSpPr>
          <p:nvPr/>
        </p:nvSpPr>
        <p:spPr bwMode="auto">
          <a:xfrm>
            <a:off x="5424488" y="2743200"/>
            <a:ext cx="189071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Start Enrollment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Write New Synonym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Initialize New Member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With static info and some dynamic info.</a:t>
            </a:r>
          </a:p>
        </p:txBody>
      </p:sp>
      <p:sp>
        <p:nvSpPr>
          <p:cNvPr id="47117" name="Line 15"/>
          <p:cNvSpPr>
            <a:spLocks noChangeShapeType="1"/>
          </p:cNvSpPr>
          <p:nvPr/>
        </p:nvSpPr>
        <p:spPr bwMode="auto">
          <a:xfrm flipH="1">
            <a:off x="3733800" y="32385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18" name="Line 16"/>
          <p:cNvSpPr>
            <a:spLocks noChangeShapeType="1"/>
          </p:cNvSpPr>
          <p:nvPr/>
        </p:nvSpPr>
        <p:spPr bwMode="auto">
          <a:xfrm flipH="1">
            <a:off x="3733800" y="3392488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19" name="Line 18"/>
          <p:cNvSpPr>
            <a:spLocks noChangeShapeType="1"/>
          </p:cNvSpPr>
          <p:nvPr/>
        </p:nvSpPr>
        <p:spPr bwMode="auto">
          <a:xfrm flipH="1">
            <a:off x="3733800" y="36957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0" name="Line 19"/>
          <p:cNvSpPr>
            <a:spLocks noChangeShapeType="1"/>
          </p:cNvSpPr>
          <p:nvPr/>
        </p:nvSpPr>
        <p:spPr bwMode="auto">
          <a:xfrm>
            <a:off x="3733800" y="31623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1" name="Line 20"/>
          <p:cNvSpPr>
            <a:spLocks noChangeShapeType="1"/>
          </p:cNvSpPr>
          <p:nvPr/>
        </p:nvSpPr>
        <p:spPr bwMode="auto">
          <a:xfrm>
            <a:off x="3733800" y="33909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2" name="Line 21"/>
          <p:cNvSpPr>
            <a:spLocks noChangeShapeType="1"/>
          </p:cNvSpPr>
          <p:nvPr/>
        </p:nvSpPr>
        <p:spPr bwMode="auto">
          <a:xfrm>
            <a:off x="3733800" y="36195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3" name="Line 22"/>
          <p:cNvSpPr>
            <a:spLocks noChangeShapeType="1"/>
          </p:cNvSpPr>
          <p:nvPr/>
        </p:nvSpPr>
        <p:spPr bwMode="auto">
          <a:xfrm>
            <a:off x="3733800" y="38481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4" name="Line 23"/>
          <p:cNvSpPr>
            <a:spLocks noChangeShapeType="1"/>
          </p:cNvSpPr>
          <p:nvPr/>
        </p:nvSpPr>
        <p:spPr bwMode="auto">
          <a:xfrm>
            <a:off x="3733800" y="40767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5" name="Text Box 24"/>
          <p:cNvSpPr txBox="1">
            <a:spLocks noChangeArrowheads="1"/>
          </p:cNvSpPr>
          <p:nvPr/>
        </p:nvSpPr>
        <p:spPr bwMode="auto">
          <a:xfrm>
            <a:off x="2514600" y="2933700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Write Responses</a:t>
            </a:r>
          </a:p>
        </p:txBody>
      </p:sp>
      <p:sp>
        <p:nvSpPr>
          <p:cNvPr id="47126" name="Text Box 25"/>
          <p:cNvSpPr txBox="1">
            <a:spLocks noChangeArrowheads="1"/>
          </p:cNvSpPr>
          <p:nvPr/>
        </p:nvSpPr>
        <p:spPr bwMode="auto">
          <a:xfrm>
            <a:off x="4572000" y="3429000"/>
            <a:ext cx="2286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800">
                <a:solidFill>
                  <a:srgbClr val="000000"/>
                </a:solidFill>
              </a:rPr>
              <a:t>•••</a:t>
            </a:r>
          </a:p>
        </p:txBody>
      </p:sp>
      <p:sp>
        <p:nvSpPr>
          <p:cNvPr id="47127" name="Line 26"/>
          <p:cNvSpPr>
            <a:spLocks noChangeShapeType="1"/>
          </p:cNvSpPr>
          <p:nvPr/>
        </p:nvSpPr>
        <p:spPr bwMode="auto">
          <a:xfrm flipH="1">
            <a:off x="3771900" y="4495800"/>
            <a:ext cx="1600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128" name="Text Box 27"/>
          <p:cNvSpPr txBox="1">
            <a:spLocks noChangeArrowheads="1"/>
          </p:cNvSpPr>
          <p:nvPr/>
        </p:nvSpPr>
        <p:spPr bwMode="auto">
          <a:xfrm>
            <a:off x="5410200" y="4343400"/>
            <a:ext cx="16002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Stop Enrollment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Cause RIB Update to update dynamic info.</a:t>
            </a:r>
          </a:p>
        </p:txBody>
      </p:sp>
      <p:sp>
        <p:nvSpPr>
          <p:cNvPr id="47129" name="Rectangle 29"/>
          <p:cNvSpPr>
            <a:spLocks noChangeArrowheads="1"/>
          </p:cNvSpPr>
          <p:nvPr/>
        </p:nvSpPr>
        <p:spPr bwMode="auto">
          <a:xfrm>
            <a:off x="4013200" y="2400300"/>
            <a:ext cx="115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Authentication Exchange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Enrollment</a:t>
            </a:r>
            <a:br>
              <a:rPr lang="en-US"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 sz="2000">
                <a:latin typeface="Times" charset="0"/>
                <a:ea typeface="ＭＳ Ｐゴシック" charset="0"/>
                <a:cs typeface="ＭＳ Ｐゴシック" charset="0"/>
              </a:rPr>
              <a:t>Resource Allocation Layers</a:t>
            </a:r>
            <a:endParaRPr lang="en-US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If a member fails and reappears (router crash), can’</a:t>
            </a:r>
            <a:r>
              <a:rPr lang="en-US" altLang="ja-JP">
                <a:latin typeface="Times" charset="0"/>
                <a:ea typeface="ＭＳ Ｐゴシック" charset="0"/>
                <a:cs typeface="ＭＳ Ｐゴシック" charset="0"/>
              </a:rPr>
              <a:t>t assume all is well.</a:t>
            </a:r>
          </a:p>
          <a:p>
            <a:pPr lvl="1"/>
            <a:r>
              <a:rPr lang="en-US">
                <a:latin typeface="Times" charset="0"/>
                <a:ea typeface="ＭＳ Ｐゴシック" charset="0"/>
              </a:rPr>
              <a:t>OTOH, the naïve approach would be onerous.</a:t>
            </a:r>
          </a:p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Assume that most Enrollment requests are members dropping out and coming back.</a:t>
            </a:r>
          </a:p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Assume that state information they have (including addresses assigned to them) has a lifetime.  If gone a short amount of time, then assume it is still good; otherwise, upload. (But still has to authenticate) </a:t>
            </a:r>
          </a:p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But to save time, let the new member decide what to upload.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Enrollment</a:t>
            </a:r>
            <a:br>
              <a:rPr lang="en-US"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 sz="2000">
                <a:latin typeface="Times" charset="0"/>
                <a:ea typeface="ＭＳ Ｐゴシック" charset="0"/>
                <a:cs typeface="ＭＳ Ｐゴシック" charset="0"/>
              </a:rPr>
              <a:t>A Pragmatic Approach for Resource Sharing Layers</a:t>
            </a:r>
            <a:endParaRPr lang="en-US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5105400"/>
            <a:ext cx="7848600" cy="990600"/>
          </a:xfrm>
        </p:spPr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First part is the same.</a:t>
            </a:r>
          </a:p>
        </p:txBody>
      </p:sp>
      <p:sp>
        <p:nvSpPr>
          <p:cNvPr id="51203" name="Line 4"/>
          <p:cNvSpPr>
            <a:spLocks noChangeShapeType="1"/>
          </p:cNvSpPr>
          <p:nvPr/>
        </p:nvSpPr>
        <p:spPr bwMode="auto">
          <a:xfrm>
            <a:off x="3733800" y="1447800"/>
            <a:ext cx="1588" cy="3632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04" name="Line 5"/>
          <p:cNvSpPr>
            <a:spLocks noChangeShapeType="1"/>
          </p:cNvSpPr>
          <p:nvPr/>
        </p:nvSpPr>
        <p:spPr bwMode="auto">
          <a:xfrm>
            <a:off x="5334000" y="1447800"/>
            <a:ext cx="0" cy="3657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2209800" y="1333500"/>
            <a:ext cx="1447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Allocate (N-1)-flow</a:t>
            </a:r>
          </a:p>
        </p:txBody>
      </p:sp>
      <p:sp>
        <p:nvSpPr>
          <p:cNvPr id="51206" name="Text Box 7"/>
          <p:cNvSpPr txBox="1">
            <a:spLocks noChangeArrowheads="1"/>
          </p:cNvSpPr>
          <p:nvPr/>
        </p:nvSpPr>
        <p:spPr bwMode="auto">
          <a:xfrm>
            <a:off x="2881313" y="1638300"/>
            <a:ext cx="739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Connect</a:t>
            </a:r>
          </a:p>
        </p:txBody>
      </p:sp>
      <p:sp>
        <p:nvSpPr>
          <p:cNvPr id="51207" name="Line 8"/>
          <p:cNvSpPr>
            <a:spLocks noChangeShapeType="1"/>
          </p:cNvSpPr>
          <p:nvPr/>
        </p:nvSpPr>
        <p:spPr bwMode="auto">
          <a:xfrm>
            <a:off x="3733800" y="16383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08" name="Line 9"/>
          <p:cNvSpPr>
            <a:spLocks noChangeShapeType="1"/>
          </p:cNvSpPr>
          <p:nvPr/>
        </p:nvSpPr>
        <p:spPr bwMode="auto">
          <a:xfrm flipH="1">
            <a:off x="3733800" y="2019300"/>
            <a:ext cx="1600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09" name="Text Box 10"/>
          <p:cNvSpPr txBox="1">
            <a:spLocks noChangeArrowheads="1"/>
          </p:cNvSpPr>
          <p:nvPr/>
        </p:nvSpPr>
        <p:spPr bwMode="auto">
          <a:xfrm>
            <a:off x="5410200" y="1790700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Connect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Response</a:t>
            </a:r>
          </a:p>
        </p:txBody>
      </p:sp>
      <p:sp>
        <p:nvSpPr>
          <p:cNvPr id="51210" name="Line 11"/>
          <p:cNvSpPr>
            <a:spLocks noChangeShapeType="1"/>
          </p:cNvSpPr>
          <p:nvPr/>
        </p:nvSpPr>
        <p:spPr bwMode="auto">
          <a:xfrm flipH="1">
            <a:off x="3733800" y="2781300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11" name="Text Box 13"/>
          <p:cNvSpPr txBox="1">
            <a:spLocks noChangeArrowheads="1"/>
          </p:cNvSpPr>
          <p:nvPr/>
        </p:nvSpPr>
        <p:spPr bwMode="auto">
          <a:xfrm>
            <a:off x="5486400" y="2552700"/>
            <a:ext cx="1606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Start Enrollment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Write New Synonym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Initialize New Member</a:t>
            </a:r>
          </a:p>
        </p:txBody>
      </p:sp>
      <p:sp>
        <p:nvSpPr>
          <p:cNvPr id="51212" name="Text Box 22"/>
          <p:cNvSpPr txBox="1">
            <a:spLocks noChangeArrowheads="1"/>
          </p:cNvSpPr>
          <p:nvPr/>
        </p:nvSpPr>
        <p:spPr bwMode="auto">
          <a:xfrm>
            <a:off x="2514600" y="2933700"/>
            <a:ext cx="1212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Write Responses</a:t>
            </a:r>
          </a:p>
        </p:txBody>
      </p:sp>
      <p:sp>
        <p:nvSpPr>
          <p:cNvPr id="51213" name="Rectangle 26"/>
          <p:cNvSpPr>
            <a:spLocks noChangeArrowheads="1"/>
          </p:cNvSpPr>
          <p:nvPr/>
        </p:nvSpPr>
        <p:spPr bwMode="auto">
          <a:xfrm>
            <a:off x="4013200" y="2400300"/>
            <a:ext cx="115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rPr>
              <a:t>Authentication Exchange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Enrollment Procedure I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i="1">
                <a:latin typeface="Times New Roman" charset="0"/>
                <a:ea typeface="ＭＳ Ｐゴシック" charset="0"/>
                <a:cs typeface="ＭＳ Ｐゴシック" charset="0"/>
              </a:rPr>
              <a:t>When the New Member receives the M_Connect Response, the New Member copies Current_Address to Saved_Address, it sends </a:t>
            </a:r>
          </a:p>
          <a:p>
            <a:pPr lvl="1"/>
            <a:r>
              <a:rPr lang="en-US" sz="1400" i="1">
                <a:latin typeface="Times New Roman" charset="0"/>
                <a:ea typeface="ＭＳ Ｐゴシック" charset="0"/>
                <a:sym typeface="Wingdings" charset="0"/>
              </a:rPr>
              <a:t></a:t>
            </a:r>
            <a:r>
              <a:rPr lang="en-US" sz="1400" i="1">
                <a:latin typeface="Times New Roman" charset="0"/>
                <a:ea typeface="ＭＳ Ｐゴシック" charset="0"/>
              </a:rPr>
              <a:t>   M_Start Enrollment(address, Address_expiration_time, other data about New Member)</a:t>
            </a:r>
            <a:endParaRPr lang="en-US" sz="1400">
              <a:latin typeface="Times New Roman" charset="0"/>
              <a:ea typeface="ＭＳ Ｐゴシック" charset="0"/>
            </a:endParaRP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/* The New Member is telling the Existing Member what it knows. Primarily this is derived from the address (NULL or not), and the expiration life-time of the address if non-NULL.  Since addresses are generally assigned for hours or minutes, tight time synchronization is not required.  (Even for DIFs with fast turnover, fairly long assignment times are still prudent.)*/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The Member sends 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</a:t>
            </a:r>
            <a:r>
              <a:rPr lang="en-US" sz="1400">
                <a:latin typeface="Times New Roman" charset="0"/>
                <a:ea typeface="ＭＳ Ｐゴシック" charset="0"/>
              </a:rPr>
              <a:t>  M_Start_R Enrollment(address (potentially different), Application Process Name, Current_Address, Address_Expiration).  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Enrollment Procedure II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Using the information, provided by the New Member, the Existing Member sends 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</a:t>
            </a:r>
            <a:r>
              <a:rPr lang="en-US" sz="1400">
                <a:latin typeface="Times New Roman" charset="0"/>
                <a:ea typeface="ＭＳ Ｐゴシック" charset="0"/>
              </a:rPr>
              <a:t>  M_Create (zero or more) to initialize the Static and Near Static information required.  When finished and the New Member has sent all necessary 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</a:t>
            </a:r>
            <a:r>
              <a:rPr lang="en-US" sz="1400">
                <a:latin typeface="Times New Roman" charset="0"/>
                <a:ea typeface="ＭＳ Ｐゴシック" charset="0"/>
              </a:rPr>
              <a:t>  M_Create_Rs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The Existing Member sends a </a:t>
            </a:r>
          </a:p>
          <a:p>
            <a:pPr lvl="1"/>
            <a:r>
              <a:rPr lang="en-US" sz="1600">
                <a:latin typeface="Times New Roman" charset="0"/>
                <a:ea typeface="ＭＳ Ｐゴシック" charset="0"/>
                <a:sym typeface="Wingdings" charset="0"/>
              </a:rPr>
              <a:t></a:t>
            </a:r>
            <a:r>
              <a:rPr lang="en-US" sz="1600">
                <a:latin typeface="Times New Roman" charset="0"/>
                <a:ea typeface="ＭＳ Ｐゴシック" charset="0"/>
              </a:rPr>
              <a:t>  </a:t>
            </a:r>
            <a:r>
              <a:rPr lang="en-US" sz="1400">
                <a:latin typeface="Times New Roman" charset="0"/>
                <a:ea typeface="ＭＳ Ｐゴシック" charset="0"/>
              </a:rPr>
              <a:t>M_Stop Enrollment (Immediate:Boolean) 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The New Member may Read any additional information not provided by the Existing Member.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</a:t>
            </a:r>
            <a:r>
              <a:rPr lang="en-US" sz="1400">
                <a:latin typeface="Times New Roman" charset="0"/>
                <a:ea typeface="ＭＳ Ｐゴシック" charset="0"/>
              </a:rPr>
              <a:t> M_Read (zero or more)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</a:t>
            </a:r>
            <a:r>
              <a:rPr lang="en-US" sz="1400">
                <a:latin typeface="Times New Roman" charset="0"/>
                <a:ea typeface="ＭＳ Ｐゴシック" charset="0"/>
              </a:rPr>
              <a:t> M_Stop_R Enrollment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If the Immediate Boolean is True, the New Member is free to transition to the Operational state.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If the Boolean Immediate is False, then the New Member can not transition to the Operational state until an M_Start Operation is received. 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Enrollment Procedure III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The New Member is free to Read any information not provided by the Existing Member.  Once these are completed, the Existing Member sends: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</a:t>
            </a:r>
            <a:r>
              <a:rPr lang="en-US" sz="1400">
                <a:latin typeface="Times New Roman" charset="0"/>
                <a:ea typeface="ＭＳ Ｐゴシック" charset="0"/>
              </a:rPr>
              <a:t>  M_Start Operation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The New Member sends</a:t>
            </a:r>
          </a:p>
          <a:p>
            <a:pPr lvl="1"/>
            <a:r>
              <a:rPr lang="en-US" sz="1400">
                <a:latin typeface="Times New Roman" charset="0"/>
                <a:ea typeface="ＭＳ Ｐゴシック" charset="0"/>
                <a:sym typeface="Wingdings" charset="0"/>
              </a:rPr>
              <a:t></a:t>
            </a:r>
            <a:r>
              <a:rPr lang="en-US" sz="1400">
                <a:latin typeface="Times New Roman" charset="0"/>
                <a:ea typeface="ＭＳ Ｐゴシック" charset="0"/>
              </a:rPr>
              <a:t> M_Start_R Operation</a:t>
            </a:r>
          </a:p>
          <a:p>
            <a:r>
              <a:rPr lang="en-US" sz="1600">
                <a:latin typeface="Times New Roman" charset="0"/>
                <a:ea typeface="ＭＳ Ｐゴシック" charset="0"/>
                <a:cs typeface="ＭＳ Ｐゴシック" charset="0"/>
              </a:rPr>
              <a:t>Invoke RIB Update of dynamic information which will cause others to send data to the New Member.</a:t>
            </a:r>
          </a:p>
          <a:p>
            <a:endParaRPr lang="en-US" sz="1600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solidFill>
                  <a:srgbClr val="FF0000"/>
                </a:solidFill>
                <a:cs typeface="+mj-cs"/>
              </a:rPr>
              <a:t>Dynamic Host Configuration Protocol</a:t>
            </a:r>
            <a:br>
              <a:rPr lang="en-US" sz="3600">
                <a:solidFill>
                  <a:srgbClr val="FF0000"/>
                </a:solidFill>
                <a:cs typeface="+mj-cs"/>
              </a:rPr>
            </a:br>
            <a:r>
              <a:rPr lang="en-US" sz="2400">
                <a:solidFill>
                  <a:srgbClr val="FF0000"/>
                </a:solidFill>
                <a:cs typeface="+mj-cs"/>
              </a:rPr>
              <a:t>As Close to Enrollment as the Internet Gets</a:t>
            </a:r>
            <a:endParaRPr lang="en-US" sz="3600">
              <a:solidFill>
                <a:srgbClr val="FF0000"/>
              </a:solidFill>
              <a:cs typeface="+mj-cs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562475"/>
            <a:ext cx="7246937" cy="838200"/>
          </a:xfrm>
        </p:spPr>
        <p:txBody>
          <a:bodyPr/>
          <a:lstStyle/>
          <a:p>
            <a:pPr marL="609600" indent="-609600" algn="ctr">
              <a:lnSpc>
                <a:spcPct val="90000"/>
              </a:lnSpc>
              <a:buFontTx/>
              <a:buNone/>
              <a:defRPr/>
            </a:pPr>
            <a:r>
              <a:rPr lang="en-US" dirty="0">
                <a:cs typeface="+mn-cs"/>
              </a:rPr>
              <a:t>Operation of DHCP.</a:t>
            </a:r>
          </a:p>
          <a:p>
            <a:pPr marL="609600" indent="-609600" algn="ctr">
              <a:lnSpc>
                <a:spcPct val="90000"/>
              </a:lnSpc>
              <a:buFontTx/>
              <a:buNone/>
              <a:defRPr/>
            </a:pPr>
            <a:r>
              <a:rPr lang="en-US" sz="1800" dirty="0">
                <a:cs typeface="+mn-cs"/>
              </a:rPr>
              <a:t>Late in coming and consequently controversial.</a:t>
            </a:r>
            <a:endParaRPr lang="en-US" dirty="0">
              <a:cs typeface="+mn-cs"/>
            </a:endParaRPr>
          </a:p>
          <a:p>
            <a:pPr marL="609600" indent="-609600" algn="ctr">
              <a:lnSpc>
                <a:spcPct val="70000"/>
              </a:lnSpc>
              <a:spcBef>
                <a:spcPct val="5000"/>
              </a:spcBef>
              <a:buFontTx/>
              <a:buNone/>
              <a:defRPr/>
            </a:pPr>
            <a:r>
              <a:rPr lang="en-US" sz="1600" dirty="0">
                <a:cs typeface="+mn-cs"/>
              </a:rPr>
              <a:t>If an address is location-dependent with respect to the network, </a:t>
            </a:r>
          </a:p>
          <a:p>
            <a:pPr marL="609600" indent="-609600" algn="ctr">
              <a:lnSpc>
                <a:spcPct val="70000"/>
              </a:lnSpc>
              <a:spcBef>
                <a:spcPct val="5000"/>
              </a:spcBef>
              <a:buFontTx/>
              <a:buNone/>
              <a:defRPr/>
            </a:pPr>
            <a:r>
              <a:rPr lang="en-US" sz="1600" dirty="0">
                <a:cs typeface="+mn-cs"/>
              </a:rPr>
              <a:t>then </a:t>
            </a:r>
            <a:r>
              <a:rPr lang="en-US" sz="1600" i="1" dirty="0">
                <a:cs typeface="+mn-cs"/>
              </a:rPr>
              <a:t>only</a:t>
            </a:r>
            <a:r>
              <a:rPr lang="en-US" sz="1600" dirty="0">
                <a:cs typeface="+mn-cs"/>
              </a:rPr>
              <a:t> the network can assign it.</a:t>
            </a:r>
          </a:p>
          <a:p>
            <a:pPr marL="609600" indent="-609600" algn="ctr">
              <a:lnSpc>
                <a:spcPct val="70000"/>
              </a:lnSpc>
              <a:spcBef>
                <a:spcPct val="5000"/>
              </a:spcBef>
              <a:buFontTx/>
              <a:buNone/>
              <a:defRPr/>
            </a:pPr>
            <a:r>
              <a:rPr lang="en-US" sz="1600" dirty="0">
                <a:cs typeface="+mn-cs"/>
              </a:rPr>
              <a:t>Because only the network knows </a:t>
            </a:r>
            <a:r>
              <a:rPr lang="en-US" sz="1600" i="1" dirty="0">
                <a:cs typeface="+mn-cs"/>
              </a:rPr>
              <a:t>where</a:t>
            </a:r>
            <a:r>
              <a:rPr lang="en-US" sz="1600" dirty="0">
                <a:cs typeface="+mn-cs"/>
              </a:rPr>
              <a:t> it is.</a:t>
            </a:r>
          </a:p>
          <a:p>
            <a:pPr marL="609600" indent="-609600" algn="ctr">
              <a:lnSpc>
                <a:spcPct val="70000"/>
              </a:lnSpc>
              <a:spcBef>
                <a:spcPct val="5000"/>
              </a:spcBef>
              <a:buFontTx/>
              <a:buNone/>
              <a:defRPr/>
            </a:pPr>
            <a:r>
              <a:rPr lang="en-US" sz="1600" dirty="0">
                <a:cs typeface="+mn-cs"/>
              </a:rPr>
              <a:t>(This is enrollment.)</a:t>
            </a:r>
          </a:p>
        </p:txBody>
      </p:sp>
      <p:pic>
        <p:nvPicPr>
          <p:cNvPr id="55299" name="Picture 4" descr="5-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265238"/>
            <a:ext cx="759142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9973" name="Rectangle 5"/>
          <p:cNvSpPr>
            <a:spLocks noChangeArrowheads="1"/>
          </p:cNvSpPr>
          <p:nvPr/>
        </p:nvSpPr>
        <p:spPr bwMode="auto">
          <a:xfrm>
            <a:off x="9356725" y="2527300"/>
            <a:ext cx="184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78428"/>
            <a:ext cx="7772400" cy="4114800"/>
          </a:xfrm>
        </p:spPr>
        <p:txBody>
          <a:bodyPr/>
          <a:lstStyle/>
          <a:p>
            <a:r>
              <a:rPr lang="en-US" dirty="0"/>
              <a:t>A typical Allocate Request service primitive*</a:t>
            </a:r>
          </a:p>
          <a:p>
            <a:pPr lvl="1"/>
            <a:r>
              <a:rPr lang="en-GB" dirty="0" err="1"/>
              <a:t>Allocate_Request.submit</a:t>
            </a:r>
            <a:r>
              <a:rPr lang="en-GB" dirty="0"/>
              <a:t> (requested-APN, requesting-APN, </a:t>
            </a:r>
            <a:r>
              <a:rPr lang="en-GB" dirty="0" err="1"/>
              <a:t>sym</a:t>
            </a:r>
            <a:r>
              <a:rPr lang="en-GB" dirty="0"/>
              <a:t>/</a:t>
            </a:r>
            <a:r>
              <a:rPr lang="en-GB" dirty="0" err="1"/>
              <a:t>asym</a:t>
            </a:r>
            <a:r>
              <a:rPr lang="en-GB" dirty="0"/>
              <a:t>, QoS, port-id, access-control parameters, result)</a:t>
            </a:r>
          </a:p>
          <a:p>
            <a:pPr lvl="2"/>
            <a:r>
              <a:rPr lang="en-GB" dirty="0"/>
              <a:t>This creates a flow in the layer below between the two applications</a:t>
            </a:r>
            <a:endParaRPr lang="en-US" dirty="0"/>
          </a:p>
          <a:p>
            <a:pPr lvl="1"/>
            <a:r>
              <a:rPr lang="en-US" dirty="0"/>
              <a:t>The parameters:</a:t>
            </a:r>
          </a:p>
          <a:p>
            <a:pPr lvl="2"/>
            <a:r>
              <a:rPr lang="en-US" dirty="0"/>
              <a:t>requested-APN, requesting-APN – The application Process Names of the requesting and requested applications.</a:t>
            </a:r>
          </a:p>
          <a:p>
            <a:pPr lvl="2"/>
            <a:r>
              <a:rPr lang="en-US" dirty="0" err="1"/>
              <a:t>Sym</a:t>
            </a:r>
            <a:r>
              <a:rPr lang="en-US" dirty="0"/>
              <a:t>/</a:t>
            </a:r>
            <a:r>
              <a:rPr lang="en-US" dirty="0" err="1"/>
              <a:t>asym</a:t>
            </a:r>
            <a:r>
              <a:rPr lang="en-US" dirty="0"/>
              <a:t> - symmetrical if the QoS is the same in both directions, asymmetrical if the are different.</a:t>
            </a:r>
          </a:p>
          <a:p>
            <a:pPr lvl="2"/>
            <a:r>
              <a:rPr lang="en-US" dirty="0"/>
              <a:t>QoS – Quality of service parameters for the flow (two if </a:t>
            </a:r>
            <a:r>
              <a:rPr lang="en-US" dirty="0" err="1"/>
              <a:t>asym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Port-id – the identifier of the binding between the application process and the IPC Process in the layer below.</a:t>
            </a:r>
          </a:p>
          <a:p>
            <a:pPr lvl="2"/>
            <a:r>
              <a:rPr lang="en-US" dirty="0"/>
              <a:t>Access-control-parameters – access control parameters for the requested APN</a:t>
            </a:r>
          </a:p>
          <a:p>
            <a:pPr lvl="2"/>
            <a:r>
              <a:rPr lang="en-US" dirty="0"/>
              <a:t>Result – the result of the operation, success or an error.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A05B9-6CB5-B3A0-3434-313BB3E52A77}"/>
              </a:ext>
            </a:extLst>
          </p:cNvPr>
          <p:cNvSpPr txBox="1"/>
          <p:nvPr/>
        </p:nvSpPr>
        <p:spPr>
          <a:xfrm>
            <a:off x="5965371" y="5921828"/>
            <a:ext cx="3012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From Official RINA Service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838DA-DEC8-36EA-5619-48C8B60A8719}"/>
              </a:ext>
            </a:extLst>
          </p:cNvPr>
          <p:cNvSpPr txBox="1"/>
          <p:nvPr/>
        </p:nvSpPr>
        <p:spPr>
          <a:xfrm>
            <a:off x="1045029" y="5921828"/>
            <a:ext cx="3995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An API might not include the requesting-APN or access control which would be supplied by the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2985682672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Watson’s Theorem </a:t>
            </a:r>
            <a:r>
              <a:rPr lang="en-US" sz="2400" dirty="0">
                <a:latin typeface="Times" charset="0"/>
                <a:ea typeface="ＭＳ Ｐゴシック" charset="0"/>
                <a:cs typeface="ＭＳ Ｐゴシック" charset="0"/>
              </a:rPr>
              <a:t>(1978)</a:t>
            </a:r>
            <a:br>
              <a:rPr lang="en-US" sz="2400" dirty="0"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 sz="2000" dirty="0">
                <a:latin typeface="Times" charset="0"/>
                <a:ea typeface="ＭＳ Ｐゴシック" charset="0"/>
                <a:cs typeface="ＭＳ Ｐゴシック" charset="0"/>
              </a:rPr>
              <a:t>The Fundamental Theorem of Networking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77200" cy="4114800"/>
          </a:xfrm>
        </p:spPr>
        <p:txBody>
          <a:bodyPr/>
          <a:lstStyle/>
          <a:p>
            <a:pPr eaLnBrk="1" hangingPunct="1"/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Richard Watson proves that the </a:t>
            </a:r>
            <a:r>
              <a:rPr lang="en-US" i="1" dirty="0">
                <a:latin typeface="Times" charset="0"/>
                <a:ea typeface="ＭＳ Ｐゴシック" charset="0"/>
                <a:cs typeface="ＭＳ Ｐゴシック" charset="0"/>
              </a:rPr>
              <a:t>necessary and sufficient</a:t>
            </a:r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 conditions for distributed synchronization requires only that 3 timers are bounded:</a:t>
            </a:r>
          </a:p>
          <a:p>
            <a:pPr marL="1085850" lvl="2" eaLnBrk="1" hangingPunct="1"/>
            <a:r>
              <a:rPr lang="en-US" sz="1800" dirty="0">
                <a:latin typeface="Times" charset="0"/>
                <a:ea typeface="ＭＳ Ｐゴシック" charset="0"/>
              </a:rPr>
              <a:t>Maximum Packet Lifetime</a:t>
            </a:r>
          </a:p>
          <a:p>
            <a:pPr marL="1085850" lvl="2" eaLnBrk="1" hangingPunct="1"/>
            <a:r>
              <a:rPr lang="en-US" sz="1800" dirty="0">
                <a:latin typeface="Times" charset="0"/>
                <a:ea typeface="ＭＳ Ｐゴシック" charset="0"/>
              </a:rPr>
              <a:t>Maximum number of Retries</a:t>
            </a:r>
          </a:p>
          <a:p>
            <a:pPr marL="1085850" lvl="2" eaLnBrk="1" hangingPunct="1"/>
            <a:r>
              <a:rPr lang="en-US" sz="1800" dirty="0">
                <a:latin typeface="Times" charset="0"/>
                <a:ea typeface="ＭＳ Ｐゴシック" charset="0"/>
              </a:rPr>
              <a:t>Maximum time before Ack</a:t>
            </a:r>
          </a:p>
          <a:p>
            <a:pPr eaLnBrk="1" hangingPunct="1"/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 Develops delta-t to demonstrate the result, which has some unique implications:</a:t>
            </a:r>
          </a:p>
          <a:p>
            <a:pPr lvl="1" eaLnBrk="1" hangingPunct="1"/>
            <a:r>
              <a:rPr lang="en-US" dirty="0">
                <a:latin typeface="Times" charset="0"/>
                <a:ea typeface="ＭＳ Ｐゴシック" charset="0"/>
              </a:rPr>
              <a:t>Assumes all connections exist all the time.</a:t>
            </a:r>
          </a:p>
          <a:p>
            <a:pPr lvl="1" eaLnBrk="1" hangingPunct="1"/>
            <a:r>
              <a:rPr lang="en-US" dirty="0">
                <a:latin typeface="Times" charset="0"/>
                <a:ea typeface="ＭＳ Ｐゴシック" charset="0"/>
              </a:rPr>
              <a:t>TCBs are simply caches of state on ones with recent activity</a:t>
            </a:r>
            <a:endParaRPr lang="en-US" sz="2000" dirty="0">
              <a:latin typeface="Times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Times" charset="0"/>
                <a:ea typeface="ＭＳ Ｐゴシック" charset="0"/>
                <a:cs typeface="ＭＳ Ｐゴシック" charset="0"/>
              </a:rPr>
              <a:t>1981 paper, Watson shows that TCP has all three timers and more.</a:t>
            </a:r>
          </a:p>
          <a:p>
            <a:pPr lvl="1" eaLnBrk="1" hangingPunct="1"/>
            <a:r>
              <a:rPr lang="en-US" dirty="0">
                <a:latin typeface="Times" charset="0"/>
                <a:ea typeface="ＭＳ Ｐゴシック" charset="0"/>
              </a:rPr>
              <a:t>Matta et al. (2009) shows that delta-t is more robust under harsh conditions than TCP.  </a:t>
            </a:r>
            <a:r>
              <a:rPr lang="en-US" dirty="0" err="1">
                <a:latin typeface="Times" charset="0"/>
                <a:ea typeface="ＭＳ Ｐゴシック" charset="0"/>
              </a:rPr>
              <a:t>Boddapati</a:t>
            </a:r>
            <a:r>
              <a:rPr lang="en-US" dirty="0">
                <a:latin typeface="Times" charset="0"/>
                <a:ea typeface="ＭＳ Ｐゴシック" charset="0"/>
              </a:rPr>
              <a:t> et al. (2012) shows that it is more secure.</a:t>
            </a:r>
          </a:p>
          <a:p>
            <a:pPr eaLnBrk="1" hangingPunct="1"/>
            <a:r>
              <a:rPr lang="en-US" dirty="0">
                <a:latin typeface="Times" charset="0"/>
                <a:ea typeface="ＭＳ Ｐゴシック" charset="0"/>
              </a:rPr>
              <a:t>The 3-way handshake has nothing to do with why it works.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Flaw in the Concept of Connection</a:t>
            </a:r>
            <a:br>
              <a:rPr lang="en-US">
                <a:latin typeface="Times" charset="0"/>
                <a:ea typeface="ＭＳ Ｐゴシック" charset="0"/>
                <a:cs typeface="ＭＳ Ｐゴシック" charset="0"/>
              </a:rPr>
            </a:br>
            <a:r>
              <a:rPr lang="en-US" sz="2000">
                <a:latin typeface="Times" charset="0"/>
                <a:ea typeface="ＭＳ Ｐゴシック" charset="0"/>
                <a:cs typeface="ＭＳ Ｐゴシック" charset="0"/>
              </a:rPr>
              <a:t>(in the Internet and OSI)</a:t>
            </a:r>
            <a:endParaRPr lang="en-US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4267200"/>
            <a:ext cx="8001000" cy="1828800"/>
          </a:xfrm>
        </p:spPr>
        <p:txBody>
          <a:bodyPr/>
          <a:lstStyle/>
          <a:p>
            <a:pPr eaLnBrk="1" hangingPunct="1"/>
            <a:r>
              <a:rPr lang="en-US" sz="1800">
                <a:latin typeface="Times" charset="0"/>
                <a:ea typeface="ＭＳ Ｐゴシック" charset="0"/>
                <a:cs typeface="ＭＳ Ｐゴシック" charset="0"/>
              </a:rPr>
              <a:t>In both, a connection starts in the (N+1)-entity and goes to the peer (N+1)-entity.</a:t>
            </a:r>
          </a:p>
          <a:p>
            <a:pPr lvl="1" eaLnBrk="1" hangingPunct="1"/>
            <a:r>
              <a:rPr lang="en-US" sz="1600">
                <a:latin typeface="Times" charset="0"/>
                <a:ea typeface="ＭＳ Ｐゴシック" charset="0"/>
              </a:rPr>
              <a:t>This is a beads-on-a-string view.</a:t>
            </a:r>
          </a:p>
          <a:p>
            <a:pPr lvl="2" eaLnBrk="1" hangingPunct="1"/>
            <a:r>
              <a:rPr lang="en-US" sz="1400">
                <a:latin typeface="Times" charset="0"/>
                <a:ea typeface="ＭＳ Ｐゴシック" charset="0"/>
              </a:rPr>
              <a:t>(In OSI, while the PTTs insisted on it in the model, it was ignored in practice)</a:t>
            </a:r>
          </a:p>
          <a:p>
            <a:pPr eaLnBrk="1" hangingPunct="1"/>
            <a:r>
              <a:rPr lang="en-US" sz="1800">
                <a:latin typeface="Times" charset="0"/>
                <a:ea typeface="ＭＳ Ｐゴシック" charset="0"/>
                <a:cs typeface="ＭＳ Ｐゴシック" charset="0"/>
              </a:rPr>
              <a:t>This combines port allocation and synchronization</a:t>
            </a:r>
          </a:p>
          <a:p>
            <a:pPr eaLnBrk="1" hangingPunct="1"/>
            <a:r>
              <a:rPr lang="en-US" sz="1800">
                <a:latin typeface="Times" charset="0"/>
                <a:ea typeface="ＭＳ Ｐゴシック" charset="0"/>
                <a:cs typeface="ＭＳ Ｐゴシック" charset="0"/>
              </a:rPr>
              <a:t>What Watson is saying when he assumes: </a:t>
            </a:r>
          </a:p>
          <a:p>
            <a:pPr lvl="1" eaLnBrk="1" hangingPunct="1"/>
            <a:r>
              <a:rPr lang="en-US">
                <a:latin typeface="Times" charset="0"/>
                <a:ea typeface="ＭＳ Ｐゴシック" charset="0"/>
              </a:rPr>
              <a:t> </a:t>
            </a:r>
            <a:r>
              <a:rPr lang="en-US" sz="1600">
                <a:latin typeface="Times" charset="0"/>
                <a:ea typeface="ＭＳ Ｐゴシック" charset="0"/>
              </a:rPr>
              <a:t>all connections exist all the time.</a:t>
            </a:r>
          </a:p>
          <a:p>
            <a:pPr eaLnBrk="1" hangingPunct="1"/>
            <a:r>
              <a:rPr lang="en-US" sz="1800">
                <a:latin typeface="Times" charset="0"/>
                <a:ea typeface="ＭＳ Ｐゴシック" charset="0"/>
                <a:cs typeface="ＭＳ Ｐゴシック" charset="0"/>
              </a:rPr>
              <a:t>Is that Port allocation and Synchronization are distinct.</a:t>
            </a:r>
          </a:p>
        </p:txBody>
      </p:sp>
      <p:grpSp>
        <p:nvGrpSpPr>
          <p:cNvPr id="28675" name="Group 39"/>
          <p:cNvGrpSpPr>
            <a:grpSpLocks/>
          </p:cNvGrpSpPr>
          <p:nvPr/>
        </p:nvGrpSpPr>
        <p:grpSpPr bwMode="auto">
          <a:xfrm>
            <a:off x="533400" y="1600200"/>
            <a:ext cx="7059613" cy="2352675"/>
            <a:chOff x="337" y="1152"/>
            <a:chExt cx="4447" cy="1482"/>
          </a:xfrm>
        </p:grpSpPr>
        <p:sp>
          <p:nvSpPr>
            <p:cNvPr id="133126" name="Line 6"/>
            <p:cNvSpPr>
              <a:spLocks noChangeShapeType="1"/>
            </p:cNvSpPr>
            <p:nvPr/>
          </p:nvSpPr>
          <p:spPr bwMode="auto">
            <a:xfrm>
              <a:off x="4448" y="165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27" name="Line 7"/>
            <p:cNvSpPr>
              <a:spLocks noChangeShapeType="1"/>
            </p:cNvSpPr>
            <p:nvPr/>
          </p:nvSpPr>
          <p:spPr bwMode="auto">
            <a:xfrm>
              <a:off x="1552" y="165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28" name="Line 8"/>
            <p:cNvSpPr>
              <a:spLocks noChangeShapeType="1"/>
            </p:cNvSpPr>
            <p:nvPr/>
          </p:nvSpPr>
          <p:spPr bwMode="auto">
            <a:xfrm flipV="1">
              <a:off x="896" y="1914"/>
              <a:ext cx="3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29" name="Oval 9"/>
            <p:cNvSpPr>
              <a:spLocks noChangeArrowheads="1"/>
            </p:cNvSpPr>
            <p:nvPr/>
          </p:nvSpPr>
          <p:spPr bwMode="auto">
            <a:xfrm>
              <a:off x="1392" y="1392"/>
              <a:ext cx="280" cy="258"/>
            </a:xfrm>
            <a:prstGeom prst="ellipse">
              <a:avLst/>
            </a:prstGeom>
            <a:solidFill>
              <a:srgbClr val="33CC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31" name="Oval 11"/>
            <p:cNvSpPr>
              <a:spLocks noChangeArrowheads="1"/>
            </p:cNvSpPr>
            <p:nvPr/>
          </p:nvSpPr>
          <p:spPr bwMode="auto">
            <a:xfrm>
              <a:off x="1312" y="1842"/>
              <a:ext cx="480" cy="144"/>
            </a:xfrm>
            <a:prstGeom prst="ellipse">
              <a:avLst/>
            </a:prstGeom>
            <a:solidFill>
              <a:srgbClr val="99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32" name="Oval 12"/>
            <p:cNvSpPr>
              <a:spLocks noChangeArrowheads="1"/>
            </p:cNvSpPr>
            <p:nvPr/>
          </p:nvSpPr>
          <p:spPr bwMode="auto">
            <a:xfrm>
              <a:off x="4208" y="1842"/>
              <a:ext cx="480" cy="144"/>
            </a:xfrm>
            <a:prstGeom prst="ellipse">
              <a:avLst/>
            </a:prstGeom>
            <a:solidFill>
              <a:srgbClr val="99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35" name="Line 15"/>
            <p:cNvSpPr>
              <a:spLocks noChangeShapeType="1"/>
            </p:cNvSpPr>
            <p:nvPr/>
          </p:nvSpPr>
          <p:spPr bwMode="auto">
            <a:xfrm>
              <a:off x="1552" y="1968"/>
              <a:ext cx="0" cy="2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36" name="Line 16"/>
            <p:cNvSpPr>
              <a:spLocks noChangeShapeType="1"/>
            </p:cNvSpPr>
            <p:nvPr/>
          </p:nvSpPr>
          <p:spPr bwMode="auto">
            <a:xfrm flipH="1">
              <a:off x="4448" y="1995"/>
              <a:ext cx="8" cy="1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37" name="Text Box 17"/>
            <p:cNvSpPr txBox="1">
              <a:spLocks noChangeArrowheads="1"/>
            </p:cNvSpPr>
            <p:nvPr/>
          </p:nvSpPr>
          <p:spPr bwMode="auto">
            <a:xfrm>
              <a:off x="2612" y="1152"/>
              <a:ext cx="7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(N+1)-entities</a:t>
              </a:r>
            </a:p>
          </p:txBody>
        </p:sp>
        <p:sp>
          <p:nvSpPr>
            <p:cNvPr id="133138" name="Text Box 18"/>
            <p:cNvSpPr txBox="1">
              <a:spLocks noChangeArrowheads="1"/>
            </p:cNvSpPr>
            <p:nvPr/>
          </p:nvSpPr>
          <p:spPr bwMode="auto">
            <a:xfrm>
              <a:off x="2704" y="2000"/>
              <a:ext cx="6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(N)-entities</a:t>
              </a:r>
            </a:p>
          </p:txBody>
        </p:sp>
        <p:sp>
          <p:nvSpPr>
            <p:cNvPr id="133139" name="Text Box 19"/>
            <p:cNvSpPr txBox="1">
              <a:spLocks noChangeArrowheads="1"/>
            </p:cNvSpPr>
            <p:nvPr/>
          </p:nvSpPr>
          <p:spPr bwMode="auto">
            <a:xfrm>
              <a:off x="2674" y="1544"/>
              <a:ext cx="64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(N)-address</a:t>
              </a:r>
            </a:p>
          </p:txBody>
        </p:sp>
        <p:sp>
          <p:nvSpPr>
            <p:cNvPr id="133140" name="Line 20"/>
            <p:cNvSpPr>
              <a:spLocks noChangeShapeType="1"/>
            </p:cNvSpPr>
            <p:nvPr/>
          </p:nvSpPr>
          <p:spPr bwMode="auto">
            <a:xfrm>
              <a:off x="768" y="2592"/>
              <a:ext cx="3968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1" name="Line 21"/>
            <p:cNvSpPr>
              <a:spLocks noChangeShapeType="1"/>
            </p:cNvSpPr>
            <p:nvPr/>
          </p:nvSpPr>
          <p:spPr bwMode="auto">
            <a:xfrm flipH="1">
              <a:off x="1728" y="1266"/>
              <a:ext cx="928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2" name="Line 22"/>
            <p:cNvSpPr>
              <a:spLocks noChangeShapeType="1"/>
            </p:cNvSpPr>
            <p:nvPr/>
          </p:nvSpPr>
          <p:spPr bwMode="auto">
            <a:xfrm>
              <a:off x="3368" y="1266"/>
              <a:ext cx="848" cy="1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3" name="Line 23"/>
            <p:cNvSpPr>
              <a:spLocks noChangeShapeType="1"/>
            </p:cNvSpPr>
            <p:nvPr/>
          </p:nvSpPr>
          <p:spPr bwMode="auto">
            <a:xfrm flipH="1">
              <a:off x="1728" y="1634"/>
              <a:ext cx="968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4" name="Line 24"/>
            <p:cNvSpPr>
              <a:spLocks noChangeShapeType="1"/>
            </p:cNvSpPr>
            <p:nvPr/>
          </p:nvSpPr>
          <p:spPr bwMode="auto">
            <a:xfrm>
              <a:off x="3264" y="1658"/>
              <a:ext cx="968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5" name="Line 25"/>
            <p:cNvSpPr>
              <a:spLocks noChangeShapeType="1"/>
            </p:cNvSpPr>
            <p:nvPr/>
          </p:nvSpPr>
          <p:spPr bwMode="auto">
            <a:xfrm flipH="1">
              <a:off x="1736" y="2090"/>
              <a:ext cx="968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6" name="Line 26"/>
            <p:cNvSpPr>
              <a:spLocks noChangeShapeType="1"/>
            </p:cNvSpPr>
            <p:nvPr/>
          </p:nvSpPr>
          <p:spPr bwMode="auto">
            <a:xfrm>
              <a:off x="3272" y="2090"/>
              <a:ext cx="968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7" name="Oval 27"/>
            <p:cNvSpPr>
              <a:spLocks noChangeArrowheads="1"/>
            </p:cNvSpPr>
            <p:nvPr/>
          </p:nvSpPr>
          <p:spPr bwMode="auto">
            <a:xfrm>
              <a:off x="1392" y="2167"/>
              <a:ext cx="280" cy="258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8" name="Oval 28"/>
            <p:cNvSpPr>
              <a:spLocks noChangeArrowheads="1"/>
            </p:cNvSpPr>
            <p:nvPr/>
          </p:nvSpPr>
          <p:spPr bwMode="auto">
            <a:xfrm>
              <a:off x="4304" y="1392"/>
              <a:ext cx="280" cy="258"/>
            </a:xfrm>
            <a:prstGeom prst="ellipse">
              <a:avLst/>
            </a:prstGeom>
            <a:solidFill>
              <a:srgbClr val="33CC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49" name="Oval 29"/>
            <p:cNvSpPr>
              <a:spLocks noChangeArrowheads="1"/>
            </p:cNvSpPr>
            <p:nvPr/>
          </p:nvSpPr>
          <p:spPr bwMode="auto">
            <a:xfrm>
              <a:off x="4320" y="2160"/>
              <a:ext cx="280" cy="258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50" name="Text Box 30"/>
            <p:cNvSpPr txBox="1">
              <a:spLocks noChangeArrowheads="1"/>
            </p:cNvSpPr>
            <p:nvPr/>
          </p:nvSpPr>
          <p:spPr bwMode="auto">
            <a:xfrm>
              <a:off x="1451" y="1717"/>
              <a:ext cx="21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36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•</a:t>
              </a:r>
            </a:p>
          </p:txBody>
        </p:sp>
        <p:sp>
          <p:nvSpPr>
            <p:cNvPr id="133151" name="Text Box 31"/>
            <p:cNvSpPr txBox="1">
              <a:spLocks noChangeArrowheads="1"/>
            </p:cNvSpPr>
            <p:nvPr/>
          </p:nvSpPr>
          <p:spPr bwMode="auto">
            <a:xfrm>
              <a:off x="4351" y="1732"/>
              <a:ext cx="21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36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•</a:t>
              </a:r>
            </a:p>
          </p:txBody>
        </p:sp>
        <p:grpSp>
          <p:nvGrpSpPr>
            <p:cNvPr id="28699" name="Group 32"/>
            <p:cNvGrpSpPr>
              <a:grpSpLocks/>
            </p:cNvGrpSpPr>
            <p:nvPr/>
          </p:nvGrpSpPr>
          <p:grpSpPr bwMode="auto">
            <a:xfrm>
              <a:off x="1536" y="1900"/>
              <a:ext cx="2944" cy="734"/>
              <a:chOff x="1576" y="1432"/>
              <a:chExt cx="2944" cy="734"/>
            </a:xfrm>
          </p:grpSpPr>
          <p:sp>
            <p:nvSpPr>
              <p:cNvPr id="133153" name="Freeform 33"/>
              <p:cNvSpPr>
                <a:spLocks/>
              </p:cNvSpPr>
              <p:nvPr/>
            </p:nvSpPr>
            <p:spPr bwMode="auto">
              <a:xfrm>
                <a:off x="1576" y="1432"/>
                <a:ext cx="520" cy="512"/>
              </a:xfrm>
              <a:custGeom>
                <a:avLst/>
                <a:gdLst>
                  <a:gd name="T0" fmla="*/ 40 w 520"/>
                  <a:gd name="T1" fmla="*/ 0 h 512"/>
                  <a:gd name="T2" fmla="*/ 56 w 520"/>
                  <a:gd name="T3" fmla="*/ 400 h 512"/>
                  <a:gd name="T4" fmla="*/ 376 w 520"/>
                  <a:gd name="T5" fmla="*/ 496 h 512"/>
                  <a:gd name="T6" fmla="*/ 520 w 520"/>
                  <a:gd name="T7" fmla="*/ 496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0" h="512">
                    <a:moveTo>
                      <a:pt x="40" y="0"/>
                    </a:moveTo>
                    <a:cubicBezTo>
                      <a:pt x="20" y="158"/>
                      <a:pt x="0" y="317"/>
                      <a:pt x="56" y="400"/>
                    </a:cubicBezTo>
                    <a:cubicBezTo>
                      <a:pt x="112" y="483"/>
                      <a:pt x="299" y="480"/>
                      <a:pt x="376" y="496"/>
                    </a:cubicBezTo>
                    <a:cubicBezTo>
                      <a:pt x="453" y="512"/>
                      <a:pt x="500" y="495"/>
                      <a:pt x="520" y="496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3154" name="Freeform 34"/>
              <p:cNvSpPr>
                <a:spLocks/>
              </p:cNvSpPr>
              <p:nvPr/>
            </p:nvSpPr>
            <p:spPr bwMode="auto">
              <a:xfrm flipH="1">
                <a:off x="4000" y="1480"/>
                <a:ext cx="520" cy="512"/>
              </a:xfrm>
              <a:custGeom>
                <a:avLst/>
                <a:gdLst>
                  <a:gd name="T0" fmla="*/ 40 w 520"/>
                  <a:gd name="T1" fmla="*/ 0 h 512"/>
                  <a:gd name="T2" fmla="*/ 56 w 520"/>
                  <a:gd name="T3" fmla="*/ 400 h 512"/>
                  <a:gd name="T4" fmla="*/ 376 w 520"/>
                  <a:gd name="T5" fmla="*/ 496 h 512"/>
                  <a:gd name="T6" fmla="*/ 520 w 520"/>
                  <a:gd name="T7" fmla="*/ 496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0" h="512">
                    <a:moveTo>
                      <a:pt x="40" y="0"/>
                    </a:moveTo>
                    <a:cubicBezTo>
                      <a:pt x="20" y="158"/>
                      <a:pt x="0" y="317"/>
                      <a:pt x="56" y="400"/>
                    </a:cubicBezTo>
                    <a:cubicBezTo>
                      <a:pt x="112" y="483"/>
                      <a:pt x="299" y="480"/>
                      <a:pt x="376" y="496"/>
                    </a:cubicBezTo>
                    <a:cubicBezTo>
                      <a:pt x="453" y="512"/>
                      <a:pt x="500" y="495"/>
                      <a:pt x="520" y="496"/>
                    </a:cubicBez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3155" name="Line 35"/>
              <p:cNvSpPr>
                <a:spLocks noChangeShapeType="1"/>
              </p:cNvSpPr>
              <p:nvPr/>
            </p:nvSpPr>
            <p:spPr bwMode="auto">
              <a:xfrm>
                <a:off x="2056" y="1928"/>
                <a:ext cx="1976" cy="4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3156" name="Text Box 36"/>
              <p:cNvSpPr txBox="1">
                <a:spLocks noChangeArrowheads="1"/>
              </p:cNvSpPr>
              <p:nvPr/>
            </p:nvSpPr>
            <p:spPr bwMode="auto">
              <a:xfrm>
                <a:off x="2484" y="1974"/>
                <a:ext cx="97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rPr>
                  <a:t>(N)-connection</a:t>
                </a:r>
              </a:p>
            </p:txBody>
          </p:sp>
        </p:grpSp>
        <p:sp>
          <p:nvSpPr>
            <p:cNvPr id="133157" name="Line 37"/>
            <p:cNvSpPr>
              <a:spLocks noChangeShapeType="1"/>
            </p:cNvSpPr>
            <p:nvPr/>
          </p:nvSpPr>
          <p:spPr bwMode="auto">
            <a:xfrm flipH="1" flipV="1">
              <a:off x="918" y="1707"/>
              <a:ext cx="616" cy="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158" name="Text Box 38"/>
            <p:cNvSpPr txBox="1">
              <a:spLocks noChangeArrowheads="1"/>
            </p:cNvSpPr>
            <p:nvPr/>
          </p:nvSpPr>
          <p:spPr bwMode="auto">
            <a:xfrm>
              <a:off x="337" y="1473"/>
              <a:ext cx="670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Connection-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Endpoint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rPr>
                <a:t>(port-id)</a:t>
              </a:r>
            </a:p>
          </p:txBody>
        </p:sp>
      </p:grp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Concept of Connection</a:t>
            </a:r>
          </a:p>
        </p:txBody>
      </p:sp>
      <p:grpSp>
        <p:nvGrpSpPr>
          <p:cNvPr id="30722" name="Group 60"/>
          <p:cNvGrpSpPr>
            <a:grpSpLocks/>
          </p:cNvGrpSpPr>
          <p:nvPr/>
        </p:nvGrpSpPr>
        <p:grpSpPr bwMode="auto">
          <a:xfrm>
            <a:off x="838200" y="1282700"/>
            <a:ext cx="6754813" cy="2146300"/>
            <a:chOff x="528" y="808"/>
            <a:chExt cx="4255" cy="1352"/>
          </a:xfrm>
        </p:grpSpPr>
        <p:sp>
          <p:nvSpPr>
            <p:cNvPr id="134151" name="Line 7"/>
            <p:cNvSpPr>
              <a:spLocks noChangeShapeType="1"/>
            </p:cNvSpPr>
            <p:nvPr/>
          </p:nvSpPr>
          <p:spPr bwMode="auto">
            <a:xfrm flipV="1">
              <a:off x="895" y="1294"/>
              <a:ext cx="3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4152" name="Oval 8"/>
            <p:cNvSpPr>
              <a:spLocks noChangeArrowheads="1"/>
            </p:cNvSpPr>
            <p:nvPr/>
          </p:nvSpPr>
          <p:spPr bwMode="auto">
            <a:xfrm>
              <a:off x="1391" y="808"/>
              <a:ext cx="280" cy="258"/>
            </a:xfrm>
            <a:prstGeom prst="ellipse">
              <a:avLst/>
            </a:prstGeom>
            <a:solidFill>
              <a:srgbClr val="33CC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4160" name="Line 16"/>
            <p:cNvSpPr>
              <a:spLocks noChangeShapeType="1"/>
            </p:cNvSpPr>
            <p:nvPr/>
          </p:nvSpPr>
          <p:spPr bwMode="auto">
            <a:xfrm>
              <a:off x="768" y="2152"/>
              <a:ext cx="3968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4167" name="Oval 23"/>
            <p:cNvSpPr>
              <a:spLocks noChangeArrowheads="1"/>
            </p:cNvSpPr>
            <p:nvPr/>
          </p:nvSpPr>
          <p:spPr bwMode="auto">
            <a:xfrm>
              <a:off x="1440" y="1720"/>
              <a:ext cx="280" cy="258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4168" name="Oval 24"/>
            <p:cNvSpPr>
              <a:spLocks noChangeArrowheads="1"/>
            </p:cNvSpPr>
            <p:nvPr/>
          </p:nvSpPr>
          <p:spPr bwMode="auto">
            <a:xfrm>
              <a:off x="4303" y="808"/>
              <a:ext cx="280" cy="258"/>
            </a:xfrm>
            <a:prstGeom prst="ellipse">
              <a:avLst/>
            </a:prstGeom>
            <a:solidFill>
              <a:srgbClr val="33CC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4169" name="Oval 25"/>
            <p:cNvSpPr>
              <a:spLocks noChangeArrowheads="1"/>
            </p:cNvSpPr>
            <p:nvPr/>
          </p:nvSpPr>
          <p:spPr bwMode="auto">
            <a:xfrm>
              <a:off x="4320" y="1720"/>
              <a:ext cx="280" cy="258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30730" name="Group 35"/>
            <p:cNvGrpSpPr>
              <a:grpSpLocks/>
            </p:cNvGrpSpPr>
            <p:nvPr/>
          </p:nvGrpSpPr>
          <p:grpSpPr bwMode="auto">
            <a:xfrm>
              <a:off x="528" y="1336"/>
              <a:ext cx="3816" cy="542"/>
              <a:chOff x="616" y="1674"/>
              <a:chExt cx="3816" cy="542"/>
            </a:xfrm>
          </p:grpSpPr>
          <p:sp>
            <p:nvSpPr>
              <p:cNvPr id="134180" name="Line 36"/>
              <p:cNvSpPr>
                <a:spLocks noChangeShapeType="1"/>
              </p:cNvSpPr>
              <p:nvPr/>
            </p:nvSpPr>
            <p:spPr bwMode="auto">
              <a:xfrm flipV="1">
                <a:off x="1776" y="2200"/>
                <a:ext cx="2656" cy="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4181" name="Text Box 37"/>
              <p:cNvSpPr txBox="1">
                <a:spLocks noChangeArrowheads="1"/>
              </p:cNvSpPr>
              <p:nvPr/>
            </p:nvSpPr>
            <p:spPr bwMode="auto">
              <a:xfrm>
                <a:off x="2650" y="1984"/>
                <a:ext cx="85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rPr>
                  <a:t>Synchronization</a:t>
                </a:r>
              </a:p>
            </p:txBody>
          </p:sp>
          <p:sp>
            <p:nvSpPr>
              <p:cNvPr id="134182" name="Line 38"/>
              <p:cNvSpPr>
                <a:spLocks noChangeShapeType="1"/>
              </p:cNvSpPr>
              <p:nvPr/>
            </p:nvSpPr>
            <p:spPr bwMode="auto">
              <a:xfrm>
                <a:off x="1200" y="1896"/>
                <a:ext cx="544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4183" name="Text Box 39"/>
              <p:cNvSpPr txBox="1">
                <a:spLocks noChangeArrowheads="1"/>
              </p:cNvSpPr>
              <p:nvPr/>
            </p:nvSpPr>
            <p:spPr bwMode="auto">
              <a:xfrm>
                <a:off x="616" y="1674"/>
                <a:ext cx="63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rPr>
                  <a:t>Connection</a:t>
                </a:r>
              </a:p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rPr>
                  <a:t>Endpoint</a:t>
                </a:r>
              </a:p>
            </p:txBody>
          </p:sp>
        </p:grpSp>
        <p:grpSp>
          <p:nvGrpSpPr>
            <p:cNvPr id="30731" name="Group 59"/>
            <p:cNvGrpSpPr>
              <a:grpSpLocks/>
            </p:cNvGrpSpPr>
            <p:nvPr/>
          </p:nvGrpSpPr>
          <p:grpSpPr bwMode="auto">
            <a:xfrm>
              <a:off x="1488" y="952"/>
              <a:ext cx="3032" cy="670"/>
              <a:chOff x="1488" y="952"/>
              <a:chExt cx="3032" cy="670"/>
            </a:xfrm>
          </p:grpSpPr>
          <p:grpSp>
            <p:nvGrpSpPr>
              <p:cNvPr id="30735" name="Group 58"/>
              <p:cNvGrpSpPr>
                <a:grpSpLocks/>
              </p:cNvGrpSpPr>
              <p:nvPr/>
            </p:nvGrpSpPr>
            <p:grpSpPr bwMode="auto">
              <a:xfrm>
                <a:off x="1488" y="1234"/>
                <a:ext cx="3032" cy="388"/>
                <a:chOff x="1488" y="1234"/>
                <a:chExt cx="3032" cy="388"/>
              </a:xfrm>
            </p:grpSpPr>
            <p:grpSp>
              <p:nvGrpSpPr>
                <p:cNvPr id="30739" name="Group 42"/>
                <p:cNvGrpSpPr>
                  <a:grpSpLocks/>
                </p:cNvGrpSpPr>
                <p:nvPr/>
              </p:nvGrpSpPr>
              <p:grpSpPr bwMode="auto">
                <a:xfrm>
                  <a:off x="1712" y="1352"/>
                  <a:ext cx="2552" cy="270"/>
                  <a:chOff x="1760" y="1470"/>
                  <a:chExt cx="2552" cy="270"/>
                </a:xfrm>
              </p:grpSpPr>
              <p:sp>
                <p:nvSpPr>
                  <p:cNvPr id="134187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1760" y="1524"/>
                    <a:ext cx="384" cy="21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2400">
                      <a:solidFill>
                        <a:srgbClr val="000000"/>
                      </a:solidFill>
                      <a:latin typeface="Times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34188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928" y="1524"/>
                    <a:ext cx="384" cy="21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2400">
                      <a:solidFill>
                        <a:srgbClr val="000000"/>
                      </a:solidFill>
                      <a:latin typeface="Times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3418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2144" y="1640"/>
                    <a:ext cx="1776" cy="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2400">
                      <a:solidFill>
                        <a:srgbClr val="000000"/>
                      </a:solidFill>
                      <a:latin typeface="Times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34190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79" y="1470"/>
                    <a:ext cx="803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 defTabSz="914400" fontAlgn="base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400">
                        <a:solidFill>
                          <a:srgbClr val="000000"/>
                        </a:solidFill>
                        <a:latin typeface="Times" charset="0"/>
                        <a:ea typeface="ＭＳ Ｐゴシック" charset="0"/>
                        <a:cs typeface="ＭＳ Ｐゴシック" charset="0"/>
                      </a:rPr>
                      <a:t>Port Allocation</a:t>
                    </a:r>
                  </a:p>
                </p:txBody>
              </p:sp>
            </p:grpSp>
            <p:sp>
              <p:nvSpPr>
                <p:cNvPr id="134191" name="Oval 47"/>
                <p:cNvSpPr>
                  <a:spLocks noChangeArrowheads="1"/>
                </p:cNvSpPr>
                <p:nvPr/>
              </p:nvSpPr>
              <p:spPr bwMode="auto">
                <a:xfrm>
                  <a:off x="1488" y="1234"/>
                  <a:ext cx="136" cy="12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134192" name="Oval 48"/>
                <p:cNvSpPr>
                  <a:spLocks noChangeArrowheads="1"/>
                </p:cNvSpPr>
                <p:nvPr/>
              </p:nvSpPr>
              <p:spPr bwMode="auto">
                <a:xfrm>
                  <a:off x="4384" y="1234"/>
                  <a:ext cx="136" cy="12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34193" name="Text Box 49"/>
              <p:cNvSpPr txBox="1">
                <a:spLocks noChangeArrowheads="1"/>
              </p:cNvSpPr>
              <p:nvPr/>
            </p:nvSpPr>
            <p:spPr bwMode="auto">
              <a:xfrm>
                <a:off x="2622" y="952"/>
                <a:ext cx="4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>
                    <a:solidFill>
                      <a:srgbClr val="000000"/>
                    </a:solidFill>
                    <a:latin typeface="Times" charset="0"/>
                    <a:ea typeface="ＭＳ Ｐゴシック" charset="0"/>
                    <a:cs typeface="ＭＳ Ｐゴシック" charset="0"/>
                  </a:rPr>
                  <a:t>Port-id</a:t>
                </a:r>
              </a:p>
            </p:txBody>
          </p:sp>
          <p:sp>
            <p:nvSpPr>
              <p:cNvPr id="134194" name="Line 50"/>
              <p:cNvSpPr>
                <a:spLocks noChangeShapeType="1"/>
              </p:cNvSpPr>
              <p:nvPr/>
            </p:nvSpPr>
            <p:spPr bwMode="auto">
              <a:xfrm flipH="1">
                <a:off x="1632" y="1074"/>
                <a:ext cx="992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34195" name="Line 51"/>
              <p:cNvSpPr>
                <a:spLocks noChangeShapeType="1"/>
              </p:cNvSpPr>
              <p:nvPr/>
            </p:nvSpPr>
            <p:spPr bwMode="auto">
              <a:xfrm>
                <a:off x="3064" y="1050"/>
                <a:ext cx="1272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732" name="Line 52"/>
            <p:cNvSpPr>
              <a:spLocks noChangeShapeType="1"/>
            </p:cNvSpPr>
            <p:nvPr/>
          </p:nvSpPr>
          <p:spPr bwMode="auto">
            <a:xfrm>
              <a:off x="1544" y="1063"/>
              <a:ext cx="0" cy="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33" name="Line 53"/>
            <p:cNvSpPr>
              <a:spLocks noChangeShapeType="1"/>
            </p:cNvSpPr>
            <p:nvPr/>
          </p:nvSpPr>
          <p:spPr bwMode="auto">
            <a:xfrm>
              <a:off x="4444" y="1062"/>
              <a:ext cx="0" cy="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34" name="Text Box 54"/>
            <p:cNvSpPr txBox="1">
              <a:spLocks noChangeArrowheads="1"/>
            </p:cNvSpPr>
            <p:nvPr/>
          </p:nvSpPr>
          <p:spPr bwMode="auto">
            <a:xfrm>
              <a:off x="2275" y="1864"/>
              <a:ext cx="121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algn="ctr"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Connection</a:t>
              </a:r>
            </a:p>
          </p:txBody>
        </p:sp>
      </p:grpSp>
      <p:sp>
        <p:nvSpPr>
          <p:cNvPr id="134201" name="Rectangle 57"/>
          <p:cNvSpPr>
            <a:spLocks noGrp="1" noChangeArrowheads="1"/>
          </p:cNvSpPr>
          <p:nvPr>
            <p:ph type="body" idx="1"/>
          </p:nvPr>
        </p:nvSpPr>
        <p:spPr>
          <a:xfrm>
            <a:off x="685800" y="3508375"/>
            <a:ext cx="7886700" cy="21336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27025" indent="-327025" eaLnBrk="1" hangingPunct="1">
              <a:defRPr/>
            </a:pPr>
            <a:r>
              <a:rPr lang="en-US" dirty="0"/>
              <a:t>Instead, it should work differently:</a:t>
            </a:r>
          </a:p>
          <a:p>
            <a:pPr marL="736600" lvl="1" indent="-295275" eaLnBrk="1" hangingPunct="1">
              <a:defRPr/>
            </a:pPr>
            <a:r>
              <a:rPr lang="en-US" sz="1600" dirty="0"/>
              <a:t>Ports are allocated,  then protocol machines create synchronization (shared state)</a:t>
            </a:r>
          </a:p>
          <a:p>
            <a:pPr marL="736600" lvl="1" indent="-295275" eaLnBrk="1" hangingPunct="1">
              <a:defRPr/>
            </a:pPr>
            <a:r>
              <a:rPr lang="en-US" sz="1600" dirty="0"/>
              <a:t>And connection-end points are bound to the port-ids.</a:t>
            </a:r>
          </a:p>
          <a:p>
            <a:pPr marL="1136650" lvl="2" indent="-295275" eaLnBrk="1" hangingPunct="1">
              <a:defRPr/>
            </a:pPr>
            <a:r>
              <a:rPr lang="en-US" sz="1400" dirty="0"/>
              <a:t>We use the term </a:t>
            </a:r>
            <a:r>
              <a:rPr lang="ja-JP" altLang="en-US" sz="1400"/>
              <a:t>“</a:t>
            </a:r>
            <a:r>
              <a:rPr lang="en-US" sz="1400" dirty="0"/>
              <a:t>connection</a:t>
            </a:r>
            <a:r>
              <a:rPr lang="ja-JP" altLang="en-US" sz="1400"/>
              <a:t>”</a:t>
            </a:r>
            <a:r>
              <a:rPr lang="en-US" sz="1400" dirty="0"/>
              <a:t> within the DIF; </a:t>
            </a:r>
            <a:r>
              <a:rPr lang="ja-JP" altLang="en-US" sz="1400"/>
              <a:t>“</a:t>
            </a:r>
            <a:r>
              <a:rPr lang="en-US" sz="1400" dirty="0"/>
              <a:t>flow,</a:t>
            </a:r>
            <a:r>
              <a:rPr lang="ja-JP" altLang="en-US" sz="1400"/>
              <a:t>”</a:t>
            </a:r>
            <a:r>
              <a:rPr lang="en-US" sz="1400" dirty="0"/>
              <a:t> for the service provided</a:t>
            </a:r>
          </a:p>
          <a:p>
            <a:pPr marL="1136650" lvl="2" indent="-295275" eaLnBrk="1" hangingPunct="1">
              <a:defRPr/>
            </a:pPr>
            <a:r>
              <a:rPr lang="en-US" sz="1400" dirty="0"/>
              <a:t>Notice that the IPC Model predicted this distinction.</a:t>
            </a:r>
          </a:p>
          <a:p>
            <a:pPr marL="327025" indent="-327025" eaLnBrk="1" hangingPunct="1">
              <a:defRPr/>
            </a:pPr>
            <a:r>
              <a:rPr lang="en-US" sz="1800" dirty="0"/>
              <a:t>Not conflating the two has significant implications.</a:t>
            </a:r>
          </a:p>
          <a:p>
            <a:pPr marL="736600" lvl="1" indent="-295275" eaLnBrk="1" hangingPunct="1">
              <a:defRPr/>
            </a:pPr>
            <a:r>
              <a:rPr lang="en-US" sz="1600" dirty="0"/>
              <a:t>No traffic for 2MPL, connection disappears, but ports remain allocated</a:t>
            </a:r>
          </a:p>
          <a:p>
            <a:pPr marL="736600" lvl="1" indent="-295275" eaLnBrk="1" hangingPunct="1">
              <a:defRPr/>
            </a:pPr>
            <a:r>
              <a:rPr lang="en-US" sz="1600" dirty="0"/>
              <a:t>Bindings are local.  This facilitates changing QoS, having different QoS in each direction, and better and simpler security.</a:t>
            </a:r>
          </a:p>
          <a:p>
            <a:pPr marL="336550" indent="-295275" eaLnBrk="1" hangingPunct="1">
              <a:defRPr/>
            </a:pPr>
            <a:r>
              <a:rPr lang="en-US" sz="1800" dirty="0"/>
              <a:t>We will cover this in greater depth with data transfer protocols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20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Requests are mapped to QoS Cubes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743200"/>
            <a:ext cx="7543800" cy="3352800"/>
          </a:xfrm>
        </p:spPr>
        <p:txBody>
          <a:bodyPr/>
          <a:lstStyle/>
          <a:p>
            <a:r>
              <a:rPr lang="en-US" sz="2000" dirty="0"/>
              <a:t>Systems are not sufficiently sensitive to be able to deliver precise QoS values.  The best that can be done is a range. Parameters identified are:</a:t>
            </a:r>
          </a:p>
          <a:p>
            <a:pPr lvl="3">
              <a:buFontTx/>
              <a:buNone/>
            </a:pPr>
            <a:r>
              <a:rPr lang="en-US" sz="1400" dirty="0"/>
              <a:t>Average Bandwidth</a:t>
            </a:r>
          </a:p>
          <a:p>
            <a:pPr lvl="3">
              <a:buFontTx/>
              <a:buNone/>
            </a:pPr>
            <a:r>
              <a:rPr lang="en-US" sz="1400" dirty="0"/>
              <a:t>Average SDU bandwidth</a:t>
            </a:r>
          </a:p>
          <a:p>
            <a:pPr lvl="3">
              <a:buFontTx/>
              <a:buNone/>
            </a:pPr>
            <a:r>
              <a:rPr lang="en-US" sz="1400" dirty="0"/>
              <a:t>Peak bandwidth-duration</a:t>
            </a:r>
          </a:p>
          <a:p>
            <a:pPr lvl="3">
              <a:buFontTx/>
              <a:buNone/>
            </a:pPr>
            <a:r>
              <a:rPr lang="en-US" sz="1400" dirty="0"/>
              <a:t>Peak SDU bandwidth-duration</a:t>
            </a:r>
          </a:p>
          <a:p>
            <a:pPr lvl="3">
              <a:buFontTx/>
              <a:buNone/>
            </a:pPr>
            <a:r>
              <a:rPr lang="en-US" sz="1400" dirty="0"/>
              <a:t>Burst period</a:t>
            </a:r>
          </a:p>
          <a:p>
            <a:pPr lvl="3">
              <a:buFontTx/>
              <a:buNone/>
            </a:pPr>
            <a:r>
              <a:rPr lang="en-US" sz="1400" dirty="0"/>
              <a:t>Burst duration</a:t>
            </a:r>
          </a:p>
          <a:p>
            <a:endParaRPr lang="en-US" sz="2000" dirty="0"/>
          </a:p>
        </p:txBody>
      </p:sp>
      <p:sp>
        <p:nvSpPr>
          <p:cNvPr id="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0BAD8C-E2FA-774F-A481-4C0013F7DF6E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grpSp>
        <p:nvGrpSpPr>
          <p:cNvPr id="27773" name="Group 125"/>
          <p:cNvGrpSpPr>
            <a:grpSpLocks/>
          </p:cNvGrpSpPr>
          <p:nvPr/>
        </p:nvGrpSpPr>
        <p:grpSpPr bwMode="auto">
          <a:xfrm>
            <a:off x="3124200" y="1828800"/>
            <a:ext cx="762000" cy="657225"/>
            <a:chOff x="1488" y="1200"/>
            <a:chExt cx="1920" cy="1662"/>
          </a:xfrm>
        </p:grpSpPr>
        <p:grpSp>
          <p:nvGrpSpPr>
            <p:cNvPr id="27774" name="Group 126"/>
            <p:cNvGrpSpPr>
              <a:grpSpLocks/>
            </p:cNvGrpSpPr>
            <p:nvPr/>
          </p:nvGrpSpPr>
          <p:grpSpPr bwMode="auto">
            <a:xfrm>
              <a:off x="2016" y="1848"/>
              <a:ext cx="720" cy="624"/>
              <a:chOff x="4512" y="432"/>
              <a:chExt cx="720" cy="624"/>
            </a:xfrm>
          </p:grpSpPr>
          <p:sp>
            <p:nvSpPr>
              <p:cNvPr id="27775" name="Rectangle 127"/>
              <p:cNvSpPr>
                <a:spLocks noChangeArrowheads="1"/>
              </p:cNvSpPr>
              <p:nvPr/>
            </p:nvSpPr>
            <p:spPr bwMode="auto">
              <a:xfrm>
                <a:off x="4656" y="432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76" name="Rectangle 128"/>
              <p:cNvSpPr>
                <a:spLocks noChangeArrowheads="1"/>
              </p:cNvSpPr>
              <p:nvPr/>
            </p:nvSpPr>
            <p:spPr bwMode="auto">
              <a:xfrm>
                <a:off x="4512" y="624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77" name="Line 129"/>
              <p:cNvSpPr>
                <a:spLocks noChangeShapeType="1"/>
              </p:cNvSpPr>
              <p:nvPr/>
            </p:nvSpPr>
            <p:spPr bwMode="auto">
              <a:xfrm flipH="1">
                <a:off x="4512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78" name="Line 130"/>
              <p:cNvSpPr>
                <a:spLocks noChangeShapeType="1"/>
              </p:cNvSpPr>
              <p:nvPr/>
            </p:nvSpPr>
            <p:spPr bwMode="auto">
              <a:xfrm flipH="1">
                <a:off x="5088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79" name="Line 131"/>
              <p:cNvSpPr>
                <a:spLocks noChangeShapeType="1"/>
              </p:cNvSpPr>
              <p:nvPr/>
            </p:nvSpPr>
            <p:spPr bwMode="auto">
              <a:xfrm flipH="1">
                <a:off x="4512" y="864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80" name="Line 132"/>
              <p:cNvSpPr>
                <a:spLocks noChangeShapeType="1"/>
              </p:cNvSpPr>
              <p:nvPr/>
            </p:nvSpPr>
            <p:spPr bwMode="auto">
              <a:xfrm flipH="1">
                <a:off x="5088" y="86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7781" name="Group 133"/>
            <p:cNvGrpSpPr>
              <a:grpSpLocks/>
            </p:cNvGrpSpPr>
            <p:nvPr/>
          </p:nvGrpSpPr>
          <p:grpSpPr bwMode="auto">
            <a:xfrm>
              <a:off x="1488" y="1200"/>
              <a:ext cx="1920" cy="1662"/>
              <a:chOff x="1488" y="1200"/>
              <a:chExt cx="1920" cy="1662"/>
            </a:xfrm>
          </p:grpSpPr>
          <p:sp>
            <p:nvSpPr>
              <p:cNvPr id="27782" name="Rectangle 134"/>
              <p:cNvSpPr>
                <a:spLocks noChangeArrowheads="1"/>
              </p:cNvSpPr>
              <p:nvPr/>
            </p:nvSpPr>
            <p:spPr bwMode="auto">
              <a:xfrm>
                <a:off x="1872" y="1200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83" name="Rectangle 135"/>
              <p:cNvSpPr>
                <a:spLocks noChangeArrowheads="1"/>
              </p:cNvSpPr>
              <p:nvPr/>
            </p:nvSpPr>
            <p:spPr bwMode="auto">
              <a:xfrm>
                <a:off x="1488" y="1711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84" name="Line 136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85" name="Line 137"/>
              <p:cNvSpPr>
                <a:spLocks noChangeShapeType="1"/>
              </p:cNvSpPr>
              <p:nvPr/>
            </p:nvSpPr>
            <p:spPr bwMode="auto">
              <a:xfrm flipH="1">
                <a:off x="3024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86" name="Line 138"/>
              <p:cNvSpPr>
                <a:spLocks noChangeShapeType="1"/>
              </p:cNvSpPr>
              <p:nvPr/>
            </p:nvSpPr>
            <p:spPr bwMode="auto">
              <a:xfrm flipH="1">
                <a:off x="1488" y="2352"/>
                <a:ext cx="384" cy="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87" name="Line 139"/>
              <p:cNvSpPr>
                <a:spLocks noChangeShapeType="1"/>
              </p:cNvSpPr>
              <p:nvPr/>
            </p:nvSpPr>
            <p:spPr bwMode="auto">
              <a:xfrm flipH="1">
                <a:off x="3024" y="2351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27788" name="Line 140"/>
            <p:cNvSpPr>
              <a:spLocks noChangeShapeType="1"/>
            </p:cNvSpPr>
            <p:nvPr/>
          </p:nvSpPr>
          <p:spPr bwMode="auto">
            <a:xfrm flipH="1">
              <a:off x="1872" y="23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89" name="Line 141"/>
            <p:cNvSpPr>
              <a:spLocks noChangeShapeType="1"/>
            </p:cNvSpPr>
            <p:nvPr/>
          </p:nvSpPr>
          <p:spPr bwMode="auto">
            <a:xfrm flipH="1">
              <a:off x="1488" y="244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90" name="Line 142"/>
            <p:cNvSpPr>
              <a:spLocks noChangeShapeType="1"/>
            </p:cNvSpPr>
            <p:nvPr/>
          </p:nvSpPr>
          <p:spPr bwMode="auto">
            <a:xfrm flipH="1" flipV="1">
              <a:off x="1536" y="172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91" name="Line 143"/>
            <p:cNvSpPr>
              <a:spLocks noChangeShapeType="1"/>
            </p:cNvSpPr>
            <p:nvPr/>
          </p:nvSpPr>
          <p:spPr bwMode="auto">
            <a:xfrm flipH="1" flipV="1">
              <a:off x="1872" y="1200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92" name="Line 144"/>
            <p:cNvSpPr>
              <a:spLocks noChangeShapeType="1"/>
            </p:cNvSpPr>
            <p:nvPr/>
          </p:nvSpPr>
          <p:spPr bwMode="auto">
            <a:xfrm flipV="1">
              <a:off x="2688" y="12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93" name="Line 145"/>
            <p:cNvSpPr>
              <a:spLocks noChangeShapeType="1"/>
            </p:cNvSpPr>
            <p:nvPr/>
          </p:nvSpPr>
          <p:spPr bwMode="auto">
            <a:xfrm>
              <a:off x="2736" y="2304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94" name="Line 146"/>
            <p:cNvSpPr>
              <a:spLocks noChangeShapeType="1"/>
            </p:cNvSpPr>
            <p:nvPr/>
          </p:nvSpPr>
          <p:spPr bwMode="auto">
            <a:xfrm>
              <a:off x="2592" y="244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795" name="Line 147"/>
            <p:cNvSpPr>
              <a:spLocks noChangeShapeType="1"/>
            </p:cNvSpPr>
            <p:nvPr/>
          </p:nvSpPr>
          <p:spPr bwMode="auto">
            <a:xfrm flipV="1">
              <a:off x="2592" y="1728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7796" name="Group 148"/>
          <p:cNvGrpSpPr>
            <a:grpSpLocks/>
          </p:cNvGrpSpPr>
          <p:nvPr/>
        </p:nvGrpSpPr>
        <p:grpSpPr bwMode="auto">
          <a:xfrm>
            <a:off x="4191000" y="1524000"/>
            <a:ext cx="762000" cy="657225"/>
            <a:chOff x="1488" y="1200"/>
            <a:chExt cx="1920" cy="1662"/>
          </a:xfrm>
        </p:grpSpPr>
        <p:grpSp>
          <p:nvGrpSpPr>
            <p:cNvPr id="27797" name="Group 149"/>
            <p:cNvGrpSpPr>
              <a:grpSpLocks/>
            </p:cNvGrpSpPr>
            <p:nvPr/>
          </p:nvGrpSpPr>
          <p:grpSpPr bwMode="auto">
            <a:xfrm>
              <a:off x="2016" y="1848"/>
              <a:ext cx="720" cy="624"/>
              <a:chOff x="4512" y="432"/>
              <a:chExt cx="720" cy="624"/>
            </a:xfrm>
          </p:grpSpPr>
          <p:sp>
            <p:nvSpPr>
              <p:cNvPr id="27798" name="Rectangle 150"/>
              <p:cNvSpPr>
                <a:spLocks noChangeArrowheads="1"/>
              </p:cNvSpPr>
              <p:nvPr/>
            </p:nvSpPr>
            <p:spPr bwMode="auto">
              <a:xfrm>
                <a:off x="4656" y="432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799" name="Rectangle 151"/>
              <p:cNvSpPr>
                <a:spLocks noChangeArrowheads="1"/>
              </p:cNvSpPr>
              <p:nvPr/>
            </p:nvSpPr>
            <p:spPr bwMode="auto">
              <a:xfrm>
                <a:off x="4512" y="624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0" name="Line 152"/>
              <p:cNvSpPr>
                <a:spLocks noChangeShapeType="1"/>
              </p:cNvSpPr>
              <p:nvPr/>
            </p:nvSpPr>
            <p:spPr bwMode="auto">
              <a:xfrm flipH="1">
                <a:off x="4512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1" name="Line 153"/>
              <p:cNvSpPr>
                <a:spLocks noChangeShapeType="1"/>
              </p:cNvSpPr>
              <p:nvPr/>
            </p:nvSpPr>
            <p:spPr bwMode="auto">
              <a:xfrm flipH="1">
                <a:off x="5088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2" name="Line 154"/>
              <p:cNvSpPr>
                <a:spLocks noChangeShapeType="1"/>
              </p:cNvSpPr>
              <p:nvPr/>
            </p:nvSpPr>
            <p:spPr bwMode="auto">
              <a:xfrm flipH="1">
                <a:off x="4512" y="864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3" name="Line 155"/>
              <p:cNvSpPr>
                <a:spLocks noChangeShapeType="1"/>
              </p:cNvSpPr>
              <p:nvPr/>
            </p:nvSpPr>
            <p:spPr bwMode="auto">
              <a:xfrm flipH="1">
                <a:off x="5088" y="86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7804" name="Group 156"/>
            <p:cNvGrpSpPr>
              <a:grpSpLocks/>
            </p:cNvGrpSpPr>
            <p:nvPr/>
          </p:nvGrpSpPr>
          <p:grpSpPr bwMode="auto">
            <a:xfrm>
              <a:off x="1488" y="1200"/>
              <a:ext cx="1920" cy="1662"/>
              <a:chOff x="1488" y="1200"/>
              <a:chExt cx="1920" cy="1662"/>
            </a:xfrm>
          </p:grpSpPr>
          <p:sp>
            <p:nvSpPr>
              <p:cNvPr id="27805" name="Rectangle 157"/>
              <p:cNvSpPr>
                <a:spLocks noChangeArrowheads="1"/>
              </p:cNvSpPr>
              <p:nvPr/>
            </p:nvSpPr>
            <p:spPr bwMode="auto">
              <a:xfrm>
                <a:off x="1872" y="1200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6" name="Rectangle 158"/>
              <p:cNvSpPr>
                <a:spLocks noChangeArrowheads="1"/>
              </p:cNvSpPr>
              <p:nvPr/>
            </p:nvSpPr>
            <p:spPr bwMode="auto">
              <a:xfrm>
                <a:off x="1488" y="1711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7" name="Line 159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8" name="Line 160"/>
              <p:cNvSpPr>
                <a:spLocks noChangeShapeType="1"/>
              </p:cNvSpPr>
              <p:nvPr/>
            </p:nvSpPr>
            <p:spPr bwMode="auto">
              <a:xfrm flipH="1">
                <a:off x="3024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09" name="Line 161"/>
              <p:cNvSpPr>
                <a:spLocks noChangeShapeType="1"/>
              </p:cNvSpPr>
              <p:nvPr/>
            </p:nvSpPr>
            <p:spPr bwMode="auto">
              <a:xfrm flipH="1">
                <a:off x="1488" y="2352"/>
                <a:ext cx="384" cy="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10" name="Line 162"/>
              <p:cNvSpPr>
                <a:spLocks noChangeShapeType="1"/>
              </p:cNvSpPr>
              <p:nvPr/>
            </p:nvSpPr>
            <p:spPr bwMode="auto">
              <a:xfrm flipH="1">
                <a:off x="3024" y="2351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27811" name="Line 163"/>
            <p:cNvSpPr>
              <a:spLocks noChangeShapeType="1"/>
            </p:cNvSpPr>
            <p:nvPr/>
          </p:nvSpPr>
          <p:spPr bwMode="auto">
            <a:xfrm flipH="1">
              <a:off x="1872" y="23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2" name="Line 164"/>
            <p:cNvSpPr>
              <a:spLocks noChangeShapeType="1"/>
            </p:cNvSpPr>
            <p:nvPr/>
          </p:nvSpPr>
          <p:spPr bwMode="auto">
            <a:xfrm flipH="1">
              <a:off x="1488" y="244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3" name="Line 165"/>
            <p:cNvSpPr>
              <a:spLocks noChangeShapeType="1"/>
            </p:cNvSpPr>
            <p:nvPr/>
          </p:nvSpPr>
          <p:spPr bwMode="auto">
            <a:xfrm flipH="1" flipV="1">
              <a:off x="1536" y="172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4" name="Line 166"/>
            <p:cNvSpPr>
              <a:spLocks noChangeShapeType="1"/>
            </p:cNvSpPr>
            <p:nvPr/>
          </p:nvSpPr>
          <p:spPr bwMode="auto">
            <a:xfrm flipH="1" flipV="1">
              <a:off x="1872" y="1200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5" name="Line 167"/>
            <p:cNvSpPr>
              <a:spLocks noChangeShapeType="1"/>
            </p:cNvSpPr>
            <p:nvPr/>
          </p:nvSpPr>
          <p:spPr bwMode="auto">
            <a:xfrm flipV="1">
              <a:off x="2688" y="12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6" name="Line 168"/>
            <p:cNvSpPr>
              <a:spLocks noChangeShapeType="1"/>
            </p:cNvSpPr>
            <p:nvPr/>
          </p:nvSpPr>
          <p:spPr bwMode="auto">
            <a:xfrm>
              <a:off x="2736" y="2304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7" name="Line 169"/>
            <p:cNvSpPr>
              <a:spLocks noChangeShapeType="1"/>
            </p:cNvSpPr>
            <p:nvPr/>
          </p:nvSpPr>
          <p:spPr bwMode="auto">
            <a:xfrm>
              <a:off x="2592" y="244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18" name="Line 170"/>
            <p:cNvSpPr>
              <a:spLocks noChangeShapeType="1"/>
            </p:cNvSpPr>
            <p:nvPr/>
          </p:nvSpPr>
          <p:spPr bwMode="auto">
            <a:xfrm flipV="1">
              <a:off x="2592" y="1728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7819" name="Group 171"/>
          <p:cNvGrpSpPr>
            <a:grpSpLocks/>
          </p:cNvGrpSpPr>
          <p:nvPr/>
        </p:nvGrpSpPr>
        <p:grpSpPr bwMode="auto">
          <a:xfrm>
            <a:off x="5410200" y="1981200"/>
            <a:ext cx="762000" cy="657225"/>
            <a:chOff x="1488" y="1200"/>
            <a:chExt cx="1920" cy="1662"/>
          </a:xfrm>
        </p:grpSpPr>
        <p:grpSp>
          <p:nvGrpSpPr>
            <p:cNvPr id="27820" name="Group 172"/>
            <p:cNvGrpSpPr>
              <a:grpSpLocks/>
            </p:cNvGrpSpPr>
            <p:nvPr/>
          </p:nvGrpSpPr>
          <p:grpSpPr bwMode="auto">
            <a:xfrm>
              <a:off x="2016" y="1848"/>
              <a:ext cx="720" cy="624"/>
              <a:chOff x="4512" y="432"/>
              <a:chExt cx="720" cy="624"/>
            </a:xfrm>
          </p:grpSpPr>
          <p:sp>
            <p:nvSpPr>
              <p:cNvPr id="27821" name="Rectangle 173"/>
              <p:cNvSpPr>
                <a:spLocks noChangeArrowheads="1"/>
              </p:cNvSpPr>
              <p:nvPr/>
            </p:nvSpPr>
            <p:spPr bwMode="auto">
              <a:xfrm>
                <a:off x="4656" y="432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22" name="Rectangle 174"/>
              <p:cNvSpPr>
                <a:spLocks noChangeArrowheads="1"/>
              </p:cNvSpPr>
              <p:nvPr/>
            </p:nvSpPr>
            <p:spPr bwMode="auto">
              <a:xfrm>
                <a:off x="4512" y="624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23" name="Line 175"/>
              <p:cNvSpPr>
                <a:spLocks noChangeShapeType="1"/>
              </p:cNvSpPr>
              <p:nvPr/>
            </p:nvSpPr>
            <p:spPr bwMode="auto">
              <a:xfrm flipH="1">
                <a:off x="4512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24" name="Line 176"/>
              <p:cNvSpPr>
                <a:spLocks noChangeShapeType="1"/>
              </p:cNvSpPr>
              <p:nvPr/>
            </p:nvSpPr>
            <p:spPr bwMode="auto">
              <a:xfrm flipH="1">
                <a:off x="5088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25" name="Line 177"/>
              <p:cNvSpPr>
                <a:spLocks noChangeShapeType="1"/>
              </p:cNvSpPr>
              <p:nvPr/>
            </p:nvSpPr>
            <p:spPr bwMode="auto">
              <a:xfrm flipH="1">
                <a:off x="4512" y="864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26" name="Line 178"/>
              <p:cNvSpPr>
                <a:spLocks noChangeShapeType="1"/>
              </p:cNvSpPr>
              <p:nvPr/>
            </p:nvSpPr>
            <p:spPr bwMode="auto">
              <a:xfrm flipH="1">
                <a:off x="5088" y="86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7827" name="Group 179"/>
            <p:cNvGrpSpPr>
              <a:grpSpLocks/>
            </p:cNvGrpSpPr>
            <p:nvPr/>
          </p:nvGrpSpPr>
          <p:grpSpPr bwMode="auto">
            <a:xfrm>
              <a:off x="1488" y="1200"/>
              <a:ext cx="1920" cy="1662"/>
              <a:chOff x="1488" y="1200"/>
              <a:chExt cx="1920" cy="1662"/>
            </a:xfrm>
          </p:grpSpPr>
          <p:sp>
            <p:nvSpPr>
              <p:cNvPr id="27828" name="Rectangle 180"/>
              <p:cNvSpPr>
                <a:spLocks noChangeArrowheads="1"/>
              </p:cNvSpPr>
              <p:nvPr/>
            </p:nvSpPr>
            <p:spPr bwMode="auto">
              <a:xfrm>
                <a:off x="1872" y="1200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29" name="Rectangle 181"/>
              <p:cNvSpPr>
                <a:spLocks noChangeArrowheads="1"/>
              </p:cNvSpPr>
              <p:nvPr/>
            </p:nvSpPr>
            <p:spPr bwMode="auto">
              <a:xfrm>
                <a:off x="1488" y="1711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30" name="Line 182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31" name="Line 183"/>
              <p:cNvSpPr>
                <a:spLocks noChangeShapeType="1"/>
              </p:cNvSpPr>
              <p:nvPr/>
            </p:nvSpPr>
            <p:spPr bwMode="auto">
              <a:xfrm flipH="1">
                <a:off x="3024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32" name="Line 184"/>
              <p:cNvSpPr>
                <a:spLocks noChangeShapeType="1"/>
              </p:cNvSpPr>
              <p:nvPr/>
            </p:nvSpPr>
            <p:spPr bwMode="auto">
              <a:xfrm flipH="1">
                <a:off x="1488" y="2352"/>
                <a:ext cx="384" cy="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833" name="Line 185"/>
              <p:cNvSpPr>
                <a:spLocks noChangeShapeType="1"/>
              </p:cNvSpPr>
              <p:nvPr/>
            </p:nvSpPr>
            <p:spPr bwMode="auto">
              <a:xfrm flipH="1">
                <a:off x="3024" y="2351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27834" name="Line 186"/>
            <p:cNvSpPr>
              <a:spLocks noChangeShapeType="1"/>
            </p:cNvSpPr>
            <p:nvPr/>
          </p:nvSpPr>
          <p:spPr bwMode="auto">
            <a:xfrm flipH="1">
              <a:off x="1872" y="23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35" name="Line 187"/>
            <p:cNvSpPr>
              <a:spLocks noChangeShapeType="1"/>
            </p:cNvSpPr>
            <p:nvPr/>
          </p:nvSpPr>
          <p:spPr bwMode="auto">
            <a:xfrm flipH="1">
              <a:off x="1488" y="244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36" name="Line 188"/>
            <p:cNvSpPr>
              <a:spLocks noChangeShapeType="1"/>
            </p:cNvSpPr>
            <p:nvPr/>
          </p:nvSpPr>
          <p:spPr bwMode="auto">
            <a:xfrm flipH="1" flipV="1">
              <a:off x="1536" y="172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37" name="Line 189"/>
            <p:cNvSpPr>
              <a:spLocks noChangeShapeType="1"/>
            </p:cNvSpPr>
            <p:nvPr/>
          </p:nvSpPr>
          <p:spPr bwMode="auto">
            <a:xfrm flipH="1" flipV="1">
              <a:off x="1872" y="1200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38" name="Line 190"/>
            <p:cNvSpPr>
              <a:spLocks noChangeShapeType="1"/>
            </p:cNvSpPr>
            <p:nvPr/>
          </p:nvSpPr>
          <p:spPr bwMode="auto">
            <a:xfrm flipV="1">
              <a:off x="2688" y="12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39" name="Line 191"/>
            <p:cNvSpPr>
              <a:spLocks noChangeShapeType="1"/>
            </p:cNvSpPr>
            <p:nvPr/>
          </p:nvSpPr>
          <p:spPr bwMode="auto">
            <a:xfrm>
              <a:off x="2736" y="2304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40" name="Line 192"/>
            <p:cNvSpPr>
              <a:spLocks noChangeShapeType="1"/>
            </p:cNvSpPr>
            <p:nvPr/>
          </p:nvSpPr>
          <p:spPr bwMode="auto">
            <a:xfrm>
              <a:off x="2592" y="244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841" name="Line 193"/>
            <p:cNvSpPr>
              <a:spLocks noChangeShapeType="1"/>
            </p:cNvSpPr>
            <p:nvPr/>
          </p:nvSpPr>
          <p:spPr bwMode="auto">
            <a:xfrm flipV="1">
              <a:off x="2592" y="1728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7843" name="Rectangle 195"/>
          <p:cNvSpPr>
            <a:spLocks noChangeArrowheads="1"/>
          </p:cNvSpPr>
          <p:nvPr/>
        </p:nvSpPr>
        <p:spPr bwMode="auto">
          <a:xfrm>
            <a:off x="4572000" y="3666111"/>
            <a:ext cx="2274888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Undetected bit error rate</a:t>
            </a:r>
          </a:p>
          <a:p>
            <a:pPr marL="3429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Partial Delivery</a:t>
            </a:r>
          </a:p>
          <a:p>
            <a:pPr marL="3429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Order</a:t>
            </a:r>
          </a:p>
          <a:p>
            <a:pPr marL="3429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Max allowable gap in SDUs</a:t>
            </a:r>
          </a:p>
          <a:p>
            <a:pPr marL="3429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Delay</a:t>
            </a:r>
          </a:p>
          <a:p>
            <a:pPr marL="3429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Jitter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dirty="0"/>
              <a:t>The Protocols is Irrelevant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5029200"/>
            <a:ext cx="7848600" cy="1066800"/>
          </a:xfrm>
        </p:spPr>
        <p:txBody>
          <a:bodyPr/>
          <a:lstStyle/>
          <a:p>
            <a:r>
              <a:rPr lang="en-US" sz="2000" dirty="0"/>
              <a:t>Notice that we are defining policy sets driven by QoS-cubes and objects for management that configure a DIF. </a:t>
            </a:r>
          </a:p>
          <a:p>
            <a:r>
              <a:rPr lang="en-US" sz="2000" dirty="0"/>
              <a:t>Protocol becomes a non-issue. </a:t>
            </a:r>
          </a:p>
        </p:txBody>
      </p:sp>
      <p:sp>
        <p:nvSpPr>
          <p:cNvPr id="1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1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DCB95B-548E-974E-8AAF-1A09A8BE7B4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1447800" y="1943100"/>
            <a:ext cx="5867400" cy="2971800"/>
            <a:chOff x="864" y="576"/>
            <a:chExt cx="3696" cy="1872"/>
          </a:xfrm>
        </p:grpSpPr>
        <p:sp>
          <p:nvSpPr>
            <p:cNvPr id="30725" name="Rectangle 42"/>
            <p:cNvSpPr>
              <a:spLocks noChangeArrowheads="1"/>
            </p:cNvSpPr>
            <p:nvPr/>
          </p:nvSpPr>
          <p:spPr bwMode="auto">
            <a:xfrm>
              <a:off x="864" y="960"/>
              <a:ext cx="2880" cy="1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26" name="Rectangle 46"/>
            <p:cNvSpPr>
              <a:spLocks noChangeArrowheads="1"/>
            </p:cNvSpPr>
            <p:nvPr/>
          </p:nvSpPr>
          <p:spPr bwMode="auto">
            <a:xfrm>
              <a:off x="1920" y="1872"/>
              <a:ext cx="384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30727" name="Group 49"/>
            <p:cNvGrpSpPr>
              <a:grpSpLocks/>
            </p:cNvGrpSpPr>
            <p:nvPr/>
          </p:nvGrpSpPr>
          <p:grpSpPr bwMode="auto">
            <a:xfrm>
              <a:off x="2587" y="1296"/>
              <a:ext cx="293" cy="288"/>
              <a:chOff x="2587" y="1344"/>
              <a:chExt cx="293" cy="288"/>
            </a:xfrm>
          </p:grpSpPr>
          <p:sp>
            <p:nvSpPr>
              <p:cNvPr id="30728" name="Oval 50"/>
              <p:cNvSpPr>
                <a:spLocks noChangeArrowheads="1"/>
              </p:cNvSpPr>
              <p:nvPr/>
            </p:nvSpPr>
            <p:spPr bwMode="auto">
              <a:xfrm>
                <a:off x="2592" y="1344"/>
                <a:ext cx="288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29" name="Oval 51"/>
              <p:cNvSpPr>
                <a:spLocks noChangeArrowheads="1"/>
              </p:cNvSpPr>
              <p:nvPr/>
            </p:nvSpPr>
            <p:spPr bwMode="auto">
              <a:xfrm>
                <a:off x="2592" y="1536"/>
                <a:ext cx="288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30" name="Line 52"/>
              <p:cNvSpPr>
                <a:spLocks noChangeShapeType="1"/>
              </p:cNvSpPr>
              <p:nvPr/>
            </p:nvSpPr>
            <p:spPr bwMode="auto">
              <a:xfrm>
                <a:off x="2587" y="1387"/>
                <a:ext cx="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31" name="Line 53"/>
              <p:cNvSpPr>
                <a:spLocks noChangeShapeType="1"/>
              </p:cNvSpPr>
              <p:nvPr/>
            </p:nvSpPr>
            <p:spPr bwMode="auto">
              <a:xfrm>
                <a:off x="2880" y="1392"/>
                <a:ext cx="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732" name="Oval 56"/>
            <p:cNvSpPr>
              <a:spLocks noChangeArrowheads="1"/>
            </p:cNvSpPr>
            <p:nvPr/>
          </p:nvSpPr>
          <p:spPr bwMode="auto">
            <a:xfrm>
              <a:off x="3120" y="1104"/>
              <a:ext cx="14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33" name="Oval 57"/>
            <p:cNvSpPr>
              <a:spLocks noChangeArrowheads="1"/>
            </p:cNvSpPr>
            <p:nvPr/>
          </p:nvSpPr>
          <p:spPr bwMode="auto">
            <a:xfrm>
              <a:off x="3312" y="1344"/>
              <a:ext cx="14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34" name="Oval 58"/>
            <p:cNvSpPr>
              <a:spLocks noChangeArrowheads="1"/>
            </p:cNvSpPr>
            <p:nvPr/>
          </p:nvSpPr>
          <p:spPr bwMode="auto">
            <a:xfrm>
              <a:off x="3504" y="1680"/>
              <a:ext cx="14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35" name="Oval 47"/>
            <p:cNvSpPr>
              <a:spLocks noChangeArrowheads="1"/>
            </p:cNvSpPr>
            <p:nvPr/>
          </p:nvSpPr>
          <p:spPr bwMode="auto">
            <a:xfrm>
              <a:off x="2016" y="1680"/>
              <a:ext cx="192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36" name="Rectangle 48"/>
            <p:cNvSpPr>
              <a:spLocks noChangeArrowheads="1"/>
            </p:cNvSpPr>
            <p:nvPr/>
          </p:nvSpPr>
          <p:spPr bwMode="auto">
            <a:xfrm>
              <a:off x="1968" y="1056"/>
              <a:ext cx="240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30737" name="Group 17"/>
            <p:cNvGrpSpPr>
              <a:grpSpLocks/>
            </p:cNvGrpSpPr>
            <p:nvPr/>
          </p:nvGrpSpPr>
          <p:grpSpPr bwMode="auto">
            <a:xfrm>
              <a:off x="1872" y="1200"/>
              <a:ext cx="515" cy="384"/>
              <a:chOff x="2160" y="1200"/>
              <a:chExt cx="515" cy="384"/>
            </a:xfrm>
          </p:grpSpPr>
          <p:grpSp>
            <p:nvGrpSpPr>
              <p:cNvPr id="30738" name="Group 18"/>
              <p:cNvGrpSpPr>
                <a:grpSpLocks/>
              </p:cNvGrpSpPr>
              <p:nvPr/>
            </p:nvGrpSpPr>
            <p:grpSpPr bwMode="auto">
              <a:xfrm>
                <a:off x="2256" y="1200"/>
                <a:ext cx="419" cy="288"/>
                <a:chOff x="2040" y="1248"/>
                <a:chExt cx="419" cy="288"/>
              </a:xfrm>
            </p:grpSpPr>
            <p:sp>
              <p:nvSpPr>
                <p:cNvPr id="30739" name="Oval 43"/>
                <p:cNvSpPr>
                  <a:spLocks noChangeArrowheads="1"/>
                </p:cNvSpPr>
                <p:nvPr/>
              </p:nvSpPr>
              <p:spPr bwMode="auto">
                <a:xfrm>
                  <a:off x="2267" y="1248"/>
                  <a:ext cx="192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30740" name="Oval 45"/>
                <p:cNvSpPr>
                  <a:spLocks noChangeArrowheads="1"/>
                </p:cNvSpPr>
                <p:nvPr/>
              </p:nvSpPr>
              <p:spPr bwMode="auto">
                <a:xfrm>
                  <a:off x="2040" y="1248"/>
                  <a:ext cx="9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" name="Rectangle 65"/>
                <p:cNvSpPr>
                  <a:spLocks noChangeArrowheads="1"/>
                </p:cNvSpPr>
                <p:nvPr/>
              </p:nvSpPr>
              <p:spPr bwMode="auto">
                <a:xfrm>
                  <a:off x="2171" y="1248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30742" name="Group 22"/>
              <p:cNvGrpSpPr>
                <a:grpSpLocks/>
              </p:cNvGrpSpPr>
              <p:nvPr/>
            </p:nvGrpSpPr>
            <p:grpSpPr bwMode="auto">
              <a:xfrm>
                <a:off x="2208" y="1248"/>
                <a:ext cx="419" cy="288"/>
                <a:chOff x="2040" y="1248"/>
                <a:chExt cx="419" cy="288"/>
              </a:xfrm>
            </p:grpSpPr>
            <p:sp>
              <p:nvSpPr>
                <p:cNvPr id="30743" name="Oval 43"/>
                <p:cNvSpPr>
                  <a:spLocks noChangeArrowheads="1"/>
                </p:cNvSpPr>
                <p:nvPr/>
              </p:nvSpPr>
              <p:spPr bwMode="auto">
                <a:xfrm>
                  <a:off x="2267" y="1248"/>
                  <a:ext cx="192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30744" name="Oval 45"/>
                <p:cNvSpPr>
                  <a:spLocks noChangeArrowheads="1"/>
                </p:cNvSpPr>
                <p:nvPr/>
              </p:nvSpPr>
              <p:spPr bwMode="auto">
                <a:xfrm>
                  <a:off x="2040" y="1248"/>
                  <a:ext cx="9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3" name="Rectangle 65"/>
                <p:cNvSpPr>
                  <a:spLocks noChangeArrowheads="1"/>
                </p:cNvSpPr>
                <p:nvPr/>
              </p:nvSpPr>
              <p:spPr bwMode="auto">
                <a:xfrm>
                  <a:off x="2171" y="1248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30746" name="Group 26"/>
              <p:cNvGrpSpPr>
                <a:grpSpLocks/>
              </p:cNvGrpSpPr>
              <p:nvPr/>
            </p:nvGrpSpPr>
            <p:grpSpPr bwMode="auto">
              <a:xfrm>
                <a:off x="2160" y="1296"/>
                <a:ext cx="419" cy="288"/>
                <a:chOff x="2040" y="1248"/>
                <a:chExt cx="419" cy="288"/>
              </a:xfrm>
            </p:grpSpPr>
            <p:sp>
              <p:nvSpPr>
                <p:cNvPr id="30747" name="Oval 43"/>
                <p:cNvSpPr>
                  <a:spLocks noChangeArrowheads="1"/>
                </p:cNvSpPr>
                <p:nvPr/>
              </p:nvSpPr>
              <p:spPr bwMode="auto">
                <a:xfrm>
                  <a:off x="2267" y="1248"/>
                  <a:ext cx="192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30748" name="Oval 45"/>
                <p:cNvSpPr>
                  <a:spLocks noChangeArrowheads="1"/>
                </p:cNvSpPr>
                <p:nvPr/>
              </p:nvSpPr>
              <p:spPr bwMode="auto">
                <a:xfrm>
                  <a:off x="2040" y="1248"/>
                  <a:ext cx="9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40737" name="Rectangle 65"/>
                <p:cNvSpPr>
                  <a:spLocks noChangeArrowheads="1"/>
                </p:cNvSpPr>
                <p:nvPr/>
              </p:nvSpPr>
              <p:spPr bwMode="auto">
                <a:xfrm>
                  <a:off x="2171" y="1248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</p:grpSp>
        <p:grpSp>
          <p:nvGrpSpPr>
            <p:cNvPr id="30750" name="Group 30"/>
            <p:cNvGrpSpPr>
              <a:grpSpLocks/>
            </p:cNvGrpSpPr>
            <p:nvPr/>
          </p:nvGrpSpPr>
          <p:grpSpPr bwMode="auto">
            <a:xfrm>
              <a:off x="1008" y="1341"/>
              <a:ext cx="672" cy="698"/>
              <a:chOff x="1008" y="1462"/>
              <a:chExt cx="672" cy="698"/>
            </a:xfrm>
          </p:grpSpPr>
          <p:sp>
            <p:nvSpPr>
              <p:cNvPr id="30751" name="Text Box 31"/>
              <p:cNvSpPr txBox="1">
                <a:spLocks noChangeArrowheads="1"/>
              </p:cNvSpPr>
              <p:nvPr/>
            </p:nvSpPr>
            <p:spPr bwMode="auto">
              <a:xfrm rot="-5400000">
                <a:off x="882" y="1854"/>
                <a:ext cx="432" cy="17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ACSE</a:t>
                </a:r>
              </a:p>
            </p:txBody>
          </p:sp>
          <p:sp>
            <p:nvSpPr>
              <p:cNvPr id="30752" name="Text Box 32"/>
              <p:cNvSpPr txBox="1">
                <a:spLocks noChangeArrowheads="1"/>
              </p:cNvSpPr>
              <p:nvPr/>
            </p:nvSpPr>
            <p:spPr bwMode="auto">
              <a:xfrm rot="-5400000">
                <a:off x="1000" y="1662"/>
                <a:ext cx="69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Authentication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Module</a:t>
                </a:r>
              </a:p>
            </p:txBody>
          </p:sp>
          <p:sp>
            <p:nvSpPr>
              <p:cNvPr id="30753" name="Rectangle 33"/>
              <p:cNvSpPr>
                <a:spLocks noChangeArrowheads="1"/>
              </p:cNvSpPr>
              <p:nvPr/>
            </p:nvSpPr>
            <p:spPr bwMode="auto">
              <a:xfrm rot="-5400000">
                <a:off x="1320" y="1800"/>
                <a:ext cx="52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CMIP</a:t>
                </a:r>
              </a:p>
            </p:txBody>
          </p:sp>
        </p:grpSp>
        <p:grpSp>
          <p:nvGrpSpPr>
            <p:cNvPr id="30754" name="Group 34"/>
            <p:cNvGrpSpPr>
              <a:grpSpLocks/>
            </p:cNvGrpSpPr>
            <p:nvPr/>
          </p:nvGrpSpPr>
          <p:grpSpPr bwMode="auto">
            <a:xfrm>
              <a:off x="2448" y="1728"/>
              <a:ext cx="624" cy="288"/>
              <a:chOff x="2736" y="1728"/>
              <a:chExt cx="624" cy="288"/>
            </a:xfrm>
          </p:grpSpPr>
          <p:sp>
            <p:nvSpPr>
              <p:cNvPr id="30755" name="Oval 54"/>
              <p:cNvSpPr>
                <a:spLocks noChangeArrowheads="1"/>
              </p:cNvSpPr>
              <p:nvPr/>
            </p:nvSpPr>
            <p:spPr bwMode="auto">
              <a:xfrm>
                <a:off x="2736" y="1728"/>
                <a:ext cx="624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56" name="Text Box 36"/>
              <p:cNvSpPr txBox="1">
                <a:spLocks noChangeArrowheads="1"/>
              </p:cNvSpPr>
              <p:nvPr/>
            </p:nvSpPr>
            <p:spPr bwMode="auto">
              <a:xfrm>
                <a:off x="2880" y="1776"/>
                <a:ext cx="11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57" name="Text Box 37"/>
              <p:cNvSpPr txBox="1">
                <a:spLocks noChangeArrowheads="1"/>
              </p:cNvSpPr>
              <p:nvPr/>
            </p:nvSpPr>
            <p:spPr bwMode="auto">
              <a:xfrm>
                <a:off x="2880" y="1776"/>
                <a:ext cx="11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58" name="Text Box 38"/>
              <p:cNvSpPr txBox="1">
                <a:spLocks noChangeArrowheads="1"/>
              </p:cNvSpPr>
              <p:nvPr/>
            </p:nvSpPr>
            <p:spPr bwMode="auto">
              <a:xfrm>
                <a:off x="2826" y="1728"/>
                <a:ext cx="44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RIB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Daemon</a:t>
                </a:r>
              </a:p>
            </p:txBody>
          </p:sp>
        </p:grpSp>
        <p:sp>
          <p:nvSpPr>
            <p:cNvPr id="30759" name="Text Box 39"/>
            <p:cNvSpPr txBox="1">
              <a:spLocks noChangeArrowheads="1"/>
            </p:cNvSpPr>
            <p:nvPr/>
          </p:nvSpPr>
          <p:spPr bwMode="auto">
            <a:xfrm>
              <a:off x="1056" y="720"/>
              <a:ext cx="5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Delimiting</a:t>
              </a:r>
            </a:p>
          </p:txBody>
        </p:sp>
        <p:sp>
          <p:nvSpPr>
            <p:cNvPr id="30760" name="Text Box 40"/>
            <p:cNvSpPr txBox="1">
              <a:spLocks noChangeArrowheads="1"/>
            </p:cNvSpPr>
            <p:nvPr/>
          </p:nvSpPr>
          <p:spPr bwMode="auto">
            <a:xfrm>
              <a:off x="864" y="1008"/>
              <a:ext cx="6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Data Transfer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Protocol</a:t>
              </a:r>
            </a:p>
          </p:txBody>
        </p:sp>
        <p:sp>
          <p:nvSpPr>
            <p:cNvPr id="30761" name="Text Box 41"/>
            <p:cNvSpPr txBox="1">
              <a:spLocks noChangeArrowheads="1"/>
            </p:cNvSpPr>
            <p:nvPr/>
          </p:nvSpPr>
          <p:spPr bwMode="auto">
            <a:xfrm>
              <a:off x="2304" y="720"/>
              <a:ext cx="441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Transfer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Control</a:t>
              </a:r>
            </a:p>
          </p:txBody>
        </p:sp>
        <p:sp>
          <p:nvSpPr>
            <p:cNvPr id="30762" name="Line 42"/>
            <p:cNvSpPr>
              <a:spLocks noChangeShapeType="1"/>
            </p:cNvSpPr>
            <p:nvPr/>
          </p:nvSpPr>
          <p:spPr bwMode="auto">
            <a:xfrm>
              <a:off x="1536" y="81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63" name="Line 43"/>
            <p:cNvSpPr>
              <a:spLocks noChangeShapeType="1"/>
            </p:cNvSpPr>
            <p:nvPr/>
          </p:nvSpPr>
          <p:spPr bwMode="auto">
            <a:xfrm>
              <a:off x="1440" y="115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64" name="Line 44"/>
            <p:cNvSpPr>
              <a:spLocks noChangeShapeType="1"/>
            </p:cNvSpPr>
            <p:nvPr/>
          </p:nvSpPr>
          <p:spPr bwMode="auto">
            <a:xfrm flipH="1">
              <a:off x="2352" y="110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65" name="Text Box 45"/>
            <p:cNvSpPr txBox="1">
              <a:spLocks noChangeArrowheads="1"/>
            </p:cNvSpPr>
            <p:nvPr/>
          </p:nvSpPr>
          <p:spPr bwMode="auto">
            <a:xfrm>
              <a:off x="2304" y="2160"/>
              <a:ext cx="8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Relaying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and Multiplexing</a:t>
              </a:r>
            </a:p>
          </p:txBody>
        </p:sp>
        <p:sp>
          <p:nvSpPr>
            <p:cNvPr id="30766" name="Text Box 46"/>
            <p:cNvSpPr txBox="1">
              <a:spLocks noChangeArrowheads="1"/>
            </p:cNvSpPr>
            <p:nvPr/>
          </p:nvSpPr>
          <p:spPr bwMode="auto">
            <a:xfrm>
              <a:off x="1248" y="21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SDU Protection</a:t>
              </a:r>
            </a:p>
          </p:txBody>
        </p:sp>
        <p:sp>
          <p:nvSpPr>
            <p:cNvPr id="30767" name="Line 47"/>
            <p:cNvSpPr>
              <a:spLocks noChangeShapeType="1"/>
            </p:cNvSpPr>
            <p:nvPr/>
          </p:nvSpPr>
          <p:spPr bwMode="auto">
            <a:xfrm flipV="1">
              <a:off x="1584" y="2016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68" name="Line 48"/>
            <p:cNvSpPr>
              <a:spLocks noChangeShapeType="1"/>
            </p:cNvSpPr>
            <p:nvPr/>
          </p:nvSpPr>
          <p:spPr bwMode="auto">
            <a:xfrm flipH="1" flipV="1">
              <a:off x="2208" y="1776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69" name="Text Box 49"/>
            <p:cNvSpPr txBox="1">
              <a:spLocks noChangeArrowheads="1"/>
            </p:cNvSpPr>
            <p:nvPr/>
          </p:nvSpPr>
          <p:spPr bwMode="auto">
            <a:xfrm>
              <a:off x="3600" y="172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Forwarding Table Generator (routing)</a:t>
              </a:r>
            </a:p>
          </p:txBody>
        </p:sp>
        <p:sp>
          <p:nvSpPr>
            <p:cNvPr id="30770" name="Oval 50"/>
            <p:cNvSpPr>
              <a:spLocks noChangeArrowheads="1"/>
            </p:cNvSpPr>
            <p:nvPr/>
          </p:nvSpPr>
          <p:spPr bwMode="auto">
            <a:xfrm>
              <a:off x="2712" y="1008"/>
              <a:ext cx="312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71" name="Text Box 51"/>
            <p:cNvSpPr txBox="1">
              <a:spLocks noChangeArrowheads="1"/>
            </p:cNvSpPr>
            <p:nvPr/>
          </p:nvSpPr>
          <p:spPr bwMode="auto">
            <a:xfrm>
              <a:off x="2784" y="576"/>
              <a:ext cx="6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Allocation AE</a:t>
              </a:r>
            </a:p>
          </p:txBody>
        </p:sp>
        <p:sp>
          <p:nvSpPr>
            <p:cNvPr id="30772" name="Line 5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73" name="Text Box 53"/>
            <p:cNvSpPr txBox="1">
              <a:spLocks noChangeArrowheads="1"/>
            </p:cNvSpPr>
            <p:nvPr/>
          </p:nvSpPr>
          <p:spPr bwMode="auto">
            <a:xfrm>
              <a:off x="3504" y="139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Security Management</a:t>
              </a:r>
            </a:p>
          </p:txBody>
        </p:sp>
        <p:sp>
          <p:nvSpPr>
            <p:cNvPr id="30774" name="Text Box 54"/>
            <p:cNvSpPr txBox="1">
              <a:spLocks noChangeArrowheads="1"/>
            </p:cNvSpPr>
            <p:nvPr/>
          </p:nvSpPr>
          <p:spPr bwMode="auto">
            <a:xfrm>
              <a:off x="3216" y="1056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Resource Allocator</a:t>
              </a:r>
            </a:p>
          </p:txBody>
        </p:sp>
      </p:grpSp>
      <p:grpSp>
        <p:nvGrpSpPr>
          <p:cNvPr id="30775" name="Group 55"/>
          <p:cNvGrpSpPr>
            <a:grpSpLocks/>
          </p:cNvGrpSpPr>
          <p:nvPr/>
        </p:nvGrpSpPr>
        <p:grpSpPr bwMode="auto">
          <a:xfrm>
            <a:off x="2819400" y="1752600"/>
            <a:ext cx="762000" cy="657225"/>
            <a:chOff x="1488" y="1200"/>
            <a:chExt cx="1920" cy="1662"/>
          </a:xfrm>
        </p:grpSpPr>
        <p:grpSp>
          <p:nvGrpSpPr>
            <p:cNvPr id="30776" name="Group 56"/>
            <p:cNvGrpSpPr>
              <a:grpSpLocks/>
            </p:cNvGrpSpPr>
            <p:nvPr/>
          </p:nvGrpSpPr>
          <p:grpSpPr bwMode="auto">
            <a:xfrm>
              <a:off x="2016" y="1848"/>
              <a:ext cx="720" cy="624"/>
              <a:chOff x="4512" y="432"/>
              <a:chExt cx="720" cy="624"/>
            </a:xfrm>
          </p:grpSpPr>
          <p:sp>
            <p:nvSpPr>
              <p:cNvPr id="30777" name="Rectangle 57"/>
              <p:cNvSpPr>
                <a:spLocks noChangeArrowheads="1"/>
              </p:cNvSpPr>
              <p:nvPr/>
            </p:nvSpPr>
            <p:spPr bwMode="auto">
              <a:xfrm>
                <a:off x="4656" y="432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78" name="Rectangle 58"/>
              <p:cNvSpPr>
                <a:spLocks noChangeArrowheads="1"/>
              </p:cNvSpPr>
              <p:nvPr/>
            </p:nvSpPr>
            <p:spPr bwMode="auto">
              <a:xfrm>
                <a:off x="4512" y="624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79" name="Line 59"/>
              <p:cNvSpPr>
                <a:spLocks noChangeShapeType="1"/>
              </p:cNvSpPr>
              <p:nvPr/>
            </p:nvSpPr>
            <p:spPr bwMode="auto">
              <a:xfrm flipH="1">
                <a:off x="4512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0" name="Line 60"/>
              <p:cNvSpPr>
                <a:spLocks noChangeShapeType="1"/>
              </p:cNvSpPr>
              <p:nvPr/>
            </p:nvSpPr>
            <p:spPr bwMode="auto">
              <a:xfrm flipH="1">
                <a:off x="5088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1" name="Line 61"/>
              <p:cNvSpPr>
                <a:spLocks noChangeShapeType="1"/>
              </p:cNvSpPr>
              <p:nvPr/>
            </p:nvSpPr>
            <p:spPr bwMode="auto">
              <a:xfrm flipH="1">
                <a:off x="4512" y="864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2" name="Line 62"/>
              <p:cNvSpPr>
                <a:spLocks noChangeShapeType="1"/>
              </p:cNvSpPr>
              <p:nvPr/>
            </p:nvSpPr>
            <p:spPr bwMode="auto">
              <a:xfrm flipH="1">
                <a:off x="5088" y="86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30783" name="Group 63"/>
            <p:cNvGrpSpPr>
              <a:grpSpLocks/>
            </p:cNvGrpSpPr>
            <p:nvPr/>
          </p:nvGrpSpPr>
          <p:grpSpPr bwMode="auto">
            <a:xfrm>
              <a:off x="1488" y="1200"/>
              <a:ext cx="1920" cy="1662"/>
              <a:chOff x="1488" y="1200"/>
              <a:chExt cx="1920" cy="1662"/>
            </a:xfrm>
          </p:grpSpPr>
          <p:sp>
            <p:nvSpPr>
              <p:cNvPr id="30784" name="Rectangle 64"/>
              <p:cNvSpPr>
                <a:spLocks noChangeArrowheads="1"/>
              </p:cNvSpPr>
              <p:nvPr/>
            </p:nvSpPr>
            <p:spPr bwMode="auto">
              <a:xfrm>
                <a:off x="1872" y="1200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5" name="Rectangle 65"/>
              <p:cNvSpPr>
                <a:spLocks noChangeArrowheads="1"/>
              </p:cNvSpPr>
              <p:nvPr/>
            </p:nvSpPr>
            <p:spPr bwMode="auto">
              <a:xfrm>
                <a:off x="1488" y="1711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6" name="Line 66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7" name="Line 67"/>
              <p:cNvSpPr>
                <a:spLocks noChangeShapeType="1"/>
              </p:cNvSpPr>
              <p:nvPr/>
            </p:nvSpPr>
            <p:spPr bwMode="auto">
              <a:xfrm flipH="1">
                <a:off x="3024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8" name="Line 68"/>
              <p:cNvSpPr>
                <a:spLocks noChangeShapeType="1"/>
              </p:cNvSpPr>
              <p:nvPr/>
            </p:nvSpPr>
            <p:spPr bwMode="auto">
              <a:xfrm flipH="1">
                <a:off x="1488" y="2352"/>
                <a:ext cx="384" cy="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789" name="Line 69"/>
              <p:cNvSpPr>
                <a:spLocks noChangeShapeType="1"/>
              </p:cNvSpPr>
              <p:nvPr/>
            </p:nvSpPr>
            <p:spPr bwMode="auto">
              <a:xfrm flipH="1">
                <a:off x="3024" y="2351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790" name="Line 70"/>
            <p:cNvSpPr>
              <a:spLocks noChangeShapeType="1"/>
            </p:cNvSpPr>
            <p:nvPr/>
          </p:nvSpPr>
          <p:spPr bwMode="auto">
            <a:xfrm flipH="1">
              <a:off x="1872" y="23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1" name="Line 71"/>
            <p:cNvSpPr>
              <a:spLocks noChangeShapeType="1"/>
            </p:cNvSpPr>
            <p:nvPr/>
          </p:nvSpPr>
          <p:spPr bwMode="auto">
            <a:xfrm flipH="1">
              <a:off x="1488" y="244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2" name="Line 72"/>
            <p:cNvSpPr>
              <a:spLocks noChangeShapeType="1"/>
            </p:cNvSpPr>
            <p:nvPr/>
          </p:nvSpPr>
          <p:spPr bwMode="auto">
            <a:xfrm flipH="1" flipV="1">
              <a:off x="1536" y="172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3" name="Line 73"/>
            <p:cNvSpPr>
              <a:spLocks noChangeShapeType="1"/>
            </p:cNvSpPr>
            <p:nvPr/>
          </p:nvSpPr>
          <p:spPr bwMode="auto">
            <a:xfrm flipH="1" flipV="1">
              <a:off x="1872" y="1200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4" name="Line 74"/>
            <p:cNvSpPr>
              <a:spLocks noChangeShapeType="1"/>
            </p:cNvSpPr>
            <p:nvPr/>
          </p:nvSpPr>
          <p:spPr bwMode="auto">
            <a:xfrm flipV="1">
              <a:off x="2688" y="12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5" name="Line 75"/>
            <p:cNvSpPr>
              <a:spLocks noChangeShapeType="1"/>
            </p:cNvSpPr>
            <p:nvPr/>
          </p:nvSpPr>
          <p:spPr bwMode="auto">
            <a:xfrm>
              <a:off x="2736" y="2304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6" name="Line 76"/>
            <p:cNvSpPr>
              <a:spLocks noChangeShapeType="1"/>
            </p:cNvSpPr>
            <p:nvPr/>
          </p:nvSpPr>
          <p:spPr bwMode="auto">
            <a:xfrm>
              <a:off x="2592" y="244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797" name="Line 77"/>
            <p:cNvSpPr>
              <a:spLocks noChangeShapeType="1"/>
            </p:cNvSpPr>
            <p:nvPr/>
          </p:nvSpPr>
          <p:spPr bwMode="auto">
            <a:xfrm flipV="1">
              <a:off x="2592" y="1728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30798" name="Group 78"/>
          <p:cNvGrpSpPr>
            <a:grpSpLocks/>
          </p:cNvGrpSpPr>
          <p:nvPr/>
        </p:nvGrpSpPr>
        <p:grpSpPr bwMode="auto">
          <a:xfrm>
            <a:off x="3581400" y="1295400"/>
            <a:ext cx="762000" cy="657225"/>
            <a:chOff x="1488" y="1200"/>
            <a:chExt cx="1920" cy="1662"/>
          </a:xfrm>
        </p:grpSpPr>
        <p:grpSp>
          <p:nvGrpSpPr>
            <p:cNvPr id="30799" name="Group 79"/>
            <p:cNvGrpSpPr>
              <a:grpSpLocks/>
            </p:cNvGrpSpPr>
            <p:nvPr/>
          </p:nvGrpSpPr>
          <p:grpSpPr bwMode="auto">
            <a:xfrm>
              <a:off x="2016" y="1848"/>
              <a:ext cx="720" cy="624"/>
              <a:chOff x="4512" y="432"/>
              <a:chExt cx="720" cy="624"/>
            </a:xfrm>
          </p:grpSpPr>
          <p:sp>
            <p:nvSpPr>
              <p:cNvPr id="30800" name="Rectangle 80"/>
              <p:cNvSpPr>
                <a:spLocks noChangeArrowheads="1"/>
              </p:cNvSpPr>
              <p:nvPr/>
            </p:nvSpPr>
            <p:spPr bwMode="auto">
              <a:xfrm>
                <a:off x="4656" y="432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1" name="Rectangle 81"/>
              <p:cNvSpPr>
                <a:spLocks noChangeArrowheads="1"/>
              </p:cNvSpPr>
              <p:nvPr/>
            </p:nvSpPr>
            <p:spPr bwMode="auto">
              <a:xfrm>
                <a:off x="4512" y="624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2" name="Line 82"/>
              <p:cNvSpPr>
                <a:spLocks noChangeShapeType="1"/>
              </p:cNvSpPr>
              <p:nvPr/>
            </p:nvSpPr>
            <p:spPr bwMode="auto">
              <a:xfrm flipH="1">
                <a:off x="4512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3" name="Line 83"/>
              <p:cNvSpPr>
                <a:spLocks noChangeShapeType="1"/>
              </p:cNvSpPr>
              <p:nvPr/>
            </p:nvSpPr>
            <p:spPr bwMode="auto">
              <a:xfrm flipH="1">
                <a:off x="5088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4" name="Line 84"/>
              <p:cNvSpPr>
                <a:spLocks noChangeShapeType="1"/>
              </p:cNvSpPr>
              <p:nvPr/>
            </p:nvSpPr>
            <p:spPr bwMode="auto">
              <a:xfrm flipH="1">
                <a:off x="4512" y="864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5" name="Line 85"/>
              <p:cNvSpPr>
                <a:spLocks noChangeShapeType="1"/>
              </p:cNvSpPr>
              <p:nvPr/>
            </p:nvSpPr>
            <p:spPr bwMode="auto">
              <a:xfrm flipH="1">
                <a:off x="5088" y="86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30806" name="Group 86"/>
            <p:cNvGrpSpPr>
              <a:grpSpLocks/>
            </p:cNvGrpSpPr>
            <p:nvPr/>
          </p:nvGrpSpPr>
          <p:grpSpPr bwMode="auto">
            <a:xfrm>
              <a:off x="1488" y="1200"/>
              <a:ext cx="1920" cy="1662"/>
              <a:chOff x="1488" y="1200"/>
              <a:chExt cx="1920" cy="1662"/>
            </a:xfrm>
          </p:grpSpPr>
          <p:sp>
            <p:nvSpPr>
              <p:cNvPr id="30807" name="Rectangle 87"/>
              <p:cNvSpPr>
                <a:spLocks noChangeArrowheads="1"/>
              </p:cNvSpPr>
              <p:nvPr/>
            </p:nvSpPr>
            <p:spPr bwMode="auto">
              <a:xfrm>
                <a:off x="1872" y="1200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8" name="Rectangle 88"/>
              <p:cNvSpPr>
                <a:spLocks noChangeArrowheads="1"/>
              </p:cNvSpPr>
              <p:nvPr/>
            </p:nvSpPr>
            <p:spPr bwMode="auto">
              <a:xfrm>
                <a:off x="1488" y="1711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09" name="Line 89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10" name="Line 90"/>
              <p:cNvSpPr>
                <a:spLocks noChangeShapeType="1"/>
              </p:cNvSpPr>
              <p:nvPr/>
            </p:nvSpPr>
            <p:spPr bwMode="auto">
              <a:xfrm flipH="1">
                <a:off x="3024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11" name="Line 91"/>
              <p:cNvSpPr>
                <a:spLocks noChangeShapeType="1"/>
              </p:cNvSpPr>
              <p:nvPr/>
            </p:nvSpPr>
            <p:spPr bwMode="auto">
              <a:xfrm flipH="1">
                <a:off x="1488" y="2352"/>
                <a:ext cx="384" cy="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12" name="Line 92"/>
              <p:cNvSpPr>
                <a:spLocks noChangeShapeType="1"/>
              </p:cNvSpPr>
              <p:nvPr/>
            </p:nvSpPr>
            <p:spPr bwMode="auto">
              <a:xfrm flipH="1">
                <a:off x="3024" y="2351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813" name="Line 93"/>
            <p:cNvSpPr>
              <a:spLocks noChangeShapeType="1"/>
            </p:cNvSpPr>
            <p:nvPr/>
          </p:nvSpPr>
          <p:spPr bwMode="auto">
            <a:xfrm flipH="1">
              <a:off x="1872" y="23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14" name="Line 94"/>
            <p:cNvSpPr>
              <a:spLocks noChangeShapeType="1"/>
            </p:cNvSpPr>
            <p:nvPr/>
          </p:nvSpPr>
          <p:spPr bwMode="auto">
            <a:xfrm flipH="1">
              <a:off x="1488" y="244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15" name="Line 95"/>
            <p:cNvSpPr>
              <a:spLocks noChangeShapeType="1"/>
            </p:cNvSpPr>
            <p:nvPr/>
          </p:nvSpPr>
          <p:spPr bwMode="auto">
            <a:xfrm flipH="1" flipV="1">
              <a:off x="1536" y="172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16" name="Line 96"/>
            <p:cNvSpPr>
              <a:spLocks noChangeShapeType="1"/>
            </p:cNvSpPr>
            <p:nvPr/>
          </p:nvSpPr>
          <p:spPr bwMode="auto">
            <a:xfrm flipH="1" flipV="1">
              <a:off x="1872" y="1200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17" name="Line 97"/>
            <p:cNvSpPr>
              <a:spLocks noChangeShapeType="1"/>
            </p:cNvSpPr>
            <p:nvPr/>
          </p:nvSpPr>
          <p:spPr bwMode="auto">
            <a:xfrm flipV="1">
              <a:off x="2688" y="12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18" name="Line 98"/>
            <p:cNvSpPr>
              <a:spLocks noChangeShapeType="1"/>
            </p:cNvSpPr>
            <p:nvPr/>
          </p:nvSpPr>
          <p:spPr bwMode="auto">
            <a:xfrm>
              <a:off x="2736" y="2304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19" name="Line 99"/>
            <p:cNvSpPr>
              <a:spLocks noChangeShapeType="1"/>
            </p:cNvSpPr>
            <p:nvPr/>
          </p:nvSpPr>
          <p:spPr bwMode="auto">
            <a:xfrm>
              <a:off x="2592" y="244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20" name="Line 100"/>
            <p:cNvSpPr>
              <a:spLocks noChangeShapeType="1"/>
            </p:cNvSpPr>
            <p:nvPr/>
          </p:nvSpPr>
          <p:spPr bwMode="auto">
            <a:xfrm flipV="1">
              <a:off x="2592" y="1728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30821" name="Group 101"/>
          <p:cNvGrpSpPr>
            <a:grpSpLocks/>
          </p:cNvGrpSpPr>
          <p:nvPr/>
        </p:nvGrpSpPr>
        <p:grpSpPr bwMode="auto">
          <a:xfrm>
            <a:off x="2362200" y="1219200"/>
            <a:ext cx="762000" cy="657225"/>
            <a:chOff x="1488" y="1200"/>
            <a:chExt cx="1920" cy="1662"/>
          </a:xfrm>
        </p:grpSpPr>
        <p:grpSp>
          <p:nvGrpSpPr>
            <p:cNvPr id="30822" name="Group 102"/>
            <p:cNvGrpSpPr>
              <a:grpSpLocks/>
            </p:cNvGrpSpPr>
            <p:nvPr/>
          </p:nvGrpSpPr>
          <p:grpSpPr bwMode="auto">
            <a:xfrm>
              <a:off x="2016" y="1848"/>
              <a:ext cx="720" cy="624"/>
              <a:chOff x="4512" y="432"/>
              <a:chExt cx="720" cy="624"/>
            </a:xfrm>
          </p:grpSpPr>
          <p:sp>
            <p:nvSpPr>
              <p:cNvPr id="30823" name="Rectangle 103"/>
              <p:cNvSpPr>
                <a:spLocks noChangeArrowheads="1"/>
              </p:cNvSpPr>
              <p:nvPr/>
            </p:nvSpPr>
            <p:spPr bwMode="auto">
              <a:xfrm>
                <a:off x="4656" y="432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24" name="Rectangle 104"/>
              <p:cNvSpPr>
                <a:spLocks noChangeArrowheads="1"/>
              </p:cNvSpPr>
              <p:nvPr/>
            </p:nvSpPr>
            <p:spPr bwMode="auto">
              <a:xfrm>
                <a:off x="4512" y="624"/>
                <a:ext cx="576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25" name="Line 105"/>
              <p:cNvSpPr>
                <a:spLocks noChangeShapeType="1"/>
              </p:cNvSpPr>
              <p:nvPr/>
            </p:nvSpPr>
            <p:spPr bwMode="auto">
              <a:xfrm flipH="1">
                <a:off x="4512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26" name="Line 106"/>
              <p:cNvSpPr>
                <a:spLocks noChangeShapeType="1"/>
              </p:cNvSpPr>
              <p:nvPr/>
            </p:nvSpPr>
            <p:spPr bwMode="auto">
              <a:xfrm flipH="1">
                <a:off x="5088" y="43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27" name="Line 107"/>
              <p:cNvSpPr>
                <a:spLocks noChangeShapeType="1"/>
              </p:cNvSpPr>
              <p:nvPr/>
            </p:nvSpPr>
            <p:spPr bwMode="auto">
              <a:xfrm flipH="1">
                <a:off x="4512" y="864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28" name="Line 108"/>
              <p:cNvSpPr>
                <a:spLocks noChangeShapeType="1"/>
              </p:cNvSpPr>
              <p:nvPr/>
            </p:nvSpPr>
            <p:spPr bwMode="auto">
              <a:xfrm flipH="1">
                <a:off x="5088" y="86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30829" name="Group 109"/>
            <p:cNvGrpSpPr>
              <a:grpSpLocks/>
            </p:cNvGrpSpPr>
            <p:nvPr/>
          </p:nvGrpSpPr>
          <p:grpSpPr bwMode="auto">
            <a:xfrm>
              <a:off x="1488" y="1200"/>
              <a:ext cx="1920" cy="1662"/>
              <a:chOff x="1488" y="1200"/>
              <a:chExt cx="1920" cy="1662"/>
            </a:xfrm>
          </p:grpSpPr>
          <p:sp>
            <p:nvSpPr>
              <p:cNvPr id="30830" name="Rectangle 110"/>
              <p:cNvSpPr>
                <a:spLocks noChangeArrowheads="1"/>
              </p:cNvSpPr>
              <p:nvPr/>
            </p:nvSpPr>
            <p:spPr bwMode="auto">
              <a:xfrm>
                <a:off x="1872" y="1200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31" name="Rectangle 111"/>
              <p:cNvSpPr>
                <a:spLocks noChangeArrowheads="1"/>
              </p:cNvSpPr>
              <p:nvPr/>
            </p:nvSpPr>
            <p:spPr bwMode="auto">
              <a:xfrm>
                <a:off x="1488" y="1711"/>
                <a:ext cx="1536" cy="115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32" name="Line 112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33" name="Line 113"/>
              <p:cNvSpPr>
                <a:spLocks noChangeShapeType="1"/>
              </p:cNvSpPr>
              <p:nvPr/>
            </p:nvSpPr>
            <p:spPr bwMode="auto">
              <a:xfrm flipH="1">
                <a:off x="3024" y="1200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34" name="Line 114"/>
              <p:cNvSpPr>
                <a:spLocks noChangeShapeType="1"/>
              </p:cNvSpPr>
              <p:nvPr/>
            </p:nvSpPr>
            <p:spPr bwMode="auto">
              <a:xfrm flipH="1">
                <a:off x="1488" y="2352"/>
                <a:ext cx="384" cy="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835" name="Line 115"/>
              <p:cNvSpPr>
                <a:spLocks noChangeShapeType="1"/>
              </p:cNvSpPr>
              <p:nvPr/>
            </p:nvSpPr>
            <p:spPr bwMode="auto">
              <a:xfrm flipH="1">
                <a:off x="3024" y="2351"/>
                <a:ext cx="384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836" name="Line 116"/>
            <p:cNvSpPr>
              <a:spLocks noChangeShapeType="1"/>
            </p:cNvSpPr>
            <p:nvPr/>
          </p:nvSpPr>
          <p:spPr bwMode="auto">
            <a:xfrm flipH="1">
              <a:off x="1872" y="2304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37" name="Line 117"/>
            <p:cNvSpPr>
              <a:spLocks noChangeShapeType="1"/>
            </p:cNvSpPr>
            <p:nvPr/>
          </p:nvSpPr>
          <p:spPr bwMode="auto">
            <a:xfrm flipH="1">
              <a:off x="1488" y="244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38" name="Line 118"/>
            <p:cNvSpPr>
              <a:spLocks noChangeShapeType="1"/>
            </p:cNvSpPr>
            <p:nvPr/>
          </p:nvSpPr>
          <p:spPr bwMode="auto">
            <a:xfrm flipH="1" flipV="1">
              <a:off x="1536" y="172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39" name="Line 119"/>
            <p:cNvSpPr>
              <a:spLocks noChangeShapeType="1"/>
            </p:cNvSpPr>
            <p:nvPr/>
          </p:nvSpPr>
          <p:spPr bwMode="auto">
            <a:xfrm flipH="1" flipV="1">
              <a:off x="1872" y="1200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40" name="Line 120"/>
            <p:cNvSpPr>
              <a:spLocks noChangeShapeType="1"/>
            </p:cNvSpPr>
            <p:nvPr/>
          </p:nvSpPr>
          <p:spPr bwMode="auto">
            <a:xfrm flipV="1">
              <a:off x="2688" y="12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41" name="Line 121"/>
            <p:cNvSpPr>
              <a:spLocks noChangeShapeType="1"/>
            </p:cNvSpPr>
            <p:nvPr/>
          </p:nvSpPr>
          <p:spPr bwMode="auto">
            <a:xfrm>
              <a:off x="2736" y="2304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42" name="Line 122"/>
            <p:cNvSpPr>
              <a:spLocks noChangeShapeType="1"/>
            </p:cNvSpPr>
            <p:nvPr/>
          </p:nvSpPr>
          <p:spPr bwMode="auto">
            <a:xfrm>
              <a:off x="2592" y="244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843" name="Line 123"/>
            <p:cNvSpPr>
              <a:spLocks noChangeShapeType="1"/>
            </p:cNvSpPr>
            <p:nvPr/>
          </p:nvSpPr>
          <p:spPr bwMode="auto">
            <a:xfrm flipV="1">
              <a:off x="2592" y="1728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30844" name="Text Box 124"/>
          <p:cNvSpPr txBox="1">
            <a:spLocks noChangeArrowheads="1"/>
          </p:cNvSpPr>
          <p:nvPr/>
        </p:nvSpPr>
        <p:spPr bwMode="auto">
          <a:xfrm>
            <a:off x="2971800" y="990600"/>
            <a:ext cx="8747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QoS Cubes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Flow Allocator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33800"/>
            <a:ext cx="7975600" cy="2362200"/>
          </a:xfrm>
        </p:spPr>
        <p:txBody>
          <a:bodyPr/>
          <a:lstStyle/>
          <a:p>
            <a:r>
              <a:rPr lang="en-US" sz="2000" dirty="0"/>
              <a:t>When an Application Process generates an Allocate request, the Flow Allocator (FA) creates a FA-instance to manage each new flow and maps the QoS parameters to the policies for the appropriate QoS-cube.</a:t>
            </a:r>
          </a:p>
          <a:p>
            <a:r>
              <a:rPr lang="en-US" sz="2000" dirty="0"/>
              <a:t>The Instance is responsible for managing the flow, deallocating the ports,  modifying QoS if requested, monitoring security, etc. </a:t>
            </a:r>
          </a:p>
          <a:p>
            <a:pPr lvl="1"/>
            <a:r>
              <a:rPr lang="en-US" sz="1800" dirty="0"/>
              <a:t>The EFCP instances will be deleted automatically after 2</a:t>
            </a:r>
            <a:r>
              <a:rPr lang="en-US" sz="1800" dirty="0">
                <a:sym typeface="Symbol" charset="0"/>
              </a:rPr>
              <a:t></a:t>
            </a:r>
            <a:r>
              <a:rPr lang="en-US" sz="1800" dirty="0"/>
              <a:t>t with no traffic, </a:t>
            </a:r>
          </a:p>
          <a:p>
            <a:r>
              <a:rPr lang="en-US" sz="2000" dirty="0"/>
              <a:t>When it is given an Allocate Request, it does the following:</a:t>
            </a:r>
          </a:p>
          <a:p>
            <a:pPr lvl="1"/>
            <a:endParaRPr lang="en-US" sz="1800" dirty="0"/>
          </a:p>
        </p:txBody>
      </p:sp>
      <p:sp>
        <p:nvSpPr>
          <p:cNvPr id="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457A5A-E095-0846-9AC9-AAFFCDA64DD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grpSp>
        <p:nvGrpSpPr>
          <p:cNvPr id="23594" name="Group 42"/>
          <p:cNvGrpSpPr>
            <a:grpSpLocks/>
          </p:cNvGrpSpPr>
          <p:nvPr/>
        </p:nvGrpSpPr>
        <p:grpSpPr bwMode="auto">
          <a:xfrm>
            <a:off x="2362200" y="1279525"/>
            <a:ext cx="4419600" cy="2149475"/>
            <a:chOff x="1488" y="1022"/>
            <a:chExt cx="2784" cy="1354"/>
          </a:xfrm>
        </p:grpSpPr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1488" y="1248"/>
              <a:ext cx="2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3557" name="Text Box 5"/>
            <p:cNvSpPr txBox="1">
              <a:spLocks noChangeArrowheads="1"/>
            </p:cNvSpPr>
            <p:nvPr/>
          </p:nvSpPr>
          <p:spPr bwMode="auto">
            <a:xfrm>
              <a:off x="1718" y="1022"/>
              <a:ext cx="2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Allocate(Dest-Appl-Name, QoS parameters)</a:t>
              </a:r>
            </a:p>
          </p:txBody>
        </p:sp>
        <p:sp>
          <p:nvSpPr>
            <p:cNvPr id="23558" name="Oval 6"/>
            <p:cNvSpPr>
              <a:spLocks noChangeArrowheads="1"/>
            </p:cNvSpPr>
            <p:nvPr/>
          </p:nvSpPr>
          <p:spPr bwMode="auto">
            <a:xfrm>
              <a:off x="2736" y="1440"/>
              <a:ext cx="816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Flow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Allocator</a:t>
              </a:r>
            </a:p>
          </p:txBody>
        </p:sp>
        <p:sp>
          <p:nvSpPr>
            <p:cNvPr id="23562" name="AutoShape 10"/>
            <p:cNvSpPr>
              <a:spLocks noChangeArrowheads="1"/>
            </p:cNvSpPr>
            <p:nvPr/>
          </p:nvSpPr>
          <p:spPr bwMode="auto">
            <a:xfrm flipV="1">
              <a:off x="1968" y="1200"/>
              <a:ext cx="816" cy="528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23570" name="Group 18"/>
            <p:cNvGrpSpPr>
              <a:grpSpLocks/>
            </p:cNvGrpSpPr>
            <p:nvPr/>
          </p:nvGrpSpPr>
          <p:grpSpPr bwMode="auto">
            <a:xfrm>
              <a:off x="2352" y="1944"/>
              <a:ext cx="528" cy="432"/>
              <a:chOff x="2352" y="2160"/>
              <a:chExt cx="528" cy="432"/>
            </a:xfrm>
          </p:grpSpPr>
          <p:sp>
            <p:nvSpPr>
              <p:cNvPr id="23563" name="Rectangle 11"/>
              <p:cNvSpPr>
                <a:spLocks noChangeArrowheads="1"/>
              </p:cNvSpPr>
              <p:nvPr/>
            </p:nvSpPr>
            <p:spPr bwMode="auto">
              <a:xfrm>
                <a:off x="2352" y="2160"/>
                <a:ext cx="528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64" name="Line 12"/>
              <p:cNvSpPr>
                <a:spLocks noChangeShapeType="1"/>
              </p:cNvSpPr>
              <p:nvPr/>
            </p:nvSpPr>
            <p:spPr bwMode="auto">
              <a:xfrm>
                <a:off x="2352" y="216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65" name="Line 13"/>
              <p:cNvSpPr>
                <a:spLocks noChangeShapeType="1"/>
              </p:cNvSpPr>
              <p:nvPr/>
            </p:nvSpPr>
            <p:spPr bwMode="auto">
              <a:xfrm>
                <a:off x="2352" y="22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66" name="Line 14"/>
              <p:cNvSpPr>
                <a:spLocks noChangeShapeType="1"/>
              </p:cNvSpPr>
              <p:nvPr/>
            </p:nvSpPr>
            <p:spPr bwMode="auto">
              <a:xfrm>
                <a:off x="2352" y="235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67" name="Line 15"/>
              <p:cNvSpPr>
                <a:spLocks noChangeShapeType="1"/>
              </p:cNvSpPr>
              <p:nvPr/>
            </p:nvSpPr>
            <p:spPr bwMode="auto">
              <a:xfrm>
                <a:off x="2352" y="244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68" name="Line 16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69" name="Line 17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3571" name="Group 19"/>
            <p:cNvGrpSpPr>
              <a:grpSpLocks/>
            </p:cNvGrpSpPr>
            <p:nvPr/>
          </p:nvGrpSpPr>
          <p:grpSpPr bwMode="auto">
            <a:xfrm>
              <a:off x="3456" y="1920"/>
              <a:ext cx="384" cy="240"/>
              <a:chOff x="2352" y="2160"/>
              <a:chExt cx="528" cy="432"/>
            </a:xfrm>
          </p:grpSpPr>
          <p:sp>
            <p:nvSpPr>
              <p:cNvPr id="23572" name="Rectangle 20"/>
              <p:cNvSpPr>
                <a:spLocks noChangeArrowheads="1"/>
              </p:cNvSpPr>
              <p:nvPr/>
            </p:nvSpPr>
            <p:spPr bwMode="auto">
              <a:xfrm>
                <a:off x="2352" y="2160"/>
                <a:ext cx="528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73" name="Line 21"/>
              <p:cNvSpPr>
                <a:spLocks noChangeShapeType="1"/>
              </p:cNvSpPr>
              <p:nvPr/>
            </p:nvSpPr>
            <p:spPr bwMode="auto">
              <a:xfrm>
                <a:off x="2352" y="216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74" name="Line 22"/>
              <p:cNvSpPr>
                <a:spLocks noChangeShapeType="1"/>
              </p:cNvSpPr>
              <p:nvPr/>
            </p:nvSpPr>
            <p:spPr bwMode="auto">
              <a:xfrm>
                <a:off x="2352" y="22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75" name="Line 23"/>
              <p:cNvSpPr>
                <a:spLocks noChangeShapeType="1"/>
              </p:cNvSpPr>
              <p:nvPr/>
            </p:nvSpPr>
            <p:spPr bwMode="auto">
              <a:xfrm>
                <a:off x="2352" y="235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76" name="Line 24"/>
              <p:cNvSpPr>
                <a:spLocks noChangeShapeType="1"/>
              </p:cNvSpPr>
              <p:nvPr/>
            </p:nvSpPr>
            <p:spPr bwMode="auto">
              <a:xfrm>
                <a:off x="2352" y="244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77" name="Line 25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578" name="Line 26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23579" name="Text Box 27"/>
            <p:cNvSpPr txBox="1">
              <a:spLocks noChangeArrowheads="1"/>
            </p:cNvSpPr>
            <p:nvPr/>
          </p:nvSpPr>
          <p:spPr bwMode="auto">
            <a:xfrm>
              <a:off x="2372" y="2016"/>
              <a:ext cx="5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Local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Dir Cache</a:t>
              </a:r>
            </a:p>
          </p:txBody>
        </p:sp>
        <p:sp>
          <p:nvSpPr>
            <p:cNvPr id="23580" name="Text Box 28"/>
            <p:cNvSpPr txBox="1">
              <a:spLocks noChangeArrowheads="1"/>
            </p:cNvSpPr>
            <p:nvPr/>
          </p:nvSpPr>
          <p:spPr bwMode="auto">
            <a:xfrm>
              <a:off x="3696" y="1958"/>
              <a:ext cx="564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Dir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Forwarding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Table</a:t>
              </a:r>
            </a:p>
          </p:txBody>
        </p:sp>
        <p:grpSp>
          <p:nvGrpSpPr>
            <p:cNvPr id="23581" name="Group 29"/>
            <p:cNvGrpSpPr>
              <a:grpSpLocks/>
            </p:cNvGrpSpPr>
            <p:nvPr/>
          </p:nvGrpSpPr>
          <p:grpSpPr bwMode="auto">
            <a:xfrm>
              <a:off x="1632" y="1968"/>
              <a:ext cx="515" cy="384"/>
              <a:chOff x="2160" y="1200"/>
              <a:chExt cx="515" cy="384"/>
            </a:xfrm>
          </p:grpSpPr>
          <p:grpSp>
            <p:nvGrpSpPr>
              <p:cNvPr id="23582" name="Group 30"/>
              <p:cNvGrpSpPr>
                <a:grpSpLocks/>
              </p:cNvGrpSpPr>
              <p:nvPr/>
            </p:nvGrpSpPr>
            <p:grpSpPr bwMode="auto">
              <a:xfrm>
                <a:off x="2256" y="1200"/>
                <a:ext cx="419" cy="288"/>
                <a:chOff x="2040" y="1248"/>
                <a:chExt cx="419" cy="288"/>
              </a:xfrm>
            </p:grpSpPr>
            <p:sp>
              <p:nvSpPr>
                <p:cNvPr id="23583" name="Oval 43"/>
                <p:cNvSpPr>
                  <a:spLocks noChangeArrowheads="1"/>
                </p:cNvSpPr>
                <p:nvPr/>
              </p:nvSpPr>
              <p:spPr bwMode="auto">
                <a:xfrm>
                  <a:off x="2267" y="1248"/>
                  <a:ext cx="192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3584" name="Oval 45"/>
                <p:cNvSpPr>
                  <a:spLocks noChangeArrowheads="1"/>
                </p:cNvSpPr>
                <p:nvPr/>
              </p:nvSpPr>
              <p:spPr bwMode="auto">
                <a:xfrm>
                  <a:off x="2040" y="1248"/>
                  <a:ext cx="9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" name="Rectangle 65"/>
                <p:cNvSpPr>
                  <a:spLocks noChangeArrowheads="1"/>
                </p:cNvSpPr>
                <p:nvPr/>
              </p:nvSpPr>
              <p:spPr bwMode="auto">
                <a:xfrm>
                  <a:off x="2171" y="1248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23586" name="Group 34"/>
              <p:cNvGrpSpPr>
                <a:grpSpLocks/>
              </p:cNvGrpSpPr>
              <p:nvPr/>
            </p:nvGrpSpPr>
            <p:grpSpPr bwMode="auto">
              <a:xfrm>
                <a:off x="2208" y="1248"/>
                <a:ext cx="419" cy="288"/>
                <a:chOff x="2040" y="1248"/>
                <a:chExt cx="419" cy="288"/>
              </a:xfrm>
            </p:grpSpPr>
            <p:sp>
              <p:nvSpPr>
                <p:cNvPr id="23587" name="Oval 43"/>
                <p:cNvSpPr>
                  <a:spLocks noChangeArrowheads="1"/>
                </p:cNvSpPr>
                <p:nvPr/>
              </p:nvSpPr>
              <p:spPr bwMode="auto">
                <a:xfrm>
                  <a:off x="2267" y="1248"/>
                  <a:ext cx="192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3588" name="Oval 45"/>
                <p:cNvSpPr>
                  <a:spLocks noChangeArrowheads="1"/>
                </p:cNvSpPr>
                <p:nvPr/>
              </p:nvSpPr>
              <p:spPr bwMode="auto">
                <a:xfrm>
                  <a:off x="2040" y="1248"/>
                  <a:ext cx="9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3" name="Rectangle 65"/>
                <p:cNvSpPr>
                  <a:spLocks noChangeArrowheads="1"/>
                </p:cNvSpPr>
                <p:nvPr/>
              </p:nvSpPr>
              <p:spPr bwMode="auto">
                <a:xfrm>
                  <a:off x="2171" y="1248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23590" name="Group 38"/>
              <p:cNvGrpSpPr>
                <a:grpSpLocks/>
              </p:cNvGrpSpPr>
              <p:nvPr/>
            </p:nvGrpSpPr>
            <p:grpSpPr bwMode="auto">
              <a:xfrm>
                <a:off x="2160" y="1296"/>
                <a:ext cx="419" cy="288"/>
                <a:chOff x="2040" y="1248"/>
                <a:chExt cx="419" cy="288"/>
              </a:xfrm>
            </p:grpSpPr>
            <p:sp>
              <p:nvSpPr>
                <p:cNvPr id="23591" name="Oval 43"/>
                <p:cNvSpPr>
                  <a:spLocks noChangeArrowheads="1"/>
                </p:cNvSpPr>
                <p:nvPr/>
              </p:nvSpPr>
              <p:spPr bwMode="auto">
                <a:xfrm>
                  <a:off x="2267" y="1248"/>
                  <a:ext cx="192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3592" name="Oval 45"/>
                <p:cNvSpPr>
                  <a:spLocks noChangeArrowheads="1"/>
                </p:cNvSpPr>
                <p:nvPr/>
              </p:nvSpPr>
              <p:spPr bwMode="auto">
                <a:xfrm>
                  <a:off x="2040" y="1248"/>
                  <a:ext cx="96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540737" name="Rectangle 65"/>
                <p:cNvSpPr>
                  <a:spLocks noChangeArrowheads="1"/>
                </p:cNvSpPr>
                <p:nvPr/>
              </p:nvSpPr>
              <p:spPr bwMode="auto">
                <a:xfrm>
                  <a:off x="2171" y="1248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E7BB23-B50E-4F42-8556-9D3BB45BEE2A}"/>
              </a:ext>
            </a:extLst>
          </p:cNvPr>
          <p:cNvSpPr txBox="1"/>
          <p:nvPr/>
        </p:nvSpPr>
        <p:spPr>
          <a:xfrm>
            <a:off x="5486400" y="3470170"/>
            <a:ext cx="338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For details of the FA, see DIS 4396-7-PSOC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Allocator</a:t>
            </a:r>
            <a:br>
              <a:rPr lang="en-US"/>
            </a:br>
            <a:r>
              <a:rPr lang="en-US" sz="2400"/>
              <a:t>Input: Allocate Request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charset="0"/>
              <a:buAutoNum type="arabicParenR"/>
            </a:pPr>
            <a:r>
              <a:rPr lang="en-US" sz="2000" dirty="0"/>
              <a:t>It inspects the Allocate request and maps the parameters to the appropriate QoS Class and the associated policy set and determines whether the resources are available to honor the request.</a:t>
            </a:r>
          </a:p>
          <a:p>
            <a:pPr marL="457200" indent="-457200">
              <a:buFont typeface="Arial" charset="0"/>
              <a:buAutoNum type="arabicParenR"/>
            </a:pPr>
            <a:r>
              <a:rPr lang="en-US" sz="2000" dirty="0"/>
              <a:t>Checks its local directory cache for the requested application name.  If it is local, it uses local IPC to create the communication. </a:t>
            </a:r>
          </a:p>
          <a:p>
            <a:pPr marL="457200" indent="-457200">
              <a:buFont typeface="Arial" charset="0"/>
              <a:buAutoNum type="arabicParenR"/>
            </a:pPr>
            <a:r>
              <a:rPr lang="en-US" sz="2000" dirty="0"/>
              <a:t>If it isn’t local, the directory returns the address of </a:t>
            </a:r>
            <a:r>
              <a:rPr lang="en-US" sz="2000" i="1" dirty="0"/>
              <a:t>where to look next </a:t>
            </a:r>
            <a:r>
              <a:rPr lang="en-US" sz="2000" dirty="0"/>
              <a:t>for the application and sends a Create Flow request to that address.</a:t>
            </a:r>
          </a:p>
          <a:p>
            <a:pPr marL="457200" indent="-457200">
              <a:buFont typeface="Arial" charset="0"/>
              <a:buAutoNum type="arabicParenR"/>
            </a:pPr>
            <a:r>
              <a:rPr lang="en-US" sz="2000" dirty="0"/>
              <a:t>Before sending the request, it instantiates an EFCP-instance for this end of the flow. </a:t>
            </a:r>
            <a:r>
              <a:rPr lang="en-US" sz="1600" dirty="0"/>
              <a:t>(This avoids a race condition, if the first data arrives before the Create Flow Response.)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73FE3-8983-EA45-A764-5DC980A6A02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Flow Allocator</a:t>
            </a:r>
            <a:br>
              <a:rPr lang="en-US"/>
            </a:br>
            <a:r>
              <a:rPr lang="en-US" sz="2400"/>
              <a:t>Subtleties</a:t>
            </a: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810000"/>
            <a:ext cx="7886700" cy="2286000"/>
          </a:xfrm>
        </p:spPr>
        <p:txBody>
          <a:bodyPr/>
          <a:lstStyle/>
          <a:p>
            <a:r>
              <a:rPr lang="en-US" sz="2000" dirty="0"/>
              <a:t>Separating port allocation from synchronization eliminates well-known ports, and several SYN hijacking attacks. </a:t>
            </a:r>
          </a:p>
          <a:p>
            <a:pPr lvl="1"/>
            <a:r>
              <a:rPr lang="en-US" sz="1800" dirty="0"/>
              <a:t>Basing EFCP on delta-t means it is inherently more secure the TCP</a:t>
            </a:r>
          </a:p>
          <a:p>
            <a:r>
              <a:rPr lang="en-US" sz="2000" dirty="0"/>
              <a:t>The Create Flow allows for a list of connection-endpoint-ids that can be used either in parallel (</a:t>
            </a:r>
            <a:r>
              <a:rPr lang="en-US" sz="2000" dirty="0" err="1"/>
              <a:t>sym</a:t>
            </a:r>
            <a:r>
              <a:rPr lang="en-US" sz="2000" dirty="0"/>
              <a:t>/</a:t>
            </a:r>
            <a:r>
              <a:rPr lang="en-US" sz="2000" dirty="0" err="1"/>
              <a:t>asym</a:t>
            </a:r>
            <a:r>
              <a:rPr lang="en-US" sz="2000" dirty="0"/>
              <a:t>) or serially.</a:t>
            </a:r>
          </a:p>
          <a:p>
            <a:pPr lvl="1"/>
            <a:r>
              <a:rPr lang="en-US" sz="1800" dirty="0"/>
              <a:t>Used serially, avoids the need for a separate security connection as in </a:t>
            </a:r>
            <a:r>
              <a:rPr lang="en-US" sz="1800" dirty="0" err="1"/>
              <a:t>IPsec</a:t>
            </a:r>
            <a:r>
              <a:rPr lang="en-US" sz="1800" dirty="0"/>
              <a:t>.</a:t>
            </a:r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1B3EC-74E4-304C-B430-9E19D2E9174E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2362200" y="1806575"/>
            <a:ext cx="441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2727325" y="1447800"/>
            <a:ext cx="3359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Allocate(Dest-Appl-Name, QoS parameters)</a:t>
            </a: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4343400" y="2111375"/>
            <a:ext cx="1295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Flow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Allocator</a:t>
            </a:r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 flipV="1">
            <a:off x="3124200" y="1730375"/>
            <a:ext cx="1295400" cy="8382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26633" name="Group 9"/>
          <p:cNvGrpSpPr>
            <a:grpSpLocks/>
          </p:cNvGrpSpPr>
          <p:nvPr/>
        </p:nvGrpSpPr>
        <p:grpSpPr bwMode="auto">
          <a:xfrm>
            <a:off x="5562600" y="2743200"/>
            <a:ext cx="838200" cy="685800"/>
            <a:chOff x="2352" y="2160"/>
            <a:chExt cx="528" cy="432"/>
          </a:xfrm>
        </p:grpSpPr>
        <p:sp>
          <p:nvSpPr>
            <p:cNvPr id="26634" name="Rectangle 10"/>
            <p:cNvSpPr>
              <a:spLocks noChangeArrowheads="1"/>
            </p:cNvSpPr>
            <p:nvPr/>
          </p:nvSpPr>
          <p:spPr bwMode="auto">
            <a:xfrm>
              <a:off x="2352" y="2160"/>
              <a:ext cx="528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>
              <a:off x="2352" y="216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>
              <a:off x="2352" y="22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2352" y="235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>
              <a:off x="2352" y="24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639" name="Line 15"/>
            <p:cNvSpPr>
              <a:spLocks noChangeShapeType="1"/>
            </p:cNvSpPr>
            <p:nvPr/>
          </p:nvSpPr>
          <p:spPr bwMode="auto">
            <a:xfrm>
              <a:off x="2352" y="254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640" name="Line 16"/>
            <p:cNvSpPr>
              <a:spLocks noChangeShapeType="1"/>
            </p:cNvSpPr>
            <p:nvPr/>
          </p:nvSpPr>
          <p:spPr bwMode="auto">
            <a:xfrm>
              <a:off x="2592" y="21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50" name="Text Box 26"/>
          <p:cNvSpPr txBox="1">
            <a:spLocks noChangeArrowheads="1"/>
          </p:cNvSpPr>
          <p:nvPr/>
        </p:nvSpPr>
        <p:spPr bwMode="auto">
          <a:xfrm>
            <a:off x="5562600" y="2789238"/>
            <a:ext cx="8953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Dir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Forwarding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Table</a:t>
            </a:r>
          </a:p>
        </p:txBody>
      </p:sp>
      <p:grpSp>
        <p:nvGrpSpPr>
          <p:cNvPr id="26651" name="Group 27"/>
          <p:cNvGrpSpPr>
            <a:grpSpLocks/>
          </p:cNvGrpSpPr>
          <p:nvPr/>
        </p:nvGrpSpPr>
        <p:grpSpPr bwMode="auto">
          <a:xfrm>
            <a:off x="2590800" y="2949575"/>
            <a:ext cx="817563" cy="609600"/>
            <a:chOff x="2160" y="1200"/>
            <a:chExt cx="515" cy="384"/>
          </a:xfrm>
        </p:grpSpPr>
        <p:grpSp>
          <p:nvGrpSpPr>
            <p:cNvPr id="26652" name="Group 28"/>
            <p:cNvGrpSpPr>
              <a:grpSpLocks/>
            </p:cNvGrpSpPr>
            <p:nvPr/>
          </p:nvGrpSpPr>
          <p:grpSpPr bwMode="auto">
            <a:xfrm>
              <a:off x="2256" y="1200"/>
              <a:ext cx="419" cy="288"/>
              <a:chOff x="2040" y="1248"/>
              <a:chExt cx="419" cy="288"/>
            </a:xfrm>
          </p:grpSpPr>
          <p:sp>
            <p:nvSpPr>
              <p:cNvPr id="26653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6654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6656" name="Group 32"/>
            <p:cNvGrpSpPr>
              <a:grpSpLocks/>
            </p:cNvGrpSpPr>
            <p:nvPr/>
          </p:nvGrpSpPr>
          <p:grpSpPr bwMode="auto">
            <a:xfrm>
              <a:off x="2208" y="1248"/>
              <a:ext cx="419" cy="288"/>
              <a:chOff x="2040" y="1248"/>
              <a:chExt cx="419" cy="288"/>
            </a:xfrm>
          </p:grpSpPr>
          <p:sp>
            <p:nvSpPr>
              <p:cNvPr id="26657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6658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6660" name="Group 36"/>
            <p:cNvGrpSpPr>
              <a:grpSpLocks/>
            </p:cNvGrpSpPr>
            <p:nvPr/>
          </p:nvGrpSpPr>
          <p:grpSpPr bwMode="auto">
            <a:xfrm>
              <a:off x="2160" y="1296"/>
              <a:ext cx="419" cy="288"/>
              <a:chOff x="2040" y="1248"/>
              <a:chExt cx="419" cy="288"/>
            </a:xfrm>
          </p:grpSpPr>
          <p:sp>
            <p:nvSpPr>
              <p:cNvPr id="26661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6662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40737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52400"/>
            <a:ext cx="7772400" cy="1143000"/>
          </a:xfrm>
        </p:spPr>
        <p:txBody>
          <a:bodyPr/>
          <a:lstStyle/>
          <a:p>
            <a:br>
              <a:rPr lang="en-US" dirty="0"/>
            </a:br>
            <a:r>
              <a:rPr lang="en-US" sz="2000" dirty="0"/>
              <a:t>Picking up the Story</a:t>
            </a:r>
            <a:br>
              <a:rPr lang="en-US" sz="2000" dirty="0"/>
            </a:br>
            <a:r>
              <a:rPr lang="en-US" dirty="0"/>
              <a:t>How Does a Flow Get Allocated?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723900" y="3962400"/>
            <a:ext cx="7696200" cy="1905000"/>
          </a:xfrm>
        </p:spPr>
        <p:txBody>
          <a:bodyPr/>
          <a:lstStyle/>
          <a:p>
            <a:r>
              <a:rPr lang="en-US" sz="1800"/>
              <a:t>An Application issues an Allocate Request to the Flow Allocator.</a:t>
            </a:r>
          </a:p>
          <a:p>
            <a:r>
              <a:rPr lang="en-US" sz="1800"/>
              <a:t>If well-formed, spawns an instance to manage the request and the flow.</a:t>
            </a:r>
          </a:p>
          <a:p>
            <a:r>
              <a:rPr lang="en-US" sz="1800"/>
              <a:t>The Flow-Allocator instance looks up the destination-application-name in its local cache and finds an address to look for the requested application.</a:t>
            </a:r>
          </a:p>
          <a:p>
            <a:r>
              <a:rPr lang="en-US" sz="1800"/>
              <a:t>It then instantiates an EFCP instance (whose id is the CEP-id). </a:t>
            </a:r>
          </a:p>
          <a:p>
            <a:r>
              <a:rPr lang="en-US" sz="1800"/>
              <a:t>Forms a Create flow request and sends it.</a:t>
            </a:r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BC224-C2A6-294E-8A5A-927B711A713F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grpSp>
        <p:nvGrpSpPr>
          <p:cNvPr id="69662" name="Group 30"/>
          <p:cNvGrpSpPr>
            <a:grpSpLocks/>
          </p:cNvGrpSpPr>
          <p:nvPr/>
        </p:nvGrpSpPr>
        <p:grpSpPr bwMode="auto">
          <a:xfrm>
            <a:off x="2362200" y="1447800"/>
            <a:ext cx="4419600" cy="1577975"/>
            <a:chOff x="1488" y="912"/>
            <a:chExt cx="2784" cy="994"/>
          </a:xfrm>
        </p:grpSpPr>
        <p:sp>
          <p:nvSpPr>
            <p:cNvPr id="69636" name="Line 4"/>
            <p:cNvSpPr>
              <a:spLocks noChangeShapeType="1"/>
            </p:cNvSpPr>
            <p:nvPr/>
          </p:nvSpPr>
          <p:spPr bwMode="auto">
            <a:xfrm>
              <a:off x="1488" y="1138"/>
              <a:ext cx="2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9637" name="Text Box 5"/>
            <p:cNvSpPr txBox="1">
              <a:spLocks noChangeArrowheads="1"/>
            </p:cNvSpPr>
            <p:nvPr/>
          </p:nvSpPr>
          <p:spPr bwMode="auto">
            <a:xfrm>
              <a:off x="1718" y="912"/>
              <a:ext cx="2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Allocate(Dest-Appl-Name, QoS parameters)</a:t>
              </a:r>
            </a:p>
          </p:txBody>
        </p:sp>
        <p:sp>
          <p:nvSpPr>
            <p:cNvPr id="69638" name="Oval 6"/>
            <p:cNvSpPr>
              <a:spLocks noChangeArrowheads="1"/>
            </p:cNvSpPr>
            <p:nvPr/>
          </p:nvSpPr>
          <p:spPr bwMode="auto">
            <a:xfrm>
              <a:off x="2736" y="1330"/>
              <a:ext cx="816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Flow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Allocator</a:t>
              </a:r>
            </a:p>
          </p:txBody>
        </p:sp>
        <p:sp>
          <p:nvSpPr>
            <p:cNvPr id="69639" name="AutoShape 7"/>
            <p:cNvSpPr>
              <a:spLocks noChangeArrowheads="1"/>
            </p:cNvSpPr>
            <p:nvPr/>
          </p:nvSpPr>
          <p:spPr bwMode="auto">
            <a:xfrm flipV="1">
              <a:off x="1968" y="1090"/>
              <a:ext cx="816" cy="528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9663" name="Group 31"/>
          <p:cNvGrpSpPr>
            <a:grpSpLocks/>
          </p:cNvGrpSpPr>
          <p:nvPr/>
        </p:nvGrpSpPr>
        <p:grpSpPr bwMode="auto">
          <a:xfrm>
            <a:off x="6019800" y="3276600"/>
            <a:ext cx="963613" cy="685800"/>
            <a:chOff x="3483" y="1728"/>
            <a:chExt cx="607" cy="432"/>
          </a:xfrm>
        </p:grpSpPr>
        <p:grpSp>
          <p:nvGrpSpPr>
            <p:cNvPr id="69640" name="Group 8"/>
            <p:cNvGrpSpPr>
              <a:grpSpLocks/>
            </p:cNvGrpSpPr>
            <p:nvPr/>
          </p:nvGrpSpPr>
          <p:grpSpPr bwMode="auto">
            <a:xfrm>
              <a:off x="3504" y="1728"/>
              <a:ext cx="528" cy="432"/>
              <a:chOff x="2352" y="2160"/>
              <a:chExt cx="528" cy="432"/>
            </a:xfrm>
          </p:grpSpPr>
          <p:sp>
            <p:nvSpPr>
              <p:cNvPr id="69641" name="Rectangle 9"/>
              <p:cNvSpPr>
                <a:spLocks noChangeArrowheads="1"/>
              </p:cNvSpPr>
              <p:nvPr/>
            </p:nvSpPr>
            <p:spPr bwMode="auto">
              <a:xfrm>
                <a:off x="2352" y="2160"/>
                <a:ext cx="528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42" name="Line 10"/>
              <p:cNvSpPr>
                <a:spLocks noChangeShapeType="1"/>
              </p:cNvSpPr>
              <p:nvPr/>
            </p:nvSpPr>
            <p:spPr bwMode="auto">
              <a:xfrm>
                <a:off x="2352" y="216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43" name="Line 11"/>
              <p:cNvSpPr>
                <a:spLocks noChangeShapeType="1"/>
              </p:cNvSpPr>
              <p:nvPr/>
            </p:nvSpPr>
            <p:spPr bwMode="auto">
              <a:xfrm>
                <a:off x="2352" y="22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44" name="Line 12"/>
              <p:cNvSpPr>
                <a:spLocks noChangeShapeType="1"/>
              </p:cNvSpPr>
              <p:nvPr/>
            </p:nvSpPr>
            <p:spPr bwMode="auto">
              <a:xfrm>
                <a:off x="2352" y="235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45" name="Line 13"/>
              <p:cNvSpPr>
                <a:spLocks noChangeShapeType="1"/>
              </p:cNvSpPr>
              <p:nvPr/>
            </p:nvSpPr>
            <p:spPr bwMode="auto">
              <a:xfrm>
                <a:off x="2352" y="244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46" name="Line 14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47" name="Line 15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9648" name="Text Box 16"/>
            <p:cNvSpPr txBox="1">
              <a:spLocks noChangeArrowheads="1"/>
            </p:cNvSpPr>
            <p:nvPr/>
          </p:nvSpPr>
          <p:spPr bwMode="auto">
            <a:xfrm>
              <a:off x="3483" y="1757"/>
              <a:ext cx="607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Dir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Forwarding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Table</a:t>
              </a:r>
            </a:p>
          </p:txBody>
        </p:sp>
      </p:grpSp>
      <p:grpSp>
        <p:nvGrpSpPr>
          <p:cNvPr id="69649" name="Group 17"/>
          <p:cNvGrpSpPr>
            <a:grpSpLocks/>
          </p:cNvGrpSpPr>
          <p:nvPr/>
        </p:nvGrpSpPr>
        <p:grpSpPr bwMode="auto">
          <a:xfrm>
            <a:off x="2590800" y="2949575"/>
            <a:ext cx="817563" cy="609600"/>
            <a:chOff x="2160" y="1200"/>
            <a:chExt cx="515" cy="384"/>
          </a:xfrm>
        </p:grpSpPr>
        <p:grpSp>
          <p:nvGrpSpPr>
            <p:cNvPr id="69650" name="Group 18"/>
            <p:cNvGrpSpPr>
              <a:grpSpLocks/>
            </p:cNvGrpSpPr>
            <p:nvPr/>
          </p:nvGrpSpPr>
          <p:grpSpPr bwMode="auto">
            <a:xfrm>
              <a:off x="2256" y="1200"/>
              <a:ext cx="419" cy="288"/>
              <a:chOff x="2040" y="1248"/>
              <a:chExt cx="419" cy="288"/>
            </a:xfrm>
          </p:grpSpPr>
          <p:sp>
            <p:nvSpPr>
              <p:cNvPr id="69651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52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69654" name="Group 22"/>
            <p:cNvGrpSpPr>
              <a:grpSpLocks/>
            </p:cNvGrpSpPr>
            <p:nvPr/>
          </p:nvGrpSpPr>
          <p:grpSpPr bwMode="auto">
            <a:xfrm>
              <a:off x="2208" y="1248"/>
              <a:ext cx="419" cy="288"/>
              <a:chOff x="2040" y="1248"/>
              <a:chExt cx="419" cy="288"/>
            </a:xfrm>
          </p:grpSpPr>
          <p:sp>
            <p:nvSpPr>
              <p:cNvPr id="69655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56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69658" name="Group 26"/>
            <p:cNvGrpSpPr>
              <a:grpSpLocks/>
            </p:cNvGrpSpPr>
            <p:nvPr/>
          </p:nvGrpSpPr>
          <p:grpSpPr bwMode="auto">
            <a:xfrm>
              <a:off x="2160" y="1296"/>
              <a:ext cx="419" cy="288"/>
              <a:chOff x="2040" y="1248"/>
              <a:chExt cx="419" cy="288"/>
            </a:xfrm>
          </p:grpSpPr>
          <p:sp>
            <p:nvSpPr>
              <p:cNvPr id="69659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9660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40737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69664" name="Oval 32"/>
          <p:cNvSpPr>
            <a:spLocks noChangeArrowheads="1"/>
          </p:cNvSpPr>
          <p:nvPr/>
        </p:nvSpPr>
        <p:spPr bwMode="auto">
          <a:xfrm>
            <a:off x="6019800" y="2743200"/>
            <a:ext cx="838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FA-AEI</a:t>
            </a:r>
          </a:p>
        </p:txBody>
      </p:sp>
      <p:sp>
        <p:nvSpPr>
          <p:cNvPr id="69666" name="Rectangle 34"/>
          <p:cNvSpPr>
            <a:spLocks noChangeArrowheads="1"/>
          </p:cNvSpPr>
          <p:nvPr/>
        </p:nvSpPr>
        <p:spPr bwMode="auto">
          <a:xfrm>
            <a:off x="6858000" y="24384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Create Flow Req</a:t>
            </a:r>
          </a:p>
        </p:txBody>
      </p:sp>
      <p:grpSp>
        <p:nvGrpSpPr>
          <p:cNvPr id="69670" name="Group 38"/>
          <p:cNvGrpSpPr>
            <a:grpSpLocks/>
          </p:cNvGrpSpPr>
          <p:nvPr/>
        </p:nvGrpSpPr>
        <p:grpSpPr bwMode="auto">
          <a:xfrm>
            <a:off x="6324600" y="2133600"/>
            <a:ext cx="2057400" cy="457200"/>
            <a:chOff x="3936" y="1248"/>
            <a:chExt cx="1296" cy="288"/>
          </a:xfrm>
        </p:grpSpPr>
        <p:sp>
          <p:nvSpPr>
            <p:cNvPr id="69668" name="Text Box 36"/>
            <p:cNvSpPr txBox="1">
              <a:spLocks noChangeArrowheads="1"/>
            </p:cNvSpPr>
            <p:nvPr/>
          </p:nvSpPr>
          <p:spPr bwMode="auto">
            <a:xfrm>
              <a:off x="3936" y="124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To Next Place to Look</a:t>
              </a:r>
            </a:p>
          </p:txBody>
        </p:sp>
        <p:sp>
          <p:nvSpPr>
            <p:cNvPr id="69669" name="Line 37"/>
            <p:cNvSpPr>
              <a:spLocks noChangeShapeType="1"/>
            </p:cNvSpPr>
            <p:nvPr/>
          </p:nvSpPr>
          <p:spPr bwMode="auto">
            <a:xfrm>
              <a:off x="4704" y="134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4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from="(ppt_x)" to="(ppt_x+1)" calcmode="lin" valueType="num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5" dur="2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6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.0"/>
                                      </p:to>
                                    </p:se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  <p:bldP spid="69664" grpId="0" animBg="1"/>
      <p:bldP spid="69666" grpId="0" animBg="1"/>
      <p:bldP spid="69666" grpId="1" animBg="1"/>
      <p:bldP spid="69666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Allocation:  Creating an IPC Channel: I</a:t>
            </a:r>
          </a:p>
        </p:txBody>
      </p:sp>
      <p:sp>
        <p:nvSpPr>
          <p:cNvPr id="96258" name="Text Box 3"/>
          <p:cNvSpPr txBox="1">
            <a:spLocks noChangeArrowheads="1"/>
          </p:cNvSpPr>
          <p:nvPr/>
        </p:nvSpPr>
        <p:spPr bwMode="auto">
          <a:xfrm>
            <a:off x="1295400" y="2743200"/>
            <a:ext cx="53721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Application A wants to establish communication with application B, using its supporting DIF.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Do what the Model Says!</a:t>
            </a:r>
          </a:p>
        </p:txBody>
      </p:sp>
      <p:grpSp>
        <p:nvGrpSpPr>
          <p:cNvPr id="96259" name="Group 4"/>
          <p:cNvGrpSpPr>
            <a:grpSpLocks/>
          </p:cNvGrpSpPr>
          <p:nvPr/>
        </p:nvGrpSpPr>
        <p:grpSpPr bwMode="auto">
          <a:xfrm>
            <a:off x="1219200" y="1828800"/>
            <a:ext cx="5734050" cy="935038"/>
            <a:chOff x="1088" y="720"/>
            <a:chExt cx="3611" cy="589"/>
          </a:xfrm>
        </p:grpSpPr>
        <p:grpSp>
          <p:nvGrpSpPr>
            <p:cNvPr id="96437" name="Group 5"/>
            <p:cNvGrpSpPr>
              <a:grpSpLocks/>
            </p:cNvGrpSpPr>
            <p:nvPr/>
          </p:nvGrpSpPr>
          <p:grpSpPr bwMode="auto">
            <a:xfrm>
              <a:off x="1088" y="936"/>
              <a:ext cx="3611" cy="373"/>
              <a:chOff x="576" y="1296"/>
              <a:chExt cx="2708" cy="497"/>
            </a:xfrm>
          </p:grpSpPr>
          <p:grpSp>
            <p:nvGrpSpPr>
              <p:cNvPr id="96445" name="Group 6"/>
              <p:cNvGrpSpPr>
                <a:grpSpLocks/>
              </p:cNvGrpSpPr>
              <p:nvPr/>
            </p:nvGrpSpPr>
            <p:grpSpPr bwMode="auto">
              <a:xfrm>
                <a:off x="576" y="1296"/>
                <a:ext cx="356" cy="497"/>
                <a:chOff x="2368" y="1886"/>
                <a:chExt cx="530" cy="472"/>
              </a:xfrm>
            </p:grpSpPr>
            <p:grpSp>
              <p:nvGrpSpPr>
                <p:cNvPr id="96574" name="Group 7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96577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78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7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80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581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96603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604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96582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83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84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85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86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87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588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96599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600" name="Oval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601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602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</p:grpSp>
              <p:grpSp>
                <p:nvGrpSpPr>
                  <p:cNvPr id="96589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96590" name="Group 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97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98" name="Oval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591" name="Group 3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95" name="Rectangle 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96" name="Oval 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592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93" name="Rectangle 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94" name="Oval 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66276" name="Line 36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66277" name="Line 37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96446" name="Group 38"/>
              <p:cNvGrpSpPr>
                <a:grpSpLocks/>
              </p:cNvGrpSpPr>
              <p:nvPr/>
            </p:nvGrpSpPr>
            <p:grpSpPr bwMode="auto">
              <a:xfrm>
                <a:off x="1200" y="1296"/>
                <a:ext cx="356" cy="497"/>
                <a:chOff x="2368" y="1886"/>
                <a:chExt cx="530" cy="472"/>
              </a:xfrm>
            </p:grpSpPr>
            <p:grpSp>
              <p:nvGrpSpPr>
                <p:cNvPr id="96543" name="Group 39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96546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47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4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4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550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96572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73" name="Text Box 4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96551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52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53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54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55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56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557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96568" name="Oval 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69" name="Oval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70" name="Line 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71" name="Line 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</p:grpSp>
              <p:grpSp>
                <p:nvGrpSpPr>
                  <p:cNvPr id="96558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96559" name="Group 5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66" name="Rectangle 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67" name="Oval 6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560" name="Group 6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64" name="Rectangle 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65" name="Oval 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561" name="Group 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62" name="Rectangle 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63" name="Oval 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66308" name="Line 68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66309" name="Line 69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96447" name="Group 70"/>
              <p:cNvGrpSpPr>
                <a:grpSpLocks/>
              </p:cNvGrpSpPr>
              <p:nvPr/>
            </p:nvGrpSpPr>
            <p:grpSpPr bwMode="auto">
              <a:xfrm>
                <a:off x="1776" y="1296"/>
                <a:ext cx="356" cy="497"/>
                <a:chOff x="2368" y="1886"/>
                <a:chExt cx="530" cy="472"/>
              </a:xfrm>
            </p:grpSpPr>
            <p:grpSp>
              <p:nvGrpSpPr>
                <p:cNvPr id="96512" name="Group 71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96515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16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17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18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519" name="Group 76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96541" name="Rectangle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42" name="Text Box 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96520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21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22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23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24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525" name="Oval 84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526" name="Group 85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96537" name="Oval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38" name="Oval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39" name="Line 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40" name="Line 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</p:grpSp>
              <p:grpSp>
                <p:nvGrpSpPr>
                  <p:cNvPr id="96527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96528" name="Group 9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35" name="Rectangle 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36" name="Oval 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529" name="Group 9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33" name="Rectangle 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34" name="Oval 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530" name="Group 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31" name="Rectangle 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32" name="Oval 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66340" name="Line 100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66341" name="Line 101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96448" name="Group 102"/>
              <p:cNvGrpSpPr>
                <a:grpSpLocks/>
              </p:cNvGrpSpPr>
              <p:nvPr/>
            </p:nvGrpSpPr>
            <p:grpSpPr bwMode="auto">
              <a:xfrm>
                <a:off x="2352" y="1296"/>
                <a:ext cx="356" cy="497"/>
                <a:chOff x="2368" y="1886"/>
                <a:chExt cx="530" cy="472"/>
              </a:xfrm>
            </p:grpSpPr>
            <p:grpSp>
              <p:nvGrpSpPr>
                <p:cNvPr id="96481" name="Group 103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96484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85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86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87" name="Oval 107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488" name="Group 108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96510" name="Rectangle 1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11" name="Text Box 1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96489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90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91" name="Oval 113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92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93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94" name="Oval 116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495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96506" name="Oval 1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07" name="Oval 1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08" name="Line 1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509" name="Line 1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</p:grpSp>
              <p:grpSp>
                <p:nvGrpSpPr>
                  <p:cNvPr id="96496" name="Group 122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96497" name="Group 1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04" name="Rectangle 1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05" name="Oval 1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498" name="Group 12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02" name="Rectangle 1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03" name="Oval 1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499" name="Group 12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500" name="Rectangle 1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501" name="Oval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66372" name="Line 132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66373" name="Line 133"/>
                <p:cNvSpPr>
                  <a:spLocks noChangeShapeType="1"/>
                </p:cNvSpPr>
                <p:nvPr/>
              </p:nvSpPr>
              <p:spPr bwMode="auto">
                <a:xfrm>
                  <a:off x="2893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96449" name="Group 134"/>
              <p:cNvGrpSpPr>
                <a:grpSpLocks/>
              </p:cNvGrpSpPr>
              <p:nvPr/>
            </p:nvGrpSpPr>
            <p:grpSpPr bwMode="auto">
              <a:xfrm>
                <a:off x="2928" y="1296"/>
                <a:ext cx="356" cy="497"/>
                <a:chOff x="2368" y="1886"/>
                <a:chExt cx="530" cy="472"/>
              </a:xfrm>
            </p:grpSpPr>
            <p:grpSp>
              <p:nvGrpSpPr>
                <p:cNvPr id="96450" name="Group 135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96453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54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55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56" name="Oval 139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457" name="Group 140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96479" name="Rectangle 1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480" name="Text Box 14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96458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59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60" name="Oval 145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61" name="Oval 146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62" name="Oval 147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6463" name="Oval 148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96464" name="Group 149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96475" name="Oval 1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476" name="Oval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477" name="Line 1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6478" name="Line 1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</p:grpSp>
              <p:grpSp>
                <p:nvGrpSpPr>
                  <p:cNvPr id="96465" name="Group 154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96466" name="Group 1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473" name="Rectangle 1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74" name="Oval 1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467" name="Group 15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471" name="Rectangle 1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72" name="Oval 1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96468" name="Group 16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96469" name="Rectangle 1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70" name="Oval 1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66404" name="Line 164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66405" name="Line 165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  <p:sp>
          <p:nvSpPr>
            <p:cNvPr id="266406" name="Line 166"/>
            <p:cNvSpPr>
              <a:spLocks noChangeShapeType="1"/>
            </p:cNvSpPr>
            <p:nvPr/>
          </p:nvSpPr>
          <p:spPr bwMode="auto">
            <a:xfrm>
              <a:off x="1408" y="900"/>
              <a:ext cx="0" cy="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6439" name="Group 167"/>
            <p:cNvGrpSpPr>
              <a:grpSpLocks/>
            </p:cNvGrpSpPr>
            <p:nvPr/>
          </p:nvGrpSpPr>
          <p:grpSpPr bwMode="auto">
            <a:xfrm>
              <a:off x="1216" y="720"/>
              <a:ext cx="320" cy="209"/>
              <a:chOff x="912" y="960"/>
              <a:chExt cx="240" cy="278"/>
            </a:xfrm>
          </p:grpSpPr>
          <p:sp>
            <p:nvSpPr>
              <p:cNvPr id="266408" name="Oval 168"/>
              <p:cNvSpPr>
                <a:spLocks noChangeArrowheads="1"/>
              </p:cNvSpPr>
              <p:nvPr/>
            </p:nvSpPr>
            <p:spPr bwMode="auto">
              <a:xfrm>
                <a:off x="912" y="960"/>
                <a:ext cx="240" cy="239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409" name="Text Box 169"/>
              <p:cNvSpPr txBox="1">
                <a:spLocks noChangeArrowheads="1"/>
              </p:cNvSpPr>
              <p:nvPr/>
            </p:nvSpPr>
            <p:spPr bwMode="auto">
              <a:xfrm>
                <a:off x="960" y="1008"/>
                <a:ext cx="17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A</a:t>
                </a:r>
              </a:p>
            </p:txBody>
          </p:sp>
        </p:grpSp>
        <p:grpSp>
          <p:nvGrpSpPr>
            <p:cNvPr id="96440" name="Group 170"/>
            <p:cNvGrpSpPr>
              <a:grpSpLocks/>
            </p:cNvGrpSpPr>
            <p:nvPr/>
          </p:nvGrpSpPr>
          <p:grpSpPr bwMode="auto">
            <a:xfrm>
              <a:off x="4288" y="720"/>
              <a:ext cx="320" cy="294"/>
              <a:chOff x="3216" y="912"/>
              <a:chExt cx="240" cy="392"/>
            </a:xfrm>
          </p:grpSpPr>
          <p:sp>
            <p:nvSpPr>
              <p:cNvPr id="266411" name="Oval 171"/>
              <p:cNvSpPr>
                <a:spLocks noChangeArrowheads="1"/>
              </p:cNvSpPr>
              <p:nvPr/>
            </p:nvSpPr>
            <p:spPr bwMode="auto">
              <a:xfrm>
                <a:off x="3216" y="912"/>
                <a:ext cx="240" cy="24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412" name="Text Box 172"/>
              <p:cNvSpPr txBox="1">
                <a:spLocks noChangeArrowheads="1"/>
              </p:cNvSpPr>
              <p:nvPr/>
            </p:nvSpPr>
            <p:spPr bwMode="auto">
              <a:xfrm>
                <a:off x="3293" y="1073"/>
                <a:ext cx="13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B</a:t>
                </a: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</p:grpSp>
      <p:sp>
        <p:nvSpPr>
          <p:cNvPr id="266413" name="Text Box 173"/>
          <p:cNvSpPr txBox="1">
            <a:spLocks noChangeArrowheads="1"/>
          </p:cNvSpPr>
          <p:nvPr/>
        </p:nvSpPr>
        <p:spPr bwMode="auto">
          <a:xfrm>
            <a:off x="1752600" y="19812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a     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28600" y="3733800"/>
            <a:ext cx="7388225" cy="819293"/>
            <a:chOff x="228600" y="3733800"/>
            <a:chExt cx="7388225" cy="819293"/>
          </a:xfrm>
        </p:grpSpPr>
        <p:grpSp>
          <p:nvGrpSpPr>
            <p:cNvPr id="2" name="Group 1"/>
            <p:cNvGrpSpPr/>
            <p:nvPr/>
          </p:nvGrpSpPr>
          <p:grpSpPr>
            <a:xfrm>
              <a:off x="2087869" y="3733800"/>
              <a:ext cx="507972" cy="323060"/>
              <a:chOff x="2087869" y="3733800"/>
              <a:chExt cx="507972" cy="323060"/>
            </a:xfrm>
          </p:grpSpPr>
          <p:sp>
            <p:nvSpPr>
              <p:cNvPr id="266581" name="Oval 341"/>
              <p:cNvSpPr>
                <a:spLocks noChangeArrowheads="1"/>
              </p:cNvSpPr>
              <p:nvPr/>
            </p:nvSpPr>
            <p:spPr bwMode="auto">
              <a:xfrm>
                <a:off x="2087869" y="3770001"/>
                <a:ext cx="507972" cy="286859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582" name="Text Box 342"/>
              <p:cNvSpPr txBox="1">
                <a:spLocks noChangeArrowheads="1"/>
              </p:cNvSpPr>
              <p:nvPr/>
            </p:nvSpPr>
            <p:spPr bwMode="auto">
              <a:xfrm>
                <a:off x="2157715" y="3733800"/>
                <a:ext cx="368280" cy="3047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A</a:t>
                </a:r>
              </a:p>
            </p:txBody>
          </p:sp>
        </p:grpSp>
        <p:sp>
          <p:nvSpPr>
            <p:cNvPr id="266415" name="Text Box 175"/>
            <p:cNvSpPr txBox="1">
              <a:spLocks noChangeArrowheads="1"/>
            </p:cNvSpPr>
            <p:nvPr/>
          </p:nvSpPr>
          <p:spPr bwMode="auto">
            <a:xfrm>
              <a:off x="228600" y="3810000"/>
              <a:ext cx="20064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port-id = Allocate(B,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params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)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884680" y="3770001"/>
              <a:ext cx="5732145" cy="783092"/>
              <a:chOff x="1884680" y="3770001"/>
              <a:chExt cx="5732145" cy="783092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1884680" y="3770001"/>
                <a:ext cx="5732145" cy="783092"/>
                <a:chOff x="1884680" y="3770001"/>
                <a:chExt cx="5732145" cy="783092"/>
              </a:xfrm>
            </p:grpSpPr>
            <p:grpSp>
              <p:nvGrpSpPr>
                <p:cNvPr id="96269" name="Group 178"/>
                <p:cNvGrpSpPr>
                  <a:grpSpLocks/>
                </p:cNvGrpSpPr>
                <p:nvPr/>
              </p:nvGrpSpPr>
              <p:grpSpPr bwMode="auto">
                <a:xfrm>
                  <a:off x="1884680" y="4113100"/>
                  <a:ext cx="5732145" cy="439993"/>
                  <a:chOff x="576" y="1296"/>
                  <a:chExt cx="2708" cy="369"/>
                </a:xfrm>
              </p:grpSpPr>
              <p:grpSp>
                <p:nvGrpSpPr>
                  <p:cNvPr id="96277" name="Group 179"/>
                  <p:cNvGrpSpPr>
                    <a:grpSpLocks/>
                  </p:cNvGrpSpPr>
                  <p:nvPr/>
                </p:nvGrpSpPr>
                <p:grpSpPr bwMode="auto">
                  <a:xfrm>
                    <a:off x="576" y="1296"/>
                    <a:ext cx="356" cy="369"/>
                    <a:chOff x="2368" y="1886"/>
                    <a:chExt cx="530" cy="350"/>
                  </a:xfrm>
                </p:grpSpPr>
                <p:grpSp>
                  <p:nvGrpSpPr>
                    <p:cNvPr id="96406" name="Group 18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71" y="1886"/>
                      <a:ext cx="527" cy="350"/>
                      <a:chOff x="1536" y="1632"/>
                      <a:chExt cx="528" cy="350"/>
                    </a:xfrm>
                  </p:grpSpPr>
                  <p:sp>
                    <p:nvSpPr>
                      <p:cNvPr id="96409" name="Rectangle 18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632"/>
                        <a:ext cx="89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0" name="Line 18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44" y="1920"/>
                        <a:ext cx="512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1" name="Line 18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632"/>
                        <a:ext cx="528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2" name="Oval 1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7" y="1835"/>
                        <a:ext cx="170" cy="8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413" name="Group 18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40" y="1728"/>
                        <a:ext cx="175" cy="254"/>
                        <a:chOff x="1399" y="288"/>
                        <a:chExt cx="1031" cy="1143"/>
                      </a:xfrm>
                    </p:grpSpPr>
                    <p:sp>
                      <p:nvSpPr>
                        <p:cNvPr id="96435" name="Rectangle 18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88"/>
                          <a:ext cx="288" cy="52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36" name="Text Box 18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9" y="338"/>
                          <a:ext cx="1031" cy="1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  <a:cs typeface="ＭＳ Ｐゴシック" charset="0"/>
                            </a:defRPr>
                          </a:lvl1pPr>
                          <a:lvl2pPr marL="742950" indent="-28575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2pPr>
                          <a:lvl3pPr marL="11430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3pPr>
                          <a:lvl4pPr marL="16002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4pPr>
                          <a:lvl5pPr marL="20574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sp>
                    <p:nvSpPr>
                      <p:cNvPr id="96414" name="Rectangle 1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0" y="1685"/>
                        <a:ext cx="67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5" name="Rectangle 1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6" y="1749"/>
                        <a:ext cx="73" cy="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6" name="Oval 1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8" y="1653"/>
                        <a:ext cx="227" cy="267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7" name="Oval 19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8" y="1835"/>
                        <a:ext cx="155" cy="7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8" name="Oval 1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07" y="1664"/>
                        <a:ext cx="57" cy="7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419" name="Oval 1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25" y="1877"/>
                        <a:ext cx="65" cy="4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420" name="Group 19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68" y="1728"/>
                        <a:ext cx="58" cy="96"/>
                        <a:chOff x="3496" y="2256"/>
                        <a:chExt cx="296" cy="240"/>
                      </a:xfrm>
                    </p:grpSpPr>
                    <p:sp>
                      <p:nvSpPr>
                        <p:cNvPr id="96431" name="Oval 19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32" name="Oval 19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48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33" name="Line 19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4" y="2264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34" name="Line 19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96" y="2272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96421" name="Group 19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3" y="1707"/>
                        <a:ext cx="72" cy="128"/>
                        <a:chOff x="1872" y="1968"/>
                        <a:chExt cx="424" cy="576"/>
                      </a:xfrm>
                    </p:grpSpPr>
                    <p:grpSp>
                      <p:nvGrpSpPr>
                        <p:cNvPr id="96422" name="Group 20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68" y="1968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429" name="Rectangle 20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430" name="Oval 20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423" name="Group 20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0" y="2016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427" name="Rectangle 20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428" name="Oval 20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424" name="Group 20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872" y="2064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425" name="Rectangle 20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426" name="Oval 20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66449" name="Line 2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68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266450" name="Line 2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0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96278" name="Group 211"/>
                  <p:cNvGrpSpPr>
                    <a:grpSpLocks/>
                  </p:cNvGrpSpPr>
                  <p:nvPr/>
                </p:nvGrpSpPr>
                <p:grpSpPr bwMode="auto">
                  <a:xfrm>
                    <a:off x="1200" y="1296"/>
                    <a:ext cx="356" cy="369"/>
                    <a:chOff x="2368" y="1886"/>
                    <a:chExt cx="530" cy="350"/>
                  </a:xfrm>
                </p:grpSpPr>
                <p:grpSp>
                  <p:nvGrpSpPr>
                    <p:cNvPr id="96375" name="Group 2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71" y="1886"/>
                      <a:ext cx="527" cy="350"/>
                      <a:chOff x="1536" y="1632"/>
                      <a:chExt cx="528" cy="350"/>
                    </a:xfrm>
                  </p:grpSpPr>
                  <p:sp>
                    <p:nvSpPr>
                      <p:cNvPr id="96378" name="Rectangle 2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632"/>
                        <a:ext cx="89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79" name="Line 2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44" y="1920"/>
                        <a:ext cx="512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0" name="Line 2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632"/>
                        <a:ext cx="528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1" name="Oval 2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7" y="1835"/>
                        <a:ext cx="170" cy="8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382" name="Group 21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40" y="1728"/>
                        <a:ext cx="175" cy="254"/>
                        <a:chOff x="1399" y="288"/>
                        <a:chExt cx="1031" cy="1143"/>
                      </a:xfrm>
                    </p:grpSpPr>
                    <p:sp>
                      <p:nvSpPr>
                        <p:cNvPr id="96404" name="Rectangl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88"/>
                          <a:ext cx="288" cy="52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05" name="Text Box 21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9" y="338"/>
                          <a:ext cx="1031" cy="1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  <a:cs typeface="ＭＳ Ｐゴシック" charset="0"/>
                            </a:defRPr>
                          </a:lvl1pPr>
                          <a:lvl2pPr marL="742950" indent="-28575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2pPr>
                          <a:lvl3pPr marL="11430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3pPr>
                          <a:lvl4pPr marL="16002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4pPr>
                          <a:lvl5pPr marL="20574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sp>
                    <p:nvSpPr>
                      <p:cNvPr id="96383" name="Rectangle 2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0" y="1685"/>
                        <a:ext cx="67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4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6" y="1749"/>
                        <a:ext cx="73" cy="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5" name="Oval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8" y="1653"/>
                        <a:ext cx="227" cy="267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6" name="Oval 2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8" y="1835"/>
                        <a:ext cx="155" cy="7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7" name="Oval 2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07" y="1664"/>
                        <a:ext cx="57" cy="7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88" name="Oval 2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25" y="1877"/>
                        <a:ext cx="65" cy="4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389" name="Group 22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68" y="1728"/>
                        <a:ext cx="58" cy="96"/>
                        <a:chOff x="3496" y="2256"/>
                        <a:chExt cx="296" cy="240"/>
                      </a:xfrm>
                    </p:grpSpPr>
                    <p:sp>
                      <p:nvSpPr>
                        <p:cNvPr id="96400" name="Oval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01" name="Oval 22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48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02" name="Line 22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4" y="2264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403" name="Line 2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96" y="2272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96390" name="Group 23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3" y="1707"/>
                        <a:ext cx="72" cy="128"/>
                        <a:chOff x="1872" y="1968"/>
                        <a:chExt cx="424" cy="576"/>
                      </a:xfrm>
                    </p:grpSpPr>
                    <p:grpSp>
                      <p:nvGrpSpPr>
                        <p:cNvPr id="96391" name="Group 23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68" y="1968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98" name="Rectangle 23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99" name="Oval 23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92" name="Group 23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0" y="2016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96" name="Rectangle 23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97" name="Oval 23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93" name="Group 23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872" y="2064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94" name="Rectangle 23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95" name="Oval 24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66481" name="Line 2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68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266482" name="Line 2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0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96279" name="Group 243"/>
                  <p:cNvGrpSpPr>
                    <a:grpSpLocks/>
                  </p:cNvGrpSpPr>
                  <p:nvPr/>
                </p:nvGrpSpPr>
                <p:grpSpPr bwMode="auto">
                  <a:xfrm>
                    <a:off x="1776" y="1296"/>
                    <a:ext cx="356" cy="369"/>
                    <a:chOff x="2368" y="1886"/>
                    <a:chExt cx="530" cy="350"/>
                  </a:xfrm>
                </p:grpSpPr>
                <p:grpSp>
                  <p:nvGrpSpPr>
                    <p:cNvPr id="96344" name="Group 24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71" y="1886"/>
                      <a:ext cx="527" cy="350"/>
                      <a:chOff x="1536" y="1632"/>
                      <a:chExt cx="528" cy="350"/>
                    </a:xfrm>
                  </p:grpSpPr>
                  <p:sp>
                    <p:nvSpPr>
                      <p:cNvPr id="96347" name="Rectangle 24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632"/>
                        <a:ext cx="89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48" name="Line 2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44" y="1920"/>
                        <a:ext cx="512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49" name="Line 24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632"/>
                        <a:ext cx="528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50" name="Oval 2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7" y="1835"/>
                        <a:ext cx="170" cy="8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351" name="Group 24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40" y="1728"/>
                        <a:ext cx="175" cy="254"/>
                        <a:chOff x="1399" y="288"/>
                        <a:chExt cx="1031" cy="1143"/>
                      </a:xfrm>
                    </p:grpSpPr>
                    <p:sp>
                      <p:nvSpPr>
                        <p:cNvPr id="96373" name="Rectangle 25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88"/>
                          <a:ext cx="288" cy="52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74" name="Text Box 25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9" y="338"/>
                          <a:ext cx="1031" cy="1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  <a:cs typeface="ＭＳ Ｐゴシック" charset="0"/>
                            </a:defRPr>
                          </a:lvl1pPr>
                          <a:lvl2pPr marL="742950" indent="-28575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2pPr>
                          <a:lvl3pPr marL="11430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3pPr>
                          <a:lvl4pPr marL="16002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4pPr>
                          <a:lvl5pPr marL="20574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sp>
                    <p:nvSpPr>
                      <p:cNvPr id="96352" name="Rectangle 25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0" y="1685"/>
                        <a:ext cx="67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53" name="Rectangle 2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6" y="1749"/>
                        <a:ext cx="73" cy="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54" name="Oval 25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8" y="1653"/>
                        <a:ext cx="227" cy="267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55" name="Oval 2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8" y="1835"/>
                        <a:ext cx="155" cy="7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56" name="Oval 2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07" y="1664"/>
                        <a:ext cx="57" cy="7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57" name="Oval 2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25" y="1877"/>
                        <a:ext cx="65" cy="4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358" name="Group 25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68" y="1728"/>
                        <a:ext cx="58" cy="96"/>
                        <a:chOff x="3496" y="2256"/>
                        <a:chExt cx="296" cy="240"/>
                      </a:xfrm>
                    </p:grpSpPr>
                    <p:sp>
                      <p:nvSpPr>
                        <p:cNvPr id="96369" name="Oval 25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70" name="Oval 26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48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71" name="Line 26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4" y="2264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72" name="Line 26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96" y="2272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96359" name="Group 26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3" y="1707"/>
                        <a:ext cx="72" cy="128"/>
                        <a:chOff x="1872" y="1968"/>
                        <a:chExt cx="424" cy="576"/>
                      </a:xfrm>
                    </p:grpSpPr>
                    <p:grpSp>
                      <p:nvGrpSpPr>
                        <p:cNvPr id="96360" name="Group 26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68" y="1968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67" name="Rectangle 26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68" name="Oval 26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61" name="Group 26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0" y="2016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65" name="Rectangle 26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66" name="Oval 26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62" name="Group 27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872" y="2064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63" name="Rectangle 27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64" name="Oval 27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66513" name="Line 2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68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266514" name="Line 2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0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96280" name="Group 275"/>
                  <p:cNvGrpSpPr>
                    <a:grpSpLocks/>
                  </p:cNvGrpSpPr>
                  <p:nvPr/>
                </p:nvGrpSpPr>
                <p:grpSpPr bwMode="auto">
                  <a:xfrm>
                    <a:off x="2352" y="1296"/>
                    <a:ext cx="356" cy="369"/>
                    <a:chOff x="2368" y="1886"/>
                    <a:chExt cx="530" cy="350"/>
                  </a:xfrm>
                </p:grpSpPr>
                <p:grpSp>
                  <p:nvGrpSpPr>
                    <p:cNvPr id="96313" name="Group 27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71" y="1886"/>
                      <a:ext cx="527" cy="350"/>
                      <a:chOff x="1536" y="1632"/>
                      <a:chExt cx="528" cy="350"/>
                    </a:xfrm>
                  </p:grpSpPr>
                  <p:sp>
                    <p:nvSpPr>
                      <p:cNvPr id="96316" name="Rectangle 27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632"/>
                        <a:ext cx="89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17" name="Line 2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44" y="1920"/>
                        <a:ext cx="512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18" name="Line 27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632"/>
                        <a:ext cx="528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19" name="Oval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7" y="1835"/>
                        <a:ext cx="170" cy="8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320" name="Group 28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40" y="1728"/>
                        <a:ext cx="175" cy="254"/>
                        <a:chOff x="1399" y="288"/>
                        <a:chExt cx="1031" cy="1143"/>
                      </a:xfrm>
                    </p:grpSpPr>
                    <p:sp>
                      <p:nvSpPr>
                        <p:cNvPr id="96342" name="Rectangle 28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88"/>
                          <a:ext cx="288" cy="52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43" name="Text Box 28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9" y="338"/>
                          <a:ext cx="1031" cy="1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  <a:cs typeface="ＭＳ Ｐゴシック" charset="0"/>
                            </a:defRPr>
                          </a:lvl1pPr>
                          <a:lvl2pPr marL="742950" indent="-28575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2pPr>
                          <a:lvl3pPr marL="11430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3pPr>
                          <a:lvl4pPr marL="16002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4pPr>
                          <a:lvl5pPr marL="20574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sp>
                    <p:nvSpPr>
                      <p:cNvPr id="96321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0" y="1685"/>
                        <a:ext cx="67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22" name="Rectangle 2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6" y="1749"/>
                        <a:ext cx="73" cy="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23" name="Oval 28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8" y="1653"/>
                        <a:ext cx="227" cy="267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24" name="Oval 28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8" y="1835"/>
                        <a:ext cx="155" cy="7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25" name="Oval 2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07" y="1664"/>
                        <a:ext cx="57" cy="7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326" name="Oval 2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25" y="1877"/>
                        <a:ext cx="65" cy="4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327" name="Group 29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68" y="1728"/>
                        <a:ext cx="58" cy="96"/>
                        <a:chOff x="3496" y="2256"/>
                        <a:chExt cx="296" cy="240"/>
                      </a:xfrm>
                    </p:grpSpPr>
                    <p:sp>
                      <p:nvSpPr>
                        <p:cNvPr id="96338" name="Oval 29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39" name="Oval 29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48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40" name="Line 29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4" y="2264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41" name="Line 29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96" y="2272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96328" name="Group 29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3" y="1707"/>
                        <a:ext cx="72" cy="128"/>
                        <a:chOff x="1872" y="1968"/>
                        <a:chExt cx="424" cy="576"/>
                      </a:xfrm>
                    </p:grpSpPr>
                    <p:grpSp>
                      <p:nvGrpSpPr>
                        <p:cNvPr id="96329" name="Group 29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68" y="1968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36" name="Rectangle 29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37" name="Oval 29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30" name="Group 29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0" y="2016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34" name="Rectangle 30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35" name="Oval 30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31" name="Group 30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872" y="2064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32" name="Rectangle 30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33" name="Oval 304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66545" name="Line 30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68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266546" name="Line 3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0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96281" name="Group 307"/>
                  <p:cNvGrpSpPr>
                    <a:grpSpLocks/>
                  </p:cNvGrpSpPr>
                  <p:nvPr/>
                </p:nvGrpSpPr>
                <p:grpSpPr bwMode="auto">
                  <a:xfrm>
                    <a:off x="2928" y="1296"/>
                    <a:ext cx="356" cy="369"/>
                    <a:chOff x="2368" y="1886"/>
                    <a:chExt cx="530" cy="350"/>
                  </a:xfrm>
                </p:grpSpPr>
                <p:grpSp>
                  <p:nvGrpSpPr>
                    <p:cNvPr id="96282" name="Group 30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71" y="1886"/>
                      <a:ext cx="527" cy="350"/>
                      <a:chOff x="1536" y="1632"/>
                      <a:chExt cx="528" cy="350"/>
                    </a:xfrm>
                  </p:grpSpPr>
                  <p:sp>
                    <p:nvSpPr>
                      <p:cNvPr id="96285" name="Rectangle 30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6" y="1632"/>
                        <a:ext cx="89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86" name="Line 3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44" y="1920"/>
                        <a:ext cx="512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87" name="Line 3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632"/>
                        <a:ext cx="528" cy="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88" name="Oval 31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77" y="1835"/>
                        <a:ext cx="170" cy="8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289" name="Group 3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40" y="1728"/>
                        <a:ext cx="175" cy="254"/>
                        <a:chOff x="1399" y="288"/>
                        <a:chExt cx="1031" cy="1143"/>
                      </a:xfrm>
                    </p:grpSpPr>
                    <p:sp>
                      <p:nvSpPr>
                        <p:cNvPr id="96311" name="Rectangle 3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88"/>
                          <a:ext cx="288" cy="52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12" name="Text Box 31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99" y="338"/>
                          <a:ext cx="1031" cy="1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BBE0E3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  <a:cs typeface="ＭＳ Ｐゴシック" charset="0"/>
                            </a:defRPr>
                          </a:lvl1pPr>
                          <a:lvl2pPr marL="742950" indent="-28575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2pPr>
                          <a:lvl3pPr marL="11430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3pPr>
                          <a:lvl4pPr marL="16002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4pPr>
                          <a:lvl5pPr marL="2057400" indent="-228600"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1200">
                              <a:solidFill>
                                <a:schemeClr val="tx1"/>
                              </a:solidFill>
                              <a:latin typeface="Times" charset="0"/>
                              <a:ea typeface="ＭＳ Ｐゴシック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sp>
                    <p:nvSpPr>
                      <p:cNvPr id="96290" name="Rectangle 3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30" y="1685"/>
                        <a:ext cx="67" cy="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91" name="Rectangle 3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6" y="1749"/>
                        <a:ext cx="73" cy="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92" name="Oval 3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8" y="1653"/>
                        <a:ext cx="227" cy="267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93" name="Oval 3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8" y="1835"/>
                        <a:ext cx="155" cy="74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94" name="Oval 3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07" y="1664"/>
                        <a:ext cx="57" cy="75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6295" name="Oval 3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25" y="1877"/>
                        <a:ext cx="65" cy="4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96296" name="Group 32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68" y="1728"/>
                        <a:ext cx="58" cy="96"/>
                        <a:chOff x="3496" y="2256"/>
                        <a:chExt cx="296" cy="240"/>
                      </a:xfrm>
                    </p:grpSpPr>
                    <p:sp>
                      <p:nvSpPr>
                        <p:cNvPr id="96307" name="Oval 32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08" name="Oval 3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48"/>
                          <a:ext cx="288" cy="4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09" name="Line 3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4" y="2264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96310" name="Line 3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96" y="2272"/>
                          <a:ext cx="8" cy="208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96297" name="Group 32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3" y="1707"/>
                        <a:ext cx="72" cy="128"/>
                        <a:chOff x="1872" y="1968"/>
                        <a:chExt cx="424" cy="576"/>
                      </a:xfrm>
                    </p:grpSpPr>
                    <p:grpSp>
                      <p:nvGrpSpPr>
                        <p:cNvPr id="96298" name="Group 32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68" y="1968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05" name="Rectangle 32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06" name="Oval 33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299" name="Group 33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0" y="2016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03" name="Rectangle 33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04" name="Oval 33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6300" name="Group 3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872" y="2064"/>
                          <a:ext cx="328" cy="480"/>
                          <a:chOff x="1776" y="2016"/>
                          <a:chExt cx="328" cy="480"/>
                        </a:xfrm>
                      </p:grpSpPr>
                      <p:sp>
                        <p:nvSpPr>
                          <p:cNvPr id="96301" name="Rectangle 33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776" y="2016"/>
                            <a:ext cx="96" cy="48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  <p:sp>
                        <p:nvSpPr>
                          <p:cNvPr id="96302" name="Oval 33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872" y="2016"/>
                            <a:ext cx="232" cy="472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" charset="0"/>
                              <a:ea typeface="ＭＳ Ｐゴシック" charset="0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66577" name="Line 3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68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266578" name="Line 3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0" y="1889"/>
                      <a:ext cx="0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rgbClr val="808080">
                                <a:alpha val="74998"/>
                              </a:srgb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66579" name="Line 339"/>
                <p:cNvSpPr>
                  <a:spLocks noChangeShapeType="1"/>
                </p:cNvSpPr>
                <p:nvPr/>
              </p:nvSpPr>
              <p:spPr bwMode="auto">
                <a:xfrm>
                  <a:off x="2392652" y="4055917"/>
                  <a:ext cx="0" cy="5718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96272" name="Group 343"/>
                <p:cNvGrpSpPr>
                  <a:grpSpLocks/>
                </p:cNvGrpSpPr>
                <p:nvPr/>
              </p:nvGrpSpPr>
              <p:grpSpPr bwMode="auto">
                <a:xfrm>
                  <a:off x="6964399" y="3770001"/>
                  <a:ext cx="507972" cy="473350"/>
                  <a:chOff x="3216" y="912"/>
                  <a:chExt cx="240" cy="398"/>
                </a:xfrm>
              </p:grpSpPr>
              <p:sp>
                <p:nvSpPr>
                  <p:cNvPr id="266584" name="Oval 34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912"/>
                    <a:ext cx="240" cy="2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66585" name="Text Box 3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91" y="1054"/>
                    <a:ext cx="143" cy="25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charset="0"/>
                        <a:ea typeface="ＭＳ Ｐゴシック" charset="0"/>
                      </a:rPr>
                      <a:t>B</a:t>
                    </a:r>
                    <a:endPara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266586" name="Rectangle 346"/>
              <p:cNvSpPr>
                <a:spLocks noChangeArrowheads="1"/>
              </p:cNvSpPr>
              <p:nvPr/>
            </p:nvSpPr>
            <p:spPr bwMode="auto">
              <a:xfrm>
                <a:off x="2799029" y="3998734"/>
                <a:ext cx="304783" cy="762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266587" name="Freeform 347"/>
              <p:cNvSpPr>
                <a:spLocks/>
              </p:cNvSpPr>
              <p:nvPr/>
            </p:nvSpPr>
            <p:spPr bwMode="auto">
              <a:xfrm>
                <a:off x="2646638" y="4074978"/>
                <a:ext cx="533370" cy="228733"/>
              </a:xfrm>
              <a:custGeom>
                <a:avLst/>
                <a:gdLst>
                  <a:gd name="T0" fmla="*/ 0 w 480"/>
                  <a:gd name="T1" fmla="*/ 152 h 152"/>
                  <a:gd name="T2" fmla="*/ 48 w 480"/>
                  <a:gd name="T3" fmla="*/ 104 h 152"/>
                  <a:gd name="T4" fmla="*/ 96 w 480"/>
                  <a:gd name="T5" fmla="*/ 56 h 152"/>
                  <a:gd name="T6" fmla="*/ 192 w 480"/>
                  <a:gd name="T7" fmla="*/ 8 h 152"/>
                  <a:gd name="T8" fmla="*/ 288 w 480"/>
                  <a:gd name="T9" fmla="*/ 8 h 152"/>
                  <a:gd name="T10" fmla="*/ 384 w 480"/>
                  <a:gd name="T11" fmla="*/ 56 h 152"/>
                  <a:gd name="T12" fmla="*/ 480 w 480"/>
                  <a:gd name="T13" fmla="*/ 15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0" h="152">
                    <a:moveTo>
                      <a:pt x="0" y="152"/>
                    </a:moveTo>
                    <a:cubicBezTo>
                      <a:pt x="16" y="136"/>
                      <a:pt x="32" y="120"/>
                      <a:pt x="48" y="104"/>
                    </a:cubicBezTo>
                    <a:cubicBezTo>
                      <a:pt x="64" y="88"/>
                      <a:pt x="72" y="72"/>
                      <a:pt x="96" y="56"/>
                    </a:cubicBezTo>
                    <a:cubicBezTo>
                      <a:pt x="120" y="40"/>
                      <a:pt x="160" y="16"/>
                      <a:pt x="192" y="8"/>
                    </a:cubicBezTo>
                    <a:cubicBezTo>
                      <a:pt x="224" y="0"/>
                      <a:pt x="256" y="0"/>
                      <a:pt x="288" y="8"/>
                    </a:cubicBezTo>
                    <a:cubicBezTo>
                      <a:pt x="320" y="16"/>
                      <a:pt x="352" y="32"/>
                      <a:pt x="384" y="56"/>
                    </a:cubicBezTo>
                    <a:cubicBezTo>
                      <a:pt x="416" y="80"/>
                      <a:pt x="464" y="136"/>
                      <a:pt x="480" y="152"/>
                    </a:cubicBez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6588" name="Text Box 348"/>
            <p:cNvSpPr txBox="1">
              <a:spLocks noChangeArrowheads="1"/>
            </p:cNvSpPr>
            <p:nvPr/>
          </p:nvSpPr>
          <p:spPr bwMode="auto">
            <a:xfrm>
              <a:off x="2743200" y="3733800"/>
              <a:ext cx="1462405" cy="274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Create Flow Request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</p:grpSp>
      <p:sp>
        <p:nvSpPr>
          <p:cNvPr id="266589" name="Text Box 349"/>
          <p:cNvSpPr txBox="1">
            <a:spLocks noChangeArrowheads="1"/>
          </p:cNvSpPr>
          <p:nvPr/>
        </p:nvSpPr>
        <p:spPr bwMode="auto">
          <a:xfrm>
            <a:off x="1579880" y="4608348"/>
            <a:ext cx="57150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An Allocate Request from A for IPC with B generates a CDAP Create Flow request with 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s and 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s names, resource and access control parameters and the local connection-endpoint-id to be assigned 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s connection. The CDAP request is forwarded according to the search rules to find the address of the IPC-Process with access to B, just as it would with IPC in an 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At The Next Place To Look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723900" y="3962400"/>
            <a:ext cx="7696200" cy="1905000"/>
          </a:xfrm>
        </p:spPr>
        <p:txBody>
          <a:bodyPr/>
          <a:lstStyle/>
          <a:p>
            <a:r>
              <a:rPr lang="en-US" sz="1800" dirty="0"/>
              <a:t>Create Flow Request arrives at the next place to look.</a:t>
            </a:r>
          </a:p>
          <a:p>
            <a:r>
              <a:rPr lang="en-US" sz="1800" dirty="0"/>
              <a:t>Flow Allocator looks up the destination application name in its </a:t>
            </a:r>
            <a:r>
              <a:rPr lang="ja-JP" altLang="en-US" sz="1800" dirty="0"/>
              <a:t>“</a:t>
            </a:r>
            <a:r>
              <a:rPr lang="en-US" sz="1800" dirty="0"/>
              <a:t>local cache</a:t>
            </a:r>
            <a:r>
              <a:rPr lang="ja-JP" altLang="en-US" sz="1800" dirty="0"/>
              <a:t>”</a:t>
            </a:r>
            <a:endParaRPr lang="en-US" sz="1800" dirty="0"/>
          </a:p>
          <a:p>
            <a:r>
              <a:rPr lang="en-US" sz="1800" dirty="0"/>
              <a:t>Address returned isn’t ours, so not here. </a:t>
            </a:r>
          </a:p>
          <a:p>
            <a:r>
              <a:rPr lang="en-US" sz="1800" dirty="0"/>
              <a:t>Send it there</a:t>
            </a:r>
          </a:p>
        </p:txBody>
      </p:sp>
      <p:sp>
        <p:nvSpPr>
          <p:cNvPr id="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20CDAD-FDEF-7C4D-9212-EAAF587E37D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grpSp>
        <p:nvGrpSpPr>
          <p:cNvPr id="71722" name="Group 42"/>
          <p:cNvGrpSpPr>
            <a:grpSpLocks/>
          </p:cNvGrpSpPr>
          <p:nvPr/>
        </p:nvGrpSpPr>
        <p:grpSpPr bwMode="auto">
          <a:xfrm>
            <a:off x="2362200" y="1447800"/>
            <a:ext cx="4419600" cy="1577975"/>
            <a:chOff x="1488" y="912"/>
            <a:chExt cx="2784" cy="994"/>
          </a:xfrm>
        </p:grpSpPr>
        <p:sp>
          <p:nvSpPr>
            <p:cNvPr id="71685" name="Line 5"/>
            <p:cNvSpPr>
              <a:spLocks noChangeShapeType="1"/>
            </p:cNvSpPr>
            <p:nvPr/>
          </p:nvSpPr>
          <p:spPr bwMode="auto">
            <a:xfrm>
              <a:off x="1488" y="1138"/>
              <a:ext cx="2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1686" name="Text Box 6"/>
            <p:cNvSpPr txBox="1">
              <a:spLocks noChangeArrowheads="1"/>
            </p:cNvSpPr>
            <p:nvPr/>
          </p:nvSpPr>
          <p:spPr bwMode="auto">
            <a:xfrm>
              <a:off x="1718" y="912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1687" name="Oval 7"/>
            <p:cNvSpPr>
              <a:spLocks noChangeArrowheads="1"/>
            </p:cNvSpPr>
            <p:nvPr/>
          </p:nvSpPr>
          <p:spPr bwMode="auto">
            <a:xfrm>
              <a:off x="2736" y="1330"/>
              <a:ext cx="816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Flow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Allocator</a:t>
              </a:r>
            </a:p>
          </p:txBody>
        </p:sp>
      </p:grpSp>
      <p:grpSp>
        <p:nvGrpSpPr>
          <p:cNvPr id="71689" name="Group 9"/>
          <p:cNvGrpSpPr>
            <a:grpSpLocks/>
          </p:cNvGrpSpPr>
          <p:nvPr/>
        </p:nvGrpSpPr>
        <p:grpSpPr bwMode="auto">
          <a:xfrm>
            <a:off x="6019800" y="3276600"/>
            <a:ext cx="963613" cy="685800"/>
            <a:chOff x="3483" y="1728"/>
            <a:chExt cx="607" cy="432"/>
          </a:xfrm>
        </p:grpSpPr>
        <p:grpSp>
          <p:nvGrpSpPr>
            <p:cNvPr id="71690" name="Group 10"/>
            <p:cNvGrpSpPr>
              <a:grpSpLocks/>
            </p:cNvGrpSpPr>
            <p:nvPr/>
          </p:nvGrpSpPr>
          <p:grpSpPr bwMode="auto">
            <a:xfrm>
              <a:off x="3504" y="1728"/>
              <a:ext cx="528" cy="432"/>
              <a:chOff x="2352" y="2160"/>
              <a:chExt cx="528" cy="432"/>
            </a:xfrm>
          </p:grpSpPr>
          <p:sp>
            <p:nvSpPr>
              <p:cNvPr id="71691" name="Rectangle 11"/>
              <p:cNvSpPr>
                <a:spLocks noChangeArrowheads="1"/>
              </p:cNvSpPr>
              <p:nvPr/>
            </p:nvSpPr>
            <p:spPr bwMode="auto">
              <a:xfrm>
                <a:off x="2352" y="2160"/>
                <a:ext cx="528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1692" name="Line 12"/>
              <p:cNvSpPr>
                <a:spLocks noChangeShapeType="1"/>
              </p:cNvSpPr>
              <p:nvPr/>
            </p:nvSpPr>
            <p:spPr bwMode="auto">
              <a:xfrm>
                <a:off x="2352" y="216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1693" name="Line 13"/>
              <p:cNvSpPr>
                <a:spLocks noChangeShapeType="1"/>
              </p:cNvSpPr>
              <p:nvPr/>
            </p:nvSpPr>
            <p:spPr bwMode="auto">
              <a:xfrm>
                <a:off x="2352" y="22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1694" name="Line 14"/>
              <p:cNvSpPr>
                <a:spLocks noChangeShapeType="1"/>
              </p:cNvSpPr>
              <p:nvPr/>
            </p:nvSpPr>
            <p:spPr bwMode="auto">
              <a:xfrm>
                <a:off x="2352" y="235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1695" name="Line 15"/>
              <p:cNvSpPr>
                <a:spLocks noChangeShapeType="1"/>
              </p:cNvSpPr>
              <p:nvPr/>
            </p:nvSpPr>
            <p:spPr bwMode="auto">
              <a:xfrm>
                <a:off x="2352" y="244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1696" name="Line 16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1697" name="Line 17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1698" name="Text Box 18"/>
            <p:cNvSpPr txBox="1">
              <a:spLocks noChangeArrowheads="1"/>
            </p:cNvSpPr>
            <p:nvPr/>
          </p:nvSpPr>
          <p:spPr bwMode="auto">
            <a:xfrm>
              <a:off x="3483" y="1757"/>
              <a:ext cx="607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Dir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Forwarding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Table</a:t>
              </a:r>
            </a:p>
          </p:txBody>
        </p:sp>
      </p:grpSp>
      <p:sp>
        <p:nvSpPr>
          <p:cNvPr id="71713" name="Rectangle 33"/>
          <p:cNvSpPr>
            <a:spLocks noChangeArrowheads="1"/>
          </p:cNvSpPr>
          <p:nvPr/>
        </p:nvSpPr>
        <p:spPr bwMode="auto">
          <a:xfrm>
            <a:off x="6858000" y="24384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Create Flow Req</a:t>
            </a:r>
          </a:p>
        </p:txBody>
      </p:sp>
      <p:grpSp>
        <p:nvGrpSpPr>
          <p:cNvPr id="71714" name="Group 34"/>
          <p:cNvGrpSpPr>
            <a:grpSpLocks/>
          </p:cNvGrpSpPr>
          <p:nvPr/>
        </p:nvGrpSpPr>
        <p:grpSpPr bwMode="auto">
          <a:xfrm>
            <a:off x="6324600" y="2133600"/>
            <a:ext cx="2057400" cy="457200"/>
            <a:chOff x="3936" y="1248"/>
            <a:chExt cx="1296" cy="288"/>
          </a:xfrm>
        </p:grpSpPr>
        <p:sp>
          <p:nvSpPr>
            <p:cNvPr id="71715" name="Text Box 35"/>
            <p:cNvSpPr txBox="1">
              <a:spLocks noChangeArrowheads="1"/>
            </p:cNvSpPr>
            <p:nvPr/>
          </p:nvSpPr>
          <p:spPr bwMode="auto">
            <a:xfrm>
              <a:off x="3936" y="124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To Next Place to Look</a:t>
              </a:r>
            </a:p>
          </p:txBody>
        </p:sp>
        <p:sp>
          <p:nvSpPr>
            <p:cNvPr id="71716" name="Line 36"/>
            <p:cNvSpPr>
              <a:spLocks noChangeShapeType="1"/>
            </p:cNvSpPr>
            <p:nvPr/>
          </p:nvSpPr>
          <p:spPr bwMode="auto">
            <a:xfrm>
              <a:off x="4704" y="1344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1721" name="Group 41"/>
          <p:cNvGrpSpPr>
            <a:grpSpLocks/>
          </p:cNvGrpSpPr>
          <p:nvPr/>
        </p:nvGrpSpPr>
        <p:grpSpPr bwMode="auto">
          <a:xfrm>
            <a:off x="762000" y="2209800"/>
            <a:ext cx="2057400" cy="609600"/>
            <a:chOff x="480" y="1392"/>
            <a:chExt cx="1296" cy="384"/>
          </a:xfrm>
        </p:grpSpPr>
        <p:sp>
          <p:nvSpPr>
            <p:cNvPr id="71717" name="Rectangle 37"/>
            <p:cNvSpPr>
              <a:spLocks noChangeArrowheads="1"/>
            </p:cNvSpPr>
            <p:nvPr/>
          </p:nvSpPr>
          <p:spPr bwMode="auto">
            <a:xfrm>
              <a:off x="912" y="1632"/>
              <a:ext cx="81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Create Flow Req</a:t>
              </a:r>
            </a:p>
          </p:txBody>
        </p:sp>
        <p:grpSp>
          <p:nvGrpSpPr>
            <p:cNvPr id="71718" name="Group 38"/>
            <p:cNvGrpSpPr>
              <a:grpSpLocks/>
            </p:cNvGrpSpPr>
            <p:nvPr/>
          </p:nvGrpSpPr>
          <p:grpSpPr bwMode="auto">
            <a:xfrm>
              <a:off x="480" y="1392"/>
              <a:ext cx="1296" cy="173"/>
              <a:chOff x="3936" y="1248"/>
              <a:chExt cx="1296" cy="173"/>
            </a:xfrm>
          </p:grpSpPr>
          <p:sp>
            <p:nvSpPr>
              <p:cNvPr id="71719" name="Text Box 39"/>
              <p:cNvSpPr txBox="1">
                <a:spLocks noChangeArrowheads="1"/>
              </p:cNvSpPr>
              <p:nvPr/>
            </p:nvSpPr>
            <p:spPr bwMode="auto">
              <a:xfrm>
                <a:off x="3936" y="1248"/>
                <a:ext cx="96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Is this the place?</a:t>
                </a:r>
              </a:p>
            </p:txBody>
          </p:sp>
          <p:sp>
            <p:nvSpPr>
              <p:cNvPr id="71720" name="Line 40"/>
              <p:cNvSpPr>
                <a:spLocks noChangeShapeType="1"/>
              </p:cNvSpPr>
              <p:nvPr/>
            </p:nvSpPr>
            <p:spPr bwMode="auto">
              <a:xfrm>
                <a:off x="4704" y="134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4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from="(ppt_x)" to="(ppt_x+1)" calcmode="lin" valueType="num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3" dur="2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.0"/>
                                      </p:to>
                                    </p:se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  <p:bldP spid="71713" grpId="0" animBg="1"/>
      <p:bldP spid="71713" grpId="1" animBg="1"/>
      <p:bldP spid="71713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1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A6B8CC-4AFF-A441-8321-04E3F06A12DC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r>
              <a:rPr lang="en-US"/>
              <a:t>Stepping Back</a:t>
            </a:r>
            <a:br>
              <a:rPr lang="en-US"/>
            </a:br>
            <a:r>
              <a:rPr lang="en-US" sz="2000"/>
              <a:t>Establishing Communication</a:t>
            </a: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3124200"/>
            <a:ext cx="78486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We go along looking for places to look for the requested application.</a:t>
            </a: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4937125" y="1724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6629400" y="2438400"/>
            <a:ext cx="381000" cy="228600"/>
            <a:chOff x="576" y="1680"/>
            <a:chExt cx="1248" cy="720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576" y="1680"/>
              <a:ext cx="124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31" name="Oval 7"/>
            <p:cNvSpPr>
              <a:spLocks noChangeArrowheads="1"/>
            </p:cNvSpPr>
            <p:nvPr/>
          </p:nvSpPr>
          <p:spPr bwMode="auto">
            <a:xfrm>
              <a:off x="1392" y="182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32" name="Oval 8"/>
            <p:cNvSpPr>
              <a:spLocks noChangeArrowheads="1"/>
            </p:cNvSpPr>
            <p:nvPr/>
          </p:nvSpPr>
          <p:spPr bwMode="auto">
            <a:xfrm>
              <a:off x="624" y="1728"/>
              <a:ext cx="96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33" name="Oval 9"/>
            <p:cNvSpPr>
              <a:spLocks noChangeArrowheads="1"/>
            </p:cNvSpPr>
            <p:nvPr/>
          </p:nvSpPr>
          <p:spPr bwMode="auto">
            <a:xfrm>
              <a:off x="864" y="177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77834" name="Group 10"/>
            <p:cNvGrpSpPr>
              <a:grpSpLocks/>
            </p:cNvGrpSpPr>
            <p:nvPr/>
          </p:nvGrpSpPr>
          <p:grpSpPr bwMode="auto">
            <a:xfrm>
              <a:off x="1152" y="1962"/>
              <a:ext cx="176" cy="198"/>
              <a:chOff x="2587" y="1344"/>
              <a:chExt cx="293" cy="288"/>
            </a:xfrm>
          </p:grpSpPr>
          <p:sp>
            <p:nvSpPr>
              <p:cNvPr id="77835" name="Oval 11"/>
              <p:cNvSpPr>
                <a:spLocks noChangeArrowheads="1"/>
              </p:cNvSpPr>
              <p:nvPr/>
            </p:nvSpPr>
            <p:spPr bwMode="auto">
              <a:xfrm>
                <a:off x="2592" y="1344"/>
                <a:ext cx="288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36" name="Oval 12"/>
              <p:cNvSpPr>
                <a:spLocks noChangeArrowheads="1"/>
              </p:cNvSpPr>
              <p:nvPr/>
            </p:nvSpPr>
            <p:spPr bwMode="auto">
              <a:xfrm>
                <a:off x="2592" y="1536"/>
                <a:ext cx="288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37" name="Line 13"/>
              <p:cNvSpPr>
                <a:spLocks noChangeShapeType="1"/>
              </p:cNvSpPr>
              <p:nvPr/>
            </p:nvSpPr>
            <p:spPr bwMode="auto">
              <a:xfrm>
                <a:off x="2587" y="1387"/>
                <a:ext cx="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38" name="Line 14"/>
              <p:cNvSpPr>
                <a:spLocks noChangeShapeType="1"/>
              </p:cNvSpPr>
              <p:nvPr/>
            </p:nvSpPr>
            <p:spPr bwMode="auto">
              <a:xfrm>
                <a:off x="2880" y="1392"/>
                <a:ext cx="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7839" name="Rectangle 15"/>
            <p:cNvSpPr>
              <a:spLocks noChangeArrowheads="1"/>
            </p:cNvSpPr>
            <p:nvPr/>
          </p:nvSpPr>
          <p:spPr bwMode="auto">
            <a:xfrm>
              <a:off x="768" y="1776"/>
              <a:ext cx="4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40" name="Oval 16"/>
            <p:cNvSpPr>
              <a:spLocks noChangeArrowheads="1"/>
            </p:cNvSpPr>
            <p:nvPr/>
          </p:nvSpPr>
          <p:spPr bwMode="auto">
            <a:xfrm>
              <a:off x="624" y="2160"/>
              <a:ext cx="336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841" name="Oval 17"/>
            <p:cNvSpPr>
              <a:spLocks noChangeArrowheads="1"/>
            </p:cNvSpPr>
            <p:nvPr/>
          </p:nvSpPr>
          <p:spPr bwMode="auto">
            <a:xfrm>
              <a:off x="1392" y="2160"/>
              <a:ext cx="336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7842" name="Group 18"/>
          <p:cNvGrpSpPr>
            <a:grpSpLocks/>
          </p:cNvGrpSpPr>
          <p:nvPr/>
        </p:nvGrpSpPr>
        <p:grpSpPr bwMode="auto">
          <a:xfrm>
            <a:off x="1066800" y="1981200"/>
            <a:ext cx="6094413" cy="685800"/>
            <a:chOff x="672" y="1248"/>
            <a:chExt cx="3839" cy="432"/>
          </a:xfrm>
        </p:grpSpPr>
        <p:grpSp>
          <p:nvGrpSpPr>
            <p:cNvPr id="77843" name="Group 19"/>
            <p:cNvGrpSpPr>
              <a:grpSpLocks/>
            </p:cNvGrpSpPr>
            <p:nvPr/>
          </p:nvGrpSpPr>
          <p:grpSpPr bwMode="auto">
            <a:xfrm>
              <a:off x="816" y="1536"/>
              <a:ext cx="240" cy="144"/>
              <a:chOff x="576" y="1680"/>
              <a:chExt cx="1248" cy="720"/>
            </a:xfrm>
          </p:grpSpPr>
          <p:sp>
            <p:nvSpPr>
              <p:cNvPr id="77844" name="Rectangle 20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45" name="Oval 21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46" name="Oval 22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47" name="Oval 23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848" name="Group 24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849" name="Oval 25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50" name="Oval 26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51" name="Line 27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52" name="Line 28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853" name="Rectangle 29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54" name="Oval 30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55" name="Oval 31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7856" name="Group 32"/>
            <p:cNvGrpSpPr>
              <a:grpSpLocks/>
            </p:cNvGrpSpPr>
            <p:nvPr/>
          </p:nvGrpSpPr>
          <p:grpSpPr bwMode="auto">
            <a:xfrm>
              <a:off x="1296" y="1536"/>
              <a:ext cx="240" cy="144"/>
              <a:chOff x="576" y="1680"/>
              <a:chExt cx="1248" cy="720"/>
            </a:xfrm>
          </p:grpSpPr>
          <p:sp>
            <p:nvSpPr>
              <p:cNvPr id="77857" name="Rectangle 33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58" name="Oval 34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59" name="Oval 35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60" name="Oval 36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861" name="Group 37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862" name="Oval 38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63" name="Oval 39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64" name="Line 40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65" name="Line 41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866" name="Rectangle 42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67" name="Oval 43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68" name="Oval 44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7869" name="Group 45"/>
            <p:cNvGrpSpPr>
              <a:grpSpLocks/>
            </p:cNvGrpSpPr>
            <p:nvPr/>
          </p:nvGrpSpPr>
          <p:grpSpPr bwMode="auto">
            <a:xfrm>
              <a:off x="1776" y="1536"/>
              <a:ext cx="240" cy="144"/>
              <a:chOff x="576" y="1680"/>
              <a:chExt cx="1248" cy="720"/>
            </a:xfrm>
          </p:grpSpPr>
          <p:sp>
            <p:nvSpPr>
              <p:cNvPr id="77870" name="Rectangle 46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71" name="Oval 47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72" name="Oval 48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73" name="Oval 49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874" name="Group 50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875" name="Oval 51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76" name="Oval 52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77" name="Line 53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78" name="Line 54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879" name="Rectangle 55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80" name="Oval 56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81" name="Oval 57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7882" name="Group 58"/>
            <p:cNvGrpSpPr>
              <a:grpSpLocks/>
            </p:cNvGrpSpPr>
            <p:nvPr/>
          </p:nvGrpSpPr>
          <p:grpSpPr bwMode="auto">
            <a:xfrm>
              <a:off x="2256" y="1536"/>
              <a:ext cx="240" cy="144"/>
              <a:chOff x="576" y="1680"/>
              <a:chExt cx="1248" cy="720"/>
            </a:xfrm>
          </p:grpSpPr>
          <p:sp>
            <p:nvSpPr>
              <p:cNvPr id="77883" name="Rectangle 59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84" name="Oval 60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85" name="Oval 61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86" name="Oval 62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887" name="Group 63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888" name="Oval 64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89" name="Oval 65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90" name="Line 66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891" name="Line 67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892" name="Rectangle 68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93" name="Oval 69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94" name="Oval 70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7895" name="Group 71"/>
            <p:cNvGrpSpPr>
              <a:grpSpLocks/>
            </p:cNvGrpSpPr>
            <p:nvPr/>
          </p:nvGrpSpPr>
          <p:grpSpPr bwMode="auto">
            <a:xfrm>
              <a:off x="2736" y="1536"/>
              <a:ext cx="240" cy="144"/>
              <a:chOff x="576" y="1680"/>
              <a:chExt cx="1248" cy="720"/>
            </a:xfrm>
          </p:grpSpPr>
          <p:sp>
            <p:nvSpPr>
              <p:cNvPr id="77896" name="Rectangle 72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97" name="Oval 73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98" name="Oval 74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899" name="Oval 75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900" name="Group 76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901" name="Oval 77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02" name="Oval 78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03" name="Line 79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04" name="Line 80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905" name="Rectangle 81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06" name="Oval 82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07" name="Oval 83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7908" name="Group 84"/>
            <p:cNvGrpSpPr>
              <a:grpSpLocks/>
            </p:cNvGrpSpPr>
            <p:nvPr/>
          </p:nvGrpSpPr>
          <p:grpSpPr bwMode="auto">
            <a:xfrm>
              <a:off x="3216" y="1536"/>
              <a:ext cx="240" cy="144"/>
              <a:chOff x="576" y="1680"/>
              <a:chExt cx="1248" cy="720"/>
            </a:xfrm>
          </p:grpSpPr>
          <p:sp>
            <p:nvSpPr>
              <p:cNvPr id="77909" name="Rectangle 85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10" name="Oval 86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11" name="Oval 87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12" name="Oval 88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913" name="Group 89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914" name="Oval 90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15" name="Oval 91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16" name="Line 92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17" name="Line 93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918" name="Rectangle 94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19" name="Oval 95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20" name="Oval 96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7921" name="Group 97"/>
            <p:cNvGrpSpPr>
              <a:grpSpLocks/>
            </p:cNvGrpSpPr>
            <p:nvPr/>
          </p:nvGrpSpPr>
          <p:grpSpPr bwMode="auto">
            <a:xfrm>
              <a:off x="3696" y="1536"/>
              <a:ext cx="240" cy="144"/>
              <a:chOff x="576" y="1680"/>
              <a:chExt cx="1248" cy="720"/>
            </a:xfrm>
          </p:grpSpPr>
          <p:sp>
            <p:nvSpPr>
              <p:cNvPr id="77922" name="Rectangle 98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23" name="Oval 99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24" name="Oval 100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25" name="Oval 101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7926" name="Group 102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7927" name="Oval 103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28" name="Oval 104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29" name="Line 105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7930" name="Line 106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7931" name="Rectangle 107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32" name="Oval 108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933" name="Oval 109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7934" name="Oval 110"/>
            <p:cNvSpPr>
              <a:spLocks noChangeArrowheads="1"/>
            </p:cNvSpPr>
            <p:nvPr/>
          </p:nvSpPr>
          <p:spPr bwMode="auto">
            <a:xfrm>
              <a:off x="864" y="134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935" name="Line 111"/>
            <p:cNvSpPr>
              <a:spLocks noChangeShapeType="1"/>
            </p:cNvSpPr>
            <p:nvPr/>
          </p:nvSpPr>
          <p:spPr bwMode="auto">
            <a:xfrm>
              <a:off x="912" y="148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936" name="Oval 112"/>
            <p:cNvSpPr>
              <a:spLocks noChangeArrowheads="1"/>
            </p:cNvSpPr>
            <p:nvPr/>
          </p:nvSpPr>
          <p:spPr bwMode="auto">
            <a:xfrm>
              <a:off x="4224" y="134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937" name="Line 113"/>
            <p:cNvSpPr>
              <a:spLocks noChangeShapeType="1"/>
            </p:cNvSpPr>
            <p:nvPr/>
          </p:nvSpPr>
          <p:spPr bwMode="auto">
            <a:xfrm flipH="1">
              <a:off x="4224" y="148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938" name="Text Box 114"/>
            <p:cNvSpPr txBox="1">
              <a:spLocks noChangeArrowheads="1"/>
            </p:cNvSpPr>
            <p:nvPr/>
          </p:nvSpPr>
          <p:spPr bwMode="auto">
            <a:xfrm>
              <a:off x="672" y="1248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77939" name="Text Box 115"/>
            <p:cNvSpPr txBox="1">
              <a:spLocks noChangeArrowheads="1"/>
            </p:cNvSpPr>
            <p:nvPr/>
          </p:nvSpPr>
          <p:spPr bwMode="auto">
            <a:xfrm>
              <a:off x="4320" y="1248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B</a:t>
              </a:r>
            </a:p>
          </p:txBody>
        </p:sp>
      </p:grpSp>
      <p:cxnSp>
        <p:nvCxnSpPr>
          <p:cNvPr id="35956" name="AutoShape 116"/>
          <p:cNvCxnSpPr>
            <a:cxnSpLocks noChangeShapeType="1"/>
            <a:stCxn id="77845" idx="7"/>
            <a:endCxn id="77859" idx="1"/>
          </p:cNvCxnSpPr>
          <p:nvPr/>
        </p:nvCxnSpPr>
        <p:spPr bwMode="auto">
          <a:xfrm rot="-5400000">
            <a:off x="1841500" y="2265363"/>
            <a:ext cx="25400" cy="444500"/>
          </a:xfrm>
          <a:prstGeom prst="curvedConnector3">
            <a:avLst>
              <a:gd name="adj1" fmla="val 10812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5957" name="AutoShape 117"/>
          <p:cNvCxnSpPr>
            <a:cxnSpLocks noChangeShapeType="1"/>
          </p:cNvCxnSpPr>
          <p:nvPr/>
        </p:nvCxnSpPr>
        <p:spPr bwMode="auto">
          <a:xfrm rot="-5400000">
            <a:off x="2647950" y="2228850"/>
            <a:ext cx="25400" cy="444500"/>
          </a:xfrm>
          <a:prstGeom prst="curvedConnector3">
            <a:avLst>
              <a:gd name="adj1" fmla="val 10812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77942" name="Line 118"/>
          <p:cNvSpPr>
            <a:spLocks noChangeShapeType="1"/>
          </p:cNvSpPr>
          <p:nvPr/>
        </p:nvSpPr>
        <p:spPr bwMode="auto">
          <a:xfrm>
            <a:off x="1600200" y="25146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5959" name="AutoShape 119"/>
          <p:cNvCxnSpPr>
            <a:cxnSpLocks noChangeShapeType="1"/>
          </p:cNvCxnSpPr>
          <p:nvPr/>
        </p:nvCxnSpPr>
        <p:spPr bwMode="auto">
          <a:xfrm rot="-5400000">
            <a:off x="3409950" y="2228850"/>
            <a:ext cx="25400" cy="444500"/>
          </a:xfrm>
          <a:prstGeom prst="curvedConnector3">
            <a:avLst>
              <a:gd name="adj1" fmla="val 10812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5960" name="AutoShape 120"/>
          <p:cNvCxnSpPr>
            <a:cxnSpLocks noChangeShapeType="1"/>
          </p:cNvCxnSpPr>
          <p:nvPr/>
        </p:nvCxnSpPr>
        <p:spPr bwMode="auto">
          <a:xfrm rot="-5400000">
            <a:off x="5281613" y="1042987"/>
            <a:ext cx="19050" cy="2809875"/>
          </a:xfrm>
          <a:prstGeom prst="curvedConnector3">
            <a:avLst>
              <a:gd name="adj1" fmla="val 136666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962" name="Text Box 122"/>
          <p:cNvSpPr txBox="1">
            <a:spLocks noChangeArrowheads="1"/>
          </p:cNvSpPr>
          <p:nvPr/>
        </p:nvSpPr>
        <p:spPr bwMode="auto">
          <a:xfrm>
            <a:off x="3200400" y="1905000"/>
            <a:ext cx="1330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Ahh, a big leap!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96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Yet Another Place to Look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4011385"/>
            <a:ext cx="7968343" cy="1877786"/>
          </a:xfrm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Flow Request arrives at yet another place to look.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Allocator looks up the destination application name in its </a:t>
            </a:r>
            <a:r>
              <a:rPr lang="ja-JP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cache</a:t>
            </a:r>
            <a:r>
              <a:rPr lang="ja-JP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returned is ours. Its here!  Check requestors credentials, if okay.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Allocate indication to the destination application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accepts or rejects, if accepts sends a Create Flow Response and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Instantiates an EFCP-instance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connection is created , synchronization established when data is transferred.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D55C5-EC8A-5A49-8554-1B210CB26C5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grpSp>
        <p:nvGrpSpPr>
          <p:cNvPr id="75780" name="Group 4"/>
          <p:cNvGrpSpPr>
            <a:grpSpLocks/>
          </p:cNvGrpSpPr>
          <p:nvPr/>
        </p:nvGrpSpPr>
        <p:grpSpPr bwMode="auto">
          <a:xfrm>
            <a:off x="2362200" y="1676400"/>
            <a:ext cx="4419600" cy="1577975"/>
            <a:chOff x="1488" y="912"/>
            <a:chExt cx="2784" cy="994"/>
          </a:xfrm>
        </p:grpSpPr>
        <p:sp>
          <p:nvSpPr>
            <p:cNvPr id="75781" name="Line 5"/>
            <p:cNvSpPr>
              <a:spLocks noChangeShapeType="1"/>
            </p:cNvSpPr>
            <p:nvPr/>
          </p:nvSpPr>
          <p:spPr bwMode="auto">
            <a:xfrm>
              <a:off x="1488" y="1138"/>
              <a:ext cx="2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5782" name="Text Box 6"/>
            <p:cNvSpPr txBox="1">
              <a:spLocks noChangeArrowheads="1"/>
            </p:cNvSpPr>
            <p:nvPr/>
          </p:nvSpPr>
          <p:spPr bwMode="auto">
            <a:xfrm>
              <a:off x="1718" y="912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5783" name="Oval 7"/>
            <p:cNvSpPr>
              <a:spLocks noChangeArrowheads="1"/>
            </p:cNvSpPr>
            <p:nvPr/>
          </p:nvSpPr>
          <p:spPr bwMode="auto">
            <a:xfrm>
              <a:off x="2736" y="1330"/>
              <a:ext cx="816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Flow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Allocator</a:t>
              </a:r>
            </a:p>
          </p:txBody>
        </p:sp>
      </p:grpSp>
      <p:grpSp>
        <p:nvGrpSpPr>
          <p:cNvPr id="75784" name="Group 8"/>
          <p:cNvGrpSpPr>
            <a:grpSpLocks/>
          </p:cNvGrpSpPr>
          <p:nvPr/>
        </p:nvGrpSpPr>
        <p:grpSpPr bwMode="auto">
          <a:xfrm>
            <a:off x="6019800" y="3276600"/>
            <a:ext cx="963613" cy="685800"/>
            <a:chOff x="3483" y="1728"/>
            <a:chExt cx="607" cy="432"/>
          </a:xfrm>
        </p:grpSpPr>
        <p:grpSp>
          <p:nvGrpSpPr>
            <p:cNvPr id="75785" name="Group 9"/>
            <p:cNvGrpSpPr>
              <a:grpSpLocks/>
            </p:cNvGrpSpPr>
            <p:nvPr/>
          </p:nvGrpSpPr>
          <p:grpSpPr bwMode="auto">
            <a:xfrm>
              <a:off x="3504" y="1728"/>
              <a:ext cx="528" cy="432"/>
              <a:chOff x="2352" y="2160"/>
              <a:chExt cx="528" cy="432"/>
            </a:xfrm>
          </p:grpSpPr>
          <p:sp>
            <p:nvSpPr>
              <p:cNvPr id="75786" name="Rectangle 10"/>
              <p:cNvSpPr>
                <a:spLocks noChangeArrowheads="1"/>
              </p:cNvSpPr>
              <p:nvPr/>
            </p:nvSpPr>
            <p:spPr bwMode="auto">
              <a:xfrm>
                <a:off x="2352" y="2160"/>
                <a:ext cx="528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787" name="Line 11"/>
              <p:cNvSpPr>
                <a:spLocks noChangeShapeType="1"/>
              </p:cNvSpPr>
              <p:nvPr/>
            </p:nvSpPr>
            <p:spPr bwMode="auto">
              <a:xfrm>
                <a:off x="2352" y="216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788" name="Line 12"/>
              <p:cNvSpPr>
                <a:spLocks noChangeShapeType="1"/>
              </p:cNvSpPr>
              <p:nvPr/>
            </p:nvSpPr>
            <p:spPr bwMode="auto">
              <a:xfrm>
                <a:off x="2352" y="22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789" name="Line 13"/>
              <p:cNvSpPr>
                <a:spLocks noChangeShapeType="1"/>
              </p:cNvSpPr>
              <p:nvPr/>
            </p:nvSpPr>
            <p:spPr bwMode="auto">
              <a:xfrm>
                <a:off x="2352" y="235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790" name="Line 14"/>
              <p:cNvSpPr>
                <a:spLocks noChangeShapeType="1"/>
              </p:cNvSpPr>
              <p:nvPr/>
            </p:nvSpPr>
            <p:spPr bwMode="auto">
              <a:xfrm>
                <a:off x="2352" y="244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791" name="Line 15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792" name="Line 16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5793" name="Text Box 17"/>
            <p:cNvSpPr txBox="1">
              <a:spLocks noChangeArrowheads="1"/>
            </p:cNvSpPr>
            <p:nvPr/>
          </p:nvSpPr>
          <p:spPr bwMode="auto">
            <a:xfrm>
              <a:off x="3483" y="1757"/>
              <a:ext cx="607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Dir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Forwarding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Table</a:t>
              </a:r>
            </a:p>
          </p:txBody>
        </p:sp>
      </p:grpSp>
      <p:grpSp>
        <p:nvGrpSpPr>
          <p:cNvPr id="75798" name="Group 22"/>
          <p:cNvGrpSpPr>
            <a:grpSpLocks/>
          </p:cNvGrpSpPr>
          <p:nvPr/>
        </p:nvGrpSpPr>
        <p:grpSpPr bwMode="auto">
          <a:xfrm>
            <a:off x="762000" y="2438400"/>
            <a:ext cx="2057400" cy="609600"/>
            <a:chOff x="480" y="1392"/>
            <a:chExt cx="1296" cy="384"/>
          </a:xfrm>
        </p:grpSpPr>
        <p:sp>
          <p:nvSpPr>
            <p:cNvPr id="75799" name="Rectangle 23"/>
            <p:cNvSpPr>
              <a:spLocks noChangeArrowheads="1"/>
            </p:cNvSpPr>
            <p:nvPr/>
          </p:nvSpPr>
          <p:spPr bwMode="auto">
            <a:xfrm>
              <a:off x="912" y="1632"/>
              <a:ext cx="81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Create Flow Req</a:t>
              </a:r>
            </a:p>
          </p:txBody>
        </p:sp>
        <p:grpSp>
          <p:nvGrpSpPr>
            <p:cNvPr id="75800" name="Group 24"/>
            <p:cNvGrpSpPr>
              <a:grpSpLocks/>
            </p:cNvGrpSpPr>
            <p:nvPr/>
          </p:nvGrpSpPr>
          <p:grpSpPr bwMode="auto">
            <a:xfrm>
              <a:off x="480" y="1392"/>
              <a:ext cx="1296" cy="173"/>
              <a:chOff x="3936" y="1248"/>
              <a:chExt cx="1296" cy="173"/>
            </a:xfrm>
          </p:grpSpPr>
          <p:sp>
            <p:nvSpPr>
              <p:cNvPr id="75801" name="Text Box 25"/>
              <p:cNvSpPr txBox="1">
                <a:spLocks noChangeArrowheads="1"/>
              </p:cNvSpPr>
              <p:nvPr/>
            </p:nvSpPr>
            <p:spPr bwMode="auto">
              <a:xfrm>
                <a:off x="3936" y="1248"/>
                <a:ext cx="96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ＭＳ Ｐゴシック" charset="0"/>
                  </a:rPr>
                  <a:t>Is this the place?</a:t>
                </a:r>
              </a:p>
            </p:txBody>
          </p:sp>
          <p:sp>
            <p:nvSpPr>
              <p:cNvPr id="75802" name="Line 26"/>
              <p:cNvSpPr>
                <a:spLocks noChangeShapeType="1"/>
              </p:cNvSpPr>
              <p:nvPr/>
            </p:nvSpPr>
            <p:spPr bwMode="auto">
              <a:xfrm>
                <a:off x="4704" y="134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75803" name="Oval 27"/>
          <p:cNvSpPr>
            <a:spLocks noChangeArrowheads="1"/>
          </p:cNvSpPr>
          <p:nvPr/>
        </p:nvSpPr>
        <p:spPr bwMode="auto">
          <a:xfrm>
            <a:off x="4572000" y="1143000"/>
            <a:ext cx="914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Dest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Application</a:t>
            </a:r>
          </a:p>
        </p:txBody>
      </p:sp>
      <p:grpSp>
        <p:nvGrpSpPr>
          <p:cNvPr id="75809" name="Group 33"/>
          <p:cNvGrpSpPr>
            <a:grpSpLocks/>
          </p:cNvGrpSpPr>
          <p:nvPr/>
        </p:nvGrpSpPr>
        <p:grpSpPr bwMode="auto">
          <a:xfrm>
            <a:off x="5410200" y="1447800"/>
            <a:ext cx="1335088" cy="1295400"/>
            <a:chOff x="3408" y="912"/>
            <a:chExt cx="841" cy="816"/>
          </a:xfrm>
        </p:grpSpPr>
        <p:sp>
          <p:nvSpPr>
            <p:cNvPr id="75805" name="AutoShape 29"/>
            <p:cNvSpPr>
              <a:spLocks noChangeArrowheads="1"/>
            </p:cNvSpPr>
            <p:nvPr/>
          </p:nvSpPr>
          <p:spPr bwMode="auto">
            <a:xfrm rot="-5400000">
              <a:off x="3240" y="1080"/>
              <a:ext cx="816" cy="480"/>
            </a:xfrm>
            <a:prstGeom prst="curvedUpArrow">
              <a:avLst>
                <a:gd name="adj1" fmla="val 34000"/>
                <a:gd name="adj2" fmla="val 6800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5806" name="Text Box 30"/>
            <p:cNvSpPr txBox="1">
              <a:spLocks noChangeArrowheads="1"/>
            </p:cNvSpPr>
            <p:nvPr/>
          </p:nvSpPr>
          <p:spPr bwMode="auto">
            <a:xfrm>
              <a:off x="3744" y="912"/>
              <a:ext cx="5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Indication</a:t>
              </a:r>
            </a:p>
          </p:txBody>
        </p:sp>
      </p:grpSp>
      <p:grpSp>
        <p:nvGrpSpPr>
          <p:cNvPr id="75810" name="Group 34"/>
          <p:cNvGrpSpPr>
            <a:grpSpLocks/>
          </p:cNvGrpSpPr>
          <p:nvPr/>
        </p:nvGrpSpPr>
        <p:grpSpPr bwMode="auto">
          <a:xfrm>
            <a:off x="3429000" y="1371600"/>
            <a:ext cx="1143000" cy="1371600"/>
            <a:chOff x="2160" y="864"/>
            <a:chExt cx="720" cy="864"/>
          </a:xfrm>
        </p:grpSpPr>
        <p:sp>
          <p:nvSpPr>
            <p:cNvPr id="75807" name="AutoShape 31"/>
            <p:cNvSpPr>
              <a:spLocks noChangeArrowheads="1"/>
            </p:cNvSpPr>
            <p:nvPr/>
          </p:nvSpPr>
          <p:spPr bwMode="auto">
            <a:xfrm rot="-16200000">
              <a:off x="2232" y="1080"/>
              <a:ext cx="816" cy="480"/>
            </a:xfrm>
            <a:prstGeom prst="curvedUpArrow">
              <a:avLst>
                <a:gd name="adj1" fmla="val 34000"/>
                <a:gd name="adj2" fmla="val 6800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5808" name="Text Box 32"/>
            <p:cNvSpPr txBox="1">
              <a:spLocks noChangeArrowheads="1"/>
            </p:cNvSpPr>
            <p:nvPr/>
          </p:nvSpPr>
          <p:spPr bwMode="auto">
            <a:xfrm>
              <a:off x="2160" y="864"/>
              <a:ext cx="4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Allocate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Confirm</a:t>
              </a:r>
            </a:p>
          </p:txBody>
        </p:sp>
      </p:grpSp>
      <p:grpSp>
        <p:nvGrpSpPr>
          <p:cNvPr id="75811" name="Group 35"/>
          <p:cNvGrpSpPr>
            <a:grpSpLocks/>
          </p:cNvGrpSpPr>
          <p:nvPr/>
        </p:nvGrpSpPr>
        <p:grpSpPr bwMode="auto">
          <a:xfrm>
            <a:off x="3754438" y="3124200"/>
            <a:ext cx="817562" cy="609600"/>
            <a:chOff x="2160" y="1200"/>
            <a:chExt cx="515" cy="384"/>
          </a:xfrm>
        </p:grpSpPr>
        <p:grpSp>
          <p:nvGrpSpPr>
            <p:cNvPr id="75812" name="Group 36"/>
            <p:cNvGrpSpPr>
              <a:grpSpLocks/>
            </p:cNvGrpSpPr>
            <p:nvPr/>
          </p:nvGrpSpPr>
          <p:grpSpPr bwMode="auto">
            <a:xfrm>
              <a:off x="2256" y="1200"/>
              <a:ext cx="419" cy="288"/>
              <a:chOff x="2040" y="1248"/>
              <a:chExt cx="419" cy="288"/>
            </a:xfrm>
          </p:grpSpPr>
          <p:sp>
            <p:nvSpPr>
              <p:cNvPr id="75813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14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5816" name="Group 40"/>
            <p:cNvGrpSpPr>
              <a:grpSpLocks/>
            </p:cNvGrpSpPr>
            <p:nvPr/>
          </p:nvGrpSpPr>
          <p:grpSpPr bwMode="auto">
            <a:xfrm>
              <a:off x="2208" y="1248"/>
              <a:ext cx="419" cy="288"/>
              <a:chOff x="2040" y="1248"/>
              <a:chExt cx="419" cy="288"/>
            </a:xfrm>
          </p:grpSpPr>
          <p:sp>
            <p:nvSpPr>
              <p:cNvPr id="75817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18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5820" name="Group 44"/>
            <p:cNvGrpSpPr>
              <a:grpSpLocks/>
            </p:cNvGrpSpPr>
            <p:nvPr/>
          </p:nvGrpSpPr>
          <p:grpSpPr bwMode="auto">
            <a:xfrm>
              <a:off x="2160" y="1296"/>
              <a:ext cx="419" cy="288"/>
              <a:chOff x="2040" y="1248"/>
              <a:chExt cx="419" cy="288"/>
            </a:xfrm>
          </p:grpSpPr>
          <p:sp>
            <p:nvSpPr>
              <p:cNvPr id="75821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5822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40737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75829" name="Group 53"/>
          <p:cNvGrpSpPr>
            <a:grpSpLocks/>
          </p:cNvGrpSpPr>
          <p:nvPr/>
        </p:nvGrpSpPr>
        <p:grpSpPr bwMode="auto">
          <a:xfrm>
            <a:off x="6096000" y="2438400"/>
            <a:ext cx="2286000" cy="609600"/>
            <a:chOff x="336" y="1536"/>
            <a:chExt cx="1440" cy="384"/>
          </a:xfrm>
        </p:grpSpPr>
        <p:sp>
          <p:nvSpPr>
            <p:cNvPr id="75824" name="Rectangle 48"/>
            <p:cNvSpPr>
              <a:spLocks noChangeArrowheads="1"/>
            </p:cNvSpPr>
            <p:nvPr/>
          </p:nvSpPr>
          <p:spPr bwMode="auto">
            <a:xfrm>
              <a:off x="624" y="1776"/>
              <a:ext cx="912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Create Flow Resp</a:t>
              </a:r>
            </a:p>
          </p:txBody>
        </p:sp>
        <p:sp>
          <p:nvSpPr>
            <p:cNvPr id="75826" name="Line 50"/>
            <p:cNvSpPr>
              <a:spLocks noChangeShapeType="1"/>
            </p:cNvSpPr>
            <p:nvPr/>
          </p:nvSpPr>
          <p:spPr bwMode="auto">
            <a:xfrm flipH="1">
              <a:off x="336" y="1680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5827" name="Text Box 51"/>
            <p:cNvSpPr txBox="1">
              <a:spLocks noChangeArrowheads="1"/>
            </p:cNvSpPr>
            <p:nvPr/>
          </p:nvSpPr>
          <p:spPr bwMode="auto">
            <a:xfrm>
              <a:off x="816" y="1536"/>
              <a:ext cx="9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Send to Requestor.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1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0B422F-8A4F-4944-A78C-96BC3D26E600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r>
              <a:rPr lang="en-US"/>
              <a:t>Finishing Up</a:t>
            </a:r>
            <a:br>
              <a:rPr lang="en-US"/>
            </a:br>
            <a:r>
              <a:rPr lang="en-US" sz="2000"/>
              <a:t>Establishing Communication</a:t>
            </a: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3124200"/>
            <a:ext cx="78486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The Create Flow Response is sent back to the originator.</a:t>
            </a:r>
          </a:p>
          <a:p>
            <a:pPr>
              <a:lnSpc>
                <a:spcPct val="90000"/>
              </a:lnSpc>
            </a:pPr>
            <a:r>
              <a:rPr lang="en-US" sz="2000"/>
              <a:t>Data can now flow.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Remember we instantiated the EFCP at the source before we started.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Just in case data gets back before the Create Response.</a:t>
            </a:r>
          </a:p>
          <a:p>
            <a:pPr>
              <a:lnSpc>
                <a:spcPct val="90000"/>
              </a:lnSpc>
            </a:pPr>
            <a:r>
              <a:rPr lang="en-US" sz="2000"/>
              <a:t>Either end may start the Application Protocol exchange.</a:t>
            </a:r>
          </a:p>
          <a:p>
            <a:pPr>
              <a:lnSpc>
                <a:spcPct val="90000"/>
              </a:lnSpc>
            </a:pPr>
            <a:endParaRPr lang="en-US" sz="2000"/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4937125" y="1724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9877" name="Group 5"/>
          <p:cNvGrpSpPr>
            <a:grpSpLocks/>
          </p:cNvGrpSpPr>
          <p:nvPr/>
        </p:nvGrpSpPr>
        <p:grpSpPr bwMode="auto">
          <a:xfrm>
            <a:off x="6629400" y="2438400"/>
            <a:ext cx="381000" cy="228600"/>
            <a:chOff x="576" y="1680"/>
            <a:chExt cx="1248" cy="720"/>
          </a:xfrm>
        </p:grpSpPr>
        <p:sp>
          <p:nvSpPr>
            <p:cNvPr id="79878" name="Rectangle 6"/>
            <p:cNvSpPr>
              <a:spLocks noChangeArrowheads="1"/>
            </p:cNvSpPr>
            <p:nvPr/>
          </p:nvSpPr>
          <p:spPr bwMode="auto">
            <a:xfrm>
              <a:off x="576" y="1680"/>
              <a:ext cx="124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879" name="Oval 7"/>
            <p:cNvSpPr>
              <a:spLocks noChangeArrowheads="1"/>
            </p:cNvSpPr>
            <p:nvPr/>
          </p:nvSpPr>
          <p:spPr bwMode="auto">
            <a:xfrm>
              <a:off x="1392" y="1824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880" name="Oval 8"/>
            <p:cNvSpPr>
              <a:spLocks noChangeArrowheads="1"/>
            </p:cNvSpPr>
            <p:nvPr/>
          </p:nvSpPr>
          <p:spPr bwMode="auto">
            <a:xfrm>
              <a:off x="624" y="1728"/>
              <a:ext cx="96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881" name="Oval 9"/>
            <p:cNvSpPr>
              <a:spLocks noChangeArrowheads="1"/>
            </p:cNvSpPr>
            <p:nvPr/>
          </p:nvSpPr>
          <p:spPr bwMode="auto">
            <a:xfrm>
              <a:off x="864" y="177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79882" name="Group 10"/>
            <p:cNvGrpSpPr>
              <a:grpSpLocks/>
            </p:cNvGrpSpPr>
            <p:nvPr/>
          </p:nvGrpSpPr>
          <p:grpSpPr bwMode="auto">
            <a:xfrm>
              <a:off x="1152" y="1962"/>
              <a:ext cx="176" cy="198"/>
              <a:chOff x="2587" y="1344"/>
              <a:chExt cx="293" cy="288"/>
            </a:xfrm>
          </p:grpSpPr>
          <p:sp>
            <p:nvSpPr>
              <p:cNvPr id="79883" name="Oval 11"/>
              <p:cNvSpPr>
                <a:spLocks noChangeArrowheads="1"/>
              </p:cNvSpPr>
              <p:nvPr/>
            </p:nvSpPr>
            <p:spPr bwMode="auto">
              <a:xfrm>
                <a:off x="2592" y="1344"/>
                <a:ext cx="288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884" name="Oval 12"/>
              <p:cNvSpPr>
                <a:spLocks noChangeArrowheads="1"/>
              </p:cNvSpPr>
              <p:nvPr/>
            </p:nvSpPr>
            <p:spPr bwMode="auto">
              <a:xfrm>
                <a:off x="2592" y="1536"/>
                <a:ext cx="288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885" name="Line 13"/>
              <p:cNvSpPr>
                <a:spLocks noChangeShapeType="1"/>
              </p:cNvSpPr>
              <p:nvPr/>
            </p:nvSpPr>
            <p:spPr bwMode="auto">
              <a:xfrm>
                <a:off x="2587" y="1387"/>
                <a:ext cx="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886" name="Line 14"/>
              <p:cNvSpPr>
                <a:spLocks noChangeShapeType="1"/>
              </p:cNvSpPr>
              <p:nvPr/>
            </p:nvSpPr>
            <p:spPr bwMode="auto">
              <a:xfrm>
                <a:off x="2880" y="1392"/>
                <a:ext cx="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9887" name="Rectangle 15"/>
            <p:cNvSpPr>
              <a:spLocks noChangeArrowheads="1"/>
            </p:cNvSpPr>
            <p:nvPr/>
          </p:nvSpPr>
          <p:spPr bwMode="auto">
            <a:xfrm>
              <a:off x="768" y="1776"/>
              <a:ext cx="4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888" name="Oval 16"/>
            <p:cNvSpPr>
              <a:spLocks noChangeArrowheads="1"/>
            </p:cNvSpPr>
            <p:nvPr/>
          </p:nvSpPr>
          <p:spPr bwMode="auto">
            <a:xfrm>
              <a:off x="624" y="2160"/>
              <a:ext cx="336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889" name="Oval 17"/>
            <p:cNvSpPr>
              <a:spLocks noChangeArrowheads="1"/>
            </p:cNvSpPr>
            <p:nvPr/>
          </p:nvSpPr>
          <p:spPr bwMode="auto">
            <a:xfrm>
              <a:off x="1392" y="2160"/>
              <a:ext cx="336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9890" name="Group 18"/>
          <p:cNvGrpSpPr>
            <a:grpSpLocks/>
          </p:cNvGrpSpPr>
          <p:nvPr/>
        </p:nvGrpSpPr>
        <p:grpSpPr bwMode="auto">
          <a:xfrm>
            <a:off x="1066800" y="1981200"/>
            <a:ext cx="6094413" cy="685800"/>
            <a:chOff x="672" y="1248"/>
            <a:chExt cx="3839" cy="432"/>
          </a:xfrm>
        </p:grpSpPr>
        <p:grpSp>
          <p:nvGrpSpPr>
            <p:cNvPr id="79891" name="Group 19"/>
            <p:cNvGrpSpPr>
              <a:grpSpLocks/>
            </p:cNvGrpSpPr>
            <p:nvPr/>
          </p:nvGrpSpPr>
          <p:grpSpPr bwMode="auto">
            <a:xfrm>
              <a:off x="816" y="1536"/>
              <a:ext cx="240" cy="144"/>
              <a:chOff x="576" y="1680"/>
              <a:chExt cx="1248" cy="720"/>
            </a:xfrm>
          </p:grpSpPr>
          <p:sp>
            <p:nvSpPr>
              <p:cNvPr id="79892" name="Rectangle 20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893" name="Oval 21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894" name="Oval 22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895" name="Oval 23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896" name="Group 24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897" name="Oval 25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898" name="Oval 26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899" name="Line 27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00" name="Line 28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01" name="Rectangle 29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02" name="Oval 30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03" name="Oval 31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9904" name="Group 32"/>
            <p:cNvGrpSpPr>
              <a:grpSpLocks/>
            </p:cNvGrpSpPr>
            <p:nvPr/>
          </p:nvGrpSpPr>
          <p:grpSpPr bwMode="auto">
            <a:xfrm>
              <a:off x="1296" y="1536"/>
              <a:ext cx="240" cy="144"/>
              <a:chOff x="576" y="1680"/>
              <a:chExt cx="1248" cy="720"/>
            </a:xfrm>
          </p:grpSpPr>
          <p:sp>
            <p:nvSpPr>
              <p:cNvPr id="79905" name="Rectangle 33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06" name="Oval 34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07" name="Oval 35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08" name="Oval 36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909" name="Group 37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910" name="Oval 38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11" name="Oval 39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12" name="Line 40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13" name="Line 41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14" name="Rectangle 42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15" name="Oval 43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16" name="Oval 44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9917" name="Group 45"/>
            <p:cNvGrpSpPr>
              <a:grpSpLocks/>
            </p:cNvGrpSpPr>
            <p:nvPr/>
          </p:nvGrpSpPr>
          <p:grpSpPr bwMode="auto">
            <a:xfrm>
              <a:off x="1776" y="1536"/>
              <a:ext cx="240" cy="144"/>
              <a:chOff x="576" y="1680"/>
              <a:chExt cx="1248" cy="720"/>
            </a:xfrm>
          </p:grpSpPr>
          <p:sp>
            <p:nvSpPr>
              <p:cNvPr id="79918" name="Rectangle 46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19" name="Oval 47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20" name="Oval 48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21" name="Oval 49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922" name="Group 50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923" name="Oval 51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24" name="Oval 52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25" name="Line 53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26" name="Line 54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27" name="Rectangle 55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28" name="Oval 56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29" name="Oval 57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9930" name="Group 58"/>
            <p:cNvGrpSpPr>
              <a:grpSpLocks/>
            </p:cNvGrpSpPr>
            <p:nvPr/>
          </p:nvGrpSpPr>
          <p:grpSpPr bwMode="auto">
            <a:xfrm>
              <a:off x="2256" y="1536"/>
              <a:ext cx="240" cy="144"/>
              <a:chOff x="576" y="1680"/>
              <a:chExt cx="1248" cy="720"/>
            </a:xfrm>
          </p:grpSpPr>
          <p:sp>
            <p:nvSpPr>
              <p:cNvPr id="79931" name="Rectangle 59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32" name="Oval 60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33" name="Oval 61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34" name="Oval 62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935" name="Group 63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936" name="Oval 64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37" name="Oval 65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38" name="Line 66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39" name="Line 67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40" name="Rectangle 68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41" name="Oval 69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42" name="Oval 70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9943" name="Group 71"/>
            <p:cNvGrpSpPr>
              <a:grpSpLocks/>
            </p:cNvGrpSpPr>
            <p:nvPr/>
          </p:nvGrpSpPr>
          <p:grpSpPr bwMode="auto">
            <a:xfrm>
              <a:off x="2736" y="1536"/>
              <a:ext cx="240" cy="144"/>
              <a:chOff x="576" y="1680"/>
              <a:chExt cx="1248" cy="720"/>
            </a:xfrm>
          </p:grpSpPr>
          <p:sp>
            <p:nvSpPr>
              <p:cNvPr id="79944" name="Rectangle 72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45" name="Oval 73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46" name="Oval 74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47" name="Oval 75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948" name="Group 76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949" name="Oval 77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50" name="Oval 78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51" name="Line 79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52" name="Line 80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53" name="Rectangle 81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54" name="Oval 82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55" name="Oval 83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9956" name="Group 84"/>
            <p:cNvGrpSpPr>
              <a:grpSpLocks/>
            </p:cNvGrpSpPr>
            <p:nvPr/>
          </p:nvGrpSpPr>
          <p:grpSpPr bwMode="auto">
            <a:xfrm>
              <a:off x="3216" y="1536"/>
              <a:ext cx="240" cy="144"/>
              <a:chOff x="576" y="1680"/>
              <a:chExt cx="1248" cy="720"/>
            </a:xfrm>
          </p:grpSpPr>
          <p:sp>
            <p:nvSpPr>
              <p:cNvPr id="79957" name="Rectangle 85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58" name="Oval 86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59" name="Oval 87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60" name="Oval 88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961" name="Group 89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962" name="Oval 90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63" name="Oval 91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64" name="Line 92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65" name="Line 93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66" name="Rectangle 94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67" name="Oval 95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68" name="Oval 96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79969" name="Group 97"/>
            <p:cNvGrpSpPr>
              <a:grpSpLocks/>
            </p:cNvGrpSpPr>
            <p:nvPr/>
          </p:nvGrpSpPr>
          <p:grpSpPr bwMode="auto">
            <a:xfrm>
              <a:off x="3696" y="1536"/>
              <a:ext cx="240" cy="144"/>
              <a:chOff x="576" y="1680"/>
              <a:chExt cx="1248" cy="720"/>
            </a:xfrm>
          </p:grpSpPr>
          <p:sp>
            <p:nvSpPr>
              <p:cNvPr id="79970" name="Rectangle 98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24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71" name="Oval 99"/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72" name="Oval 100"/>
              <p:cNvSpPr>
                <a:spLocks noChangeArrowheads="1"/>
              </p:cNvSpPr>
              <p:nvPr/>
            </p:nvSpPr>
            <p:spPr bwMode="auto">
              <a:xfrm>
                <a:off x="624" y="1728"/>
                <a:ext cx="96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73" name="Oval 101"/>
              <p:cNvSpPr>
                <a:spLocks noChangeArrowheads="1"/>
              </p:cNvSpPr>
              <p:nvPr/>
            </p:nvSpPr>
            <p:spPr bwMode="auto">
              <a:xfrm>
                <a:off x="864" y="1776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79974" name="Group 102"/>
              <p:cNvGrpSpPr>
                <a:grpSpLocks/>
              </p:cNvGrpSpPr>
              <p:nvPr/>
            </p:nvGrpSpPr>
            <p:grpSpPr bwMode="auto">
              <a:xfrm>
                <a:off x="1152" y="1962"/>
                <a:ext cx="176" cy="198"/>
                <a:chOff x="2587" y="1344"/>
                <a:chExt cx="293" cy="288"/>
              </a:xfrm>
            </p:grpSpPr>
            <p:sp>
              <p:nvSpPr>
                <p:cNvPr id="79975" name="Oval 103"/>
                <p:cNvSpPr>
                  <a:spLocks noChangeArrowheads="1"/>
                </p:cNvSpPr>
                <p:nvPr/>
              </p:nvSpPr>
              <p:spPr bwMode="auto">
                <a:xfrm>
                  <a:off x="2592" y="1344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76" name="Oval 104"/>
                <p:cNvSpPr>
                  <a:spLocks noChangeArrowheads="1"/>
                </p:cNvSpPr>
                <p:nvPr/>
              </p:nvSpPr>
              <p:spPr bwMode="auto">
                <a:xfrm>
                  <a:off x="2592" y="1536"/>
                  <a:ext cx="288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77" name="Line 105"/>
                <p:cNvSpPr>
                  <a:spLocks noChangeShapeType="1"/>
                </p:cNvSpPr>
                <p:nvPr/>
              </p:nvSpPr>
              <p:spPr bwMode="auto">
                <a:xfrm>
                  <a:off x="2587" y="1387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79978" name="Line 106"/>
                <p:cNvSpPr>
                  <a:spLocks noChangeShapeType="1"/>
                </p:cNvSpPr>
                <p:nvPr/>
              </p:nvSpPr>
              <p:spPr bwMode="auto">
                <a:xfrm>
                  <a:off x="2880" y="1392"/>
                  <a:ext cx="0" cy="2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79979" name="Rectangle 107"/>
              <p:cNvSpPr>
                <a:spLocks noChangeArrowheads="1"/>
              </p:cNvSpPr>
              <p:nvPr/>
            </p:nvSpPr>
            <p:spPr bwMode="auto">
              <a:xfrm>
                <a:off x="768" y="1776"/>
                <a:ext cx="4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80" name="Oval 108"/>
              <p:cNvSpPr>
                <a:spLocks noChangeArrowheads="1"/>
              </p:cNvSpPr>
              <p:nvPr/>
            </p:nvSpPr>
            <p:spPr bwMode="auto">
              <a:xfrm>
                <a:off x="624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981" name="Oval 109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336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79982" name="Oval 110"/>
            <p:cNvSpPr>
              <a:spLocks noChangeArrowheads="1"/>
            </p:cNvSpPr>
            <p:nvPr/>
          </p:nvSpPr>
          <p:spPr bwMode="auto">
            <a:xfrm>
              <a:off x="864" y="134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983" name="Line 111"/>
            <p:cNvSpPr>
              <a:spLocks noChangeShapeType="1"/>
            </p:cNvSpPr>
            <p:nvPr/>
          </p:nvSpPr>
          <p:spPr bwMode="auto">
            <a:xfrm>
              <a:off x="912" y="148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984" name="Oval 112"/>
            <p:cNvSpPr>
              <a:spLocks noChangeArrowheads="1"/>
            </p:cNvSpPr>
            <p:nvPr/>
          </p:nvSpPr>
          <p:spPr bwMode="auto">
            <a:xfrm>
              <a:off x="4224" y="134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985" name="Line 113"/>
            <p:cNvSpPr>
              <a:spLocks noChangeShapeType="1"/>
            </p:cNvSpPr>
            <p:nvPr/>
          </p:nvSpPr>
          <p:spPr bwMode="auto">
            <a:xfrm flipH="1">
              <a:off x="4224" y="1488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986" name="Text Box 114"/>
            <p:cNvSpPr txBox="1">
              <a:spLocks noChangeArrowheads="1"/>
            </p:cNvSpPr>
            <p:nvPr/>
          </p:nvSpPr>
          <p:spPr bwMode="auto">
            <a:xfrm>
              <a:off x="672" y="1248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79987" name="Text Box 115"/>
            <p:cNvSpPr txBox="1">
              <a:spLocks noChangeArrowheads="1"/>
            </p:cNvSpPr>
            <p:nvPr/>
          </p:nvSpPr>
          <p:spPr bwMode="auto">
            <a:xfrm>
              <a:off x="4320" y="1248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B</a:t>
              </a:r>
            </a:p>
          </p:txBody>
        </p:sp>
      </p:grpSp>
      <p:cxnSp>
        <p:nvCxnSpPr>
          <p:cNvPr id="35956" name="AutoShape 116"/>
          <p:cNvCxnSpPr>
            <a:cxnSpLocks noChangeShapeType="1"/>
            <a:stCxn id="79893" idx="7"/>
            <a:endCxn id="79907" idx="1"/>
          </p:cNvCxnSpPr>
          <p:nvPr/>
        </p:nvCxnSpPr>
        <p:spPr bwMode="auto">
          <a:xfrm rot="-5400000">
            <a:off x="1841500" y="2265363"/>
            <a:ext cx="25400" cy="444500"/>
          </a:xfrm>
          <a:prstGeom prst="curvedConnector3">
            <a:avLst>
              <a:gd name="adj1" fmla="val 10812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5957" name="AutoShape 117"/>
          <p:cNvCxnSpPr>
            <a:cxnSpLocks noChangeShapeType="1"/>
          </p:cNvCxnSpPr>
          <p:nvPr/>
        </p:nvCxnSpPr>
        <p:spPr bwMode="auto">
          <a:xfrm rot="-5400000">
            <a:off x="2647950" y="2228850"/>
            <a:ext cx="25400" cy="444500"/>
          </a:xfrm>
          <a:prstGeom prst="curvedConnector3">
            <a:avLst>
              <a:gd name="adj1" fmla="val 10812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79990" name="Line 118"/>
          <p:cNvSpPr>
            <a:spLocks noChangeShapeType="1"/>
          </p:cNvSpPr>
          <p:nvPr/>
        </p:nvSpPr>
        <p:spPr bwMode="auto">
          <a:xfrm>
            <a:off x="1600200" y="25146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5959" name="AutoShape 119"/>
          <p:cNvCxnSpPr>
            <a:cxnSpLocks noChangeShapeType="1"/>
          </p:cNvCxnSpPr>
          <p:nvPr/>
        </p:nvCxnSpPr>
        <p:spPr bwMode="auto">
          <a:xfrm rot="-5400000">
            <a:off x="3409950" y="2228850"/>
            <a:ext cx="25400" cy="444500"/>
          </a:xfrm>
          <a:prstGeom prst="curvedConnector3">
            <a:avLst>
              <a:gd name="adj1" fmla="val 10812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5960" name="AutoShape 120"/>
          <p:cNvCxnSpPr>
            <a:cxnSpLocks noChangeShapeType="1"/>
          </p:cNvCxnSpPr>
          <p:nvPr/>
        </p:nvCxnSpPr>
        <p:spPr bwMode="auto">
          <a:xfrm rot="-5400000">
            <a:off x="5281613" y="1042987"/>
            <a:ext cx="19050" cy="2809875"/>
          </a:xfrm>
          <a:prstGeom prst="curvedConnector3">
            <a:avLst>
              <a:gd name="adj1" fmla="val 136666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5961" name="AutoShape 121"/>
          <p:cNvCxnSpPr>
            <a:cxnSpLocks noChangeShapeType="1"/>
            <a:stCxn id="79888" idx="3"/>
            <a:endCxn id="79903" idx="4"/>
          </p:cNvCxnSpPr>
          <p:nvPr/>
        </p:nvCxnSpPr>
        <p:spPr bwMode="auto">
          <a:xfrm rot="5400000">
            <a:off x="4123531" y="115094"/>
            <a:ext cx="9525" cy="5062538"/>
          </a:xfrm>
          <a:prstGeom prst="curvedConnector3">
            <a:avLst>
              <a:gd name="adj1" fmla="val 25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962" name="Text Box 122"/>
          <p:cNvSpPr txBox="1">
            <a:spLocks noChangeArrowheads="1"/>
          </p:cNvSpPr>
          <p:nvPr/>
        </p:nvSpPr>
        <p:spPr bwMode="auto">
          <a:xfrm>
            <a:off x="3200400" y="1905000"/>
            <a:ext cx="1250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Ahh, here it is!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The Flow is Now Allocated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723900" y="3962400"/>
            <a:ext cx="7696200" cy="1905000"/>
          </a:xfrm>
        </p:spPr>
        <p:txBody>
          <a:bodyPr/>
          <a:lstStyle/>
          <a:p>
            <a:r>
              <a:rPr lang="en-US" sz="1800" dirty="0"/>
              <a:t>The Create Flow Response arrives from the Destination</a:t>
            </a:r>
          </a:p>
          <a:p>
            <a:r>
              <a:rPr lang="en-US" sz="1800" dirty="0"/>
              <a:t>The Application is notified that the Allocate was successful and is given a port-id (in Unix this might be a file descriptor), i.e. the FA-AEI-identifier.</a:t>
            </a:r>
          </a:p>
          <a:p>
            <a:r>
              <a:rPr lang="en-US" sz="1800" dirty="0"/>
              <a:t>The application can now start exchanging information.</a:t>
            </a:r>
          </a:p>
          <a:p>
            <a:endParaRPr lang="en-US" sz="1800" dirty="0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t>10 May 10</a:t>
            </a: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EF55B-3844-0546-AE2F-716900AB5AA4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/>
                <a:ea typeface="ＭＳ Ｐゴシック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/>
              <a:ea typeface="ＭＳ Ｐゴシック"/>
            </a:endParaRPr>
          </a:p>
        </p:txBody>
      </p:sp>
      <p:sp>
        <p:nvSpPr>
          <p:cNvPr id="81925" name="Line 5"/>
          <p:cNvSpPr>
            <a:spLocks noChangeShapeType="1"/>
          </p:cNvSpPr>
          <p:nvPr/>
        </p:nvSpPr>
        <p:spPr bwMode="auto">
          <a:xfrm>
            <a:off x="2362200" y="1806575"/>
            <a:ext cx="441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1927" name="Oval 7"/>
          <p:cNvSpPr>
            <a:spLocks noChangeArrowheads="1"/>
          </p:cNvSpPr>
          <p:nvPr/>
        </p:nvSpPr>
        <p:spPr bwMode="auto">
          <a:xfrm>
            <a:off x="3733800" y="1905000"/>
            <a:ext cx="1295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Flow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Allocator</a:t>
            </a:r>
          </a:p>
        </p:txBody>
      </p:sp>
      <p:sp>
        <p:nvSpPr>
          <p:cNvPr id="81928" name="AutoShape 8"/>
          <p:cNvSpPr>
            <a:spLocks noChangeArrowheads="1"/>
          </p:cNvSpPr>
          <p:nvPr/>
        </p:nvSpPr>
        <p:spPr bwMode="auto">
          <a:xfrm rot="5400000" flipH="1" flipV="1">
            <a:off x="5029200" y="1905000"/>
            <a:ext cx="1295400" cy="8382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81929" name="Group 9"/>
          <p:cNvGrpSpPr>
            <a:grpSpLocks/>
          </p:cNvGrpSpPr>
          <p:nvPr/>
        </p:nvGrpSpPr>
        <p:grpSpPr bwMode="auto">
          <a:xfrm>
            <a:off x="6019800" y="3276600"/>
            <a:ext cx="963613" cy="685800"/>
            <a:chOff x="3483" y="1728"/>
            <a:chExt cx="607" cy="432"/>
          </a:xfrm>
        </p:grpSpPr>
        <p:grpSp>
          <p:nvGrpSpPr>
            <p:cNvPr id="81930" name="Group 10"/>
            <p:cNvGrpSpPr>
              <a:grpSpLocks/>
            </p:cNvGrpSpPr>
            <p:nvPr/>
          </p:nvGrpSpPr>
          <p:grpSpPr bwMode="auto">
            <a:xfrm>
              <a:off x="3504" y="1728"/>
              <a:ext cx="528" cy="432"/>
              <a:chOff x="2352" y="2160"/>
              <a:chExt cx="528" cy="432"/>
            </a:xfrm>
          </p:grpSpPr>
          <p:sp>
            <p:nvSpPr>
              <p:cNvPr id="81931" name="Rectangle 11"/>
              <p:cNvSpPr>
                <a:spLocks noChangeArrowheads="1"/>
              </p:cNvSpPr>
              <p:nvPr/>
            </p:nvSpPr>
            <p:spPr bwMode="auto">
              <a:xfrm>
                <a:off x="2352" y="2160"/>
                <a:ext cx="528" cy="4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32" name="Line 12"/>
              <p:cNvSpPr>
                <a:spLocks noChangeShapeType="1"/>
              </p:cNvSpPr>
              <p:nvPr/>
            </p:nvSpPr>
            <p:spPr bwMode="auto">
              <a:xfrm>
                <a:off x="2352" y="216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33" name="Line 13"/>
              <p:cNvSpPr>
                <a:spLocks noChangeShapeType="1"/>
              </p:cNvSpPr>
              <p:nvPr/>
            </p:nvSpPr>
            <p:spPr bwMode="auto">
              <a:xfrm>
                <a:off x="2352" y="22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34" name="Line 14"/>
              <p:cNvSpPr>
                <a:spLocks noChangeShapeType="1"/>
              </p:cNvSpPr>
              <p:nvPr/>
            </p:nvSpPr>
            <p:spPr bwMode="auto">
              <a:xfrm>
                <a:off x="2352" y="235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35" name="Line 15"/>
              <p:cNvSpPr>
                <a:spLocks noChangeShapeType="1"/>
              </p:cNvSpPr>
              <p:nvPr/>
            </p:nvSpPr>
            <p:spPr bwMode="auto">
              <a:xfrm>
                <a:off x="2352" y="244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36" name="Line 16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37" name="Line 17"/>
              <p:cNvSpPr>
                <a:spLocks noChangeShapeType="1"/>
              </p:cNvSpPr>
              <p:nvPr/>
            </p:nvSpPr>
            <p:spPr bwMode="auto">
              <a:xfrm>
                <a:off x="2592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81938" name="Text Box 18"/>
            <p:cNvSpPr txBox="1">
              <a:spLocks noChangeArrowheads="1"/>
            </p:cNvSpPr>
            <p:nvPr/>
          </p:nvSpPr>
          <p:spPr bwMode="auto">
            <a:xfrm>
              <a:off x="3483" y="1757"/>
              <a:ext cx="607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Dir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Forwarding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Table</a:t>
              </a:r>
            </a:p>
          </p:txBody>
        </p:sp>
      </p:grpSp>
      <p:grpSp>
        <p:nvGrpSpPr>
          <p:cNvPr id="81939" name="Group 19"/>
          <p:cNvGrpSpPr>
            <a:grpSpLocks/>
          </p:cNvGrpSpPr>
          <p:nvPr/>
        </p:nvGrpSpPr>
        <p:grpSpPr bwMode="auto">
          <a:xfrm>
            <a:off x="4419600" y="3124200"/>
            <a:ext cx="817563" cy="609600"/>
            <a:chOff x="2160" y="1200"/>
            <a:chExt cx="515" cy="384"/>
          </a:xfrm>
        </p:grpSpPr>
        <p:grpSp>
          <p:nvGrpSpPr>
            <p:cNvPr id="81940" name="Group 20"/>
            <p:cNvGrpSpPr>
              <a:grpSpLocks/>
            </p:cNvGrpSpPr>
            <p:nvPr/>
          </p:nvGrpSpPr>
          <p:grpSpPr bwMode="auto">
            <a:xfrm>
              <a:off x="2256" y="1200"/>
              <a:ext cx="419" cy="288"/>
              <a:chOff x="2040" y="1248"/>
              <a:chExt cx="419" cy="288"/>
            </a:xfrm>
          </p:grpSpPr>
          <p:sp>
            <p:nvSpPr>
              <p:cNvPr id="81941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42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81944" name="Group 24"/>
            <p:cNvGrpSpPr>
              <a:grpSpLocks/>
            </p:cNvGrpSpPr>
            <p:nvPr/>
          </p:nvGrpSpPr>
          <p:grpSpPr bwMode="auto">
            <a:xfrm>
              <a:off x="2208" y="1248"/>
              <a:ext cx="419" cy="288"/>
              <a:chOff x="2040" y="1248"/>
              <a:chExt cx="419" cy="288"/>
            </a:xfrm>
          </p:grpSpPr>
          <p:sp>
            <p:nvSpPr>
              <p:cNvPr id="81945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46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81948" name="Group 28"/>
            <p:cNvGrpSpPr>
              <a:grpSpLocks/>
            </p:cNvGrpSpPr>
            <p:nvPr/>
          </p:nvGrpSpPr>
          <p:grpSpPr bwMode="auto">
            <a:xfrm>
              <a:off x="2160" y="1296"/>
              <a:ext cx="419" cy="288"/>
              <a:chOff x="2040" y="1248"/>
              <a:chExt cx="419" cy="288"/>
            </a:xfrm>
          </p:grpSpPr>
          <p:sp>
            <p:nvSpPr>
              <p:cNvPr id="81949" name="Oval 43"/>
              <p:cNvSpPr>
                <a:spLocks noChangeArrowheads="1"/>
              </p:cNvSpPr>
              <p:nvPr/>
            </p:nvSpPr>
            <p:spPr bwMode="auto">
              <a:xfrm>
                <a:off x="2267" y="1248"/>
                <a:ext cx="192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950" name="Oval 45"/>
              <p:cNvSpPr>
                <a:spLocks noChangeArrowheads="1"/>
              </p:cNvSpPr>
              <p:nvPr/>
            </p:nvSpPr>
            <p:spPr bwMode="auto">
              <a:xfrm>
                <a:off x="2040" y="1248"/>
                <a:ext cx="9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40737" name="Rectangle 65"/>
              <p:cNvSpPr>
                <a:spLocks noChangeArrowheads="1"/>
              </p:cNvSpPr>
              <p:nvPr/>
            </p:nvSpPr>
            <p:spPr bwMode="auto">
              <a:xfrm>
                <a:off x="2171" y="1248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81952" name="Oval 32"/>
          <p:cNvSpPr>
            <a:spLocks noChangeArrowheads="1"/>
          </p:cNvSpPr>
          <p:nvPr/>
        </p:nvSpPr>
        <p:spPr bwMode="auto">
          <a:xfrm>
            <a:off x="6019800" y="2743200"/>
            <a:ext cx="838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ＭＳ Ｐゴシック" charset="0"/>
              </a:rPr>
              <a:t>FA-AEI</a:t>
            </a:r>
          </a:p>
        </p:txBody>
      </p:sp>
      <p:grpSp>
        <p:nvGrpSpPr>
          <p:cNvPr id="81958" name="Group 38"/>
          <p:cNvGrpSpPr>
            <a:grpSpLocks/>
          </p:cNvGrpSpPr>
          <p:nvPr/>
        </p:nvGrpSpPr>
        <p:grpSpPr bwMode="auto">
          <a:xfrm>
            <a:off x="6324600" y="2133600"/>
            <a:ext cx="2057400" cy="533400"/>
            <a:chOff x="3984" y="1344"/>
            <a:chExt cx="1296" cy="336"/>
          </a:xfrm>
        </p:grpSpPr>
        <p:sp>
          <p:nvSpPr>
            <p:cNvPr id="81953" name="Rectangle 33"/>
            <p:cNvSpPr>
              <a:spLocks noChangeArrowheads="1"/>
            </p:cNvSpPr>
            <p:nvPr/>
          </p:nvSpPr>
          <p:spPr bwMode="auto">
            <a:xfrm>
              <a:off x="4320" y="1536"/>
              <a:ext cx="81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Create Flow Resp</a:t>
              </a:r>
            </a:p>
          </p:txBody>
        </p:sp>
        <p:sp>
          <p:nvSpPr>
            <p:cNvPr id="81955" name="Text Box 35"/>
            <p:cNvSpPr txBox="1">
              <a:spLocks noChangeArrowheads="1"/>
            </p:cNvSpPr>
            <p:nvPr/>
          </p:nvSpPr>
          <p:spPr bwMode="auto">
            <a:xfrm>
              <a:off x="3984" y="1344"/>
              <a:ext cx="9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ＭＳ Ｐゴシック" charset="0"/>
                </a:rPr>
                <a:t>Response Arrives</a:t>
              </a:r>
            </a:p>
          </p:txBody>
        </p:sp>
        <p:sp>
          <p:nvSpPr>
            <p:cNvPr id="81956" name="Line 36"/>
            <p:cNvSpPr>
              <a:spLocks noChangeShapeType="1"/>
            </p:cNvSpPr>
            <p:nvPr/>
          </p:nvSpPr>
          <p:spPr bwMode="auto">
            <a:xfrm>
              <a:off x="4752" y="1440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  <p:bldP spid="819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What DNS Doesn’t Do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429000"/>
            <a:ext cx="7772400" cy="23622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DNS finds a database with the IP-address of the name and </a:t>
            </a:r>
            <a:r>
              <a:rPr lang="en-US" i="1" dirty="0">
                <a:cs typeface="+mn-cs"/>
              </a:rPr>
              <a:t>returns</a:t>
            </a:r>
            <a:r>
              <a:rPr lang="en-US" dirty="0">
                <a:cs typeface="+mn-cs"/>
              </a:rPr>
              <a:t> it to the application.</a:t>
            </a:r>
          </a:p>
          <a:p>
            <a:pPr lvl="1">
              <a:defRPr/>
            </a:pPr>
            <a:r>
              <a:rPr lang="en-US" dirty="0"/>
              <a:t>The minimal required.</a:t>
            </a:r>
          </a:p>
          <a:p>
            <a:pPr>
              <a:defRPr/>
            </a:pPr>
            <a:r>
              <a:rPr lang="en-US" dirty="0">
                <a:cs typeface="+mn-cs"/>
              </a:rPr>
              <a:t>It does not confirm that </a:t>
            </a:r>
            <a:r>
              <a:rPr lang="en-US" dirty="0"/>
              <a:t>the application</a:t>
            </a:r>
            <a:r>
              <a:rPr lang="en-US" dirty="0">
                <a:cs typeface="+mn-cs"/>
              </a:rPr>
              <a:t> is really there or </a:t>
            </a:r>
          </a:p>
          <a:p>
            <a:pPr lvl="1">
              <a:defRPr/>
            </a:pPr>
            <a:r>
              <a:rPr lang="en-US" dirty="0"/>
              <a:t>that the requesting application has access to it.</a:t>
            </a:r>
          </a:p>
          <a:p>
            <a:pPr lvl="1">
              <a:defRPr/>
            </a:pPr>
            <a:r>
              <a:rPr lang="en-US" dirty="0"/>
              <a:t>If the application moves before the DNSs update, too bad.</a:t>
            </a:r>
            <a:endParaRPr lang="en-US" sz="2000" dirty="0"/>
          </a:p>
        </p:txBody>
      </p:sp>
      <p:grpSp>
        <p:nvGrpSpPr>
          <p:cNvPr id="102403" name="Group 4"/>
          <p:cNvGrpSpPr>
            <a:grpSpLocks/>
          </p:cNvGrpSpPr>
          <p:nvPr/>
        </p:nvGrpSpPr>
        <p:grpSpPr bwMode="auto">
          <a:xfrm>
            <a:off x="1714500" y="1981200"/>
            <a:ext cx="5732463" cy="935038"/>
            <a:chOff x="1088" y="720"/>
            <a:chExt cx="3611" cy="589"/>
          </a:xfrm>
        </p:grpSpPr>
        <p:grpSp>
          <p:nvGrpSpPr>
            <p:cNvPr id="102415" name="Group 5"/>
            <p:cNvGrpSpPr>
              <a:grpSpLocks/>
            </p:cNvGrpSpPr>
            <p:nvPr/>
          </p:nvGrpSpPr>
          <p:grpSpPr bwMode="auto">
            <a:xfrm>
              <a:off x="1088" y="936"/>
              <a:ext cx="3611" cy="373"/>
              <a:chOff x="576" y="1296"/>
              <a:chExt cx="2708" cy="497"/>
            </a:xfrm>
          </p:grpSpPr>
          <p:grpSp>
            <p:nvGrpSpPr>
              <p:cNvPr id="102423" name="Group 6"/>
              <p:cNvGrpSpPr>
                <a:grpSpLocks/>
              </p:cNvGrpSpPr>
              <p:nvPr/>
            </p:nvGrpSpPr>
            <p:grpSpPr bwMode="auto">
              <a:xfrm>
                <a:off x="576" y="1296"/>
                <a:ext cx="356" cy="497"/>
                <a:chOff x="2368" y="1886"/>
                <a:chExt cx="530" cy="472"/>
              </a:xfrm>
            </p:grpSpPr>
            <p:grpSp>
              <p:nvGrpSpPr>
                <p:cNvPr id="102552" name="Group 7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10255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5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57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58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559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102581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82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endParaRPr lang="en-US" sz="2400">
                        <a:solidFill>
                          <a:srgbClr val="000000"/>
                        </a:solidFill>
                        <a:latin typeface="Times New Roman" charset="0"/>
                      </a:endParaRPr>
                    </a:p>
                  </p:txBody>
                </p:sp>
              </p:grpSp>
              <p:sp>
                <p:nvSpPr>
                  <p:cNvPr id="102560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61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62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63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64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65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566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102577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78" name="Oval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79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80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2567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102568" name="Group 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75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76" name="Oval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569" name="Group 3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73" name="Rectangle 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74" name="Oval 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570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71" name="Rectangle 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72" name="Oval 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335908" name="Line 36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35909" name="Line 37"/>
                <p:cNvSpPr>
                  <a:spLocks noChangeShapeType="1"/>
                </p:cNvSpPr>
                <p:nvPr/>
              </p:nvSpPr>
              <p:spPr bwMode="auto">
                <a:xfrm>
                  <a:off x="2893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grpSp>
            <p:nvGrpSpPr>
              <p:cNvPr id="102424" name="Group 38"/>
              <p:cNvGrpSpPr>
                <a:grpSpLocks/>
              </p:cNvGrpSpPr>
              <p:nvPr/>
            </p:nvGrpSpPr>
            <p:grpSpPr bwMode="auto">
              <a:xfrm>
                <a:off x="1200" y="1296"/>
                <a:ext cx="356" cy="497"/>
                <a:chOff x="2368" y="1886"/>
                <a:chExt cx="530" cy="472"/>
              </a:xfrm>
            </p:grpSpPr>
            <p:grpSp>
              <p:nvGrpSpPr>
                <p:cNvPr id="102521" name="Group 39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102524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25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26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27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528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102550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51" name="Text Box 4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endParaRPr lang="en-US" sz="2400">
                        <a:solidFill>
                          <a:srgbClr val="000000"/>
                        </a:solidFill>
                        <a:latin typeface="Times New Roman" charset="0"/>
                      </a:endParaRPr>
                    </a:p>
                  </p:txBody>
                </p:sp>
              </p:grpSp>
              <p:sp>
                <p:nvSpPr>
                  <p:cNvPr id="10252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3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31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32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33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34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535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102546" name="Oval 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47" name="Oval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48" name="Line 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49" name="Line 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2536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102537" name="Group 5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44" name="Rectangle 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45" name="Oval 6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538" name="Group 6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42" name="Rectangle 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43" name="Oval 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539" name="Group 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40" name="Rectangle 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41" name="Oval 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335940" name="Line 68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35941" name="Line 69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grpSp>
            <p:nvGrpSpPr>
              <p:cNvPr id="102425" name="Group 70"/>
              <p:cNvGrpSpPr>
                <a:grpSpLocks/>
              </p:cNvGrpSpPr>
              <p:nvPr/>
            </p:nvGrpSpPr>
            <p:grpSpPr bwMode="auto">
              <a:xfrm>
                <a:off x="1776" y="1296"/>
                <a:ext cx="356" cy="497"/>
                <a:chOff x="2368" y="1886"/>
                <a:chExt cx="530" cy="472"/>
              </a:xfrm>
            </p:grpSpPr>
            <p:grpSp>
              <p:nvGrpSpPr>
                <p:cNvPr id="102490" name="Group 71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102493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94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95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96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497" name="Group 76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102519" name="Rectangle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20" name="Text Box 7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endParaRPr lang="en-US" sz="2400">
                        <a:solidFill>
                          <a:srgbClr val="000000"/>
                        </a:solidFill>
                        <a:latin typeface="Times New Roman" charset="0"/>
                      </a:endParaRPr>
                    </a:p>
                  </p:txBody>
                </p:sp>
              </p:grpSp>
              <p:sp>
                <p:nvSpPr>
                  <p:cNvPr id="102498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99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00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01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02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503" name="Oval 84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504" name="Group 85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102515" name="Oval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16" name="Oval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17" name="Line 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18" name="Line 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2505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102506" name="Group 9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13" name="Rectangle 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14" name="Oval 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507" name="Group 9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11" name="Rectangle 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12" name="Oval 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508" name="Group 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509" name="Rectangle 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510" name="Oval 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335972" name="Line 100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35973" name="Line 101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grpSp>
            <p:nvGrpSpPr>
              <p:cNvPr id="102426" name="Group 102"/>
              <p:cNvGrpSpPr>
                <a:grpSpLocks/>
              </p:cNvGrpSpPr>
              <p:nvPr/>
            </p:nvGrpSpPr>
            <p:grpSpPr bwMode="auto">
              <a:xfrm>
                <a:off x="2352" y="1296"/>
                <a:ext cx="356" cy="497"/>
                <a:chOff x="2368" y="1886"/>
                <a:chExt cx="530" cy="472"/>
              </a:xfrm>
            </p:grpSpPr>
            <p:grpSp>
              <p:nvGrpSpPr>
                <p:cNvPr id="102459" name="Group 103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102462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63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64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65" name="Oval 107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466" name="Group 108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102488" name="Rectangle 1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89" name="Text Box 1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endParaRPr lang="en-US" sz="2400">
                        <a:solidFill>
                          <a:srgbClr val="000000"/>
                        </a:solidFill>
                        <a:latin typeface="Times New Roman" charset="0"/>
                      </a:endParaRPr>
                    </a:p>
                  </p:txBody>
                </p:sp>
              </p:grpSp>
              <p:sp>
                <p:nvSpPr>
                  <p:cNvPr id="102467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68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69" name="Oval 113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70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71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72" name="Oval 116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473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102484" name="Oval 1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85" name="Oval 1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86" name="Line 1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87" name="Line 1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2474" name="Group 122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102475" name="Group 1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482" name="Rectangle 1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483" name="Oval 1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476" name="Group 12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480" name="Rectangle 12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481" name="Oval 1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477" name="Group 12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478" name="Rectangle 1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479" name="Oval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336004" name="Line 132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36005" name="Line 133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grpSp>
            <p:nvGrpSpPr>
              <p:cNvPr id="102427" name="Group 134"/>
              <p:cNvGrpSpPr>
                <a:grpSpLocks/>
              </p:cNvGrpSpPr>
              <p:nvPr/>
            </p:nvGrpSpPr>
            <p:grpSpPr bwMode="auto">
              <a:xfrm>
                <a:off x="2928" y="1296"/>
                <a:ext cx="356" cy="497"/>
                <a:chOff x="2368" y="1886"/>
                <a:chExt cx="530" cy="472"/>
              </a:xfrm>
            </p:grpSpPr>
            <p:grpSp>
              <p:nvGrpSpPr>
                <p:cNvPr id="102428" name="Group 135"/>
                <p:cNvGrpSpPr>
                  <a:grpSpLocks/>
                </p:cNvGrpSpPr>
                <p:nvPr/>
              </p:nvGrpSpPr>
              <p:grpSpPr bwMode="auto">
                <a:xfrm>
                  <a:off x="2371" y="1886"/>
                  <a:ext cx="527" cy="472"/>
                  <a:chOff x="1536" y="1632"/>
                  <a:chExt cx="528" cy="472"/>
                </a:xfrm>
              </p:grpSpPr>
              <p:sp>
                <p:nvSpPr>
                  <p:cNvPr id="102431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89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32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1544" y="1920"/>
                    <a:ext cx="51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33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632"/>
                    <a:ext cx="52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34" name="Oval 139"/>
                  <p:cNvSpPr>
                    <a:spLocks noChangeArrowheads="1"/>
                  </p:cNvSpPr>
                  <p:nvPr/>
                </p:nvSpPr>
                <p:spPr bwMode="auto">
                  <a:xfrm>
                    <a:off x="1577" y="1835"/>
                    <a:ext cx="170" cy="8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435" name="Group 140"/>
                  <p:cNvGrpSpPr>
                    <a:grpSpLocks/>
                  </p:cNvGrpSpPr>
                  <p:nvPr/>
                </p:nvGrpSpPr>
                <p:grpSpPr bwMode="auto">
                  <a:xfrm>
                    <a:off x="1740" y="1728"/>
                    <a:ext cx="175" cy="376"/>
                    <a:chOff x="1399" y="288"/>
                    <a:chExt cx="1031" cy="1692"/>
                  </a:xfrm>
                </p:grpSpPr>
                <p:sp>
                  <p:nvSpPr>
                    <p:cNvPr id="102457" name="Rectangle 1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76" y="288"/>
                      <a:ext cx="288" cy="52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58" name="Text Box 14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9" y="338"/>
                      <a:ext cx="1031" cy="16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BBE0E3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Times" charset="0"/>
                          <a:ea typeface="ＭＳ Ｐゴシック" charset="0"/>
                        </a:defRPr>
                      </a:lvl9pPr>
                    </a:lstStyle>
                    <a:p>
                      <a:endParaRPr lang="en-US" sz="2400">
                        <a:solidFill>
                          <a:srgbClr val="000000"/>
                        </a:solidFill>
                        <a:latin typeface="Times New Roman" charset="0"/>
                      </a:endParaRPr>
                    </a:p>
                  </p:txBody>
                </p:sp>
              </p:grpSp>
              <p:sp>
                <p:nvSpPr>
                  <p:cNvPr id="102436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1685"/>
                    <a:ext cx="67" cy="43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37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1749"/>
                    <a:ext cx="73" cy="6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38" name="Oval 145"/>
                  <p:cNvSpPr>
                    <a:spLocks noChangeArrowheads="1"/>
                  </p:cNvSpPr>
                  <p:nvPr/>
                </p:nvSpPr>
                <p:spPr bwMode="auto">
                  <a:xfrm>
                    <a:off x="1788" y="1653"/>
                    <a:ext cx="227" cy="267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39" name="Oval 146"/>
                  <p:cNvSpPr>
                    <a:spLocks noChangeArrowheads="1"/>
                  </p:cNvSpPr>
                  <p:nvPr/>
                </p:nvSpPr>
                <p:spPr bwMode="auto">
                  <a:xfrm>
                    <a:off x="1828" y="1835"/>
                    <a:ext cx="155" cy="74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40" name="Oval 147"/>
                  <p:cNvSpPr>
                    <a:spLocks noChangeArrowheads="1"/>
                  </p:cNvSpPr>
                  <p:nvPr/>
                </p:nvSpPr>
                <p:spPr bwMode="auto">
                  <a:xfrm>
                    <a:off x="2007" y="1664"/>
                    <a:ext cx="57" cy="75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BBE0E3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441" name="Oval 148"/>
                  <p:cNvSpPr>
                    <a:spLocks noChangeArrowheads="1"/>
                  </p:cNvSpPr>
                  <p:nvPr/>
                </p:nvSpPr>
                <p:spPr bwMode="auto">
                  <a:xfrm>
                    <a:off x="1625" y="1877"/>
                    <a:ext cx="65" cy="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02442" name="Group 149"/>
                  <p:cNvGrpSpPr>
                    <a:grpSpLocks/>
                  </p:cNvGrpSpPr>
                  <p:nvPr/>
                </p:nvGrpSpPr>
                <p:grpSpPr bwMode="auto">
                  <a:xfrm>
                    <a:off x="1868" y="1728"/>
                    <a:ext cx="58" cy="96"/>
                    <a:chOff x="3496" y="2256"/>
                    <a:chExt cx="296" cy="240"/>
                  </a:xfrm>
                </p:grpSpPr>
                <p:sp>
                  <p:nvSpPr>
                    <p:cNvPr id="102453" name="Oval 1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256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54" name="Oval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448"/>
                      <a:ext cx="288" cy="48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55" name="Line 1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4" y="2264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56" name="Line 1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96" y="2272"/>
                      <a:ext cx="8" cy="20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2443" name="Group 154"/>
                  <p:cNvGrpSpPr>
                    <a:grpSpLocks/>
                  </p:cNvGrpSpPr>
                  <p:nvPr/>
                </p:nvGrpSpPr>
                <p:grpSpPr bwMode="auto">
                  <a:xfrm>
                    <a:off x="1593" y="1707"/>
                    <a:ext cx="72" cy="128"/>
                    <a:chOff x="1872" y="1968"/>
                    <a:chExt cx="424" cy="576"/>
                  </a:xfrm>
                </p:grpSpPr>
                <p:grpSp>
                  <p:nvGrpSpPr>
                    <p:cNvPr id="102444" name="Group 1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68" y="1968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451" name="Rectangle 1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452" name="Oval 1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445" name="Group 15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0" y="2016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449" name="Rectangle 1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450" name="Oval 1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2446" name="Group 16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72" y="2064"/>
                      <a:ext cx="328" cy="480"/>
                      <a:chOff x="1776" y="2016"/>
                      <a:chExt cx="328" cy="480"/>
                    </a:xfrm>
                  </p:grpSpPr>
                  <p:sp>
                    <p:nvSpPr>
                      <p:cNvPr id="102447" name="Rectangle 1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016"/>
                        <a:ext cx="96" cy="48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02448" name="Oval 1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72" y="2016"/>
                        <a:ext cx="232" cy="47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336036" name="Line 164"/>
                <p:cNvSpPr>
                  <a:spLocks noChangeShapeType="1"/>
                </p:cNvSpPr>
                <p:nvPr/>
              </p:nvSpPr>
              <p:spPr bwMode="auto">
                <a:xfrm>
                  <a:off x="2368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336037" name="Line 165"/>
                <p:cNvSpPr>
                  <a:spLocks noChangeShapeType="1"/>
                </p:cNvSpPr>
                <p:nvPr/>
              </p:nvSpPr>
              <p:spPr bwMode="auto">
                <a:xfrm>
                  <a:off x="2890" y="1889"/>
                  <a:ext cx="0" cy="28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  <p:sp>
          <p:nvSpPr>
            <p:cNvPr id="336038" name="Line 166"/>
            <p:cNvSpPr>
              <a:spLocks noChangeShapeType="1"/>
            </p:cNvSpPr>
            <p:nvPr/>
          </p:nvSpPr>
          <p:spPr bwMode="auto">
            <a:xfrm>
              <a:off x="1408" y="900"/>
              <a:ext cx="0" cy="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102417" name="Group 167"/>
            <p:cNvGrpSpPr>
              <a:grpSpLocks/>
            </p:cNvGrpSpPr>
            <p:nvPr/>
          </p:nvGrpSpPr>
          <p:grpSpPr bwMode="auto">
            <a:xfrm>
              <a:off x="1216" y="720"/>
              <a:ext cx="320" cy="209"/>
              <a:chOff x="912" y="960"/>
              <a:chExt cx="240" cy="278"/>
            </a:xfrm>
          </p:grpSpPr>
          <p:sp>
            <p:nvSpPr>
              <p:cNvPr id="336040" name="Oval 168"/>
              <p:cNvSpPr>
                <a:spLocks noChangeArrowheads="1"/>
              </p:cNvSpPr>
              <p:nvPr/>
            </p:nvSpPr>
            <p:spPr bwMode="auto">
              <a:xfrm>
                <a:off x="912" y="960"/>
                <a:ext cx="240" cy="239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336041" name="Text Box 169"/>
              <p:cNvSpPr txBox="1">
                <a:spLocks noChangeArrowheads="1"/>
              </p:cNvSpPr>
              <p:nvPr/>
            </p:nvSpPr>
            <p:spPr bwMode="auto">
              <a:xfrm>
                <a:off x="960" y="1008"/>
                <a:ext cx="17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b="1">
                    <a:solidFill>
                      <a:srgbClr val="000000"/>
                    </a:solidFill>
                    <a:latin typeface="Times New Roman" charset="0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102418" name="Group 170"/>
            <p:cNvGrpSpPr>
              <a:grpSpLocks/>
            </p:cNvGrpSpPr>
            <p:nvPr/>
          </p:nvGrpSpPr>
          <p:grpSpPr bwMode="auto">
            <a:xfrm>
              <a:off x="4288" y="720"/>
              <a:ext cx="320" cy="294"/>
              <a:chOff x="3216" y="912"/>
              <a:chExt cx="240" cy="392"/>
            </a:xfrm>
          </p:grpSpPr>
          <p:sp>
            <p:nvSpPr>
              <p:cNvPr id="336043" name="Oval 171"/>
              <p:cNvSpPr>
                <a:spLocks noChangeArrowheads="1"/>
              </p:cNvSpPr>
              <p:nvPr/>
            </p:nvSpPr>
            <p:spPr bwMode="auto">
              <a:xfrm>
                <a:off x="3216" y="912"/>
                <a:ext cx="240" cy="24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336044" name="Text Box 172"/>
              <p:cNvSpPr txBox="1">
                <a:spLocks noChangeArrowheads="1"/>
              </p:cNvSpPr>
              <p:nvPr/>
            </p:nvSpPr>
            <p:spPr bwMode="auto">
              <a:xfrm>
                <a:off x="3293" y="1073"/>
                <a:ext cx="13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b="1">
                    <a:solidFill>
                      <a:srgbClr val="000000"/>
                    </a:solidFill>
                    <a:latin typeface="Times New Roman" charset="0"/>
                    <a:cs typeface="+mn-cs"/>
                  </a:rPr>
                  <a:t>B</a:t>
                </a:r>
                <a:endParaRPr lang="en-US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</p:grpSp>
      </p:grpSp>
      <p:sp>
        <p:nvSpPr>
          <p:cNvPr id="336045" name="Rectangle 173"/>
          <p:cNvSpPr>
            <a:spLocks noChangeArrowheads="1"/>
          </p:cNvSpPr>
          <p:nvPr/>
        </p:nvSpPr>
        <p:spPr bwMode="auto">
          <a:xfrm>
            <a:off x="6019800" y="1981200"/>
            <a:ext cx="304800" cy="7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rgbClr val="000000"/>
              </a:solidFill>
              <a:latin typeface="Times New Roman" charset="0"/>
              <a:cs typeface="+mn-cs"/>
            </a:endParaRPr>
          </a:p>
        </p:txBody>
      </p:sp>
      <p:sp>
        <p:nvSpPr>
          <p:cNvPr id="336046" name="Freeform 174"/>
          <p:cNvSpPr>
            <a:spLocks/>
          </p:cNvSpPr>
          <p:nvPr/>
        </p:nvSpPr>
        <p:spPr bwMode="auto">
          <a:xfrm>
            <a:off x="2476500" y="2286000"/>
            <a:ext cx="533400" cy="228600"/>
          </a:xfrm>
          <a:custGeom>
            <a:avLst/>
            <a:gdLst>
              <a:gd name="T0" fmla="*/ 0 w 480"/>
              <a:gd name="T1" fmla="*/ 152 h 152"/>
              <a:gd name="T2" fmla="*/ 48 w 480"/>
              <a:gd name="T3" fmla="*/ 104 h 152"/>
              <a:gd name="T4" fmla="*/ 96 w 480"/>
              <a:gd name="T5" fmla="*/ 56 h 152"/>
              <a:gd name="T6" fmla="*/ 192 w 480"/>
              <a:gd name="T7" fmla="*/ 8 h 152"/>
              <a:gd name="T8" fmla="*/ 288 w 480"/>
              <a:gd name="T9" fmla="*/ 8 h 152"/>
              <a:gd name="T10" fmla="*/ 384 w 480"/>
              <a:gd name="T11" fmla="*/ 56 h 152"/>
              <a:gd name="T12" fmla="*/ 480 w 480"/>
              <a:gd name="T1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52">
                <a:moveTo>
                  <a:pt x="0" y="152"/>
                </a:moveTo>
                <a:cubicBezTo>
                  <a:pt x="16" y="136"/>
                  <a:pt x="32" y="120"/>
                  <a:pt x="48" y="104"/>
                </a:cubicBezTo>
                <a:cubicBezTo>
                  <a:pt x="64" y="88"/>
                  <a:pt x="72" y="72"/>
                  <a:pt x="96" y="56"/>
                </a:cubicBezTo>
                <a:cubicBezTo>
                  <a:pt x="120" y="40"/>
                  <a:pt x="160" y="16"/>
                  <a:pt x="192" y="8"/>
                </a:cubicBezTo>
                <a:cubicBezTo>
                  <a:pt x="224" y="0"/>
                  <a:pt x="256" y="0"/>
                  <a:pt x="288" y="8"/>
                </a:cubicBezTo>
                <a:cubicBezTo>
                  <a:pt x="320" y="16"/>
                  <a:pt x="352" y="32"/>
                  <a:pt x="384" y="56"/>
                </a:cubicBezTo>
                <a:cubicBezTo>
                  <a:pt x="416" y="80"/>
                  <a:pt x="464" y="136"/>
                  <a:pt x="480" y="152"/>
                </a:cubicBezTo>
              </a:path>
            </a:pathLst>
          </a:custGeom>
          <a:noFill/>
          <a:ln w="12700" cmpd="sng">
            <a:solidFill>
              <a:srgbClr val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36047" name="Freeform 175"/>
          <p:cNvSpPr>
            <a:spLocks/>
          </p:cNvSpPr>
          <p:nvPr/>
        </p:nvSpPr>
        <p:spPr bwMode="auto">
          <a:xfrm>
            <a:off x="3771900" y="2286000"/>
            <a:ext cx="533400" cy="228600"/>
          </a:xfrm>
          <a:custGeom>
            <a:avLst/>
            <a:gdLst>
              <a:gd name="T0" fmla="*/ 0 w 480"/>
              <a:gd name="T1" fmla="*/ 152 h 152"/>
              <a:gd name="T2" fmla="*/ 48 w 480"/>
              <a:gd name="T3" fmla="*/ 104 h 152"/>
              <a:gd name="T4" fmla="*/ 96 w 480"/>
              <a:gd name="T5" fmla="*/ 56 h 152"/>
              <a:gd name="T6" fmla="*/ 192 w 480"/>
              <a:gd name="T7" fmla="*/ 8 h 152"/>
              <a:gd name="T8" fmla="*/ 288 w 480"/>
              <a:gd name="T9" fmla="*/ 8 h 152"/>
              <a:gd name="T10" fmla="*/ 384 w 480"/>
              <a:gd name="T11" fmla="*/ 56 h 152"/>
              <a:gd name="T12" fmla="*/ 480 w 480"/>
              <a:gd name="T1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52">
                <a:moveTo>
                  <a:pt x="0" y="152"/>
                </a:moveTo>
                <a:cubicBezTo>
                  <a:pt x="16" y="136"/>
                  <a:pt x="32" y="120"/>
                  <a:pt x="48" y="104"/>
                </a:cubicBezTo>
                <a:cubicBezTo>
                  <a:pt x="64" y="88"/>
                  <a:pt x="72" y="72"/>
                  <a:pt x="96" y="56"/>
                </a:cubicBezTo>
                <a:cubicBezTo>
                  <a:pt x="120" y="40"/>
                  <a:pt x="160" y="16"/>
                  <a:pt x="192" y="8"/>
                </a:cubicBezTo>
                <a:cubicBezTo>
                  <a:pt x="224" y="0"/>
                  <a:pt x="256" y="0"/>
                  <a:pt x="288" y="8"/>
                </a:cubicBezTo>
                <a:cubicBezTo>
                  <a:pt x="320" y="16"/>
                  <a:pt x="352" y="32"/>
                  <a:pt x="384" y="56"/>
                </a:cubicBezTo>
                <a:cubicBezTo>
                  <a:pt x="416" y="80"/>
                  <a:pt x="464" y="136"/>
                  <a:pt x="480" y="152"/>
                </a:cubicBezTo>
              </a:path>
            </a:pathLst>
          </a:custGeom>
          <a:noFill/>
          <a:ln w="12700" cmpd="sng">
            <a:solidFill>
              <a:srgbClr val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36048" name="Freeform 176"/>
          <p:cNvSpPr>
            <a:spLocks/>
          </p:cNvSpPr>
          <p:nvPr/>
        </p:nvSpPr>
        <p:spPr bwMode="auto">
          <a:xfrm>
            <a:off x="4991100" y="2057400"/>
            <a:ext cx="1676400" cy="304800"/>
          </a:xfrm>
          <a:custGeom>
            <a:avLst/>
            <a:gdLst>
              <a:gd name="T0" fmla="*/ 0 w 480"/>
              <a:gd name="T1" fmla="*/ 152 h 152"/>
              <a:gd name="T2" fmla="*/ 48 w 480"/>
              <a:gd name="T3" fmla="*/ 104 h 152"/>
              <a:gd name="T4" fmla="*/ 96 w 480"/>
              <a:gd name="T5" fmla="*/ 56 h 152"/>
              <a:gd name="T6" fmla="*/ 192 w 480"/>
              <a:gd name="T7" fmla="*/ 8 h 152"/>
              <a:gd name="T8" fmla="*/ 288 w 480"/>
              <a:gd name="T9" fmla="*/ 8 h 152"/>
              <a:gd name="T10" fmla="*/ 384 w 480"/>
              <a:gd name="T11" fmla="*/ 56 h 152"/>
              <a:gd name="T12" fmla="*/ 480 w 480"/>
              <a:gd name="T1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52">
                <a:moveTo>
                  <a:pt x="0" y="152"/>
                </a:moveTo>
                <a:cubicBezTo>
                  <a:pt x="16" y="136"/>
                  <a:pt x="32" y="120"/>
                  <a:pt x="48" y="104"/>
                </a:cubicBezTo>
                <a:cubicBezTo>
                  <a:pt x="64" y="88"/>
                  <a:pt x="72" y="72"/>
                  <a:pt x="96" y="56"/>
                </a:cubicBezTo>
                <a:cubicBezTo>
                  <a:pt x="120" y="40"/>
                  <a:pt x="160" y="16"/>
                  <a:pt x="192" y="8"/>
                </a:cubicBezTo>
                <a:cubicBezTo>
                  <a:pt x="224" y="0"/>
                  <a:pt x="256" y="0"/>
                  <a:pt x="288" y="8"/>
                </a:cubicBezTo>
                <a:cubicBezTo>
                  <a:pt x="320" y="16"/>
                  <a:pt x="352" y="32"/>
                  <a:pt x="384" y="56"/>
                </a:cubicBezTo>
                <a:cubicBezTo>
                  <a:pt x="416" y="80"/>
                  <a:pt x="464" y="136"/>
                  <a:pt x="480" y="152"/>
                </a:cubicBezTo>
              </a:path>
            </a:pathLst>
          </a:custGeom>
          <a:noFill/>
          <a:ln w="12700" cmpd="sng">
            <a:solidFill>
              <a:srgbClr val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36049" name="Freeform 177"/>
          <p:cNvSpPr>
            <a:spLocks/>
          </p:cNvSpPr>
          <p:nvPr/>
        </p:nvSpPr>
        <p:spPr bwMode="auto">
          <a:xfrm flipH="1" flipV="1">
            <a:off x="2247900" y="2667000"/>
            <a:ext cx="4495800" cy="457200"/>
          </a:xfrm>
          <a:custGeom>
            <a:avLst/>
            <a:gdLst>
              <a:gd name="T0" fmla="*/ 0 w 480"/>
              <a:gd name="T1" fmla="*/ 152 h 152"/>
              <a:gd name="T2" fmla="*/ 48 w 480"/>
              <a:gd name="T3" fmla="*/ 104 h 152"/>
              <a:gd name="T4" fmla="*/ 96 w 480"/>
              <a:gd name="T5" fmla="*/ 56 h 152"/>
              <a:gd name="T6" fmla="*/ 192 w 480"/>
              <a:gd name="T7" fmla="*/ 8 h 152"/>
              <a:gd name="T8" fmla="*/ 288 w 480"/>
              <a:gd name="T9" fmla="*/ 8 h 152"/>
              <a:gd name="T10" fmla="*/ 384 w 480"/>
              <a:gd name="T11" fmla="*/ 56 h 152"/>
              <a:gd name="T12" fmla="*/ 480 w 480"/>
              <a:gd name="T1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52">
                <a:moveTo>
                  <a:pt x="0" y="152"/>
                </a:moveTo>
                <a:cubicBezTo>
                  <a:pt x="16" y="136"/>
                  <a:pt x="32" y="120"/>
                  <a:pt x="48" y="104"/>
                </a:cubicBezTo>
                <a:cubicBezTo>
                  <a:pt x="64" y="88"/>
                  <a:pt x="72" y="72"/>
                  <a:pt x="96" y="56"/>
                </a:cubicBezTo>
                <a:cubicBezTo>
                  <a:pt x="120" y="40"/>
                  <a:pt x="160" y="16"/>
                  <a:pt x="192" y="8"/>
                </a:cubicBezTo>
                <a:cubicBezTo>
                  <a:pt x="224" y="0"/>
                  <a:pt x="256" y="0"/>
                  <a:pt x="288" y="8"/>
                </a:cubicBezTo>
                <a:cubicBezTo>
                  <a:pt x="320" y="16"/>
                  <a:pt x="352" y="32"/>
                  <a:pt x="384" y="56"/>
                </a:cubicBezTo>
                <a:cubicBezTo>
                  <a:pt x="416" y="80"/>
                  <a:pt x="464" y="136"/>
                  <a:pt x="480" y="152"/>
                </a:cubicBezTo>
              </a:path>
            </a:pathLst>
          </a:custGeom>
          <a:noFill/>
          <a:ln w="12700" cmpd="sng">
            <a:solidFill>
              <a:srgbClr val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36050" name="Text Box 178"/>
          <p:cNvSpPr txBox="1">
            <a:spLocks noChangeArrowheads="1"/>
          </p:cNvSpPr>
          <p:nvPr/>
        </p:nvSpPr>
        <p:spPr bwMode="auto">
          <a:xfrm>
            <a:off x="5207000" y="1752600"/>
            <a:ext cx="12414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>
                <a:solidFill>
                  <a:srgbClr val="000000"/>
                </a:solidFill>
                <a:latin typeface="Times New Roman" charset="0"/>
                <a:cs typeface="+mn-cs"/>
              </a:rPr>
              <a:t>Create Flow  Response</a:t>
            </a:r>
          </a:p>
        </p:txBody>
      </p:sp>
      <p:sp>
        <p:nvSpPr>
          <p:cNvPr id="336051" name="Text Box 179"/>
          <p:cNvSpPr txBox="1">
            <a:spLocks noChangeArrowheads="1"/>
          </p:cNvSpPr>
          <p:nvPr/>
        </p:nvSpPr>
        <p:spPr bwMode="auto">
          <a:xfrm>
            <a:off x="1181100" y="3352800"/>
            <a:ext cx="678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sz="1400" b="1"/>
          </a:p>
        </p:txBody>
      </p:sp>
      <p:grpSp>
        <p:nvGrpSpPr>
          <p:cNvPr id="336052" name="Group 180"/>
          <p:cNvGrpSpPr>
            <a:grpSpLocks/>
          </p:cNvGrpSpPr>
          <p:nvPr/>
        </p:nvGrpSpPr>
        <p:grpSpPr bwMode="auto">
          <a:xfrm>
            <a:off x="2438400" y="1879600"/>
            <a:ext cx="2057400" cy="482600"/>
            <a:chOff x="1536" y="1184"/>
            <a:chExt cx="1296" cy="304"/>
          </a:xfrm>
        </p:grpSpPr>
        <p:sp>
          <p:nvSpPr>
            <p:cNvPr id="102413" name="Freeform 181"/>
            <p:cNvSpPr>
              <a:spLocks/>
            </p:cNvSpPr>
            <p:nvPr/>
          </p:nvSpPr>
          <p:spPr bwMode="auto">
            <a:xfrm>
              <a:off x="1584" y="1184"/>
              <a:ext cx="1248" cy="304"/>
            </a:xfrm>
            <a:custGeom>
              <a:avLst/>
              <a:gdLst>
                <a:gd name="T0" fmla="*/ 1248 w 1248"/>
                <a:gd name="T1" fmla="*/ 304 h 304"/>
                <a:gd name="T2" fmla="*/ 1008 w 1248"/>
                <a:gd name="T3" fmla="*/ 64 h 304"/>
                <a:gd name="T4" fmla="*/ 720 w 1248"/>
                <a:gd name="T5" fmla="*/ 16 h 304"/>
                <a:gd name="T6" fmla="*/ 384 w 1248"/>
                <a:gd name="T7" fmla="*/ 16 h 304"/>
                <a:gd name="T8" fmla="*/ 96 w 1248"/>
                <a:gd name="T9" fmla="*/ 112 h 304"/>
                <a:gd name="T10" fmla="*/ 0 w 1248"/>
                <a:gd name="T11" fmla="*/ 208 h 3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8" h="304">
                  <a:moveTo>
                    <a:pt x="1248" y="304"/>
                  </a:moveTo>
                  <a:cubicBezTo>
                    <a:pt x="1172" y="208"/>
                    <a:pt x="1096" y="112"/>
                    <a:pt x="1008" y="64"/>
                  </a:cubicBezTo>
                  <a:cubicBezTo>
                    <a:pt x="920" y="16"/>
                    <a:pt x="824" y="24"/>
                    <a:pt x="720" y="16"/>
                  </a:cubicBezTo>
                  <a:cubicBezTo>
                    <a:pt x="616" y="8"/>
                    <a:pt x="488" y="0"/>
                    <a:pt x="384" y="16"/>
                  </a:cubicBezTo>
                  <a:cubicBezTo>
                    <a:pt x="280" y="32"/>
                    <a:pt x="160" y="80"/>
                    <a:pt x="96" y="112"/>
                  </a:cubicBezTo>
                  <a:cubicBezTo>
                    <a:pt x="32" y="144"/>
                    <a:pt x="16" y="192"/>
                    <a:pt x="0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4" name="Line 182"/>
            <p:cNvSpPr>
              <a:spLocks noChangeShapeType="1"/>
            </p:cNvSpPr>
            <p:nvPr/>
          </p:nvSpPr>
          <p:spPr bwMode="auto">
            <a:xfrm flipH="1">
              <a:off x="1536" y="1392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6055" name="Freeform 183"/>
          <p:cNvSpPr>
            <a:spLocks/>
          </p:cNvSpPr>
          <p:nvPr/>
        </p:nvSpPr>
        <p:spPr bwMode="auto">
          <a:xfrm flipH="1" flipV="1">
            <a:off x="2438400" y="2667000"/>
            <a:ext cx="2133600" cy="457200"/>
          </a:xfrm>
          <a:custGeom>
            <a:avLst/>
            <a:gdLst>
              <a:gd name="T0" fmla="*/ 0 w 480"/>
              <a:gd name="T1" fmla="*/ 152 h 152"/>
              <a:gd name="T2" fmla="*/ 48 w 480"/>
              <a:gd name="T3" fmla="*/ 104 h 152"/>
              <a:gd name="T4" fmla="*/ 96 w 480"/>
              <a:gd name="T5" fmla="*/ 56 h 152"/>
              <a:gd name="T6" fmla="*/ 192 w 480"/>
              <a:gd name="T7" fmla="*/ 8 h 152"/>
              <a:gd name="T8" fmla="*/ 288 w 480"/>
              <a:gd name="T9" fmla="*/ 8 h 152"/>
              <a:gd name="T10" fmla="*/ 384 w 480"/>
              <a:gd name="T11" fmla="*/ 56 h 152"/>
              <a:gd name="T12" fmla="*/ 480 w 480"/>
              <a:gd name="T1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52">
                <a:moveTo>
                  <a:pt x="0" y="152"/>
                </a:moveTo>
                <a:cubicBezTo>
                  <a:pt x="16" y="136"/>
                  <a:pt x="32" y="120"/>
                  <a:pt x="48" y="104"/>
                </a:cubicBezTo>
                <a:cubicBezTo>
                  <a:pt x="64" y="88"/>
                  <a:pt x="72" y="72"/>
                  <a:pt x="96" y="56"/>
                </a:cubicBezTo>
                <a:cubicBezTo>
                  <a:pt x="120" y="40"/>
                  <a:pt x="160" y="16"/>
                  <a:pt x="192" y="8"/>
                </a:cubicBezTo>
                <a:cubicBezTo>
                  <a:pt x="224" y="0"/>
                  <a:pt x="256" y="0"/>
                  <a:pt x="288" y="8"/>
                </a:cubicBezTo>
                <a:cubicBezTo>
                  <a:pt x="320" y="16"/>
                  <a:pt x="352" y="32"/>
                  <a:pt x="384" y="56"/>
                </a:cubicBezTo>
                <a:cubicBezTo>
                  <a:pt x="416" y="80"/>
                  <a:pt x="464" y="136"/>
                  <a:pt x="480" y="152"/>
                </a:cubicBezTo>
              </a:path>
            </a:pathLst>
          </a:custGeom>
          <a:noFill/>
          <a:ln w="127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Flow Allocator</a:t>
            </a:r>
            <a:br>
              <a:rPr lang="en-US">
                <a:cs typeface="+mj-cs"/>
              </a:rPr>
            </a:br>
            <a:r>
              <a:rPr lang="en-US" sz="2000">
                <a:cs typeface="+mj-cs"/>
              </a:rPr>
              <a:t>(formerly IAP)</a:t>
            </a:r>
            <a:endParaRPr lang="en-US">
              <a:cs typeface="+mj-cs"/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lvl="2">
              <a:defRPr/>
            </a:pPr>
            <a:r>
              <a:rPr lang="en-US" dirty="0"/>
              <a:t>Remember There is One Application Protocol?</a:t>
            </a:r>
          </a:p>
          <a:p>
            <a:pPr lvl="2">
              <a:defRPr/>
            </a:pPr>
            <a:r>
              <a:rPr lang="en-US" dirty="0"/>
              <a:t>With 6 Operations, so now we use it.</a:t>
            </a:r>
          </a:p>
          <a:p>
            <a:pPr>
              <a:defRPr/>
            </a:pPr>
            <a:r>
              <a:rPr lang="en-US" dirty="0" err="1">
                <a:cs typeface="+mn-cs"/>
              </a:rPr>
              <a:t>Create_Request</a:t>
            </a:r>
            <a:r>
              <a:rPr lang="en-US" dirty="0">
                <a:cs typeface="+mn-cs"/>
              </a:rPr>
              <a:t> (flow object, destination-application-name, source-application-name, source-CEP-id, </a:t>
            </a:r>
            <a:r>
              <a:rPr lang="en-US" dirty="0" err="1">
                <a:cs typeface="+mn-cs"/>
              </a:rPr>
              <a:t>QoS</a:t>
            </a:r>
            <a:r>
              <a:rPr lang="en-US" dirty="0">
                <a:cs typeface="+mn-cs"/>
              </a:rPr>
              <a:t> parameters, </a:t>
            </a:r>
            <a:r>
              <a:rPr lang="en-US" dirty="0" err="1">
                <a:cs typeface="+mn-cs"/>
              </a:rPr>
              <a:t>QoS</a:t>
            </a:r>
            <a:r>
              <a:rPr lang="en-US" dirty="0">
                <a:cs typeface="+mn-cs"/>
              </a:rPr>
              <a:t>-cube-id, access control)</a:t>
            </a:r>
          </a:p>
          <a:p>
            <a:pPr lvl="1">
              <a:defRPr/>
            </a:pPr>
            <a:r>
              <a:rPr lang="en-US" dirty="0"/>
              <a:t>Send to the other guy and instantiate Data Transfer</a:t>
            </a:r>
          </a:p>
          <a:p>
            <a:pPr>
              <a:defRPr/>
            </a:pPr>
            <a:r>
              <a:rPr lang="en-US" dirty="0" err="1">
                <a:cs typeface="+mn-cs"/>
              </a:rPr>
              <a:t>Create_Response</a:t>
            </a:r>
            <a:r>
              <a:rPr lang="en-US" dirty="0">
                <a:cs typeface="+mn-cs"/>
              </a:rPr>
              <a:t> (flow object, destination-application-name, source-application-name, source-CEP-id, destination-CEP-id, </a:t>
            </a:r>
            <a:r>
              <a:rPr lang="en-US" dirty="0" err="1">
                <a:cs typeface="+mn-cs"/>
              </a:rPr>
              <a:t>QoS</a:t>
            </a:r>
            <a:r>
              <a:rPr lang="en-US" dirty="0">
                <a:cs typeface="+mn-cs"/>
              </a:rPr>
              <a:t> parameters, </a:t>
            </a:r>
            <a:r>
              <a:rPr lang="en-US" dirty="0" err="1"/>
              <a:t>QoS</a:t>
            </a:r>
            <a:r>
              <a:rPr lang="en-US" dirty="0"/>
              <a:t>-cube-id</a:t>
            </a:r>
            <a:r>
              <a:rPr lang="en-US" dirty="0">
                <a:cs typeface="+mn-cs"/>
              </a:rPr>
              <a:t>, access control, status)</a:t>
            </a:r>
          </a:p>
          <a:p>
            <a:pPr lvl="1">
              <a:defRPr/>
            </a:pPr>
            <a:r>
              <a:rPr lang="en-US" dirty="0"/>
              <a:t>Returned by the other guy.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This is a degenerate case.  There is a subtlety here.</a:t>
            </a:r>
          </a:p>
          <a:p>
            <a:pPr lvl="1">
              <a:defRPr/>
            </a:pPr>
            <a:r>
              <a:rPr lang="en-US" dirty="0"/>
              <a:t>The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search rules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do not indicate where the destination is, but where is the next place to look for the destination.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Flow Allocator</a:t>
            </a:r>
            <a:br>
              <a:rPr lang="en-US">
                <a:cs typeface="+mj-cs"/>
              </a:rPr>
            </a:br>
            <a:r>
              <a:rPr lang="en-US" sz="2400">
                <a:cs typeface="+mj-cs"/>
              </a:rPr>
              <a:t>(What Does It Do?)</a:t>
            </a:r>
            <a:endParaRPr lang="en-US">
              <a:cs typeface="+mj-cs"/>
            </a:endParaRP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The Flow Allocator has two inputs:</a:t>
            </a:r>
          </a:p>
          <a:p>
            <a:pPr lvl="1">
              <a:defRPr/>
            </a:pPr>
            <a:r>
              <a:rPr lang="en-US"/>
              <a:t>Allocate requests from the user of the DIF</a:t>
            </a:r>
          </a:p>
          <a:p>
            <a:pPr lvl="1">
              <a:defRPr/>
            </a:pPr>
            <a:r>
              <a:rPr lang="en-US"/>
              <a:t>Create flow requests from from another IPC Process.</a:t>
            </a:r>
          </a:p>
          <a:p>
            <a:pPr>
              <a:defRPr/>
            </a:pPr>
            <a:r>
              <a:rPr lang="en-US">
                <a:cs typeface="+mn-cs"/>
              </a:rPr>
              <a:t>What does it do?</a:t>
            </a:r>
          </a:p>
          <a:p>
            <a:pPr lvl="1">
              <a:defRPr/>
            </a:pPr>
            <a:r>
              <a:rPr lang="en-US"/>
              <a:t>Translate the Allocate request into a create flow request.</a:t>
            </a:r>
          </a:p>
          <a:p>
            <a:pPr lvl="1">
              <a:defRPr/>
            </a:pPr>
            <a:r>
              <a:rPr lang="en-US"/>
              <a:t>After that it is the same:</a:t>
            </a:r>
          </a:p>
        </p:txBody>
      </p:sp>
      <p:grpSp>
        <p:nvGrpSpPr>
          <p:cNvPr id="106499" name="Group 4"/>
          <p:cNvGrpSpPr>
            <a:grpSpLocks/>
          </p:cNvGrpSpPr>
          <p:nvPr/>
        </p:nvGrpSpPr>
        <p:grpSpPr bwMode="auto">
          <a:xfrm>
            <a:off x="2971800" y="3962400"/>
            <a:ext cx="3200400" cy="1981200"/>
            <a:chOff x="1776" y="2688"/>
            <a:chExt cx="2016" cy="1248"/>
          </a:xfrm>
        </p:grpSpPr>
        <p:grpSp>
          <p:nvGrpSpPr>
            <p:cNvPr id="106500" name="Group 5"/>
            <p:cNvGrpSpPr>
              <a:grpSpLocks/>
            </p:cNvGrpSpPr>
            <p:nvPr/>
          </p:nvGrpSpPr>
          <p:grpSpPr bwMode="auto">
            <a:xfrm>
              <a:off x="1776" y="2688"/>
              <a:ext cx="2016" cy="1248"/>
              <a:chOff x="1776" y="2688"/>
              <a:chExt cx="2016" cy="1248"/>
            </a:xfrm>
          </p:grpSpPr>
          <p:sp>
            <p:nvSpPr>
              <p:cNvPr id="289798" name="Rectangle 6"/>
              <p:cNvSpPr>
                <a:spLocks noChangeArrowheads="1"/>
              </p:cNvSpPr>
              <p:nvPr/>
            </p:nvSpPr>
            <p:spPr bwMode="auto">
              <a:xfrm>
                <a:off x="1776" y="2688"/>
                <a:ext cx="2016" cy="124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1200">
                  <a:cs typeface="+mn-cs"/>
                </a:endParaRPr>
              </a:p>
            </p:txBody>
          </p:sp>
          <p:sp>
            <p:nvSpPr>
              <p:cNvPr id="289799" name="Line 7"/>
              <p:cNvSpPr>
                <a:spLocks noChangeShapeType="1"/>
              </p:cNvSpPr>
              <p:nvPr/>
            </p:nvSpPr>
            <p:spPr bwMode="auto">
              <a:xfrm>
                <a:off x="1776" y="3120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+mn-cs"/>
                </a:endParaRPr>
              </a:p>
            </p:txBody>
          </p:sp>
          <p:sp>
            <p:nvSpPr>
              <p:cNvPr id="289800" name="Line 8"/>
              <p:cNvSpPr>
                <a:spLocks noChangeShapeType="1"/>
              </p:cNvSpPr>
              <p:nvPr/>
            </p:nvSpPr>
            <p:spPr bwMode="auto">
              <a:xfrm>
                <a:off x="1776" y="2688"/>
                <a:ext cx="110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+mn-cs"/>
                </a:endParaRPr>
              </a:p>
            </p:txBody>
          </p:sp>
          <p:sp>
            <p:nvSpPr>
              <p:cNvPr id="289801" name="Line 9"/>
              <p:cNvSpPr>
                <a:spLocks noChangeShapeType="1"/>
              </p:cNvSpPr>
              <p:nvPr/>
            </p:nvSpPr>
            <p:spPr bwMode="auto">
              <a:xfrm flipH="1">
                <a:off x="2880" y="2688"/>
                <a:ext cx="912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+mn-cs"/>
                </a:endParaRPr>
              </a:p>
            </p:txBody>
          </p:sp>
          <p:sp>
            <p:nvSpPr>
              <p:cNvPr id="289802" name="Line 10"/>
              <p:cNvSpPr>
                <a:spLocks noChangeShapeType="1"/>
              </p:cNvSpPr>
              <p:nvPr/>
            </p:nvSpPr>
            <p:spPr bwMode="auto">
              <a:xfrm>
                <a:off x="2880" y="3120"/>
                <a:ext cx="0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200">
                  <a:cs typeface="+mn-cs"/>
                </a:endParaRPr>
              </a:p>
            </p:txBody>
          </p:sp>
        </p:grpSp>
        <p:sp>
          <p:nvSpPr>
            <p:cNvPr id="289803" name="Text Box 11"/>
            <p:cNvSpPr txBox="1">
              <a:spLocks noChangeArrowheads="1"/>
            </p:cNvSpPr>
            <p:nvPr/>
          </p:nvSpPr>
          <p:spPr bwMode="auto">
            <a:xfrm>
              <a:off x="2452" y="2688"/>
              <a:ext cx="691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>
                  <a:cs typeface="+mn-cs"/>
                </a:rPr>
                <a:t>Is Destination-</a:t>
              </a:r>
            </a:p>
            <a:p>
              <a:pPr algn="ctr">
                <a:defRPr/>
              </a:pPr>
              <a:r>
                <a:rPr lang="en-US" sz="1200">
                  <a:cs typeface="+mn-cs"/>
                </a:rPr>
                <a:t>Application</a:t>
              </a:r>
            </a:p>
            <a:p>
              <a:pPr algn="ctr">
                <a:defRPr/>
              </a:pPr>
              <a:r>
                <a:rPr lang="en-US" sz="1200">
                  <a:cs typeface="+mn-cs"/>
                </a:rPr>
                <a:t>here?</a:t>
              </a:r>
            </a:p>
          </p:txBody>
        </p:sp>
        <p:sp>
          <p:nvSpPr>
            <p:cNvPr id="289804" name="Text Box 12"/>
            <p:cNvSpPr txBox="1">
              <a:spLocks noChangeArrowheads="1"/>
            </p:cNvSpPr>
            <p:nvPr/>
          </p:nvSpPr>
          <p:spPr bwMode="auto">
            <a:xfrm>
              <a:off x="1958" y="2909"/>
              <a:ext cx="29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cs typeface="+mn-cs"/>
                </a:rPr>
                <a:t>YES</a:t>
              </a:r>
            </a:p>
          </p:txBody>
        </p:sp>
        <p:sp>
          <p:nvSpPr>
            <p:cNvPr id="289805" name="Text Box 13"/>
            <p:cNvSpPr txBox="1">
              <a:spLocks noChangeArrowheads="1"/>
            </p:cNvSpPr>
            <p:nvPr/>
          </p:nvSpPr>
          <p:spPr bwMode="auto">
            <a:xfrm>
              <a:off x="3494" y="2861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cs typeface="+mn-cs"/>
                </a:rPr>
                <a:t>NO</a:t>
              </a:r>
            </a:p>
          </p:txBody>
        </p:sp>
        <p:sp>
          <p:nvSpPr>
            <p:cNvPr id="289806" name="Text Box 14"/>
            <p:cNvSpPr txBox="1">
              <a:spLocks noChangeArrowheads="1"/>
            </p:cNvSpPr>
            <p:nvPr/>
          </p:nvSpPr>
          <p:spPr bwMode="auto">
            <a:xfrm>
              <a:off x="1895" y="3264"/>
              <a:ext cx="99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cs typeface="+mn-cs"/>
                </a:rPr>
                <a:t>Determine if requestor</a:t>
              </a:r>
            </a:p>
            <a:p>
              <a:pPr>
                <a:defRPr/>
              </a:pPr>
              <a:r>
                <a:rPr lang="en-US" sz="1200">
                  <a:cs typeface="+mn-cs"/>
                </a:rPr>
                <a:t>has access, and will</a:t>
              </a:r>
            </a:p>
            <a:p>
              <a:pPr>
                <a:defRPr/>
              </a:pPr>
              <a:r>
                <a:rPr lang="en-US" sz="1200">
                  <a:cs typeface="+mn-cs"/>
                </a:rPr>
                <a:t>accept  flow, send a</a:t>
              </a:r>
            </a:p>
            <a:p>
              <a:pPr>
                <a:defRPr/>
              </a:pPr>
              <a:r>
                <a:rPr lang="en-US" sz="1200">
                  <a:cs typeface="+mn-cs"/>
                </a:rPr>
                <a:t>Create Flow Response</a:t>
              </a:r>
            </a:p>
          </p:txBody>
        </p:sp>
        <p:sp>
          <p:nvSpPr>
            <p:cNvPr id="289807" name="Text Box 15"/>
            <p:cNvSpPr txBox="1">
              <a:spLocks noChangeArrowheads="1"/>
            </p:cNvSpPr>
            <p:nvPr/>
          </p:nvSpPr>
          <p:spPr bwMode="auto">
            <a:xfrm>
              <a:off x="2880" y="3264"/>
              <a:ext cx="79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>
                  <a:cs typeface="+mn-cs"/>
                </a:rPr>
                <a:t>Consult </a:t>
              </a:r>
              <a:r>
                <a:rPr lang="ja-JP" altLang="en-US" sz="1200">
                  <a:latin typeface="Arial"/>
                  <a:cs typeface="+mn-cs"/>
                </a:rPr>
                <a:t>“</a:t>
              </a:r>
              <a:r>
                <a:rPr lang="en-US" sz="1200">
                  <a:cs typeface="+mn-cs"/>
                </a:rPr>
                <a:t>search</a:t>
              </a:r>
            </a:p>
            <a:p>
              <a:pPr>
                <a:defRPr/>
              </a:pPr>
              <a:r>
                <a:rPr lang="en-US" sz="1200">
                  <a:cs typeface="+mn-cs"/>
                </a:rPr>
                <a:t>Rules,</a:t>
              </a:r>
              <a:r>
                <a:rPr lang="ja-JP" altLang="en-US" sz="1200">
                  <a:latin typeface="Arial"/>
                  <a:cs typeface="+mn-cs"/>
                </a:rPr>
                <a:t>”</a:t>
              </a:r>
              <a:r>
                <a:rPr lang="en-US" sz="1200">
                  <a:cs typeface="+mn-cs"/>
                </a:rPr>
                <a:t>* forward</a:t>
              </a:r>
            </a:p>
            <a:p>
              <a:pPr>
                <a:defRPr/>
              </a:pPr>
              <a:r>
                <a:rPr lang="en-US" sz="1200">
                  <a:cs typeface="+mn-cs"/>
                </a:rPr>
                <a:t>the Create Flow</a:t>
              </a:r>
            </a:p>
            <a:p>
              <a:pPr>
                <a:defRPr/>
              </a:pPr>
              <a:r>
                <a:rPr lang="en-US" sz="1200">
                  <a:cs typeface="+mn-cs"/>
                </a:rPr>
                <a:t>Request to there.</a:t>
              </a:r>
            </a:p>
          </p:txBody>
        </p:sp>
      </p:grp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Notice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305800" cy="44196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Addresses are the names of IPC Processes, just as application-names are of applications.</a:t>
            </a:r>
          </a:p>
          <a:p>
            <a:pPr lvl="1">
              <a:defRPr/>
            </a:pPr>
            <a:r>
              <a:rPr lang="en-US" sz="1600" dirty="0"/>
              <a:t>The IPC Processes of a DIF have external application-names that are global in scope.</a:t>
            </a:r>
          </a:p>
          <a:p>
            <a:pPr lvl="1">
              <a:defRPr/>
            </a:pPr>
            <a:r>
              <a:rPr lang="en-US" sz="1600" dirty="0"/>
              <a:t>Addresses are identifiers </a:t>
            </a:r>
            <a:r>
              <a:rPr lang="en-US" sz="1600" i="1" dirty="0"/>
              <a:t>internal</a:t>
            </a:r>
            <a:r>
              <a:rPr lang="en-US" sz="1600" dirty="0"/>
              <a:t> to the distributed IPC-Facility.</a:t>
            </a:r>
          </a:p>
          <a:p>
            <a:pPr lvl="1">
              <a:defRPr/>
            </a:pPr>
            <a:r>
              <a:rPr lang="en-US" sz="1600" dirty="0"/>
              <a:t>Addresses are </a:t>
            </a:r>
            <a:r>
              <a:rPr lang="en-US" sz="1600" i="1" dirty="0"/>
              <a:t>synonyms</a:t>
            </a:r>
            <a:r>
              <a:rPr lang="en-US" sz="1600" dirty="0"/>
              <a:t> of limited scope and may be structured to facilitate their use within the Layer</a:t>
            </a:r>
            <a:r>
              <a:rPr lang="en-US" sz="1400" dirty="0"/>
              <a:t>.</a:t>
            </a:r>
            <a:endParaRPr lang="en-US" sz="1600" dirty="0"/>
          </a:p>
          <a:p>
            <a:pPr>
              <a:defRPr/>
            </a:pPr>
            <a:r>
              <a:rPr lang="en-US" dirty="0">
                <a:cs typeface="+mn-cs"/>
              </a:rPr>
              <a:t>Application-names and port-ids are the only externally visible identifiers.</a:t>
            </a:r>
          </a:p>
          <a:p>
            <a:pPr lvl="1">
              <a:defRPr/>
            </a:pPr>
            <a:r>
              <a:rPr lang="en-US" sz="1600" dirty="0"/>
              <a:t>Port-ids have only local significance.</a:t>
            </a:r>
          </a:p>
          <a:p>
            <a:pPr lvl="1">
              <a:defRPr/>
            </a:pPr>
            <a:r>
              <a:rPr lang="en-US" sz="1600" dirty="0"/>
              <a:t>The only information an application must and should know to establish communication is the destination application-name and its own port-id.</a:t>
            </a:r>
          </a:p>
          <a:p>
            <a:pPr lvl="1">
              <a:defRPr/>
            </a:pPr>
            <a:r>
              <a:rPr lang="en-US" sz="1600" dirty="0"/>
              <a:t>Connection-endpoint-ids have only local significance</a:t>
            </a:r>
          </a:p>
          <a:p>
            <a:pPr lvl="1">
              <a:defRPr/>
            </a:pPr>
            <a:r>
              <a:rPr lang="en-US" sz="1600" dirty="0"/>
              <a:t>CEP-ids appear in protocol, port-ids do not.</a:t>
            </a:r>
          </a:p>
          <a:p>
            <a:pPr marL="1085850" lvl="2">
              <a:defRPr/>
            </a:pPr>
            <a:r>
              <a:rPr lang="en-US" sz="1400" dirty="0"/>
              <a:t>The relation of port-ids to CEP-ids is strictly an internal matter.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Finally We Find The Destination Address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447800"/>
          </a:xfrm>
        </p:spPr>
        <p:txBody>
          <a:bodyPr/>
          <a:lstStyle/>
          <a:p>
            <a:pPr>
              <a:defRPr/>
            </a:pPr>
            <a:r>
              <a:rPr lang="en-US" sz="2400">
                <a:cs typeface="+mn-cs"/>
              </a:rPr>
              <a:t>First thing it has to do determine whether the source can access the requested application.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Don’t Find It?</a:t>
            </a:r>
            <a:br>
              <a:rPr lang="en-US" dirty="0"/>
            </a:br>
            <a:r>
              <a:rPr lang="en-US" sz="2400" dirty="0"/>
              <a:t>Layer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Ask Around!</a:t>
            </a:r>
          </a:p>
          <a:p>
            <a:r>
              <a:rPr lang="en-US" dirty="0"/>
              <a:t>See If Anyone Has Seen It!</a:t>
            </a:r>
          </a:p>
        </p:txBody>
      </p:sp>
    </p:spTree>
    <p:extLst>
      <p:ext uri="{BB962C8B-B14F-4D97-AF65-F5344CB8AC3E}">
        <p14:creationId xmlns:p14="http://schemas.microsoft.com/office/powerpoint/2010/main" val="87355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What Does the Model Say?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The IPC Model has a Capability, not found in Current Networks.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First look for the application in the layers we have (a bit like DNS), </a:t>
            </a:r>
          </a:p>
          <a:p>
            <a:pPr lvl="1">
              <a:defRPr/>
            </a:pPr>
            <a:r>
              <a:rPr lang="en-US" dirty="0"/>
              <a:t>If we find it, go to Allocation, otherwise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We must figure out what layer it </a:t>
            </a:r>
            <a:r>
              <a:rPr lang="en-US" i="1" dirty="0">
                <a:cs typeface="+mn-cs"/>
              </a:rPr>
              <a:t>is</a:t>
            </a:r>
            <a:r>
              <a:rPr lang="en-US" dirty="0">
                <a:cs typeface="+mn-cs"/>
              </a:rPr>
              <a:t> on.</a:t>
            </a:r>
          </a:p>
          <a:p>
            <a:pPr lvl="1">
              <a:defRPr/>
            </a:pPr>
            <a:r>
              <a:rPr lang="en-US" dirty="0"/>
              <a:t>Huh?</a:t>
            </a:r>
          </a:p>
          <a:p>
            <a:pPr lvl="1">
              <a:defRPr/>
            </a:pPr>
            <a:r>
              <a:rPr lang="en-US" dirty="0"/>
              <a:t>Remember the Application Process name space has greater scope than any one address space.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Remember This?</a:t>
            </a:r>
            <a:br>
              <a:rPr lang="en-US" sz="2800">
                <a:cs typeface="+mj-cs"/>
              </a:rPr>
            </a:br>
            <a:r>
              <a:rPr lang="en-US" sz="2400">
                <a:cs typeface="+mj-cs"/>
              </a:rPr>
              <a:t>A Little Re-organizing</a:t>
            </a:r>
            <a:endParaRPr lang="en-US" sz="2800">
              <a:cs typeface="+mj-cs"/>
            </a:endParaRPr>
          </a:p>
        </p:txBody>
      </p:sp>
      <p:grpSp>
        <p:nvGrpSpPr>
          <p:cNvPr id="87042" name="Group 73"/>
          <p:cNvGrpSpPr>
            <a:grpSpLocks/>
          </p:cNvGrpSpPr>
          <p:nvPr/>
        </p:nvGrpSpPr>
        <p:grpSpPr bwMode="auto">
          <a:xfrm>
            <a:off x="2209800" y="1676400"/>
            <a:ext cx="5562600" cy="2878067"/>
            <a:chOff x="1248" y="1488"/>
            <a:chExt cx="4032" cy="2195"/>
          </a:xfrm>
        </p:grpSpPr>
        <p:sp>
          <p:nvSpPr>
            <p:cNvPr id="307203" name="Text Box 3"/>
            <p:cNvSpPr txBox="1">
              <a:spLocks noChangeArrowheads="1"/>
            </p:cNvSpPr>
            <p:nvPr/>
          </p:nvSpPr>
          <p:spPr bwMode="auto">
            <a:xfrm>
              <a:off x="1248" y="3120"/>
              <a:ext cx="4032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So, we have a Distributed IPC Facility for each Interface and an application over all of them to manage their use and to give the user a common interface, a Virtual IPC Facility?</a:t>
              </a:r>
            </a:p>
          </p:txBody>
        </p:sp>
        <p:sp>
          <p:nvSpPr>
            <p:cNvPr id="307204" name="Text Box 4"/>
            <p:cNvSpPr txBox="1">
              <a:spLocks noChangeArrowheads="1"/>
            </p:cNvSpPr>
            <p:nvPr/>
          </p:nvSpPr>
          <p:spPr bwMode="auto">
            <a:xfrm>
              <a:off x="3984" y="1568"/>
              <a:ext cx="314" cy="19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IAP</a:t>
              </a:r>
            </a:p>
          </p:txBody>
        </p:sp>
        <p:grpSp>
          <p:nvGrpSpPr>
            <p:cNvPr id="87049" name="Group 5"/>
            <p:cNvGrpSpPr>
              <a:grpSpLocks/>
            </p:cNvGrpSpPr>
            <p:nvPr/>
          </p:nvGrpSpPr>
          <p:grpSpPr bwMode="auto">
            <a:xfrm>
              <a:off x="3984" y="1808"/>
              <a:ext cx="288" cy="351"/>
              <a:chOff x="2402" y="1392"/>
              <a:chExt cx="288" cy="351"/>
            </a:xfrm>
          </p:grpSpPr>
          <p:sp>
            <p:nvSpPr>
              <p:cNvPr id="307206" name="Oval 6"/>
              <p:cNvSpPr>
                <a:spLocks noChangeArrowheads="1"/>
              </p:cNvSpPr>
              <p:nvPr/>
            </p:nvSpPr>
            <p:spPr bwMode="auto">
              <a:xfrm>
                <a:off x="2402" y="1392"/>
                <a:ext cx="288" cy="28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07" name="Text Box 7"/>
              <p:cNvSpPr txBox="1">
                <a:spLocks noChangeArrowheads="1"/>
              </p:cNvSpPr>
              <p:nvPr/>
            </p:nvSpPr>
            <p:spPr bwMode="auto">
              <a:xfrm>
                <a:off x="2432" y="1440"/>
                <a:ext cx="231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Dir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sp>
          <p:nvSpPr>
            <p:cNvPr id="307208" name="Rectangle 8" descr="60%"/>
            <p:cNvSpPr>
              <a:spLocks noChangeArrowheads="1"/>
            </p:cNvSpPr>
            <p:nvPr/>
          </p:nvSpPr>
          <p:spPr bwMode="auto">
            <a:xfrm>
              <a:off x="3128" y="2744"/>
              <a:ext cx="96" cy="385"/>
            </a:xfrm>
            <a:prstGeom prst="rect">
              <a:avLst/>
            </a:prstGeom>
            <a:pattFill prst="pct60">
              <a:fgClr>
                <a:srgbClr val="808080"/>
              </a:fgClr>
              <a:bgClr>
                <a:srgbClr val="FFFFFF"/>
              </a:bgClr>
            </a:patt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07209" name="Rectangle 9" descr="60%"/>
            <p:cNvSpPr>
              <a:spLocks noChangeArrowheads="1"/>
            </p:cNvSpPr>
            <p:nvPr/>
          </p:nvSpPr>
          <p:spPr bwMode="auto">
            <a:xfrm>
              <a:off x="3864" y="2744"/>
              <a:ext cx="962" cy="98"/>
            </a:xfrm>
            <a:prstGeom prst="rect">
              <a:avLst/>
            </a:prstGeom>
            <a:pattFill prst="pct60">
              <a:fgClr>
                <a:srgbClr val="808080"/>
              </a:fgClr>
              <a:bgClr>
                <a:srgbClr val="FFFFFF"/>
              </a:bgClr>
            </a:patt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07210" name="Rectangle 10" descr="60%"/>
            <p:cNvSpPr>
              <a:spLocks noChangeArrowheads="1"/>
            </p:cNvSpPr>
            <p:nvPr/>
          </p:nvSpPr>
          <p:spPr bwMode="auto">
            <a:xfrm rot="5400000">
              <a:off x="2112" y="2400"/>
              <a:ext cx="96" cy="768"/>
            </a:xfrm>
            <a:prstGeom prst="rect">
              <a:avLst/>
            </a:prstGeom>
            <a:pattFill prst="pct60">
              <a:fgClr>
                <a:srgbClr val="808080"/>
              </a:fgClr>
              <a:bgClr>
                <a:srgbClr val="FFFFFF"/>
              </a:bgClr>
            </a:patt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053" name="Group 11"/>
            <p:cNvGrpSpPr>
              <a:grpSpLocks/>
            </p:cNvGrpSpPr>
            <p:nvPr/>
          </p:nvGrpSpPr>
          <p:grpSpPr bwMode="auto">
            <a:xfrm>
              <a:off x="2832" y="1784"/>
              <a:ext cx="528" cy="384"/>
              <a:chOff x="2304" y="1920"/>
              <a:chExt cx="528" cy="384"/>
            </a:xfrm>
          </p:grpSpPr>
          <p:sp>
            <p:nvSpPr>
              <p:cNvPr id="307212" name="Oval 12"/>
              <p:cNvSpPr>
                <a:spLocks noChangeArrowheads="1"/>
              </p:cNvSpPr>
              <p:nvPr/>
            </p:nvSpPr>
            <p:spPr bwMode="auto">
              <a:xfrm>
                <a:off x="2304" y="1917"/>
                <a:ext cx="525" cy="38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13" name="Oval 13"/>
              <p:cNvSpPr>
                <a:spLocks noChangeArrowheads="1"/>
              </p:cNvSpPr>
              <p:nvPr/>
            </p:nvSpPr>
            <p:spPr bwMode="auto">
              <a:xfrm>
                <a:off x="2304" y="2062"/>
                <a:ext cx="144" cy="14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14" name="Oval 14"/>
              <p:cNvSpPr>
                <a:spLocks noChangeArrowheads="1"/>
              </p:cNvSpPr>
              <p:nvPr/>
            </p:nvSpPr>
            <p:spPr bwMode="auto">
              <a:xfrm>
                <a:off x="2497" y="2160"/>
                <a:ext cx="143" cy="144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15" name="Oval 15"/>
              <p:cNvSpPr>
                <a:spLocks noChangeArrowheads="1"/>
              </p:cNvSpPr>
              <p:nvPr/>
            </p:nvSpPr>
            <p:spPr bwMode="auto">
              <a:xfrm>
                <a:off x="2688" y="2062"/>
                <a:ext cx="144" cy="14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07216" name="Line 16"/>
            <p:cNvSpPr>
              <a:spLocks noChangeShapeType="1"/>
            </p:cNvSpPr>
            <p:nvPr/>
          </p:nvSpPr>
          <p:spPr bwMode="auto">
            <a:xfrm flipH="1">
              <a:off x="2464" y="2040"/>
              <a:ext cx="383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07217" name="Line 17"/>
            <p:cNvSpPr>
              <a:spLocks noChangeShapeType="1"/>
            </p:cNvSpPr>
            <p:nvPr/>
          </p:nvSpPr>
          <p:spPr bwMode="auto">
            <a:xfrm flipH="1">
              <a:off x="3072" y="2176"/>
              <a:ext cx="8" cy="1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07218" name="Line 18"/>
            <p:cNvSpPr>
              <a:spLocks noChangeShapeType="1"/>
            </p:cNvSpPr>
            <p:nvPr/>
          </p:nvSpPr>
          <p:spPr bwMode="auto">
            <a:xfrm>
              <a:off x="3320" y="2016"/>
              <a:ext cx="67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07219" name="Text Box 19"/>
            <p:cNvSpPr txBox="1">
              <a:spLocks noChangeArrowheads="1"/>
            </p:cNvSpPr>
            <p:nvPr/>
          </p:nvSpPr>
          <p:spPr bwMode="auto">
            <a:xfrm>
              <a:off x="2905" y="1779"/>
              <a:ext cx="425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Finder</a:t>
              </a:r>
            </a:p>
          </p:txBody>
        </p:sp>
        <p:sp>
          <p:nvSpPr>
            <p:cNvPr id="307220" name="Text Box 20"/>
            <p:cNvSpPr txBox="1">
              <a:spLocks noChangeArrowheads="1"/>
            </p:cNvSpPr>
            <p:nvPr/>
          </p:nvSpPr>
          <p:spPr bwMode="auto">
            <a:xfrm>
              <a:off x="2064" y="1584"/>
              <a:ext cx="1168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rPr>
                <a:t>A Virtual IPC Facility?</a:t>
              </a:r>
            </a:p>
          </p:txBody>
        </p:sp>
        <p:grpSp>
          <p:nvGrpSpPr>
            <p:cNvPr id="87059" name="Group 21"/>
            <p:cNvGrpSpPr>
              <a:grpSpLocks/>
            </p:cNvGrpSpPr>
            <p:nvPr/>
          </p:nvGrpSpPr>
          <p:grpSpPr bwMode="auto">
            <a:xfrm>
              <a:off x="3504" y="1584"/>
              <a:ext cx="349" cy="352"/>
              <a:chOff x="672" y="528"/>
              <a:chExt cx="349" cy="352"/>
            </a:xfrm>
          </p:grpSpPr>
          <p:sp>
            <p:nvSpPr>
              <p:cNvPr id="307222" name="Oval 22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336" cy="33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23" name="Text Box 23"/>
              <p:cNvSpPr txBox="1">
                <a:spLocks noChangeArrowheads="1"/>
              </p:cNvSpPr>
              <p:nvPr/>
            </p:nvSpPr>
            <p:spPr bwMode="auto">
              <a:xfrm>
                <a:off x="699" y="577"/>
                <a:ext cx="322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Flow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rPr>
                  <a:t>Mgr</a:t>
                </a:r>
              </a:p>
            </p:txBody>
          </p:sp>
        </p:grpSp>
        <p:grpSp>
          <p:nvGrpSpPr>
            <p:cNvPr id="87060" name="Group 24"/>
            <p:cNvGrpSpPr>
              <a:grpSpLocks/>
            </p:cNvGrpSpPr>
            <p:nvPr/>
          </p:nvGrpSpPr>
          <p:grpSpPr bwMode="auto">
            <a:xfrm>
              <a:off x="2096" y="2304"/>
              <a:ext cx="495" cy="448"/>
              <a:chOff x="1632" y="1728"/>
              <a:chExt cx="495" cy="448"/>
            </a:xfrm>
          </p:grpSpPr>
          <p:sp>
            <p:nvSpPr>
              <p:cNvPr id="307225" name="Line 25"/>
              <p:cNvSpPr>
                <a:spLocks noChangeShapeType="1"/>
              </p:cNvSpPr>
              <p:nvPr/>
            </p:nvSpPr>
            <p:spPr bwMode="auto">
              <a:xfrm>
                <a:off x="1632" y="2165"/>
                <a:ext cx="491" cy="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26" name="Line 26"/>
              <p:cNvSpPr>
                <a:spLocks noChangeShapeType="1"/>
              </p:cNvSpPr>
              <p:nvPr/>
            </p:nvSpPr>
            <p:spPr bwMode="auto">
              <a:xfrm flipV="1">
                <a:off x="2125" y="1728"/>
                <a:ext cx="2" cy="4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27" name="Oval 27"/>
              <p:cNvSpPr>
                <a:spLocks noChangeArrowheads="1"/>
              </p:cNvSpPr>
              <p:nvPr/>
            </p:nvSpPr>
            <p:spPr bwMode="auto">
              <a:xfrm>
                <a:off x="1955" y="2055"/>
                <a:ext cx="92" cy="94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7097" name="Group 28"/>
              <p:cNvGrpSpPr>
                <a:grpSpLocks/>
              </p:cNvGrpSpPr>
              <p:nvPr/>
            </p:nvGrpSpPr>
            <p:grpSpPr bwMode="auto">
              <a:xfrm>
                <a:off x="1875" y="1865"/>
                <a:ext cx="239" cy="196"/>
                <a:chOff x="2592" y="1047"/>
                <a:chExt cx="864" cy="601"/>
              </a:xfrm>
            </p:grpSpPr>
            <p:sp>
              <p:nvSpPr>
                <p:cNvPr id="307229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7" y="1247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30" name="Rectangle 30"/>
                <p:cNvSpPr>
                  <a:spLocks noChangeArrowheads="1"/>
                </p:cNvSpPr>
                <p:nvPr/>
              </p:nvSpPr>
              <p:spPr bwMode="auto">
                <a:xfrm>
                  <a:off x="2687" y="1295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31" name="Rectangle 31"/>
                <p:cNvSpPr>
                  <a:spLocks noChangeArrowheads="1"/>
                </p:cNvSpPr>
                <p:nvPr/>
              </p:nvSpPr>
              <p:spPr bwMode="auto">
                <a:xfrm>
                  <a:off x="2641" y="1344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32" name="Rectangle 32"/>
                <p:cNvSpPr>
                  <a:spLocks noChangeArrowheads="1"/>
                </p:cNvSpPr>
                <p:nvPr/>
              </p:nvSpPr>
              <p:spPr bwMode="auto">
                <a:xfrm>
                  <a:off x="2591" y="1392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3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729" y="1047"/>
                  <a:ext cx="516" cy="601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07234" name="Rectangle 34"/>
              <p:cNvSpPr>
                <a:spLocks noChangeArrowheads="1"/>
              </p:cNvSpPr>
              <p:nvPr/>
            </p:nvSpPr>
            <p:spPr bwMode="auto">
              <a:xfrm>
                <a:off x="1835" y="1822"/>
                <a:ext cx="133" cy="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    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07235" name="Line 35"/>
              <p:cNvSpPr>
                <a:spLocks noChangeShapeType="1"/>
              </p:cNvSpPr>
              <p:nvPr/>
            </p:nvSpPr>
            <p:spPr bwMode="auto">
              <a:xfrm flipH="1">
                <a:off x="1632" y="1728"/>
                <a:ext cx="49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36" name="Line 36"/>
              <p:cNvSpPr>
                <a:spLocks noChangeShapeType="1"/>
              </p:cNvSpPr>
              <p:nvPr/>
            </p:nvSpPr>
            <p:spPr bwMode="auto">
              <a:xfrm>
                <a:off x="1940" y="2040"/>
                <a:ext cx="28" cy="2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37" name="Line 37"/>
              <p:cNvSpPr>
                <a:spLocks noChangeShapeType="1"/>
              </p:cNvSpPr>
              <p:nvPr/>
            </p:nvSpPr>
            <p:spPr bwMode="auto">
              <a:xfrm flipH="1">
                <a:off x="2021" y="2040"/>
                <a:ext cx="13" cy="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38" name="Line 38"/>
              <p:cNvSpPr>
                <a:spLocks noChangeShapeType="1"/>
              </p:cNvSpPr>
              <p:nvPr/>
            </p:nvSpPr>
            <p:spPr bwMode="auto">
              <a:xfrm flipH="1">
                <a:off x="2034" y="2040"/>
                <a:ext cx="29" cy="2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39" name="Line 39"/>
              <p:cNvSpPr>
                <a:spLocks noChangeShapeType="1"/>
              </p:cNvSpPr>
              <p:nvPr/>
            </p:nvSpPr>
            <p:spPr bwMode="auto">
              <a:xfrm>
                <a:off x="1632" y="1737"/>
                <a:ext cx="0" cy="4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87061" name="Group 40"/>
            <p:cNvGrpSpPr>
              <a:grpSpLocks/>
            </p:cNvGrpSpPr>
            <p:nvPr/>
          </p:nvGrpSpPr>
          <p:grpSpPr bwMode="auto">
            <a:xfrm>
              <a:off x="2880" y="2304"/>
              <a:ext cx="495" cy="448"/>
              <a:chOff x="1632" y="1728"/>
              <a:chExt cx="495" cy="448"/>
            </a:xfrm>
          </p:grpSpPr>
          <p:sp>
            <p:nvSpPr>
              <p:cNvPr id="307241" name="Line 41"/>
              <p:cNvSpPr>
                <a:spLocks noChangeShapeType="1"/>
              </p:cNvSpPr>
              <p:nvPr/>
            </p:nvSpPr>
            <p:spPr bwMode="auto">
              <a:xfrm>
                <a:off x="1632" y="2165"/>
                <a:ext cx="491" cy="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42" name="Line 42"/>
              <p:cNvSpPr>
                <a:spLocks noChangeShapeType="1"/>
              </p:cNvSpPr>
              <p:nvPr/>
            </p:nvSpPr>
            <p:spPr bwMode="auto">
              <a:xfrm flipV="1">
                <a:off x="2123" y="1728"/>
                <a:ext cx="1" cy="4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43" name="Oval 43"/>
              <p:cNvSpPr>
                <a:spLocks noChangeArrowheads="1"/>
              </p:cNvSpPr>
              <p:nvPr/>
            </p:nvSpPr>
            <p:spPr bwMode="auto">
              <a:xfrm>
                <a:off x="1955" y="2055"/>
                <a:ext cx="92" cy="94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7082" name="Group 44"/>
              <p:cNvGrpSpPr>
                <a:grpSpLocks/>
              </p:cNvGrpSpPr>
              <p:nvPr/>
            </p:nvGrpSpPr>
            <p:grpSpPr bwMode="auto">
              <a:xfrm>
                <a:off x="1875" y="1865"/>
                <a:ext cx="239" cy="196"/>
                <a:chOff x="2592" y="1047"/>
                <a:chExt cx="864" cy="601"/>
              </a:xfrm>
            </p:grpSpPr>
            <p:sp>
              <p:nvSpPr>
                <p:cNvPr id="307245" name="Rectangle 45"/>
                <p:cNvSpPr>
                  <a:spLocks noChangeArrowheads="1"/>
                </p:cNvSpPr>
                <p:nvPr/>
              </p:nvSpPr>
              <p:spPr bwMode="auto">
                <a:xfrm>
                  <a:off x="2736" y="1247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46" name="Rectangle 46"/>
                <p:cNvSpPr>
                  <a:spLocks noChangeArrowheads="1"/>
                </p:cNvSpPr>
                <p:nvPr/>
              </p:nvSpPr>
              <p:spPr bwMode="auto">
                <a:xfrm>
                  <a:off x="2686" y="1295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47" name="Rectangle 47"/>
                <p:cNvSpPr>
                  <a:spLocks noChangeArrowheads="1"/>
                </p:cNvSpPr>
                <p:nvPr/>
              </p:nvSpPr>
              <p:spPr bwMode="auto">
                <a:xfrm>
                  <a:off x="2640" y="1344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48" name="Rectangle 48"/>
                <p:cNvSpPr>
                  <a:spLocks noChangeArrowheads="1"/>
                </p:cNvSpPr>
                <p:nvPr/>
              </p:nvSpPr>
              <p:spPr bwMode="auto">
                <a:xfrm>
                  <a:off x="2590" y="1392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49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723" y="1047"/>
                  <a:ext cx="520" cy="601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07250" name="Rectangle 50"/>
              <p:cNvSpPr>
                <a:spLocks noChangeArrowheads="1"/>
              </p:cNvSpPr>
              <p:nvPr/>
            </p:nvSpPr>
            <p:spPr bwMode="auto">
              <a:xfrm>
                <a:off x="1833" y="1822"/>
                <a:ext cx="132" cy="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    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07251" name="Line 51"/>
              <p:cNvSpPr>
                <a:spLocks noChangeShapeType="1"/>
              </p:cNvSpPr>
              <p:nvPr/>
            </p:nvSpPr>
            <p:spPr bwMode="auto">
              <a:xfrm flipH="1">
                <a:off x="1632" y="1728"/>
                <a:ext cx="49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52" name="Line 52"/>
              <p:cNvSpPr>
                <a:spLocks noChangeShapeType="1"/>
              </p:cNvSpPr>
              <p:nvPr/>
            </p:nvSpPr>
            <p:spPr bwMode="auto">
              <a:xfrm>
                <a:off x="1940" y="2040"/>
                <a:ext cx="28" cy="2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53" name="Line 53"/>
              <p:cNvSpPr>
                <a:spLocks noChangeShapeType="1"/>
              </p:cNvSpPr>
              <p:nvPr/>
            </p:nvSpPr>
            <p:spPr bwMode="auto">
              <a:xfrm flipH="1">
                <a:off x="2021" y="2040"/>
                <a:ext cx="13" cy="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54" name="Line 54"/>
              <p:cNvSpPr>
                <a:spLocks noChangeShapeType="1"/>
              </p:cNvSpPr>
              <p:nvPr/>
            </p:nvSpPr>
            <p:spPr bwMode="auto">
              <a:xfrm flipH="1">
                <a:off x="2031" y="2040"/>
                <a:ext cx="30" cy="2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55" name="Line 55"/>
              <p:cNvSpPr>
                <a:spLocks noChangeShapeType="1"/>
              </p:cNvSpPr>
              <p:nvPr/>
            </p:nvSpPr>
            <p:spPr bwMode="auto">
              <a:xfrm>
                <a:off x="1632" y="1737"/>
                <a:ext cx="0" cy="4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87062" name="Group 56"/>
            <p:cNvGrpSpPr>
              <a:grpSpLocks/>
            </p:cNvGrpSpPr>
            <p:nvPr/>
          </p:nvGrpSpPr>
          <p:grpSpPr bwMode="auto">
            <a:xfrm>
              <a:off x="3888" y="2304"/>
              <a:ext cx="495" cy="448"/>
              <a:chOff x="1632" y="1728"/>
              <a:chExt cx="495" cy="448"/>
            </a:xfrm>
          </p:grpSpPr>
          <p:sp>
            <p:nvSpPr>
              <p:cNvPr id="307257" name="Line 57"/>
              <p:cNvSpPr>
                <a:spLocks noChangeShapeType="1"/>
              </p:cNvSpPr>
              <p:nvPr/>
            </p:nvSpPr>
            <p:spPr bwMode="auto">
              <a:xfrm>
                <a:off x="1632" y="2165"/>
                <a:ext cx="491" cy="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58" name="Line 58"/>
              <p:cNvSpPr>
                <a:spLocks noChangeShapeType="1"/>
              </p:cNvSpPr>
              <p:nvPr/>
            </p:nvSpPr>
            <p:spPr bwMode="auto">
              <a:xfrm flipV="1">
                <a:off x="2123" y="1728"/>
                <a:ext cx="1" cy="4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59" name="Oval 59"/>
              <p:cNvSpPr>
                <a:spLocks noChangeArrowheads="1"/>
              </p:cNvSpPr>
              <p:nvPr/>
            </p:nvSpPr>
            <p:spPr bwMode="auto">
              <a:xfrm>
                <a:off x="1955" y="2055"/>
                <a:ext cx="92" cy="94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7067" name="Group 60"/>
              <p:cNvGrpSpPr>
                <a:grpSpLocks/>
              </p:cNvGrpSpPr>
              <p:nvPr/>
            </p:nvGrpSpPr>
            <p:grpSpPr bwMode="auto">
              <a:xfrm>
                <a:off x="1875" y="1865"/>
                <a:ext cx="239" cy="196"/>
                <a:chOff x="2592" y="1047"/>
                <a:chExt cx="864" cy="601"/>
              </a:xfrm>
            </p:grpSpPr>
            <p:sp>
              <p:nvSpPr>
                <p:cNvPr id="307261" name="Rectangle 61"/>
                <p:cNvSpPr>
                  <a:spLocks noChangeArrowheads="1"/>
                </p:cNvSpPr>
                <p:nvPr/>
              </p:nvSpPr>
              <p:spPr bwMode="auto">
                <a:xfrm>
                  <a:off x="2736" y="1247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62" name="Rectangle 62"/>
                <p:cNvSpPr>
                  <a:spLocks noChangeArrowheads="1"/>
                </p:cNvSpPr>
                <p:nvPr/>
              </p:nvSpPr>
              <p:spPr bwMode="auto">
                <a:xfrm>
                  <a:off x="2686" y="1295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63" name="Rectangle 63"/>
                <p:cNvSpPr>
                  <a:spLocks noChangeArrowheads="1"/>
                </p:cNvSpPr>
                <p:nvPr/>
              </p:nvSpPr>
              <p:spPr bwMode="auto">
                <a:xfrm>
                  <a:off x="2640" y="1344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64" name="Rectangle 64"/>
                <p:cNvSpPr>
                  <a:spLocks noChangeArrowheads="1"/>
                </p:cNvSpPr>
                <p:nvPr/>
              </p:nvSpPr>
              <p:spPr bwMode="auto">
                <a:xfrm>
                  <a:off x="2590" y="1392"/>
                  <a:ext cx="720" cy="19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  <p:sp>
              <p:nvSpPr>
                <p:cNvPr id="30726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723" y="1047"/>
                  <a:ext cx="520" cy="601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07266" name="Rectangle 66"/>
              <p:cNvSpPr>
                <a:spLocks noChangeArrowheads="1"/>
              </p:cNvSpPr>
              <p:nvPr/>
            </p:nvSpPr>
            <p:spPr bwMode="auto">
              <a:xfrm>
                <a:off x="1833" y="1822"/>
                <a:ext cx="132" cy="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    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07267" name="Line 67"/>
              <p:cNvSpPr>
                <a:spLocks noChangeShapeType="1"/>
              </p:cNvSpPr>
              <p:nvPr/>
            </p:nvSpPr>
            <p:spPr bwMode="auto">
              <a:xfrm flipH="1">
                <a:off x="1632" y="1728"/>
                <a:ext cx="49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68" name="Line 68"/>
              <p:cNvSpPr>
                <a:spLocks noChangeShapeType="1"/>
              </p:cNvSpPr>
              <p:nvPr/>
            </p:nvSpPr>
            <p:spPr bwMode="auto">
              <a:xfrm>
                <a:off x="1940" y="2040"/>
                <a:ext cx="28" cy="2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69" name="Line 69"/>
              <p:cNvSpPr>
                <a:spLocks noChangeShapeType="1"/>
              </p:cNvSpPr>
              <p:nvPr/>
            </p:nvSpPr>
            <p:spPr bwMode="auto">
              <a:xfrm flipH="1">
                <a:off x="2021" y="2040"/>
                <a:ext cx="13" cy="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70" name="Line 70"/>
              <p:cNvSpPr>
                <a:spLocks noChangeShapeType="1"/>
              </p:cNvSpPr>
              <p:nvPr/>
            </p:nvSpPr>
            <p:spPr bwMode="auto">
              <a:xfrm flipH="1">
                <a:off x="2031" y="2040"/>
                <a:ext cx="30" cy="2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7271" name="Line 71"/>
              <p:cNvSpPr>
                <a:spLocks noChangeShapeType="1"/>
              </p:cNvSpPr>
              <p:nvPr/>
            </p:nvSpPr>
            <p:spPr bwMode="auto">
              <a:xfrm>
                <a:off x="1632" y="1737"/>
                <a:ext cx="0" cy="4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07272" name="Rectangle 72"/>
            <p:cNvSpPr>
              <a:spLocks noChangeArrowheads="1"/>
            </p:cNvSpPr>
            <p:nvPr/>
          </p:nvSpPr>
          <p:spPr bwMode="auto">
            <a:xfrm>
              <a:off x="2064" y="1488"/>
              <a:ext cx="2304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07274" name="Text Box 74"/>
          <p:cNvSpPr txBox="1">
            <a:spLocks noChangeArrowheads="1"/>
          </p:cNvSpPr>
          <p:nvPr/>
        </p:nvSpPr>
        <p:spPr bwMode="auto">
          <a:xfrm>
            <a:off x="1066800" y="4648200"/>
            <a:ext cx="70104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If we can do it for point-to-point wires, why not for layers?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We need to find out on What Layer the Application is Available.</a:t>
            </a:r>
          </a:p>
        </p:txBody>
      </p:sp>
      <p:sp>
        <p:nvSpPr>
          <p:cNvPr id="307275" name="AutoShape 75"/>
          <p:cNvSpPr>
            <a:spLocks noChangeArrowheads="1"/>
          </p:cNvSpPr>
          <p:nvPr/>
        </p:nvSpPr>
        <p:spPr bwMode="auto">
          <a:xfrm>
            <a:off x="2209800" y="2209800"/>
            <a:ext cx="2209800" cy="228600"/>
          </a:xfrm>
          <a:prstGeom prst="leftRightArrow">
            <a:avLst>
              <a:gd name="adj1" fmla="val 50000"/>
              <a:gd name="adj2" fmla="val 19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07276" name="AutoShape 76"/>
          <p:cNvSpPr>
            <a:spLocks noChangeArrowheads="1"/>
          </p:cNvSpPr>
          <p:nvPr/>
        </p:nvSpPr>
        <p:spPr bwMode="auto">
          <a:xfrm>
            <a:off x="5105400" y="2209800"/>
            <a:ext cx="2209800" cy="228600"/>
          </a:xfrm>
          <a:prstGeom prst="leftRightArrow">
            <a:avLst>
              <a:gd name="adj1" fmla="val 50000"/>
              <a:gd name="adj2" fmla="val 19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07277" name="Rectangle 77"/>
          <p:cNvSpPr>
            <a:spLocks noChangeArrowheads="1"/>
          </p:cNvSpPr>
          <p:nvPr/>
        </p:nvSpPr>
        <p:spPr bwMode="auto">
          <a:xfrm>
            <a:off x="2286000" y="5562600"/>
            <a:ext cx="51423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If Not on a Local </a:t>
            </a:r>
            <a:r>
              <a:rPr lang="en-US" sz="2000" dirty="0">
                <a:solidFill>
                  <a:srgbClr val="000000"/>
                </a:solidFill>
                <a:latin typeface="Times" charset="0"/>
                <a:ea typeface="ＭＳ Ｐゴシック" charset="0"/>
              </a:rPr>
              <a:t>Layer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, then Ask the Neighbors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9400" y="6019800"/>
            <a:ext cx="39381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This Generalizes to a DIF-Allocator.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4" grpId="0"/>
      <p:bldP spid="307275" grpId="0" animBg="1"/>
      <p:bldP spid="307276" grpId="0" animBg="1"/>
      <p:bldP spid="307277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DIF-Allocator-Name Lookup </a:t>
            </a:r>
            <a:b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</a:b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How Name Resolution Works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871" y="3770493"/>
            <a:ext cx="8068722" cy="2858896"/>
          </a:xfrm>
        </p:spPr>
        <p:txBody>
          <a:bodyPr/>
          <a:lstStyle/>
          <a:p>
            <a:pPr>
              <a:defRPr/>
            </a:pPr>
            <a:r>
              <a:rPr lang="en-US" sz="1800" dirty="0">
                <a:cs typeface="+mn-cs"/>
              </a:rPr>
              <a:t>Search rules generate a Forwarding Table indicating where to look for things.</a:t>
            </a:r>
          </a:p>
          <a:p>
            <a:pPr>
              <a:defRPr/>
            </a:pPr>
            <a:r>
              <a:rPr lang="en-US" sz="1800" dirty="0">
                <a:cs typeface="+mn-cs"/>
              </a:rPr>
              <a:t>When a request comes in, the table is consulted. </a:t>
            </a:r>
          </a:p>
          <a:p>
            <a:pPr>
              <a:defRPr/>
            </a:pPr>
            <a:r>
              <a:rPr lang="en-US" sz="1800" dirty="0">
                <a:cs typeface="+mn-cs"/>
              </a:rPr>
              <a:t>If the result is here, then do what is needed to join or create a layer, otherwise forward it.</a:t>
            </a:r>
          </a:p>
          <a:p>
            <a:pPr>
              <a:defRPr/>
            </a:pPr>
            <a:r>
              <a:rPr lang="en-US" sz="1800" dirty="0">
                <a:cs typeface="+mn-cs"/>
              </a:rPr>
              <a:t>Look familiar?</a:t>
            </a:r>
          </a:p>
          <a:p>
            <a:pPr lvl="1">
              <a:defRPr/>
            </a:pPr>
            <a:r>
              <a:rPr lang="en-US" sz="1600" dirty="0"/>
              <a:t>Right, exactly the same process as forwarding create-flow requests for allocation, or PDUs when routing: requests are the packets, </a:t>
            </a:r>
            <a:r>
              <a:rPr lang="ja-JP" altLang="en-US" sz="1600" dirty="0"/>
              <a:t>“</a:t>
            </a:r>
            <a:r>
              <a:rPr lang="en-US" sz="1600" dirty="0"/>
              <a:t>search rules</a:t>
            </a:r>
            <a:r>
              <a:rPr lang="ja-JP" altLang="en-US" sz="1600" dirty="0"/>
              <a:t>”</a:t>
            </a:r>
            <a:r>
              <a:rPr lang="en-US" sz="1600" dirty="0"/>
              <a:t> is the routing algorithm.</a:t>
            </a:r>
          </a:p>
          <a:p>
            <a:pPr lvl="1">
              <a:defRPr/>
            </a:pPr>
            <a:r>
              <a:rPr lang="en-US" sz="1600" dirty="0"/>
              <a:t>Same process for Layers, Flows, and PDUs, each of smaller scope.</a:t>
            </a:r>
          </a:p>
          <a:p>
            <a:pPr lvl="1">
              <a:defRPr/>
            </a:pPr>
            <a:r>
              <a:rPr lang="en-US" sz="1600" dirty="0"/>
              <a:t>Interesting, eh?</a:t>
            </a:r>
          </a:p>
        </p:txBody>
      </p:sp>
      <p:grpSp>
        <p:nvGrpSpPr>
          <p:cNvPr id="93187" name="Group 4"/>
          <p:cNvGrpSpPr>
            <a:grpSpLocks/>
          </p:cNvGrpSpPr>
          <p:nvPr/>
        </p:nvGrpSpPr>
        <p:grpSpPr bwMode="auto">
          <a:xfrm>
            <a:off x="5486400" y="2209800"/>
            <a:ext cx="1600200" cy="1066800"/>
            <a:chOff x="2112" y="1344"/>
            <a:chExt cx="1008" cy="672"/>
          </a:xfrm>
        </p:grpSpPr>
        <p:grpSp>
          <p:nvGrpSpPr>
            <p:cNvPr id="93210" name="Group 5"/>
            <p:cNvGrpSpPr>
              <a:grpSpLocks/>
            </p:cNvGrpSpPr>
            <p:nvPr/>
          </p:nvGrpSpPr>
          <p:grpSpPr bwMode="auto">
            <a:xfrm>
              <a:off x="2112" y="1344"/>
              <a:ext cx="1008" cy="672"/>
              <a:chOff x="2112" y="1344"/>
              <a:chExt cx="768" cy="672"/>
            </a:xfrm>
          </p:grpSpPr>
          <p:sp>
            <p:nvSpPr>
              <p:cNvPr id="93213" name="Rectangle 6"/>
              <p:cNvSpPr>
                <a:spLocks noChangeArrowheads="1"/>
              </p:cNvSpPr>
              <p:nvPr/>
            </p:nvSpPr>
            <p:spPr bwMode="auto">
              <a:xfrm>
                <a:off x="2112" y="1344"/>
                <a:ext cx="768" cy="67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endParaRPr>
              </a:p>
            </p:txBody>
          </p:sp>
          <p:sp>
            <p:nvSpPr>
              <p:cNvPr id="93214" name="Line 7"/>
              <p:cNvSpPr>
                <a:spLocks noChangeShapeType="1"/>
              </p:cNvSpPr>
              <p:nvPr/>
            </p:nvSpPr>
            <p:spPr bwMode="auto">
              <a:xfrm>
                <a:off x="2112" y="163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endParaRPr>
              </a:p>
            </p:txBody>
          </p:sp>
          <p:sp>
            <p:nvSpPr>
              <p:cNvPr id="93215" name="Line 8"/>
              <p:cNvSpPr>
                <a:spLocks noChangeShapeType="1"/>
              </p:cNvSpPr>
              <p:nvPr/>
            </p:nvSpPr>
            <p:spPr bwMode="auto">
              <a:xfrm>
                <a:off x="2112" y="1344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endParaRPr>
              </a:p>
            </p:txBody>
          </p:sp>
          <p:sp>
            <p:nvSpPr>
              <p:cNvPr id="93216" name="Line 9"/>
              <p:cNvSpPr>
                <a:spLocks noChangeShapeType="1"/>
              </p:cNvSpPr>
              <p:nvPr/>
            </p:nvSpPr>
            <p:spPr bwMode="auto">
              <a:xfrm flipH="1">
                <a:off x="2544" y="1344"/>
                <a:ext cx="33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endParaRPr>
              </a:p>
            </p:txBody>
          </p:sp>
          <p:sp>
            <p:nvSpPr>
              <p:cNvPr id="93217" name="Line 10"/>
              <p:cNvSpPr>
                <a:spLocks noChangeShapeType="1"/>
              </p:cNvSpPr>
              <p:nvPr/>
            </p:nvSpPr>
            <p:spPr bwMode="auto">
              <a:xfrm>
                <a:off x="2544" y="163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endParaRPr>
              </a:p>
            </p:txBody>
          </p:sp>
          <p:sp>
            <p:nvSpPr>
              <p:cNvPr id="93218" name="Text Box 11"/>
              <p:cNvSpPr txBox="1">
                <a:spLocks noChangeArrowheads="1"/>
              </p:cNvSpPr>
              <p:nvPr/>
            </p:nvSpPr>
            <p:spPr bwMode="auto">
              <a:xfrm>
                <a:off x="2112" y="1488"/>
                <a:ext cx="14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</a:rPr>
                  <a:t>Y</a:t>
                </a:r>
              </a:p>
            </p:txBody>
          </p:sp>
          <p:sp>
            <p:nvSpPr>
              <p:cNvPr id="93219" name="Text Box 12"/>
              <p:cNvSpPr txBox="1">
                <a:spLocks noChangeArrowheads="1"/>
              </p:cNvSpPr>
              <p:nvPr/>
            </p:nvSpPr>
            <p:spPr bwMode="auto">
              <a:xfrm>
                <a:off x="2717" y="1488"/>
                <a:ext cx="16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</a:rPr>
                  <a:t>N</a:t>
                </a:r>
              </a:p>
            </p:txBody>
          </p:sp>
          <p:sp>
            <p:nvSpPr>
              <p:cNvPr id="93220" name="Text Box 13"/>
              <p:cNvSpPr txBox="1">
                <a:spLocks noChangeArrowheads="1"/>
              </p:cNvSpPr>
              <p:nvPr/>
            </p:nvSpPr>
            <p:spPr bwMode="auto">
              <a:xfrm>
                <a:off x="2352" y="1392"/>
                <a:ext cx="3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Time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</a:rPr>
                  <a:t>Here?</a:t>
                </a:r>
              </a:p>
            </p:txBody>
          </p:sp>
        </p:grpSp>
        <p:sp>
          <p:nvSpPr>
            <p:cNvPr id="93211" name="Text Box 14"/>
            <p:cNvSpPr txBox="1">
              <a:spLocks noChangeArrowheads="1"/>
            </p:cNvSpPr>
            <p:nvPr/>
          </p:nvSpPr>
          <p:spPr bwMode="auto">
            <a:xfrm>
              <a:off x="2112" y="1680"/>
              <a:ext cx="4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Do what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is needed</a:t>
              </a:r>
            </a:p>
          </p:txBody>
        </p:sp>
        <p:sp>
          <p:nvSpPr>
            <p:cNvPr id="93212" name="Text Box 15"/>
            <p:cNvSpPr txBox="1">
              <a:spLocks noChangeArrowheads="1"/>
            </p:cNvSpPr>
            <p:nvPr/>
          </p:nvSpPr>
          <p:spPr bwMode="auto">
            <a:xfrm>
              <a:off x="2659" y="1728"/>
              <a:ext cx="4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</a:rPr>
                <a:t>Forward</a:t>
              </a:r>
            </a:p>
          </p:txBody>
        </p:sp>
      </p:grpSp>
      <p:sp>
        <p:nvSpPr>
          <p:cNvPr id="93188" name="Text Box 16"/>
          <p:cNvSpPr txBox="1">
            <a:spLocks noChangeArrowheads="1"/>
          </p:cNvSpPr>
          <p:nvPr/>
        </p:nvSpPr>
        <p:spPr bwMode="auto">
          <a:xfrm>
            <a:off x="990600" y="2971800"/>
            <a:ext cx="1663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Request Look up</a:t>
            </a:r>
          </a:p>
        </p:txBody>
      </p:sp>
      <p:sp>
        <p:nvSpPr>
          <p:cNvPr id="93189" name="AutoShape 17"/>
          <p:cNvSpPr>
            <a:spLocks noChangeArrowheads="1"/>
          </p:cNvSpPr>
          <p:nvPr/>
        </p:nvSpPr>
        <p:spPr bwMode="auto">
          <a:xfrm rot="5400000">
            <a:off x="5905500" y="1485900"/>
            <a:ext cx="533400" cy="914400"/>
          </a:xfrm>
          <a:custGeom>
            <a:avLst/>
            <a:gdLst>
              <a:gd name="T0" fmla="*/ 227783185 w 21600"/>
              <a:gd name="T1" fmla="*/ 0 h 21600"/>
              <a:gd name="T2" fmla="*/ 227783185 w 21600"/>
              <a:gd name="T3" fmla="*/ 922379876 h 21600"/>
              <a:gd name="T4" fmla="*/ 48746216 w 21600"/>
              <a:gd name="T5" fmla="*/ 1638706400 h 21600"/>
              <a:gd name="T6" fmla="*/ 325275642 w 21600"/>
              <a:gd name="T7" fmla="*/ 46118902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</a:endParaRPr>
          </a:p>
        </p:txBody>
      </p:sp>
      <p:grpSp>
        <p:nvGrpSpPr>
          <p:cNvPr id="93190" name="Group 18"/>
          <p:cNvGrpSpPr>
            <a:grpSpLocks/>
          </p:cNvGrpSpPr>
          <p:nvPr/>
        </p:nvGrpSpPr>
        <p:grpSpPr bwMode="auto">
          <a:xfrm>
            <a:off x="3048000" y="1524000"/>
            <a:ext cx="762000" cy="762000"/>
            <a:chOff x="3168" y="1440"/>
            <a:chExt cx="480" cy="480"/>
          </a:xfrm>
        </p:grpSpPr>
        <p:sp>
          <p:nvSpPr>
            <p:cNvPr id="93204" name="Rectangle 19"/>
            <p:cNvSpPr>
              <a:spLocks noChangeArrowheads="1"/>
            </p:cNvSpPr>
            <p:nvPr/>
          </p:nvSpPr>
          <p:spPr bwMode="auto">
            <a:xfrm>
              <a:off x="3168" y="1440"/>
              <a:ext cx="48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5" name="Line 20"/>
            <p:cNvSpPr>
              <a:spLocks noChangeShapeType="1"/>
            </p:cNvSpPr>
            <p:nvPr/>
          </p:nvSpPr>
          <p:spPr bwMode="auto">
            <a:xfrm>
              <a:off x="3168" y="15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6" name="Line 21"/>
            <p:cNvSpPr>
              <a:spLocks noChangeShapeType="1"/>
            </p:cNvSpPr>
            <p:nvPr/>
          </p:nvSpPr>
          <p:spPr bwMode="auto">
            <a:xfrm>
              <a:off x="3168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7" name="Line 22"/>
            <p:cNvSpPr>
              <a:spLocks noChangeShapeType="1"/>
            </p:cNvSpPr>
            <p:nvPr/>
          </p:nvSpPr>
          <p:spPr bwMode="auto">
            <a:xfrm>
              <a:off x="3168" y="17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8" name="Line 23"/>
            <p:cNvSpPr>
              <a:spLocks noChangeShapeType="1"/>
            </p:cNvSpPr>
            <p:nvPr/>
          </p:nvSpPr>
          <p:spPr bwMode="auto">
            <a:xfrm>
              <a:off x="3168" y="182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9" name="Line 24"/>
            <p:cNvSpPr>
              <a:spLocks noChangeShapeType="1"/>
            </p:cNvSpPr>
            <p:nvPr/>
          </p:nvSpPr>
          <p:spPr bwMode="auto">
            <a:xfrm>
              <a:off x="3408" y="144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</p:grpSp>
      <p:sp>
        <p:nvSpPr>
          <p:cNvPr id="93191" name="Text Box 25"/>
          <p:cNvSpPr txBox="1">
            <a:spLocks noChangeArrowheads="1"/>
          </p:cNvSpPr>
          <p:nvPr/>
        </p:nvSpPr>
        <p:spPr bwMode="auto">
          <a:xfrm>
            <a:off x="2895600" y="2286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Forwarding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Table</a:t>
            </a:r>
          </a:p>
        </p:txBody>
      </p:sp>
      <p:sp>
        <p:nvSpPr>
          <p:cNvPr id="93192" name="Text Box 26"/>
          <p:cNvSpPr txBox="1">
            <a:spLocks noChangeArrowheads="1"/>
          </p:cNvSpPr>
          <p:nvPr/>
        </p:nvSpPr>
        <p:spPr bwMode="auto">
          <a:xfrm>
            <a:off x="1524000" y="2286000"/>
            <a:ext cx="598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Search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rPr>
              <a:t>Rules</a:t>
            </a:r>
          </a:p>
        </p:txBody>
      </p:sp>
      <p:grpSp>
        <p:nvGrpSpPr>
          <p:cNvPr id="93193" name="Group 27"/>
          <p:cNvGrpSpPr>
            <a:grpSpLocks/>
          </p:cNvGrpSpPr>
          <p:nvPr/>
        </p:nvGrpSpPr>
        <p:grpSpPr bwMode="auto">
          <a:xfrm>
            <a:off x="1371600" y="1600200"/>
            <a:ext cx="762000" cy="685800"/>
            <a:chOff x="4656" y="1536"/>
            <a:chExt cx="480" cy="432"/>
          </a:xfrm>
        </p:grpSpPr>
        <p:sp>
          <p:nvSpPr>
            <p:cNvPr id="93198" name="Rectangle 28"/>
            <p:cNvSpPr>
              <a:spLocks noChangeArrowheads="1"/>
            </p:cNvSpPr>
            <p:nvPr/>
          </p:nvSpPr>
          <p:spPr bwMode="auto">
            <a:xfrm>
              <a:off x="4656" y="1536"/>
              <a:ext cx="480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199" name="Line 29"/>
            <p:cNvSpPr>
              <a:spLocks noChangeShapeType="1"/>
            </p:cNvSpPr>
            <p:nvPr/>
          </p:nvSpPr>
          <p:spPr bwMode="auto">
            <a:xfrm>
              <a:off x="4752" y="163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0" name="Line 30"/>
            <p:cNvSpPr>
              <a:spLocks noChangeShapeType="1"/>
            </p:cNvSpPr>
            <p:nvPr/>
          </p:nvSpPr>
          <p:spPr bwMode="auto">
            <a:xfrm>
              <a:off x="4752" y="168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1" name="Line 31"/>
            <p:cNvSpPr>
              <a:spLocks noChangeShapeType="1"/>
            </p:cNvSpPr>
            <p:nvPr/>
          </p:nvSpPr>
          <p:spPr bwMode="auto">
            <a:xfrm>
              <a:off x="4752" y="172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2" name="Line 32"/>
            <p:cNvSpPr>
              <a:spLocks noChangeShapeType="1"/>
            </p:cNvSpPr>
            <p:nvPr/>
          </p:nvSpPr>
          <p:spPr bwMode="auto">
            <a:xfrm>
              <a:off x="4752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  <p:sp>
          <p:nvSpPr>
            <p:cNvPr id="93203" name="Line 33"/>
            <p:cNvSpPr>
              <a:spLocks noChangeShapeType="1"/>
            </p:cNvSpPr>
            <p:nvPr/>
          </p:nvSpPr>
          <p:spPr bwMode="auto">
            <a:xfrm>
              <a:off x="4752" y="182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</a:endParaRPr>
            </a:p>
          </p:txBody>
        </p:sp>
      </p:grpSp>
      <p:sp>
        <p:nvSpPr>
          <p:cNvPr id="326690" name="AutoShape 34"/>
          <p:cNvSpPr>
            <a:spLocks noChangeArrowheads="1"/>
          </p:cNvSpPr>
          <p:nvPr/>
        </p:nvSpPr>
        <p:spPr bwMode="auto">
          <a:xfrm flipV="1">
            <a:off x="6781800" y="3276600"/>
            <a:ext cx="914400" cy="457200"/>
          </a:xfrm>
          <a:custGeom>
            <a:avLst/>
            <a:gdLst>
              <a:gd name="T0" fmla="*/ 1147549690 w 21600"/>
              <a:gd name="T1" fmla="*/ 0 h 21600"/>
              <a:gd name="T2" fmla="*/ 1147549690 w 21600"/>
              <a:gd name="T3" fmla="*/ 115297268 h 21600"/>
              <a:gd name="T4" fmla="*/ 245578376 w 21600"/>
              <a:gd name="T5" fmla="*/ 204838300 h 21600"/>
              <a:gd name="T6" fmla="*/ 1638706400 w 21600"/>
              <a:gd name="T7" fmla="*/ 57648623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</a:endParaRPr>
          </a:p>
        </p:txBody>
      </p:sp>
      <p:sp>
        <p:nvSpPr>
          <p:cNvPr id="93195" name="AutoShape 35"/>
          <p:cNvSpPr>
            <a:spLocks noChangeArrowheads="1"/>
          </p:cNvSpPr>
          <p:nvPr/>
        </p:nvSpPr>
        <p:spPr bwMode="auto">
          <a:xfrm rot="16200000" flipV="1">
            <a:off x="2933700" y="2552700"/>
            <a:ext cx="533400" cy="914400"/>
          </a:xfrm>
          <a:custGeom>
            <a:avLst/>
            <a:gdLst>
              <a:gd name="T0" fmla="*/ 227783185 w 21600"/>
              <a:gd name="T1" fmla="*/ 0 h 21600"/>
              <a:gd name="T2" fmla="*/ 227783185 w 21600"/>
              <a:gd name="T3" fmla="*/ 922379876 h 21600"/>
              <a:gd name="T4" fmla="*/ 48746216 w 21600"/>
              <a:gd name="T5" fmla="*/ 1638706400 h 21600"/>
              <a:gd name="T6" fmla="*/ 325275642 w 21600"/>
              <a:gd name="T7" fmla="*/ 46118902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</a:endParaRPr>
          </a:p>
        </p:txBody>
      </p:sp>
      <p:sp>
        <p:nvSpPr>
          <p:cNvPr id="93196" name="AutoShape 36"/>
          <p:cNvSpPr>
            <a:spLocks noChangeArrowheads="1"/>
          </p:cNvSpPr>
          <p:nvPr/>
        </p:nvSpPr>
        <p:spPr bwMode="auto">
          <a:xfrm>
            <a:off x="2133600" y="1828800"/>
            <a:ext cx="914400" cy="2286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</a:endParaRPr>
          </a:p>
        </p:txBody>
      </p:sp>
      <p:sp>
        <p:nvSpPr>
          <p:cNvPr id="93197" name="AutoShape 37"/>
          <p:cNvSpPr>
            <a:spLocks noChangeArrowheads="1"/>
          </p:cNvSpPr>
          <p:nvPr/>
        </p:nvSpPr>
        <p:spPr bwMode="auto">
          <a:xfrm flipH="1">
            <a:off x="3810000" y="1600200"/>
            <a:ext cx="1905000" cy="304800"/>
          </a:xfrm>
          <a:prstGeom prst="leftArrow">
            <a:avLst>
              <a:gd name="adj1" fmla="val 50000"/>
              <a:gd name="adj2" fmla="val 15625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/>
      <p:bldP spid="32669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 The DIF Allocator Look-Up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133600"/>
            <a:ext cx="7543800" cy="3962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Finds a Layer that Has Access to the Application.</a:t>
            </a:r>
          </a:p>
          <a:p>
            <a:pPr>
              <a:defRPr/>
            </a:pPr>
            <a:r>
              <a:rPr lang="en-US" dirty="0">
                <a:cs typeface="+mn-cs"/>
              </a:rPr>
              <a:t>Two possibilities: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There is an underlying Layer in common that the Requestor can Join, or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We need to create a new layer.</a:t>
            </a:r>
          </a:p>
          <a:p>
            <a:pPr>
              <a:defRPr/>
            </a:pPr>
            <a:r>
              <a:rPr lang="en-US" dirty="0">
                <a:cs typeface="+mn-cs"/>
              </a:rPr>
              <a:t>Either way requires the cooperation of management to commit resources.</a:t>
            </a:r>
          </a:p>
          <a:p>
            <a:pPr>
              <a:defRPr/>
            </a:pPr>
            <a:r>
              <a:rPr lang="en-US" dirty="0">
                <a:cs typeface="+mn-cs"/>
              </a:rPr>
              <a:t>Once that is Complete.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The created layer may only include the source and destination (good security) or the layer may be created with an average degree of the graph (level of resiliency)</a:t>
            </a:r>
          </a:p>
          <a:p>
            <a:pPr>
              <a:defRPr/>
            </a:pPr>
            <a:r>
              <a:rPr lang="en-US" dirty="0">
                <a:cs typeface="+mn-cs"/>
              </a:rPr>
              <a:t>The Allocate is Handed to the Layer/DIF.</a:t>
            </a: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To Recap</a:t>
            </a:r>
          </a:p>
        </p:txBody>
      </p:sp>
      <p:sp>
        <p:nvSpPr>
          <p:cNvPr id="338948" name="Line 4"/>
          <p:cNvSpPr>
            <a:spLocks noChangeShapeType="1"/>
          </p:cNvSpPr>
          <p:nvPr/>
        </p:nvSpPr>
        <p:spPr bwMode="auto">
          <a:xfrm>
            <a:off x="1524000" y="1676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49" name="Oval 5"/>
          <p:cNvSpPr>
            <a:spLocks noChangeArrowheads="1"/>
          </p:cNvSpPr>
          <p:nvPr/>
        </p:nvSpPr>
        <p:spPr bwMode="auto">
          <a:xfrm>
            <a:off x="1600200" y="1905000"/>
            <a:ext cx="6096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50" name="Rectangle 6"/>
          <p:cNvSpPr>
            <a:spLocks noChangeArrowheads="1"/>
          </p:cNvSpPr>
          <p:nvPr/>
        </p:nvSpPr>
        <p:spPr bwMode="auto">
          <a:xfrm>
            <a:off x="1752600" y="2667000"/>
            <a:ext cx="26670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DIF</a:t>
            </a:r>
          </a:p>
        </p:txBody>
      </p:sp>
      <p:sp>
        <p:nvSpPr>
          <p:cNvPr id="338951" name="Oval 7"/>
          <p:cNvSpPr>
            <a:spLocks noChangeArrowheads="1"/>
          </p:cNvSpPr>
          <p:nvPr/>
        </p:nvSpPr>
        <p:spPr bwMode="auto">
          <a:xfrm>
            <a:off x="4267200" y="1905000"/>
            <a:ext cx="6096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52" name="Oval 8"/>
          <p:cNvSpPr>
            <a:spLocks noChangeArrowheads="1"/>
          </p:cNvSpPr>
          <p:nvPr/>
        </p:nvSpPr>
        <p:spPr bwMode="auto">
          <a:xfrm>
            <a:off x="6858000" y="1905000"/>
            <a:ext cx="6096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56" name="Rectangle 12"/>
          <p:cNvSpPr>
            <a:spLocks noChangeArrowheads="1"/>
          </p:cNvSpPr>
          <p:nvPr/>
        </p:nvSpPr>
        <p:spPr bwMode="auto">
          <a:xfrm>
            <a:off x="4572000" y="2667000"/>
            <a:ext cx="26670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DIF</a:t>
            </a:r>
          </a:p>
        </p:txBody>
      </p:sp>
      <p:sp>
        <p:nvSpPr>
          <p:cNvPr id="338958" name="Text Box 14"/>
          <p:cNvSpPr txBox="1">
            <a:spLocks noChangeArrowheads="1"/>
          </p:cNvSpPr>
          <p:nvPr/>
        </p:nvSpPr>
        <p:spPr bwMode="auto">
          <a:xfrm>
            <a:off x="1600200" y="1143000"/>
            <a:ext cx="7000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Allocate</a:t>
            </a:r>
          </a:p>
        </p:txBody>
      </p:sp>
      <p:sp>
        <p:nvSpPr>
          <p:cNvPr id="338959" name="AutoShape 15"/>
          <p:cNvSpPr>
            <a:spLocks noChangeArrowheads="1"/>
          </p:cNvSpPr>
          <p:nvPr/>
        </p:nvSpPr>
        <p:spPr bwMode="auto">
          <a:xfrm>
            <a:off x="1828800" y="1447800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99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99CCCC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60" name="Text Box 16"/>
          <p:cNvSpPr txBox="1">
            <a:spLocks noChangeArrowheads="1"/>
          </p:cNvSpPr>
          <p:nvPr/>
        </p:nvSpPr>
        <p:spPr bwMode="auto">
          <a:xfrm>
            <a:off x="2667000" y="1143000"/>
            <a:ext cx="434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First, Do a Look up to Find What Layer to Use.</a:t>
            </a:r>
          </a:p>
        </p:txBody>
      </p:sp>
      <p:sp>
        <p:nvSpPr>
          <p:cNvPr id="338961" name="AutoShape 17"/>
          <p:cNvSpPr>
            <a:spLocks noChangeArrowheads="1"/>
          </p:cNvSpPr>
          <p:nvPr/>
        </p:nvSpPr>
        <p:spPr bwMode="auto">
          <a:xfrm>
            <a:off x="2209800" y="1905000"/>
            <a:ext cx="2057400" cy="152400"/>
          </a:xfrm>
          <a:prstGeom prst="rightArrow">
            <a:avLst>
              <a:gd name="adj1" fmla="val 50000"/>
              <a:gd name="adj2" fmla="val 337500"/>
            </a:avLst>
          </a:prstGeom>
          <a:solidFill>
            <a:srgbClr val="99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63" name="AutoShape 19"/>
          <p:cNvSpPr>
            <a:spLocks noChangeArrowheads="1"/>
          </p:cNvSpPr>
          <p:nvPr/>
        </p:nvSpPr>
        <p:spPr bwMode="auto">
          <a:xfrm>
            <a:off x="2209800" y="2133600"/>
            <a:ext cx="2057400" cy="152400"/>
          </a:xfrm>
          <a:prstGeom prst="leftArrow">
            <a:avLst>
              <a:gd name="adj1" fmla="val 50000"/>
              <a:gd name="adj2" fmla="val 337500"/>
            </a:avLst>
          </a:prstGeom>
          <a:solidFill>
            <a:srgbClr val="99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8964" name="Line 20"/>
          <p:cNvSpPr>
            <a:spLocks noChangeShapeType="1"/>
          </p:cNvSpPr>
          <p:nvPr/>
        </p:nvSpPr>
        <p:spPr bwMode="auto">
          <a:xfrm>
            <a:off x="1524000" y="30480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grpSp>
        <p:nvGrpSpPr>
          <p:cNvPr id="104462" name="Group 24"/>
          <p:cNvGrpSpPr>
            <a:grpSpLocks/>
          </p:cNvGrpSpPr>
          <p:nvPr/>
        </p:nvGrpSpPr>
        <p:grpSpPr bwMode="auto">
          <a:xfrm>
            <a:off x="1981200" y="3810000"/>
            <a:ext cx="5732463" cy="1143000"/>
            <a:chOff x="1056" y="384"/>
            <a:chExt cx="3611" cy="720"/>
          </a:xfrm>
        </p:grpSpPr>
        <p:grpSp>
          <p:nvGrpSpPr>
            <p:cNvPr id="104471" name="Group 25"/>
            <p:cNvGrpSpPr>
              <a:grpSpLocks/>
            </p:cNvGrpSpPr>
            <p:nvPr/>
          </p:nvGrpSpPr>
          <p:grpSpPr bwMode="auto">
            <a:xfrm>
              <a:off x="1056" y="384"/>
              <a:ext cx="3611" cy="589"/>
              <a:chOff x="1088" y="720"/>
              <a:chExt cx="3611" cy="589"/>
            </a:xfrm>
          </p:grpSpPr>
          <p:grpSp>
            <p:nvGrpSpPr>
              <p:cNvPr id="104478" name="Group 26"/>
              <p:cNvGrpSpPr>
                <a:grpSpLocks/>
              </p:cNvGrpSpPr>
              <p:nvPr/>
            </p:nvGrpSpPr>
            <p:grpSpPr bwMode="auto">
              <a:xfrm>
                <a:off x="1088" y="936"/>
                <a:ext cx="3611" cy="373"/>
                <a:chOff x="576" y="1296"/>
                <a:chExt cx="2708" cy="497"/>
              </a:xfrm>
            </p:grpSpPr>
            <p:grpSp>
              <p:nvGrpSpPr>
                <p:cNvPr id="104486" name="Group 27"/>
                <p:cNvGrpSpPr>
                  <a:grpSpLocks/>
                </p:cNvGrpSpPr>
                <p:nvPr/>
              </p:nvGrpSpPr>
              <p:grpSpPr bwMode="auto">
                <a:xfrm>
                  <a:off x="576" y="1296"/>
                  <a:ext cx="356" cy="497"/>
                  <a:chOff x="2368" y="1886"/>
                  <a:chExt cx="530" cy="472"/>
                </a:xfrm>
              </p:grpSpPr>
              <p:grpSp>
                <p:nvGrpSpPr>
                  <p:cNvPr id="104615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2371" y="1886"/>
                    <a:ext cx="527" cy="472"/>
                    <a:chOff x="1536" y="1632"/>
                    <a:chExt cx="528" cy="472"/>
                  </a:xfrm>
                </p:grpSpPr>
                <p:sp>
                  <p:nvSpPr>
                    <p:cNvPr id="104618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6" y="1632"/>
                      <a:ext cx="89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19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44" y="1920"/>
                      <a:ext cx="51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0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632"/>
                      <a:ext cx="52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1" name="Oval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77" y="1835"/>
                      <a:ext cx="170" cy="8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622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40" y="1728"/>
                      <a:ext cx="175" cy="376"/>
                      <a:chOff x="1399" y="288"/>
                      <a:chExt cx="1031" cy="1692"/>
                    </a:xfrm>
                  </p:grpSpPr>
                  <p:sp>
                    <p:nvSpPr>
                      <p:cNvPr id="104644" name="Rectangle 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88"/>
                        <a:ext cx="288" cy="52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45" name="Text Box 3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9" y="338"/>
                        <a:ext cx="1031" cy="1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  <a:cs typeface="ＭＳ Ｐゴシック" charset="0"/>
                          </a:defRPr>
                        </a:lvl1pPr>
                        <a:lvl2pPr marL="742950" indent="-28575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2pPr>
                        <a:lvl3pPr marL="11430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3pPr>
                        <a:lvl4pPr marL="16002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4pPr>
                        <a:lvl5pPr marL="20574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0"/>
                        </a:endParaRPr>
                      </a:p>
                    </p:txBody>
                  </p:sp>
                </p:grpSp>
                <p:sp>
                  <p:nvSpPr>
                    <p:cNvPr id="104623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0" y="1685"/>
                      <a:ext cx="67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4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6" y="1749"/>
                      <a:ext cx="73" cy="6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5" name="Oval 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8" y="1653"/>
                      <a:ext cx="227" cy="267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6" name="Oval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8" y="1835"/>
                      <a:ext cx="155" cy="7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7" name="Oval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7" y="1664"/>
                      <a:ext cx="57" cy="7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628" name="Oval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25" y="1877"/>
                      <a:ext cx="65" cy="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629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68" y="1728"/>
                      <a:ext cx="58" cy="96"/>
                      <a:chOff x="3496" y="2256"/>
                      <a:chExt cx="296" cy="240"/>
                    </a:xfrm>
                  </p:grpSpPr>
                  <p:sp>
                    <p:nvSpPr>
                      <p:cNvPr id="104640" name="Oval 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256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41" name="Oval 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448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42" name="Line 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84" y="2264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43" name="Line 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96" y="2272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104630" name="Group 4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3" y="1707"/>
                      <a:ext cx="72" cy="128"/>
                      <a:chOff x="1872" y="1968"/>
                      <a:chExt cx="424" cy="576"/>
                    </a:xfrm>
                  </p:grpSpPr>
                  <p:grpSp>
                    <p:nvGrpSpPr>
                      <p:cNvPr id="104631" name="Group 4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68" y="1968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638" name="Rectangle 4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639" name="Oval 5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632" name="Group 5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0" y="2016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636" name="Rectangle 5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637" name="Oval 5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633" name="Group 5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72" y="2064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634" name="Rectangle 5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635" name="Oval 5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39001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368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339002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2893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104487" name="Group 59"/>
                <p:cNvGrpSpPr>
                  <a:grpSpLocks/>
                </p:cNvGrpSpPr>
                <p:nvPr/>
              </p:nvGrpSpPr>
              <p:grpSpPr bwMode="auto">
                <a:xfrm>
                  <a:off x="1200" y="1296"/>
                  <a:ext cx="356" cy="497"/>
                  <a:chOff x="2368" y="1886"/>
                  <a:chExt cx="530" cy="472"/>
                </a:xfrm>
              </p:grpSpPr>
              <p:grpSp>
                <p:nvGrpSpPr>
                  <p:cNvPr id="104584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2371" y="1886"/>
                    <a:ext cx="527" cy="472"/>
                    <a:chOff x="1536" y="1632"/>
                    <a:chExt cx="528" cy="472"/>
                  </a:xfrm>
                </p:grpSpPr>
                <p:sp>
                  <p:nvSpPr>
                    <p:cNvPr id="104587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6" y="1632"/>
                      <a:ext cx="89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88" name="Line 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44" y="1920"/>
                      <a:ext cx="51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89" name="Line 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632"/>
                      <a:ext cx="52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90" name="Oval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77" y="1835"/>
                      <a:ext cx="170" cy="8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91" name="Group 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40" y="1728"/>
                      <a:ext cx="175" cy="376"/>
                      <a:chOff x="1399" y="288"/>
                      <a:chExt cx="1031" cy="1692"/>
                    </a:xfrm>
                  </p:grpSpPr>
                  <p:sp>
                    <p:nvSpPr>
                      <p:cNvPr id="104613" name="Rectangle 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88"/>
                        <a:ext cx="288" cy="52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14" name="Text Box 6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9" y="338"/>
                        <a:ext cx="1031" cy="1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  <a:cs typeface="ＭＳ Ｐゴシック" charset="0"/>
                          </a:defRPr>
                        </a:lvl1pPr>
                        <a:lvl2pPr marL="742950" indent="-28575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2pPr>
                        <a:lvl3pPr marL="11430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3pPr>
                        <a:lvl4pPr marL="16002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4pPr>
                        <a:lvl5pPr marL="20574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0"/>
                        </a:endParaRPr>
                      </a:p>
                    </p:txBody>
                  </p:sp>
                </p:grpSp>
                <p:sp>
                  <p:nvSpPr>
                    <p:cNvPr id="104592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0" y="1685"/>
                      <a:ext cx="67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93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6" y="1749"/>
                      <a:ext cx="73" cy="6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94" name="Oval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8" y="1653"/>
                      <a:ext cx="227" cy="267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95" name="Oval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8" y="1835"/>
                      <a:ext cx="155" cy="7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96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7" y="1664"/>
                      <a:ext cx="57" cy="7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97" name="Oval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25" y="1877"/>
                      <a:ext cx="65" cy="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98" name="Group 7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68" y="1728"/>
                      <a:ext cx="58" cy="96"/>
                      <a:chOff x="3496" y="2256"/>
                      <a:chExt cx="296" cy="240"/>
                    </a:xfrm>
                  </p:grpSpPr>
                  <p:sp>
                    <p:nvSpPr>
                      <p:cNvPr id="104609" name="Oval 7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256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10" name="Oval 7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448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11" name="Line 7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84" y="2264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612" name="Line 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96" y="2272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104599" name="Group 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3" y="1707"/>
                      <a:ext cx="72" cy="128"/>
                      <a:chOff x="1872" y="1968"/>
                      <a:chExt cx="424" cy="576"/>
                    </a:xfrm>
                  </p:grpSpPr>
                  <p:grpSp>
                    <p:nvGrpSpPr>
                      <p:cNvPr id="104600" name="Group 8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68" y="1968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607" name="Rectangle 8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608" name="Oval 8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601" name="Group 8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0" y="2016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605" name="Rectangle 8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606" name="Oval 8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602" name="Group 8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72" y="2064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603" name="Rectangle 8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604" name="Oval 8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39033" name="Line 89"/>
                  <p:cNvSpPr>
                    <a:spLocks noChangeShapeType="1"/>
                  </p:cNvSpPr>
                  <p:nvPr/>
                </p:nvSpPr>
                <p:spPr bwMode="auto">
                  <a:xfrm>
                    <a:off x="2368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339034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2890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104488" name="Group 91"/>
                <p:cNvGrpSpPr>
                  <a:grpSpLocks/>
                </p:cNvGrpSpPr>
                <p:nvPr/>
              </p:nvGrpSpPr>
              <p:grpSpPr bwMode="auto">
                <a:xfrm>
                  <a:off x="1776" y="1296"/>
                  <a:ext cx="356" cy="497"/>
                  <a:chOff x="2368" y="1886"/>
                  <a:chExt cx="530" cy="472"/>
                </a:xfrm>
              </p:grpSpPr>
              <p:grpSp>
                <p:nvGrpSpPr>
                  <p:cNvPr id="104553" name="Group 92"/>
                  <p:cNvGrpSpPr>
                    <a:grpSpLocks/>
                  </p:cNvGrpSpPr>
                  <p:nvPr/>
                </p:nvGrpSpPr>
                <p:grpSpPr bwMode="auto">
                  <a:xfrm>
                    <a:off x="2371" y="1886"/>
                    <a:ext cx="527" cy="472"/>
                    <a:chOff x="1536" y="1632"/>
                    <a:chExt cx="528" cy="472"/>
                  </a:xfrm>
                </p:grpSpPr>
                <p:sp>
                  <p:nvSpPr>
                    <p:cNvPr id="104556" name="Rectangl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6" y="1632"/>
                      <a:ext cx="89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57" name="Line 9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44" y="1920"/>
                      <a:ext cx="51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58" name="Line 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632"/>
                      <a:ext cx="52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59" name="Oval 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77" y="1835"/>
                      <a:ext cx="170" cy="8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60" name="Group 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40" y="1728"/>
                      <a:ext cx="175" cy="376"/>
                      <a:chOff x="1399" y="288"/>
                      <a:chExt cx="1031" cy="1692"/>
                    </a:xfrm>
                  </p:grpSpPr>
                  <p:sp>
                    <p:nvSpPr>
                      <p:cNvPr id="104582" name="Rectangle 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88"/>
                        <a:ext cx="288" cy="52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83" name="Text Box 9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9" y="338"/>
                        <a:ext cx="1031" cy="1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  <a:cs typeface="ＭＳ Ｐゴシック" charset="0"/>
                          </a:defRPr>
                        </a:lvl1pPr>
                        <a:lvl2pPr marL="742950" indent="-28575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2pPr>
                        <a:lvl3pPr marL="11430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3pPr>
                        <a:lvl4pPr marL="16002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4pPr>
                        <a:lvl5pPr marL="20574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0"/>
                        </a:endParaRPr>
                      </a:p>
                    </p:txBody>
                  </p:sp>
                </p:grpSp>
                <p:sp>
                  <p:nvSpPr>
                    <p:cNvPr id="104561" name="Rectangle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0" y="1685"/>
                      <a:ext cx="67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62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6" y="1749"/>
                      <a:ext cx="73" cy="6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63" name="Oval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8" y="1653"/>
                      <a:ext cx="227" cy="267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64" name="Oval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8" y="1835"/>
                      <a:ext cx="155" cy="7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65" name="Oval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7" y="1664"/>
                      <a:ext cx="57" cy="7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66" name="Oval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25" y="1877"/>
                      <a:ext cx="65" cy="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67" name="Group 1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68" y="1728"/>
                      <a:ext cx="58" cy="96"/>
                      <a:chOff x="3496" y="2256"/>
                      <a:chExt cx="296" cy="240"/>
                    </a:xfrm>
                  </p:grpSpPr>
                  <p:sp>
                    <p:nvSpPr>
                      <p:cNvPr id="104578" name="Oval 10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256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79" name="Oval 10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448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80" name="Line 10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84" y="2264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81" name="Line 11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96" y="2272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104568" name="Group 11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3" y="1707"/>
                      <a:ext cx="72" cy="128"/>
                      <a:chOff x="1872" y="1968"/>
                      <a:chExt cx="424" cy="576"/>
                    </a:xfrm>
                  </p:grpSpPr>
                  <p:grpSp>
                    <p:nvGrpSpPr>
                      <p:cNvPr id="104569" name="Group 11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68" y="1968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76" name="Rectangle 1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7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570" name="Group 11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0" y="2016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74" name="Rectangle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75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571" name="Group 11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72" y="2064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72" name="Rectangle 1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73" name="Oval 1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39065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2368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339066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890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104489" name="Group 123"/>
                <p:cNvGrpSpPr>
                  <a:grpSpLocks/>
                </p:cNvGrpSpPr>
                <p:nvPr/>
              </p:nvGrpSpPr>
              <p:grpSpPr bwMode="auto">
                <a:xfrm>
                  <a:off x="2352" y="1296"/>
                  <a:ext cx="356" cy="497"/>
                  <a:chOff x="2368" y="1886"/>
                  <a:chExt cx="530" cy="472"/>
                </a:xfrm>
              </p:grpSpPr>
              <p:grpSp>
                <p:nvGrpSpPr>
                  <p:cNvPr id="104522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2371" y="1886"/>
                    <a:ext cx="527" cy="472"/>
                    <a:chOff x="1536" y="1632"/>
                    <a:chExt cx="528" cy="472"/>
                  </a:xfrm>
                </p:grpSpPr>
                <p:sp>
                  <p:nvSpPr>
                    <p:cNvPr id="104525" name="Rectangle 1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6" y="1632"/>
                      <a:ext cx="89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26" name="Line 1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44" y="1920"/>
                      <a:ext cx="51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27" name="Line 1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632"/>
                      <a:ext cx="52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28" name="Oval 1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77" y="1835"/>
                      <a:ext cx="170" cy="8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29" name="Group 12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40" y="1728"/>
                      <a:ext cx="175" cy="376"/>
                      <a:chOff x="1399" y="288"/>
                      <a:chExt cx="1031" cy="1692"/>
                    </a:xfrm>
                  </p:grpSpPr>
                  <p:sp>
                    <p:nvSpPr>
                      <p:cNvPr id="104551" name="Rectangle 13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88"/>
                        <a:ext cx="288" cy="52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52" name="Text Box 13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9" y="338"/>
                        <a:ext cx="1031" cy="1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  <a:cs typeface="ＭＳ Ｐゴシック" charset="0"/>
                          </a:defRPr>
                        </a:lvl1pPr>
                        <a:lvl2pPr marL="742950" indent="-28575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2pPr>
                        <a:lvl3pPr marL="11430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3pPr>
                        <a:lvl4pPr marL="16002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4pPr>
                        <a:lvl5pPr marL="20574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0"/>
                        </a:endParaRPr>
                      </a:p>
                    </p:txBody>
                  </p:sp>
                </p:grpSp>
                <p:sp>
                  <p:nvSpPr>
                    <p:cNvPr id="104530" name="Rectangle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0" y="1685"/>
                      <a:ext cx="67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31" name="Rectangle 1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6" y="1749"/>
                      <a:ext cx="73" cy="6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32" name="Oval 1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8" y="1653"/>
                      <a:ext cx="227" cy="267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33" name="Oval 1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8" y="1835"/>
                      <a:ext cx="155" cy="7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34" name="Oval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7" y="1664"/>
                      <a:ext cx="57" cy="7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35" name="Oval 1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25" y="1877"/>
                      <a:ext cx="65" cy="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36" name="Group 1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68" y="1728"/>
                      <a:ext cx="58" cy="96"/>
                      <a:chOff x="3496" y="2256"/>
                      <a:chExt cx="296" cy="240"/>
                    </a:xfrm>
                  </p:grpSpPr>
                  <p:sp>
                    <p:nvSpPr>
                      <p:cNvPr id="104547" name="Oval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256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48" name="Oval 1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448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49" name="Line 14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84" y="2264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50" name="Line 14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96" y="2272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104537" name="Group 14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3" y="1707"/>
                      <a:ext cx="72" cy="128"/>
                      <a:chOff x="1872" y="1968"/>
                      <a:chExt cx="424" cy="576"/>
                    </a:xfrm>
                  </p:grpSpPr>
                  <p:grpSp>
                    <p:nvGrpSpPr>
                      <p:cNvPr id="104538" name="Group 14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68" y="1968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45" name="Rectangle 14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46" name="Oval 14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539" name="Group 14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0" y="2016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43" name="Rectangle 14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44" name="Oval 14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540" name="Group 15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72" y="2064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41" name="Rectangle 15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42" name="Oval 15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39097" name="Line 153"/>
                  <p:cNvSpPr>
                    <a:spLocks noChangeShapeType="1"/>
                  </p:cNvSpPr>
                  <p:nvPr/>
                </p:nvSpPr>
                <p:spPr bwMode="auto">
                  <a:xfrm>
                    <a:off x="2368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339098" name="Line 154"/>
                  <p:cNvSpPr>
                    <a:spLocks noChangeShapeType="1"/>
                  </p:cNvSpPr>
                  <p:nvPr/>
                </p:nvSpPr>
                <p:spPr bwMode="auto">
                  <a:xfrm>
                    <a:off x="2890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104490" name="Group 155"/>
                <p:cNvGrpSpPr>
                  <a:grpSpLocks/>
                </p:cNvGrpSpPr>
                <p:nvPr/>
              </p:nvGrpSpPr>
              <p:grpSpPr bwMode="auto">
                <a:xfrm>
                  <a:off x="2928" y="1296"/>
                  <a:ext cx="356" cy="497"/>
                  <a:chOff x="2368" y="1886"/>
                  <a:chExt cx="530" cy="472"/>
                </a:xfrm>
              </p:grpSpPr>
              <p:grpSp>
                <p:nvGrpSpPr>
                  <p:cNvPr id="104491" name="Group 156"/>
                  <p:cNvGrpSpPr>
                    <a:grpSpLocks/>
                  </p:cNvGrpSpPr>
                  <p:nvPr/>
                </p:nvGrpSpPr>
                <p:grpSpPr bwMode="auto">
                  <a:xfrm>
                    <a:off x="2371" y="1886"/>
                    <a:ext cx="527" cy="472"/>
                    <a:chOff x="1536" y="1632"/>
                    <a:chExt cx="528" cy="472"/>
                  </a:xfrm>
                </p:grpSpPr>
                <p:sp>
                  <p:nvSpPr>
                    <p:cNvPr id="104494" name="Rectangle 1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6" y="1632"/>
                      <a:ext cx="89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495" name="Line 1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44" y="1920"/>
                      <a:ext cx="51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496" name="Line 1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632"/>
                      <a:ext cx="52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497" name="Oval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77" y="1835"/>
                      <a:ext cx="170" cy="8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498" name="Group 16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40" y="1728"/>
                      <a:ext cx="175" cy="376"/>
                      <a:chOff x="1399" y="288"/>
                      <a:chExt cx="1031" cy="1692"/>
                    </a:xfrm>
                  </p:grpSpPr>
                  <p:sp>
                    <p:nvSpPr>
                      <p:cNvPr id="104520" name="Rectangle 1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76" y="288"/>
                        <a:ext cx="288" cy="52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21" name="Text Box 16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399" y="338"/>
                        <a:ext cx="1031" cy="1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  <a:cs typeface="ＭＳ Ｐゴシック" charset="0"/>
                          </a:defRPr>
                        </a:lvl1pPr>
                        <a:lvl2pPr marL="742950" indent="-28575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2pPr>
                        <a:lvl3pPr marL="11430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3pPr>
                        <a:lvl4pPr marL="16002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4pPr>
                        <a:lvl5pPr marL="2057400" indent="-228600"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200">
                            <a:solidFill>
                              <a:schemeClr val="tx1"/>
                            </a:solidFill>
                            <a:latin typeface="Time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charset="0"/>
                          <a:ea typeface="ＭＳ Ｐゴシック" charset="0"/>
                        </a:endParaRPr>
                      </a:p>
                    </p:txBody>
                  </p:sp>
                </p:grpSp>
                <p:sp>
                  <p:nvSpPr>
                    <p:cNvPr id="104499" name="Rectangle 1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0" y="1685"/>
                      <a:ext cx="67" cy="43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00" name="Rectangle 1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6" y="1749"/>
                      <a:ext cx="73" cy="6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01" name="Oval 1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8" y="1653"/>
                      <a:ext cx="227" cy="267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02" name="Oval 1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8" y="1835"/>
                      <a:ext cx="155" cy="74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03" name="Oval 1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7" y="1664"/>
                      <a:ext cx="57" cy="75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BBE0E3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4504" name="Oval 1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25" y="1877"/>
                      <a:ext cx="65" cy="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04505" name="Group 1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68" y="1728"/>
                      <a:ext cx="58" cy="96"/>
                      <a:chOff x="3496" y="2256"/>
                      <a:chExt cx="296" cy="240"/>
                    </a:xfrm>
                  </p:grpSpPr>
                  <p:sp>
                    <p:nvSpPr>
                      <p:cNvPr id="104516" name="Oval 17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256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17" name="Oval 17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4" y="2448"/>
                        <a:ext cx="288" cy="48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18" name="Line 17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84" y="2264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4519" name="Line 17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96" y="2272"/>
                        <a:ext cx="8" cy="20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" charset="0"/>
                          <a:ea typeface="ＭＳ Ｐゴシック" charset="0"/>
                        </a:endParaRPr>
                      </a:p>
                    </p:txBody>
                  </p:sp>
                </p:grpSp>
                <p:grpSp>
                  <p:nvGrpSpPr>
                    <p:cNvPr id="104506" name="Group 1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3" y="1707"/>
                      <a:ext cx="72" cy="128"/>
                      <a:chOff x="1872" y="1968"/>
                      <a:chExt cx="424" cy="576"/>
                    </a:xfrm>
                  </p:grpSpPr>
                  <p:grpSp>
                    <p:nvGrpSpPr>
                      <p:cNvPr id="104507" name="Group 17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68" y="1968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14" name="Rectangle 17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15" name="Oval 17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508" name="Group 17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0" y="2016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12" name="Rectangle 18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13" name="Oval 18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  <p:grpSp>
                    <p:nvGrpSpPr>
                      <p:cNvPr id="104509" name="Group 18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72" y="2064"/>
                        <a:ext cx="328" cy="480"/>
                        <a:chOff x="1776" y="2016"/>
                        <a:chExt cx="328" cy="480"/>
                      </a:xfrm>
                    </p:grpSpPr>
                    <p:sp>
                      <p:nvSpPr>
                        <p:cNvPr id="104510" name="Rectangle 18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76" y="2016"/>
                          <a:ext cx="96" cy="48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  <p:sp>
                      <p:nvSpPr>
                        <p:cNvPr id="104511" name="Oval 18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72" y="2016"/>
                          <a:ext cx="232" cy="47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" charset="0"/>
                            <a:ea typeface="ＭＳ Ｐゴシック" charset="0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39129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68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339130" name="Line 186"/>
                  <p:cNvSpPr>
                    <a:spLocks noChangeShapeType="1"/>
                  </p:cNvSpPr>
                  <p:nvPr/>
                </p:nvSpPr>
                <p:spPr bwMode="auto">
                  <a:xfrm>
                    <a:off x="2890" y="1889"/>
                    <a:ext cx="0" cy="2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rgbClr val="808080">
                              <a:alpha val="74998"/>
                            </a:srgb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</p:grpSp>
          <p:sp>
            <p:nvSpPr>
              <p:cNvPr id="339131" name="Line 187"/>
              <p:cNvSpPr>
                <a:spLocks noChangeShapeType="1"/>
              </p:cNvSpPr>
              <p:nvPr/>
            </p:nvSpPr>
            <p:spPr bwMode="auto">
              <a:xfrm>
                <a:off x="1408" y="900"/>
                <a:ext cx="0" cy="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80808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4480" name="Group 188"/>
              <p:cNvGrpSpPr>
                <a:grpSpLocks/>
              </p:cNvGrpSpPr>
              <p:nvPr/>
            </p:nvGrpSpPr>
            <p:grpSpPr bwMode="auto">
              <a:xfrm>
                <a:off x="1216" y="720"/>
                <a:ext cx="320" cy="209"/>
                <a:chOff x="912" y="960"/>
                <a:chExt cx="240" cy="278"/>
              </a:xfrm>
            </p:grpSpPr>
            <p:sp>
              <p:nvSpPr>
                <p:cNvPr id="339133" name="Oval 189"/>
                <p:cNvSpPr>
                  <a:spLocks noChangeArrowheads="1"/>
                </p:cNvSpPr>
                <p:nvPr/>
              </p:nvSpPr>
              <p:spPr bwMode="auto">
                <a:xfrm>
                  <a:off x="912" y="960"/>
                  <a:ext cx="240" cy="239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339134" name="Text Box 190"/>
                <p:cNvSpPr txBox="1">
                  <a:spLocks noChangeArrowheads="1"/>
                </p:cNvSpPr>
                <p:nvPr/>
              </p:nvSpPr>
              <p:spPr bwMode="auto">
                <a:xfrm>
                  <a:off x="960" y="1008"/>
                  <a:ext cx="174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charset="0"/>
                      <a:ea typeface="ＭＳ Ｐゴシック" charset="0"/>
                    </a:rPr>
                    <a:t>A</a:t>
                  </a:r>
                </a:p>
              </p:txBody>
            </p:sp>
          </p:grpSp>
          <p:grpSp>
            <p:nvGrpSpPr>
              <p:cNvPr id="104481" name="Group 191"/>
              <p:cNvGrpSpPr>
                <a:grpSpLocks/>
              </p:cNvGrpSpPr>
              <p:nvPr/>
            </p:nvGrpSpPr>
            <p:grpSpPr bwMode="auto">
              <a:xfrm>
                <a:off x="4288" y="720"/>
                <a:ext cx="320" cy="294"/>
                <a:chOff x="3216" y="912"/>
                <a:chExt cx="240" cy="392"/>
              </a:xfrm>
            </p:grpSpPr>
            <p:sp>
              <p:nvSpPr>
                <p:cNvPr id="339136" name="Oval 192"/>
                <p:cNvSpPr>
                  <a:spLocks noChangeArrowheads="1"/>
                </p:cNvSpPr>
                <p:nvPr/>
              </p:nvSpPr>
              <p:spPr bwMode="auto">
                <a:xfrm>
                  <a:off x="3216" y="912"/>
                  <a:ext cx="240" cy="2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339137" name="Text Box 193"/>
                <p:cNvSpPr txBox="1">
                  <a:spLocks noChangeArrowheads="1"/>
                </p:cNvSpPr>
                <p:nvPr/>
              </p:nvSpPr>
              <p:spPr bwMode="auto">
                <a:xfrm>
                  <a:off x="3293" y="1073"/>
                  <a:ext cx="13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00CC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rgbClr val="80808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charset="0"/>
                      <a:ea typeface="ＭＳ Ｐゴシック" charset="0"/>
                    </a:rPr>
                    <a:t>B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39138" name="Rectangle 194"/>
            <p:cNvSpPr>
              <a:spLocks noChangeArrowheads="1"/>
            </p:cNvSpPr>
            <p:nvPr/>
          </p:nvSpPr>
          <p:spPr bwMode="auto">
            <a:xfrm>
              <a:off x="1392" y="912"/>
              <a:ext cx="192" cy="4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339139" name="Freeform 195"/>
            <p:cNvSpPr>
              <a:spLocks/>
            </p:cNvSpPr>
            <p:nvPr/>
          </p:nvSpPr>
          <p:spPr bwMode="auto">
            <a:xfrm>
              <a:off x="1536" y="576"/>
              <a:ext cx="336" cy="144"/>
            </a:xfrm>
            <a:custGeom>
              <a:avLst/>
              <a:gdLst>
                <a:gd name="T0" fmla="*/ 0 w 480"/>
                <a:gd name="T1" fmla="*/ 152 h 152"/>
                <a:gd name="T2" fmla="*/ 48 w 480"/>
                <a:gd name="T3" fmla="*/ 104 h 152"/>
                <a:gd name="T4" fmla="*/ 96 w 480"/>
                <a:gd name="T5" fmla="*/ 56 h 152"/>
                <a:gd name="T6" fmla="*/ 192 w 480"/>
                <a:gd name="T7" fmla="*/ 8 h 152"/>
                <a:gd name="T8" fmla="*/ 288 w 480"/>
                <a:gd name="T9" fmla="*/ 8 h 152"/>
                <a:gd name="T10" fmla="*/ 384 w 480"/>
                <a:gd name="T11" fmla="*/ 56 h 152"/>
                <a:gd name="T12" fmla="*/ 480 w 48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152">
                  <a:moveTo>
                    <a:pt x="0" y="152"/>
                  </a:moveTo>
                  <a:cubicBezTo>
                    <a:pt x="16" y="136"/>
                    <a:pt x="32" y="120"/>
                    <a:pt x="48" y="104"/>
                  </a:cubicBezTo>
                  <a:cubicBezTo>
                    <a:pt x="64" y="88"/>
                    <a:pt x="72" y="72"/>
                    <a:pt x="96" y="56"/>
                  </a:cubicBezTo>
                  <a:cubicBezTo>
                    <a:pt x="120" y="40"/>
                    <a:pt x="160" y="16"/>
                    <a:pt x="192" y="8"/>
                  </a:cubicBezTo>
                  <a:cubicBezTo>
                    <a:pt x="224" y="0"/>
                    <a:pt x="256" y="0"/>
                    <a:pt x="288" y="8"/>
                  </a:cubicBezTo>
                  <a:cubicBezTo>
                    <a:pt x="320" y="16"/>
                    <a:pt x="352" y="32"/>
                    <a:pt x="384" y="56"/>
                  </a:cubicBezTo>
                  <a:cubicBezTo>
                    <a:pt x="416" y="80"/>
                    <a:pt x="464" y="136"/>
                    <a:pt x="480" y="152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39140" name="Freeform 196"/>
            <p:cNvSpPr>
              <a:spLocks/>
            </p:cNvSpPr>
            <p:nvPr/>
          </p:nvSpPr>
          <p:spPr bwMode="auto">
            <a:xfrm>
              <a:off x="2352" y="576"/>
              <a:ext cx="336" cy="144"/>
            </a:xfrm>
            <a:custGeom>
              <a:avLst/>
              <a:gdLst>
                <a:gd name="T0" fmla="*/ 0 w 480"/>
                <a:gd name="T1" fmla="*/ 152 h 152"/>
                <a:gd name="T2" fmla="*/ 48 w 480"/>
                <a:gd name="T3" fmla="*/ 104 h 152"/>
                <a:gd name="T4" fmla="*/ 96 w 480"/>
                <a:gd name="T5" fmla="*/ 56 h 152"/>
                <a:gd name="T6" fmla="*/ 192 w 480"/>
                <a:gd name="T7" fmla="*/ 8 h 152"/>
                <a:gd name="T8" fmla="*/ 288 w 480"/>
                <a:gd name="T9" fmla="*/ 8 h 152"/>
                <a:gd name="T10" fmla="*/ 384 w 480"/>
                <a:gd name="T11" fmla="*/ 56 h 152"/>
                <a:gd name="T12" fmla="*/ 480 w 48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152">
                  <a:moveTo>
                    <a:pt x="0" y="152"/>
                  </a:moveTo>
                  <a:cubicBezTo>
                    <a:pt x="16" y="136"/>
                    <a:pt x="32" y="120"/>
                    <a:pt x="48" y="104"/>
                  </a:cubicBezTo>
                  <a:cubicBezTo>
                    <a:pt x="64" y="88"/>
                    <a:pt x="72" y="72"/>
                    <a:pt x="96" y="56"/>
                  </a:cubicBezTo>
                  <a:cubicBezTo>
                    <a:pt x="120" y="40"/>
                    <a:pt x="160" y="16"/>
                    <a:pt x="192" y="8"/>
                  </a:cubicBezTo>
                  <a:cubicBezTo>
                    <a:pt x="224" y="0"/>
                    <a:pt x="256" y="0"/>
                    <a:pt x="288" y="8"/>
                  </a:cubicBezTo>
                  <a:cubicBezTo>
                    <a:pt x="320" y="16"/>
                    <a:pt x="352" y="32"/>
                    <a:pt x="384" y="56"/>
                  </a:cubicBezTo>
                  <a:cubicBezTo>
                    <a:pt x="416" y="80"/>
                    <a:pt x="464" y="136"/>
                    <a:pt x="480" y="152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39141" name="Freeform 197"/>
            <p:cNvSpPr>
              <a:spLocks/>
            </p:cNvSpPr>
            <p:nvPr/>
          </p:nvSpPr>
          <p:spPr bwMode="auto">
            <a:xfrm>
              <a:off x="3120" y="432"/>
              <a:ext cx="1056" cy="192"/>
            </a:xfrm>
            <a:custGeom>
              <a:avLst/>
              <a:gdLst>
                <a:gd name="T0" fmla="*/ 0 w 480"/>
                <a:gd name="T1" fmla="*/ 152 h 152"/>
                <a:gd name="T2" fmla="*/ 48 w 480"/>
                <a:gd name="T3" fmla="*/ 104 h 152"/>
                <a:gd name="T4" fmla="*/ 96 w 480"/>
                <a:gd name="T5" fmla="*/ 56 h 152"/>
                <a:gd name="T6" fmla="*/ 192 w 480"/>
                <a:gd name="T7" fmla="*/ 8 h 152"/>
                <a:gd name="T8" fmla="*/ 288 w 480"/>
                <a:gd name="T9" fmla="*/ 8 h 152"/>
                <a:gd name="T10" fmla="*/ 384 w 480"/>
                <a:gd name="T11" fmla="*/ 56 h 152"/>
                <a:gd name="T12" fmla="*/ 480 w 48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152">
                  <a:moveTo>
                    <a:pt x="0" y="152"/>
                  </a:moveTo>
                  <a:cubicBezTo>
                    <a:pt x="16" y="136"/>
                    <a:pt x="32" y="120"/>
                    <a:pt x="48" y="104"/>
                  </a:cubicBezTo>
                  <a:cubicBezTo>
                    <a:pt x="64" y="88"/>
                    <a:pt x="72" y="72"/>
                    <a:pt x="96" y="56"/>
                  </a:cubicBezTo>
                  <a:cubicBezTo>
                    <a:pt x="120" y="40"/>
                    <a:pt x="160" y="16"/>
                    <a:pt x="192" y="8"/>
                  </a:cubicBezTo>
                  <a:cubicBezTo>
                    <a:pt x="224" y="0"/>
                    <a:pt x="256" y="0"/>
                    <a:pt x="288" y="8"/>
                  </a:cubicBezTo>
                  <a:cubicBezTo>
                    <a:pt x="320" y="16"/>
                    <a:pt x="352" y="32"/>
                    <a:pt x="384" y="56"/>
                  </a:cubicBezTo>
                  <a:cubicBezTo>
                    <a:pt x="416" y="80"/>
                    <a:pt x="464" y="136"/>
                    <a:pt x="480" y="152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39142" name="Freeform 198"/>
            <p:cNvSpPr>
              <a:spLocks/>
            </p:cNvSpPr>
            <p:nvPr/>
          </p:nvSpPr>
          <p:spPr bwMode="auto">
            <a:xfrm flipH="1" flipV="1">
              <a:off x="1392" y="816"/>
              <a:ext cx="2832" cy="288"/>
            </a:xfrm>
            <a:custGeom>
              <a:avLst/>
              <a:gdLst>
                <a:gd name="T0" fmla="*/ 0 w 480"/>
                <a:gd name="T1" fmla="*/ 152 h 152"/>
                <a:gd name="T2" fmla="*/ 48 w 480"/>
                <a:gd name="T3" fmla="*/ 104 h 152"/>
                <a:gd name="T4" fmla="*/ 96 w 480"/>
                <a:gd name="T5" fmla="*/ 56 h 152"/>
                <a:gd name="T6" fmla="*/ 192 w 480"/>
                <a:gd name="T7" fmla="*/ 8 h 152"/>
                <a:gd name="T8" fmla="*/ 288 w 480"/>
                <a:gd name="T9" fmla="*/ 8 h 152"/>
                <a:gd name="T10" fmla="*/ 384 w 480"/>
                <a:gd name="T11" fmla="*/ 56 h 152"/>
                <a:gd name="T12" fmla="*/ 480 w 48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152">
                  <a:moveTo>
                    <a:pt x="0" y="152"/>
                  </a:moveTo>
                  <a:cubicBezTo>
                    <a:pt x="16" y="136"/>
                    <a:pt x="32" y="120"/>
                    <a:pt x="48" y="104"/>
                  </a:cubicBezTo>
                  <a:cubicBezTo>
                    <a:pt x="64" y="88"/>
                    <a:pt x="72" y="72"/>
                    <a:pt x="96" y="56"/>
                  </a:cubicBezTo>
                  <a:cubicBezTo>
                    <a:pt x="120" y="40"/>
                    <a:pt x="160" y="16"/>
                    <a:pt x="192" y="8"/>
                  </a:cubicBezTo>
                  <a:cubicBezTo>
                    <a:pt x="224" y="0"/>
                    <a:pt x="256" y="0"/>
                    <a:pt x="288" y="8"/>
                  </a:cubicBezTo>
                  <a:cubicBezTo>
                    <a:pt x="320" y="16"/>
                    <a:pt x="352" y="32"/>
                    <a:pt x="384" y="56"/>
                  </a:cubicBezTo>
                  <a:cubicBezTo>
                    <a:pt x="416" y="80"/>
                    <a:pt x="464" y="136"/>
                    <a:pt x="480" y="152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39143" name="Text Box 199"/>
            <p:cNvSpPr txBox="1">
              <a:spLocks noChangeArrowheads="1"/>
            </p:cNvSpPr>
            <p:nvPr/>
          </p:nvSpPr>
          <p:spPr bwMode="auto">
            <a:xfrm>
              <a:off x="1249" y="960"/>
              <a:ext cx="62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80808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CDAP  Response</a:t>
              </a:r>
            </a:p>
          </p:txBody>
        </p:sp>
      </p:grpSp>
      <p:sp>
        <p:nvSpPr>
          <p:cNvPr id="339149" name="Text Box 205"/>
          <p:cNvSpPr txBox="1">
            <a:spLocks noChangeArrowheads="1"/>
          </p:cNvSpPr>
          <p:nvPr/>
        </p:nvSpPr>
        <p:spPr bwMode="auto">
          <a:xfrm>
            <a:off x="4572000" y="1676400"/>
            <a:ext cx="10429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DIF Allocator</a:t>
            </a:r>
          </a:p>
        </p:txBody>
      </p:sp>
      <p:sp>
        <p:nvSpPr>
          <p:cNvPr id="339150" name="Text Box 206"/>
          <p:cNvSpPr txBox="1">
            <a:spLocks noChangeArrowheads="1"/>
          </p:cNvSpPr>
          <p:nvPr/>
        </p:nvSpPr>
        <p:spPr bwMode="auto">
          <a:xfrm>
            <a:off x="7315200" y="1676400"/>
            <a:ext cx="10429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DIF Allocator</a:t>
            </a:r>
          </a:p>
        </p:txBody>
      </p:sp>
      <p:sp>
        <p:nvSpPr>
          <p:cNvPr id="339152" name="Text Box 208"/>
          <p:cNvSpPr txBox="1">
            <a:spLocks noChangeArrowheads="1"/>
          </p:cNvSpPr>
          <p:nvPr/>
        </p:nvSpPr>
        <p:spPr bwMode="auto">
          <a:xfrm>
            <a:off x="1685925" y="3138488"/>
            <a:ext cx="57705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When the DIF is found then, requesting system will join if necessary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And then find the IPC Process, where the requested Application is.</a:t>
            </a:r>
          </a:p>
        </p:txBody>
      </p:sp>
      <p:sp>
        <p:nvSpPr>
          <p:cNvPr id="339153" name="Text Box 209"/>
          <p:cNvSpPr txBox="1">
            <a:spLocks noChangeArrowheads="1"/>
          </p:cNvSpPr>
          <p:nvPr/>
        </p:nvSpPr>
        <p:spPr bwMode="auto">
          <a:xfrm>
            <a:off x="1895475" y="5105400"/>
            <a:ext cx="57245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Notice that the two are basically the same, just at different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First, we find the destination (DIF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Alloc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, layer; FA, IPC Process); then we find a path between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The Internet only does the bottom one and does it badly.</a:t>
            </a:r>
          </a:p>
        </p:txBody>
      </p:sp>
      <p:sp>
        <p:nvSpPr>
          <p:cNvPr id="339154" name="AutoShape 210"/>
          <p:cNvSpPr>
            <a:spLocks noChangeArrowheads="1"/>
          </p:cNvSpPr>
          <p:nvPr/>
        </p:nvSpPr>
        <p:spPr bwMode="auto">
          <a:xfrm>
            <a:off x="4876800" y="1905000"/>
            <a:ext cx="2057400" cy="152400"/>
          </a:xfrm>
          <a:prstGeom prst="rightArrow">
            <a:avLst>
              <a:gd name="adj1" fmla="val 50000"/>
              <a:gd name="adj2" fmla="val 337500"/>
            </a:avLst>
          </a:prstGeom>
          <a:solidFill>
            <a:srgbClr val="99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9155" name="AutoShape 211"/>
          <p:cNvSpPr>
            <a:spLocks noChangeArrowheads="1"/>
          </p:cNvSpPr>
          <p:nvPr/>
        </p:nvSpPr>
        <p:spPr bwMode="auto">
          <a:xfrm>
            <a:off x="4800600" y="2133600"/>
            <a:ext cx="2057400" cy="152400"/>
          </a:xfrm>
          <a:prstGeom prst="leftArrow">
            <a:avLst>
              <a:gd name="adj1" fmla="val 50000"/>
              <a:gd name="adj2" fmla="val 337500"/>
            </a:avLst>
          </a:prstGeom>
          <a:solidFill>
            <a:srgbClr val="99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39156" name="Text Box 212"/>
          <p:cNvSpPr txBox="1">
            <a:spLocks noChangeArrowheads="1"/>
          </p:cNvSpPr>
          <p:nvPr/>
        </p:nvSpPr>
        <p:spPr bwMode="auto">
          <a:xfrm>
            <a:off x="609600" y="1828800"/>
            <a:ext cx="10429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DIF Allocator</a:t>
            </a:r>
          </a:p>
        </p:txBody>
      </p:sp>
      <p:sp>
        <p:nvSpPr>
          <p:cNvPr id="339157" name="Rectangle 213"/>
          <p:cNvSpPr>
            <a:spLocks noChangeArrowheads="1"/>
          </p:cNvSpPr>
          <p:nvPr/>
        </p:nvSpPr>
        <p:spPr bwMode="auto">
          <a:xfrm>
            <a:off x="1752600" y="2362200"/>
            <a:ext cx="54864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rPr>
              <a:t>DIF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15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Scope is Determined by the</a:t>
            </a:r>
            <a:b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</a:b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Chain of Places to Look</a:t>
            </a:r>
            <a:b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(Remember this?)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cs typeface="+mj-cs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828800"/>
          </a:xfrm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The chain of databases to look for names determines the scope of the name space.</a:t>
            </a:r>
          </a:p>
          <a:p>
            <a:pPr lvl="1">
              <a:defRPr/>
            </a:pPr>
            <a:r>
              <a:rPr lang="en-US"/>
              <a:t>Here there are 2 non-intersecting chains of systems, that could be using the same wires, but would be entirely oblivious to the other.</a:t>
            </a:r>
          </a:p>
        </p:txBody>
      </p:sp>
      <p:sp>
        <p:nvSpPr>
          <p:cNvPr id="322565" name="Oval 5"/>
          <p:cNvSpPr>
            <a:spLocks noChangeArrowheads="1"/>
          </p:cNvSpPr>
          <p:nvPr/>
        </p:nvSpPr>
        <p:spPr bwMode="auto">
          <a:xfrm>
            <a:off x="3048000" y="21336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67" name="Oval 7"/>
          <p:cNvSpPr>
            <a:spLocks noChangeArrowheads="1"/>
          </p:cNvSpPr>
          <p:nvPr/>
        </p:nvSpPr>
        <p:spPr bwMode="auto">
          <a:xfrm>
            <a:off x="2590800" y="28194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1" name="Oval 11"/>
          <p:cNvSpPr>
            <a:spLocks noChangeArrowheads="1"/>
          </p:cNvSpPr>
          <p:nvPr/>
        </p:nvSpPr>
        <p:spPr bwMode="auto">
          <a:xfrm>
            <a:off x="4572000" y="21336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4" name="Oval 14"/>
          <p:cNvSpPr>
            <a:spLocks noChangeArrowheads="1"/>
          </p:cNvSpPr>
          <p:nvPr/>
        </p:nvSpPr>
        <p:spPr bwMode="auto">
          <a:xfrm>
            <a:off x="2362200" y="21336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5" name="Oval 15"/>
          <p:cNvSpPr>
            <a:spLocks noChangeArrowheads="1"/>
          </p:cNvSpPr>
          <p:nvPr/>
        </p:nvSpPr>
        <p:spPr bwMode="auto">
          <a:xfrm>
            <a:off x="4724400" y="34290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6" name="Oval 16"/>
          <p:cNvSpPr>
            <a:spLocks noChangeArrowheads="1"/>
          </p:cNvSpPr>
          <p:nvPr/>
        </p:nvSpPr>
        <p:spPr bwMode="auto">
          <a:xfrm>
            <a:off x="6400800" y="26670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7" name="Oval 17"/>
          <p:cNvSpPr>
            <a:spLocks noChangeArrowheads="1"/>
          </p:cNvSpPr>
          <p:nvPr/>
        </p:nvSpPr>
        <p:spPr bwMode="auto">
          <a:xfrm>
            <a:off x="5638800" y="35052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0" name="Line 20"/>
          <p:cNvSpPr>
            <a:spLocks noChangeShapeType="1"/>
          </p:cNvSpPr>
          <p:nvPr/>
        </p:nvSpPr>
        <p:spPr bwMode="auto">
          <a:xfrm flipH="1">
            <a:off x="2209800" y="2438400"/>
            <a:ext cx="228600" cy="3048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1" name="Line 21"/>
          <p:cNvSpPr>
            <a:spLocks noChangeShapeType="1"/>
          </p:cNvSpPr>
          <p:nvPr/>
        </p:nvSpPr>
        <p:spPr bwMode="auto">
          <a:xfrm>
            <a:off x="2590800" y="2286000"/>
            <a:ext cx="4572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2" name="Line 22"/>
          <p:cNvSpPr>
            <a:spLocks noChangeShapeType="1"/>
          </p:cNvSpPr>
          <p:nvPr/>
        </p:nvSpPr>
        <p:spPr bwMode="auto">
          <a:xfrm flipH="1">
            <a:off x="2819400" y="2438400"/>
            <a:ext cx="304800" cy="4572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3" name="Line 23"/>
          <p:cNvSpPr>
            <a:spLocks noChangeShapeType="1"/>
          </p:cNvSpPr>
          <p:nvPr/>
        </p:nvSpPr>
        <p:spPr bwMode="auto">
          <a:xfrm>
            <a:off x="3276600" y="2362200"/>
            <a:ext cx="762000" cy="4572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4" name="Line 24"/>
          <p:cNvSpPr>
            <a:spLocks noChangeShapeType="1"/>
          </p:cNvSpPr>
          <p:nvPr/>
        </p:nvSpPr>
        <p:spPr bwMode="auto">
          <a:xfrm>
            <a:off x="2895600" y="3429000"/>
            <a:ext cx="685800" cy="2286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5" name="Line 25"/>
          <p:cNvSpPr>
            <a:spLocks noChangeShapeType="1"/>
          </p:cNvSpPr>
          <p:nvPr/>
        </p:nvSpPr>
        <p:spPr bwMode="auto">
          <a:xfrm flipH="1">
            <a:off x="3733800" y="2971800"/>
            <a:ext cx="304800" cy="6858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6" name="Line 26"/>
          <p:cNvSpPr>
            <a:spLocks noChangeShapeType="1"/>
          </p:cNvSpPr>
          <p:nvPr/>
        </p:nvSpPr>
        <p:spPr bwMode="auto">
          <a:xfrm>
            <a:off x="2743200" y="3048000"/>
            <a:ext cx="76200" cy="2286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7" name="Line 27"/>
          <p:cNvSpPr>
            <a:spLocks noChangeShapeType="1"/>
          </p:cNvSpPr>
          <p:nvPr/>
        </p:nvSpPr>
        <p:spPr bwMode="auto">
          <a:xfrm flipV="1">
            <a:off x="3276600" y="2362200"/>
            <a:ext cx="60960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8" name="Line 28"/>
          <p:cNvSpPr>
            <a:spLocks noChangeShapeType="1"/>
          </p:cNvSpPr>
          <p:nvPr/>
        </p:nvSpPr>
        <p:spPr bwMode="auto">
          <a:xfrm>
            <a:off x="2362200" y="2895600"/>
            <a:ext cx="228600" cy="762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89" name="Line 29"/>
          <p:cNvSpPr>
            <a:spLocks noChangeShapeType="1"/>
          </p:cNvSpPr>
          <p:nvPr/>
        </p:nvSpPr>
        <p:spPr bwMode="auto">
          <a:xfrm>
            <a:off x="3352800" y="3048000"/>
            <a:ext cx="137160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0" name="Line 30"/>
          <p:cNvSpPr>
            <a:spLocks noChangeShapeType="1"/>
          </p:cNvSpPr>
          <p:nvPr/>
        </p:nvSpPr>
        <p:spPr bwMode="auto">
          <a:xfrm>
            <a:off x="4038600" y="2286000"/>
            <a:ext cx="533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1" name="Line 31"/>
          <p:cNvSpPr>
            <a:spLocks noChangeShapeType="1"/>
          </p:cNvSpPr>
          <p:nvPr/>
        </p:nvSpPr>
        <p:spPr bwMode="auto">
          <a:xfrm>
            <a:off x="4724400" y="2438400"/>
            <a:ext cx="38100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2" name="Line 32"/>
          <p:cNvSpPr>
            <a:spLocks noChangeShapeType="1"/>
          </p:cNvSpPr>
          <p:nvPr/>
        </p:nvSpPr>
        <p:spPr bwMode="auto">
          <a:xfrm flipH="1">
            <a:off x="4876800" y="2971800"/>
            <a:ext cx="15240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3" name="Line 33"/>
          <p:cNvSpPr>
            <a:spLocks noChangeShapeType="1"/>
          </p:cNvSpPr>
          <p:nvPr/>
        </p:nvSpPr>
        <p:spPr bwMode="auto">
          <a:xfrm>
            <a:off x="4800600" y="2209800"/>
            <a:ext cx="1219200" cy="76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4" name="Line 34"/>
          <p:cNvSpPr>
            <a:spLocks noChangeShapeType="1"/>
          </p:cNvSpPr>
          <p:nvPr/>
        </p:nvSpPr>
        <p:spPr bwMode="auto">
          <a:xfrm>
            <a:off x="5181600" y="2895600"/>
            <a:ext cx="533400" cy="152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5" name="Line 35"/>
          <p:cNvSpPr>
            <a:spLocks noChangeShapeType="1"/>
          </p:cNvSpPr>
          <p:nvPr/>
        </p:nvSpPr>
        <p:spPr bwMode="auto">
          <a:xfrm flipH="1">
            <a:off x="5715000" y="2514600"/>
            <a:ext cx="22860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6" name="Line 36"/>
          <p:cNvSpPr>
            <a:spLocks noChangeShapeType="1"/>
          </p:cNvSpPr>
          <p:nvPr/>
        </p:nvSpPr>
        <p:spPr bwMode="auto">
          <a:xfrm flipH="1">
            <a:off x="5867400" y="2895600"/>
            <a:ext cx="533400" cy="152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7" name="Line 37"/>
          <p:cNvSpPr>
            <a:spLocks noChangeShapeType="1"/>
          </p:cNvSpPr>
          <p:nvPr/>
        </p:nvSpPr>
        <p:spPr bwMode="auto">
          <a:xfrm>
            <a:off x="4953000" y="3581400"/>
            <a:ext cx="685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8" name="Line 38"/>
          <p:cNvSpPr>
            <a:spLocks noChangeShapeType="1"/>
          </p:cNvSpPr>
          <p:nvPr/>
        </p:nvSpPr>
        <p:spPr bwMode="auto">
          <a:xfrm>
            <a:off x="5715000" y="3276600"/>
            <a:ext cx="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99" name="Line 39"/>
          <p:cNvSpPr>
            <a:spLocks noChangeShapeType="1"/>
          </p:cNvSpPr>
          <p:nvPr/>
        </p:nvSpPr>
        <p:spPr bwMode="auto">
          <a:xfrm flipV="1">
            <a:off x="5867400" y="2971800"/>
            <a:ext cx="60960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600" name="Line 40"/>
          <p:cNvSpPr>
            <a:spLocks noChangeShapeType="1"/>
          </p:cNvSpPr>
          <p:nvPr/>
        </p:nvSpPr>
        <p:spPr bwMode="auto">
          <a:xfrm flipH="1" flipV="1">
            <a:off x="6096000" y="2438400"/>
            <a:ext cx="3810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69" name="Oval 9"/>
          <p:cNvSpPr>
            <a:spLocks noChangeArrowheads="1"/>
          </p:cNvSpPr>
          <p:nvPr/>
        </p:nvSpPr>
        <p:spPr bwMode="auto">
          <a:xfrm>
            <a:off x="3962400" y="26670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0" name="Oval 10"/>
          <p:cNvSpPr>
            <a:spLocks noChangeArrowheads="1"/>
          </p:cNvSpPr>
          <p:nvPr/>
        </p:nvSpPr>
        <p:spPr bwMode="auto">
          <a:xfrm>
            <a:off x="3581400" y="35052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8" name="Oval 18"/>
          <p:cNvSpPr>
            <a:spLocks noChangeArrowheads="1"/>
          </p:cNvSpPr>
          <p:nvPr/>
        </p:nvSpPr>
        <p:spPr bwMode="auto">
          <a:xfrm>
            <a:off x="5638800" y="29718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68" name="Oval 8"/>
          <p:cNvSpPr>
            <a:spLocks noChangeArrowheads="1"/>
          </p:cNvSpPr>
          <p:nvPr/>
        </p:nvSpPr>
        <p:spPr bwMode="auto">
          <a:xfrm>
            <a:off x="2743200" y="32766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64" name="Oval 4"/>
          <p:cNvSpPr>
            <a:spLocks noChangeArrowheads="1"/>
          </p:cNvSpPr>
          <p:nvPr/>
        </p:nvSpPr>
        <p:spPr bwMode="auto">
          <a:xfrm>
            <a:off x="2133600" y="26670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3" name="Oval 13"/>
          <p:cNvSpPr>
            <a:spLocks noChangeArrowheads="1"/>
          </p:cNvSpPr>
          <p:nvPr/>
        </p:nvSpPr>
        <p:spPr bwMode="auto">
          <a:xfrm>
            <a:off x="3810000" y="21336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66" name="Oval 6"/>
          <p:cNvSpPr>
            <a:spLocks noChangeArrowheads="1"/>
          </p:cNvSpPr>
          <p:nvPr/>
        </p:nvSpPr>
        <p:spPr bwMode="auto">
          <a:xfrm>
            <a:off x="3124200" y="28194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9" name="Oval 19"/>
          <p:cNvSpPr>
            <a:spLocks noChangeArrowheads="1"/>
          </p:cNvSpPr>
          <p:nvPr/>
        </p:nvSpPr>
        <p:spPr bwMode="auto">
          <a:xfrm>
            <a:off x="5867400" y="22098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22572" name="Oval 12"/>
          <p:cNvSpPr>
            <a:spLocks noChangeArrowheads="1"/>
          </p:cNvSpPr>
          <p:nvPr/>
        </p:nvSpPr>
        <p:spPr bwMode="auto">
          <a:xfrm>
            <a:off x="4953000" y="2667000"/>
            <a:ext cx="2286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A Global Name Space is </a:t>
            </a: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Necessarily Unique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cs typeface="+mj-cs"/>
            </a:endParaRP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In the addressing discussion, we saw that while a global address space was useful to some, it was not necessary.</a:t>
            </a:r>
          </a:p>
          <a:p>
            <a:pPr>
              <a:defRPr/>
            </a:pPr>
            <a:r>
              <a:rPr lang="en-US">
                <a:cs typeface="+mn-cs"/>
              </a:rPr>
              <a:t>The scope of application names were defined by the chain of databases to look for them.</a:t>
            </a:r>
          </a:p>
          <a:p>
            <a:pPr>
              <a:defRPr/>
            </a:pPr>
            <a:r>
              <a:rPr lang="en-US">
                <a:cs typeface="+mn-cs"/>
              </a:rPr>
              <a:t>Peer-to-peer is simply an application of this theory.</a:t>
            </a:r>
          </a:p>
          <a:p>
            <a:pPr>
              <a:defRPr/>
            </a:pPr>
            <a:r>
              <a:rPr lang="en-US">
                <a:cs typeface="+mn-cs"/>
              </a:rPr>
              <a:t>They are alternate Name Resolution schemes.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Name Space Management</a:t>
            </a:r>
          </a:p>
        </p:txBody>
      </p:sp>
      <p:sp>
        <p:nvSpPr>
          <p:cNvPr id="104450" name="Content Placeholder 2"/>
          <p:cNvSpPr>
            <a:spLocks noGrp="1"/>
          </p:cNvSpPr>
          <p:nvPr>
            <p:ph idx="1"/>
          </p:nvPr>
        </p:nvSpPr>
        <p:spPr>
          <a:xfrm>
            <a:off x="685800" y="4648200"/>
            <a:ext cx="7772400" cy="1447800"/>
          </a:xfrm>
        </p:spPr>
        <p:txBody>
          <a:bodyPr/>
          <a:lstStyle/>
          <a:p>
            <a:r>
              <a:rPr lang="en-US" sz="2000" dirty="0">
                <a:latin typeface="Times" charset="0"/>
                <a:ea typeface="ＭＳ Ｐゴシック" charset="0"/>
                <a:cs typeface="ＭＳ Ｐゴシック" charset="0"/>
              </a:rPr>
              <a:t>There is a common function required to manage name spaces.  It handles registration, query, and delegation of names and is incorporated found in both DIFs and DAFs.</a:t>
            </a:r>
          </a:p>
          <a:p>
            <a:r>
              <a:rPr lang="en-US" sz="2000" dirty="0">
                <a:latin typeface="Times" charset="0"/>
                <a:ea typeface="ＭＳ Ｐゴシック" charset="0"/>
                <a:cs typeface="ＭＳ Ｐゴシック" charset="0"/>
              </a:rPr>
              <a:t>There are two major uses: the DIF-Allocator and the Resource Allocator, as well as in many distributed database applications, etc.</a:t>
            </a:r>
          </a:p>
        </p:txBody>
      </p:sp>
      <p:grpSp>
        <p:nvGrpSpPr>
          <p:cNvPr id="104451" name="Group 1"/>
          <p:cNvGrpSpPr>
            <a:grpSpLocks/>
          </p:cNvGrpSpPr>
          <p:nvPr/>
        </p:nvGrpSpPr>
        <p:grpSpPr bwMode="auto">
          <a:xfrm>
            <a:off x="2286000" y="1600200"/>
            <a:ext cx="4686300" cy="2743200"/>
            <a:chOff x="3141" y="2730"/>
            <a:chExt cx="7380" cy="4319"/>
          </a:xfrm>
        </p:grpSpPr>
        <p:sp>
          <p:nvSpPr>
            <p:cNvPr id="104452" name="Line 2"/>
            <p:cNvSpPr>
              <a:spLocks noChangeShapeType="1"/>
            </p:cNvSpPr>
            <p:nvPr/>
          </p:nvSpPr>
          <p:spPr bwMode="auto">
            <a:xfrm flipH="1">
              <a:off x="6921" y="3989"/>
              <a:ext cx="10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3" name="Line 3"/>
            <p:cNvSpPr>
              <a:spLocks noChangeShapeType="1"/>
            </p:cNvSpPr>
            <p:nvPr/>
          </p:nvSpPr>
          <p:spPr bwMode="auto">
            <a:xfrm flipH="1">
              <a:off x="7281" y="3989"/>
              <a:ext cx="72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4" name="Line 4"/>
            <p:cNvSpPr>
              <a:spLocks noChangeShapeType="1"/>
            </p:cNvSpPr>
            <p:nvPr/>
          </p:nvSpPr>
          <p:spPr bwMode="auto">
            <a:xfrm flipH="1">
              <a:off x="7281" y="4349"/>
              <a:ext cx="162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5" name="Line 5"/>
            <p:cNvSpPr>
              <a:spLocks noChangeShapeType="1"/>
            </p:cNvSpPr>
            <p:nvPr/>
          </p:nvSpPr>
          <p:spPr bwMode="auto">
            <a:xfrm flipH="1">
              <a:off x="6921" y="4349"/>
              <a:ext cx="198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6" name="Line 6"/>
            <p:cNvSpPr>
              <a:spLocks noChangeShapeType="1"/>
            </p:cNvSpPr>
            <p:nvPr/>
          </p:nvSpPr>
          <p:spPr bwMode="auto">
            <a:xfrm>
              <a:off x="4581" y="4169"/>
              <a:ext cx="72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7" name="Line 7"/>
            <p:cNvSpPr>
              <a:spLocks noChangeShapeType="1"/>
            </p:cNvSpPr>
            <p:nvPr/>
          </p:nvSpPr>
          <p:spPr bwMode="auto">
            <a:xfrm>
              <a:off x="5841" y="3809"/>
              <a:ext cx="5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8" name="Line 8"/>
            <p:cNvSpPr>
              <a:spLocks noChangeShapeType="1"/>
            </p:cNvSpPr>
            <p:nvPr/>
          </p:nvSpPr>
          <p:spPr bwMode="auto">
            <a:xfrm flipH="1">
              <a:off x="5301" y="3809"/>
              <a:ext cx="5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9" name="Oval 9"/>
            <p:cNvSpPr>
              <a:spLocks noChangeArrowheads="1"/>
            </p:cNvSpPr>
            <p:nvPr/>
          </p:nvSpPr>
          <p:spPr bwMode="auto">
            <a:xfrm>
              <a:off x="6201" y="399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0" name="Oval 10"/>
            <p:cNvSpPr>
              <a:spLocks noChangeArrowheads="1"/>
            </p:cNvSpPr>
            <p:nvPr/>
          </p:nvSpPr>
          <p:spPr bwMode="auto">
            <a:xfrm>
              <a:off x="5624" y="435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1" name="Oval 11"/>
            <p:cNvSpPr>
              <a:spLocks noChangeArrowheads="1"/>
            </p:cNvSpPr>
            <p:nvPr/>
          </p:nvSpPr>
          <p:spPr bwMode="auto">
            <a:xfrm>
              <a:off x="5084" y="453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2" name="Oval 12"/>
            <p:cNvSpPr>
              <a:spLocks noChangeArrowheads="1"/>
            </p:cNvSpPr>
            <p:nvPr/>
          </p:nvSpPr>
          <p:spPr bwMode="auto">
            <a:xfrm>
              <a:off x="5084" y="399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3" name="Oval 13"/>
            <p:cNvSpPr>
              <a:spLocks noChangeArrowheads="1"/>
            </p:cNvSpPr>
            <p:nvPr/>
          </p:nvSpPr>
          <p:spPr bwMode="auto">
            <a:xfrm>
              <a:off x="6164" y="453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4" name="Oval 14"/>
            <p:cNvSpPr>
              <a:spLocks noChangeArrowheads="1"/>
            </p:cNvSpPr>
            <p:nvPr/>
          </p:nvSpPr>
          <p:spPr bwMode="auto">
            <a:xfrm>
              <a:off x="6741" y="399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5" name="Oval 15"/>
            <p:cNvSpPr>
              <a:spLocks noChangeArrowheads="1"/>
            </p:cNvSpPr>
            <p:nvPr/>
          </p:nvSpPr>
          <p:spPr bwMode="auto">
            <a:xfrm>
              <a:off x="7101" y="4350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6" name="Oval 16"/>
            <p:cNvSpPr>
              <a:spLocks noChangeArrowheads="1"/>
            </p:cNvSpPr>
            <p:nvPr/>
          </p:nvSpPr>
          <p:spPr bwMode="auto">
            <a:xfrm>
              <a:off x="5624" y="4894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7" name="Oval 17"/>
            <p:cNvSpPr>
              <a:spLocks noChangeArrowheads="1"/>
            </p:cNvSpPr>
            <p:nvPr/>
          </p:nvSpPr>
          <p:spPr bwMode="auto">
            <a:xfrm>
              <a:off x="3321" y="3450"/>
              <a:ext cx="5940" cy="198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68" name="Oval 18"/>
            <p:cNvSpPr>
              <a:spLocks noChangeArrowheads="1"/>
            </p:cNvSpPr>
            <p:nvPr/>
          </p:nvSpPr>
          <p:spPr bwMode="auto">
            <a:xfrm>
              <a:off x="6741" y="4710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4469" name="Group 19"/>
            <p:cNvGrpSpPr>
              <a:grpSpLocks/>
            </p:cNvGrpSpPr>
            <p:nvPr/>
          </p:nvGrpSpPr>
          <p:grpSpPr bwMode="auto">
            <a:xfrm>
              <a:off x="6201" y="5689"/>
              <a:ext cx="4140" cy="1360"/>
              <a:chOff x="6201" y="5689"/>
              <a:chExt cx="4140" cy="1360"/>
            </a:xfrm>
          </p:grpSpPr>
          <p:sp>
            <p:nvSpPr>
              <p:cNvPr id="104496" name="Oval 20"/>
              <p:cNvSpPr>
                <a:spLocks noChangeArrowheads="1"/>
              </p:cNvSpPr>
              <p:nvPr/>
            </p:nvSpPr>
            <p:spPr bwMode="auto">
              <a:xfrm>
                <a:off x="8181" y="5789"/>
                <a:ext cx="360" cy="3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97" name="Oval 21"/>
              <p:cNvSpPr>
                <a:spLocks noChangeArrowheads="1"/>
              </p:cNvSpPr>
              <p:nvPr/>
            </p:nvSpPr>
            <p:spPr bwMode="auto">
              <a:xfrm>
                <a:off x="8181" y="6329"/>
                <a:ext cx="360" cy="360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4498" name="Group 22"/>
              <p:cNvGrpSpPr>
                <a:grpSpLocks/>
              </p:cNvGrpSpPr>
              <p:nvPr/>
            </p:nvGrpSpPr>
            <p:grpSpPr bwMode="auto">
              <a:xfrm>
                <a:off x="7101" y="6689"/>
                <a:ext cx="1980" cy="360"/>
                <a:chOff x="8901" y="8284"/>
                <a:chExt cx="1980" cy="360"/>
              </a:xfrm>
            </p:grpSpPr>
            <p:sp>
              <p:nvSpPr>
                <p:cNvPr id="104505" name="Oval 23"/>
                <p:cNvSpPr>
                  <a:spLocks noChangeArrowheads="1"/>
                </p:cNvSpPr>
                <p:nvPr/>
              </p:nvSpPr>
              <p:spPr bwMode="auto">
                <a:xfrm>
                  <a:off x="8901" y="8284"/>
                  <a:ext cx="360" cy="360"/>
                </a:xfrm>
                <a:prstGeom prst="ellipse">
                  <a:avLst/>
                </a:prstGeom>
                <a:solidFill>
                  <a:srgbClr val="3366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450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9261" y="8284"/>
                  <a:ext cx="162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mbria" charset="0"/>
                      <a:ea typeface="ÇlÇr ñæí©" charset="0"/>
                      <a:cs typeface="ÇlÇr ñæí©" charset="0"/>
                    </a:rPr>
                    <a:t>Repositories</a:t>
                  </a: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04499" name="Text Box 25"/>
              <p:cNvSpPr txBox="1">
                <a:spLocks noChangeArrowheads="1"/>
              </p:cNvSpPr>
              <p:nvPr/>
            </p:nvSpPr>
            <p:spPr bwMode="auto">
              <a:xfrm>
                <a:off x="8541" y="5764"/>
                <a:ext cx="180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charset="0"/>
                    <a:ea typeface="ÇlÇr ñæí©" charset="0"/>
                    <a:cs typeface="ÇlÇr ñæí©" charset="0"/>
                  </a:rPr>
                  <a:t>Registration Server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500" name="Text Box 26"/>
              <p:cNvSpPr txBox="1">
                <a:spLocks noChangeArrowheads="1"/>
              </p:cNvSpPr>
              <p:nvPr/>
            </p:nvSpPr>
            <p:spPr bwMode="auto">
              <a:xfrm>
                <a:off x="8541" y="6329"/>
                <a:ext cx="144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charset="0"/>
                    <a:ea typeface="ÇlÇr ñæí©" charset="0"/>
                    <a:cs typeface="ÇlÇr ñæí©" charset="0"/>
                  </a:rPr>
                  <a:t>Query Servers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501" name="Oval 27"/>
              <p:cNvSpPr>
                <a:spLocks noChangeArrowheads="1"/>
              </p:cNvSpPr>
              <p:nvPr/>
            </p:nvSpPr>
            <p:spPr bwMode="auto">
              <a:xfrm>
                <a:off x="6201" y="5789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502" name="Text Box 28"/>
              <p:cNvSpPr txBox="1">
                <a:spLocks noChangeArrowheads="1"/>
              </p:cNvSpPr>
              <p:nvPr/>
            </p:nvSpPr>
            <p:spPr bwMode="auto">
              <a:xfrm>
                <a:off x="6536" y="5689"/>
                <a:ext cx="144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charset="0"/>
                    <a:ea typeface="ÇlÇr ñæí©" charset="0"/>
                    <a:cs typeface="ÇlÇr ñæí©" charset="0"/>
                  </a:rPr>
                  <a:t>Registration Client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503" name="Oval 29"/>
              <p:cNvSpPr>
                <a:spLocks noChangeArrowheads="1"/>
              </p:cNvSpPr>
              <p:nvPr/>
            </p:nvSpPr>
            <p:spPr bwMode="auto">
              <a:xfrm>
                <a:off x="6228" y="6361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504" name="Text Box 30"/>
              <p:cNvSpPr txBox="1">
                <a:spLocks noChangeArrowheads="1"/>
              </p:cNvSpPr>
              <p:nvPr/>
            </p:nvSpPr>
            <p:spPr bwMode="auto">
              <a:xfrm>
                <a:off x="6561" y="6329"/>
                <a:ext cx="144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charset="0"/>
                    <a:ea typeface="ÇlÇr ñæí©" charset="0"/>
                    <a:cs typeface="ÇlÇr ñæí©" charset="0"/>
                  </a:rPr>
                  <a:t>Query Client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4470" name="Group 31"/>
            <p:cNvGrpSpPr>
              <a:grpSpLocks/>
            </p:cNvGrpSpPr>
            <p:nvPr/>
          </p:nvGrpSpPr>
          <p:grpSpPr bwMode="auto">
            <a:xfrm>
              <a:off x="3141" y="2730"/>
              <a:ext cx="1800" cy="1800"/>
              <a:chOff x="3141" y="5224"/>
              <a:chExt cx="1800" cy="1800"/>
            </a:xfrm>
          </p:grpSpPr>
          <p:sp>
            <p:nvSpPr>
              <p:cNvPr id="104491" name="Oval 32"/>
              <p:cNvSpPr>
                <a:spLocks noChangeArrowheads="1"/>
              </p:cNvSpPr>
              <p:nvPr/>
            </p:nvSpPr>
            <p:spPr bwMode="auto">
              <a:xfrm>
                <a:off x="4401" y="558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92" name="Oval 33"/>
              <p:cNvSpPr>
                <a:spLocks noChangeArrowheads="1"/>
              </p:cNvSpPr>
              <p:nvPr/>
            </p:nvSpPr>
            <p:spPr bwMode="auto">
              <a:xfrm>
                <a:off x="3321" y="612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93" name="Oval 34"/>
              <p:cNvSpPr>
                <a:spLocks noChangeArrowheads="1"/>
              </p:cNvSpPr>
              <p:nvPr/>
            </p:nvSpPr>
            <p:spPr bwMode="auto">
              <a:xfrm>
                <a:off x="4401" y="6484"/>
                <a:ext cx="360" cy="3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94" name="Oval 35"/>
              <p:cNvSpPr>
                <a:spLocks noChangeArrowheads="1"/>
              </p:cNvSpPr>
              <p:nvPr/>
            </p:nvSpPr>
            <p:spPr bwMode="auto">
              <a:xfrm rot="-9601521">
                <a:off x="3141" y="612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95" name="Oval 36"/>
              <p:cNvSpPr>
                <a:spLocks noChangeArrowheads="1"/>
              </p:cNvSpPr>
              <p:nvPr/>
            </p:nvSpPr>
            <p:spPr bwMode="auto">
              <a:xfrm rot="-5370390">
                <a:off x="3681" y="576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4471" name="Group 37"/>
            <p:cNvGrpSpPr>
              <a:grpSpLocks/>
            </p:cNvGrpSpPr>
            <p:nvPr/>
          </p:nvGrpSpPr>
          <p:grpSpPr bwMode="auto">
            <a:xfrm>
              <a:off x="5451" y="2730"/>
              <a:ext cx="1800" cy="1368"/>
              <a:chOff x="5451" y="5224"/>
              <a:chExt cx="1800" cy="1368"/>
            </a:xfrm>
          </p:grpSpPr>
          <p:sp>
            <p:nvSpPr>
              <p:cNvPr id="104486" name="Oval 38"/>
              <p:cNvSpPr>
                <a:spLocks noChangeArrowheads="1"/>
              </p:cNvSpPr>
              <p:nvPr/>
            </p:nvSpPr>
            <p:spPr bwMode="auto">
              <a:xfrm>
                <a:off x="5661" y="540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7" name="Oval 39"/>
              <p:cNvSpPr>
                <a:spLocks noChangeArrowheads="1"/>
              </p:cNvSpPr>
              <p:nvPr/>
            </p:nvSpPr>
            <p:spPr bwMode="auto">
              <a:xfrm>
                <a:off x="6561" y="540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8" name="Oval 40"/>
              <p:cNvSpPr>
                <a:spLocks noChangeArrowheads="1"/>
              </p:cNvSpPr>
              <p:nvPr/>
            </p:nvSpPr>
            <p:spPr bwMode="auto">
              <a:xfrm>
                <a:off x="5708" y="6076"/>
                <a:ext cx="360" cy="360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9" name="Oval 41"/>
              <p:cNvSpPr>
                <a:spLocks noChangeArrowheads="1"/>
              </p:cNvSpPr>
              <p:nvPr/>
            </p:nvSpPr>
            <p:spPr bwMode="auto">
              <a:xfrm>
                <a:off x="5481" y="5224"/>
                <a:ext cx="727" cy="136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90" name="Oval 42"/>
              <p:cNvSpPr>
                <a:spLocks noChangeArrowheads="1"/>
              </p:cNvSpPr>
              <p:nvPr/>
            </p:nvSpPr>
            <p:spPr bwMode="auto">
              <a:xfrm rot="2935781">
                <a:off x="6062" y="4973"/>
                <a:ext cx="578" cy="180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4472" name="Group 43"/>
            <p:cNvGrpSpPr>
              <a:grpSpLocks/>
            </p:cNvGrpSpPr>
            <p:nvPr/>
          </p:nvGrpSpPr>
          <p:grpSpPr bwMode="auto">
            <a:xfrm>
              <a:off x="7641" y="2910"/>
              <a:ext cx="1800" cy="1368"/>
              <a:chOff x="5451" y="5224"/>
              <a:chExt cx="1800" cy="1368"/>
            </a:xfrm>
          </p:grpSpPr>
          <p:sp>
            <p:nvSpPr>
              <p:cNvPr id="104481" name="Oval 44"/>
              <p:cNvSpPr>
                <a:spLocks noChangeArrowheads="1"/>
              </p:cNvSpPr>
              <p:nvPr/>
            </p:nvSpPr>
            <p:spPr bwMode="auto">
              <a:xfrm>
                <a:off x="5661" y="540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2" name="Oval 45"/>
              <p:cNvSpPr>
                <a:spLocks noChangeArrowheads="1"/>
              </p:cNvSpPr>
              <p:nvPr/>
            </p:nvSpPr>
            <p:spPr bwMode="auto">
              <a:xfrm>
                <a:off x="6561" y="540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3" name="Oval 46"/>
              <p:cNvSpPr>
                <a:spLocks noChangeArrowheads="1"/>
              </p:cNvSpPr>
              <p:nvPr/>
            </p:nvSpPr>
            <p:spPr bwMode="auto">
              <a:xfrm>
                <a:off x="5708" y="6076"/>
                <a:ext cx="360" cy="360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4" name="Oval 47"/>
              <p:cNvSpPr>
                <a:spLocks noChangeArrowheads="1"/>
              </p:cNvSpPr>
              <p:nvPr/>
            </p:nvSpPr>
            <p:spPr bwMode="auto">
              <a:xfrm>
                <a:off x="5481" y="5224"/>
                <a:ext cx="727" cy="136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5" name="Oval 48"/>
              <p:cNvSpPr>
                <a:spLocks noChangeArrowheads="1"/>
              </p:cNvSpPr>
              <p:nvPr/>
            </p:nvSpPr>
            <p:spPr bwMode="auto">
              <a:xfrm rot="2935781">
                <a:off x="6062" y="4973"/>
                <a:ext cx="578" cy="180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4473" name="Group 49"/>
            <p:cNvGrpSpPr>
              <a:grpSpLocks/>
            </p:cNvGrpSpPr>
            <p:nvPr/>
          </p:nvGrpSpPr>
          <p:grpSpPr bwMode="auto">
            <a:xfrm rot="14197032" flipV="1">
              <a:off x="8721" y="3630"/>
              <a:ext cx="1800" cy="1800"/>
              <a:chOff x="3141" y="5224"/>
              <a:chExt cx="1800" cy="1800"/>
            </a:xfrm>
          </p:grpSpPr>
          <p:sp>
            <p:nvSpPr>
              <p:cNvPr id="104476" name="Oval 50"/>
              <p:cNvSpPr>
                <a:spLocks noChangeArrowheads="1"/>
              </p:cNvSpPr>
              <p:nvPr/>
            </p:nvSpPr>
            <p:spPr bwMode="auto">
              <a:xfrm>
                <a:off x="4401" y="558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77" name="Oval 51"/>
              <p:cNvSpPr>
                <a:spLocks noChangeArrowheads="1"/>
              </p:cNvSpPr>
              <p:nvPr/>
            </p:nvSpPr>
            <p:spPr bwMode="auto">
              <a:xfrm>
                <a:off x="3321" y="612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78" name="Oval 52"/>
              <p:cNvSpPr>
                <a:spLocks noChangeArrowheads="1"/>
              </p:cNvSpPr>
              <p:nvPr/>
            </p:nvSpPr>
            <p:spPr bwMode="auto">
              <a:xfrm>
                <a:off x="4401" y="6484"/>
                <a:ext cx="360" cy="3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79" name="Oval 53"/>
              <p:cNvSpPr>
                <a:spLocks noChangeArrowheads="1"/>
              </p:cNvSpPr>
              <p:nvPr/>
            </p:nvSpPr>
            <p:spPr bwMode="auto">
              <a:xfrm rot="-9601521">
                <a:off x="3141" y="612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480" name="Oval 54"/>
              <p:cNvSpPr>
                <a:spLocks noChangeArrowheads="1"/>
              </p:cNvSpPr>
              <p:nvPr/>
            </p:nvSpPr>
            <p:spPr bwMode="auto">
              <a:xfrm rot="-5370390">
                <a:off x="3681" y="576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4474" name="Line 55"/>
            <p:cNvSpPr>
              <a:spLocks noChangeShapeType="1"/>
            </p:cNvSpPr>
            <p:nvPr/>
          </p:nvSpPr>
          <p:spPr bwMode="auto">
            <a:xfrm>
              <a:off x="4761" y="4169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75" name="Oval 56"/>
            <p:cNvSpPr>
              <a:spLocks noChangeArrowheads="1"/>
            </p:cNvSpPr>
            <p:nvPr/>
          </p:nvSpPr>
          <p:spPr bwMode="auto">
            <a:xfrm>
              <a:off x="4401" y="4710"/>
              <a:ext cx="360" cy="36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>
                <a:latin typeface="Times" charset="0"/>
                <a:ea typeface="ＭＳ Ｐゴシック" charset="0"/>
                <a:cs typeface="ＭＳ Ｐゴシック" charset="0"/>
              </a:rPr>
              <a:t>DIF Allocator</a:t>
            </a:r>
          </a:p>
        </p:txBody>
      </p:sp>
      <p:sp>
        <p:nvSpPr>
          <p:cNvPr id="105474" name="Content Placeholder 2"/>
          <p:cNvSpPr>
            <a:spLocks noGrp="1"/>
          </p:cNvSpPr>
          <p:nvPr>
            <p:ph idx="1"/>
          </p:nvPr>
        </p:nvSpPr>
        <p:spPr>
          <a:xfrm>
            <a:off x="609600" y="5410200"/>
            <a:ext cx="7848600" cy="914400"/>
          </a:xfrm>
        </p:spPr>
        <p:txBody>
          <a:bodyPr/>
          <a:lstStyle/>
          <a:p>
            <a:r>
              <a:rPr lang="en-US" sz="1800">
                <a:latin typeface="Times" charset="0"/>
                <a:ea typeface="ＭＳ Ｐゴシック" charset="0"/>
                <a:cs typeface="ＭＳ Ｐゴシック" charset="0"/>
              </a:rPr>
              <a:t>A DIF Allocator is very similar to the Flow Allocator, both contain a NSM function for application names and addresses, respectively and operate at different granularities creating either DIFs or connections.</a:t>
            </a:r>
          </a:p>
        </p:txBody>
      </p:sp>
      <p:grpSp>
        <p:nvGrpSpPr>
          <p:cNvPr id="105475" name="Group 1"/>
          <p:cNvGrpSpPr>
            <a:grpSpLocks/>
          </p:cNvGrpSpPr>
          <p:nvPr/>
        </p:nvGrpSpPr>
        <p:grpSpPr bwMode="auto">
          <a:xfrm>
            <a:off x="1981200" y="990600"/>
            <a:ext cx="5829300" cy="4305300"/>
            <a:chOff x="2241" y="6036"/>
            <a:chExt cx="9180" cy="6780"/>
          </a:xfrm>
        </p:grpSpPr>
        <p:sp>
          <p:nvSpPr>
            <p:cNvPr id="105476" name="Oval 2"/>
            <p:cNvSpPr>
              <a:spLocks noChangeArrowheads="1"/>
            </p:cNvSpPr>
            <p:nvPr/>
          </p:nvSpPr>
          <p:spPr bwMode="auto">
            <a:xfrm>
              <a:off x="3141" y="7236"/>
              <a:ext cx="6120" cy="34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77" name="Oval 3"/>
            <p:cNvSpPr>
              <a:spLocks noChangeArrowheads="1"/>
            </p:cNvSpPr>
            <p:nvPr/>
          </p:nvSpPr>
          <p:spPr bwMode="auto">
            <a:xfrm>
              <a:off x="8901" y="11115"/>
              <a:ext cx="360" cy="36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78" name="Oval 4"/>
            <p:cNvSpPr>
              <a:spLocks noChangeArrowheads="1"/>
            </p:cNvSpPr>
            <p:nvPr/>
          </p:nvSpPr>
          <p:spPr bwMode="auto">
            <a:xfrm>
              <a:off x="8901" y="11655"/>
              <a:ext cx="360" cy="360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79" name="Text Box 5"/>
            <p:cNvSpPr txBox="1">
              <a:spLocks noChangeArrowheads="1"/>
            </p:cNvSpPr>
            <p:nvPr/>
          </p:nvSpPr>
          <p:spPr bwMode="auto">
            <a:xfrm>
              <a:off x="9261" y="11090"/>
              <a:ext cx="180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Registration Server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80" name="Text Box 6"/>
            <p:cNvSpPr txBox="1">
              <a:spLocks noChangeArrowheads="1"/>
            </p:cNvSpPr>
            <p:nvPr/>
          </p:nvSpPr>
          <p:spPr bwMode="auto">
            <a:xfrm>
              <a:off x="9261" y="11655"/>
              <a:ext cx="144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Query Servers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81" name="Oval 7"/>
            <p:cNvSpPr>
              <a:spLocks noChangeArrowheads="1"/>
            </p:cNvSpPr>
            <p:nvPr/>
          </p:nvSpPr>
          <p:spPr bwMode="auto">
            <a:xfrm>
              <a:off x="6921" y="11115"/>
              <a:ext cx="360" cy="360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82" name="Text Box 8"/>
            <p:cNvSpPr txBox="1">
              <a:spLocks noChangeArrowheads="1"/>
            </p:cNvSpPr>
            <p:nvPr/>
          </p:nvSpPr>
          <p:spPr bwMode="auto">
            <a:xfrm>
              <a:off x="7281" y="11015"/>
              <a:ext cx="141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Registration Client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83" name="Oval 9"/>
            <p:cNvSpPr>
              <a:spLocks noChangeArrowheads="1"/>
            </p:cNvSpPr>
            <p:nvPr/>
          </p:nvSpPr>
          <p:spPr bwMode="auto">
            <a:xfrm>
              <a:off x="6948" y="11687"/>
              <a:ext cx="360" cy="36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84" name="Text Box 10"/>
            <p:cNvSpPr txBox="1">
              <a:spLocks noChangeArrowheads="1"/>
            </p:cNvSpPr>
            <p:nvPr/>
          </p:nvSpPr>
          <p:spPr bwMode="auto">
            <a:xfrm>
              <a:off x="7281" y="11655"/>
              <a:ext cx="144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Query IRM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5485" name="Text Box 11"/>
            <p:cNvSpPr txBox="1">
              <a:spLocks noChangeArrowheads="1"/>
            </p:cNvSpPr>
            <p:nvPr/>
          </p:nvSpPr>
          <p:spPr bwMode="auto">
            <a:xfrm>
              <a:off x="5432" y="11527"/>
              <a:ext cx="12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DA-DAP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5486" name="Group 12"/>
            <p:cNvGrpSpPr>
              <a:grpSpLocks/>
            </p:cNvGrpSpPr>
            <p:nvPr/>
          </p:nvGrpSpPr>
          <p:grpSpPr bwMode="auto">
            <a:xfrm>
              <a:off x="8901" y="12096"/>
              <a:ext cx="2520" cy="620"/>
              <a:chOff x="7821" y="7204"/>
              <a:chExt cx="2520" cy="620"/>
            </a:xfrm>
          </p:grpSpPr>
          <p:sp>
            <p:nvSpPr>
              <p:cNvPr id="105617" name="Text Box 13"/>
              <p:cNvSpPr txBox="1">
                <a:spLocks noChangeArrowheads="1"/>
              </p:cNvSpPr>
              <p:nvPr/>
            </p:nvSpPr>
            <p:spPr bwMode="auto">
              <a:xfrm>
                <a:off x="8181" y="7204"/>
                <a:ext cx="2160" cy="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NSM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Repositories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618" name="Oval 14"/>
              <p:cNvSpPr>
                <a:spLocks noChangeArrowheads="1"/>
              </p:cNvSpPr>
              <p:nvPr/>
            </p:nvSpPr>
            <p:spPr bwMode="auto">
              <a:xfrm>
                <a:off x="7821" y="7384"/>
                <a:ext cx="360" cy="360"/>
              </a:xfrm>
              <a:prstGeom prst="ellipse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5487" name="Group 15"/>
            <p:cNvGrpSpPr>
              <a:grpSpLocks/>
            </p:cNvGrpSpPr>
            <p:nvPr/>
          </p:nvGrpSpPr>
          <p:grpSpPr bwMode="auto">
            <a:xfrm>
              <a:off x="6921" y="12096"/>
              <a:ext cx="1800" cy="720"/>
              <a:chOff x="6921" y="7384"/>
              <a:chExt cx="1800" cy="720"/>
            </a:xfrm>
          </p:grpSpPr>
          <p:sp>
            <p:nvSpPr>
              <p:cNvPr id="105615" name="Oval 16"/>
              <p:cNvSpPr>
                <a:spLocks noChangeArrowheads="1"/>
              </p:cNvSpPr>
              <p:nvPr/>
            </p:nvSpPr>
            <p:spPr bwMode="auto">
              <a:xfrm>
                <a:off x="6921" y="7564"/>
                <a:ext cx="360" cy="3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616" name="Text Box 17"/>
              <p:cNvSpPr txBox="1">
                <a:spLocks noChangeArrowheads="1"/>
              </p:cNvSpPr>
              <p:nvPr/>
            </p:nvSpPr>
            <p:spPr bwMode="auto">
              <a:xfrm>
                <a:off x="7281" y="7384"/>
                <a:ext cx="144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DIF Creation and Relay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5488" name="Group 18"/>
            <p:cNvGrpSpPr>
              <a:grpSpLocks/>
            </p:cNvGrpSpPr>
            <p:nvPr/>
          </p:nvGrpSpPr>
          <p:grpSpPr bwMode="auto">
            <a:xfrm>
              <a:off x="4761" y="12096"/>
              <a:ext cx="720" cy="540"/>
              <a:chOff x="4761" y="7384"/>
              <a:chExt cx="720" cy="540"/>
            </a:xfrm>
          </p:grpSpPr>
          <p:grpSp>
            <p:nvGrpSpPr>
              <p:cNvPr id="105610" name="Group 19"/>
              <p:cNvGrpSpPr>
                <a:grpSpLocks/>
              </p:cNvGrpSpPr>
              <p:nvPr/>
            </p:nvGrpSpPr>
            <p:grpSpPr bwMode="auto">
              <a:xfrm>
                <a:off x="4840" y="7552"/>
                <a:ext cx="563" cy="372"/>
                <a:chOff x="4840" y="7552"/>
                <a:chExt cx="563" cy="372"/>
              </a:xfrm>
            </p:grpSpPr>
            <p:sp>
              <p:nvSpPr>
                <p:cNvPr id="105612" name="Oval 20"/>
                <p:cNvSpPr>
                  <a:spLocks noChangeArrowheads="1"/>
                </p:cNvSpPr>
                <p:nvPr/>
              </p:nvSpPr>
              <p:spPr bwMode="auto">
                <a:xfrm>
                  <a:off x="4840" y="7552"/>
                  <a:ext cx="201" cy="180"/>
                </a:xfrm>
                <a:prstGeom prst="ellipse">
                  <a:avLst/>
                </a:prstGeom>
                <a:solidFill>
                  <a:srgbClr val="3366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613" name="Oval 21"/>
                <p:cNvSpPr>
                  <a:spLocks noChangeArrowheads="1"/>
                </p:cNvSpPr>
                <p:nvPr/>
              </p:nvSpPr>
              <p:spPr bwMode="auto">
                <a:xfrm>
                  <a:off x="5202" y="7564"/>
                  <a:ext cx="201" cy="180"/>
                </a:xfrm>
                <a:prstGeom prst="ellipse">
                  <a:avLst/>
                </a:prstGeom>
                <a:solidFill>
                  <a:srgbClr val="FF66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614" name="Oval 22"/>
                <p:cNvSpPr>
                  <a:spLocks noChangeArrowheads="1"/>
                </p:cNvSpPr>
                <p:nvPr/>
              </p:nvSpPr>
              <p:spPr bwMode="auto">
                <a:xfrm>
                  <a:off x="5022" y="7744"/>
                  <a:ext cx="201" cy="180"/>
                </a:xfrm>
                <a:prstGeom prst="ellipse">
                  <a:avLst/>
                </a:prstGeom>
                <a:solidFill>
                  <a:srgbClr val="00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05611" name="Oval 23"/>
              <p:cNvSpPr>
                <a:spLocks noChangeArrowheads="1"/>
              </p:cNvSpPr>
              <p:nvPr/>
            </p:nvSpPr>
            <p:spPr bwMode="auto">
              <a:xfrm>
                <a:off x="4761" y="7384"/>
                <a:ext cx="720" cy="54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5489" name="Text Box 24"/>
            <p:cNvSpPr txBox="1">
              <a:spLocks noChangeArrowheads="1"/>
            </p:cNvSpPr>
            <p:nvPr/>
          </p:nvSpPr>
          <p:spPr bwMode="auto">
            <a:xfrm>
              <a:off x="5481" y="12276"/>
              <a:ext cx="12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NSM- DAP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5490" name="Group 25"/>
            <p:cNvGrpSpPr>
              <a:grpSpLocks/>
            </p:cNvGrpSpPr>
            <p:nvPr/>
          </p:nvGrpSpPr>
          <p:grpSpPr bwMode="auto">
            <a:xfrm>
              <a:off x="6860" y="6644"/>
              <a:ext cx="2160" cy="1620"/>
              <a:chOff x="7281" y="1984"/>
              <a:chExt cx="2160" cy="1620"/>
            </a:xfrm>
          </p:grpSpPr>
          <p:sp>
            <p:nvSpPr>
              <p:cNvPr id="105597" name="Oval 26"/>
              <p:cNvSpPr>
                <a:spLocks noChangeArrowheads="1"/>
              </p:cNvSpPr>
              <p:nvPr/>
            </p:nvSpPr>
            <p:spPr bwMode="auto">
              <a:xfrm rot="2935781">
                <a:off x="8252" y="1733"/>
                <a:ext cx="578" cy="180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98" name="Oval 27"/>
              <p:cNvSpPr>
                <a:spLocks noChangeArrowheads="1"/>
              </p:cNvSpPr>
              <p:nvPr/>
            </p:nvSpPr>
            <p:spPr bwMode="auto">
              <a:xfrm>
                <a:off x="7851" y="216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99" name="Oval 28"/>
              <p:cNvSpPr>
                <a:spLocks noChangeArrowheads="1"/>
              </p:cNvSpPr>
              <p:nvPr/>
            </p:nvSpPr>
            <p:spPr bwMode="auto">
              <a:xfrm>
                <a:off x="8751" y="216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600" name="Oval 29"/>
              <p:cNvSpPr>
                <a:spLocks noChangeArrowheads="1"/>
              </p:cNvSpPr>
              <p:nvPr/>
            </p:nvSpPr>
            <p:spPr bwMode="auto">
              <a:xfrm>
                <a:off x="7671" y="1984"/>
                <a:ext cx="727" cy="136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601" name="Group 30"/>
              <p:cNvGrpSpPr>
                <a:grpSpLocks/>
              </p:cNvGrpSpPr>
              <p:nvPr/>
            </p:nvGrpSpPr>
            <p:grpSpPr bwMode="auto">
              <a:xfrm>
                <a:off x="7281" y="2704"/>
                <a:ext cx="1080" cy="900"/>
                <a:chOff x="5841" y="3424"/>
                <a:chExt cx="1080" cy="900"/>
              </a:xfrm>
            </p:grpSpPr>
            <p:sp>
              <p:nvSpPr>
                <p:cNvPr id="105602" name="Oval 31"/>
                <p:cNvSpPr>
                  <a:spLocks noChangeArrowheads="1"/>
                </p:cNvSpPr>
                <p:nvPr/>
              </p:nvSpPr>
              <p:spPr bwMode="auto">
                <a:xfrm>
                  <a:off x="5841" y="3424"/>
                  <a:ext cx="1080" cy="90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603" name="Oval 32"/>
                <p:cNvSpPr>
                  <a:spLocks noChangeArrowheads="1"/>
                </p:cNvSpPr>
                <p:nvPr/>
              </p:nvSpPr>
              <p:spPr bwMode="auto">
                <a:xfrm>
                  <a:off x="6201" y="4144"/>
                  <a:ext cx="360" cy="18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05604" name="Group 33"/>
                <p:cNvGrpSpPr>
                  <a:grpSpLocks/>
                </p:cNvGrpSpPr>
                <p:nvPr/>
              </p:nvGrpSpPr>
              <p:grpSpPr bwMode="auto">
                <a:xfrm>
                  <a:off x="6031" y="3604"/>
                  <a:ext cx="720" cy="540"/>
                  <a:chOff x="6031" y="3604"/>
                  <a:chExt cx="720" cy="540"/>
                </a:xfrm>
              </p:grpSpPr>
              <p:grpSp>
                <p:nvGrpSpPr>
                  <p:cNvPr id="105605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6110" y="3772"/>
                    <a:ext cx="563" cy="372"/>
                    <a:chOff x="4219" y="6652"/>
                    <a:chExt cx="563" cy="372"/>
                  </a:xfrm>
                </p:grpSpPr>
                <p:sp>
                  <p:nvSpPr>
                    <p:cNvPr id="105607" name="Oval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9" y="6652"/>
                      <a:ext cx="201" cy="180"/>
                    </a:xfrm>
                    <a:prstGeom prst="ellipse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608" name="Oval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1" y="6664"/>
                      <a:ext cx="201" cy="180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609" name="Oval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01" y="6844"/>
                      <a:ext cx="201" cy="18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105606" name="Oval 38"/>
                  <p:cNvSpPr>
                    <a:spLocks noChangeArrowheads="1"/>
                  </p:cNvSpPr>
                  <p:nvPr/>
                </p:nvSpPr>
                <p:spPr bwMode="auto">
                  <a:xfrm>
                    <a:off x="6031" y="3604"/>
                    <a:ext cx="720" cy="5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105491" name="Group 39"/>
            <p:cNvGrpSpPr>
              <a:grpSpLocks/>
            </p:cNvGrpSpPr>
            <p:nvPr/>
          </p:nvGrpSpPr>
          <p:grpSpPr bwMode="auto">
            <a:xfrm>
              <a:off x="4581" y="11015"/>
              <a:ext cx="1080" cy="900"/>
              <a:chOff x="2601" y="5764"/>
              <a:chExt cx="1080" cy="900"/>
            </a:xfrm>
          </p:grpSpPr>
          <p:sp>
            <p:nvSpPr>
              <p:cNvPr id="105589" name="Oval 40"/>
              <p:cNvSpPr>
                <a:spLocks noChangeArrowheads="1"/>
              </p:cNvSpPr>
              <p:nvPr/>
            </p:nvSpPr>
            <p:spPr bwMode="auto">
              <a:xfrm>
                <a:off x="2601" y="5764"/>
                <a:ext cx="1080" cy="9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90" name="Oval 41"/>
              <p:cNvSpPr>
                <a:spLocks noChangeArrowheads="1"/>
              </p:cNvSpPr>
              <p:nvPr/>
            </p:nvSpPr>
            <p:spPr bwMode="auto">
              <a:xfrm>
                <a:off x="2961" y="6484"/>
                <a:ext cx="360" cy="1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91" name="Group 42"/>
              <p:cNvGrpSpPr>
                <a:grpSpLocks/>
              </p:cNvGrpSpPr>
              <p:nvPr/>
            </p:nvGrpSpPr>
            <p:grpSpPr bwMode="auto">
              <a:xfrm>
                <a:off x="2784" y="5864"/>
                <a:ext cx="720" cy="540"/>
                <a:chOff x="4761" y="7384"/>
                <a:chExt cx="720" cy="540"/>
              </a:xfrm>
            </p:grpSpPr>
            <p:grpSp>
              <p:nvGrpSpPr>
                <p:cNvPr id="105592" name="Group 43"/>
                <p:cNvGrpSpPr>
                  <a:grpSpLocks/>
                </p:cNvGrpSpPr>
                <p:nvPr/>
              </p:nvGrpSpPr>
              <p:grpSpPr bwMode="auto">
                <a:xfrm>
                  <a:off x="4840" y="7552"/>
                  <a:ext cx="563" cy="372"/>
                  <a:chOff x="4840" y="7552"/>
                  <a:chExt cx="563" cy="372"/>
                </a:xfrm>
              </p:grpSpPr>
              <p:sp>
                <p:nvSpPr>
                  <p:cNvPr id="105594" name="Oval 44"/>
                  <p:cNvSpPr>
                    <a:spLocks noChangeArrowheads="1"/>
                  </p:cNvSpPr>
                  <p:nvPr/>
                </p:nvSpPr>
                <p:spPr bwMode="auto">
                  <a:xfrm>
                    <a:off x="4840" y="7552"/>
                    <a:ext cx="201" cy="180"/>
                  </a:xfrm>
                  <a:prstGeom prst="ellipse">
                    <a:avLst/>
                  </a:prstGeom>
                  <a:solidFill>
                    <a:srgbClr val="3366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5595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5202" y="7564"/>
                    <a:ext cx="201" cy="180"/>
                  </a:xfrm>
                  <a:prstGeom prst="ellipse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5596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5022" y="7744"/>
                    <a:ext cx="201" cy="180"/>
                  </a:xfrm>
                  <a:prstGeom prst="ellipse">
                    <a:avLst/>
                  </a:prstGeom>
                  <a:solidFill>
                    <a:srgbClr val="00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05593" name="Oval 47"/>
                <p:cNvSpPr>
                  <a:spLocks noChangeArrowheads="1"/>
                </p:cNvSpPr>
                <p:nvPr/>
              </p:nvSpPr>
              <p:spPr bwMode="auto">
                <a:xfrm>
                  <a:off x="4761" y="7384"/>
                  <a:ext cx="720" cy="5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05492" name="Group 48"/>
            <p:cNvGrpSpPr>
              <a:grpSpLocks/>
            </p:cNvGrpSpPr>
            <p:nvPr/>
          </p:nvGrpSpPr>
          <p:grpSpPr bwMode="auto">
            <a:xfrm>
              <a:off x="2241" y="6516"/>
              <a:ext cx="1980" cy="2340"/>
              <a:chOff x="2601" y="1984"/>
              <a:chExt cx="1980" cy="2340"/>
            </a:xfrm>
          </p:grpSpPr>
          <p:sp>
            <p:nvSpPr>
              <p:cNvPr id="105576" name="Oval 49"/>
              <p:cNvSpPr>
                <a:spLocks noChangeArrowheads="1"/>
              </p:cNvSpPr>
              <p:nvPr/>
            </p:nvSpPr>
            <p:spPr bwMode="auto">
              <a:xfrm>
                <a:off x="3861" y="234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77" name="Oval 50"/>
              <p:cNvSpPr>
                <a:spLocks noChangeArrowheads="1"/>
              </p:cNvSpPr>
              <p:nvPr/>
            </p:nvSpPr>
            <p:spPr bwMode="auto">
              <a:xfrm>
                <a:off x="2781" y="288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78" name="Oval 51"/>
              <p:cNvSpPr>
                <a:spLocks noChangeArrowheads="1"/>
              </p:cNvSpPr>
              <p:nvPr/>
            </p:nvSpPr>
            <p:spPr bwMode="auto">
              <a:xfrm rot="-9601521">
                <a:off x="2601" y="288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79" name="Oval 52"/>
              <p:cNvSpPr>
                <a:spLocks noChangeArrowheads="1"/>
              </p:cNvSpPr>
              <p:nvPr/>
            </p:nvSpPr>
            <p:spPr bwMode="auto">
              <a:xfrm rot="-5370390">
                <a:off x="3141" y="252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80" name="Group 53"/>
              <p:cNvGrpSpPr>
                <a:grpSpLocks/>
              </p:cNvGrpSpPr>
              <p:nvPr/>
            </p:nvGrpSpPr>
            <p:grpSpPr bwMode="auto">
              <a:xfrm>
                <a:off x="3501" y="3424"/>
                <a:ext cx="1080" cy="900"/>
                <a:chOff x="4941" y="2884"/>
                <a:chExt cx="1080" cy="900"/>
              </a:xfrm>
            </p:grpSpPr>
            <p:sp>
              <p:nvSpPr>
                <p:cNvPr id="105581" name="Oval 54"/>
                <p:cNvSpPr>
                  <a:spLocks noChangeArrowheads="1"/>
                </p:cNvSpPr>
                <p:nvPr/>
              </p:nvSpPr>
              <p:spPr bwMode="auto">
                <a:xfrm>
                  <a:off x="4941" y="2884"/>
                  <a:ext cx="1080" cy="90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582" name="Oval 55"/>
                <p:cNvSpPr>
                  <a:spLocks noChangeArrowheads="1"/>
                </p:cNvSpPr>
                <p:nvPr/>
              </p:nvSpPr>
              <p:spPr bwMode="auto">
                <a:xfrm>
                  <a:off x="5301" y="3604"/>
                  <a:ext cx="360" cy="18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05583" name="Group 56"/>
                <p:cNvGrpSpPr>
                  <a:grpSpLocks/>
                </p:cNvGrpSpPr>
                <p:nvPr/>
              </p:nvGrpSpPr>
              <p:grpSpPr bwMode="auto">
                <a:xfrm rot="10800000">
                  <a:off x="5131" y="3064"/>
                  <a:ext cx="720" cy="540"/>
                  <a:chOff x="6031" y="3604"/>
                  <a:chExt cx="720" cy="540"/>
                </a:xfrm>
              </p:grpSpPr>
              <p:grpSp>
                <p:nvGrpSpPr>
                  <p:cNvPr id="105584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6110" y="3772"/>
                    <a:ext cx="563" cy="372"/>
                    <a:chOff x="4219" y="6652"/>
                    <a:chExt cx="563" cy="372"/>
                  </a:xfrm>
                </p:grpSpPr>
                <p:sp>
                  <p:nvSpPr>
                    <p:cNvPr id="105586" name="Oval 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9" y="6652"/>
                      <a:ext cx="201" cy="180"/>
                    </a:xfrm>
                    <a:prstGeom prst="ellipse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87" name="Oval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1" y="6664"/>
                      <a:ext cx="201" cy="180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88" name="Oval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01" y="6844"/>
                      <a:ext cx="201" cy="18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105585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6031" y="3604"/>
                    <a:ext cx="720" cy="5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105493" name="Group 62"/>
            <p:cNvGrpSpPr>
              <a:grpSpLocks/>
            </p:cNvGrpSpPr>
            <p:nvPr/>
          </p:nvGrpSpPr>
          <p:grpSpPr bwMode="auto">
            <a:xfrm rot="5363682">
              <a:off x="7731" y="9306"/>
              <a:ext cx="2160" cy="1620"/>
              <a:chOff x="7281" y="1984"/>
              <a:chExt cx="2160" cy="1620"/>
            </a:xfrm>
          </p:grpSpPr>
          <p:sp>
            <p:nvSpPr>
              <p:cNvPr id="105563" name="Oval 63"/>
              <p:cNvSpPr>
                <a:spLocks noChangeArrowheads="1"/>
              </p:cNvSpPr>
              <p:nvPr/>
            </p:nvSpPr>
            <p:spPr bwMode="auto">
              <a:xfrm rot="2935781">
                <a:off x="8252" y="1733"/>
                <a:ext cx="578" cy="180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64" name="Oval 64"/>
              <p:cNvSpPr>
                <a:spLocks noChangeArrowheads="1"/>
              </p:cNvSpPr>
              <p:nvPr/>
            </p:nvSpPr>
            <p:spPr bwMode="auto">
              <a:xfrm>
                <a:off x="7851" y="216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65" name="Oval 65"/>
              <p:cNvSpPr>
                <a:spLocks noChangeArrowheads="1"/>
              </p:cNvSpPr>
              <p:nvPr/>
            </p:nvSpPr>
            <p:spPr bwMode="auto">
              <a:xfrm>
                <a:off x="8751" y="216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66" name="Oval 66"/>
              <p:cNvSpPr>
                <a:spLocks noChangeArrowheads="1"/>
              </p:cNvSpPr>
              <p:nvPr/>
            </p:nvSpPr>
            <p:spPr bwMode="auto">
              <a:xfrm>
                <a:off x="7671" y="1984"/>
                <a:ext cx="727" cy="136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67" name="Group 67"/>
              <p:cNvGrpSpPr>
                <a:grpSpLocks/>
              </p:cNvGrpSpPr>
              <p:nvPr/>
            </p:nvGrpSpPr>
            <p:grpSpPr bwMode="auto">
              <a:xfrm>
                <a:off x="7281" y="2704"/>
                <a:ext cx="1080" cy="900"/>
                <a:chOff x="5841" y="3424"/>
                <a:chExt cx="1080" cy="900"/>
              </a:xfrm>
            </p:grpSpPr>
            <p:sp>
              <p:nvSpPr>
                <p:cNvPr id="105568" name="Oval 68"/>
                <p:cNvSpPr>
                  <a:spLocks noChangeArrowheads="1"/>
                </p:cNvSpPr>
                <p:nvPr/>
              </p:nvSpPr>
              <p:spPr bwMode="auto">
                <a:xfrm>
                  <a:off x="5841" y="3424"/>
                  <a:ext cx="1080" cy="90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569" name="Oval 69"/>
                <p:cNvSpPr>
                  <a:spLocks noChangeArrowheads="1"/>
                </p:cNvSpPr>
                <p:nvPr/>
              </p:nvSpPr>
              <p:spPr bwMode="auto">
                <a:xfrm>
                  <a:off x="6201" y="4144"/>
                  <a:ext cx="360" cy="18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05570" name="Group 70"/>
                <p:cNvGrpSpPr>
                  <a:grpSpLocks/>
                </p:cNvGrpSpPr>
                <p:nvPr/>
              </p:nvGrpSpPr>
              <p:grpSpPr bwMode="auto">
                <a:xfrm>
                  <a:off x="6031" y="3604"/>
                  <a:ext cx="720" cy="540"/>
                  <a:chOff x="6031" y="3604"/>
                  <a:chExt cx="720" cy="540"/>
                </a:xfrm>
              </p:grpSpPr>
              <p:grpSp>
                <p:nvGrpSpPr>
                  <p:cNvPr id="105571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6110" y="3772"/>
                    <a:ext cx="563" cy="372"/>
                    <a:chOff x="4219" y="6652"/>
                    <a:chExt cx="563" cy="372"/>
                  </a:xfrm>
                </p:grpSpPr>
                <p:sp>
                  <p:nvSpPr>
                    <p:cNvPr id="105573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9" y="6652"/>
                      <a:ext cx="201" cy="180"/>
                    </a:xfrm>
                    <a:prstGeom prst="ellipse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74" name="Oval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1" y="6664"/>
                      <a:ext cx="201" cy="180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75" name="Oval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01" y="6844"/>
                      <a:ext cx="201" cy="18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105572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6031" y="3604"/>
                    <a:ext cx="720" cy="5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105494" name="Group 76"/>
            <p:cNvGrpSpPr>
              <a:grpSpLocks/>
            </p:cNvGrpSpPr>
            <p:nvPr/>
          </p:nvGrpSpPr>
          <p:grpSpPr bwMode="auto">
            <a:xfrm rot="5187237">
              <a:off x="8181" y="6876"/>
              <a:ext cx="1980" cy="2340"/>
              <a:chOff x="2601" y="1984"/>
              <a:chExt cx="1980" cy="2340"/>
            </a:xfrm>
          </p:grpSpPr>
          <p:sp>
            <p:nvSpPr>
              <p:cNvPr id="105550" name="Oval 77"/>
              <p:cNvSpPr>
                <a:spLocks noChangeArrowheads="1"/>
              </p:cNvSpPr>
              <p:nvPr/>
            </p:nvSpPr>
            <p:spPr bwMode="auto">
              <a:xfrm>
                <a:off x="3861" y="234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51" name="Oval 78"/>
              <p:cNvSpPr>
                <a:spLocks noChangeArrowheads="1"/>
              </p:cNvSpPr>
              <p:nvPr/>
            </p:nvSpPr>
            <p:spPr bwMode="auto">
              <a:xfrm>
                <a:off x="2781" y="288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52" name="Oval 79"/>
              <p:cNvSpPr>
                <a:spLocks noChangeArrowheads="1"/>
              </p:cNvSpPr>
              <p:nvPr/>
            </p:nvSpPr>
            <p:spPr bwMode="auto">
              <a:xfrm rot="-9601521">
                <a:off x="2601" y="288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53" name="Oval 80"/>
              <p:cNvSpPr>
                <a:spLocks noChangeArrowheads="1"/>
              </p:cNvSpPr>
              <p:nvPr/>
            </p:nvSpPr>
            <p:spPr bwMode="auto">
              <a:xfrm rot="-5370390">
                <a:off x="3141" y="252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54" name="Group 81"/>
              <p:cNvGrpSpPr>
                <a:grpSpLocks/>
              </p:cNvGrpSpPr>
              <p:nvPr/>
            </p:nvGrpSpPr>
            <p:grpSpPr bwMode="auto">
              <a:xfrm>
                <a:off x="3501" y="3424"/>
                <a:ext cx="1080" cy="900"/>
                <a:chOff x="4941" y="2884"/>
                <a:chExt cx="1080" cy="900"/>
              </a:xfrm>
            </p:grpSpPr>
            <p:sp>
              <p:nvSpPr>
                <p:cNvPr id="105555" name="Oval 82"/>
                <p:cNvSpPr>
                  <a:spLocks noChangeArrowheads="1"/>
                </p:cNvSpPr>
                <p:nvPr/>
              </p:nvSpPr>
              <p:spPr bwMode="auto">
                <a:xfrm>
                  <a:off x="4941" y="2884"/>
                  <a:ext cx="1080" cy="90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556" name="Oval 83"/>
                <p:cNvSpPr>
                  <a:spLocks noChangeArrowheads="1"/>
                </p:cNvSpPr>
                <p:nvPr/>
              </p:nvSpPr>
              <p:spPr bwMode="auto">
                <a:xfrm>
                  <a:off x="5301" y="3604"/>
                  <a:ext cx="360" cy="18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05557" name="Group 84"/>
                <p:cNvGrpSpPr>
                  <a:grpSpLocks/>
                </p:cNvGrpSpPr>
                <p:nvPr/>
              </p:nvGrpSpPr>
              <p:grpSpPr bwMode="auto">
                <a:xfrm rot="10800000">
                  <a:off x="5131" y="3064"/>
                  <a:ext cx="720" cy="540"/>
                  <a:chOff x="6031" y="3604"/>
                  <a:chExt cx="720" cy="540"/>
                </a:xfrm>
              </p:grpSpPr>
              <p:grpSp>
                <p:nvGrpSpPr>
                  <p:cNvPr id="105558" name="Group 85"/>
                  <p:cNvGrpSpPr>
                    <a:grpSpLocks/>
                  </p:cNvGrpSpPr>
                  <p:nvPr/>
                </p:nvGrpSpPr>
                <p:grpSpPr bwMode="auto">
                  <a:xfrm>
                    <a:off x="6110" y="3772"/>
                    <a:ext cx="563" cy="372"/>
                    <a:chOff x="4219" y="6652"/>
                    <a:chExt cx="563" cy="372"/>
                  </a:xfrm>
                </p:grpSpPr>
                <p:sp>
                  <p:nvSpPr>
                    <p:cNvPr id="105560" name="Oval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9" y="6652"/>
                      <a:ext cx="201" cy="180"/>
                    </a:xfrm>
                    <a:prstGeom prst="ellipse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61" name="Oval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1" y="6664"/>
                      <a:ext cx="201" cy="180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62" name="Oval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01" y="6844"/>
                      <a:ext cx="201" cy="18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105559" name="Oval 89"/>
                  <p:cNvSpPr>
                    <a:spLocks noChangeArrowheads="1"/>
                  </p:cNvSpPr>
                  <p:nvPr/>
                </p:nvSpPr>
                <p:spPr bwMode="auto">
                  <a:xfrm>
                    <a:off x="6031" y="3604"/>
                    <a:ext cx="720" cy="5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105495" name="Group 90"/>
            <p:cNvGrpSpPr>
              <a:grpSpLocks/>
            </p:cNvGrpSpPr>
            <p:nvPr/>
          </p:nvGrpSpPr>
          <p:grpSpPr bwMode="auto">
            <a:xfrm>
              <a:off x="4641" y="6036"/>
              <a:ext cx="1980" cy="2340"/>
              <a:chOff x="2601" y="1984"/>
              <a:chExt cx="1980" cy="2340"/>
            </a:xfrm>
          </p:grpSpPr>
          <p:sp>
            <p:nvSpPr>
              <p:cNvPr id="105537" name="Oval 91"/>
              <p:cNvSpPr>
                <a:spLocks noChangeArrowheads="1"/>
              </p:cNvSpPr>
              <p:nvPr/>
            </p:nvSpPr>
            <p:spPr bwMode="auto">
              <a:xfrm>
                <a:off x="3861" y="234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38" name="Oval 92"/>
              <p:cNvSpPr>
                <a:spLocks noChangeArrowheads="1"/>
              </p:cNvSpPr>
              <p:nvPr/>
            </p:nvSpPr>
            <p:spPr bwMode="auto">
              <a:xfrm>
                <a:off x="2781" y="2884"/>
                <a:ext cx="360" cy="360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39" name="Oval 93"/>
              <p:cNvSpPr>
                <a:spLocks noChangeArrowheads="1"/>
              </p:cNvSpPr>
              <p:nvPr/>
            </p:nvSpPr>
            <p:spPr bwMode="auto">
              <a:xfrm rot="-9601521">
                <a:off x="2601" y="288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40" name="Oval 94"/>
              <p:cNvSpPr>
                <a:spLocks noChangeArrowheads="1"/>
              </p:cNvSpPr>
              <p:nvPr/>
            </p:nvSpPr>
            <p:spPr bwMode="auto">
              <a:xfrm rot="-5370390">
                <a:off x="3141" y="2524"/>
                <a:ext cx="180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41" name="Group 95"/>
              <p:cNvGrpSpPr>
                <a:grpSpLocks/>
              </p:cNvGrpSpPr>
              <p:nvPr/>
            </p:nvGrpSpPr>
            <p:grpSpPr bwMode="auto">
              <a:xfrm>
                <a:off x="3501" y="3424"/>
                <a:ext cx="1080" cy="900"/>
                <a:chOff x="4941" y="2884"/>
                <a:chExt cx="1080" cy="900"/>
              </a:xfrm>
            </p:grpSpPr>
            <p:sp>
              <p:nvSpPr>
                <p:cNvPr id="105542" name="Oval 96"/>
                <p:cNvSpPr>
                  <a:spLocks noChangeArrowheads="1"/>
                </p:cNvSpPr>
                <p:nvPr/>
              </p:nvSpPr>
              <p:spPr bwMode="auto">
                <a:xfrm>
                  <a:off x="4941" y="2884"/>
                  <a:ext cx="1080" cy="90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543" name="Oval 97"/>
                <p:cNvSpPr>
                  <a:spLocks noChangeArrowheads="1"/>
                </p:cNvSpPr>
                <p:nvPr/>
              </p:nvSpPr>
              <p:spPr bwMode="auto">
                <a:xfrm>
                  <a:off x="5301" y="3604"/>
                  <a:ext cx="360" cy="18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05544" name="Group 98"/>
                <p:cNvGrpSpPr>
                  <a:grpSpLocks/>
                </p:cNvGrpSpPr>
                <p:nvPr/>
              </p:nvGrpSpPr>
              <p:grpSpPr bwMode="auto">
                <a:xfrm rot="10800000">
                  <a:off x="5131" y="3064"/>
                  <a:ext cx="720" cy="540"/>
                  <a:chOff x="6031" y="3604"/>
                  <a:chExt cx="720" cy="540"/>
                </a:xfrm>
              </p:grpSpPr>
              <p:grpSp>
                <p:nvGrpSpPr>
                  <p:cNvPr id="105545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6110" y="3772"/>
                    <a:ext cx="563" cy="372"/>
                    <a:chOff x="4219" y="6652"/>
                    <a:chExt cx="563" cy="372"/>
                  </a:xfrm>
                </p:grpSpPr>
                <p:sp>
                  <p:nvSpPr>
                    <p:cNvPr id="105547" name="Oval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9" y="6652"/>
                      <a:ext cx="201" cy="180"/>
                    </a:xfrm>
                    <a:prstGeom prst="ellipse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48" name="Oval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1" y="6664"/>
                      <a:ext cx="201" cy="180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49" name="Oval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01" y="6844"/>
                      <a:ext cx="201" cy="18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105546" name="Oval 103"/>
                  <p:cNvSpPr>
                    <a:spLocks noChangeArrowheads="1"/>
                  </p:cNvSpPr>
                  <p:nvPr/>
                </p:nvSpPr>
                <p:spPr bwMode="auto">
                  <a:xfrm>
                    <a:off x="6031" y="3604"/>
                    <a:ext cx="720" cy="5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105496" name="Group 104"/>
            <p:cNvGrpSpPr>
              <a:grpSpLocks/>
            </p:cNvGrpSpPr>
            <p:nvPr/>
          </p:nvGrpSpPr>
          <p:grpSpPr bwMode="auto">
            <a:xfrm rot="9432895">
              <a:off x="2601" y="9215"/>
              <a:ext cx="2160" cy="1620"/>
              <a:chOff x="7281" y="1984"/>
              <a:chExt cx="2160" cy="1620"/>
            </a:xfrm>
          </p:grpSpPr>
          <p:sp>
            <p:nvSpPr>
              <p:cNvPr id="105524" name="Oval 105"/>
              <p:cNvSpPr>
                <a:spLocks noChangeArrowheads="1"/>
              </p:cNvSpPr>
              <p:nvPr/>
            </p:nvSpPr>
            <p:spPr bwMode="auto">
              <a:xfrm rot="2935781">
                <a:off x="8252" y="1733"/>
                <a:ext cx="578" cy="180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25" name="Oval 106"/>
              <p:cNvSpPr>
                <a:spLocks noChangeArrowheads="1"/>
              </p:cNvSpPr>
              <p:nvPr/>
            </p:nvSpPr>
            <p:spPr bwMode="auto">
              <a:xfrm>
                <a:off x="7851" y="216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26" name="Oval 107"/>
              <p:cNvSpPr>
                <a:spLocks noChangeArrowheads="1"/>
              </p:cNvSpPr>
              <p:nvPr/>
            </p:nvSpPr>
            <p:spPr bwMode="auto">
              <a:xfrm>
                <a:off x="8751" y="2164"/>
                <a:ext cx="360" cy="36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27" name="Oval 108"/>
              <p:cNvSpPr>
                <a:spLocks noChangeArrowheads="1"/>
              </p:cNvSpPr>
              <p:nvPr/>
            </p:nvSpPr>
            <p:spPr bwMode="auto">
              <a:xfrm>
                <a:off x="7671" y="1984"/>
                <a:ext cx="727" cy="136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28" name="Group 109"/>
              <p:cNvGrpSpPr>
                <a:grpSpLocks/>
              </p:cNvGrpSpPr>
              <p:nvPr/>
            </p:nvGrpSpPr>
            <p:grpSpPr bwMode="auto">
              <a:xfrm>
                <a:off x="7281" y="2704"/>
                <a:ext cx="1080" cy="900"/>
                <a:chOff x="5841" y="3424"/>
                <a:chExt cx="1080" cy="900"/>
              </a:xfrm>
            </p:grpSpPr>
            <p:sp>
              <p:nvSpPr>
                <p:cNvPr id="105529" name="Oval 110"/>
                <p:cNvSpPr>
                  <a:spLocks noChangeArrowheads="1"/>
                </p:cNvSpPr>
                <p:nvPr/>
              </p:nvSpPr>
              <p:spPr bwMode="auto">
                <a:xfrm>
                  <a:off x="5841" y="3424"/>
                  <a:ext cx="1080" cy="90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530" name="Oval 111"/>
                <p:cNvSpPr>
                  <a:spLocks noChangeArrowheads="1"/>
                </p:cNvSpPr>
                <p:nvPr/>
              </p:nvSpPr>
              <p:spPr bwMode="auto">
                <a:xfrm>
                  <a:off x="6201" y="4144"/>
                  <a:ext cx="360" cy="18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05531" name="Group 112"/>
                <p:cNvGrpSpPr>
                  <a:grpSpLocks/>
                </p:cNvGrpSpPr>
                <p:nvPr/>
              </p:nvGrpSpPr>
              <p:grpSpPr bwMode="auto">
                <a:xfrm>
                  <a:off x="6031" y="3604"/>
                  <a:ext cx="720" cy="540"/>
                  <a:chOff x="6031" y="3604"/>
                  <a:chExt cx="720" cy="540"/>
                </a:xfrm>
              </p:grpSpPr>
              <p:grpSp>
                <p:nvGrpSpPr>
                  <p:cNvPr id="105532" name="Group 113"/>
                  <p:cNvGrpSpPr>
                    <a:grpSpLocks/>
                  </p:cNvGrpSpPr>
                  <p:nvPr/>
                </p:nvGrpSpPr>
                <p:grpSpPr bwMode="auto">
                  <a:xfrm>
                    <a:off x="6110" y="3772"/>
                    <a:ext cx="563" cy="372"/>
                    <a:chOff x="4219" y="6652"/>
                    <a:chExt cx="563" cy="372"/>
                  </a:xfrm>
                </p:grpSpPr>
                <p:sp>
                  <p:nvSpPr>
                    <p:cNvPr id="105534" name="Oval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9" y="6652"/>
                      <a:ext cx="201" cy="180"/>
                    </a:xfrm>
                    <a:prstGeom prst="ellipse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35" name="Oval 1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1" y="6664"/>
                      <a:ext cx="201" cy="180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05536" name="Oval 1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01" y="6844"/>
                      <a:ext cx="201" cy="18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105533" name="Oval 117"/>
                  <p:cNvSpPr>
                    <a:spLocks noChangeArrowheads="1"/>
                  </p:cNvSpPr>
                  <p:nvPr/>
                </p:nvSpPr>
                <p:spPr bwMode="auto">
                  <a:xfrm>
                    <a:off x="6031" y="3604"/>
                    <a:ext cx="720" cy="54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105497" name="Group 118"/>
            <p:cNvGrpSpPr>
              <a:grpSpLocks/>
            </p:cNvGrpSpPr>
            <p:nvPr/>
          </p:nvGrpSpPr>
          <p:grpSpPr bwMode="auto">
            <a:xfrm>
              <a:off x="6561" y="9575"/>
              <a:ext cx="1080" cy="900"/>
              <a:chOff x="5661" y="4684"/>
              <a:chExt cx="1080" cy="900"/>
            </a:xfrm>
          </p:grpSpPr>
          <p:sp>
            <p:nvSpPr>
              <p:cNvPr id="105520" name="Oval 119"/>
              <p:cNvSpPr>
                <a:spLocks noChangeArrowheads="1"/>
              </p:cNvSpPr>
              <p:nvPr/>
            </p:nvSpPr>
            <p:spPr bwMode="auto">
              <a:xfrm>
                <a:off x="5661" y="4684"/>
                <a:ext cx="1080" cy="9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21" name="Oval 120"/>
              <p:cNvSpPr>
                <a:spLocks noChangeArrowheads="1"/>
              </p:cNvSpPr>
              <p:nvPr/>
            </p:nvSpPr>
            <p:spPr bwMode="auto">
              <a:xfrm>
                <a:off x="6021" y="5404"/>
                <a:ext cx="360" cy="1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22" name="Oval 121"/>
              <p:cNvSpPr>
                <a:spLocks noChangeArrowheads="1"/>
              </p:cNvSpPr>
              <p:nvPr/>
            </p:nvSpPr>
            <p:spPr bwMode="auto">
              <a:xfrm>
                <a:off x="5930" y="5032"/>
                <a:ext cx="201" cy="180"/>
              </a:xfrm>
              <a:prstGeom prst="ellipse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23" name="Oval 122"/>
              <p:cNvSpPr>
                <a:spLocks noChangeArrowheads="1"/>
              </p:cNvSpPr>
              <p:nvPr/>
            </p:nvSpPr>
            <p:spPr bwMode="auto">
              <a:xfrm>
                <a:off x="5851" y="4864"/>
                <a:ext cx="720" cy="54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05498" name="Group 123"/>
            <p:cNvGrpSpPr>
              <a:grpSpLocks/>
            </p:cNvGrpSpPr>
            <p:nvPr/>
          </p:nvGrpSpPr>
          <p:grpSpPr bwMode="auto">
            <a:xfrm>
              <a:off x="4761" y="8496"/>
              <a:ext cx="1080" cy="900"/>
              <a:chOff x="5661" y="4684"/>
              <a:chExt cx="1080" cy="900"/>
            </a:xfrm>
          </p:grpSpPr>
          <p:sp>
            <p:nvSpPr>
              <p:cNvPr id="105516" name="Oval 124"/>
              <p:cNvSpPr>
                <a:spLocks noChangeArrowheads="1"/>
              </p:cNvSpPr>
              <p:nvPr/>
            </p:nvSpPr>
            <p:spPr bwMode="auto">
              <a:xfrm>
                <a:off x="5661" y="4684"/>
                <a:ext cx="1080" cy="9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17" name="Oval 125"/>
              <p:cNvSpPr>
                <a:spLocks noChangeArrowheads="1"/>
              </p:cNvSpPr>
              <p:nvPr/>
            </p:nvSpPr>
            <p:spPr bwMode="auto">
              <a:xfrm>
                <a:off x="6021" y="5404"/>
                <a:ext cx="360" cy="1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18" name="Oval 126"/>
              <p:cNvSpPr>
                <a:spLocks noChangeArrowheads="1"/>
              </p:cNvSpPr>
              <p:nvPr/>
            </p:nvSpPr>
            <p:spPr bwMode="auto">
              <a:xfrm>
                <a:off x="5930" y="5032"/>
                <a:ext cx="201" cy="180"/>
              </a:xfrm>
              <a:prstGeom prst="ellipse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19" name="Oval 127"/>
              <p:cNvSpPr>
                <a:spLocks noChangeArrowheads="1"/>
              </p:cNvSpPr>
              <p:nvPr/>
            </p:nvSpPr>
            <p:spPr bwMode="auto">
              <a:xfrm>
                <a:off x="5851" y="4864"/>
                <a:ext cx="720" cy="54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5499" name="Text Box 128"/>
            <p:cNvSpPr txBox="1">
              <a:spLocks noChangeArrowheads="1"/>
            </p:cNvSpPr>
            <p:nvPr/>
          </p:nvSpPr>
          <p:spPr bwMode="auto">
            <a:xfrm>
              <a:off x="4401" y="7955"/>
              <a:ext cx="126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DA-DAF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5500" name="Group 129"/>
            <p:cNvGrpSpPr>
              <a:grpSpLocks/>
            </p:cNvGrpSpPr>
            <p:nvPr/>
          </p:nvGrpSpPr>
          <p:grpSpPr bwMode="auto">
            <a:xfrm>
              <a:off x="4941" y="9407"/>
              <a:ext cx="1080" cy="900"/>
              <a:chOff x="4941" y="7744"/>
              <a:chExt cx="1080" cy="900"/>
            </a:xfrm>
          </p:grpSpPr>
          <p:sp>
            <p:nvSpPr>
              <p:cNvPr id="105509" name="Oval 130"/>
              <p:cNvSpPr>
                <a:spLocks noChangeArrowheads="1"/>
              </p:cNvSpPr>
              <p:nvPr/>
            </p:nvSpPr>
            <p:spPr bwMode="auto">
              <a:xfrm>
                <a:off x="4941" y="7744"/>
                <a:ext cx="1080" cy="9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10" name="Oval 131"/>
              <p:cNvSpPr>
                <a:spLocks noChangeArrowheads="1"/>
              </p:cNvSpPr>
              <p:nvPr/>
            </p:nvSpPr>
            <p:spPr bwMode="auto">
              <a:xfrm>
                <a:off x="5301" y="8464"/>
                <a:ext cx="360" cy="1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11" name="Group 132"/>
              <p:cNvGrpSpPr>
                <a:grpSpLocks/>
              </p:cNvGrpSpPr>
              <p:nvPr/>
            </p:nvGrpSpPr>
            <p:grpSpPr bwMode="auto">
              <a:xfrm>
                <a:off x="5124" y="7844"/>
                <a:ext cx="720" cy="540"/>
                <a:chOff x="5124" y="7844"/>
                <a:chExt cx="720" cy="540"/>
              </a:xfrm>
            </p:grpSpPr>
            <p:grpSp>
              <p:nvGrpSpPr>
                <p:cNvPr id="105512" name="Group 133"/>
                <p:cNvGrpSpPr>
                  <a:grpSpLocks/>
                </p:cNvGrpSpPr>
                <p:nvPr/>
              </p:nvGrpSpPr>
              <p:grpSpPr bwMode="auto">
                <a:xfrm>
                  <a:off x="5203" y="8012"/>
                  <a:ext cx="383" cy="372"/>
                  <a:chOff x="5203" y="8012"/>
                  <a:chExt cx="383" cy="372"/>
                </a:xfrm>
              </p:grpSpPr>
              <p:sp>
                <p:nvSpPr>
                  <p:cNvPr id="105514" name="Oval 134"/>
                  <p:cNvSpPr>
                    <a:spLocks noChangeArrowheads="1"/>
                  </p:cNvSpPr>
                  <p:nvPr/>
                </p:nvSpPr>
                <p:spPr bwMode="auto">
                  <a:xfrm>
                    <a:off x="5203" y="8012"/>
                    <a:ext cx="201" cy="180"/>
                  </a:xfrm>
                  <a:prstGeom prst="ellipse">
                    <a:avLst/>
                  </a:prstGeom>
                  <a:solidFill>
                    <a:srgbClr val="3366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5515" name="Oval 135"/>
                  <p:cNvSpPr>
                    <a:spLocks noChangeArrowheads="1"/>
                  </p:cNvSpPr>
                  <p:nvPr/>
                </p:nvSpPr>
                <p:spPr bwMode="auto">
                  <a:xfrm>
                    <a:off x="5385" y="8204"/>
                    <a:ext cx="201" cy="180"/>
                  </a:xfrm>
                  <a:prstGeom prst="ellipse">
                    <a:avLst/>
                  </a:prstGeom>
                  <a:solidFill>
                    <a:srgbClr val="00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05513" name="Oval 136"/>
                <p:cNvSpPr>
                  <a:spLocks noChangeArrowheads="1"/>
                </p:cNvSpPr>
                <p:nvPr/>
              </p:nvSpPr>
              <p:spPr bwMode="auto">
                <a:xfrm>
                  <a:off x="5124" y="7844"/>
                  <a:ext cx="720" cy="5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05501" name="Group 137"/>
            <p:cNvGrpSpPr>
              <a:grpSpLocks/>
            </p:cNvGrpSpPr>
            <p:nvPr/>
          </p:nvGrpSpPr>
          <p:grpSpPr bwMode="auto">
            <a:xfrm>
              <a:off x="6381" y="8507"/>
              <a:ext cx="1080" cy="900"/>
              <a:chOff x="4941" y="7744"/>
              <a:chExt cx="1080" cy="900"/>
            </a:xfrm>
          </p:grpSpPr>
          <p:sp>
            <p:nvSpPr>
              <p:cNvPr id="105502" name="Oval 138"/>
              <p:cNvSpPr>
                <a:spLocks noChangeArrowheads="1"/>
              </p:cNvSpPr>
              <p:nvPr/>
            </p:nvSpPr>
            <p:spPr bwMode="auto">
              <a:xfrm>
                <a:off x="4941" y="7744"/>
                <a:ext cx="1080" cy="9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503" name="Oval 139"/>
              <p:cNvSpPr>
                <a:spLocks noChangeArrowheads="1"/>
              </p:cNvSpPr>
              <p:nvPr/>
            </p:nvSpPr>
            <p:spPr bwMode="auto">
              <a:xfrm>
                <a:off x="5301" y="8464"/>
                <a:ext cx="360" cy="1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5504" name="Group 140"/>
              <p:cNvGrpSpPr>
                <a:grpSpLocks/>
              </p:cNvGrpSpPr>
              <p:nvPr/>
            </p:nvGrpSpPr>
            <p:grpSpPr bwMode="auto">
              <a:xfrm>
                <a:off x="5124" y="7844"/>
                <a:ext cx="720" cy="540"/>
                <a:chOff x="5124" y="7844"/>
                <a:chExt cx="720" cy="540"/>
              </a:xfrm>
            </p:grpSpPr>
            <p:grpSp>
              <p:nvGrpSpPr>
                <p:cNvPr id="105505" name="Group 141"/>
                <p:cNvGrpSpPr>
                  <a:grpSpLocks/>
                </p:cNvGrpSpPr>
                <p:nvPr/>
              </p:nvGrpSpPr>
              <p:grpSpPr bwMode="auto">
                <a:xfrm>
                  <a:off x="5203" y="8012"/>
                  <a:ext cx="383" cy="372"/>
                  <a:chOff x="5203" y="8012"/>
                  <a:chExt cx="383" cy="372"/>
                </a:xfrm>
              </p:grpSpPr>
              <p:sp>
                <p:nvSpPr>
                  <p:cNvPr id="105507" name="Oval 142"/>
                  <p:cNvSpPr>
                    <a:spLocks noChangeArrowheads="1"/>
                  </p:cNvSpPr>
                  <p:nvPr/>
                </p:nvSpPr>
                <p:spPr bwMode="auto">
                  <a:xfrm>
                    <a:off x="5203" y="8012"/>
                    <a:ext cx="201" cy="180"/>
                  </a:xfrm>
                  <a:prstGeom prst="ellipse">
                    <a:avLst/>
                  </a:prstGeom>
                  <a:solidFill>
                    <a:srgbClr val="3366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5508" name="Oval 143"/>
                  <p:cNvSpPr>
                    <a:spLocks noChangeArrowheads="1"/>
                  </p:cNvSpPr>
                  <p:nvPr/>
                </p:nvSpPr>
                <p:spPr bwMode="auto">
                  <a:xfrm>
                    <a:off x="5385" y="8204"/>
                    <a:ext cx="201" cy="180"/>
                  </a:xfrm>
                  <a:prstGeom prst="ellipse">
                    <a:avLst/>
                  </a:prstGeom>
                  <a:solidFill>
                    <a:srgbClr val="00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05506" name="Oval 144"/>
                <p:cNvSpPr>
                  <a:spLocks noChangeArrowheads="1"/>
                </p:cNvSpPr>
                <p:nvPr/>
              </p:nvSpPr>
              <p:spPr bwMode="auto">
                <a:xfrm>
                  <a:off x="5124" y="7844"/>
                  <a:ext cx="720" cy="5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00"/>
            <a:ext cx="8229600" cy="906462"/>
          </a:xfrm>
        </p:spPr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438400"/>
          </a:xfrm>
        </p:spPr>
        <p:txBody>
          <a:bodyPr>
            <a:noAutofit/>
          </a:bodyPr>
          <a:lstStyle/>
          <a:p>
            <a:r>
              <a:rPr lang="en-US" sz="1200" dirty="0"/>
              <a:t>There is a repeating structure of name mappings.</a:t>
            </a:r>
          </a:p>
          <a:p>
            <a:r>
              <a:rPr lang="en-US" sz="1200" dirty="0"/>
              <a:t>The DIF Allocator has an NSM of Application-Names with scope greater than any one DIF.  Associated with each name is the name of the processing system on which it resides, and a list of supporting DIFs. From this information, the DA is able to project the application-names into the </a:t>
            </a:r>
            <a:r>
              <a:rPr lang="en-US" sz="1200" i="1" dirty="0"/>
              <a:t>Flow Allocator </a:t>
            </a:r>
            <a:r>
              <a:rPr lang="en-US" sz="1200" dirty="0"/>
              <a:t>of supporting DIFs and the IPC Processes of that DIF.</a:t>
            </a:r>
          </a:p>
          <a:p>
            <a:r>
              <a:rPr lang="en-US" sz="1200" dirty="0"/>
              <a:t>The Flow Allocator keeps the mapping of each application-name to the synonym of the IPC Process in the same processing system.</a:t>
            </a:r>
          </a:p>
          <a:p>
            <a:r>
              <a:rPr lang="en-US" sz="1200" dirty="0"/>
              <a:t>The Resource Allocator contains an NSM for the synonyms for each IPC Process, i.e. addresses, in this DIF and the (N-1)-DIFs supporting the synonym.  The Resource Allocator is consulted during Enrollment to get appropriate synonyms assigned.  The Resource Allocator also injects information for the (N-1)-Flow Allocator, serving the analogous service as the DIF Allocator.</a:t>
            </a:r>
          </a:p>
          <a:p>
            <a:r>
              <a:rPr lang="en-US" sz="1200" dirty="0"/>
              <a:t>Needless to say, that this mapping information may be acquired from bottom up as well as top down.</a:t>
            </a:r>
          </a:p>
          <a:p>
            <a:r>
              <a:rPr lang="en-US" sz="1200" dirty="0"/>
              <a:t>Supporting DIF-name and access control information might only be stored “near” the object named for security reasons, to keep databases small, or accommodate frequent changes.</a:t>
            </a:r>
          </a:p>
          <a:p>
            <a:r>
              <a:rPr lang="en-US" sz="1200" dirty="0"/>
              <a:t>There may be a topological relation between synonym spaces of (N)- and (N-1)-DIFs.</a:t>
            </a:r>
          </a:p>
          <a:p>
            <a:r>
              <a:rPr lang="en-US" sz="1200" dirty="0"/>
              <a:t>It is highly unlikely that there will be a topological relation between the Application Name Space and the Synonyms of a DIF.</a:t>
            </a:r>
          </a:p>
          <a:p>
            <a:pPr lvl="1"/>
            <a:r>
              <a:rPr lang="en-US" sz="1200" dirty="0"/>
              <a:t>A topological relation between Name Spaces of DAFs is a different matter.</a:t>
            </a:r>
          </a:p>
        </p:txBody>
      </p:sp>
      <p:sp>
        <p:nvSpPr>
          <p:cNvPr id="4" name="Oval 3"/>
          <p:cNvSpPr/>
          <p:nvPr/>
        </p:nvSpPr>
        <p:spPr>
          <a:xfrm>
            <a:off x="1219200" y="1066800"/>
            <a:ext cx="6743700" cy="774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/>
                <a:ea typeface="+mn-ea"/>
                <a:cs typeface="Times"/>
              </a:rPr>
              <a:t>DIF Allocator</a:t>
            </a:r>
          </a:p>
        </p:txBody>
      </p:sp>
      <p:sp>
        <p:nvSpPr>
          <p:cNvPr id="5" name="Oval 4"/>
          <p:cNvSpPr/>
          <p:nvPr/>
        </p:nvSpPr>
        <p:spPr>
          <a:xfrm>
            <a:off x="1295400" y="1981200"/>
            <a:ext cx="2082800" cy="6223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562100" y="2044700"/>
            <a:ext cx="1511300" cy="2413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"/>
                <a:ea typeface="+mn-ea"/>
                <a:cs typeface="Times"/>
              </a:rPr>
              <a:t>Flow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"/>
                <a:ea typeface="+mn-ea"/>
                <a:cs typeface="Times"/>
              </a:rPr>
              <a:t>Alloc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imes"/>
              <a:ea typeface="+mn-ea"/>
              <a:cs typeface="Times"/>
            </a:endParaRPr>
          </a:p>
        </p:txBody>
      </p:sp>
      <p:cxnSp>
        <p:nvCxnSpPr>
          <p:cNvPr id="11" name="Straight Connector 10"/>
          <p:cNvCxnSpPr>
            <a:stCxn id="4" idx="2"/>
            <a:endCxn id="9" idx="2"/>
          </p:cNvCxnSpPr>
          <p:nvPr/>
        </p:nvCxnSpPr>
        <p:spPr>
          <a:xfrm>
            <a:off x="1219200" y="1454150"/>
            <a:ext cx="342900" cy="71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9" idx="6"/>
          </p:cNvCxnSpPr>
          <p:nvPr/>
        </p:nvCxnSpPr>
        <p:spPr>
          <a:xfrm flipV="1">
            <a:off x="3073400" y="1441450"/>
            <a:ext cx="342900" cy="723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3721100" y="2044700"/>
            <a:ext cx="2082800" cy="622300"/>
            <a:chOff x="3721100" y="2044700"/>
            <a:chExt cx="2082800" cy="622300"/>
          </a:xfrm>
        </p:grpSpPr>
        <p:sp>
          <p:nvSpPr>
            <p:cNvPr id="26" name="Oval 25"/>
            <p:cNvSpPr/>
            <p:nvPr/>
          </p:nvSpPr>
          <p:spPr>
            <a:xfrm>
              <a:off x="3721100" y="2044700"/>
              <a:ext cx="2082800" cy="6223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3962400" y="2419350"/>
              <a:ext cx="1511300" cy="241300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949700" y="2120900"/>
              <a:ext cx="1511300" cy="2413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30" name="Straight Connector 29"/>
          <p:cNvCxnSpPr>
            <a:stCxn id="28" idx="2"/>
          </p:cNvCxnSpPr>
          <p:nvPr/>
        </p:nvCxnSpPr>
        <p:spPr>
          <a:xfrm flipH="1" flipV="1">
            <a:off x="3721100" y="1454150"/>
            <a:ext cx="228600" cy="787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8" idx="6"/>
          </p:cNvCxnSpPr>
          <p:nvPr/>
        </p:nvCxnSpPr>
        <p:spPr>
          <a:xfrm flipV="1">
            <a:off x="5461000" y="1574800"/>
            <a:ext cx="228600" cy="666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168400" y="2476500"/>
            <a:ext cx="1981200" cy="704850"/>
            <a:chOff x="1168400" y="2476500"/>
            <a:chExt cx="1981200" cy="704850"/>
          </a:xfrm>
        </p:grpSpPr>
        <p:grpSp>
          <p:nvGrpSpPr>
            <p:cNvPr id="19" name="Group 18"/>
            <p:cNvGrpSpPr/>
            <p:nvPr/>
          </p:nvGrpSpPr>
          <p:grpSpPr>
            <a:xfrm>
              <a:off x="1168400" y="2730500"/>
              <a:ext cx="914400" cy="419100"/>
              <a:chOff x="1168400" y="2946400"/>
              <a:chExt cx="914400" cy="419100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1168400" y="2946400"/>
                <a:ext cx="914400" cy="4191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1447800" y="3009900"/>
                <a:ext cx="406400" cy="127000"/>
              </a:xfrm>
              <a:prstGeom prst="ellipse">
                <a:avLst/>
              </a:prstGeom>
              <a:solidFill>
                <a:srgbClr val="CCFF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1397000" y="3162300"/>
                <a:ext cx="406400" cy="127000"/>
              </a:xfrm>
              <a:prstGeom prst="ellipse">
                <a:avLst/>
              </a:prstGeom>
              <a:solidFill>
                <a:srgbClr val="FF66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2235200" y="2762250"/>
              <a:ext cx="914400" cy="419100"/>
              <a:chOff x="1168400" y="2946400"/>
              <a:chExt cx="914400" cy="41910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1168400" y="2946400"/>
                <a:ext cx="914400" cy="4191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447800" y="3009900"/>
                <a:ext cx="406400" cy="127000"/>
              </a:xfrm>
              <a:prstGeom prst="ellipse">
                <a:avLst/>
              </a:prstGeom>
              <a:solidFill>
                <a:srgbClr val="CCFF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397000" y="3162300"/>
                <a:ext cx="406400" cy="127000"/>
              </a:xfrm>
              <a:prstGeom prst="ellipse">
                <a:avLst/>
              </a:prstGeom>
              <a:solidFill>
                <a:srgbClr val="FF66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34" name="Straight Connector 33"/>
            <p:cNvCxnSpPr>
              <a:stCxn id="15" idx="2"/>
            </p:cNvCxnSpPr>
            <p:nvPr/>
          </p:nvCxnSpPr>
          <p:spPr>
            <a:xfrm flipV="1">
              <a:off x="1447800" y="2476500"/>
              <a:ext cx="12700" cy="38100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5" idx="6"/>
            </p:cNvCxnSpPr>
            <p:nvPr/>
          </p:nvCxnSpPr>
          <p:spPr>
            <a:xfrm flipV="1">
              <a:off x="1854200" y="2476500"/>
              <a:ext cx="228600" cy="38100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2" idx="2"/>
            </p:cNvCxnSpPr>
            <p:nvPr/>
          </p:nvCxnSpPr>
          <p:spPr>
            <a:xfrm flipH="1" flipV="1">
              <a:off x="2336800" y="2476500"/>
              <a:ext cx="177800" cy="41275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22" idx="6"/>
            </p:cNvCxnSpPr>
            <p:nvPr/>
          </p:nvCxnSpPr>
          <p:spPr>
            <a:xfrm flipV="1">
              <a:off x="2921000" y="2476500"/>
              <a:ext cx="50800" cy="41275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6121400" y="2095500"/>
            <a:ext cx="2082800" cy="622300"/>
            <a:chOff x="1219200" y="1981200"/>
            <a:chExt cx="2082800" cy="622300"/>
          </a:xfrm>
        </p:grpSpPr>
        <p:sp>
          <p:nvSpPr>
            <p:cNvPr id="44" name="Oval 43"/>
            <p:cNvSpPr/>
            <p:nvPr/>
          </p:nvSpPr>
          <p:spPr>
            <a:xfrm>
              <a:off x="1219200" y="1981200"/>
              <a:ext cx="2082800" cy="6223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1460500" y="2355850"/>
              <a:ext cx="1511300" cy="241300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1447800" y="2057400"/>
              <a:ext cx="1511300" cy="2413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683000" y="2530475"/>
            <a:ext cx="1981200" cy="704850"/>
            <a:chOff x="1168400" y="2476500"/>
            <a:chExt cx="1981200" cy="704850"/>
          </a:xfrm>
        </p:grpSpPr>
        <p:grpSp>
          <p:nvGrpSpPr>
            <p:cNvPr id="49" name="Group 48"/>
            <p:cNvGrpSpPr/>
            <p:nvPr/>
          </p:nvGrpSpPr>
          <p:grpSpPr>
            <a:xfrm>
              <a:off x="1168400" y="2730500"/>
              <a:ext cx="914400" cy="419100"/>
              <a:chOff x="1168400" y="2946400"/>
              <a:chExt cx="914400" cy="419100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1168400" y="2946400"/>
                <a:ext cx="914400" cy="4191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1447800" y="3009900"/>
                <a:ext cx="406400" cy="127000"/>
              </a:xfrm>
              <a:prstGeom prst="ellipse">
                <a:avLst/>
              </a:prstGeom>
              <a:solidFill>
                <a:srgbClr val="CCFF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397000" y="3162300"/>
                <a:ext cx="406400" cy="127000"/>
              </a:xfrm>
              <a:prstGeom prst="ellipse">
                <a:avLst/>
              </a:prstGeom>
              <a:solidFill>
                <a:srgbClr val="FF66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2235200" y="2762250"/>
              <a:ext cx="914400" cy="419100"/>
              <a:chOff x="1168400" y="2946400"/>
              <a:chExt cx="914400" cy="4191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1168400" y="2946400"/>
                <a:ext cx="914400" cy="4191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1447800" y="3009900"/>
                <a:ext cx="406400" cy="127000"/>
              </a:xfrm>
              <a:prstGeom prst="ellipse">
                <a:avLst/>
              </a:prstGeom>
              <a:solidFill>
                <a:srgbClr val="CCFF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1397000" y="3162300"/>
                <a:ext cx="406400" cy="127000"/>
              </a:xfrm>
              <a:prstGeom prst="ellipse">
                <a:avLst/>
              </a:prstGeom>
              <a:solidFill>
                <a:srgbClr val="FF66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51" name="Straight Connector 50"/>
            <p:cNvCxnSpPr>
              <a:stCxn id="59" idx="2"/>
            </p:cNvCxnSpPr>
            <p:nvPr/>
          </p:nvCxnSpPr>
          <p:spPr>
            <a:xfrm flipV="1">
              <a:off x="1447800" y="2476500"/>
              <a:ext cx="12700" cy="38100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9" idx="6"/>
            </p:cNvCxnSpPr>
            <p:nvPr/>
          </p:nvCxnSpPr>
          <p:spPr>
            <a:xfrm flipV="1">
              <a:off x="1854200" y="2476500"/>
              <a:ext cx="228600" cy="38100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56" idx="2"/>
            </p:cNvCxnSpPr>
            <p:nvPr/>
          </p:nvCxnSpPr>
          <p:spPr>
            <a:xfrm flipH="1" flipV="1">
              <a:off x="2336800" y="2476500"/>
              <a:ext cx="177800" cy="41275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56" idx="6"/>
            </p:cNvCxnSpPr>
            <p:nvPr/>
          </p:nvCxnSpPr>
          <p:spPr>
            <a:xfrm flipV="1">
              <a:off x="2921000" y="2476500"/>
              <a:ext cx="50800" cy="41275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/>
          <p:cNvGrpSpPr/>
          <p:nvPr/>
        </p:nvGrpSpPr>
        <p:grpSpPr>
          <a:xfrm>
            <a:off x="6019800" y="2584450"/>
            <a:ext cx="1981200" cy="704850"/>
            <a:chOff x="1168400" y="2476500"/>
            <a:chExt cx="1981200" cy="704850"/>
          </a:xfrm>
        </p:grpSpPr>
        <p:grpSp>
          <p:nvGrpSpPr>
            <p:cNvPr id="62" name="Group 61"/>
            <p:cNvGrpSpPr/>
            <p:nvPr/>
          </p:nvGrpSpPr>
          <p:grpSpPr>
            <a:xfrm>
              <a:off x="1168400" y="2730500"/>
              <a:ext cx="914400" cy="419100"/>
              <a:chOff x="1168400" y="2946400"/>
              <a:chExt cx="914400" cy="419100"/>
            </a:xfrm>
          </p:grpSpPr>
          <p:sp>
            <p:nvSpPr>
              <p:cNvPr id="71" name="Oval 70"/>
              <p:cNvSpPr/>
              <p:nvPr/>
            </p:nvSpPr>
            <p:spPr>
              <a:xfrm>
                <a:off x="1168400" y="2946400"/>
                <a:ext cx="914400" cy="4191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1447800" y="3009900"/>
                <a:ext cx="406400" cy="127000"/>
              </a:xfrm>
              <a:prstGeom prst="ellipse">
                <a:avLst/>
              </a:prstGeom>
              <a:solidFill>
                <a:srgbClr val="CCFF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1397000" y="3162300"/>
                <a:ext cx="406400" cy="127000"/>
              </a:xfrm>
              <a:prstGeom prst="ellipse">
                <a:avLst/>
              </a:prstGeom>
              <a:solidFill>
                <a:srgbClr val="FF66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2235200" y="2762250"/>
              <a:ext cx="914400" cy="419100"/>
              <a:chOff x="1168400" y="2946400"/>
              <a:chExt cx="914400" cy="419100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1168400" y="2946400"/>
                <a:ext cx="914400" cy="4191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1447800" y="3009900"/>
                <a:ext cx="406400" cy="127000"/>
              </a:xfrm>
              <a:prstGeom prst="ellipse">
                <a:avLst/>
              </a:prstGeom>
              <a:solidFill>
                <a:srgbClr val="CCFF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397000" y="3162300"/>
                <a:ext cx="406400" cy="127000"/>
              </a:xfrm>
              <a:prstGeom prst="ellipse">
                <a:avLst/>
              </a:prstGeom>
              <a:solidFill>
                <a:srgbClr val="FF66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64" name="Straight Connector 63"/>
            <p:cNvCxnSpPr>
              <a:stCxn id="72" idx="2"/>
            </p:cNvCxnSpPr>
            <p:nvPr/>
          </p:nvCxnSpPr>
          <p:spPr>
            <a:xfrm flipV="1">
              <a:off x="1447800" y="2476500"/>
              <a:ext cx="12700" cy="38100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72" idx="6"/>
            </p:cNvCxnSpPr>
            <p:nvPr/>
          </p:nvCxnSpPr>
          <p:spPr>
            <a:xfrm flipV="1">
              <a:off x="1854200" y="2476500"/>
              <a:ext cx="228600" cy="38100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69" idx="2"/>
            </p:cNvCxnSpPr>
            <p:nvPr/>
          </p:nvCxnSpPr>
          <p:spPr>
            <a:xfrm flipH="1" flipV="1">
              <a:off x="2336800" y="2476500"/>
              <a:ext cx="177800" cy="41275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69" idx="6"/>
            </p:cNvCxnSpPr>
            <p:nvPr/>
          </p:nvCxnSpPr>
          <p:spPr>
            <a:xfrm flipV="1">
              <a:off x="2921000" y="2476500"/>
              <a:ext cx="50800" cy="412750"/>
            </a:xfrm>
            <a:prstGeom prst="line">
              <a:avLst/>
            </a:prstGeom>
            <a:ln>
              <a:solidFill>
                <a:srgbClr val="CCFF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/>
          <p:cNvCxnSpPr>
            <a:stCxn id="46" idx="2"/>
          </p:cNvCxnSpPr>
          <p:nvPr/>
        </p:nvCxnSpPr>
        <p:spPr>
          <a:xfrm flipH="1" flipV="1">
            <a:off x="6019800" y="1574800"/>
            <a:ext cx="330200" cy="717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46" idx="6"/>
            <a:endCxn id="4" idx="6"/>
          </p:cNvCxnSpPr>
          <p:nvPr/>
        </p:nvCxnSpPr>
        <p:spPr>
          <a:xfrm flipV="1">
            <a:off x="7861300" y="1454150"/>
            <a:ext cx="10160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447800" y="2298700"/>
            <a:ext cx="1511300" cy="2413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imes"/>
                <a:ea typeface="+mn-ea"/>
                <a:cs typeface="Times"/>
              </a:rPr>
              <a:t>Res-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imes"/>
                <a:ea typeface="+mn-ea"/>
                <a:cs typeface="Times"/>
              </a:rPr>
              <a:t>Alloc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Times"/>
              <a:ea typeface="+mn-ea"/>
              <a:cs typeface="Time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463800" y="1092200"/>
            <a:ext cx="4614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/>
                <a:ea typeface="ＭＳ Ｐゴシック" charset="0"/>
                <a:cs typeface="Times"/>
              </a:rPr>
              <a:t>DA-NSM:  Application-names -&gt; DIF/DAF names, Processing Systems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6819" y="1767701"/>
            <a:ext cx="2145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/>
                <a:ea typeface="ＭＳ Ｐゴシック" charset="0"/>
                <a:cs typeface="Times"/>
              </a:rPr>
              <a:t>FA: (N+1)-names -&gt; (N)-names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0" y="2249785"/>
            <a:ext cx="139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/>
                <a:ea typeface="ＭＳ Ｐゴシック" charset="0"/>
                <a:cs typeface="Times"/>
              </a:rPr>
              <a:t>RA: (N)-names-&gt; (N-1)-names, (N-1)-DIFs</a:t>
            </a:r>
          </a:p>
        </p:txBody>
      </p:sp>
    </p:spTree>
    <p:extLst>
      <p:ext uri="{BB962C8B-B14F-4D97-AF65-F5344CB8AC3E}">
        <p14:creationId xmlns:p14="http://schemas.microsoft.com/office/powerpoint/2010/main" val="354459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ＭＳ Ｐゴシック"/>
        <a:cs typeface="ＭＳ Ｐゴシック"/>
      </a:majorFont>
      <a:minorFont>
        <a:latin typeface="Time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ＭＳ Ｐゴシック"/>
        <a:cs typeface="ＭＳ Ｐゴシック"/>
      </a:majorFont>
      <a:minorFont>
        <a:latin typeface="Time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"/>
        <a:ea typeface="ＭＳ Ｐゴシック"/>
        <a:cs typeface=""/>
      </a:majorFont>
      <a:minorFont>
        <a:latin typeface="Time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ＭＳ Ｐゴシック"/>
        <a:cs typeface="ＭＳ Ｐゴシック"/>
      </a:majorFont>
      <a:minorFont>
        <a:latin typeface="Time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4533</Words>
  <Application>Microsoft Macintosh PowerPoint</Application>
  <PresentationFormat>On-screen Show (4:3)</PresentationFormat>
  <Paragraphs>569</Paragraphs>
  <Slides>47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Arial</vt:lpstr>
      <vt:lpstr>Calibri</vt:lpstr>
      <vt:lpstr>Cambria</vt:lpstr>
      <vt:lpstr>Helvetica</vt:lpstr>
      <vt:lpstr>Symbol</vt:lpstr>
      <vt:lpstr>Times</vt:lpstr>
      <vt:lpstr>Times New Roman</vt:lpstr>
      <vt:lpstr>Office Theme</vt:lpstr>
      <vt:lpstr>Blank Presentation</vt:lpstr>
      <vt:lpstr>1_Blank Presentation</vt:lpstr>
      <vt:lpstr>2_Blank Presentation</vt:lpstr>
      <vt:lpstr>4_Blank Presentation</vt:lpstr>
      <vt:lpstr>1_Office Theme</vt:lpstr>
      <vt:lpstr>Enrollment and Allocation</vt:lpstr>
      <vt:lpstr>PowerPoint Presentation</vt:lpstr>
      <vt:lpstr>Enrollment:  Joining a Network</vt:lpstr>
      <vt:lpstr>PowerPoint Presentation</vt:lpstr>
      <vt:lpstr>PowerPoint Presentation</vt:lpstr>
      <vt:lpstr>PowerPoint Presentation</vt:lpstr>
      <vt:lpstr>PowerPoint Presentation</vt:lpstr>
      <vt:lpstr>How Does It Work?  Enrollment or Joining a Layer </vt:lpstr>
      <vt:lpstr>Enrollment Details: The Naïve Approach</vt:lpstr>
      <vt:lpstr>Enrollment Resource Allocation Layers</vt:lpstr>
      <vt:lpstr>Enrollment A Pragmatic Approach for Resource Sharing Layers</vt:lpstr>
      <vt:lpstr>Enrollment Procedure I</vt:lpstr>
      <vt:lpstr>Enrollment Procedure II</vt:lpstr>
      <vt:lpstr>Enrollment Procedure III</vt:lpstr>
      <vt:lpstr>Dynamic Host Configuration Protocol As Close to Enrollment as the Internet Gets</vt:lpstr>
      <vt:lpstr>Allocation</vt:lpstr>
      <vt:lpstr>Watson’s Theorem (1978) The Fundamental Theorem of Networking</vt:lpstr>
      <vt:lpstr>Flaw in the Concept of Connection (in the Internet and OSI)</vt:lpstr>
      <vt:lpstr>Concept of Connection</vt:lpstr>
      <vt:lpstr>Requests are mapped to QoS Cubes </vt:lpstr>
      <vt:lpstr>The Protocols is Irrelevant</vt:lpstr>
      <vt:lpstr>Flow Allocator</vt:lpstr>
      <vt:lpstr>Flow Allocator Input: Allocate Request</vt:lpstr>
      <vt:lpstr>Flow Allocator Subtleties</vt:lpstr>
      <vt:lpstr> Picking up the Story How Does a Flow Get Allocated?</vt:lpstr>
      <vt:lpstr>Allocation:  Creating an IPC Channel: I</vt:lpstr>
      <vt:lpstr>At The Next Place To Look</vt:lpstr>
      <vt:lpstr>Stepping Back Establishing Communication</vt:lpstr>
      <vt:lpstr>Yet Another Place to Look</vt:lpstr>
      <vt:lpstr>Finishing Up Establishing Communication</vt:lpstr>
      <vt:lpstr>The Flow is Now Allocated</vt:lpstr>
      <vt:lpstr>What DNS Doesn’t Do</vt:lpstr>
      <vt:lpstr>Flow Allocator (formerly IAP)</vt:lpstr>
      <vt:lpstr>Flow Allocator (What Does It Do?)</vt:lpstr>
      <vt:lpstr>Notice</vt:lpstr>
      <vt:lpstr>Finally We Find The Destination Address</vt:lpstr>
      <vt:lpstr>What If We Don’t Find It? Layer Creation</vt:lpstr>
      <vt:lpstr>What Does the Model Say?</vt:lpstr>
      <vt:lpstr>Remember This? A Little Re-organizing</vt:lpstr>
      <vt:lpstr>DIF-Allocator-Name Lookup  How Name Resolution Works</vt:lpstr>
      <vt:lpstr> The DIF Allocator Look-Up</vt:lpstr>
      <vt:lpstr>To Recap</vt:lpstr>
      <vt:lpstr>Scope is Determined by the Chain of Places to Look (Remember this?)</vt:lpstr>
      <vt:lpstr>A Global Name Space is Necessarily Unique</vt:lpstr>
      <vt:lpstr>Name Space Management</vt:lpstr>
      <vt:lpstr>DIF Allocator</vt:lpstr>
      <vt:lpstr>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Greater Detail on a Couple of Topics</dc:title>
  <dc:creator>John Day</dc:creator>
  <cp:lastModifiedBy>John Day</cp:lastModifiedBy>
  <cp:revision>24</cp:revision>
  <dcterms:created xsi:type="dcterms:W3CDTF">2015-05-07T20:53:04Z</dcterms:created>
  <dcterms:modified xsi:type="dcterms:W3CDTF">2024-02-09T14:44:28Z</dcterms:modified>
</cp:coreProperties>
</file>